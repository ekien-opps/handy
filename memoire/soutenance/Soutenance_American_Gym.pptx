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70db42e8-2a41-ac60-2439-b6d5621db479}">
          <p14:sldIdLst>
            <p14:sldId id="256"/>
            <p14:sldId id="257"/>
          </p14:sldIdLst>
        </p14:section>
        <p14:section name="01 · Introduction" id="{1c31200a-19e4-361d-1fe9-092f5b65ea9e}">
          <p14:sldIdLst>
            <p14:sldId id="258"/>
            <p14:sldId id="259"/>
            <p14:sldId id="260"/>
            <p14:sldId id="261"/>
            <p14:sldId id="262"/>
          </p14:sldIdLst>
        </p14:section>
        <p14:section name="02 · Cadre d’étude" id="{49863d55-a58b-5baa-f6c3-fd1ef809bf39}">
          <p14:sldIdLst>
            <p14:sldId id="263"/>
            <p14:sldId id="264"/>
            <p14:sldId id="265"/>
            <p14:sldId id="266"/>
            <p14:sldId id="267"/>
          </p14:sldIdLst>
        </p14:section>
        <p14:section name="03 · Étude technique" id="{b90b5f79-242e-f8bd-859c-1b32245aeaec}">
          <p14:sldIdLst>
            <p14:sldId id="268"/>
            <p14:sldId id="269"/>
            <p14:sldId id="270"/>
            <p14:sldId id="271"/>
            <p14:sldId id="272"/>
            <p14:sldId id="273"/>
            <p14:sldId id="274"/>
            <p14:sldId id="275"/>
            <p14:sldId id="276"/>
            <p14:sldId id="277"/>
            <p14:sldId id="278"/>
          </p14:sldIdLst>
        </p14:section>
        <p14:section name="04 · Réalisations" id="{1a311271-8d3a-f1f6-8c94-d01c9e503930}">
          <p14:sldIdLst>
            <p14:sldId id="279"/>
            <p14:sldId id="280"/>
            <p14:sldId id="281"/>
            <p14:sldId id="282"/>
            <p14:sldId id="283"/>
            <p14:sldId id="284"/>
            <p14:sldId id="285"/>
            <p14:sldId id="286"/>
            <p14:sldId id="287"/>
            <p14:sldId id="288"/>
            <p14:sldId id="289"/>
            <p14:sldId id="290"/>
            <p14:sldId id="291"/>
          </p14:sldIdLst>
        </p14:section>
        <p14:section name="05 · Conclusion" id="{b7c89ebd-2bd2-67f8-ac5a-bfc8309b75e6}">
          <p14:sldIdLst>
            <p14:sldId id="292"/>
            <p14:sldId id="293"/>
            <p14:sldId id="294"/>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Mesdames et Messieurs les membres du jury, je vous présente mon mémoire de Licence professionnelle en Arts et Images Numériques : la conception et la réalisation de supports de communication pour la promotion de la structure de sport American's Gym. Travail dirigé par M. Chafick ADJIBADÉ, sous la supervision du Prof. TOA AGNINI Jules Évariste.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présentation suit le plan du mémoire : introduction et problématique, cadre d'étude, étude technique, réalisation des supports, puis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commence par le contexte et la question qui a guidé ce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secteur du sport et du fitness connaît un essor des salles et des agences spécialisées. Pour se démarquer, une structure comme American's Gym doit s'appuyer sur des supports adaptés à sa cible et à son positionnement, afin d'accroître sa notoriété, d'attirer de nouveaux adhérents et de fidéliser sa clientèle.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Malgré la diversité de ses activités et la qualité de ses prestations, American's Gym souffre d'une visibilité limitée, faute de supports de communication professionnels et harmonisés. D'où la question centrale de l'étude.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répondre à cette question, l'étude poursuit quatre objectifs : une identité visuelle cohérente, des supports imprimés, des contenus audiovisuels 2D et 3D, et un site web moderne.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L'hypothèse retenue : une stratégie de communication fondée sur des supports graphiques et numériques professionnels permettra d'améliorer significativement la notoriété d'American's Gym, de renforcer son image de marque et d'accroître sa capacité à attirer et fidéliser sa clientèle.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temps : la structure étudiée et l'analyse de sa communication existante.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American's Gym Dokui est un club de fitness, de musculation et de sports de combat situé à Abidjan, dans le quartier d'Abobo-Dokui. Son concept associe des équipements de musculation et de cardio-training importés des États-Unis à un accueil adapté aux réalités ivoiriennes. La direction est assurée par le PDG Djakaria KONATÉ.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Musculation et fitness avec coaching personnalisé ; sports de combat (boxe anglaise / pieds-poings et taekwondo) ; une offre inclusive avec des séances dédiées aux femmes voilées ; enfin la vente de compléments alimentaires et de produits de soin.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Facebook : une page active d'environ 1 300 abonnés, surtout des vidéos d'ambiance et des fiches produits. TikTok : environ 27 900 mentions J'aime, axé sur le coaching en direct. Une boutique en ligne hébergée sur Shopify (le mémoire écrit « Spotify » p. 10 : coquille à corriger).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Logo d'origine puissant mais mention DOKUI ajoutée sans respect des proportions ; affiches produits aux codes vert fluo ou marron déconnectés de l'identité ; lien boutique shopify.com non personnalisé et identifiant TikTok @amricains.gym.dok mal orthographié ; ligne éditoriale de type catalogue et vidéos brutes sans montage. Conséquences : baisse de crédibilité et déficit d'image face à la concurrence.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temps : le cahier des charges et la nouvelle identité visuelle.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cibles principales : les clients actuels à fidéliser ; les clients potentiels (jeunes, adultes, travailleurs, étudiants) à attirer ; les partenaires potentiels (entreprises, marques de nutrition, institutions). Le cahier des charges cite aussi les professionnels de l'industrie (coachs, kinésithérapeutes, nutritionnistes) et le grand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Semaines 1-2 : analyse du besoin, recherches créatives et validation de la charte. Semaines 3-4 : supports print et maquette 3D. Semaines 5-6 : post-production des spots 2D et 3D. Semaines 7-8 : interfaces du site vitrine, intégration des contenus, tests et corrections.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recherche s'est concentrée sur des symboles forts de la force athlétique, l'haltère et le poing fermé, associés à l'imagerie américaine : étoiles, rouge, blanc et bleu. Le logo retenu représente une main tenant un haltère, surmontée d'étoiles, avec le nom American's Gym.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poing et l'haltère : la force brute, la musculation et la détermination. Les étoiles : la fierté américaine, l'histoire et la tradition. Le texte AMERICAN'S : une identité de marque forte et exclusive. Le ruban GYM : le nom du logo hybride qui réunit tous ces éléments en une image puissante et cohérente.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logo utilise une police au style approchant Impact ou College Bold, en gras pour l'impact visuel. Les supports de communication utilisent Poppins ExtraBold ; les textes secondaires sont en graisse régulière pour la lisibilité.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Codes officiels : bleu #1D3557, blanc #FFFFFF, rouge #E63946 et gris métal #A8DADC. Le bleu symbolise la confiance et la rigueur ; le rouge l'énergie, le courage et la passion ; le blanc la clarté et l'accessibilité. Le gris métal sert aux reliefs de l'haltère. Couleurs définies en CMJN pour l'impression et RVB pour le numérique.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Interdits visuels : ne pas déformer ou étirer le logo ; ne pas changer ses couleurs ; ne pas ajouter d'éléments graphiques ; ne pas supprimer le texte GYM ni les étoiles. Sur fond foncé, détourer le ruban d'un fin liseré blanc ou utiliser la version monochrome blanche.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logo est appliqué sur la carte de visite, le polo, la casquette, le sac de sport, les gourdes et le stylo, pour une présence de marque cohérente au quotidien.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Création graphique : Adobe Illustrator et Photoshop. Animation et vidéo : After Effects, Premiere Pro et Blender, avec Twinmotion pour le rendu final du spot 3D. Web : Adobe Dreamweaver, HTML, CSS et JavaScript ; la base de données est modélisée avec la méthode MERISE (MCD, MLD).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tableau 2 du mémoire estime le coût global à 4 800 000 FCFA, réparti entre l'identité visuelle, les maquettes et spots 2D et 3D, les supports imprimés et gadgets, et le site web avec son hébergement. ATTENTION : vérifier le tableau avant la soutenance, la somme des lignes donne 4 300 000 FCFA.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temps : les supports réalisés, imprimés, audiovisuels et numériques.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première affiche met en avant l'identité particulière de la salle : le brassage entre la Côte d'Ivoire et les États-Unis, perceptible dans le nom American's Gym et les équipements venus des États-Unis. Réalisée sous Adobe Photoshop.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deuxième affiche vise un effet persuasif et mémorable : logo officiel, accroche, slogan et contacts (07 88 48 18 72, Facebook, Instagram, TikTok).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flyer présente de manière synthétique les services, les tarifs et les avantages d'American's Gym Dokui. Il est consultable en version imprimée comme sur les réseaux sociaux. Format A4.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Dépliant en trois volets, six pages, plié en accordéon. Couverture avec logo, visuel et slogan ; présentation des installations et des tarifs ; catalogue des compléments ; dos avec plan d'accès à Abobo-Dokui, contacts et horaires. Réalisé sous Adobe Illustrator.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kakémono, au format 85 × 200 cm, est destiné aux espaces d'accueil, aux événements sportifs et aux opérations promotionnelles : logo en partie haute, accroche, slogan, coordonnées et appel à l'action « Rejoignez la communauté American's Gym Dokui ». Réalisé sous Photoshop, en CMJN à 300 pixels par pouce.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visuels sont destinés à Facebook, Instagram et TikTok, au format carré 1080 × 1080 pixels pour les publications et en formats verticaux pour les stories. Objectif : une continuité visuelle entre supports imprimés et numériques.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Animation du logo réalisée sous Adobe After Effects : les éléments textuels du logo sont animés (position, opacité, rotation) puis synchronisés par images-clés, avant un export au format MP4 avec la piste audio.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spot 2D présente de façon dynamique les activités et services d'American's Gym Dokui : les équipements s'animent en rythme, puis une scène de groupe illustre la convivialité, avant la signature « American's Gym, l'excellence du fitness au cœur de votre bien-être ». (Durée annoncée : 25 s dans la fiche technique, 30 s plus loin : à harmoniser ; la vidéo fournie dure 26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spot 3D présente l'image moderne et professionnelle des locaux : une caméra virtuelle traverse la salle modélisée, met en valeur les équipements et les jeux de lumière. Modélisation sous Blender, montage et bruitage sous Premiere Pro, rendu final sous Twinmotion. Durée : 30 secondes, 1920 × 1080 pixels.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site vitrine est le point central de l'écosystème numérique : il crédibilise la structure, présente l'espace sportif et permet la commande de compléments alimentaires. Six rubriques : Accueil, À propos, Nos équipements, Boutique, Tarifs et abonnements, Contacts.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L'onglet Accueil présente brièvement l'ensemble des éléments de l'entreprise et donne accès au menu de navigation.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propos : histoire, vision et valeurs. Nos équipements. Boutique : catalogue filtrable de compléments. Tarifs et abonnements. Contacts : formulaire, carte interactive d'Abobo-Dokui, téléphone, Gmail et réseaux sociaux.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je reviens sur la problématique et propose des recommandations.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travaux réalisés montrent que la création de supports de communication visuelle et numérique est un moyen pertinent de valoriser l'identité d'American's Gym et de soutenir sa promotion. Toutefois, la conception ne suffit pas à elle seule : les résultats dépendront de la qualité de la diffusion, de la régularité des publications et de la continuité des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recommandons à American's Gym une stratégie de communication cohérente et durable : utilisation harmonisée des supports, actualisation régulière des contenus numériques, puis évaluation des effets à partir d'indicateurs comme les interactions numériques, les demandes d'inscription et l'évolution du nombre d'adhérents.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vous remercie de votre attention et me tiens à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G_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rtlCol="0"/>
          <a:lstStyle>
            <a:lvl1pPr algn="l" indent="0" marL="0">
              <a:buNone/>
              <a:defRPr lang="en-US" sz="1100" b="1" spc="2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rtlCol="0"/>
          <a:lstStyle>
            <a:lvl1pPr algn="l" indent="0" marL="0">
              <a:buNone/>
              <a:defRPr lang="en-US" sz="3000" dirty="0">
                <a:solidFill>
                  <a:schemeClr val="tx1"/>
                </a:solidFill>
                <a:latin typeface="Poppins ExtraBold" pitchFamily="34" charset="0"/>
                <a:ea typeface="Poppins ExtraBold" pitchFamily="34" charset="-122"/>
                <a:cs typeface="Poppins ExtraBold" pitchFamily="34" charset="-120"/>
              </a:defRPr>
            </a:lvl1pPr>
          </a:lstStyle>
          <a:p>
            <a:pPr algn="l" indent="0" marL="0">
              <a:buNone/>
            </a:pPr>
            <a:endParaRPr lang="en-US" sz="3000" dirty="0"/>
          </a:p>
        </p:txBody>
      </p:sp>
      <p:sp>
        <p:nvSpPr>
          <p:cNvPr id="4" name="Text 0"/>
          <p:cNvSpPr/>
          <p:nvPr/>
        </p:nvSpPr>
        <p:spPr>
          <a:xfrm>
            <a:off x="685800" y="6382512"/>
            <a:ext cx="9144000" cy="256032"/>
          </a:xfrm>
          <a:prstGeom prst="rect">
            <a:avLst/>
          </a:prstGeom>
          <a:noFill/>
          <a:ln/>
        </p:spPr>
        <p:txBody>
          <a:bodyPr wrap="square" lIns="0" tIns="0" rIns="0" bIns="0" rtlCol="0" anchor="ctr"/>
          <a:lstStyle/>
          <a:p>
            <a:pPr indent="0" marL="0">
              <a:buNone/>
            </a:pPr>
            <a:r>
              <a:rPr lang="en-US" sz="900" dirty="0">
                <a:solidFill>
                  <a:schemeClr val="accent4"/>
                </a:solidFill>
              </a:rPr>
              <a:t>CAMARA BINTOU ÉPSE HOZAN  ·  Licence professionnelle Arts et Images Numériques  ·  ISTC Polytechnique</a:t>
            </a:r>
            <a:endParaRPr lang="en-US" sz="9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G_DIVIDER">
    <p:bg>
      <p:bgPr>
        <a:solidFill>
          <a:schemeClr val="tx1"/>
        </a:solidFill>
      </p:bgPr>
    </p:bg>
    <p:spTree>
      <p:nvGrpSpPr>
        <p:cNvPr id="1" name=""/>
        <p:cNvGrpSpPr/>
        <p:nvPr/>
      </p:nvGrpSpPr>
      <p:grpSpPr>
        <a:xfrm>
          <a:off x="0" y="0"/>
          <a:ext cx="0" cy="0"/>
          <a:chOff x="0" y="0"/>
          <a:chExt cx="0" cy="0"/>
        </a:xfrm>
      </p:grpSpPr>
      <p:pic>
        <p:nvPicPr>
          <p:cNvPr id="2" name="Image 0" descr="/tmp/claude-0/-home-user-HANDY/6bbfc0f3-9363-58e6-a84d-0853f925f572/scratchpad/deck/assets/logo_ag.png">    </p:cNvPr>
          <p:cNvPicPr>
            <a:picLocks noChangeAspect="1"/>
          </p:cNvPicPr>
          <p:nvPr/>
        </p:nvPicPr>
        <p:blipFill>
          <a:blip r:embed="rId1"/>
          <a:stretch>
            <a:fillRect/>
          </a:stretch>
        </p:blipFill>
        <p:spPr>
          <a:xfrm>
            <a:off x="10362895" y="5715000"/>
            <a:ext cx="1143000" cy="866913"/>
          </a:xfrm>
          <a:prstGeom prst="rect">
            <a:avLst/>
          </a:prstGeom>
        </p:spPr>
      </p:pic>
      <p:sp>
        <p:nvSpPr>
          <p:cNvPr id="3" name="Text 0"/>
          <p:cNvSpPr/>
          <p:nvPr>
            <p:ph idx="101" type="body" hasCustomPrompt="1"/>
          </p:nvPr>
        </p:nvSpPr>
        <p:spPr>
          <a:xfrm>
            <a:off x="685800" y="1965960"/>
            <a:ext cx="3657600" cy="1371600"/>
          </a:xfrm>
          <a:prstGeom prst="rect">
            <a:avLst/>
          </a:prstGeom>
          <a:noFill/>
          <a:ln/>
        </p:spPr>
        <p:txBody>
          <a:bodyPr wrap="square" rtlCol="0"/>
          <a:lstStyle>
            <a:lvl1pPr algn="l" indent="0" marL="0">
              <a:buNone/>
              <a:defRPr lang="en-US" sz="8000" dirty="0">
                <a:solidFill>
                  <a:schemeClr val="accent1"/>
                </a:solidFill>
                <a:latin typeface="Poppins ExtraBold" pitchFamily="34" charset="0"/>
                <a:ea typeface="Poppins ExtraBold" pitchFamily="34" charset="-122"/>
                <a:cs typeface="Poppins ExtraBold" pitchFamily="34" charset="-120"/>
              </a:defRPr>
            </a:lvl1pPr>
          </a:lstStyle>
          <a:p>
            <a:pPr algn="l" indent="0" marL="0">
              <a:buNone/>
            </a:pPr>
            <a:endParaRPr lang="en-US" sz="8000" dirty="0"/>
          </a:p>
        </p:txBody>
      </p:sp>
      <p:sp>
        <p:nvSpPr>
          <p:cNvPr id="4" name="Text 0"/>
          <p:cNvSpPr/>
          <p:nvPr>
            <p:ph idx="102" type="title" hasCustomPrompt="1"/>
          </p:nvPr>
        </p:nvSpPr>
        <p:spPr>
          <a:xfrm>
            <a:off x="685800" y="3429000"/>
            <a:ext cx="9601200" cy="1188720"/>
          </a:xfrm>
          <a:prstGeom prst="rect">
            <a:avLst/>
          </a:prstGeom>
          <a:noFill/>
          <a:ln/>
        </p:spPr>
        <p:txBody>
          <a:bodyPr wrap="square" rtlCol="0"/>
          <a:lstStyle>
            <a:lvl1pPr algn="l" indent="0" marL="0">
              <a:buNone/>
              <a:defRPr lang="en-US" sz="4000" dirty="0">
                <a:solidFill>
                  <a:schemeClr val="bg1"/>
                </a:solidFill>
                <a:latin typeface="Poppins ExtraBold" pitchFamily="34" charset="0"/>
                <a:ea typeface="Poppins ExtraBold" pitchFamily="34" charset="-122"/>
                <a:cs typeface="Poppins ExtraBold"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0957255" y="4572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G_STATEMENT">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1143000"/>
            <a:ext cx="10820095" cy="310896"/>
          </a:xfrm>
          <a:prstGeom prst="rect">
            <a:avLst/>
          </a:prstGeom>
          <a:noFill/>
          <a:ln/>
        </p:spPr>
        <p:txBody>
          <a:bodyPr wrap="square" rtlCol="0"/>
          <a:lstStyle>
            <a:lvl1pPr algn="l" indent="0" marL="0">
              <a:buNone/>
              <a:defRPr lang="en-US" sz="1100" b="1" spc="200" kern="0" dirty="0">
                <a:solidFill>
                  <a:schemeClr val="accent2"/>
                </a:solidFill>
              </a:defRPr>
            </a:lvl1pPr>
          </a:lstStyle>
          <a:p>
            <a:pPr algn="l" indent="0" marL="0">
              <a:buNone/>
            </a:pPr>
            <a:endParaRPr lang="en-US" sz="1100" dirty="0"/>
          </a:p>
        </p:txBody>
      </p:sp>
      <p:sp>
        <p:nvSpPr>
          <p:cNvPr id="3" name="Text 0"/>
          <p:cNvSpPr/>
          <p:nvPr>
            <p:ph idx="101" type="title" hasCustomPrompt="1"/>
          </p:nvPr>
        </p:nvSpPr>
        <p:spPr>
          <a:xfrm>
            <a:off x="685800" y="1645920"/>
            <a:ext cx="9692640" cy="3566160"/>
          </a:xfrm>
          <a:prstGeom prst="rect">
            <a:avLst/>
          </a:prstGeom>
          <a:noFill/>
          <a:ln/>
        </p:spPr>
        <p:txBody>
          <a:bodyPr wrap="square" rtlCol="0"/>
          <a:lstStyle>
            <a:lvl1pPr algn="l" indent="0" marL="0">
              <a:lnSpc>
                <a:spcPct val="110000"/>
              </a:lnSpc>
              <a:buNone/>
              <a:defRPr lang="en-US" sz="3000" dirty="0">
                <a:solidFill>
                  <a:schemeClr val="bg1"/>
                </a:solidFill>
                <a:latin typeface="Poppins ExtraBold" pitchFamily="34" charset="0"/>
                <a:ea typeface="Poppins ExtraBold" pitchFamily="34" charset="-122"/>
                <a:cs typeface="Poppins ExtraBold" pitchFamily="34" charset="-120"/>
              </a:defRPr>
            </a:lvl1pPr>
          </a:lstStyle>
          <a:p>
            <a:pPr algn="l" indent="0" marL="0">
              <a:lnSpc>
                <a:spcPct val="110000"/>
              </a:lnSpc>
              <a:buNone/>
            </a:pPr>
            <a:endParaRPr lang="en-US" sz="30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G_TITLE">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5.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jp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2.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image" Target="../media/image-21-5.jpg"/><Relationship Id="rId6" Type="http://schemas.openxmlformats.org/officeDocument/2006/relationships/image" Target="../media/image-21-6.jp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2.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image" Target="../media/image-28-3.jp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video" Target="../media/media-31-1.mp4"/><Relationship Id="rId2" Type="http://schemas.microsoft.com/office/2007/relationships/media" Target="../media/media-31-1.mp4"/><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video" Target="../media/media-32-1.mp4"/><Relationship Id="rId2" Type="http://schemas.microsoft.com/office/2007/relationships/media" Target="../media/media-32-1.mp4"/><Relationship Id="rId3" Type="http://schemas.openxmlformats.org/officeDocument/2006/relationships/image" Target="../media/image-32-3.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image" Target="../media/image-36-3.jpg"/><Relationship Id="rId4" Type="http://schemas.openxmlformats.org/officeDocument/2006/relationships/image" Target="../media/image-36-4.jpg"/><Relationship Id="rId5" Type="http://schemas.openxmlformats.org/officeDocument/2006/relationships/slideLayout" Target="../slideLayouts/slideLayout2.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2.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2.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_istc_chip"/>
          <p:cNvSpPr/>
          <p:nvPr/>
        </p:nvSpPr>
        <p:spPr>
          <a:xfrm>
            <a:off x="685800" y="502920"/>
            <a:ext cx="1417320" cy="1097280"/>
          </a:xfrm>
          <a:prstGeom prst="roundRect">
            <a:avLst>
              <a:gd name="adj" fmla="val 10000"/>
            </a:avLst>
          </a:prstGeom>
          <a:solidFill>
            <a:schemeClr val="bg1"/>
          </a:solidFill>
          <a:ln/>
        </p:spPr>
      </p:sp>
      <p:pic>
        <p:nvPicPr>
          <p:cNvPr id="3" name="T_istc" descr="Logo ISTC Polytechnique">    </p:cNvPr>
          <p:cNvPicPr>
            <a:picLocks noChangeAspect="1"/>
          </p:cNvPicPr>
          <p:nvPr/>
        </p:nvPicPr>
        <p:blipFill>
          <a:blip r:embed="rId1"/>
          <a:stretch>
            <a:fillRect/>
          </a:stretch>
        </p:blipFill>
        <p:spPr>
          <a:xfrm>
            <a:off x="795528" y="583088"/>
            <a:ext cx="1197864" cy="936943"/>
          </a:xfrm>
          <a:prstGeom prst="rect">
            <a:avLst/>
          </a:prstGeom>
        </p:spPr>
      </p:pic>
      <p:sp>
        <p:nvSpPr>
          <p:cNvPr id="4" name="T_eyebrow"/>
          <p:cNvSpPr txBox="1"/>
          <p:nvPr/>
        </p:nvSpPr>
        <p:spPr>
          <a:xfrm>
            <a:off x="685800" y="2011680"/>
            <a:ext cx="8412480" cy="274320"/>
          </a:xfrm>
          <a:prstGeom prst="rect">
            <a:avLst/>
          </a:prstGeom>
          <a:noFill/>
          <a:ln/>
        </p:spPr>
        <p:txBody>
          <a:bodyPr wrap="square" lIns="0" tIns="0" rIns="0" bIns="0" rtlCol="0" anchor="t"/>
          <a:lstStyle/>
          <a:p>
            <a:pPr indent="0" marL="0">
              <a:buNone/>
            </a:pPr>
            <a:r>
              <a:rPr lang="en-US" sz="1000" b="1" spc="100" kern="0" dirty="0">
                <a:solidFill>
                  <a:schemeClr val="accent2"/>
                </a:solidFill>
              </a:rPr>
              <a:t>SOUTENANCE DE LICENCE PROFESSIONNELLE  ·  ARTS ET IMAGES NUMÉRIQUES  ·  2025-2026</a:t>
            </a:r>
            <a:endParaRPr lang="en-US" sz="1000" dirty="0"/>
          </a:p>
        </p:txBody>
      </p:sp>
      <p:sp>
        <p:nvSpPr>
          <p:cNvPr id="5" name="T_title"/>
          <p:cNvSpPr txBox="1"/>
          <p:nvPr/>
        </p:nvSpPr>
        <p:spPr>
          <a:xfrm>
            <a:off x="685800" y="2377440"/>
            <a:ext cx="7498080" cy="1828800"/>
          </a:xfrm>
          <a:prstGeom prst="rect">
            <a:avLst/>
          </a:prstGeom>
          <a:noFill/>
          <a:ln/>
        </p:spPr>
        <p:txBody>
          <a:bodyPr wrap="square" lIns="0" tIns="0" rIns="0" bIns="0" rtlCol="0" anchor="t"/>
          <a:lstStyle/>
          <a:p>
            <a:pPr indent="0" marL="0">
              <a:lnSpc>
                <a:spcPct val="105000"/>
              </a:lnSpc>
              <a:buNone/>
            </a:pPr>
            <a:r>
              <a:rPr lang="en-US" sz="2800" dirty="0">
                <a:solidFill>
                  <a:schemeClr val="bg1"/>
                </a:solidFill>
                <a:latin typeface="Poppins ExtraBold" pitchFamily="34" charset="0"/>
                <a:ea typeface="Poppins ExtraBold" pitchFamily="34" charset="-122"/>
                <a:cs typeface="Poppins ExtraBold" pitchFamily="34" charset="-120"/>
              </a:rPr>
              <a:t>Conception et réalisation de supports de communication pour la promotion de la structure de sport « American’s Gym »</a:t>
            </a:r>
            <a:endParaRPr lang="en-US" sz="2800" dirty="0"/>
          </a:p>
        </p:txBody>
      </p:sp>
      <p:pic>
        <p:nvPicPr>
          <p:cNvPr id="6" name="T_logo" descr="Logo American's Gym">    </p:cNvPr>
          <p:cNvPicPr>
            <a:picLocks noChangeAspect="1"/>
          </p:cNvPicPr>
          <p:nvPr/>
        </p:nvPicPr>
        <p:blipFill>
          <a:blip r:embed="rId2"/>
          <a:stretch>
            <a:fillRect/>
          </a:stretch>
        </p:blipFill>
        <p:spPr>
          <a:xfrm>
            <a:off x="8458200" y="1947297"/>
            <a:ext cx="3063240" cy="2323327"/>
          </a:xfrm>
          <a:prstGeom prst="rect">
            <a:avLst/>
          </a:prstGeom>
        </p:spPr>
      </p:pic>
      <p:sp>
        <p:nvSpPr>
          <p:cNvPr id="7" name="C1_presente"/>
          <p:cNvSpPr txBox="1"/>
          <p:nvPr/>
        </p:nvSpPr>
        <p:spPr>
          <a:xfrm>
            <a:off x="685800" y="4754880"/>
            <a:ext cx="7680960" cy="365760"/>
          </a:xfrm>
          <a:prstGeom prst="rect">
            <a:avLst/>
          </a:prstGeom>
          <a:noFill/>
          <a:ln/>
        </p:spPr>
        <p:txBody>
          <a:bodyPr wrap="square" lIns="0" tIns="0" rIns="0" bIns="0" rtlCol="0" anchor="t"/>
          <a:lstStyle/>
          <a:p>
            <a:pPr indent="0" marL="0">
              <a:buNone/>
            </a:pPr>
            <a:r>
              <a:rPr lang="en-US" sz="1600" dirty="0">
                <a:solidFill>
                  <a:schemeClr val="accent2"/>
                </a:solidFill>
              </a:rPr>
              <a:t>Présenté par  </a:t>
            </a:r>
            <a:pPr indent="0" marL="0">
              <a:buNone/>
            </a:pPr>
            <a:r>
              <a:rPr lang="en-US" sz="1600" b="1" dirty="0">
                <a:solidFill>
                  <a:schemeClr val="bg1"/>
                </a:solidFill>
              </a:rPr>
              <a:t>CAMARA BINTOU ÉPSE HOZAN</a:t>
            </a:r>
            <a:endParaRPr lang="en-US" sz="1600" dirty="0"/>
          </a:p>
        </p:txBody>
      </p:sp>
      <p:sp>
        <p:nvSpPr>
          <p:cNvPr id="8" name="C1_directeur"/>
          <p:cNvSpPr txBox="1"/>
          <p:nvPr/>
        </p:nvSpPr>
        <p:spPr>
          <a:xfrm>
            <a:off x="685800" y="5349240"/>
            <a:ext cx="4937760" cy="320040"/>
          </a:xfrm>
          <a:prstGeom prst="rect">
            <a:avLst/>
          </a:prstGeom>
          <a:noFill/>
          <a:ln/>
        </p:spPr>
        <p:txBody>
          <a:bodyPr wrap="square" lIns="0" tIns="0" rIns="0" bIns="0" rtlCol="0" anchor="t"/>
          <a:lstStyle/>
          <a:p>
            <a:pPr indent="0" marL="0">
              <a:buNone/>
            </a:pPr>
            <a:r>
              <a:rPr lang="en-US" sz="1200" dirty="0">
                <a:solidFill>
                  <a:schemeClr val="accent2"/>
                </a:solidFill>
              </a:rPr>
              <a:t>Directeur de mémoire  </a:t>
            </a:r>
            <a:pPr indent="0" marL="0">
              <a:buNone/>
            </a:pPr>
            <a:r>
              <a:rPr lang="en-US" sz="1200" dirty="0">
                <a:solidFill>
                  <a:schemeClr val="bg1"/>
                </a:solidFill>
              </a:rPr>
              <a:t>M. Chafick ADJIBADÉ</a:t>
            </a:r>
            <a:endParaRPr lang="en-US" sz="1200" dirty="0"/>
          </a:p>
        </p:txBody>
      </p:sp>
      <p:sp>
        <p:nvSpPr>
          <p:cNvPr id="9" name="C1_superviseur"/>
          <p:cNvSpPr txBox="1"/>
          <p:nvPr/>
        </p:nvSpPr>
        <p:spPr>
          <a:xfrm>
            <a:off x="5806440" y="5349240"/>
            <a:ext cx="5760720" cy="320040"/>
          </a:xfrm>
          <a:prstGeom prst="rect">
            <a:avLst/>
          </a:prstGeom>
          <a:noFill/>
          <a:ln/>
        </p:spPr>
        <p:txBody>
          <a:bodyPr wrap="square" lIns="0" tIns="0" rIns="0" bIns="0" rtlCol="0" anchor="t"/>
          <a:lstStyle/>
          <a:p>
            <a:pPr indent="0" marL="0">
              <a:buNone/>
            </a:pPr>
            <a:r>
              <a:rPr lang="en-US" sz="1200" dirty="0">
                <a:solidFill>
                  <a:schemeClr val="accent2"/>
                </a:solidFill>
              </a:rPr>
              <a:t>Superviseur  </a:t>
            </a:r>
            <a:pPr indent="0" marL="0">
              <a:buNone/>
            </a:pPr>
            <a:r>
              <a:rPr lang="en-US" sz="1200" dirty="0">
                <a:solidFill>
                  <a:schemeClr val="bg1"/>
                </a:solidFill>
              </a:rPr>
              <a:t>Prof. TOA AGNINI Jules Évariste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par>
                                <p:cTn id="15" presetID="10" presetClass="entr" presetSubtype="0" accel="0" decel="10000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par>
                                <p:cTn id="18" presetID="0" presetClass="path" presetSubtype="0" accel="0" decel="100000" fill="hold" grpId="1" nodeType="withEffect">
                                  <p:stCondLst>
                                    <p:cond delay="0"/>
                                  </p:stCondLst>
                                  <p:childTnLst>
                                    <p:animMotion origin="layout" path="M 0 0.02778 L 0 0 E" pathEditMode="relative" rAng="0" ptsTypes="AA">
                                      <p:cBhvr>
                                        <p:cTn id="19" dur="500" fill="hold"/>
                                        <p:tgtEl>
                                          <p:spTgt spid="4"/>
                                        </p:tgtEl>
                                        <p:attrNameLst>
                                          <p:attrName>ppt_x</p:attrName>
                                          <p:attrName>ppt_y</p:attrName>
                                        </p:attrNameLst>
                                      </p:cBhvr>
                                    </p:animMotion>
                                  </p:childTnLst>
                                </p:cTn>
                              </p:par>
                              <p:par>
                                <p:cTn id="20" presetID="10" presetClass="entr" presetSubtype="0" accel="0" decel="100000" fill="hold" grpId="0" nodeType="with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500"/>
                                        <p:tgtEl>
                                          <p:spTgt spid="5"/>
                                        </p:tgtEl>
                                      </p:cBhvr>
                                    </p:animEffect>
                                  </p:childTnLst>
                                </p:cTn>
                              </p:par>
                              <p:par>
                                <p:cTn id="23" presetID="0" presetClass="path" presetSubtype="0" accel="0" decel="100000" fill="hold" grpId="1" nodeType="withEffect">
                                  <p:stCondLst>
                                    <p:cond delay="0"/>
                                  </p:stCondLst>
                                  <p:childTnLst>
                                    <p:animMotion origin="layout" path="M 0 0.02778 L 0 0 E" pathEditMode="relative" rAng="0" ptsTypes="AA">
                                      <p:cBhvr>
                                        <p:cTn id="24" dur="500" fill="hold"/>
                                        <p:tgtEl>
                                          <p:spTgt spid="5"/>
                                        </p:tgtEl>
                                        <p:attrNameLst>
                                          <p:attrName>ppt_x</p:attrName>
                                          <p:attrName>ppt_y</p:attrName>
                                        </p:attrNameLst>
                                      </p:cBhvr>
                                    </p:animMotion>
                                  </p:childTnLst>
                                </p:cTn>
                              </p:par>
                              <p:par>
                                <p:cTn id="25" presetID="10" presetClass="entr" presetSubtype="0" accel="0" decel="10000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500"/>
                                        <p:tgtEl>
                                          <p:spTgt spid="6"/>
                                        </p:tgtEl>
                                      </p:cBhvr>
                                    </p:animEffect>
                                  </p:childTnLst>
                                </p:cTn>
                              </p:par>
                              <p:par>
                                <p:cTn id="28" presetID="0" presetClass="path" presetSubtype="0" accel="0" decel="100000" fill="hold" grpId="1" nodeType="withEffect">
                                  <p:stCondLst>
                                    <p:cond delay="0"/>
                                  </p:stCondLst>
                                  <p:childTnLst>
                                    <p:animMotion origin="layout" path="M 0 0.02778 L 0 0 E" pathEditMode="relative" rAng="0" ptsTypes="AA">
                                      <p:cBhvr>
                                        <p:cTn id="29" dur="500" fill="hold"/>
                                        <p:tgtEl>
                                          <p:spTgt spid="6"/>
                                        </p:tgtEl>
                                        <p:attrNameLst>
                                          <p:attrName>ppt_x</p:attrName>
                                          <p:attrName>ppt_y</p:attrName>
                                        </p:attrNameLst>
                                      </p:cBhvr>
                                    </p:animMotion>
                                  </p:childTnLst>
                                </p:cTn>
                              </p:par>
                            </p:childTnLst>
                          </p:cTn>
                        </p:par>
                      </p:childTnLst>
                    </p:cTn>
                  </p:par>
                  <p:par>
                    <p:cTn id="30" fill="hold">
                      <p:stCondLst>
                        <p:cond delay="indefinite"/>
                      </p:stCondLst>
                      <p:childTnLst>
                        <p:par>
                          <p:cTn id="31" fill="hold">
                            <p:stCondLst>
                              <p:cond delay="0"/>
                            </p:stCondLst>
                            <p:childTnLst>
                              <p:par>
                                <p:cTn id="32" presetID="10" presetClass="entr" presetSubtype="0" accel="0" decel="100000" fill="hold" grpId="0"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500"/>
                                        <p:tgtEl>
                                          <p:spTgt spid="7"/>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7"/>
                                        </p:tgtEl>
                                        <p:attrNameLst>
                                          <p:attrName>ppt_x</p:attrName>
                                          <p:attrName>ppt_y</p:attrName>
                                        </p:attrNameLst>
                                      </p:cBhvr>
                                    </p:animMotion>
                                  </p:childTnLst>
                                </p:cTn>
                              </p:par>
                              <p:par>
                                <p:cTn id="37" presetID="10" presetClass="entr" presetSubtype="0" accel="0" decel="100000" fill="hold" grpId="0" nodeType="with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childTnLst>
                                </p:cTn>
                              </p:par>
                              <p:par>
                                <p:cTn id="40" presetID="0" presetClass="path" presetSubtype="0" accel="0" decel="100000" fill="hold" grpId="1" nodeType="withEffect">
                                  <p:stCondLst>
                                    <p:cond delay="0"/>
                                  </p:stCondLst>
                                  <p:childTnLst>
                                    <p:animMotion origin="layout" path="M 0 0.02778 L 0 0 E" pathEditMode="relative" rAng="0" ptsTypes="AA">
                                      <p:cBhvr>
                                        <p:cTn id="41" dur="500" fill="hold"/>
                                        <p:tgtEl>
                                          <p:spTgt spid="8"/>
                                        </p:tgtEl>
                                        <p:attrNameLst>
                                          <p:attrName>ppt_x</p:attrName>
                                          <p:attrName>ppt_y</p:attrName>
                                        </p:attrNameLst>
                                      </p:cBhvr>
                                    </p:animMotion>
                                  </p:childTnLst>
                                </p:cTn>
                              </p:par>
                              <p:par>
                                <p:cTn id="42" presetID="10" presetClass="entr" presetSubtype="0" accel="0" decel="100000" fill="hold" grpId="0" nodeType="withEffect">
                                  <p:stCondLst>
                                    <p:cond delay="0"/>
                                  </p:stCondLst>
                                  <p:childTnLst>
                                    <p:set>
                                      <p:cBhvr>
                                        <p:cTn id="43" dur="1" fill="hold">
                                          <p:stCondLst>
                                            <p:cond delay="0"/>
                                          </p:stCondLst>
                                        </p:cTn>
                                        <p:tgtEl>
                                          <p:spTgt spid="9"/>
                                        </p:tgtEl>
                                        <p:attrNameLst>
                                          <p:attrName>style.visibility</p:attrName>
                                        </p:attrNameLst>
                                      </p:cBhvr>
                                      <p:to>
                                        <p:strVal val="visible"/>
                                      </p:to>
                                    </p:set>
                                    <p:animEffect transition="in" filter="fade">
                                      <p:cBhvr>
                                        <p:cTn id="44" dur="500"/>
                                        <p:tgtEl>
                                          <p:spTgt spid="9"/>
                                        </p:tgtEl>
                                      </p:cBhvr>
                                    </p:animEffect>
                                  </p:childTnLst>
                                </p:cTn>
                              </p:par>
                              <p:par>
                                <p:cTn id="45" presetID="0" presetClass="path" presetSubtype="0" accel="0" decel="100000" fill="hold" grpId="1" nodeType="withEffect">
                                  <p:stCondLst>
                                    <p:cond delay="0"/>
                                  </p:stCondLst>
                                  <p:childTnLst>
                                    <p:animMotion origin="layout" path="M 0 0.02778 L 0 0 E" pathEditMode="relative" rAng="0" ptsTypes="AA">
                                      <p:cBhvr>
                                        <p:cTn id="46" dur="5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7" grpId="0" animBg="1"/>
      <p:bldP spid="7" grpId="1" animBg="1"/>
      <p:bldP spid="8" grpId="0" animBg="1"/>
      <p:bldP spid="8" grpId="1" animBg="1"/>
      <p:bldP spid="9" grpId="0" animBg="1"/>
      <p:bldP spid="9"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PLAN</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Plan de la présentation</a:t>
            </a:r>
            <a:endParaRPr lang="en-US" sz="3000" dirty="0"/>
          </a:p>
        </p:txBody>
      </p:sp>
      <p:sp>
        <p:nvSpPr>
          <p:cNvPr id="5" name="C1_n0"/>
          <p:cNvSpPr txBox="1"/>
          <p:nvPr/>
        </p:nvSpPr>
        <p:spPr>
          <a:xfrm>
            <a:off x="685800" y="1920240"/>
            <a:ext cx="1097280" cy="640080"/>
          </a:xfrm>
          <a:prstGeom prst="rect">
            <a:avLst/>
          </a:prstGeom>
          <a:noFill/>
          <a:ln/>
        </p:spPr>
        <p:txBody>
          <a:bodyPr wrap="square" lIns="0" tIns="0" rIns="0" bIns="0" rtlCol="0" anchor="ctr"/>
          <a:lstStyle/>
          <a:p>
            <a:pPr indent="0" marL="0">
              <a:buNone/>
            </a:pPr>
            <a:r>
              <a:rPr lang="en-US" sz="3000" dirty="0">
                <a:solidFill>
                  <a:schemeClr val="accent1"/>
                </a:solidFill>
                <a:latin typeface="Poppins ExtraBold" pitchFamily="34" charset="0"/>
                <a:ea typeface="Poppins ExtraBold" pitchFamily="34" charset="-122"/>
                <a:cs typeface="Poppins ExtraBold" pitchFamily="34" charset="-120"/>
              </a:rPr>
              <a:t>01</a:t>
            </a:r>
            <a:endParaRPr lang="en-US" sz="3000" dirty="0"/>
          </a:p>
        </p:txBody>
      </p:sp>
      <p:sp>
        <p:nvSpPr>
          <p:cNvPr id="6" name="C1_t0"/>
          <p:cNvSpPr txBox="1"/>
          <p:nvPr/>
        </p:nvSpPr>
        <p:spPr>
          <a:xfrm>
            <a:off x="1874520" y="1920240"/>
            <a:ext cx="7315200" cy="640080"/>
          </a:xfrm>
          <a:prstGeom prst="rect">
            <a:avLst/>
          </a:prstGeom>
          <a:noFill/>
          <a:ln/>
        </p:spPr>
        <p:txBody>
          <a:bodyPr wrap="square" lIns="0" tIns="0" rIns="0" bIns="0" rtlCol="0" anchor="ctr"/>
          <a:lstStyle/>
          <a:p>
            <a:pPr indent="0" marL="0">
              <a:buNone/>
            </a:pPr>
            <a:r>
              <a:rPr lang="en-US" sz="2200" b="1" dirty="0">
                <a:solidFill>
                  <a:schemeClr val="tx1"/>
                </a:solidFill>
              </a:rPr>
              <a:t>Introduction et problématique</a:t>
            </a:r>
            <a:endParaRPr lang="en-US" sz="2200" dirty="0"/>
          </a:p>
        </p:txBody>
      </p:sp>
      <p:sp>
        <p:nvSpPr>
          <p:cNvPr id="7" name="C1_sep0"/>
          <p:cNvSpPr/>
          <p:nvPr/>
        </p:nvSpPr>
        <p:spPr>
          <a:xfrm>
            <a:off x="1874520" y="2651760"/>
            <a:ext cx="6858000" cy="0"/>
          </a:xfrm>
          <a:prstGeom prst="line">
            <a:avLst/>
          </a:prstGeom>
          <a:noFill/>
          <a:ln w="12700">
            <a:solidFill>
              <a:srgbClr val="D5DCE5"/>
            </a:solidFill>
            <a:prstDash val="solid"/>
          </a:ln>
        </p:spPr>
      </p:sp>
      <p:sp>
        <p:nvSpPr>
          <p:cNvPr id="8" name="C1_n1"/>
          <p:cNvSpPr txBox="1"/>
          <p:nvPr/>
        </p:nvSpPr>
        <p:spPr>
          <a:xfrm>
            <a:off x="685800" y="2743200"/>
            <a:ext cx="1097280" cy="640080"/>
          </a:xfrm>
          <a:prstGeom prst="rect">
            <a:avLst/>
          </a:prstGeom>
          <a:noFill/>
          <a:ln/>
        </p:spPr>
        <p:txBody>
          <a:bodyPr wrap="square" lIns="0" tIns="0" rIns="0" bIns="0" rtlCol="0" anchor="ctr"/>
          <a:lstStyle/>
          <a:p>
            <a:pPr indent="0" marL="0">
              <a:buNone/>
            </a:pPr>
            <a:r>
              <a:rPr lang="en-US" sz="3000" dirty="0">
                <a:solidFill>
                  <a:schemeClr val="accent1"/>
                </a:solidFill>
                <a:latin typeface="Poppins ExtraBold" pitchFamily="34" charset="0"/>
                <a:ea typeface="Poppins ExtraBold" pitchFamily="34" charset="-122"/>
                <a:cs typeface="Poppins ExtraBold" pitchFamily="34" charset="-120"/>
              </a:rPr>
              <a:t>02</a:t>
            </a:r>
            <a:endParaRPr lang="en-US" sz="3000" dirty="0"/>
          </a:p>
        </p:txBody>
      </p:sp>
      <p:sp>
        <p:nvSpPr>
          <p:cNvPr id="9" name="C1_t1"/>
          <p:cNvSpPr txBox="1"/>
          <p:nvPr/>
        </p:nvSpPr>
        <p:spPr>
          <a:xfrm>
            <a:off x="1874520" y="2743200"/>
            <a:ext cx="7315200" cy="640080"/>
          </a:xfrm>
          <a:prstGeom prst="rect">
            <a:avLst/>
          </a:prstGeom>
          <a:noFill/>
          <a:ln/>
        </p:spPr>
        <p:txBody>
          <a:bodyPr wrap="square" lIns="0" tIns="0" rIns="0" bIns="0" rtlCol="0" anchor="ctr"/>
          <a:lstStyle/>
          <a:p>
            <a:pPr indent="0" marL="0">
              <a:buNone/>
            </a:pPr>
            <a:r>
              <a:rPr lang="en-US" sz="2200" b="1" dirty="0">
                <a:solidFill>
                  <a:schemeClr val="tx1"/>
                </a:solidFill>
              </a:rPr>
              <a:t>Cadre d’étude</a:t>
            </a:r>
            <a:endParaRPr lang="en-US" sz="2200" dirty="0"/>
          </a:p>
        </p:txBody>
      </p:sp>
      <p:sp>
        <p:nvSpPr>
          <p:cNvPr id="10" name="C1_sep1"/>
          <p:cNvSpPr/>
          <p:nvPr/>
        </p:nvSpPr>
        <p:spPr>
          <a:xfrm>
            <a:off x="1874520" y="3474720"/>
            <a:ext cx="6858000" cy="0"/>
          </a:xfrm>
          <a:prstGeom prst="line">
            <a:avLst/>
          </a:prstGeom>
          <a:noFill/>
          <a:ln w="12700">
            <a:solidFill>
              <a:srgbClr val="D5DCE5"/>
            </a:solidFill>
            <a:prstDash val="solid"/>
          </a:ln>
        </p:spPr>
      </p:sp>
      <p:sp>
        <p:nvSpPr>
          <p:cNvPr id="11" name="C1_n2"/>
          <p:cNvSpPr txBox="1"/>
          <p:nvPr/>
        </p:nvSpPr>
        <p:spPr>
          <a:xfrm>
            <a:off x="685800" y="3566160"/>
            <a:ext cx="1097280" cy="640080"/>
          </a:xfrm>
          <a:prstGeom prst="rect">
            <a:avLst/>
          </a:prstGeom>
          <a:noFill/>
          <a:ln/>
        </p:spPr>
        <p:txBody>
          <a:bodyPr wrap="square" lIns="0" tIns="0" rIns="0" bIns="0" rtlCol="0" anchor="ctr"/>
          <a:lstStyle/>
          <a:p>
            <a:pPr indent="0" marL="0">
              <a:buNone/>
            </a:pPr>
            <a:r>
              <a:rPr lang="en-US" sz="3000" dirty="0">
                <a:solidFill>
                  <a:schemeClr val="accent1"/>
                </a:solidFill>
                <a:latin typeface="Poppins ExtraBold" pitchFamily="34" charset="0"/>
                <a:ea typeface="Poppins ExtraBold" pitchFamily="34" charset="-122"/>
                <a:cs typeface="Poppins ExtraBold" pitchFamily="34" charset="-120"/>
              </a:rPr>
              <a:t>03</a:t>
            </a:r>
            <a:endParaRPr lang="en-US" sz="3000" dirty="0"/>
          </a:p>
        </p:txBody>
      </p:sp>
      <p:sp>
        <p:nvSpPr>
          <p:cNvPr id="12" name="C1_t2"/>
          <p:cNvSpPr txBox="1"/>
          <p:nvPr/>
        </p:nvSpPr>
        <p:spPr>
          <a:xfrm>
            <a:off x="1874520" y="3566160"/>
            <a:ext cx="7315200" cy="640080"/>
          </a:xfrm>
          <a:prstGeom prst="rect">
            <a:avLst/>
          </a:prstGeom>
          <a:noFill/>
          <a:ln/>
        </p:spPr>
        <p:txBody>
          <a:bodyPr wrap="square" lIns="0" tIns="0" rIns="0" bIns="0" rtlCol="0" anchor="ctr"/>
          <a:lstStyle/>
          <a:p>
            <a:pPr indent="0" marL="0">
              <a:buNone/>
            </a:pPr>
            <a:r>
              <a:rPr lang="en-US" sz="2200" b="1" dirty="0">
                <a:solidFill>
                  <a:schemeClr val="tx1"/>
                </a:solidFill>
              </a:rPr>
              <a:t>Étude technique</a:t>
            </a:r>
            <a:endParaRPr lang="en-US" sz="2200" dirty="0"/>
          </a:p>
        </p:txBody>
      </p:sp>
      <p:sp>
        <p:nvSpPr>
          <p:cNvPr id="13" name="C1_sep2"/>
          <p:cNvSpPr/>
          <p:nvPr/>
        </p:nvSpPr>
        <p:spPr>
          <a:xfrm>
            <a:off x="1874520" y="4297680"/>
            <a:ext cx="6858000" cy="0"/>
          </a:xfrm>
          <a:prstGeom prst="line">
            <a:avLst/>
          </a:prstGeom>
          <a:noFill/>
          <a:ln w="12700">
            <a:solidFill>
              <a:srgbClr val="D5DCE5"/>
            </a:solidFill>
            <a:prstDash val="solid"/>
          </a:ln>
        </p:spPr>
      </p:sp>
      <p:sp>
        <p:nvSpPr>
          <p:cNvPr id="14" name="C1_n3"/>
          <p:cNvSpPr txBox="1"/>
          <p:nvPr/>
        </p:nvSpPr>
        <p:spPr>
          <a:xfrm>
            <a:off x="685800" y="4389120"/>
            <a:ext cx="1097280" cy="640080"/>
          </a:xfrm>
          <a:prstGeom prst="rect">
            <a:avLst/>
          </a:prstGeom>
          <a:noFill/>
          <a:ln/>
        </p:spPr>
        <p:txBody>
          <a:bodyPr wrap="square" lIns="0" tIns="0" rIns="0" bIns="0" rtlCol="0" anchor="ctr"/>
          <a:lstStyle/>
          <a:p>
            <a:pPr indent="0" marL="0">
              <a:buNone/>
            </a:pPr>
            <a:r>
              <a:rPr lang="en-US" sz="3000" dirty="0">
                <a:solidFill>
                  <a:schemeClr val="accent1"/>
                </a:solidFill>
                <a:latin typeface="Poppins ExtraBold" pitchFamily="34" charset="0"/>
                <a:ea typeface="Poppins ExtraBold" pitchFamily="34" charset="-122"/>
                <a:cs typeface="Poppins ExtraBold" pitchFamily="34" charset="-120"/>
              </a:rPr>
              <a:t>04</a:t>
            </a:r>
            <a:endParaRPr lang="en-US" sz="3000" dirty="0"/>
          </a:p>
        </p:txBody>
      </p:sp>
      <p:sp>
        <p:nvSpPr>
          <p:cNvPr id="15" name="C1_t3"/>
          <p:cNvSpPr txBox="1"/>
          <p:nvPr/>
        </p:nvSpPr>
        <p:spPr>
          <a:xfrm>
            <a:off x="1874520" y="4389120"/>
            <a:ext cx="7315200" cy="640080"/>
          </a:xfrm>
          <a:prstGeom prst="rect">
            <a:avLst/>
          </a:prstGeom>
          <a:noFill/>
          <a:ln/>
        </p:spPr>
        <p:txBody>
          <a:bodyPr wrap="square" lIns="0" tIns="0" rIns="0" bIns="0" rtlCol="0" anchor="ctr"/>
          <a:lstStyle/>
          <a:p>
            <a:pPr indent="0" marL="0">
              <a:buNone/>
            </a:pPr>
            <a:r>
              <a:rPr lang="en-US" sz="2200" b="1" dirty="0">
                <a:solidFill>
                  <a:schemeClr val="tx1"/>
                </a:solidFill>
              </a:rPr>
              <a:t>Réalisation des supports</a:t>
            </a:r>
            <a:endParaRPr lang="en-US" sz="2200" dirty="0"/>
          </a:p>
        </p:txBody>
      </p:sp>
      <p:sp>
        <p:nvSpPr>
          <p:cNvPr id="16" name="C1_sep3"/>
          <p:cNvSpPr/>
          <p:nvPr/>
        </p:nvSpPr>
        <p:spPr>
          <a:xfrm>
            <a:off x="1874520" y="5120640"/>
            <a:ext cx="6858000" cy="0"/>
          </a:xfrm>
          <a:prstGeom prst="line">
            <a:avLst/>
          </a:prstGeom>
          <a:noFill/>
          <a:ln w="12700">
            <a:solidFill>
              <a:srgbClr val="D5DCE5"/>
            </a:solidFill>
            <a:prstDash val="solid"/>
          </a:ln>
        </p:spPr>
      </p:sp>
      <p:sp>
        <p:nvSpPr>
          <p:cNvPr id="17" name="C1_n4"/>
          <p:cNvSpPr txBox="1"/>
          <p:nvPr/>
        </p:nvSpPr>
        <p:spPr>
          <a:xfrm>
            <a:off x="685800" y="5212080"/>
            <a:ext cx="1097280" cy="640080"/>
          </a:xfrm>
          <a:prstGeom prst="rect">
            <a:avLst/>
          </a:prstGeom>
          <a:noFill/>
          <a:ln/>
        </p:spPr>
        <p:txBody>
          <a:bodyPr wrap="square" lIns="0" tIns="0" rIns="0" bIns="0" rtlCol="0" anchor="ctr"/>
          <a:lstStyle/>
          <a:p>
            <a:pPr indent="0" marL="0">
              <a:buNone/>
            </a:pPr>
            <a:r>
              <a:rPr lang="en-US" sz="3000" dirty="0">
                <a:solidFill>
                  <a:schemeClr val="accent1"/>
                </a:solidFill>
                <a:latin typeface="Poppins ExtraBold" pitchFamily="34" charset="0"/>
                <a:ea typeface="Poppins ExtraBold" pitchFamily="34" charset="-122"/>
                <a:cs typeface="Poppins ExtraBold" pitchFamily="34" charset="-120"/>
              </a:rPr>
              <a:t>05</a:t>
            </a:r>
            <a:endParaRPr lang="en-US" sz="3000" dirty="0"/>
          </a:p>
        </p:txBody>
      </p:sp>
      <p:sp>
        <p:nvSpPr>
          <p:cNvPr id="18" name="C1_t4"/>
          <p:cNvSpPr txBox="1"/>
          <p:nvPr/>
        </p:nvSpPr>
        <p:spPr>
          <a:xfrm>
            <a:off x="1874520" y="5212080"/>
            <a:ext cx="7315200" cy="640080"/>
          </a:xfrm>
          <a:prstGeom prst="rect">
            <a:avLst/>
          </a:prstGeom>
          <a:noFill/>
          <a:ln/>
        </p:spPr>
        <p:txBody>
          <a:bodyPr wrap="square" lIns="0" tIns="0" rIns="0" bIns="0" rtlCol="0" anchor="ctr"/>
          <a:lstStyle/>
          <a:p>
            <a:pPr indent="0" marL="0">
              <a:buNone/>
            </a:pPr>
            <a:r>
              <a:rPr lang="en-US" sz="2200" b="1" dirty="0">
                <a:solidFill>
                  <a:schemeClr val="tx1"/>
                </a:solidFill>
              </a:rPr>
              <a:t>Conclusion</a:t>
            </a:r>
            <a:endParaRPr lang="en-US" sz="2200" dirty="0"/>
          </a:p>
        </p:txBody>
      </p:sp>
      <p:pic>
        <p:nvPicPr>
          <p:cNvPr id="19" name="C1_logo" descr="Logo American's Gym">    </p:cNvPr>
          <p:cNvPicPr>
            <a:picLocks noChangeAspect="1"/>
          </p:cNvPicPr>
          <p:nvPr/>
        </p:nvPicPr>
        <p:blipFill>
          <a:blip r:embed="rId1"/>
          <a:stretch>
            <a:fillRect/>
          </a:stretch>
        </p:blipFill>
        <p:spPr>
          <a:xfrm>
            <a:off x="8595360" y="2730831"/>
            <a:ext cx="2926080" cy="2219297"/>
          </a:xfrm>
          <a:prstGeom prst="rect">
            <a:avLst/>
          </a:prstGeom>
        </p:spPr>
      </p:pic>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7"/>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8"/>
                                        </p:tgtEl>
                                        <p:attrNameLst>
                                          <p:attrName>ppt_x</p:attrName>
                                          <p:attrName>ppt_y</p:attrName>
                                        </p:attrNameLst>
                                      </p:cBhvr>
                                    </p:animMotion>
                                  </p:childTnLst>
                                </p:cTn>
                              </p:par>
                              <p:par>
                                <p:cTn id="37" presetID="10" presetClass="entr" presetSubtype="0" accel="0" decel="10000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childTnLst>
                                </p:cTn>
                              </p:par>
                              <p:par>
                                <p:cTn id="40" presetID="0" presetClass="path" presetSubtype="0" accel="0" decel="100000" fill="hold" grpId="1" nodeType="withEffect">
                                  <p:stCondLst>
                                    <p:cond delay="0"/>
                                  </p:stCondLst>
                                  <p:childTnLst>
                                    <p:animMotion origin="layout" path="M 0 0.02778 L 0 0 E" pathEditMode="relative" rAng="0" ptsTypes="AA">
                                      <p:cBhvr>
                                        <p:cTn id="41" dur="500" fill="hold"/>
                                        <p:tgtEl>
                                          <p:spTgt spid="9"/>
                                        </p:tgtEl>
                                        <p:attrNameLst>
                                          <p:attrName>ppt_x</p:attrName>
                                          <p:attrName>ppt_y</p:attrName>
                                        </p:attrNameLst>
                                      </p:cBhvr>
                                    </p:animMotion>
                                  </p:childTnLst>
                                </p:cTn>
                              </p:par>
                              <p:par>
                                <p:cTn id="42" presetID="10" presetClass="entr" presetSubtype="0" accel="0" decel="10000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childTnLst>
                                </p:cTn>
                              </p:par>
                              <p:par>
                                <p:cTn id="45" presetID="0" presetClass="path" presetSubtype="0" accel="0" decel="100000" fill="hold" grpId="1" nodeType="withEffect">
                                  <p:stCondLst>
                                    <p:cond delay="0"/>
                                  </p:stCondLst>
                                  <p:childTnLst>
                                    <p:animMotion origin="layout" path="M 0 0.02778 L 0 0 E" pathEditMode="relative" rAng="0" ptsTypes="AA">
                                      <p:cBhvr>
                                        <p:cTn id="46" dur="500" fill="hold"/>
                                        <p:tgtEl>
                                          <p:spTgt spid="10"/>
                                        </p:tgtEl>
                                        <p:attrNameLst>
                                          <p:attrName>ppt_x</p:attrName>
                                          <p:attrName>ppt_y</p:attrName>
                                        </p:attrNameLst>
                                      </p:cBhvr>
                                    </p:animMotion>
                                  </p:childTnLst>
                                </p:cTn>
                              </p:par>
                              <p:par>
                                <p:cTn id="47" presetID="10" presetClass="entr" presetSubtype="0" accel="0" decel="10000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childTnLst>
                                </p:cTn>
                              </p:par>
                              <p:par>
                                <p:cTn id="50" presetID="0" presetClass="path" presetSubtype="0" accel="0" decel="100000" fill="hold" grpId="1" nodeType="withEffect">
                                  <p:stCondLst>
                                    <p:cond delay="0"/>
                                  </p:stCondLst>
                                  <p:childTnLst>
                                    <p:animMotion origin="layout" path="M 0 0.02778 L 0 0 E" pathEditMode="relative" rAng="0" ptsTypes="AA">
                                      <p:cBhvr>
                                        <p:cTn id="51" dur="500" fill="hold"/>
                                        <p:tgtEl>
                                          <p:spTgt spid="11"/>
                                        </p:tgtEl>
                                        <p:attrNameLst>
                                          <p:attrName>ppt_x</p:attrName>
                                          <p:attrName>ppt_y</p:attrName>
                                        </p:attrNameLst>
                                      </p:cBhvr>
                                    </p:animMotion>
                                  </p:childTnLst>
                                </p:cTn>
                              </p:par>
                              <p:par>
                                <p:cTn id="52" presetID="10" presetClass="entr" presetSubtype="0" accel="0" decel="10000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p:tgtEl>
                                          <p:spTgt spid="12"/>
                                        </p:tgtEl>
                                      </p:cBhvr>
                                    </p:animEffect>
                                  </p:childTnLst>
                                </p:cTn>
                              </p:par>
                              <p:par>
                                <p:cTn id="55" presetID="0" presetClass="path" presetSubtype="0" accel="0" decel="100000" fill="hold" grpId="1" nodeType="withEffect">
                                  <p:stCondLst>
                                    <p:cond delay="0"/>
                                  </p:stCondLst>
                                  <p:childTnLst>
                                    <p:animMotion origin="layout" path="M 0 0.02778 L 0 0 E" pathEditMode="relative" rAng="0" ptsTypes="AA">
                                      <p:cBhvr>
                                        <p:cTn id="56" dur="500" fill="hold"/>
                                        <p:tgtEl>
                                          <p:spTgt spid="12"/>
                                        </p:tgtEl>
                                        <p:attrNameLst>
                                          <p:attrName>ppt_x</p:attrName>
                                          <p:attrName>ppt_y</p:attrName>
                                        </p:attrNameLst>
                                      </p:cBhvr>
                                    </p:animMotion>
                                  </p:childTnLst>
                                </p:cTn>
                              </p:par>
                              <p:par>
                                <p:cTn id="57" presetID="10" presetClass="entr" presetSubtype="0" accel="0" decel="10000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p:tgtEl>
                                          <p:spTgt spid="13"/>
                                        </p:tgtEl>
                                      </p:cBhvr>
                                    </p:animEffect>
                                  </p:childTnLst>
                                </p:cTn>
                              </p:par>
                              <p:par>
                                <p:cTn id="60" presetID="0" presetClass="path" presetSubtype="0" accel="0" decel="100000" fill="hold" grpId="1" nodeType="withEffect">
                                  <p:stCondLst>
                                    <p:cond delay="0"/>
                                  </p:stCondLst>
                                  <p:childTnLst>
                                    <p:animMotion origin="layout" path="M 0 0.02778 L 0 0 E" pathEditMode="relative" rAng="0" ptsTypes="AA">
                                      <p:cBhvr>
                                        <p:cTn id="61" dur="500" fill="hold"/>
                                        <p:tgtEl>
                                          <p:spTgt spid="13"/>
                                        </p:tgtEl>
                                        <p:attrNameLst>
                                          <p:attrName>ppt_x</p:attrName>
                                          <p:attrName>ppt_y</p:attrName>
                                        </p:attrNameLst>
                                      </p:cBhvr>
                                    </p:animMotion>
                                  </p:childTnLst>
                                </p:cTn>
                              </p:par>
                              <p:par>
                                <p:cTn id="62" presetID="10" presetClass="entr" presetSubtype="0" accel="0" decel="10000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500"/>
                                        <p:tgtEl>
                                          <p:spTgt spid="14"/>
                                        </p:tgtEl>
                                      </p:cBhvr>
                                    </p:animEffect>
                                  </p:childTnLst>
                                </p:cTn>
                              </p:par>
                              <p:par>
                                <p:cTn id="65" presetID="0" presetClass="path" presetSubtype="0" accel="0" decel="100000" fill="hold" grpId="1" nodeType="withEffect">
                                  <p:stCondLst>
                                    <p:cond delay="0"/>
                                  </p:stCondLst>
                                  <p:childTnLst>
                                    <p:animMotion origin="layout" path="M 0 0.02778 L 0 0 E" pathEditMode="relative" rAng="0" ptsTypes="AA">
                                      <p:cBhvr>
                                        <p:cTn id="66" dur="500" fill="hold"/>
                                        <p:tgtEl>
                                          <p:spTgt spid="14"/>
                                        </p:tgtEl>
                                        <p:attrNameLst>
                                          <p:attrName>ppt_x</p:attrName>
                                          <p:attrName>ppt_y</p:attrName>
                                        </p:attrNameLst>
                                      </p:cBhvr>
                                    </p:animMotion>
                                  </p:childTnLst>
                                </p:cTn>
                              </p:par>
                              <p:par>
                                <p:cTn id="67" presetID="10" presetClass="entr" presetSubtype="0" accel="0" decel="10000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500"/>
                                        <p:tgtEl>
                                          <p:spTgt spid="15"/>
                                        </p:tgtEl>
                                      </p:cBhvr>
                                    </p:animEffect>
                                  </p:childTnLst>
                                </p:cTn>
                              </p:par>
                              <p:par>
                                <p:cTn id="70" presetID="0" presetClass="path" presetSubtype="0" accel="0" decel="100000" fill="hold" grpId="1" nodeType="withEffect">
                                  <p:stCondLst>
                                    <p:cond delay="0"/>
                                  </p:stCondLst>
                                  <p:childTnLst>
                                    <p:animMotion origin="layout" path="M 0 0.02778 L 0 0 E" pathEditMode="relative" rAng="0" ptsTypes="AA">
                                      <p:cBhvr>
                                        <p:cTn id="71" dur="500" fill="hold"/>
                                        <p:tgtEl>
                                          <p:spTgt spid="15"/>
                                        </p:tgtEl>
                                        <p:attrNameLst>
                                          <p:attrName>ppt_x</p:attrName>
                                          <p:attrName>ppt_y</p:attrName>
                                        </p:attrNameLst>
                                      </p:cBhvr>
                                    </p:animMotion>
                                  </p:childTnLst>
                                </p:cTn>
                              </p:par>
                              <p:par>
                                <p:cTn id="72" presetID="10" presetClass="entr" presetSubtype="0" accel="0" decel="10000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500"/>
                                        <p:tgtEl>
                                          <p:spTgt spid="16"/>
                                        </p:tgtEl>
                                      </p:cBhvr>
                                    </p:animEffect>
                                  </p:childTnLst>
                                </p:cTn>
                              </p:par>
                              <p:par>
                                <p:cTn id="75" presetID="0" presetClass="path" presetSubtype="0" accel="0" decel="100000" fill="hold" grpId="1" nodeType="withEffect">
                                  <p:stCondLst>
                                    <p:cond delay="0"/>
                                  </p:stCondLst>
                                  <p:childTnLst>
                                    <p:animMotion origin="layout" path="M 0 0.02778 L 0 0 E" pathEditMode="relative" rAng="0" ptsTypes="AA">
                                      <p:cBhvr>
                                        <p:cTn id="76" dur="500" fill="hold"/>
                                        <p:tgtEl>
                                          <p:spTgt spid="16"/>
                                        </p:tgtEl>
                                        <p:attrNameLst>
                                          <p:attrName>ppt_x</p:attrName>
                                          <p:attrName>ppt_y</p:attrName>
                                        </p:attrNameLst>
                                      </p:cBhvr>
                                    </p:animMotion>
                                  </p:childTnLst>
                                </p:cTn>
                              </p:par>
                              <p:par>
                                <p:cTn id="77" presetID="10" presetClass="entr" presetSubtype="0" accel="0" decel="10000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500"/>
                                        <p:tgtEl>
                                          <p:spTgt spid="17"/>
                                        </p:tgtEl>
                                      </p:cBhvr>
                                    </p:animEffect>
                                  </p:childTnLst>
                                </p:cTn>
                              </p:par>
                              <p:par>
                                <p:cTn id="80" presetID="0" presetClass="path" presetSubtype="0" accel="0" decel="100000" fill="hold" grpId="1" nodeType="withEffect">
                                  <p:stCondLst>
                                    <p:cond delay="0"/>
                                  </p:stCondLst>
                                  <p:childTnLst>
                                    <p:animMotion origin="layout" path="M 0 0.02778 L 0 0 E" pathEditMode="relative" rAng="0" ptsTypes="AA">
                                      <p:cBhvr>
                                        <p:cTn id="81" dur="500" fill="hold"/>
                                        <p:tgtEl>
                                          <p:spTgt spid="17"/>
                                        </p:tgtEl>
                                        <p:attrNameLst>
                                          <p:attrName>ppt_x</p:attrName>
                                          <p:attrName>ppt_y</p:attrName>
                                        </p:attrNameLst>
                                      </p:cBhvr>
                                    </p:animMotion>
                                  </p:childTnLst>
                                </p:cTn>
                              </p:par>
                              <p:par>
                                <p:cTn id="82" presetID="10" presetClass="entr" presetSubtype="0" accel="0" decel="100000" fill="hold" grpId="0" nodeType="withEffect">
                                  <p:stCondLst>
                                    <p:cond delay="0"/>
                                  </p:stCondLst>
                                  <p:childTnLst>
                                    <p:set>
                                      <p:cBhvr>
                                        <p:cTn id="83" dur="1" fill="hold">
                                          <p:stCondLst>
                                            <p:cond delay="0"/>
                                          </p:stCondLst>
                                        </p:cTn>
                                        <p:tgtEl>
                                          <p:spTgt spid="18"/>
                                        </p:tgtEl>
                                        <p:attrNameLst>
                                          <p:attrName>style.visibility</p:attrName>
                                        </p:attrNameLst>
                                      </p:cBhvr>
                                      <p:to>
                                        <p:strVal val="visible"/>
                                      </p:to>
                                    </p:set>
                                    <p:animEffect transition="in" filter="fade">
                                      <p:cBhvr>
                                        <p:cTn id="84" dur="500"/>
                                        <p:tgtEl>
                                          <p:spTgt spid="18"/>
                                        </p:tgtEl>
                                      </p:cBhvr>
                                    </p:animEffect>
                                  </p:childTnLst>
                                </p:cTn>
                              </p:par>
                              <p:par>
                                <p:cTn id="85" presetID="0" presetClass="path" presetSubtype="0" accel="0" decel="100000" fill="hold" grpId="1" nodeType="withEffect">
                                  <p:stCondLst>
                                    <p:cond delay="0"/>
                                  </p:stCondLst>
                                  <p:childTnLst>
                                    <p:animMotion origin="layout" path="M 0 0.02778 L 0 0 E" pathEditMode="relative" rAng="0" ptsTypes="AA">
                                      <p:cBhvr>
                                        <p:cTn id="86" dur="500" fill="hold"/>
                                        <p:tgtEl>
                                          <p:spTgt spid="18"/>
                                        </p:tgtEl>
                                        <p:attrNameLst>
                                          <p:attrName>ppt_x</p:attrName>
                                          <p:attrName>ppt_y</p:attrName>
                                        </p:attrNameLst>
                                      </p:cBhvr>
                                    </p:animMotion>
                                  </p:childTnLst>
                                </p:cTn>
                              </p:par>
                              <p:par>
                                <p:cTn id="87" presetID="10" presetClass="entr" presetSubtype="0" accel="0" decel="100000" fill="hold" grpId="0" nodeType="withEffect">
                                  <p:stCondLst>
                                    <p:cond delay="0"/>
                                  </p:stCondLst>
                                  <p:childTnLst>
                                    <p:set>
                                      <p:cBhvr>
                                        <p:cTn id="88" dur="1" fill="hold">
                                          <p:stCondLst>
                                            <p:cond delay="0"/>
                                          </p:stCondLst>
                                        </p:cTn>
                                        <p:tgtEl>
                                          <p:spTgt spid="19"/>
                                        </p:tgtEl>
                                        <p:attrNameLst>
                                          <p:attrName>style.visibility</p:attrName>
                                        </p:attrNameLst>
                                      </p:cBhvr>
                                      <p:to>
                                        <p:strVal val="visible"/>
                                      </p:to>
                                    </p:set>
                                    <p:animEffect transition="in" filter="fade">
                                      <p:cBhvr>
                                        <p:cTn id="89" dur="500"/>
                                        <p:tgtEl>
                                          <p:spTgt spid="19"/>
                                        </p:tgtEl>
                                      </p:cBhvr>
                                    </p:animEffect>
                                  </p:childTnLst>
                                </p:cTn>
                              </p:par>
                              <p:par>
                                <p:cTn id="90" presetID="0" presetClass="path" presetSubtype="0" accel="0" decel="100000" fill="hold" grpId="1" nodeType="withEffect">
                                  <p:stCondLst>
                                    <p:cond delay="0"/>
                                  </p:stCondLst>
                                  <p:childTnLst>
                                    <p:animMotion origin="layout" path="M 0 0.02778 L 0 0 E" pathEditMode="relative" rAng="0" ptsTypes="AA">
                                      <p:cBhvr>
                                        <p:cTn id="91" dur="500" fill="hold"/>
                                        <p:tgtEl>
                                          <p:spTgt spid="1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5" grpId="0" animBg="1"/>
      <p:bldP spid="5" grpId="1" animBg="1"/>
      <p:bldP spid="6" grpId="0" animBg="1"/>
      <p:bldP spid="6" grpId="1" animBg="1"/>
      <p:bldP spid="8" grpId="0" animBg="1"/>
      <p:bldP spid="8" grpId="1" animBg="1"/>
      <p:bldP spid="9" grpId="0" animBg="1"/>
      <p:bldP spid="9" grpId="1" animBg="1"/>
      <p:bldP spid="11" grpId="0" animBg="1"/>
      <p:bldP spid="11" grpId="1" animBg="1"/>
      <p:bldP spid="12" grpId="0" animBg="1"/>
      <p:bldP spid="12" grpId="1" animBg="1"/>
      <p:bldP spid="14" grpId="0" animBg="1"/>
      <p:bldP spid="14" grpId="1" animBg="1"/>
      <p:bldP spid="15" grpId="0" animBg="1"/>
      <p:bldP spid="15" grpId="1" animBg="1"/>
      <p:bldP spid="17" grpId="0" animBg="1"/>
      <p:bldP spid="17" grpId="1" animBg="1"/>
      <p:bldP spid="18" grpId="0" animBg="1"/>
      <p:bldP spid="18"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685800" y="1965960"/>
            <a:ext cx="3657600" cy="1371600"/>
          </a:xfrm>
          <a:prstGeom prst="rect">
            <a:avLst/>
          </a:prstGeom>
          <a:noFill/>
          <a:ln/>
        </p:spPr>
        <p:txBody>
          <a:bodyPr wrap="square" lIns="0" tIns="0" rIns="0" bIns="0" rtlCol="0" anchor="b"/>
          <a:lstStyle/>
          <a:p>
            <a:pPr algn="l" indent="0" marL="0">
              <a:buNone/>
            </a:pPr>
            <a:r>
              <a:rPr lang="en-US" sz="8000" dirty="0">
                <a:solidFill>
                  <a:schemeClr val="accent1"/>
                </a:solidFill>
                <a:latin typeface="Poppins ExtraBold" pitchFamily="34" charset="0"/>
                <a:ea typeface="Poppins ExtraBold" pitchFamily="34" charset="-122"/>
                <a:cs typeface="Poppins ExtraBold" pitchFamily="34" charset="-120"/>
              </a:rPr>
              <a:t>01</a:t>
            </a:r>
            <a:endParaRPr lang="en-US" sz="8000" dirty="0"/>
          </a:p>
        </p:txBody>
      </p:sp>
      <p:sp>
        <p:nvSpPr>
          <p:cNvPr id="3" name="Text 0"/>
          <p:cNvSpPr/>
          <p:nvPr>
            <p:ph idx="102" type="title" hasCustomPrompt="1"/>
          </p:nvPr>
        </p:nvSpPr>
        <p:spPr>
          <a:xfrm>
            <a:off x="685800" y="3429000"/>
            <a:ext cx="9601200" cy="1188720"/>
          </a:xfrm>
          <a:prstGeom prst="rect">
            <a:avLst/>
          </a:prstGeom>
          <a:noFill/>
          <a:ln/>
        </p:spPr>
        <p:txBody>
          <a:bodyPr wrap="square" lIns="0" tIns="0" rIns="0" bIns="0" rtlCol="0" anchor="t"/>
          <a:lstStyle/>
          <a:p>
            <a:pPr algn="l" indent="0" marL="0">
              <a:buNone/>
            </a:pPr>
            <a:r>
              <a:rPr lang="en-US" sz="4000" dirty="0">
                <a:solidFill>
                  <a:schemeClr val="bg1"/>
                </a:solidFill>
                <a:latin typeface="Poppins ExtraBold" pitchFamily="34" charset="0"/>
                <a:ea typeface="Poppins ExtraBold" pitchFamily="34" charset="-122"/>
                <a:cs typeface="Poppins ExtraBold" pitchFamily="34" charset="-120"/>
              </a:rPr>
              <a:t>Introduction et problématique</a:t>
            </a:r>
            <a:endParaRPr lang="en-US" sz="4000" dirty="0"/>
          </a:p>
        </p:txBody>
      </p:sp>
      <p:sp>
        <p:nvSpPr>
          <p:cNvPr id="25" name="Slide Number Placeholder 0"/>
          <p:cNvSpPr>
            <a:spLocks noGrp="1"/>
          </p:cNvSpPr>
          <p:nvPr>
            <p:ph type="sldNum" sz="quarter" idx="4294967295"/>
          </p:nvPr>
        </p:nvSpPr>
        <p:spPr>
          <a:xfrm>
            <a:off x="10957255" y="4572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01  ·  INTRODUCTION</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La communication, un levier stratégique</a:t>
            </a:r>
            <a:endParaRPr lang="en-US" sz="3000" dirty="0"/>
          </a:p>
        </p:txBody>
      </p:sp>
      <p:sp>
        <p:nvSpPr>
          <p:cNvPr id="5" name="C1_lead"/>
          <p:cNvSpPr txBox="1"/>
          <p:nvPr/>
        </p:nvSpPr>
        <p:spPr>
          <a:xfrm>
            <a:off x="685800" y="1965960"/>
            <a:ext cx="8778240" cy="868680"/>
          </a:xfrm>
          <a:prstGeom prst="rect">
            <a:avLst/>
          </a:prstGeom>
          <a:noFill/>
          <a:ln/>
        </p:spPr>
        <p:txBody>
          <a:bodyPr wrap="square" lIns="0" tIns="0" rIns="0" bIns="0" rtlCol="0" anchor="t"/>
          <a:lstStyle/>
          <a:p>
            <a:pPr indent="0" marL="0">
              <a:buNone/>
            </a:pPr>
            <a:r>
              <a:rPr lang="en-US" sz="1800" dirty="0">
                <a:solidFill>
                  <a:schemeClr val="tx2"/>
                </a:solidFill>
              </a:rPr>
              <a:t>Avec l’essor des salles de sport, il devient essentiel de se démarquer par des actions de communication efficaces, cohérentes et innovantes.</a:t>
            </a:r>
            <a:endParaRPr lang="en-US" sz="1800" dirty="0"/>
          </a:p>
        </p:txBody>
      </p:sp>
      <p:sp>
        <p:nvSpPr>
          <p:cNvPr id="6" name="C2_card0"/>
          <p:cNvSpPr/>
          <p:nvPr/>
        </p:nvSpPr>
        <p:spPr>
          <a:xfrm>
            <a:off x="685800" y="3291840"/>
            <a:ext cx="3393338" cy="2377440"/>
          </a:xfrm>
          <a:prstGeom prst="roundRect">
            <a:avLst>
              <a:gd name="adj" fmla="val 4615"/>
            </a:avLst>
          </a:prstGeom>
          <a:solidFill>
            <a:schemeClr val="bg2"/>
          </a:solidFill>
          <a:ln/>
        </p:spPr>
      </p:sp>
      <p:sp>
        <p:nvSpPr>
          <p:cNvPr id="7" name="C2_i0_disc"/>
          <p:cNvSpPr/>
          <p:nvPr/>
        </p:nvSpPr>
        <p:spPr>
          <a:xfrm>
            <a:off x="1051560" y="3611880"/>
            <a:ext cx="822960" cy="822960"/>
          </a:xfrm>
          <a:prstGeom prst="ellipse">
            <a:avLst/>
          </a:prstGeom>
          <a:solidFill>
            <a:schemeClr val="tx1"/>
          </a:solidFill>
          <a:ln/>
        </p:spPr>
      </p:sp>
      <p:pic>
        <p:nvPicPr>
          <p:cNvPr id="8" name="C2_i0_ico" descr="preencoded.png">    </p:cNvPr>
          <p:cNvPicPr>
            <a:picLocks noChangeAspect="1"/>
          </p:cNvPicPr>
          <p:nvPr/>
        </p:nvPicPr>
        <p:blipFill>
          <a:blip r:embed="rId1"/>
          <a:stretch>
            <a:fillRect/>
          </a:stretch>
        </p:blipFill>
        <p:spPr>
          <a:xfrm>
            <a:off x="1257300" y="3817620"/>
            <a:ext cx="411480" cy="411480"/>
          </a:xfrm>
          <a:prstGeom prst="rect">
            <a:avLst/>
          </a:prstGeom>
        </p:spPr>
      </p:pic>
      <p:sp>
        <p:nvSpPr>
          <p:cNvPr id="9" name="C2_t0"/>
          <p:cNvSpPr txBox="1"/>
          <p:nvPr/>
        </p:nvSpPr>
        <p:spPr>
          <a:xfrm>
            <a:off x="1051560" y="4663440"/>
            <a:ext cx="2661818" cy="731520"/>
          </a:xfrm>
          <a:prstGeom prst="rect">
            <a:avLst/>
          </a:prstGeom>
          <a:noFill/>
          <a:ln/>
        </p:spPr>
        <p:txBody>
          <a:bodyPr wrap="square" lIns="0" tIns="0" rIns="0" bIns="0" rtlCol="0" anchor="t"/>
          <a:lstStyle/>
          <a:p>
            <a:pPr indent="0" marL="0">
              <a:buNone/>
            </a:pPr>
            <a:r>
              <a:rPr lang="en-US" sz="1800" b="1" dirty="0">
                <a:solidFill>
                  <a:schemeClr val="tx1"/>
                </a:solidFill>
              </a:rPr>
              <a:t>Accroître sa notoriété</a:t>
            </a:r>
            <a:endParaRPr lang="en-US" sz="1800" dirty="0"/>
          </a:p>
        </p:txBody>
      </p:sp>
      <p:sp>
        <p:nvSpPr>
          <p:cNvPr id="10" name="C2_card1"/>
          <p:cNvSpPr/>
          <p:nvPr/>
        </p:nvSpPr>
        <p:spPr>
          <a:xfrm>
            <a:off x="4399178" y="3291840"/>
            <a:ext cx="3393338" cy="2377440"/>
          </a:xfrm>
          <a:prstGeom prst="roundRect">
            <a:avLst>
              <a:gd name="adj" fmla="val 4615"/>
            </a:avLst>
          </a:prstGeom>
          <a:solidFill>
            <a:schemeClr val="bg2"/>
          </a:solidFill>
          <a:ln/>
        </p:spPr>
      </p:sp>
      <p:sp>
        <p:nvSpPr>
          <p:cNvPr id="11" name="C2_i1_disc"/>
          <p:cNvSpPr/>
          <p:nvPr/>
        </p:nvSpPr>
        <p:spPr>
          <a:xfrm>
            <a:off x="4764938" y="3611880"/>
            <a:ext cx="822960" cy="822960"/>
          </a:xfrm>
          <a:prstGeom prst="ellipse">
            <a:avLst/>
          </a:prstGeom>
          <a:solidFill>
            <a:schemeClr val="tx1"/>
          </a:solidFill>
          <a:ln/>
        </p:spPr>
      </p:sp>
      <p:pic>
        <p:nvPicPr>
          <p:cNvPr id="12" name="C2_i1_ico" descr="preencoded.png">    </p:cNvPr>
          <p:cNvPicPr>
            <a:picLocks noChangeAspect="1"/>
          </p:cNvPicPr>
          <p:nvPr/>
        </p:nvPicPr>
        <p:blipFill>
          <a:blip r:embed="rId2"/>
          <a:stretch>
            <a:fillRect/>
          </a:stretch>
        </p:blipFill>
        <p:spPr>
          <a:xfrm>
            <a:off x="4970678" y="3817620"/>
            <a:ext cx="411480" cy="411480"/>
          </a:xfrm>
          <a:prstGeom prst="rect">
            <a:avLst/>
          </a:prstGeom>
        </p:spPr>
      </p:pic>
      <p:sp>
        <p:nvSpPr>
          <p:cNvPr id="13" name="C2_t1"/>
          <p:cNvSpPr txBox="1"/>
          <p:nvPr/>
        </p:nvSpPr>
        <p:spPr>
          <a:xfrm>
            <a:off x="4764938" y="4663440"/>
            <a:ext cx="2661818" cy="731520"/>
          </a:xfrm>
          <a:prstGeom prst="rect">
            <a:avLst/>
          </a:prstGeom>
          <a:noFill/>
          <a:ln/>
        </p:spPr>
        <p:txBody>
          <a:bodyPr wrap="square" lIns="0" tIns="0" rIns="0" bIns="0" rtlCol="0" anchor="t"/>
          <a:lstStyle/>
          <a:p>
            <a:pPr indent="0" marL="0">
              <a:buNone/>
            </a:pPr>
            <a:r>
              <a:rPr lang="en-US" sz="1800" b="1" dirty="0">
                <a:solidFill>
                  <a:schemeClr val="tx1"/>
                </a:solidFill>
              </a:rPr>
              <a:t>Attirer de nouveaux adhérents</a:t>
            </a:r>
            <a:endParaRPr lang="en-US" sz="1800" dirty="0"/>
          </a:p>
        </p:txBody>
      </p:sp>
      <p:sp>
        <p:nvSpPr>
          <p:cNvPr id="14" name="C2_card2"/>
          <p:cNvSpPr/>
          <p:nvPr/>
        </p:nvSpPr>
        <p:spPr>
          <a:xfrm>
            <a:off x="8112557" y="3291840"/>
            <a:ext cx="3393338" cy="2377440"/>
          </a:xfrm>
          <a:prstGeom prst="roundRect">
            <a:avLst>
              <a:gd name="adj" fmla="val 4615"/>
            </a:avLst>
          </a:prstGeom>
          <a:solidFill>
            <a:schemeClr val="bg2"/>
          </a:solidFill>
          <a:ln/>
        </p:spPr>
      </p:sp>
      <p:sp>
        <p:nvSpPr>
          <p:cNvPr id="15" name="C2_i2_disc"/>
          <p:cNvSpPr/>
          <p:nvPr/>
        </p:nvSpPr>
        <p:spPr>
          <a:xfrm>
            <a:off x="8478317" y="3611880"/>
            <a:ext cx="822960" cy="822960"/>
          </a:xfrm>
          <a:prstGeom prst="ellipse">
            <a:avLst/>
          </a:prstGeom>
          <a:solidFill>
            <a:schemeClr val="tx1"/>
          </a:solidFill>
          <a:ln/>
        </p:spPr>
      </p:sp>
      <p:pic>
        <p:nvPicPr>
          <p:cNvPr id="16" name="C2_i2_ico" descr="preencoded.png">    </p:cNvPr>
          <p:cNvPicPr>
            <a:picLocks noChangeAspect="1"/>
          </p:cNvPicPr>
          <p:nvPr/>
        </p:nvPicPr>
        <p:blipFill>
          <a:blip r:embed="rId3"/>
          <a:stretch>
            <a:fillRect/>
          </a:stretch>
        </p:blipFill>
        <p:spPr>
          <a:xfrm>
            <a:off x="8684057" y="3817620"/>
            <a:ext cx="411480" cy="411480"/>
          </a:xfrm>
          <a:prstGeom prst="rect">
            <a:avLst/>
          </a:prstGeom>
        </p:spPr>
      </p:pic>
      <p:sp>
        <p:nvSpPr>
          <p:cNvPr id="17" name="C2_t2"/>
          <p:cNvSpPr txBox="1"/>
          <p:nvPr/>
        </p:nvSpPr>
        <p:spPr>
          <a:xfrm>
            <a:off x="8478317" y="4663440"/>
            <a:ext cx="2661818" cy="731520"/>
          </a:xfrm>
          <a:prstGeom prst="rect">
            <a:avLst/>
          </a:prstGeom>
          <a:noFill/>
          <a:ln/>
        </p:spPr>
        <p:txBody>
          <a:bodyPr wrap="square" lIns="0" tIns="0" rIns="0" bIns="0" rtlCol="0" anchor="t"/>
          <a:lstStyle/>
          <a:p>
            <a:pPr indent="0" marL="0">
              <a:buNone/>
            </a:pPr>
            <a:r>
              <a:rPr lang="en-US" sz="1800" b="1" dirty="0">
                <a:solidFill>
                  <a:schemeClr val="tx1"/>
                </a:solidFill>
              </a:rPr>
              <a:t>Fidéliser sa clientèle</a:t>
            </a:r>
            <a:endParaRPr lang="en-US" sz="18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childTnLst>
                          </p:cTn>
                        </p:par>
                      </p:childTnLst>
                    </p:cTn>
                  </p:par>
                  <p:par>
                    <p:cTn id="22" fill="hold">
                      <p:stCondLst>
                        <p:cond delay="indefinite"/>
                      </p:stCondLst>
                      <p:childTnLst>
                        <p:par>
                          <p:cTn id="23" fill="hold">
                            <p:stCondLst>
                              <p:cond delay="0"/>
                            </p:stCondLst>
                            <p:childTnLst>
                              <p:par>
                                <p:cTn id="24" presetID="10" presetClass="entr" presetSubtype="0" accel="0" decel="10000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p:tgtEl>
                                          <p:spTgt spid="6"/>
                                        </p:tgtEl>
                                      </p:cBhvr>
                                    </p:animEffect>
                                  </p:childTnLst>
                                </p:cTn>
                              </p:par>
                              <p:par>
                                <p:cTn id="27" presetID="0" presetClass="path" presetSubtype="0" accel="0" decel="100000" fill="hold" grpId="1" nodeType="withEffect">
                                  <p:stCondLst>
                                    <p:cond delay="0"/>
                                  </p:stCondLst>
                                  <p:childTnLst>
                                    <p:animMotion origin="layout" path="M 0 0.02778 L 0 0 E" pathEditMode="relative" rAng="0" ptsTypes="AA">
                                      <p:cBhvr>
                                        <p:cTn id="28" dur="500" fill="hold"/>
                                        <p:tgtEl>
                                          <p:spTgt spid="6"/>
                                        </p:tgtEl>
                                        <p:attrNameLst>
                                          <p:attrName>ppt_x</p:attrName>
                                          <p:attrName>ppt_y</p:attrName>
                                        </p:attrNameLst>
                                      </p:cBhvr>
                                    </p:animMotion>
                                  </p:childTnLst>
                                </p:cTn>
                              </p:par>
                              <p:par>
                                <p:cTn id="29" presetID="10" presetClass="entr" presetSubtype="0" accel="0" decel="10000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par>
                                <p:cTn id="32" presetID="0" presetClass="path" presetSubtype="0" accel="0" decel="100000" fill="hold" grpId="1" nodeType="withEffect">
                                  <p:stCondLst>
                                    <p:cond delay="0"/>
                                  </p:stCondLst>
                                  <p:childTnLst>
                                    <p:animMotion origin="layout" path="M 0 0.02778 L 0 0 E" pathEditMode="relative" rAng="0" ptsTypes="AA">
                                      <p:cBhvr>
                                        <p:cTn id="33" dur="500" fill="hold"/>
                                        <p:tgtEl>
                                          <p:spTgt spid="7"/>
                                        </p:tgtEl>
                                        <p:attrNameLst>
                                          <p:attrName>ppt_x</p:attrName>
                                          <p:attrName>ppt_y</p:attrName>
                                        </p:attrNameLst>
                                      </p:cBhvr>
                                    </p:animMotion>
                                  </p:childTnLst>
                                </p:cTn>
                              </p:par>
                              <p:par>
                                <p:cTn id="34" presetID="10" presetClass="entr" presetSubtype="0" accel="0" decel="10000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par>
                                <p:cTn id="37" presetID="0" presetClass="path" presetSubtype="0" accel="0" decel="100000" fill="hold" grpId="1" nodeType="withEffect">
                                  <p:stCondLst>
                                    <p:cond delay="0"/>
                                  </p:stCondLst>
                                  <p:childTnLst>
                                    <p:animMotion origin="layout" path="M 0 0.02778 L 0 0 E" pathEditMode="relative" rAng="0" ptsTypes="AA">
                                      <p:cBhvr>
                                        <p:cTn id="38" dur="500" fill="hold"/>
                                        <p:tgtEl>
                                          <p:spTgt spid="8"/>
                                        </p:tgtEl>
                                        <p:attrNameLst>
                                          <p:attrName>ppt_x</p:attrName>
                                          <p:attrName>ppt_y</p:attrName>
                                        </p:attrNameLst>
                                      </p:cBhvr>
                                    </p:animMotion>
                                  </p:childTnLst>
                                </p:cTn>
                              </p:par>
                              <p:par>
                                <p:cTn id="39" presetID="10" presetClass="entr" presetSubtype="0" accel="0" decel="10000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p:tgtEl>
                                          <p:spTgt spid="9"/>
                                        </p:tgtEl>
                                      </p:cBhvr>
                                    </p:animEffect>
                                  </p:childTnLst>
                                </p:cTn>
                              </p:par>
                              <p:par>
                                <p:cTn id="42" presetID="0" presetClass="path" presetSubtype="0" accel="0" decel="100000" fill="hold" grpId="1" nodeType="withEffect">
                                  <p:stCondLst>
                                    <p:cond delay="0"/>
                                  </p:stCondLst>
                                  <p:childTnLst>
                                    <p:animMotion origin="layout" path="M 0 0.02778 L 0 0 E" pathEditMode="relative" rAng="0" ptsTypes="AA">
                                      <p:cBhvr>
                                        <p:cTn id="43" dur="500" fill="hold"/>
                                        <p:tgtEl>
                                          <p:spTgt spid="9"/>
                                        </p:tgtEl>
                                        <p:attrNameLst>
                                          <p:attrName>ppt_x</p:attrName>
                                          <p:attrName>ppt_y</p:attrName>
                                        </p:attrNameLst>
                                      </p:cBhvr>
                                    </p:animMotion>
                                  </p:childTnLst>
                                </p:cTn>
                              </p:par>
                              <p:par>
                                <p:cTn id="44" presetID="10" presetClass="entr" presetSubtype="0" accel="0" decel="10000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childTnLst>
                                </p:cTn>
                              </p:par>
                              <p:par>
                                <p:cTn id="47" presetID="0" presetClass="path" presetSubtype="0" accel="0" decel="100000" fill="hold" grpId="1" nodeType="withEffect">
                                  <p:stCondLst>
                                    <p:cond delay="0"/>
                                  </p:stCondLst>
                                  <p:childTnLst>
                                    <p:animMotion origin="layout" path="M 0 0.02778 L 0 0 E" pathEditMode="relative" rAng="0" ptsTypes="AA">
                                      <p:cBhvr>
                                        <p:cTn id="48" dur="500" fill="hold"/>
                                        <p:tgtEl>
                                          <p:spTgt spid="10"/>
                                        </p:tgtEl>
                                        <p:attrNameLst>
                                          <p:attrName>ppt_x</p:attrName>
                                          <p:attrName>ppt_y</p:attrName>
                                        </p:attrNameLst>
                                      </p:cBhvr>
                                    </p:animMotion>
                                  </p:childTnLst>
                                </p:cTn>
                              </p:par>
                              <p:par>
                                <p:cTn id="49" presetID="10" presetClass="entr" presetSubtype="0" accel="0" decel="10000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childTnLst>
                                </p:cTn>
                              </p:par>
                              <p:par>
                                <p:cTn id="52" presetID="0" presetClass="path" presetSubtype="0" accel="0" decel="100000" fill="hold" grpId="1" nodeType="withEffect">
                                  <p:stCondLst>
                                    <p:cond delay="0"/>
                                  </p:stCondLst>
                                  <p:childTnLst>
                                    <p:animMotion origin="layout" path="M 0 0.02778 L 0 0 E" pathEditMode="relative" rAng="0" ptsTypes="AA">
                                      <p:cBhvr>
                                        <p:cTn id="53" dur="500" fill="hold"/>
                                        <p:tgtEl>
                                          <p:spTgt spid="11"/>
                                        </p:tgtEl>
                                        <p:attrNameLst>
                                          <p:attrName>ppt_x</p:attrName>
                                          <p:attrName>ppt_y</p:attrName>
                                        </p:attrNameLst>
                                      </p:cBhvr>
                                    </p:animMotion>
                                  </p:childTnLst>
                                </p:cTn>
                              </p:par>
                              <p:par>
                                <p:cTn id="54" presetID="10" presetClass="entr" presetSubtype="0" accel="0" decel="10000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par>
                                <p:cTn id="57" presetID="0" presetClass="path" presetSubtype="0" accel="0" decel="100000" fill="hold" grpId="1" nodeType="withEffect">
                                  <p:stCondLst>
                                    <p:cond delay="0"/>
                                  </p:stCondLst>
                                  <p:childTnLst>
                                    <p:animMotion origin="layout" path="M 0 0.02778 L 0 0 E" pathEditMode="relative" rAng="0" ptsTypes="AA">
                                      <p:cBhvr>
                                        <p:cTn id="58" dur="500" fill="hold"/>
                                        <p:tgtEl>
                                          <p:spTgt spid="12"/>
                                        </p:tgtEl>
                                        <p:attrNameLst>
                                          <p:attrName>ppt_x</p:attrName>
                                          <p:attrName>ppt_y</p:attrName>
                                        </p:attrNameLst>
                                      </p:cBhvr>
                                    </p:animMotion>
                                  </p:childTnLst>
                                </p:cTn>
                              </p:par>
                              <p:par>
                                <p:cTn id="59" presetID="10" presetClass="entr" presetSubtype="0" accel="0" decel="10000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500"/>
                                        <p:tgtEl>
                                          <p:spTgt spid="13"/>
                                        </p:tgtEl>
                                      </p:cBhvr>
                                    </p:animEffect>
                                  </p:childTnLst>
                                </p:cTn>
                              </p:par>
                              <p:par>
                                <p:cTn id="62" presetID="0" presetClass="path" presetSubtype="0" accel="0" decel="100000" fill="hold" grpId="1" nodeType="withEffect">
                                  <p:stCondLst>
                                    <p:cond delay="0"/>
                                  </p:stCondLst>
                                  <p:childTnLst>
                                    <p:animMotion origin="layout" path="M 0 0.02778 L 0 0 E" pathEditMode="relative" rAng="0" ptsTypes="AA">
                                      <p:cBhvr>
                                        <p:cTn id="63" dur="500" fill="hold"/>
                                        <p:tgtEl>
                                          <p:spTgt spid="13"/>
                                        </p:tgtEl>
                                        <p:attrNameLst>
                                          <p:attrName>ppt_x</p:attrName>
                                          <p:attrName>ppt_y</p:attrName>
                                        </p:attrNameLst>
                                      </p:cBhvr>
                                    </p:animMotion>
                                  </p:childTnLst>
                                </p:cTn>
                              </p:par>
                              <p:par>
                                <p:cTn id="64" presetID="10" presetClass="entr" presetSubtype="0" accel="0" decel="10000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500"/>
                                        <p:tgtEl>
                                          <p:spTgt spid="14"/>
                                        </p:tgtEl>
                                      </p:cBhvr>
                                    </p:animEffect>
                                  </p:childTnLst>
                                </p:cTn>
                              </p:par>
                              <p:par>
                                <p:cTn id="67" presetID="0" presetClass="path" presetSubtype="0" accel="0" decel="100000" fill="hold" grpId="1" nodeType="withEffect">
                                  <p:stCondLst>
                                    <p:cond delay="0"/>
                                  </p:stCondLst>
                                  <p:childTnLst>
                                    <p:animMotion origin="layout" path="M 0 0.02778 L 0 0 E" pathEditMode="relative" rAng="0" ptsTypes="AA">
                                      <p:cBhvr>
                                        <p:cTn id="68" dur="500" fill="hold"/>
                                        <p:tgtEl>
                                          <p:spTgt spid="14"/>
                                        </p:tgtEl>
                                        <p:attrNameLst>
                                          <p:attrName>ppt_x</p:attrName>
                                          <p:attrName>ppt_y</p:attrName>
                                        </p:attrNameLst>
                                      </p:cBhvr>
                                    </p:animMotion>
                                  </p:childTnLst>
                                </p:cTn>
                              </p:par>
                              <p:par>
                                <p:cTn id="69" presetID="10" presetClass="entr" presetSubtype="0" accel="0" decel="10000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500"/>
                                        <p:tgtEl>
                                          <p:spTgt spid="15"/>
                                        </p:tgtEl>
                                      </p:cBhvr>
                                    </p:animEffect>
                                  </p:childTnLst>
                                </p:cTn>
                              </p:par>
                              <p:par>
                                <p:cTn id="72" presetID="0" presetClass="path" presetSubtype="0" accel="0" decel="100000" fill="hold" grpId="1" nodeType="withEffect">
                                  <p:stCondLst>
                                    <p:cond delay="0"/>
                                  </p:stCondLst>
                                  <p:childTnLst>
                                    <p:animMotion origin="layout" path="M 0 0.02778 L 0 0 E" pathEditMode="relative" rAng="0" ptsTypes="AA">
                                      <p:cBhvr>
                                        <p:cTn id="73" dur="500" fill="hold"/>
                                        <p:tgtEl>
                                          <p:spTgt spid="15"/>
                                        </p:tgtEl>
                                        <p:attrNameLst>
                                          <p:attrName>ppt_x</p:attrName>
                                          <p:attrName>ppt_y</p:attrName>
                                        </p:attrNameLst>
                                      </p:cBhvr>
                                    </p:animMotion>
                                  </p:childTnLst>
                                </p:cTn>
                              </p:par>
                              <p:par>
                                <p:cTn id="74" presetID="10" presetClass="entr" presetSubtype="0" accel="0" decel="10000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500"/>
                                        <p:tgtEl>
                                          <p:spTgt spid="16"/>
                                        </p:tgtEl>
                                      </p:cBhvr>
                                    </p:animEffect>
                                  </p:childTnLst>
                                </p:cTn>
                              </p:par>
                              <p:par>
                                <p:cTn id="77" presetID="0" presetClass="path" presetSubtype="0" accel="0" decel="100000" fill="hold" grpId="1" nodeType="withEffect">
                                  <p:stCondLst>
                                    <p:cond delay="0"/>
                                  </p:stCondLst>
                                  <p:childTnLst>
                                    <p:animMotion origin="layout" path="M 0 0.02778 L 0 0 E" pathEditMode="relative" rAng="0" ptsTypes="AA">
                                      <p:cBhvr>
                                        <p:cTn id="78" dur="500" fill="hold"/>
                                        <p:tgtEl>
                                          <p:spTgt spid="16"/>
                                        </p:tgtEl>
                                        <p:attrNameLst>
                                          <p:attrName>ppt_x</p:attrName>
                                          <p:attrName>ppt_y</p:attrName>
                                        </p:attrNameLst>
                                      </p:cBhvr>
                                    </p:animMotion>
                                  </p:childTnLst>
                                </p:cTn>
                              </p:par>
                              <p:par>
                                <p:cTn id="79" presetID="10" presetClass="entr" presetSubtype="0" accel="0" decel="10000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500"/>
                                        <p:tgtEl>
                                          <p:spTgt spid="17"/>
                                        </p:tgtEl>
                                      </p:cBhvr>
                                    </p:animEffect>
                                  </p:childTnLst>
                                </p:cTn>
                              </p:par>
                              <p:par>
                                <p:cTn id="82" presetID="0" presetClass="path" presetSubtype="0" accel="0" decel="100000" fill="hold" grpId="1" nodeType="withEffect">
                                  <p:stCondLst>
                                    <p:cond delay="0"/>
                                  </p:stCondLst>
                                  <p:childTnLst>
                                    <p:animMotion origin="layout" path="M 0 0.02778 L 0 0 E" pathEditMode="relative" rAng="0" ptsTypes="AA">
                                      <p:cBhvr>
                                        <p:cTn id="83" dur="500" fill="hold"/>
                                        <p:tgtEl>
                                          <p:spTgt spid="17"/>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5" grpId="0" animBg="1"/>
      <p:bldP spid="5" grpId="1" animBg="1"/>
      <p:bldP spid="9" grpId="0" animBg="1"/>
      <p:bldP spid="9" grpId="1" animBg="1"/>
      <p:bldP spid="13" grpId="0" animBg="1"/>
      <p:bldP spid="13" grpId="1" animBg="1"/>
      <p:bldP spid="17" grpId="0" animBg="1"/>
      <p:bldP spid="17" grpId="1"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11430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2"/>
                </a:solidFill>
              </a:rPr>
              <a:t>PROBLÉMATIQUE</a:t>
            </a:r>
            <a:endParaRPr lang="en-US" sz="1100" dirty="0"/>
          </a:p>
        </p:txBody>
      </p:sp>
      <p:sp>
        <p:nvSpPr>
          <p:cNvPr id="3" name="Text 0"/>
          <p:cNvSpPr/>
          <p:nvPr>
            <p:ph idx="101" type="title" hasCustomPrompt="1"/>
          </p:nvPr>
        </p:nvSpPr>
        <p:spPr>
          <a:xfrm>
            <a:off x="685800" y="1645920"/>
            <a:ext cx="9692640" cy="3566160"/>
          </a:xfrm>
          <a:prstGeom prst="rect">
            <a:avLst/>
          </a:prstGeom>
          <a:noFill/>
          <a:ln/>
        </p:spPr>
        <p:txBody>
          <a:bodyPr wrap="square" lIns="0" tIns="0" rIns="0" bIns="0" rtlCol="0" anchor="t"/>
          <a:lstStyle/>
          <a:p>
            <a:pPr algn="l" indent="0" marL="0">
              <a:lnSpc>
                <a:spcPct val="110000"/>
              </a:lnSpc>
              <a:buNone/>
            </a:pPr>
            <a:r>
              <a:rPr lang="en-US" sz="3000" dirty="0">
                <a:solidFill>
                  <a:schemeClr val="bg1"/>
                </a:solidFill>
                <a:latin typeface="Poppins ExtraBold" pitchFamily="34" charset="0"/>
                <a:ea typeface="Poppins ExtraBold" pitchFamily="34" charset="-122"/>
                <a:cs typeface="Poppins ExtraBold" pitchFamily="34" charset="-120"/>
              </a:rPr>
              <a:t>Comment la conception et la réalisation de supports de communication imprimés et numériques peuvent-elles contribuer à </a:t>
            </a:r>
            <a:pPr algn="l" indent="0" marL="0">
              <a:lnSpc>
                <a:spcPct val="110000"/>
              </a:lnSpc>
              <a:buNone/>
            </a:pPr>
            <a:r>
              <a:rPr lang="en-US" sz="3000" dirty="0">
                <a:solidFill>
                  <a:schemeClr val="accent2"/>
                </a:solidFill>
                <a:latin typeface="Poppins ExtraBold" pitchFamily="34" charset="0"/>
                <a:ea typeface="Poppins ExtraBold" pitchFamily="34" charset="-122"/>
                <a:cs typeface="Poppins ExtraBold" pitchFamily="34" charset="-120"/>
              </a:rPr>
              <a:t>améliorer la visibilité</a:t>
            </a:r>
            <a:pPr algn="l" indent="0" marL="0">
              <a:lnSpc>
                <a:spcPct val="110000"/>
              </a:lnSpc>
              <a:buNone/>
            </a:pPr>
            <a:r>
              <a:rPr lang="en-US" sz="3000" dirty="0">
                <a:solidFill>
                  <a:schemeClr val="bg1"/>
                </a:solidFill>
                <a:latin typeface="Poppins ExtraBold" pitchFamily="34" charset="0"/>
                <a:ea typeface="Poppins ExtraBold" pitchFamily="34" charset="-122"/>
                <a:cs typeface="Poppins ExtraBold" pitchFamily="34" charset="-120"/>
              </a:rPr>
              <a:t>, </a:t>
            </a:r>
            <a:pPr algn="l" indent="0" marL="0">
              <a:lnSpc>
                <a:spcPct val="110000"/>
              </a:lnSpc>
              <a:buNone/>
            </a:pPr>
            <a:r>
              <a:rPr lang="en-US" sz="3000" dirty="0">
                <a:solidFill>
                  <a:schemeClr val="accent2"/>
                </a:solidFill>
                <a:latin typeface="Poppins ExtraBold" pitchFamily="34" charset="0"/>
                <a:ea typeface="Poppins ExtraBold" pitchFamily="34" charset="-122"/>
                <a:cs typeface="Poppins ExtraBold" pitchFamily="34" charset="-120"/>
              </a:rPr>
              <a:t>renforcer l’image de marque</a:t>
            </a:r>
            <a:pPr algn="l" indent="0" marL="0">
              <a:lnSpc>
                <a:spcPct val="110000"/>
              </a:lnSpc>
              <a:buNone/>
            </a:pPr>
            <a:r>
              <a:rPr lang="en-US" sz="3000" dirty="0">
                <a:solidFill>
                  <a:schemeClr val="bg1"/>
                </a:solidFill>
                <a:latin typeface="Poppins ExtraBold" pitchFamily="34" charset="0"/>
                <a:ea typeface="Poppins ExtraBold" pitchFamily="34" charset="-122"/>
                <a:cs typeface="Poppins ExtraBold" pitchFamily="34" charset="-120"/>
              </a:rPr>
              <a:t> et </a:t>
            </a:r>
            <a:pPr algn="l" indent="0" marL="0">
              <a:lnSpc>
                <a:spcPct val="110000"/>
              </a:lnSpc>
              <a:buNone/>
            </a:pPr>
            <a:r>
              <a:rPr lang="en-US" sz="3000" dirty="0">
                <a:solidFill>
                  <a:schemeClr val="accent2"/>
                </a:solidFill>
                <a:latin typeface="Poppins ExtraBold" pitchFamily="34" charset="0"/>
                <a:ea typeface="Poppins ExtraBold" pitchFamily="34" charset="-122"/>
                <a:cs typeface="Poppins ExtraBold" pitchFamily="34" charset="-120"/>
              </a:rPr>
              <a:t>promouvoir efficacement les activités</a:t>
            </a:r>
            <a:pPr algn="l" indent="0" marL="0">
              <a:lnSpc>
                <a:spcPct val="110000"/>
              </a:lnSpc>
              <a:buNone/>
            </a:pPr>
            <a:r>
              <a:rPr lang="en-US" sz="3000" dirty="0">
                <a:solidFill>
                  <a:schemeClr val="bg1"/>
                </a:solidFill>
                <a:latin typeface="Poppins ExtraBold" pitchFamily="34" charset="0"/>
                <a:ea typeface="Poppins ExtraBold" pitchFamily="34" charset="-122"/>
                <a:cs typeface="Poppins ExtraBold" pitchFamily="34" charset="-120"/>
              </a:rPr>
              <a:t> d’American’s Gym ?</a:t>
            </a:r>
            <a:endParaRPr lang="en-US" sz="30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01  ·  OBJECTIFS</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Quatre objectifs</a:t>
            </a:r>
            <a:endParaRPr lang="en-US" sz="3000" dirty="0"/>
          </a:p>
        </p:txBody>
      </p:sp>
      <p:sp>
        <p:nvSpPr>
          <p:cNvPr id="5" name="C1_card"/>
          <p:cNvSpPr/>
          <p:nvPr/>
        </p:nvSpPr>
        <p:spPr>
          <a:xfrm>
            <a:off x="685800" y="2011680"/>
            <a:ext cx="5250028" cy="1691640"/>
          </a:xfrm>
          <a:prstGeom prst="roundRect">
            <a:avLst>
              <a:gd name="adj" fmla="val 6486"/>
            </a:avLst>
          </a:prstGeom>
          <a:solidFill>
            <a:schemeClr val="bg2"/>
          </a:solidFill>
          <a:ln/>
        </p:spPr>
      </p:sp>
      <p:sp>
        <p:nvSpPr>
          <p:cNvPr id="6" name="C1_i_disc"/>
          <p:cNvSpPr/>
          <p:nvPr/>
        </p:nvSpPr>
        <p:spPr>
          <a:xfrm>
            <a:off x="1051560" y="2441448"/>
            <a:ext cx="822960" cy="822960"/>
          </a:xfrm>
          <a:prstGeom prst="ellipse">
            <a:avLst/>
          </a:prstGeom>
          <a:solidFill>
            <a:schemeClr val="tx1"/>
          </a:solidFill>
          <a:ln/>
        </p:spPr>
      </p:sp>
      <p:pic>
        <p:nvPicPr>
          <p:cNvPr id="7" name="C1_i_ico" descr="preencoded.png">    </p:cNvPr>
          <p:cNvPicPr>
            <a:picLocks noChangeAspect="1"/>
          </p:cNvPicPr>
          <p:nvPr/>
        </p:nvPicPr>
        <p:blipFill>
          <a:blip r:embed="rId1"/>
          <a:stretch>
            <a:fillRect/>
          </a:stretch>
        </p:blipFill>
        <p:spPr>
          <a:xfrm>
            <a:off x="1257300" y="2647188"/>
            <a:ext cx="411480" cy="411480"/>
          </a:xfrm>
          <a:prstGeom prst="rect">
            <a:avLst/>
          </a:prstGeom>
        </p:spPr>
      </p:pic>
      <p:sp>
        <p:nvSpPr>
          <p:cNvPr id="8" name="C1_t"/>
          <p:cNvSpPr txBox="1"/>
          <p:nvPr/>
        </p:nvSpPr>
        <p:spPr>
          <a:xfrm>
            <a:off x="2194560" y="2377440"/>
            <a:ext cx="3375508" cy="960120"/>
          </a:xfrm>
          <a:prstGeom prst="rect">
            <a:avLst/>
          </a:prstGeom>
          <a:noFill/>
          <a:ln/>
        </p:spPr>
        <p:txBody>
          <a:bodyPr wrap="square" lIns="0" tIns="0" rIns="0" bIns="0" rtlCol="0" anchor="ctr"/>
          <a:lstStyle/>
          <a:p>
            <a:pPr indent="0" marL="0">
              <a:buNone/>
            </a:pPr>
            <a:r>
              <a:rPr lang="en-US" sz="1800" b="1" dirty="0">
                <a:solidFill>
                  <a:schemeClr val="tx1"/>
                </a:solidFill>
              </a:rPr>
              <a:t>Une identité visuelle cohérente</a:t>
            </a:r>
            <a:endParaRPr lang="en-US" sz="1800" dirty="0"/>
          </a:p>
        </p:txBody>
      </p:sp>
      <p:sp>
        <p:nvSpPr>
          <p:cNvPr id="9" name="C2_card"/>
          <p:cNvSpPr/>
          <p:nvPr/>
        </p:nvSpPr>
        <p:spPr>
          <a:xfrm>
            <a:off x="6255868" y="2011680"/>
            <a:ext cx="5250028" cy="1691640"/>
          </a:xfrm>
          <a:prstGeom prst="roundRect">
            <a:avLst>
              <a:gd name="adj" fmla="val 6486"/>
            </a:avLst>
          </a:prstGeom>
          <a:solidFill>
            <a:schemeClr val="bg2"/>
          </a:solidFill>
          <a:ln/>
        </p:spPr>
      </p:sp>
      <p:sp>
        <p:nvSpPr>
          <p:cNvPr id="10" name="C2_i_disc"/>
          <p:cNvSpPr/>
          <p:nvPr/>
        </p:nvSpPr>
        <p:spPr>
          <a:xfrm>
            <a:off x="6621628" y="2441448"/>
            <a:ext cx="822960" cy="822960"/>
          </a:xfrm>
          <a:prstGeom prst="ellipse">
            <a:avLst/>
          </a:prstGeom>
          <a:solidFill>
            <a:schemeClr val="tx1"/>
          </a:solidFill>
          <a:ln/>
        </p:spPr>
      </p:sp>
      <p:pic>
        <p:nvPicPr>
          <p:cNvPr id="11" name="C2_i_ico" descr="preencoded.png">    </p:cNvPr>
          <p:cNvPicPr>
            <a:picLocks noChangeAspect="1"/>
          </p:cNvPicPr>
          <p:nvPr/>
        </p:nvPicPr>
        <p:blipFill>
          <a:blip r:embed="rId2"/>
          <a:stretch>
            <a:fillRect/>
          </a:stretch>
        </p:blipFill>
        <p:spPr>
          <a:xfrm>
            <a:off x="6827368" y="2647188"/>
            <a:ext cx="411480" cy="411480"/>
          </a:xfrm>
          <a:prstGeom prst="rect">
            <a:avLst/>
          </a:prstGeom>
        </p:spPr>
      </p:pic>
      <p:sp>
        <p:nvSpPr>
          <p:cNvPr id="12" name="C2_t"/>
          <p:cNvSpPr txBox="1"/>
          <p:nvPr/>
        </p:nvSpPr>
        <p:spPr>
          <a:xfrm>
            <a:off x="7764628" y="2377440"/>
            <a:ext cx="3375508" cy="960120"/>
          </a:xfrm>
          <a:prstGeom prst="rect">
            <a:avLst/>
          </a:prstGeom>
          <a:noFill/>
          <a:ln/>
        </p:spPr>
        <p:txBody>
          <a:bodyPr wrap="square" lIns="0" tIns="0" rIns="0" bIns="0" rtlCol="0" anchor="ctr"/>
          <a:lstStyle/>
          <a:p>
            <a:pPr indent="0" marL="0">
              <a:buNone/>
            </a:pPr>
            <a:r>
              <a:rPr lang="en-US" sz="1800" b="1" dirty="0">
                <a:solidFill>
                  <a:schemeClr val="tx1"/>
                </a:solidFill>
              </a:rPr>
              <a:t>Des supports imprimés</a:t>
            </a:r>
            <a:endParaRPr lang="en-US" sz="1800" dirty="0"/>
          </a:p>
        </p:txBody>
      </p:sp>
      <p:sp>
        <p:nvSpPr>
          <p:cNvPr id="13" name="C3_card"/>
          <p:cNvSpPr/>
          <p:nvPr/>
        </p:nvSpPr>
        <p:spPr>
          <a:xfrm>
            <a:off x="685800" y="3977640"/>
            <a:ext cx="5250028" cy="1691640"/>
          </a:xfrm>
          <a:prstGeom prst="roundRect">
            <a:avLst>
              <a:gd name="adj" fmla="val 6486"/>
            </a:avLst>
          </a:prstGeom>
          <a:solidFill>
            <a:schemeClr val="bg2"/>
          </a:solidFill>
          <a:ln/>
        </p:spPr>
      </p:sp>
      <p:sp>
        <p:nvSpPr>
          <p:cNvPr id="14" name="C3_i_disc"/>
          <p:cNvSpPr/>
          <p:nvPr/>
        </p:nvSpPr>
        <p:spPr>
          <a:xfrm>
            <a:off x="1051560" y="4407408"/>
            <a:ext cx="822960" cy="822960"/>
          </a:xfrm>
          <a:prstGeom prst="ellipse">
            <a:avLst/>
          </a:prstGeom>
          <a:solidFill>
            <a:schemeClr val="tx1"/>
          </a:solidFill>
          <a:ln/>
        </p:spPr>
      </p:sp>
      <p:pic>
        <p:nvPicPr>
          <p:cNvPr id="15" name="C3_i_ico" descr="preencoded.png">    </p:cNvPr>
          <p:cNvPicPr>
            <a:picLocks noChangeAspect="1"/>
          </p:cNvPicPr>
          <p:nvPr/>
        </p:nvPicPr>
        <p:blipFill>
          <a:blip r:embed="rId3"/>
          <a:stretch>
            <a:fillRect/>
          </a:stretch>
        </p:blipFill>
        <p:spPr>
          <a:xfrm>
            <a:off x="1257300" y="4613148"/>
            <a:ext cx="411480" cy="411480"/>
          </a:xfrm>
          <a:prstGeom prst="rect">
            <a:avLst/>
          </a:prstGeom>
        </p:spPr>
      </p:pic>
      <p:sp>
        <p:nvSpPr>
          <p:cNvPr id="16" name="C3_t"/>
          <p:cNvSpPr txBox="1"/>
          <p:nvPr/>
        </p:nvSpPr>
        <p:spPr>
          <a:xfrm>
            <a:off x="2194560" y="4343400"/>
            <a:ext cx="3375508" cy="960120"/>
          </a:xfrm>
          <a:prstGeom prst="rect">
            <a:avLst/>
          </a:prstGeom>
          <a:noFill/>
          <a:ln/>
        </p:spPr>
        <p:txBody>
          <a:bodyPr wrap="square" lIns="0" tIns="0" rIns="0" bIns="0" rtlCol="0" anchor="ctr"/>
          <a:lstStyle/>
          <a:p>
            <a:pPr indent="0" marL="0">
              <a:buNone/>
            </a:pPr>
            <a:r>
              <a:rPr lang="en-US" sz="1800" b="1" dirty="0">
                <a:solidFill>
                  <a:schemeClr val="tx1"/>
                </a:solidFill>
              </a:rPr>
              <a:t>Des contenus audiovisuels 2D et 3D</a:t>
            </a:r>
            <a:endParaRPr lang="en-US" sz="1800" dirty="0"/>
          </a:p>
        </p:txBody>
      </p:sp>
      <p:sp>
        <p:nvSpPr>
          <p:cNvPr id="17" name="C4_card"/>
          <p:cNvSpPr/>
          <p:nvPr/>
        </p:nvSpPr>
        <p:spPr>
          <a:xfrm>
            <a:off x="6255868" y="3977640"/>
            <a:ext cx="5250028" cy="1691640"/>
          </a:xfrm>
          <a:prstGeom prst="roundRect">
            <a:avLst>
              <a:gd name="adj" fmla="val 6486"/>
            </a:avLst>
          </a:prstGeom>
          <a:solidFill>
            <a:schemeClr val="bg2"/>
          </a:solidFill>
          <a:ln/>
        </p:spPr>
      </p:sp>
      <p:sp>
        <p:nvSpPr>
          <p:cNvPr id="18" name="C4_i_disc"/>
          <p:cNvSpPr/>
          <p:nvPr/>
        </p:nvSpPr>
        <p:spPr>
          <a:xfrm>
            <a:off x="6621628" y="4407408"/>
            <a:ext cx="822960" cy="822960"/>
          </a:xfrm>
          <a:prstGeom prst="ellipse">
            <a:avLst/>
          </a:prstGeom>
          <a:solidFill>
            <a:schemeClr val="tx1"/>
          </a:solidFill>
          <a:ln/>
        </p:spPr>
      </p:sp>
      <p:pic>
        <p:nvPicPr>
          <p:cNvPr id="19" name="C4_i_ico" descr="preencoded.png">    </p:cNvPr>
          <p:cNvPicPr>
            <a:picLocks noChangeAspect="1"/>
          </p:cNvPicPr>
          <p:nvPr/>
        </p:nvPicPr>
        <p:blipFill>
          <a:blip r:embed="rId4"/>
          <a:stretch>
            <a:fillRect/>
          </a:stretch>
        </p:blipFill>
        <p:spPr>
          <a:xfrm>
            <a:off x="6827368" y="4613148"/>
            <a:ext cx="411480" cy="411480"/>
          </a:xfrm>
          <a:prstGeom prst="rect">
            <a:avLst/>
          </a:prstGeom>
        </p:spPr>
      </p:pic>
      <p:sp>
        <p:nvSpPr>
          <p:cNvPr id="20" name="C4_t"/>
          <p:cNvSpPr txBox="1"/>
          <p:nvPr/>
        </p:nvSpPr>
        <p:spPr>
          <a:xfrm>
            <a:off x="7764628" y="4343400"/>
            <a:ext cx="3375508" cy="960120"/>
          </a:xfrm>
          <a:prstGeom prst="rect">
            <a:avLst/>
          </a:prstGeom>
          <a:noFill/>
          <a:ln/>
        </p:spPr>
        <p:txBody>
          <a:bodyPr wrap="square" lIns="0" tIns="0" rIns="0" bIns="0" rtlCol="0" anchor="ctr"/>
          <a:lstStyle/>
          <a:p>
            <a:pPr indent="0" marL="0">
              <a:buNone/>
            </a:pPr>
            <a:r>
              <a:rPr lang="en-US" sz="1800" b="1" dirty="0">
                <a:solidFill>
                  <a:schemeClr val="tx1"/>
                </a:solidFill>
              </a:rPr>
              <a:t>Un site web moderne</a:t>
            </a:r>
            <a:endParaRPr lang="en-US" sz="18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7"/>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8"/>
                                        </p:tgtEl>
                                        <p:attrNameLst>
                                          <p:attrName>ppt_x</p:attrName>
                                          <p:attrName>ppt_y</p:attrName>
                                        </p:attrNameLst>
                                      </p:cBhvr>
                                    </p:animMotion>
                                  </p:childTnLst>
                                </p:cTn>
                              </p:par>
                            </p:childTnLst>
                          </p:cTn>
                        </p:par>
                      </p:childTnLst>
                    </p:cTn>
                  </p:par>
                  <p:par>
                    <p:cTn id="37" fill="hold">
                      <p:stCondLst>
                        <p:cond delay="indefinite"/>
                      </p:stCondLst>
                      <p:childTnLst>
                        <p:par>
                          <p:cTn id="38" fill="hold">
                            <p:stCondLst>
                              <p:cond delay="0"/>
                            </p:stCondLst>
                            <p:childTnLst>
                              <p:par>
                                <p:cTn id="39" presetID="10" presetClass="entr" presetSubtype="0" accel="0" decel="100000" fill="hold" grpId="0" nodeType="click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p:tgtEl>
                                          <p:spTgt spid="9"/>
                                        </p:tgtEl>
                                      </p:cBhvr>
                                    </p:animEffect>
                                  </p:childTnLst>
                                </p:cTn>
                              </p:par>
                              <p:par>
                                <p:cTn id="42" presetID="0" presetClass="path" presetSubtype="0" accel="0" decel="100000" fill="hold" grpId="1" nodeType="withEffect">
                                  <p:stCondLst>
                                    <p:cond delay="0"/>
                                  </p:stCondLst>
                                  <p:childTnLst>
                                    <p:animMotion origin="layout" path="M 0 0.02778 L 0 0 E" pathEditMode="relative" rAng="0" ptsTypes="AA">
                                      <p:cBhvr>
                                        <p:cTn id="43" dur="500" fill="hold"/>
                                        <p:tgtEl>
                                          <p:spTgt spid="9"/>
                                        </p:tgtEl>
                                        <p:attrNameLst>
                                          <p:attrName>ppt_x</p:attrName>
                                          <p:attrName>ppt_y</p:attrName>
                                        </p:attrNameLst>
                                      </p:cBhvr>
                                    </p:animMotion>
                                  </p:childTnLst>
                                </p:cTn>
                              </p:par>
                              <p:par>
                                <p:cTn id="44" presetID="10" presetClass="entr" presetSubtype="0" accel="0" decel="10000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childTnLst>
                                </p:cTn>
                              </p:par>
                              <p:par>
                                <p:cTn id="47" presetID="0" presetClass="path" presetSubtype="0" accel="0" decel="100000" fill="hold" grpId="1" nodeType="withEffect">
                                  <p:stCondLst>
                                    <p:cond delay="0"/>
                                  </p:stCondLst>
                                  <p:childTnLst>
                                    <p:animMotion origin="layout" path="M 0 0.02778 L 0 0 E" pathEditMode="relative" rAng="0" ptsTypes="AA">
                                      <p:cBhvr>
                                        <p:cTn id="48" dur="500" fill="hold"/>
                                        <p:tgtEl>
                                          <p:spTgt spid="10"/>
                                        </p:tgtEl>
                                        <p:attrNameLst>
                                          <p:attrName>ppt_x</p:attrName>
                                          <p:attrName>ppt_y</p:attrName>
                                        </p:attrNameLst>
                                      </p:cBhvr>
                                    </p:animMotion>
                                  </p:childTnLst>
                                </p:cTn>
                              </p:par>
                              <p:par>
                                <p:cTn id="49" presetID="10" presetClass="entr" presetSubtype="0" accel="0" decel="10000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childTnLst>
                                </p:cTn>
                              </p:par>
                              <p:par>
                                <p:cTn id="52" presetID="0" presetClass="path" presetSubtype="0" accel="0" decel="100000" fill="hold" grpId="1" nodeType="withEffect">
                                  <p:stCondLst>
                                    <p:cond delay="0"/>
                                  </p:stCondLst>
                                  <p:childTnLst>
                                    <p:animMotion origin="layout" path="M 0 0.02778 L 0 0 E" pathEditMode="relative" rAng="0" ptsTypes="AA">
                                      <p:cBhvr>
                                        <p:cTn id="53" dur="500" fill="hold"/>
                                        <p:tgtEl>
                                          <p:spTgt spid="11"/>
                                        </p:tgtEl>
                                        <p:attrNameLst>
                                          <p:attrName>ppt_x</p:attrName>
                                          <p:attrName>ppt_y</p:attrName>
                                        </p:attrNameLst>
                                      </p:cBhvr>
                                    </p:animMotion>
                                  </p:childTnLst>
                                </p:cTn>
                              </p:par>
                              <p:par>
                                <p:cTn id="54" presetID="10" presetClass="entr" presetSubtype="0" accel="0" decel="10000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par>
                                <p:cTn id="57" presetID="0" presetClass="path" presetSubtype="0" accel="0" decel="100000" fill="hold" grpId="1" nodeType="withEffect">
                                  <p:stCondLst>
                                    <p:cond delay="0"/>
                                  </p:stCondLst>
                                  <p:childTnLst>
                                    <p:animMotion origin="layout" path="M 0 0.02778 L 0 0 E" pathEditMode="relative" rAng="0" ptsTypes="AA">
                                      <p:cBhvr>
                                        <p:cTn id="58" dur="500" fill="hold"/>
                                        <p:tgtEl>
                                          <p:spTgt spid="12"/>
                                        </p:tgtEl>
                                        <p:attrNameLst>
                                          <p:attrName>ppt_x</p:attrName>
                                          <p:attrName>ppt_y</p:attrName>
                                        </p:attrNameLst>
                                      </p:cBhvr>
                                    </p:animMotion>
                                  </p:childTnLst>
                                </p:cTn>
                              </p:par>
                            </p:childTnLst>
                          </p:cTn>
                        </p:par>
                      </p:childTnLst>
                    </p:cTn>
                  </p:par>
                  <p:par>
                    <p:cTn id="59" fill="hold">
                      <p:stCondLst>
                        <p:cond delay="indefinite"/>
                      </p:stCondLst>
                      <p:childTnLst>
                        <p:par>
                          <p:cTn id="60" fill="hold">
                            <p:stCondLst>
                              <p:cond delay="0"/>
                            </p:stCondLst>
                            <p:childTnLst>
                              <p:par>
                                <p:cTn id="61" presetID="10" presetClass="entr" presetSubtype="0" accel="0" decel="100000"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childTnLst>
                                </p:cTn>
                              </p:par>
                              <p:par>
                                <p:cTn id="64" presetID="0" presetClass="path" presetSubtype="0" accel="0" decel="100000" fill="hold" grpId="1" nodeType="withEffect">
                                  <p:stCondLst>
                                    <p:cond delay="0"/>
                                  </p:stCondLst>
                                  <p:childTnLst>
                                    <p:animMotion origin="layout" path="M 0 0.02778 L 0 0 E" pathEditMode="relative" rAng="0" ptsTypes="AA">
                                      <p:cBhvr>
                                        <p:cTn id="65" dur="500" fill="hold"/>
                                        <p:tgtEl>
                                          <p:spTgt spid="13"/>
                                        </p:tgtEl>
                                        <p:attrNameLst>
                                          <p:attrName>ppt_x</p:attrName>
                                          <p:attrName>ppt_y</p:attrName>
                                        </p:attrNameLst>
                                      </p:cBhvr>
                                    </p:animMotion>
                                  </p:childTnLst>
                                </p:cTn>
                              </p:par>
                              <p:par>
                                <p:cTn id="66" presetID="10" presetClass="entr" presetSubtype="0" accel="0" decel="100000"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8" dur="500"/>
                                        <p:tgtEl>
                                          <p:spTgt spid="14"/>
                                        </p:tgtEl>
                                      </p:cBhvr>
                                    </p:animEffect>
                                  </p:childTnLst>
                                </p:cTn>
                              </p:par>
                              <p:par>
                                <p:cTn id="69" presetID="0" presetClass="path" presetSubtype="0" accel="0" decel="100000" fill="hold" grpId="1" nodeType="withEffect">
                                  <p:stCondLst>
                                    <p:cond delay="0"/>
                                  </p:stCondLst>
                                  <p:childTnLst>
                                    <p:animMotion origin="layout" path="M 0 0.02778 L 0 0 E" pathEditMode="relative" rAng="0" ptsTypes="AA">
                                      <p:cBhvr>
                                        <p:cTn id="70" dur="500" fill="hold"/>
                                        <p:tgtEl>
                                          <p:spTgt spid="14"/>
                                        </p:tgtEl>
                                        <p:attrNameLst>
                                          <p:attrName>ppt_x</p:attrName>
                                          <p:attrName>ppt_y</p:attrName>
                                        </p:attrNameLst>
                                      </p:cBhvr>
                                    </p:animMotion>
                                  </p:childTnLst>
                                </p:cTn>
                              </p:par>
                              <p:par>
                                <p:cTn id="71" presetID="10" presetClass="entr" presetSubtype="0" accel="0" decel="10000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500"/>
                                        <p:tgtEl>
                                          <p:spTgt spid="15"/>
                                        </p:tgtEl>
                                      </p:cBhvr>
                                    </p:animEffect>
                                  </p:childTnLst>
                                </p:cTn>
                              </p:par>
                              <p:par>
                                <p:cTn id="74" presetID="0" presetClass="path" presetSubtype="0" accel="0" decel="100000" fill="hold" grpId="1" nodeType="withEffect">
                                  <p:stCondLst>
                                    <p:cond delay="0"/>
                                  </p:stCondLst>
                                  <p:childTnLst>
                                    <p:animMotion origin="layout" path="M 0 0.02778 L 0 0 E" pathEditMode="relative" rAng="0" ptsTypes="AA">
                                      <p:cBhvr>
                                        <p:cTn id="75" dur="500" fill="hold"/>
                                        <p:tgtEl>
                                          <p:spTgt spid="15"/>
                                        </p:tgtEl>
                                        <p:attrNameLst>
                                          <p:attrName>ppt_x</p:attrName>
                                          <p:attrName>ppt_y</p:attrName>
                                        </p:attrNameLst>
                                      </p:cBhvr>
                                    </p:animMotion>
                                  </p:childTnLst>
                                </p:cTn>
                              </p:par>
                              <p:par>
                                <p:cTn id="76" presetID="10" presetClass="entr" presetSubtype="0" accel="0" decel="100000" fill="hold" grpId="0" nodeType="withEffect">
                                  <p:stCondLst>
                                    <p:cond delay="0"/>
                                  </p:stCondLst>
                                  <p:childTnLst>
                                    <p:set>
                                      <p:cBhvr>
                                        <p:cTn id="77" dur="1" fill="hold">
                                          <p:stCondLst>
                                            <p:cond delay="0"/>
                                          </p:stCondLst>
                                        </p:cTn>
                                        <p:tgtEl>
                                          <p:spTgt spid="16"/>
                                        </p:tgtEl>
                                        <p:attrNameLst>
                                          <p:attrName>style.visibility</p:attrName>
                                        </p:attrNameLst>
                                      </p:cBhvr>
                                      <p:to>
                                        <p:strVal val="visible"/>
                                      </p:to>
                                    </p:set>
                                    <p:animEffect transition="in" filter="fade">
                                      <p:cBhvr>
                                        <p:cTn id="78" dur="500"/>
                                        <p:tgtEl>
                                          <p:spTgt spid="16"/>
                                        </p:tgtEl>
                                      </p:cBhvr>
                                    </p:animEffect>
                                  </p:childTnLst>
                                </p:cTn>
                              </p:par>
                              <p:par>
                                <p:cTn id="79" presetID="0" presetClass="path" presetSubtype="0" accel="0" decel="100000" fill="hold" grpId="1" nodeType="withEffect">
                                  <p:stCondLst>
                                    <p:cond delay="0"/>
                                  </p:stCondLst>
                                  <p:childTnLst>
                                    <p:animMotion origin="layout" path="M 0 0.02778 L 0 0 E" pathEditMode="relative" rAng="0" ptsTypes="AA">
                                      <p:cBhvr>
                                        <p:cTn id="80" dur="500" fill="hold"/>
                                        <p:tgtEl>
                                          <p:spTgt spid="16"/>
                                        </p:tgtEl>
                                        <p:attrNameLst>
                                          <p:attrName>ppt_x</p:attrName>
                                          <p:attrName>ppt_y</p:attrName>
                                        </p:attrNameLst>
                                      </p:cBhvr>
                                    </p:animMotion>
                                  </p:childTnLst>
                                </p:cTn>
                              </p:par>
                            </p:childTnLst>
                          </p:cTn>
                        </p:par>
                      </p:childTnLst>
                    </p:cTn>
                  </p:par>
                  <p:par>
                    <p:cTn id="81" fill="hold">
                      <p:stCondLst>
                        <p:cond delay="indefinite"/>
                      </p:stCondLst>
                      <p:childTnLst>
                        <p:par>
                          <p:cTn id="82" fill="hold">
                            <p:stCondLst>
                              <p:cond delay="0"/>
                            </p:stCondLst>
                            <p:childTnLst>
                              <p:par>
                                <p:cTn id="83" presetID="10" presetClass="entr" presetSubtype="0" accel="0" decel="100000" fill="hold" grpId="0" nodeType="clickEffect">
                                  <p:stCondLst>
                                    <p:cond delay="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500"/>
                                        <p:tgtEl>
                                          <p:spTgt spid="17"/>
                                        </p:tgtEl>
                                      </p:cBhvr>
                                    </p:animEffect>
                                  </p:childTnLst>
                                </p:cTn>
                              </p:par>
                              <p:par>
                                <p:cTn id="86" presetID="0" presetClass="path" presetSubtype="0" accel="0" decel="100000" fill="hold" grpId="1" nodeType="withEffect">
                                  <p:stCondLst>
                                    <p:cond delay="0"/>
                                  </p:stCondLst>
                                  <p:childTnLst>
                                    <p:animMotion origin="layout" path="M 0 0.02778 L 0 0 E" pathEditMode="relative" rAng="0" ptsTypes="AA">
                                      <p:cBhvr>
                                        <p:cTn id="87" dur="500" fill="hold"/>
                                        <p:tgtEl>
                                          <p:spTgt spid="17"/>
                                        </p:tgtEl>
                                        <p:attrNameLst>
                                          <p:attrName>ppt_x</p:attrName>
                                          <p:attrName>ppt_y</p:attrName>
                                        </p:attrNameLst>
                                      </p:cBhvr>
                                    </p:animMotion>
                                  </p:childTnLst>
                                </p:cTn>
                              </p:par>
                              <p:par>
                                <p:cTn id="88" presetID="10" presetClass="entr" presetSubtype="0" accel="0" decel="100000" fill="hold" grpId="0" nodeType="withEffect">
                                  <p:stCondLst>
                                    <p:cond delay="0"/>
                                  </p:stCondLst>
                                  <p:childTnLst>
                                    <p:set>
                                      <p:cBhvr>
                                        <p:cTn id="89" dur="1" fill="hold">
                                          <p:stCondLst>
                                            <p:cond delay="0"/>
                                          </p:stCondLst>
                                        </p:cTn>
                                        <p:tgtEl>
                                          <p:spTgt spid="18"/>
                                        </p:tgtEl>
                                        <p:attrNameLst>
                                          <p:attrName>style.visibility</p:attrName>
                                        </p:attrNameLst>
                                      </p:cBhvr>
                                      <p:to>
                                        <p:strVal val="visible"/>
                                      </p:to>
                                    </p:set>
                                    <p:animEffect transition="in" filter="fade">
                                      <p:cBhvr>
                                        <p:cTn id="90" dur="500"/>
                                        <p:tgtEl>
                                          <p:spTgt spid="18"/>
                                        </p:tgtEl>
                                      </p:cBhvr>
                                    </p:animEffect>
                                  </p:childTnLst>
                                </p:cTn>
                              </p:par>
                              <p:par>
                                <p:cTn id="91" presetID="0" presetClass="path" presetSubtype="0" accel="0" decel="100000" fill="hold" grpId="1" nodeType="withEffect">
                                  <p:stCondLst>
                                    <p:cond delay="0"/>
                                  </p:stCondLst>
                                  <p:childTnLst>
                                    <p:animMotion origin="layout" path="M 0 0.02778 L 0 0 E" pathEditMode="relative" rAng="0" ptsTypes="AA">
                                      <p:cBhvr>
                                        <p:cTn id="92" dur="500" fill="hold"/>
                                        <p:tgtEl>
                                          <p:spTgt spid="18"/>
                                        </p:tgtEl>
                                        <p:attrNameLst>
                                          <p:attrName>ppt_x</p:attrName>
                                          <p:attrName>ppt_y</p:attrName>
                                        </p:attrNameLst>
                                      </p:cBhvr>
                                    </p:animMotion>
                                  </p:childTnLst>
                                </p:cTn>
                              </p:par>
                              <p:par>
                                <p:cTn id="93" presetID="10" presetClass="entr" presetSubtype="0" accel="0" decel="100000" fill="hold" grpId="0" nodeType="withEffect">
                                  <p:stCondLst>
                                    <p:cond delay="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500"/>
                                        <p:tgtEl>
                                          <p:spTgt spid="19"/>
                                        </p:tgtEl>
                                      </p:cBhvr>
                                    </p:animEffect>
                                  </p:childTnLst>
                                </p:cTn>
                              </p:par>
                              <p:par>
                                <p:cTn id="96" presetID="0" presetClass="path" presetSubtype="0" accel="0" decel="100000" fill="hold" grpId="1" nodeType="withEffect">
                                  <p:stCondLst>
                                    <p:cond delay="0"/>
                                  </p:stCondLst>
                                  <p:childTnLst>
                                    <p:animMotion origin="layout" path="M 0 0.02778 L 0 0 E" pathEditMode="relative" rAng="0" ptsTypes="AA">
                                      <p:cBhvr>
                                        <p:cTn id="97" dur="500" fill="hold"/>
                                        <p:tgtEl>
                                          <p:spTgt spid="19"/>
                                        </p:tgtEl>
                                        <p:attrNameLst>
                                          <p:attrName>ppt_x</p:attrName>
                                          <p:attrName>ppt_y</p:attrName>
                                        </p:attrNameLst>
                                      </p:cBhvr>
                                    </p:animMotion>
                                  </p:childTnLst>
                                </p:cTn>
                              </p:par>
                              <p:par>
                                <p:cTn id="98" presetID="10" presetClass="entr" presetSubtype="0" accel="0" decel="100000" fill="hold" grpId="0" nodeType="withEffect">
                                  <p:stCondLst>
                                    <p:cond delay="0"/>
                                  </p:stCondLst>
                                  <p:childTnLst>
                                    <p:set>
                                      <p:cBhvr>
                                        <p:cTn id="99" dur="1" fill="hold">
                                          <p:stCondLst>
                                            <p:cond delay="0"/>
                                          </p:stCondLst>
                                        </p:cTn>
                                        <p:tgtEl>
                                          <p:spTgt spid="20"/>
                                        </p:tgtEl>
                                        <p:attrNameLst>
                                          <p:attrName>style.visibility</p:attrName>
                                        </p:attrNameLst>
                                      </p:cBhvr>
                                      <p:to>
                                        <p:strVal val="visible"/>
                                      </p:to>
                                    </p:set>
                                    <p:animEffect transition="in" filter="fade">
                                      <p:cBhvr>
                                        <p:cTn id="100" dur="500"/>
                                        <p:tgtEl>
                                          <p:spTgt spid="20"/>
                                        </p:tgtEl>
                                      </p:cBhvr>
                                    </p:animEffect>
                                  </p:childTnLst>
                                </p:cTn>
                              </p:par>
                              <p:par>
                                <p:cTn id="101" presetID="0" presetClass="path" presetSubtype="0" accel="0" decel="100000" fill="hold" grpId="1" nodeType="withEffect">
                                  <p:stCondLst>
                                    <p:cond delay="0"/>
                                  </p:stCondLst>
                                  <p:childTnLst>
                                    <p:animMotion origin="layout" path="M 0 0.02778 L 0 0 E" pathEditMode="relative" rAng="0" ptsTypes="AA">
                                      <p:cBhvr>
                                        <p:cTn id="102" dur="500" fill="hold"/>
                                        <p:tgtEl>
                                          <p:spTgt spid="2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8" grpId="0" animBg="1"/>
      <p:bldP spid="8" grpId="1" animBg="1"/>
      <p:bldP spid="12" grpId="0" animBg="1"/>
      <p:bldP spid="12" grpId="1" animBg="1"/>
      <p:bldP spid="16" grpId="0" animBg="1"/>
      <p:bldP spid="16" grpId="1" animBg="1"/>
      <p:bldP spid="20" grpId="0" animBg="1"/>
      <p:bldP spid="20"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01  ·  HYPOTHÈSE</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Hypothèse de recherche</a:t>
            </a:r>
            <a:endParaRPr lang="en-US" sz="3000" dirty="0"/>
          </a:p>
        </p:txBody>
      </p:sp>
      <p:sp>
        <p:nvSpPr>
          <p:cNvPr id="5" name="C1_lead"/>
          <p:cNvSpPr txBox="1"/>
          <p:nvPr/>
        </p:nvSpPr>
        <p:spPr>
          <a:xfrm>
            <a:off x="685800" y="2057400"/>
            <a:ext cx="10820095" cy="548640"/>
          </a:xfrm>
          <a:prstGeom prst="rect">
            <a:avLst/>
          </a:prstGeom>
          <a:noFill/>
          <a:ln/>
        </p:spPr>
        <p:txBody>
          <a:bodyPr wrap="square" lIns="0" tIns="0" rIns="0" bIns="0" rtlCol="0" anchor="t"/>
          <a:lstStyle/>
          <a:p>
            <a:pPr indent="0" marL="0">
              <a:buNone/>
            </a:pPr>
            <a:r>
              <a:rPr lang="en-US" sz="1800" dirty="0">
                <a:solidFill>
                  <a:schemeClr val="tx2"/>
                </a:solidFill>
              </a:rPr>
              <a:t>Des supports graphiques et numériques professionnels permettront :</a:t>
            </a:r>
            <a:endParaRPr lang="en-US" sz="1800" dirty="0"/>
          </a:p>
        </p:txBody>
      </p:sp>
      <p:sp>
        <p:nvSpPr>
          <p:cNvPr id="6" name="C2_card0"/>
          <p:cNvSpPr/>
          <p:nvPr/>
        </p:nvSpPr>
        <p:spPr>
          <a:xfrm>
            <a:off x="685800" y="3291840"/>
            <a:ext cx="3393338" cy="2377440"/>
          </a:xfrm>
          <a:prstGeom prst="roundRect">
            <a:avLst>
              <a:gd name="adj" fmla="val 4615"/>
            </a:avLst>
          </a:prstGeom>
          <a:solidFill>
            <a:schemeClr val="bg2"/>
          </a:solidFill>
          <a:ln/>
        </p:spPr>
      </p:sp>
      <p:sp>
        <p:nvSpPr>
          <p:cNvPr id="7" name="C2_i0_disc"/>
          <p:cNvSpPr/>
          <p:nvPr/>
        </p:nvSpPr>
        <p:spPr>
          <a:xfrm>
            <a:off x="1051560" y="3611880"/>
            <a:ext cx="822960" cy="822960"/>
          </a:xfrm>
          <a:prstGeom prst="ellipse">
            <a:avLst/>
          </a:prstGeom>
          <a:solidFill>
            <a:schemeClr val="accent1"/>
          </a:solidFill>
          <a:ln/>
        </p:spPr>
      </p:sp>
      <p:pic>
        <p:nvPicPr>
          <p:cNvPr id="8" name="C2_i0_ico" descr="preencoded.png">    </p:cNvPr>
          <p:cNvPicPr>
            <a:picLocks noChangeAspect="1"/>
          </p:cNvPicPr>
          <p:nvPr/>
        </p:nvPicPr>
        <p:blipFill>
          <a:blip r:embed="rId1"/>
          <a:stretch>
            <a:fillRect/>
          </a:stretch>
        </p:blipFill>
        <p:spPr>
          <a:xfrm>
            <a:off x="1257300" y="3817620"/>
            <a:ext cx="411480" cy="411480"/>
          </a:xfrm>
          <a:prstGeom prst="rect">
            <a:avLst/>
          </a:prstGeom>
        </p:spPr>
      </p:pic>
      <p:sp>
        <p:nvSpPr>
          <p:cNvPr id="9" name="C2_t0"/>
          <p:cNvSpPr txBox="1"/>
          <p:nvPr/>
        </p:nvSpPr>
        <p:spPr>
          <a:xfrm>
            <a:off x="1051560" y="4663440"/>
            <a:ext cx="2661818" cy="731520"/>
          </a:xfrm>
          <a:prstGeom prst="rect">
            <a:avLst/>
          </a:prstGeom>
          <a:noFill/>
          <a:ln/>
        </p:spPr>
        <p:txBody>
          <a:bodyPr wrap="square" lIns="0" tIns="0" rIns="0" bIns="0" rtlCol="0" anchor="t"/>
          <a:lstStyle/>
          <a:p>
            <a:pPr indent="0" marL="0">
              <a:buNone/>
            </a:pPr>
            <a:r>
              <a:rPr lang="en-US" sz="1800" b="1" dirty="0">
                <a:solidFill>
                  <a:schemeClr val="tx1"/>
                </a:solidFill>
              </a:rPr>
              <a:t>D’améliorer la notoriété</a:t>
            </a:r>
            <a:endParaRPr lang="en-US" sz="1800" dirty="0"/>
          </a:p>
        </p:txBody>
      </p:sp>
      <p:sp>
        <p:nvSpPr>
          <p:cNvPr id="10" name="C2_card1"/>
          <p:cNvSpPr/>
          <p:nvPr/>
        </p:nvSpPr>
        <p:spPr>
          <a:xfrm>
            <a:off x="4399178" y="3291840"/>
            <a:ext cx="3393338" cy="2377440"/>
          </a:xfrm>
          <a:prstGeom prst="roundRect">
            <a:avLst>
              <a:gd name="adj" fmla="val 4615"/>
            </a:avLst>
          </a:prstGeom>
          <a:solidFill>
            <a:schemeClr val="bg2"/>
          </a:solidFill>
          <a:ln/>
        </p:spPr>
      </p:sp>
      <p:sp>
        <p:nvSpPr>
          <p:cNvPr id="11" name="C2_i1_disc"/>
          <p:cNvSpPr/>
          <p:nvPr/>
        </p:nvSpPr>
        <p:spPr>
          <a:xfrm>
            <a:off x="4764938" y="3611880"/>
            <a:ext cx="822960" cy="822960"/>
          </a:xfrm>
          <a:prstGeom prst="ellipse">
            <a:avLst/>
          </a:prstGeom>
          <a:solidFill>
            <a:schemeClr val="accent1"/>
          </a:solidFill>
          <a:ln/>
        </p:spPr>
      </p:sp>
      <p:pic>
        <p:nvPicPr>
          <p:cNvPr id="12" name="C2_i1_ico" descr="preencoded.png">    </p:cNvPr>
          <p:cNvPicPr>
            <a:picLocks noChangeAspect="1"/>
          </p:cNvPicPr>
          <p:nvPr/>
        </p:nvPicPr>
        <p:blipFill>
          <a:blip r:embed="rId2"/>
          <a:stretch>
            <a:fillRect/>
          </a:stretch>
        </p:blipFill>
        <p:spPr>
          <a:xfrm>
            <a:off x="4970678" y="3817620"/>
            <a:ext cx="411480" cy="411480"/>
          </a:xfrm>
          <a:prstGeom prst="rect">
            <a:avLst/>
          </a:prstGeom>
        </p:spPr>
      </p:pic>
      <p:sp>
        <p:nvSpPr>
          <p:cNvPr id="13" name="C2_t1"/>
          <p:cNvSpPr txBox="1"/>
          <p:nvPr/>
        </p:nvSpPr>
        <p:spPr>
          <a:xfrm>
            <a:off x="4764938" y="4663440"/>
            <a:ext cx="2661818" cy="731520"/>
          </a:xfrm>
          <a:prstGeom prst="rect">
            <a:avLst/>
          </a:prstGeom>
          <a:noFill/>
          <a:ln/>
        </p:spPr>
        <p:txBody>
          <a:bodyPr wrap="square" lIns="0" tIns="0" rIns="0" bIns="0" rtlCol="0" anchor="t"/>
          <a:lstStyle/>
          <a:p>
            <a:pPr indent="0" marL="0">
              <a:buNone/>
            </a:pPr>
            <a:r>
              <a:rPr lang="en-US" sz="1800" b="1" dirty="0">
                <a:solidFill>
                  <a:schemeClr val="tx1"/>
                </a:solidFill>
              </a:rPr>
              <a:t>De renforcer l’image de marque</a:t>
            </a:r>
            <a:endParaRPr lang="en-US" sz="1800" dirty="0"/>
          </a:p>
        </p:txBody>
      </p:sp>
      <p:sp>
        <p:nvSpPr>
          <p:cNvPr id="14" name="C2_card2"/>
          <p:cNvSpPr/>
          <p:nvPr/>
        </p:nvSpPr>
        <p:spPr>
          <a:xfrm>
            <a:off x="8112557" y="3291840"/>
            <a:ext cx="3393338" cy="2377440"/>
          </a:xfrm>
          <a:prstGeom prst="roundRect">
            <a:avLst>
              <a:gd name="adj" fmla="val 4615"/>
            </a:avLst>
          </a:prstGeom>
          <a:solidFill>
            <a:schemeClr val="bg2"/>
          </a:solidFill>
          <a:ln/>
        </p:spPr>
      </p:sp>
      <p:sp>
        <p:nvSpPr>
          <p:cNvPr id="15" name="C2_i2_disc"/>
          <p:cNvSpPr/>
          <p:nvPr/>
        </p:nvSpPr>
        <p:spPr>
          <a:xfrm>
            <a:off x="8478317" y="3611880"/>
            <a:ext cx="822960" cy="822960"/>
          </a:xfrm>
          <a:prstGeom prst="ellipse">
            <a:avLst/>
          </a:prstGeom>
          <a:solidFill>
            <a:schemeClr val="accent1"/>
          </a:solidFill>
          <a:ln/>
        </p:spPr>
      </p:sp>
      <p:pic>
        <p:nvPicPr>
          <p:cNvPr id="16" name="C2_i2_ico" descr="preencoded.png">    </p:cNvPr>
          <p:cNvPicPr>
            <a:picLocks noChangeAspect="1"/>
          </p:cNvPicPr>
          <p:nvPr/>
        </p:nvPicPr>
        <p:blipFill>
          <a:blip r:embed="rId3"/>
          <a:stretch>
            <a:fillRect/>
          </a:stretch>
        </p:blipFill>
        <p:spPr>
          <a:xfrm>
            <a:off x="8684057" y="3817620"/>
            <a:ext cx="411480" cy="411480"/>
          </a:xfrm>
          <a:prstGeom prst="rect">
            <a:avLst/>
          </a:prstGeom>
        </p:spPr>
      </p:pic>
      <p:sp>
        <p:nvSpPr>
          <p:cNvPr id="17" name="C2_t2"/>
          <p:cNvSpPr txBox="1"/>
          <p:nvPr/>
        </p:nvSpPr>
        <p:spPr>
          <a:xfrm>
            <a:off x="8478317" y="4663440"/>
            <a:ext cx="2661818" cy="731520"/>
          </a:xfrm>
          <a:prstGeom prst="rect">
            <a:avLst/>
          </a:prstGeom>
          <a:noFill/>
          <a:ln/>
        </p:spPr>
        <p:txBody>
          <a:bodyPr wrap="square" lIns="0" tIns="0" rIns="0" bIns="0" rtlCol="0" anchor="t"/>
          <a:lstStyle/>
          <a:p>
            <a:pPr indent="0" marL="0">
              <a:buNone/>
            </a:pPr>
            <a:r>
              <a:rPr lang="en-US" sz="1800" b="1" dirty="0">
                <a:solidFill>
                  <a:schemeClr val="tx1"/>
                </a:solidFill>
              </a:rPr>
              <a:t>D’attirer et fidéliser la clientèle</a:t>
            </a:r>
            <a:endParaRPr lang="en-US" sz="18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childTnLst>
                          </p:cTn>
                        </p:par>
                      </p:childTnLst>
                    </p:cTn>
                  </p:par>
                  <p:par>
                    <p:cTn id="22" fill="hold">
                      <p:stCondLst>
                        <p:cond delay="indefinite"/>
                      </p:stCondLst>
                      <p:childTnLst>
                        <p:par>
                          <p:cTn id="23" fill="hold">
                            <p:stCondLst>
                              <p:cond delay="0"/>
                            </p:stCondLst>
                            <p:childTnLst>
                              <p:par>
                                <p:cTn id="24" presetID="10" presetClass="entr" presetSubtype="0" accel="0" decel="10000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p:tgtEl>
                                          <p:spTgt spid="6"/>
                                        </p:tgtEl>
                                      </p:cBhvr>
                                    </p:animEffect>
                                  </p:childTnLst>
                                </p:cTn>
                              </p:par>
                              <p:par>
                                <p:cTn id="27" presetID="0" presetClass="path" presetSubtype="0" accel="0" decel="100000" fill="hold" grpId="1" nodeType="withEffect">
                                  <p:stCondLst>
                                    <p:cond delay="0"/>
                                  </p:stCondLst>
                                  <p:childTnLst>
                                    <p:animMotion origin="layout" path="M 0 0.02778 L 0 0 E" pathEditMode="relative" rAng="0" ptsTypes="AA">
                                      <p:cBhvr>
                                        <p:cTn id="28" dur="500" fill="hold"/>
                                        <p:tgtEl>
                                          <p:spTgt spid="6"/>
                                        </p:tgtEl>
                                        <p:attrNameLst>
                                          <p:attrName>ppt_x</p:attrName>
                                          <p:attrName>ppt_y</p:attrName>
                                        </p:attrNameLst>
                                      </p:cBhvr>
                                    </p:animMotion>
                                  </p:childTnLst>
                                </p:cTn>
                              </p:par>
                              <p:par>
                                <p:cTn id="29" presetID="10" presetClass="entr" presetSubtype="0" accel="0" decel="10000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par>
                                <p:cTn id="32" presetID="0" presetClass="path" presetSubtype="0" accel="0" decel="100000" fill="hold" grpId="1" nodeType="withEffect">
                                  <p:stCondLst>
                                    <p:cond delay="0"/>
                                  </p:stCondLst>
                                  <p:childTnLst>
                                    <p:animMotion origin="layout" path="M 0 0.02778 L 0 0 E" pathEditMode="relative" rAng="0" ptsTypes="AA">
                                      <p:cBhvr>
                                        <p:cTn id="33" dur="500" fill="hold"/>
                                        <p:tgtEl>
                                          <p:spTgt spid="7"/>
                                        </p:tgtEl>
                                        <p:attrNameLst>
                                          <p:attrName>ppt_x</p:attrName>
                                          <p:attrName>ppt_y</p:attrName>
                                        </p:attrNameLst>
                                      </p:cBhvr>
                                    </p:animMotion>
                                  </p:childTnLst>
                                </p:cTn>
                              </p:par>
                              <p:par>
                                <p:cTn id="34" presetID="10" presetClass="entr" presetSubtype="0" accel="0" decel="10000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par>
                                <p:cTn id="37" presetID="0" presetClass="path" presetSubtype="0" accel="0" decel="100000" fill="hold" grpId="1" nodeType="withEffect">
                                  <p:stCondLst>
                                    <p:cond delay="0"/>
                                  </p:stCondLst>
                                  <p:childTnLst>
                                    <p:animMotion origin="layout" path="M 0 0.02778 L 0 0 E" pathEditMode="relative" rAng="0" ptsTypes="AA">
                                      <p:cBhvr>
                                        <p:cTn id="38" dur="500" fill="hold"/>
                                        <p:tgtEl>
                                          <p:spTgt spid="8"/>
                                        </p:tgtEl>
                                        <p:attrNameLst>
                                          <p:attrName>ppt_x</p:attrName>
                                          <p:attrName>ppt_y</p:attrName>
                                        </p:attrNameLst>
                                      </p:cBhvr>
                                    </p:animMotion>
                                  </p:childTnLst>
                                </p:cTn>
                              </p:par>
                              <p:par>
                                <p:cTn id="39" presetID="10" presetClass="entr" presetSubtype="0" accel="0" decel="10000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p:tgtEl>
                                          <p:spTgt spid="9"/>
                                        </p:tgtEl>
                                      </p:cBhvr>
                                    </p:animEffect>
                                  </p:childTnLst>
                                </p:cTn>
                              </p:par>
                              <p:par>
                                <p:cTn id="42" presetID="0" presetClass="path" presetSubtype="0" accel="0" decel="100000" fill="hold" grpId="1" nodeType="withEffect">
                                  <p:stCondLst>
                                    <p:cond delay="0"/>
                                  </p:stCondLst>
                                  <p:childTnLst>
                                    <p:animMotion origin="layout" path="M 0 0.02778 L 0 0 E" pathEditMode="relative" rAng="0" ptsTypes="AA">
                                      <p:cBhvr>
                                        <p:cTn id="43" dur="500" fill="hold"/>
                                        <p:tgtEl>
                                          <p:spTgt spid="9"/>
                                        </p:tgtEl>
                                        <p:attrNameLst>
                                          <p:attrName>ppt_x</p:attrName>
                                          <p:attrName>ppt_y</p:attrName>
                                        </p:attrNameLst>
                                      </p:cBhvr>
                                    </p:animMotion>
                                  </p:childTnLst>
                                </p:cTn>
                              </p:par>
                              <p:par>
                                <p:cTn id="44" presetID="10" presetClass="entr" presetSubtype="0" accel="0" decel="10000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childTnLst>
                                </p:cTn>
                              </p:par>
                              <p:par>
                                <p:cTn id="47" presetID="0" presetClass="path" presetSubtype="0" accel="0" decel="100000" fill="hold" grpId="1" nodeType="withEffect">
                                  <p:stCondLst>
                                    <p:cond delay="0"/>
                                  </p:stCondLst>
                                  <p:childTnLst>
                                    <p:animMotion origin="layout" path="M 0 0.02778 L 0 0 E" pathEditMode="relative" rAng="0" ptsTypes="AA">
                                      <p:cBhvr>
                                        <p:cTn id="48" dur="500" fill="hold"/>
                                        <p:tgtEl>
                                          <p:spTgt spid="10"/>
                                        </p:tgtEl>
                                        <p:attrNameLst>
                                          <p:attrName>ppt_x</p:attrName>
                                          <p:attrName>ppt_y</p:attrName>
                                        </p:attrNameLst>
                                      </p:cBhvr>
                                    </p:animMotion>
                                  </p:childTnLst>
                                </p:cTn>
                              </p:par>
                              <p:par>
                                <p:cTn id="49" presetID="10" presetClass="entr" presetSubtype="0" accel="0" decel="10000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childTnLst>
                                </p:cTn>
                              </p:par>
                              <p:par>
                                <p:cTn id="52" presetID="0" presetClass="path" presetSubtype="0" accel="0" decel="100000" fill="hold" grpId="1" nodeType="withEffect">
                                  <p:stCondLst>
                                    <p:cond delay="0"/>
                                  </p:stCondLst>
                                  <p:childTnLst>
                                    <p:animMotion origin="layout" path="M 0 0.02778 L 0 0 E" pathEditMode="relative" rAng="0" ptsTypes="AA">
                                      <p:cBhvr>
                                        <p:cTn id="53" dur="500" fill="hold"/>
                                        <p:tgtEl>
                                          <p:spTgt spid="11"/>
                                        </p:tgtEl>
                                        <p:attrNameLst>
                                          <p:attrName>ppt_x</p:attrName>
                                          <p:attrName>ppt_y</p:attrName>
                                        </p:attrNameLst>
                                      </p:cBhvr>
                                    </p:animMotion>
                                  </p:childTnLst>
                                </p:cTn>
                              </p:par>
                              <p:par>
                                <p:cTn id="54" presetID="10" presetClass="entr" presetSubtype="0" accel="0" decel="10000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par>
                                <p:cTn id="57" presetID="0" presetClass="path" presetSubtype="0" accel="0" decel="100000" fill="hold" grpId="1" nodeType="withEffect">
                                  <p:stCondLst>
                                    <p:cond delay="0"/>
                                  </p:stCondLst>
                                  <p:childTnLst>
                                    <p:animMotion origin="layout" path="M 0 0.02778 L 0 0 E" pathEditMode="relative" rAng="0" ptsTypes="AA">
                                      <p:cBhvr>
                                        <p:cTn id="58" dur="500" fill="hold"/>
                                        <p:tgtEl>
                                          <p:spTgt spid="12"/>
                                        </p:tgtEl>
                                        <p:attrNameLst>
                                          <p:attrName>ppt_x</p:attrName>
                                          <p:attrName>ppt_y</p:attrName>
                                        </p:attrNameLst>
                                      </p:cBhvr>
                                    </p:animMotion>
                                  </p:childTnLst>
                                </p:cTn>
                              </p:par>
                              <p:par>
                                <p:cTn id="59" presetID="10" presetClass="entr" presetSubtype="0" accel="0" decel="10000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500"/>
                                        <p:tgtEl>
                                          <p:spTgt spid="13"/>
                                        </p:tgtEl>
                                      </p:cBhvr>
                                    </p:animEffect>
                                  </p:childTnLst>
                                </p:cTn>
                              </p:par>
                              <p:par>
                                <p:cTn id="62" presetID="0" presetClass="path" presetSubtype="0" accel="0" decel="100000" fill="hold" grpId="1" nodeType="withEffect">
                                  <p:stCondLst>
                                    <p:cond delay="0"/>
                                  </p:stCondLst>
                                  <p:childTnLst>
                                    <p:animMotion origin="layout" path="M 0 0.02778 L 0 0 E" pathEditMode="relative" rAng="0" ptsTypes="AA">
                                      <p:cBhvr>
                                        <p:cTn id="63" dur="500" fill="hold"/>
                                        <p:tgtEl>
                                          <p:spTgt spid="13"/>
                                        </p:tgtEl>
                                        <p:attrNameLst>
                                          <p:attrName>ppt_x</p:attrName>
                                          <p:attrName>ppt_y</p:attrName>
                                        </p:attrNameLst>
                                      </p:cBhvr>
                                    </p:animMotion>
                                  </p:childTnLst>
                                </p:cTn>
                              </p:par>
                              <p:par>
                                <p:cTn id="64" presetID="10" presetClass="entr" presetSubtype="0" accel="0" decel="10000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500"/>
                                        <p:tgtEl>
                                          <p:spTgt spid="14"/>
                                        </p:tgtEl>
                                      </p:cBhvr>
                                    </p:animEffect>
                                  </p:childTnLst>
                                </p:cTn>
                              </p:par>
                              <p:par>
                                <p:cTn id="67" presetID="0" presetClass="path" presetSubtype="0" accel="0" decel="100000" fill="hold" grpId="1" nodeType="withEffect">
                                  <p:stCondLst>
                                    <p:cond delay="0"/>
                                  </p:stCondLst>
                                  <p:childTnLst>
                                    <p:animMotion origin="layout" path="M 0 0.02778 L 0 0 E" pathEditMode="relative" rAng="0" ptsTypes="AA">
                                      <p:cBhvr>
                                        <p:cTn id="68" dur="500" fill="hold"/>
                                        <p:tgtEl>
                                          <p:spTgt spid="14"/>
                                        </p:tgtEl>
                                        <p:attrNameLst>
                                          <p:attrName>ppt_x</p:attrName>
                                          <p:attrName>ppt_y</p:attrName>
                                        </p:attrNameLst>
                                      </p:cBhvr>
                                    </p:animMotion>
                                  </p:childTnLst>
                                </p:cTn>
                              </p:par>
                              <p:par>
                                <p:cTn id="69" presetID="10" presetClass="entr" presetSubtype="0" accel="0" decel="10000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500"/>
                                        <p:tgtEl>
                                          <p:spTgt spid="15"/>
                                        </p:tgtEl>
                                      </p:cBhvr>
                                    </p:animEffect>
                                  </p:childTnLst>
                                </p:cTn>
                              </p:par>
                              <p:par>
                                <p:cTn id="72" presetID="0" presetClass="path" presetSubtype="0" accel="0" decel="100000" fill="hold" grpId="1" nodeType="withEffect">
                                  <p:stCondLst>
                                    <p:cond delay="0"/>
                                  </p:stCondLst>
                                  <p:childTnLst>
                                    <p:animMotion origin="layout" path="M 0 0.02778 L 0 0 E" pathEditMode="relative" rAng="0" ptsTypes="AA">
                                      <p:cBhvr>
                                        <p:cTn id="73" dur="500" fill="hold"/>
                                        <p:tgtEl>
                                          <p:spTgt spid="15"/>
                                        </p:tgtEl>
                                        <p:attrNameLst>
                                          <p:attrName>ppt_x</p:attrName>
                                          <p:attrName>ppt_y</p:attrName>
                                        </p:attrNameLst>
                                      </p:cBhvr>
                                    </p:animMotion>
                                  </p:childTnLst>
                                </p:cTn>
                              </p:par>
                              <p:par>
                                <p:cTn id="74" presetID="10" presetClass="entr" presetSubtype="0" accel="0" decel="10000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500"/>
                                        <p:tgtEl>
                                          <p:spTgt spid="16"/>
                                        </p:tgtEl>
                                      </p:cBhvr>
                                    </p:animEffect>
                                  </p:childTnLst>
                                </p:cTn>
                              </p:par>
                              <p:par>
                                <p:cTn id="77" presetID="0" presetClass="path" presetSubtype="0" accel="0" decel="100000" fill="hold" grpId="1" nodeType="withEffect">
                                  <p:stCondLst>
                                    <p:cond delay="0"/>
                                  </p:stCondLst>
                                  <p:childTnLst>
                                    <p:animMotion origin="layout" path="M 0 0.02778 L 0 0 E" pathEditMode="relative" rAng="0" ptsTypes="AA">
                                      <p:cBhvr>
                                        <p:cTn id="78" dur="500" fill="hold"/>
                                        <p:tgtEl>
                                          <p:spTgt spid="16"/>
                                        </p:tgtEl>
                                        <p:attrNameLst>
                                          <p:attrName>ppt_x</p:attrName>
                                          <p:attrName>ppt_y</p:attrName>
                                        </p:attrNameLst>
                                      </p:cBhvr>
                                    </p:animMotion>
                                  </p:childTnLst>
                                </p:cTn>
                              </p:par>
                              <p:par>
                                <p:cTn id="79" presetID="10" presetClass="entr" presetSubtype="0" accel="0" decel="10000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500"/>
                                        <p:tgtEl>
                                          <p:spTgt spid="17"/>
                                        </p:tgtEl>
                                      </p:cBhvr>
                                    </p:animEffect>
                                  </p:childTnLst>
                                </p:cTn>
                              </p:par>
                              <p:par>
                                <p:cTn id="82" presetID="0" presetClass="path" presetSubtype="0" accel="0" decel="100000" fill="hold" grpId="1" nodeType="withEffect">
                                  <p:stCondLst>
                                    <p:cond delay="0"/>
                                  </p:stCondLst>
                                  <p:childTnLst>
                                    <p:animMotion origin="layout" path="M 0 0.02778 L 0 0 E" pathEditMode="relative" rAng="0" ptsTypes="AA">
                                      <p:cBhvr>
                                        <p:cTn id="83" dur="500" fill="hold"/>
                                        <p:tgtEl>
                                          <p:spTgt spid="17"/>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5" grpId="0" animBg="1"/>
      <p:bldP spid="5" grpId="1" animBg="1"/>
      <p:bldP spid="9" grpId="0" animBg="1"/>
      <p:bldP spid="9" grpId="1" animBg="1"/>
      <p:bldP spid="13" grpId="0" animBg="1"/>
      <p:bldP spid="13" grpId="1" animBg="1"/>
      <p:bldP spid="17" grpId="0" animBg="1"/>
      <p:bldP spid="17"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685800" y="1965960"/>
            <a:ext cx="3657600" cy="1371600"/>
          </a:xfrm>
          <a:prstGeom prst="rect">
            <a:avLst/>
          </a:prstGeom>
          <a:noFill/>
          <a:ln/>
        </p:spPr>
        <p:txBody>
          <a:bodyPr wrap="square" lIns="0" tIns="0" rIns="0" bIns="0" rtlCol="0" anchor="b"/>
          <a:lstStyle/>
          <a:p>
            <a:pPr algn="l" indent="0" marL="0">
              <a:buNone/>
            </a:pPr>
            <a:r>
              <a:rPr lang="en-US" sz="8000" dirty="0">
                <a:solidFill>
                  <a:schemeClr val="accent1"/>
                </a:solidFill>
                <a:latin typeface="Poppins ExtraBold" pitchFamily="34" charset="0"/>
                <a:ea typeface="Poppins ExtraBold" pitchFamily="34" charset="-122"/>
                <a:cs typeface="Poppins ExtraBold" pitchFamily="34" charset="-120"/>
              </a:rPr>
              <a:t>02</a:t>
            </a:r>
            <a:endParaRPr lang="en-US" sz="8000" dirty="0"/>
          </a:p>
        </p:txBody>
      </p:sp>
      <p:sp>
        <p:nvSpPr>
          <p:cNvPr id="3" name="Text 0"/>
          <p:cNvSpPr/>
          <p:nvPr>
            <p:ph idx="102" type="title" hasCustomPrompt="1"/>
          </p:nvPr>
        </p:nvSpPr>
        <p:spPr>
          <a:xfrm>
            <a:off x="685800" y="3429000"/>
            <a:ext cx="9601200" cy="1188720"/>
          </a:xfrm>
          <a:prstGeom prst="rect">
            <a:avLst/>
          </a:prstGeom>
          <a:noFill/>
          <a:ln/>
        </p:spPr>
        <p:txBody>
          <a:bodyPr wrap="square" lIns="0" tIns="0" rIns="0" bIns="0" rtlCol="0" anchor="t"/>
          <a:lstStyle/>
          <a:p>
            <a:pPr algn="l" indent="0" marL="0">
              <a:buNone/>
            </a:pPr>
            <a:r>
              <a:rPr lang="en-US" sz="4000" dirty="0">
                <a:solidFill>
                  <a:schemeClr val="bg1"/>
                </a:solidFill>
                <a:latin typeface="Poppins ExtraBold" pitchFamily="34" charset="0"/>
                <a:ea typeface="Poppins ExtraBold" pitchFamily="34" charset="-122"/>
                <a:cs typeface="Poppins ExtraBold" pitchFamily="34" charset="-120"/>
              </a:rPr>
              <a:t>Cadre d’étude</a:t>
            </a:r>
            <a:endParaRPr lang="en-US" sz="4000" dirty="0"/>
          </a:p>
        </p:txBody>
      </p:sp>
      <p:sp>
        <p:nvSpPr>
          <p:cNvPr id="25" name="Slide Number Placeholder 0"/>
          <p:cNvSpPr>
            <a:spLocks noGrp="1"/>
          </p:cNvSpPr>
          <p:nvPr>
            <p:ph type="sldNum" sz="quarter" idx="4294967295"/>
          </p:nvPr>
        </p:nvSpPr>
        <p:spPr>
          <a:xfrm>
            <a:off x="10957255" y="4572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02  ·  LA STRUCTURE</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Un brassage Côte d’Ivoire – États-Unis</a:t>
            </a:r>
            <a:endParaRPr lang="en-US" sz="3000" dirty="0"/>
          </a:p>
        </p:txBody>
      </p:sp>
      <p:sp>
        <p:nvSpPr>
          <p:cNvPr id="5" name="C1_f0_disc"/>
          <p:cNvSpPr/>
          <p:nvPr/>
        </p:nvSpPr>
        <p:spPr>
          <a:xfrm>
            <a:off x="685800" y="2057400"/>
            <a:ext cx="658368" cy="658368"/>
          </a:xfrm>
          <a:prstGeom prst="ellipse">
            <a:avLst/>
          </a:prstGeom>
          <a:solidFill>
            <a:schemeClr val="bg2"/>
          </a:solidFill>
          <a:ln/>
        </p:spPr>
      </p:sp>
      <p:pic>
        <p:nvPicPr>
          <p:cNvPr id="6" name="C1_f0_ico" descr="preencoded.png">    </p:cNvPr>
          <p:cNvPicPr>
            <a:picLocks noChangeAspect="1"/>
          </p:cNvPicPr>
          <p:nvPr/>
        </p:nvPicPr>
        <p:blipFill>
          <a:blip r:embed="rId1"/>
          <a:stretch>
            <a:fillRect/>
          </a:stretch>
        </p:blipFill>
        <p:spPr>
          <a:xfrm>
            <a:off x="850392" y="2221992"/>
            <a:ext cx="329184" cy="329184"/>
          </a:xfrm>
          <a:prstGeom prst="rect">
            <a:avLst/>
          </a:prstGeom>
        </p:spPr>
      </p:pic>
      <p:sp>
        <p:nvSpPr>
          <p:cNvPr id="7" name="C1_ft0"/>
          <p:cNvSpPr txBox="1"/>
          <p:nvPr/>
        </p:nvSpPr>
        <p:spPr>
          <a:xfrm>
            <a:off x="1600200" y="2112264"/>
            <a:ext cx="5852160" cy="548640"/>
          </a:xfrm>
          <a:prstGeom prst="rect">
            <a:avLst/>
          </a:prstGeom>
          <a:noFill/>
          <a:ln/>
        </p:spPr>
        <p:txBody>
          <a:bodyPr wrap="square" lIns="0" tIns="0" rIns="0" bIns="0" rtlCol="0" anchor="ctr"/>
          <a:lstStyle/>
          <a:p>
            <a:pPr indent="0" marL="0">
              <a:buNone/>
            </a:pPr>
            <a:r>
              <a:rPr lang="en-US" sz="1700" dirty="0">
                <a:solidFill>
                  <a:schemeClr val="tx1"/>
                </a:solidFill>
              </a:rPr>
              <a:t>Fitness, musculation et sports de combat</a:t>
            </a:r>
            <a:endParaRPr lang="en-US" sz="1700" dirty="0"/>
          </a:p>
        </p:txBody>
      </p:sp>
      <p:sp>
        <p:nvSpPr>
          <p:cNvPr id="8" name="C1_f1_disc"/>
          <p:cNvSpPr/>
          <p:nvPr/>
        </p:nvSpPr>
        <p:spPr>
          <a:xfrm>
            <a:off x="685800" y="3044952"/>
            <a:ext cx="658368" cy="658368"/>
          </a:xfrm>
          <a:prstGeom prst="ellipse">
            <a:avLst/>
          </a:prstGeom>
          <a:solidFill>
            <a:schemeClr val="bg2"/>
          </a:solidFill>
          <a:ln/>
        </p:spPr>
      </p:sp>
      <p:pic>
        <p:nvPicPr>
          <p:cNvPr id="9" name="C1_f1_ico" descr="preencoded.png">    </p:cNvPr>
          <p:cNvPicPr>
            <a:picLocks noChangeAspect="1"/>
          </p:cNvPicPr>
          <p:nvPr/>
        </p:nvPicPr>
        <p:blipFill>
          <a:blip r:embed="rId2"/>
          <a:stretch>
            <a:fillRect/>
          </a:stretch>
        </p:blipFill>
        <p:spPr>
          <a:xfrm>
            <a:off x="850392" y="3209544"/>
            <a:ext cx="329184" cy="329184"/>
          </a:xfrm>
          <a:prstGeom prst="rect">
            <a:avLst/>
          </a:prstGeom>
        </p:spPr>
      </p:pic>
      <p:sp>
        <p:nvSpPr>
          <p:cNvPr id="10" name="C1_ft1"/>
          <p:cNvSpPr txBox="1"/>
          <p:nvPr/>
        </p:nvSpPr>
        <p:spPr>
          <a:xfrm>
            <a:off x="1600200" y="3099816"/>
            <a:ext cx="5852160" cy="548640"/>
          </a:xfrm>
          <a:prstGeom prst="rect">
            <a:avLst/>
          </a:prstGeom>
          <a:noFill/>
          <a:ln/>
        </p:spPr>
        <p:txBody>
          <a:bodyPr wrap="square" lIns="0" tIns="0" rIns="0" bIns="0" rtlCol="0" anchor="ctr"/>
          <a:lstStyle/>
          <a:p>
            <a:pPr indent="0" marL="0">
              <a:buNone/>
            </a:pPr>
            <a:r>
              <a:rPr lang="en-US" sz="1700" dirty="0">
                <a:solidFill>
                  <a:schemeClr val="tx1"/>
                </a:solidFill>
              </a:rPr>
              <a:t>Implanté à Abobo-Dokui, Abidjan</a:t>
            </a:r>
            <a:endParaRPr lang="en-US" sz="1700" dirty="0"/>
          </a:p>
        </p:txBody>
      </p:sp>
      <p:sp>
        <p:nvSpPr>
          <p:cNvPr id="11" name="C2_f2_disc"/>
          <p:cNvSpPr/>
          <p:nvPr/>
        </p:nvSpPr>
        <p:spPr>
          <a:xfrm>
            <a:off x="685800" y="4032504"/>
            <a:ext cx="658368" cy="658368"/>
          </a:xfrm>
          <a:prstGeom prst="ellipse">
            <a:avLst/>
          </a:prstGeom>
          <a:solidFill>
            <a:schemeClr val="bg2"/>
          </a:solidFill>
          <a:ln/>
        </p:spPr>
      </p:sp>
      <p:pic>
        <p:nvPicPr>
          <p:cNvPr id="12" name="C2_f2_ico" descr="preencoded.png">    </p:cNvPr>
          <p:cNvPicPr>
            <a:picLocks noChangeAspect="1"/>
          </p:cNvPicPr>
          <p:nvPr/>
        </p:nvPicPr>
        <p:blipFill>
          <a:blip r:embed="rId3"/>
          <a:stretch>
            <a:fillRect/>
          </a:stretch>
        </p:blipFill>
        <p:spPr>
          <a:xfrm>
            <a:off x="850392" y="4197096"/>
            <a:ext cx="329184" cy="329184"/>
          </a:xfrm>
          <a:prstGeom prst="rect">
            <a:avLst/>
          </a:prstGeom>
        </p:spPr>
      </p:pic>
      <p:sp>
        <p:nvSpPr>
          <p:cNvPr id="13" name="C2_ft2"/>
          <p:cNvSpPr txBox="1"/>
          <p:nvPr/>
        </p:nvSpPr>
        <p:spPr>
          <a:xfrm>
            <a:off x="1600200" y="4087368"/>
            <a:ext cx="5852160" cy="548640"/>
          </a:xfrm>
          <a:prstGeom prst="rect">
            <a:avLst/>
          </a:prstGeom>
          <a:noFill/>
          <a:ln/>
        </p:spPr>
        <p:txBody>
          <a:bodyPr wrap="square" lIns="0" tIns="0" rIns="0" bIns="0" rtlCol="0" anchor="ctr"/>
          <a:lstStyle/>
          <a:p>
            <a:pPr indent="0" marL="0">
              <a:buNone/>
            </a:pPr>
            <a:r>
              <a:rPr lang="en-US" sz="1700" dirty="0">
                <a:solidFill>
                  <a:schemeClr val="tx1"/>
                </a:solidFill>
              </a:rPr>
              <a:t>Équipements importés des États-Unis</a:t>
            </a:r>
            <a:endParaRPr lang="en-US" sz="1700" dirty="0"/>
          </a:p>
        </p:txBody>
      </p:sp>
      <p:sp>
        <p:nvSpPr>
          <p:cNvPr id="14" name="C2_f3_disc"/>
          <p:cNvSpPr/>
          <p:nvPr/>
        </p:nvSpPr>
        <p:spPr>
          <a:xfrm>
            <a:off x="685800" y="5020056"/>
            <a:ext cx="658368" cy="658368"/>
          </a:xfrm>
          <a:prstGeom prst="ellipse">
            <a:avLst/>
          </a:prstGeom>
          <a:solidFill>
            <a:schemeClr val="bg2"/>
          </a:solidFill>
          <a:ln/>
        </p:spPr>
      </p:sp>
      <p:pic>
        <p:nvPicPr>
          <p:cNvPr id="15" name="C2_f3_ico" descr="preencoded.png">    </p:cNvPr>
          <p:cNvPicPr>
            <a:picLocks noChangeAspect="1"/>
          </p:cNvPicPr>
          <p:nvPr/>
        </p:nvPicPr>
        <p:blipFill>
          <a:blip r:embed="rId4"/>
          <a:stretch>
            <a:fillRect/>
          </a:stretch>
        </p:blipFill>
        <p:spPr>
          <a:xfrm>
            <a:off x="850392" y="5184648"/>
            <a:ext cx="329184" cy="329184"/>
          </a:xfrm>
          <a:prstGeom prst="rect">
            <a:avLst/>
          </a:prstGeom>
        </p:spPr>
      </p:pic>
      <p:sp>
        <p:nvSpPr>
          <p:cNvPr id="16" name="C2_ft3"/>
          <p:cNvSpPr txBox="1"/>
          <p:nvPr/>
        </p:nvSpPr>
        <p:spPr>
          <a:xfrm>
            <a:off x="1600200" y="5074920"/>
            <a:ext cx="5852160" cy="548640"/>
          </a:xfrm>
          <a:prstGeom prst="rect">
            <a:avLst/>
          </a:prstGeom>
          <a:noFill/>
          <a:ln/>
        </p:spPr>
        <p:txBody>
          <a:bodyPr wrap="square" lIns="0" tIns="0" rIns="0" bIns="0" rtlCol="0" anchor="ctr"/>
          <a:lstStyle/>
          <a:p>
            <a:pPr indent="0" marL="0">
              <a:buNone/>
            </a:pPr>
            <a:r>
              <a:rPr lang="en-US" sz="1700" dirty="0">
                <a:solidFill>
                  <a:schemeClr val="tx1"/>
                </a:solidFill>
              </a:rPr>
              <a:t>Dirigé par Djakaria KONATÉ, PDG</a:t>
            </a:r>
            <a:endParaRPr lang="en-US" sz="1700" dirty="0"/>
          </a:p>
        </p:txBody>
      </p:sp>
      <p:pic>
        <p:nvPicPr>
          <p:cNvPr id="17" name="C3_equipe" descr="Affiche de présentation de l'équipe d'American's Gym">    </p:cNvPr>
          <p:cNvPicPr>
            <a:picLocks noChangeAspect="1"/>
          </p:cNvPicPr>
          <p:nvPr/>
        </p:nvPicPr>
        <p:blipFill>
          <a:blip r:embed="rId5"/>
          <a:stretch>
            <a:fillRect/>
          </a:stretch>
        </p:blipFill>
        <p:spPr>
          <a:xfrm>
            <a:off x="8003408" y="1783080"/>
            <a:ext cx="3287023" cy="4389120"/>
          </a:xfrm>
          <a:prstGeom prst="rect">
            <a:avLst/>
          </a:prstGeom>
          <a:effectLst>
            <a:outerShdw sx="100000" sy="100000" kx="0" ky="0" algn="bl" rotWithShape="0" blurRad="177800" dist="50800" dir="5400000">
              <a:srgbClr val="1D3557">
                <a:alpha val="16000"/>
              </a:srgbClr>
            </a:outerShdw>
          </a:effectLst>
        </p:spPr>
      </p:pic>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7"/>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8"/>
                                        </p:tgtEl>
                                        <p:attrNameLst>
                                          <p:attrName>ppt_x</p:attrName>
                                          <p:attrName>ppt_y</p:attrName>
                                        </p:attrNameLst>
                                      </p:cBhvr>
                                    </p:animMotion>
                                  </p:childTnLst>
                                </p:cTn>
                              </p:par>
                              <p:par>
                                <p:cTn id="37" presetID="10" presetClass="entr" presetSubtype="0" accel="0" decel="10000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childTnLst>
                                </p:cTn>
                              </p:par>
                              <p:par>
                                <p:cTn id="40" presetID="0" presetClass="path" presetSubtype="0" accel="0" decel="100000" fill="hold" grpId="1" nodeType="withEffect">
                                  <p:stCondLst>
                                    <p:cond delay="0"/>
                                  </p:stCondLst>
                                  <p:childTnLst>
                                    <p:animMotion origin="layout" path="M 0 0.02778 L 0 0 E" pathEditMode="relative" rAng="0" ptsTypes="AA">
                                      <p:cBhvr>
                                        <p:cTn id="41" dur="500" fill="hold"/>
                                        <p:tgtEl>
                                          <p:spTgt spid="9"/>
                                        </p:tgtEl>
                                        <p:attrNameLst>
                                          <p:attrName>ppt_x</p:attrName>
                                          <p:attrName>ppt_y</p:attrName>
                                        </p:attrNameLst>
                                      </p:cBhvr>
                                    </p:animMotion>
                                  </p:childTnLst>
                                </p:cTn>
                              </p:par>
                              <p:par>
                                <p:cTn id="42" presetID="10" presetClass="entr" presetSubtype="0" accel="0" decel="10000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childTnLst>
                                </p:cTn>
                              </p:par>
                              <p:par>
                                <p:cTn id="45" presetID="0" presetClass="path" presetSubtype="0" accel="0" decel="100000" fill="hold" grpId="1" nodeType="withEffect">
                                  <p:stCondLst>
                                    <p:cond delay="0"/>
                                  </p:stCondLst>
                                  <p:childTnLst>
                                    <p:animMotion origin="layout" path="M 0 0.02778 L 0 0 E" pathEditMode="relative" rAng="0" ptsTypes="AA">
                                      <p:cBhvr>
                                        <p:cTn id="46" dur="500" fill="hold"/>
                                        <p:tgtEl>
                                          <p:spTgt spid="10"/>
                                        </p:tgtEl>
                                        <p:attrNameLst>
                                          <p:attrName>ppt_x</p:attrName>
                                          <p:attrName>ppt_y</p:attrName>
                                        </p:attrNameLst>
                                      </p:cBhvr>
                                    </p:animMotion>
                                  </p:childTnLst>
                                </p:cTn>
                              </p:par>
                            </p:childTnLst>
                          </p:cTn>
                        </p:par>
                      </p:childTnLst>
                    </p:cTn>
                  </p:par>
                  <p:par>
                    <p:cTn id="47" fill="hold">
                      <p:stCondLst>
                        <p:cond delay="indefinite"/>
                      </p:stCondLst>
                      <p:childTnLst>
                        <p:par>
                          <p:cTn id="48" fill="hold">
                            <p:stCondLst>
                              <p:cond delay="0"/>
                            </p:stCondLst>
                            <p:childTnLst>
                              <p:par>
                                <p:cTn id="49" presetID="10" presetClass="entr" presetSubtype="0" accel="0" decel="100000" fill="hold" grpId="0" nodeType="click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childTnLst>
                                </p:cTn>
                              </p:par>
                              <p:par>
                                <p:cTn id="52" presetID="0" presetClass="path" presetSubtype="0" accel="0" decel="100000" fill="hold" grpId="1" nodeType="withEffect">
                                  <p:stCondLst>
                                    <p:cond delay="0"/>
                                  </p:stCondLst>
                                  <p:childTnLst>
                                    <p:animMotion origin="layout" path="M 0 0.02778 L 0 0 E" pathEditMode="relative" rAng="0" ptsTypes="AA">
                                      <p:cBhvr>
                                        <p:cTn id="53" dur="500" fill="hold"/>
                                        <p:tgtEl>
                                          <p:spTgt spid="11"/>
                                        </p:tgtEl>
                                        <p:attrNameLst>
                                          <p:attrName>ppt_x</p:attrName>
                                          <p:attrName>ppt_y</p:attrName>
                                        </p:attrNameLst>
                                      </p:cBhvr>
                                    </p:animMotion>
                                  </p:childTnLst>
                                </p:cTn>
                              </p:par>
                              <p:par>
                                <p:cTn id="54" presetID="10" presetClass="entr" presetSubtype="0" accel="0" decel="10000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par>
                                <p:cTn id="57" presetID="0" presetClass="path" presetSubtype="0" accel="0" decel="100000" fill="hold" grpId="1" nodeType="withEffect">
                                  <p:stCondLst>
                                    <p:cond delay="0"/>
                                  </p:stCondLst>
                                  <p:childTnLst>
                                    <p:animMotion origin="layout" path="M 0 0.02778 L 0 0 E" pathEditMode="relative" rAng="0" ptsTypes="AA">
                                      <p:cBhvr>
                                        <p:cTn id="58" dur="500" fill="hold"/>
                                        <p:tgtEl>
                                          <p:spTgt spid="12"/>
                                        </p:tgtEl>
                                        <p:attrNameLst>
                                          <p:attrName>ppt_x</p:attrName>
                                          <p:attrName>ppt_y</p:attrName>
                                        </p:attrNameLst>
                                      </p:cBhvr>
                                    </p:animMotion>
                                  </p:childTnLst>
                                </p:cTn>
                              </p:par>
                              <p:par>
                                <p:cTn id="59" presetID="10" presetClass="entr" presetSubtype="0" accel="0" decel="10000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500"/>
                                        <p:tgtEl>
                                          <p:spTgt spid="13"/>
                                        </p:tgtEl>
                                      </p:cBhvr>
                                    </p:animEffect>
                                  </p:childTnLst>
                                </p:cTn>
                              </p:par>
                              <p:par>
                                <p:cTn id="62" presetID="0" presetClass="path" presetSubtype="0" accel="0" decel="100000" fill="hold" grpId="1" nodeType="withEffect">
                                  <p:stCondLst>
                                    <p:cond delay="0"/>
                                  </p:stCondLst>
                                  <p:childTnLst>
                                    <p:animMotion origin="layout" path="M 0 0.02778 L 0 0 E" pathEditMode="relative" rAng="0" ptsTypes="AA">
                                      <p:cBhvr>
                                        <p:cTn id="63" dur="500" fill="hold"/>
                                        <p:tgtEl>
                                          <p:spTgt spid="13"/>
                                        </p:tgtEl>
                                        <p:attrNameLst>
                                          <p:attrName>ppt_x</p:attrName>
                                          <p:attrName>ppt_y</p:attrName>
                                        </p:attrNameLst>
                                      </p:cBhvr>
                                    </p:animMotion>
                                  </p:childTnLst>
                                </p:cTn>
                              </p:par>
                              <p:par>
                                <p:cTn id="64" presetID="10" presetClass="entr" presetSubtype="0" accel="0" decel="10000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500"/>
                                        <p:tgtEl>
                                          <p:spTgt spid="14"/>
                                        </p:tgtEl>
                                      </p:cBhvr>
                                    </p:animEffect>
                                  </p:childTnLst>
                                </p:cTn>
                              </p:par>
                              <p:par>
                                <p:cTn id="67" presetID="0" presetClass="path" presetSubtype="0" accel="0" decel="100000" fill="hold" grpId="1" nodeType="withEffect">
                                  <p:stCondLst>
                                    <p:cond delay="0"/>
                                  </p:stCondLst>
                                  <p:childTnLst>
                                    <p:animMotion origin="layout" path="M 0 0.02778 L 0 0 E" pathEditMode="relative" rAng="0" ptsTypes="AA">
                                      <p:cBhvr>
                                        <p:cTn id="68" dur="500" fill="hold"/>
                                        <p:tgtEl>
                                          <p:spTgt spid="14"/>
                                        </p:tgtEl>
                                        <p:attrNameLst>
                                          <p:attrName>ppt_x</p:attrName>
                                          <p:attrName>ppt_y</p:attrName>
                                        </p:attrNameLst>
                                      </p:cBhvr>
                                    </p:animMotion>
                                  </p:childTnLst>
                                </p:cTn>
                              </p:par>
                              <p:par>
                                <p:cTn id="69" presetID="10" presetClass="entr" presetSubtype="0" accel="0" decel="10000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500"/>
                                        <p:tgtEl>
                                          <p:spTgt spid="15"/>
                                        </p:tgtEl>
                                      </p:cBhvr>
                                    </p:animEffect>
                                  </p:childTnLst>
                                </p:cTn>
                              </p:par>
                              <p:par>
                                <p:cTn id="72" presetID="0" presetClass="path" presetSubtype="0" accel="0" decel="100000" fill="hold" grpId="1" nodeType="withEffect">
                                  <p:stCondLst>
                                    <p:cond delay="0"/>
                                  </p:stCondLst>
                                  <p:childTnLst>
                                    <p:animMotion origin="layout" path="M 0 0.02778 L 0 0 E" pathEditMode="relative" rAng="0" ptsTypes="AA">
                                      <p:cBhvr>
                                        <p:cTn id="73" dur="500" fill="hold"/>
                                        <p:tgtEl>
                                          <p:spTgt spid="15"/>
                                        </p:tgtEl>
                                        <p:attrNameLst>
                                          <p:attrName>ppt_x</p:attrName>
                                          <p:attrName>ppt_y</p:attrName>
                                        </p:attrNameLst>
                                      </p:cBhvr>
                                    </p:animMotion>
                                  </p:childTnLst>
                                </p:cTn>
                              </p:par>
                              <p:par>
                                <p:cTn id="74" presetID="10" presetClass="entr" presetSubtype="0" accel="0" decel="10000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500"/>
                                        <p:tgtEl>
                                          <p:spTgt spid="16"/>
                                        </p:tgtEl>
                                      </p:cBhvr>
                                    </p:animEffect>
                                  </p:childTnLst>
                                </p:cTn>
                              </p:par>
                              <p:par>
                                <p:cTn id="77" presetID="0" presetClass="path" presetSubtype="0" accel="0" decel="100000" fill="hold" grpId="1" nodeType="withEffect">
                                  <p:stCondLst>
                                    <p:cond delay="0"/>
                                  </p:stCondLst>
                                  <p:childTnLst>
                                    <p:animMotion origin="layout" path="M 0 0.02778 L 0 0 E" pathEditMode="relative" rAng="0" ptsTypes="AA">
                                      <p:cBhvr>
                                        <p:cTn id="78" dur="500" fill="hold"/>
                                        <p:tgtEl>
                                          <p:spTgt spid="16"/>
                                        </p:tgtEl>
                                        <p:attrNameLst>
                                          <p:attrName>ppt_x</p:attrName>
                                          <p:attrName>ppt_y</p:attrName>
                                        </p:attrNameLst>
                                      </p:cBhvr>
                                    </p:animMotion>
                                  </p:childTnLst>
                                </p:cTn>
                              </p:par>
                            </p:childTnLst>
                          </p:cTn>
                        </p:par>
                      </p:childTnLst>
                    </p:cTn>
                  </p:par>
                  <p:par>
                    <p:cTn id="79" fill="hold">
                      <p:stCondLst>
                        <p:cond delay="indefinite"/>
                      </p:stCondLst>
                      <p:childTnLst>
                        <p:par>
                          <p:cTn id="80" fill="hold">
                            <p:stCondLst>
                              <p:cond delay="0"/>
                            </p:stCondLst>
                            <p:childTnLst>
                              <p:par>
                                <p:cTn id="81" presetID="10" presetClass="entr" presetSubtype="0" accel="0" decel="100000" fill="hold" grpId="0" nodeType="clickEffect">
                                  <p:stCondLst>
                                    <p:cond delay="0"/>
                                  </p:stCondLst>
                                  <p:childTnLst>
                                    <p:set>
                                      <p:cBhvr>
                                        <p:cTn id="82" dur="1" fill="hold">
                                          <p:stCondLst>
                                            <p:cond delay="0"/>
                                          </p:stCondLst>
                                        </p:cTn>
                                        <p:tgtEl>
                                          <p:spTgt spid="17"/>
                                        </p:tgtEl>
                                        <p:attrNameLst>
                                          <p:attrName>style.visibility</p:attrName>
                                        </p:attrNameLst>
                                      </p:cBhvr>
                                      <p:to>
                                        <p:strVal val="visible"/>
                                      </p:to>
                                    </p:set>
                                    <p:animEffect transition="in" filter="fade">
                                      <p:cBhvr>
                                        <p:cTn id="83" dur="500"/>
                                        <p:tgtEl>
                                          <p:spTgt spid="17"/>
                                        </p:tgtEl>
                                      </p:cBhvr>
                                    </p:animEffect>
                                  </p:childTnLst>
                                </p:cTn>
                              </p:par>
                              <p:par>
                                <p:cTn id="84" presetID="0" presetClass="path" presetSubtype="0" accel="0" decel="100000" fill="hold" grpId="1" nodeType="withEffect">
                                  <p:stCondLst>
                                    <p:cond delay="0"/>
                                  </p:stCondLst>
                                  <p:childTnLst>
                                    <p:animMotion origin="layout" path="M 0 0.02778 L 0 0 E" pathEditMode="relative" rAng="0" ptsTypes="AA">
                                      <p:cBhvr>
                                        <p:cTn id="85" dur="500" fill="hold"/>
                                        <p:tgtEl>
                                          <p:spTgt spid="17"/>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7" grpId="0" animBg="1"/>
      <p:bldP spid="7" grpId="1" animBg="1"/>
      <p:bldP spid="10" grpId="0" animBg="1"/>
      <p:bldP spid="10" grpId="1" animBg="1"/>
      <p:bldP spid="13" grpId="0" animBg="1"/>
      <p:bldP spid="13" grpId="1" animBg="1"/>
      <p:bldP spid="16" grpId="0" animBg="1"/>
      <p:bldP spid="16"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02  ·  LES SERVICES</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Une offre diversifiée et inclusive</a:t>
            </a:r>
            <a:endParaRPr lang="en-US" sz="3000" dirty="0"/>
          </a:p>
        </p:txBody>
      </p:sp>
      <p:sp>
        <p:nvSpPr>
          <p:cNvPr id="5" name="C1_card0"/>
          <p:cNvSpPr/>
          <p:nvPr/>
        </p:nvSpPr>
        <p:spPr>
          <a:xfrm>
            <a:off x="685800" y="2011680"/>
            <a:ext cx="5250028" cy="1691640"/>
          </a:xfrm>
          <a:prstGeom prst="roundRect">
            <a:avLst>
              <a:gd name="adj" fmla="val 6486"/>
            </a:avLst>
          </a:prstGeom>
          <a:solidFill>
            <a:schemeClr val="bg2"/>
          </a:solidFill>
          <a:ln/>
        </p:spPr>
      </p:sp>
      <p:sp>
        <p:nvSpPr>
          <p:cNvPr id="6" name="C1_i0_disc"/>
          <p:cNvSpPr/>
          <p:nvPr/>
        </p:nvSpPr>
        <p:spPr>
          <a:xfrm>
            <a:off x="1051560" y="2441448"/>
            <a:ext cx="822960" cy="822960"/>
          </a:xfrm>
          <a:prstGeom prst="ellipse">
            <a:avLst/>
          </a:prstGeom>
          <a:solidFill>
            <a:schemeClr val="tx1"/>
          </a:solidFill>
          <a:ln/>
        </p:spPr>
      </p:sp>
      <p:pic>
        <p:nvPicPr>
          <p:cNvPr id="7" name="C1_i0_ico" descr="preencoded.png">    </p:cNvPr>
          <p:cNvPicPr>
            <a:picLocks noChangeAspect="1"/>
          </p:cNvPicPr>
          <p:nvPr/>
        </p:nvPicPr>
        <p:blipFill>
          <a:blip r:embed="rId1"/>
          <a:stretch>
            <a:fillRect/>
          </a:stretch>
        </p:blipFill>
        <p:spPr>
          <a:xfrm>
            <a:off x="1257300" y="2647188"/>
            <a:ext cx="411480" cy="411480"/>
          </a:xfrm>
          <a:prstGeom prst="rect">
            <a:avLst/>
          </a:prstGeom>
        </p:spPr>
      </p:pic>
      <p:sp>
        <p:nvSpPr>
          <p:cNvPr id="8" name="C1_t0"/>
          <p:cNvSpPr txBox="1"/>
          <p:nvPr/>
        </p:nvSpPr>
        <p:spPr>
          <a:xfrm>
            <a:off x="2194560" y="2377440"/>
            <a:ext cx="3375508" cy="960120"/>
          </a:xfrm>
          <a:prstGeom prst="rect">
            <a:avLst/>
          </a:prstGeom>
          <a:noFill/>
          <a:ln/>
        </p:spPr>
        <p:txBody>
          <a:bodyPr wrap="square" lIns="0" tIns="0" rIns="0" bIns="0" rtlCol="0" anchor="ctr"/>
          <a:lstStyle/>
          <a:p>
            <a:pPr indent="0" marL="0">
              <a:buNone/>
            </a:pPr>
            <a:r>
              <a:rPr lang="en-US" sz="1800" b="1" dirty="0">
                <a:solidFill>
                  <a:schemeClr val="tx1"/>
                </a:solidFill>
              </a:rPr>
              <a:t>Musculation et fitness</a:t>
            </a:r>
            <a:endParaRPr lang="en-US" sz="1800" dirty="0"/>
          </a:p>
        </p:txBody>
      </p:sp>
      <p:sp>
        <p:nvSpPr>
          <p:cNvPr id="9" name="C1_card1"/>
          <p:cNvSpPr/>
          <p:nvPr/>
        </p:nvSpPr>
        <p:spPr>
          <a:xfrm>
            <a:off x="6255868" y="2011680"/>
            <a:ext cx="5250028" cy="1691640"/>
          </a:xfrm>
          <a:prstGeom prst="roundRect">
            <a:avLst>
              <a:gd name="adj" fmla="val 6486"/>
            </a:avLst>
          </a:prstGeom>
          <a:solidFill>
            <a:schemeClr val="bg2"/>
          </a:solidFill>
          <a:ln/>
        </p:spPr>
      </p:sp>
      <p:sp>
        <p:nvSpPr>
          <p:cNvPr id="10" name="C1_i1_disc"/>
          <p:cNvSpPr/>
          <p:nvPr/>
        </p:nvSpPr>
        <p:spPr>
          <a:xfrm>
            <a:off x="6621628" y="2441448"/>
            <a:ext cx="822960" cy="822960"/>
          </a:xfrm>
          <a:prstGeom prst="ellipse">
            <a:avLst/>
          </a:prstGeom>
          <a:solidFill>
            <a:schemeClr val="tx1"/>
          </a:solidFill>
          <a:ln/>
        </p:spPr>
      </p:sp>
      <p:pic>
        <p:nvPicPr>
          <p:cNvPr id="11" name="C1_i1_ico" descr="preencoded.png">    </p:cNvPr>
          <p:cNvPicPr>
            <a:picLocks noChangeAspect="1"/>
          </p:cNvPicPr>
          <p:nvPr/>
        </p:nvPicPr>
        <p:blipFill>
          <a:blip r:embed="rId2"/>
          <a:stretch>
            <a:fillRect/>
          </a:stretch>
        </p:blipFill>
        <p:spPr>
          <a:xfrm>
            <a:off x="6827368" y="2647188"/>
            <a:ext cx="411480" cy="411480"/>
          </a:xfrm>
          <a:prstGeom prst="rect">
            <a:avLst/>
          </a:prstGeom>
        </p:spPr>
      </p:pic>
      <p:sp>
        <p:nvSpPr>
          <p:cNvPr id="12" name="C1_t1"/>
          <p:cNvSpPr txBox="1"/>
          <p:nvPr/>
        </p:nvSpPr>
        <p:spPr>
          <a:xfrm>
            <a:off x="7764628" y="2377440"/>
            <a:ext cx="3375508" cy="960120"/>
          </a:xfrm>
          <a:prstGeom prst="rect">
            <a:avLst/>
          </a:prstGeom>
          <a:noFill/>
          <a:ln/>
        </p:spPr>
        <p:txBody>
          <a:bodyPr wrap="square" lIns="0" tIns="0" rIns="0" bIns="0" rtlCol="0" anchor="ctr"/>
          <a:lstStyle/>
          <a:p>
            <a:pPr indent="0" marL="0">
              <a:buNone/>
            </a:pPr>
            <a:r>
              <a:rPr lang="en-US" sz="1800" b="1" dirty="0">
                <a:solidFill>
                  <a:schemeClr val="tx1"/>
                </a:solidFill>
              </a:rPr>
              <a:t>Boxe et taekwondo</a:t>
            </a:r>
            <a:endParaRPr lang="en-US" sz="1800" dirty="0"/>
          </a:p>
        </p:txBody>
      </p:sp>
      <p:sp>
        <p:nvSpPr>
          <p:cNvPr id="13" name="C1_card2"/>
          <p:cNvSpPr/>
          <p:nvPr/>
        </p:nvSpPr>
        <p:spPr>
          <a:xfrm>
            <a:off x="685800" y="3977640"/>
            <a:ext cx="5250028" cy="1691640"/>
          </a:xfrm>
          <a:prstGeom prst="roundRect">
            <a:avLst>
              <a:gd name="adj" fmla="val 6486"/>
            </a:avLst>
          </a:prstGeom>
          <a:solidFill>
            <a:schemeClr val="bg2"/>
          </a:solidFill>
          <a:ln/>
        </p:spPr>
      </p:sp>
      <p:sp>
        <p:nvSpPr>
          <p:cNvPr id="14" name="C1_i2_disc"/>
          <p:cNvSpPr/>
          <p:nvPr/>
        </p:nvSpPr>
        <p:spPr>
          <a:xfrm>
            <a:off x="1051560" y="4407408"/>
            <a:ext cx="822960" cy="822960"/>
          </a:xfrm>
          <a:prstGeom prst="ellipse">
            <a:avLst/>
          </a:prstGeom>
          <a:solidFill>
            <a:schemeClr val="accent1"/>
          </a:solidFill>
          <a:ln/>
        </p:spPr>
      </p:sp>
      <p:pic>
        <p:nvPicPr>
          <p:cNvPr id="15" name="C1_i2_ico" descr="preencoded.png">    </p:cNvPr>
          <p:cNvPicPr>
            <a:picLocks noChangeAspect="1"/>
          </p:cNvPicPr>
          <p:nvPr/>
        </p:nvPicPr>
        <p:blipFill>
          <a:blip r:embed="rId3"/>
          <a:stretch>
            <a:fillRect/>
          </a:stretch>
        </p:blipFill>
        <p:spPr>
          <a:xfrm>
            <a:off x="1257300" y="4613148"/>
            <a:ext cx="411480" cy="411480"/>
          </a:xfrm>
          <a:prstGeom prst="rect">
            <a:avLst/>
          </a:prstGeom>
        </p:spPr>
      </p:pic>
      <p:sp>
        <p:nvSpPr>
          <p:cNvPr id="16" name="C1_t2"/>
          <p:cNvSpPr txBox="1"/>
          <p:nvPr/>
        </p:nvSpPr>
        <p:spPr>
          <a:xfrm>
            <a:off x="2194560" y="4343400"/>
            <a:ext cx="3375508" cy="960120"/>
          </a:xfrm>
          <a:prstGeom prst="rect">
            <a:avLst/>
          </a:prstGeom>
          <a:noFill/>
          <a:ln/>
        </p:spPr>
        <p:txBody>
          <a:bodyPr wrap="square" lIns="0" tIns="0" rIns="0" bIns="0" rtlCol="0" anchor="ctr"/>
          <a:lstStyle/>
          <a:p>
            <a:pPr indent="0" marL="0">
              <a:buNone/>
            </a:pPr>
            <a:r>
              <a:rPr lang="en-US" sz="1800" b="1" dirty="0">
                <a:solidFill>
                  <a:schemeClr val="tx1"/>
                </a:solidFill>
              </a:rPr>
              <a:t>Séances dédiées aux femmes voilées</a:t>
            </a:r>
            <a:endParaRPr lang="en-US" sz="1800" dirty="0"/>
          </a:p>
        </p:txBody>
      </p:sp>
      <p:sp>
        <p:nvSpPr>
          <p:cNvPr id="17" name="C1_card3"/>
          <p:cNvSpPr/>
          <p:nvPr/>
        </p:nvSpPr>
        <p:spPr>
          <a:xfrm>
            <a:off x="6255868" y="3977640"/>
            <a:ext cx="5250028" cy="1691640"/>
          </a:xfrm>
          <a:prstGeom prst="roundRect">
            <a:avLst>
              <a:gd name="adj" fmla="val 6486"/>
            </a:avLst>
          </a:prstGeom>
          <a:solidFill>
            <a:schemeClr val="bg2"/>
          </a:solidFill>
          <a:ln/>
        </p:spPr>
      </p:sp>
      <p:sp>
        <p:nvSpPr>
          <p:cNvPr id="18" name="C1_i3_disc"/>
          <p:cNvSpPr/>
          <p:nvPr/>
        </p:nvSpPr>
        <p:spPr>
          <a:xfrm>
            <a:off x="6621628" y="4407408"/>
            <a:ext cx="822960" cy="822960"/>
          </a:xfrm>
          <a:prstGeom prst="ellipse">
            <a:avLst/>
          </a:prstGeom>
          <a:solidFill>
            <a:schemeClr val="tx1"/>
          </a:solidFill>
          <a:ln/>
        </p:spPr>
      </p:sp>
      <p:pic>
        <p:nvPicPr>
          <p:cNvPr id="19" name="C1_i3_ico" descr="preencoded.png">    </p:cNvPr>
          <p:cNvPicPr>
            <a:picLocks noChangeAspect="1"/>
          </p:cNvPicPr>
          <p:nvPr/>
        </p:nvPicPr>
        <p:blipFill>
          <a:blip r:embed="rId4"/>
          <a:stretch>
            <a:fillRect/>
          </a:stretch>
        </p:blipFill>
        <p:spPr>
          <a:xfrm>
            <a:off x="6827368" y="4613148"/>
            <a:ext cx="411480" cy="411480"/>
          </a:xfrm>
          <a:prstGeom prst="rect">
            <a:avLst/>
          </a:prstGeom>
        </p:spPr>
      </p:pic>
      <p:sp>
        <p:nvSpPr>
          <p:cNvPr id="20" name="C1_t3"/>
          <p:cNvSpPr txBox="1"/>
          <p:nvPr/>
        </p:nvSpPr>
        <p:spPr>
          <a:xfrm>
            <a:off x="7764628" y="4343400"/>
            <a:ext cx="3375508" cy="960120"/>
          </a:xfrm>
          <a:prstGeom prst="rect">
            <a:avLst/>
          </a:prstGeom>
          <a:noFill/>
          <a:ln/>
        </p:spPr>
        <p:txBody>
          <a:bodyPr wrap="square" lIns="0" tIns="0" rIns="0" bIns="0" rtlCol="0" anchor="ctr"/>
          <a:lstStyle/>
          <a:p>
            <a:pPr indent="0" marL="0">
              <a:buNone/>
            </a:pPr>
            <a:r>
              <a:rPr lang="en-US" sz="1800" b="1" dirty="0">
                <a:solidFill>
                  <a:schemeClr val="tx1"/>
                </a:solidFill>
              </a:rPr>
              <a:t>Compléments et soins</a:t>
            </a:r>
            <a:endParaRPr lang="en-US" sz="18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7"/>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8"/>
                                        </p:tgtEl>
                                        <p:attrNameLst>
                                          <p:attrName>ppt_x</p:attrName>
                                          <p:attrName>ppt_y</p:attrName>
                                        </p:attrNameLst>
                                      </p:cBhvr>
                                    </p:animMotion>
                                  </p:childTnLst>
                                </p:cTn>
                              </p:par>
                              <p:par>
                                <p:cTn id="37" presetID="10" presetClass="entr" presetSubtype="0" accel="0" decel="10000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childTnLst>
                                </p:cTn>
                              </p:par>
                              <p:par>
                                <p:cTn id="40" presetID="0" presetClass="path" presetSubtype="0" accel="0" decel="100000" fill="hold" grpId="1" nodeType="withEffect">
                                  <p:stCondLst>
                                    <p:cond delay="0"/>
                                  </p:stCondLst>
                                  <p:childTnLst>
                                    <p:animMotion origin="layout" path="M 0 0.02778 L 0 0 E" pathEditMode="relative" rAng="0" ptsTypes="AA">
                                      <p:cBhvr>
                                        <p:cTn id="41" dur="500" fill="hold"/>
                                        <p:tgtEl>
                                          <p:spTgt spid="9"/>
                                        </p:tgtEl>
                                        <p:attrNameLst>
                                          <p:attrName>ppt_x</p:attrName>
                                          <p:attrName>ppt_y</p:attrName>
                                        </p:attrNameLst>
                                      </p:cBhvr>
                                    </p:animMotion>
                                  </p:childTnLst>
                                </p:cTn>
                              </p:par>
                              <p:par>
                                <p:cTn id="42" presetID="10" presetClass="entr" presetSubtype="0" accel="0" decel="10000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childTnLst>
                                </p:cTn>
                              </p:par>
                              <p:par>
                                <p:cTn id="45" presetID="0" presetClass="path" presetSubtype="0" accel="0" decel="100000" fill="hold" grpId="1" nodeType="withEffect">
                                  <p:stCondLst>
                                    <p:cond delay="0"/>
                                  </p:stCondLst>
                                  <p:childTnLst>
                                    <p:animMotion origin="layout" path="M 0 0.02778 L 0 0 E" pathEditMode="relative" rAng="0" ptsTypes="AA">
                                      <p:cBhvr>
                                        <p:cTn id="46" dur="500" fill="hold"/>
                                        <p:tgtEl>
                                          <p:spTgt spid="10"/>
                                        </p:tgtEl>
                                        <p:attrNameLst>
                                          <p:attrName>ppt_x</p:attrName>
                                          <p:attrName>ppt_y</p:attrName>
                                        </p:attrNameLst>
                                      </p:cBhvr>
                                    </p:animMotion>
                                  </p:childTnLst>
                                </p:cTn>
                              </p:par>
                              <p:par>
                                <p:cTn id="47" presetID="10" presetClass="entr" presetSubtype="0" accel="0" decel="10000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childTnLst>
                                </p:cTn>
                              </p:par>
                              <p:par>
                                <p:cTn id="50" presetID="0" presetClass="path" presetSubtype="0" accel="0" decel="100000" fill="hold" grpId="1" nodeType="withEffect">
                                  <p:stCondLst>
                                    <p:cond delay="0"/>
                                  </p:stCondLst>
                                  <p:childTnLst>
                                    <p:animMotion origin="layout" path="M 0 0.02778 L 0 0 E" pathEditMode="relative" rAng="0" ptsTypes="AA">
                                      <p:cBhvr>
                                        <p:cTn id="51" dur="500" fill="hold"/>
                                        <p:tgtEl>
                                          <p:spTgt spid="11"/>
                                        </p:tgtEl>
                                        <p:attrNameLst>
                                          <p:attrName>ppt_x</p:attrName>
                                          <p:attrName>ppt_y</p:attrName>
                                        </p:attrNameLst>
                                      </p:cBhvr>
                                    </p:animMotion>
                                  </p:childTnLst>
                                </p:cTn>
                              </p:par>
                              <p:par>
                                <p:cTn id="52" presetID="10" presetClass="entr" presetSubtype="0" accel="0" decel="10000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p:tgtEl>
                                          <p:spTgt spid="12"/>
                                        </p:tgtEl>
                                      </p:cBhvr>
                                    </p:animEffect>
                                  </p:childTnLst>
                                </p:cTn>
                              </p:par>
                              <p:par>
                                <p:cTn id="55" presetID="0" presetClass="path" presetSubtype="0" accel="0" decel="100000" fill="hold" grpId="1" nodeType="withEffect">
                                  <p:stCondLst>
                                    <p:cond delay="0"/>
                                  </p:stCondLst>
                                  <p:childTnLst>
                                    <p:animMotion origin="layout" path="M 0 0.02778 L 0 0 E" pathEditMode="relative" rAng="0" ptsTypes="AA">
                                      <p:cBhvr>
                                        <p:cTn id="56" dur="500" fill="hold"/>
                                        <p:tgtEl>
                                          <p:spTgt spid="12"/>
                                        </p:tgtEl>
                                        <p:attrNameLst>
                                          <p:attrName>ppt_x</p:attrName>
                                          <p:attrName>ppt_y</p:attrName>
                                        </p:attrNameLst>
                                      </p:cBhvr>
                                    </p:animMotion>
                                  </p:childTnLst>
                                </p:cTn>
                              </p:par>
                              <p:par>
                                <p:cTn id="57" presetID="10" presetClass="entr" presetSubtype="0" accel="0" decel="10000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p:tgtEl>
                                          <p:spTgt spid="13"/>
                                        </p:tgtEl>
                                      </p:cBhvr>
                                    </p:animEffect>
                                  </p:childTnLst>
                                </p:cTn>
                              </p:par>
                              <p:par>
                                <p:cTn id="60" presetID="0" presetClass="path" presetSubtype="0" accel="0" decel="100000" fill="hold" grpId="1" nodeType="withEffect">
                                  <p:stCondLst>
                                    <p:cond delay="0"/>
                                  </p:stCondLst>
                                  <p:childTnLst>
                                    <p:animMotion origin="layout" path="M 0 0.02778 L 0 0 E" pathEditMode="relative" rAng="0" ptsTypes="AA">
                                      <p:cBhvr>
                                        <p:cTn id="61" dur="500" fill="hold"/>
                                        <p:tgtEl>
                                          <p:spTgt spid="13"/>
                                        </p:tgtEl>
                                        <p:attrNameLst>
                                          <p:attrName>ppt_x</p:attrName>
                                          <p:attrName>ppt_y</p:attrName>
                                        </p:attrNameLst>
                                      </p:cBhvr>
                                    </p:animMotion>
                                  </p:childTnLst>
                                </p:cTn>
                              </p:par>
                              <p:par>
                                <p:cTn id="62" presetID="10" presetClass="entr" presetSubtype="0" accel="0" decel="10000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500"/>
                                        <p:tgtEl>
                                          <p:spTgt spid="14"/>
                                        </p:tgtEl>
                                      </p:cBhvr>
                                    </p:animEffect>
                                  </p:childTnLst>
                                </p:cTn>
                              </p:par>
                              <p:par>
                                <p:cTn id="65" presetID="0" presetClass="path" presetSubtype="0" accel="0" decel="100000" fill="hold" grpId="1" nodeType="withEffect">
                                  <p:stCondLst>
                                    <p:cond delay="0"/>
                                  </p:stCondLst>
                                  <p:childTnLst>
                                    <p:animMotion origin="layout" path="M 0 0.02778 L 0 0 E" pathEditMode="relative" rAng="0" ptsTypes="AA">
                                      <p:cBhvr>
                                        <p:cTn id="66" dur="500" fill="hold"/>
                                        <p:tgtEl>
                                          <p:spTgt spid="14"/>
                                        </p:tgtEl>
                                        <p:attrNameLst>
                                          <p:attrName>ppt_x</p:attrName>
                                          <p:attrName>ppt_y</p:attrName>
                                        </p:attrNameLst>
                                      </p:cBhvr>
                                    </p:animMotion>
                                  </p:childTnLst>
                                </p:cTn>
                              </p:par>
                              <p:par>
                                <p:cTn id="67" presetID="10" presetClass="entr" presetSubtype="0" accel="0" decel="10000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500"/>
                                        <p:tgtEl>
                                          <p:spTgt spid="15"/>
                                        </p:tgtEl>
                                      </p:cBhvr>
                                    </p:animEffect>
                                  </p:childTnLst>
                                </p:cTn>
                              </p:par>
                              <p:par>
                                <p:cTn id="70" presetID="0" presetClass="path" presetSubtype="0" accel="0" decel="100000" fill="hold" grpId="1" nodeType="withEffect">
                                  <p:stCondLst>
                                    <p:cond delay="0"/>
                                  </p:stCondLst>
                                  <p:childTnLst>
                                    <p:animMotion origin="layout" path="M 0 0.02778 L 0 0 E" pathEditMode="relative" rAng="0" ptsTypes="AA">
                                      <p:cBhvr>
                                        <p:cTn id="71" dur="500" fill="hold"/>
                                        <p:tgtEl>
                                          <p:spTgt spid="15"/>
                                        </p:tgtEl>
                                        <p:attrNameLst>
                                          <p:attrName>ppt_x</p:attrName>
                                          <p:attrName>ppt_y</p:attrName>
                                        </p:attrNameLst>
                                      </p:cBhvr>
                                    </p:animMotion>
                                  </p:childTnLst>
                                </p:cTn>
                              </p:par>
                              <p:par>
                                <p:cTn id="72" presetID="10" presetClass="entr" presetSubtype="0" accel="0" decel="10000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500"/>
                                        <p:tgtEl>
                                          <p:spTgt spid="16"/>
                                        </p:tgtEl>
                                      </p:cBhvr>
                                    </p:animEffect>
                                  </p:childTnLst>
                                </p:cTn>
                              </p:par>
                              <p:par>
                                <p:cTn id="75" presetID="0" presetClass="path" presetSubtype="0" accel="0" decel="100000" fill="hold" grpId="1" nodeType="withEffect">
                                  <p:stCondLst>
                                    <p:cond delay="0"/>
                                  </p:stCondLst>
                                  <p:childTnLst>
                                    <p:animMotion origin="layout" path="M 0 0.02778 L 0 0 E" pathEditMode="relative" rAng="0" ptsTypes="AA">
                                      <p:cBhvr>
                                        <p:cTn id="76" dur="500" fill="hold"/>
                                        <p:tgtEl>
                                          <p:spTgt spid="16"/>
                                        </p:tgtEl>
                                        <p:attrNameLst>
                                          <p:attrName>ppt_x</p:attrName>
                                          <p:attrName>ppt_y</p:attrName>
                                        </p:attrNameLst>
                                      </p:cBhvr>
                                    </p:animMotion>
                                  </p:childTnLst>
                                </p:cTn>
                              </p:par>
                              <p:par>
                                <p:cTn id="77" presetID="10" presetClass="entr" presetSubtype="0" accel="0" decel="10000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500"/>
                                        <p:tgtEl>
                                          <p:spTgt spid="17"/>
                                        </p:tgtEl>
                                      </p:cBhvr>
                                    </p:animEffect>
                                  </p:childTnLst>
                                </p:cTn>
                              </p:par>
                              <p:par>
                                <p:cTn id="80" presetID="0" presetClass="path" presetSubtype="0" accel="0" decel="100000" fill="hold" grpId="1" nodeType="withEffect">
                                  <p:stCondLst>
                                    <p:cond delay="0"/>
                                  </p:stCondLst>
                                  <p:childTnLst>
                                    <p:animMotion origin="layout" path="M 0 0.02778 L 0 0 E" pathEditMode="relative" rAng="0" ptsTypes="AA">
                                      <p:cBhvr>
                                        <p:cTn id="81" dur="500" fill="hold"/>
                                        <p:tgtEl>
                                          <p:spTgt spid="17"/>
                                        </p:tgtEl>
                                        <p:attrNameLst>
                                          <p:attrName>ppt_x</p:attrName>
                                          <p:attrName>ppt_y</p:attrName>
                                        </p:attrNameLst>
                                      </p:cBhvr>
                                    </p:animMotion>
                                  </p:childTnLst>
                                </p:cTn>
                              </p:par>
                              <p:par>
                                <p:cTn id="82" presetID="10" presetClass="entr" presetSubtype="0" accel="0" decel="100000" fill="hold" grpId="0" nodeType="withEffect">
                                  <p:stCondLst>
                                    <p:cond delay="0"/>
                                  </p:stCondLst>
                                  <p:childTnLst>
                                    <p:set>
                                      <p:cBhvr>
                                        <p:cTn id="83" dur="1" fill="hold">
                                          <p:stCondLst>
                                            <p:cond delay="0"/>
                                          </p:stCondLst>
                                        </p:cTn>
                                        <p:tgtEl>
                                          <p:spTgt spid="18"/>
                                        </p:tgtEl>
                                        <p:attrNameLst>
                                          <p:attrName>style.visibility</p:attrName>
                                        </p:attrNameLst>
                                      </p:cBhvr>
                                      <p:to>
                                        <p:strVal val="visible"/>
                                      </p:to>
                                    </p:set>
                                    <p:animEffect transition="in" filter="fade">
                                      <p:cBhvr>
                                        <p:cTn id="84" dur="500"/>
                                        <p:tgtEl>
                                          <p:spTgt spid="18"/>
                                        </p:tgtEl>
                                      </p:cBhvr>
                                    </p:animEffect>
                                  </p:childTnLst>
                                </p:cTn>
                              </p:par>
                              <p:par>
                                <p:cTn id="85" presetID="0" presetClass="path" presetSubtype="0" accel="0" decel="100000" fill="hold" grpId="1" nodeType="withEffect">
                                  <p:stCondLst>
                                    <p:cond delay="0"/>
                                  </p:stCondLst>
                                  <p:childTnLst>
                                    <p:animMotion origin="layout" path="M 0 0.02778 L 0 0 E" pathEditMode="relative" rAng="0" ptsTypes="AA">
                                      <p:cBhvr>
                                        <p:cTn id="86" dur="500" fill="hold"/>
                                        <p:tgtEl>
                                          <p:spTgt spid="18"/>
                                        </p:tgtEl>
                                        <p:attrNameLst>
                                          <p:attrName>ppt_x</p:attrName>
                                          <p:attrName>ppt_y</p:attrName>
                                        </p:attrNameLst>
                                      </p:cBhvr>
                                    </p:animMotion>
                                  </p:childTnLst>
                                </p:cTn>
                              </p:par>
                              <p:par>
                                <p:cTn id="87" presetID="10" presetClass="entr" presetSubtype="0" accel="0" decel="100000" fill="hold" grpId="0" nodeType="withEffect">
                                  <p:stCondLst>
                                    <p:cond delay="0"/>
                                  </p:stCondLst>
                                  <p:childTnLst>
                                    <p:set>
                                      <p:cBhvr>
                                        <p:cTn id="88" dur="1" fill="hold">
                                          <p:stCondLst>
                                            <p:cond delay="0"/>
                                          </p:stCondLst>
                                        </p:cTn>
                                        <p:tgtEl>
                                          <p:spTgt spid="19"/>
                                        </p:tgtEl>
                                        <p:attrNameLst>
                                          <p:attrName>style.visibility</p:attrName>
                                        </p:attrNameLst>
                                      </p:cBhvr>
                                      <p:to>
                                        <p:strVal val="visible"/>
                                      </p:to>
                                    </p:set>
                                    <p:animEffect transition="in" filter="fade">
                                      <p:cBhvr>
                                        <p:cTn id="89" dur="500"/>
                                        <p:tgtEl>
                                          <p:spTgt spid="19"/>
                                        </p:tgtEl>
                                      </p:cBhvr>
                                    </p:animEffect>
                                  </p:childTnLst>
                                </p:cTn>
                              </p:par>
                              <p:par>
                                <p:cTn id="90" presetID="0" presetClass="path" presetSubtype="0" accel="0" decel="100000" fill="hold" grpId="1" nodeType="withEffect">
                                  <p:stCondLst>
                                    <p:cond delay="0"/>
                                  </p:stCondLst>
                                  <p:childTnLst>
                                    <p:animMotion origin="layout" path="M 0 0.02778 L 0 0 E" pathEditMode="relative" rAng="0" ptsTypes="AA">
                                      <p:cBhvr>
                                        <p:cTn id="91" dur="500" fill="hold"/>
                                        <p:tgtEl>
                                          <p:spTgt spid="19"/>
                                        </p:tgtEl>
                                        <p:attrNameLst>
                                          <p:attrName>ppt_x</p:attrName>
                                          <p:attrName>ppt_y</p:attrName>
                                        </p:attrNameLst>
                                      </p:cBhvr>
                                    </p:animMotion>
                                  </p:childTnLst>
                                </p:cTn>
                              </p:par>
                              <p:par>
                                <p:cTn id="92" presetID="10" presetClass="entr" presetSubtype="0" accel="0" decel="100000" fill="hold" grpId="0" nodeType="withEffect">
                                  <p:stCondLst>
                                    <p:cond delay="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500"/>
                                        <p:tgtEl>
                                          <p:spTgt spid="20"/>
                                        </p:tgtEl>
                                      </p:cBhvr>
                                    </p:animEffect>
                                  </p:childTnLst>
                                </p:cTn>
                              </p:par>
                              <p:par>
                                <p:cTn id="95" presetID="0" presetClass="path" presetSubtype="0" accel="0" decel="100000" fill="hold" grpId="1" nodeType="withEffect">
                                  <p:stCondLst>
                                    <p:cond delay="0"/>
                                  </p:stCondLst>
                                  <p:childTnLst>
                                    <p:animMotion origin="layout" path="M 0 0.02778 L 0 0 E" pathEditMode="relative" rAng="0" ptsTypes="AA">
                                      <p:cBhvr>
                                        <p:cTn id="96" dur="500" fill="hold"/>
                                        <p:tgtEl>
                                          <p:spTgt spid="2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8" grpId="0" animBg="1"/>
      <p:bldP spid="8" grpId="1" animBg="1"/>
      <p:bldP spid="12" grpId="0" animBg="1"/>
      <p:bldP spid="12" grpId="1" animBg="1"/>
      <p:bldP spid="16" grpId="0" animBg="1"/>
      <p:bldP spid="16" grpId="1" animBg="1"/>
      <p:bldP spid="20" grpId="0" animBg="1"/>
      <p:bldP spid="20"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02  ·  CANAUX DIGITAUX</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Une présence numérique déjà active</a:t>
            </a:r>
            <a:endParaRPr lang="en-US" sz="3000" dirty="0"/>
          </a:p>
        </p:txBody>
      </p:sp>
      <p:sp>
        <p:nvSpPr>
          <p:cNvPr id="5" name="C1_sn0"/>
          <p:cNvSpPr txBox="1"/>
          <p:nvPr/>
        </p:nvSpPr>
        <p:spPr>
          <a:xfrm>
            <a:off x="685800" y="2011680"/>
            <a:ext cx="5120640" cy="731520"/>
          </a:xfrm>
          <a:prstGeom prst="rect">
            <a:avLst/>
          </a:prstGeom>
          <a:noFill/>
          <a:ln/>
        </p:spPr>
        <p:txBody>
          <a:bodyPr wrap="square" lIns="0" tIns="0" rIns="0" bIns="0" rtlCol="0" anchor="t"/>
          <a:lstStyle/>
          <a:p>
            <a:pPr indent="0" marL="0">
              <a:buNone/>
            </a:pPr>
            <a:r>
              <a:rPr lang="en-US" sz="4000" dirty="0">
                <a:solidFill>
                  <a:schemeClr val="accent1"/>
                </a:solidFill>
                <a:latin typeface="Poppins ExtraBold" pitchFamily="34" charset="0"/>
                <a:ea typeface="Poppins ExtraBold" pitchFamily="34" charset="-122"/>
                <a:cs typeface="Poppins ExtraBold" pitchFamily="34" charset="-120"/>
              </a:rPr>
              <a:t>≈ 1 300</a:t>
            </a:r>
            <a:endParaRPr lang="en-US" sz="4000" dirty="0"/>
          </a:p>
        </p:txBody>
      </p:sp>
      <p:sp>
        <p:nvSpPr>
          <p:cNvPr id="6" name="C1_sl0"/>
          <p:cNvSpPr txBox="1"/>
          <p:nvPr/>
        </p:nvSpPr>
        <p:spPr>
          <a:xfrm>
            <a:off x="685800" y="2724912"/>
            <a:ext cx="5120640" cy="365760"/>
          </a:xfrm>
          <a:prstGeom prst="rect">
            <a:avLst/>
          </a:prstGeom>
          <a:noFill/>
          <a:ln/>
        </p:spPr>
        <p:txBody>
          <a:bodyPr wrap="square" lIns="0" tIns="0" rIns="0" bIns="0" rtlCol="0" anchor="t"/>
          <a:lstStyle/>
          <a:p>
            <a:pPr indent="0" marL="0">
              <a:buNone/>
            </a:pPr>
            <a:r>
              <a:rPr lang="en-US" sz="1500" dirty="0">
                <a:solidFill>
                  <a:schemeClr val="tx2"/>
                </a:solidFill>
              </a:rPr>
              <a:t>abonnés sur Facebook</a:t>
            </a:r>
            <a:endParaRPr lang="en-US" sz="1500" dirty="0"/>
          </a:p>
        </p:txBody>
      </p:sp>
      <p:sp>
        <p:nvSpPr>
          <p:cNvPr id="7" name="C1_sn1"/>
          <p:cNvSpPr txBox="1"/>
          <p:nvPr/>
        </p:nvSpPr>
        <p:spPr>
          <a:xfrm>
            <a:off x="685800" y="3383280"/>
            <a:ext cx="5120640" cy="731520"/>
          </a:xfrm>
          <a:prstGeom prst="rect">
            <a:avLst/>
          </a:prstGeom>
          <a:noFill/>
          <a:ln/>
        </p:spPr>
        <p:txBody>
          <a:bodyPr wrap="square" lIns="0" tIns="0" rIns="0" bIns="0" rtlCol="0" anchor="t"/>
          <a:lstStyle/>
          <a:p>
            <a:pPr indent="0" marL="0">
              <a:buNone/>
            </a:pPr>
            <a:r>
              <a:rPr lang="en-US" sz="4000" dirty="0">
                <a:solidFill>
                  <a:schemeClr val="accent1"/>
                </a:solidFill>
                <a:latin typeface="Poppins ExtraBold" pitchFamily="34" charset="0"/>
                <a:ea typeface="Poppins ExtraBold" pitchFamily="34" charset="-122"/>
                <a:cs typeface="Poppins ExtraBold" pitchFamily="34" charset="-120"/>
              </a:rPr>
              <a:t>27 900</a:t>
            </a:r>
            <a:endParaRPr lang="en-US" sz="4000" dirty="0"/>
          </a:p>
        </p:txBody>
      </p:sp>
      <p:sp>
        <p:nvSpPr>
          <p:cNvPr id="8" name="C1_sl1"/>
          <p:cNvSpPr txBox="1"/>
          <p:nvPr/>
        </p:nvSpPr>
        <p:spPr>
          <a:xfrm>
            <a:off x="685800" y="4096512"/>
            <a:ext cx="5120640" cy="365760"/>
          </a:xfrm>
          <a:prstGeom prst="rect">
            <a:avLst/>
          </a:prstGeom>
          <a:noFill/>
          <a:ln/>
        </p:spPr>
        <p:txBody>
          <a:bodyPr wrap="square" lIns="0" tIns="0" rIns="0" bIns="0" rtlCol="0" anchor="t"/>
          <a:lstStyle/>
          <a:p>
            <a:pPr indent="0" marL="0">
              <a:buNone/>
            </a:pPr>
            <a:r>
              <a:rPr lang="en-US" sz="1500" dirty="0">
                <a:solidFill>
                  <a:schemeClr val="tx2"/>
                </a:solidFill>
              </a:rPr>
              <a:t>mentions « J’aime » sur TikTok</a:t>
            </a:r>
            <a:endParaRPr lang="en-US" sz="1500" dirty="0"/>
          </a:p>
        </p:txBody>
      </p:sp>
      <p:sp>
        <p:nvSpPr>
          <p:cNvPr id="9" name="C1_sn2"/>
          <p:cNvSpPr txBox="1"/>
          <p:nvPr/>
        </p:nvSpPr>
        <p:spPr>
          <a:xfrm>
            <a:off x="685800" y="4754880"/>
            <a:ext cx="5120640" cy="731520"/>
          </a:xfrm>
          <a:prstGeom prst="rect">
            <a:avLst/>
          </a:prstGeom>
          <a:noFill/>
          <a:ln/>
        </p:spPr>
        <p:txBody>
          <a:bodyPr wrap="square" lIns="0" tIns="0" rIns="0" bIns="0" rtlCol="0" anchor="t"/>
          <a:lstStyle/>
          <a:p>
            <a:pPr indent="0" marL="0">
              <a:buNone/>
            </a:pPr>
            <a:r>
              <a:rPr lang="en-US" sz="4000" dirty="0">
                <a:solidFill>
                  <a:schemeClr val="tx1"/>
                </a:solidFill>
                <a:latin typeface="Poppins ExtraBold" pitchFamily="34" charset="0"/>
                <a:ea typeface="Poppins ExtraBold" pitchFamily="34" charset="-122"/>
                <a:cs typeface="Poppins ExtraBold" pitchFamily="34" charset="-120"/>
              </a:rPr>
              <a:t>Shopify</a:t>
            </a:r>
            <a:endParaRPr lang="en-US" sz="4000" dirty="0"/>
          </a:p>
        </p:txBody>
      </p:sp>
      <p:sp>
        <p:nvSpPr>
          <p:cNvPr id="10" name="C1_sl2"/>
          <p:cNvSpPr txBox="1"/>
          <p:nvPr/>
        </p:nvSpPr>
        <p:spPr>
          <a:xfrm>
            <a:off x="685800" y="5468112"/>
            <a:ext cx="5120640" cy="365760"/>
          </a:xfrm>
          <a:prstGeom prst="rect">
            <a:avLst/>
          </a:prstGeom>
          <a:noFill/>
          <a:ln/>
        </p:spPr>
        <p:txBody>
          <a:bodyPr wrap="square" lIns="0" tIns="0" rIns="0" bIns="0" rtlCol="0" anchor="t"/>
          <a:lstStyle/>
          <a:p>
            <a:pPr indent="0" marL="0">
              <a:buNone/>
            </a:pPr>
            <a:r>
              <a:rPr lang="en-US" sz="1500" dirty="0">
                <a:solidFill>
                  <a:schemeClr val="tx2"/>
                </a:solidFill>
              </a:rPr>
              <a:t>boutique en ligne</a:t>
            </a:r>
            <a:endParaRPr lang="en-US" sz="1500" dirty="0"/>
          </a:p>
        </p:txBody>
      </p:sp>
      <p:pic>
        <p:nvPicPr>
          <p:cNvPr id="11" name="C2_tiktok" descr="Capture du compte TikTok">    </p:cNvPr>
          <p:cNvPicPr>
            <a:picLocks noChangeAspect="1"/>
          </p:cNvPicPr>
          <p:nvPr/>
        </p:nvPicPr>
        <p:blipFill>
          <a:blip r:embed="rId1"/>
          <a:stretch>
            <a:fillRect/>
          </a:stretch>
        </p:blipFill>
        <p:spPr>
          <a:xfrm>
            <a:off x="6400800" y="2435818"/>
            <a:ext cx="2423160" cy="3037925"/>
          </a:xfrm>
          <a:prstGeom prst="rect">
            <a:avLst/>
          </a:prstGeom>
          <a:effectLst>
            <a:outerShdw sx="100000" sy="100000" kx="0" ky="0" algn="bl" rotWithShape="0" blurRad="177800" dist="50800" dir="5400000">
              <a:srgbClr val="1D3557">
                <a:alpha val="16000"/>
              </a:srgbClr>
            </a:outerShdw>
          </a:effectLst>
        </p:spPr>
      </p:pic>
      <p:pic>
        <p:nvPicPr>
          <p:cNvPr id="12" name="C2_facebook" descr="Capture de la page Facebook">    </p:cNvPr>
          <p:cNvPicPr>
            <a:picLocks noChangeAspect="1"/>
          </p:cNvPicPr>
          <p:nvPr/>
        </p:nvPicPr>
        <p:blipFill>
          <a:blip r:embed="rId2"/>
          <a:stretch>
            <a:fillRect/>
          </a:stretch>
        </p:blipFill>
        <p:spPr>
          <a:xfrm>
            <a:off x="9052560" y="2431330"/>
            <a:ext cx="2423160" cy="3046899"/>
          </a:xfrm>
          <a:prstGeom prst="rect">
            <a:avLst/>
          </a:prstGeom>
          <a:effectLst>
            <a:outerShdw sx="100000" sy="100000" kx="0" ky="0" algn="bl" rotWithShape="0" blurRad="177800" dist="50800" dir="5400000">
              <a:srgbClr val="1D3557">
                <a:alpha val="16000"/>
              </a:srgbClr>
            </a:outerShdw>
          </a:effectLst>
        </p:spPr>
      </p:pic>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7"/>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8"/>
                                        </p:tgtEl>
                                        <p:attrNameLst>
                                          <p:attrName>ppt_x</p:attrName>
                                          <p:attrName>ppt_y</p:attrName>
                                        </p:attrNameLst>
                                      </p:cBhvr>
                                    </p:animMotion>
                                  </p:childTnLst>
                                </p:cTn>
                              </p:par>
                              <p:par>
                                <p:cTn id="37" presetID="10" presetClass="entr" presetSubtype="0" accel="0" decel="10000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childTnLst>
                                </p:cTn>
                              </p:par>
                              <p:par>
                                <p:cTn id="40" presetID="0" presetClass="path" presetSubtype="0" accel="0" decel="100000" fill="hold" grpId="1" nodeType="withEffect">
                                  <p:stCondLst>
                                    <p:cond delay="0"/>
                                  </p:stCondLst>
                                  <p:childTnLst>
                                    <p:animMotion origin="layout" path="M 0 0.02778 L 0 0 E" pathEditMode="relative" rAng="0" ptsTypes="AA">
                                      <p:cBhvr>
                                        <p:cTn id="41" dur="500" fill="hold"/>
                                        <p:tgtEl>
                                          <p:spTgt spid="9"/>
                                        </p:tgtEl>
                                        <p:attrNameLst>
                                          <p:attrName>ppt_x</p:attrName>
                                          <p:attrName>ppt_y</p:attrName>
                                        </p:attrNameLst>
                                      </p:cBhvr>
                                    </p:animMotion>
                                  </p:childTnLst>
                                </p:cTn>
                              </p:par>
                              <p:par>
                                <p:cTn id="42" presetID="10" presetClass="entr" presetSubtype="0" accel="0" decel="10000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childTnLst>
                                </p:cTn>
                              </p:par>
                              <p:par>
                                <p:cTn id="45" presetID="0" presetClass="path" presetSubtype="0" accel="0" decel="100000" fill="hold" grpId="1" nodeType="withEffect">
                                  <p:stCondLst>
                                    <p:cond delay="0"/>
                                  </p:stCondLst>
                                  <p:childTnLst>
                                    <p:animMotion origin="layout" path="M 0 0.02778 L 0 0 E" pathEditMode="relative" rAng="0" ptsTypes="AA">
                                      <p:cBhvr>
                                        <p:cTn id="46" dur="500" fill="hold"/>
                                        <p:tgtEl>
                                          <p:spTgt spid="10"/>
                                        </p:tgtEl>
                                        <p:attrNameLst>
                                          <p:attrName>ppt_x</p:attrName>
                                          <p:attrName>ppt_y</p:attrName>
                                        </p:attrNameLst>
                                      </p:cBhvr>
                                    </p:animMotion>
                                  </p:childTnLst>
                                </p:cTn>
                              </p:par>
                            </p:childTnLst>
                          </p:cTn>
                        </p:par>
                      </p:childTnLst>
                    </p:cTn>
                  </p:par>
                  <p:par>
                    <p:cTn id="47" fill="hold">
                      <p:stCondLst>
                        <p:cond delay="indefinite"/>
                      </p:stCondLst>
                      <p:childTnLst>
                        <p:par>
                          <p:cTn id="48" fill="hold">
                            <p:stCondLst>
                              <p:cond delay="0"/>
                            </p:stCondLst>
                            <p:childTnLst>
                              <p:par>
                                <p:cTn id="49" presetID="10" presetClass="entr" presetSubtype="0" accel="0" decel="100000" fill="hold" grpId="0" nodeType="click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childTnLst>
                                </p:cTn>
                              </p:par>
                              <p:par>
                                <p:cTn id="52" presetID="0" presetClass="path" presetSubtype="0" accel="0" decel="100000" fill="hold" grpId="1" nodeType="withEffect">
                                  <p:stCondLst>
                                    <p:cond delay="0"/>
                                  </p:stCondLst>
                                  <p:childTnLst>
                                    <p:animMotion origin="layout" path="M 0 0.02778 L 0 0 E" pathEditMode="relative" rAng="0" ptsTypes="AA">
                                      <p:cBhvr>
                                        <p:cTn id="53" dur="500" fill="hold"/>
                                        <p:tgtEl>
                                          <p:spTgt spid="11"/>
                                        </p:tgtEl>
                                        <p:attrNameLst>
                                          <p:attrName>ppt_x</p:attrName>
                                          <p:attrName>ppt_y</p:attrName>
                                        </p:attrNameLst>
                                      </p:cBhvr>
                                    </p:animMotion>
                                  </p:childTnLst>
                                </p:cTn>
                              </p:par>
                              <p:par>
                                <p:cTn id="54" presetID="10" presetClass="entr" presetSubtype="0" accel="0" decel="10000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par>
                                <p:cTn id="57" presetID="0" presetClass="path" presetSubtype="0" accel="0" decel="100000" fill="hold" grpId="1" nodeType="withEffect">
                                  <p:stCondLst>
                                    <p:cond delay="0"/>
                                  </p:stCondLst>
                                  <p:childTnLst>
                                    <p:animMotion origin="layout" path="M 0 0.02778 L 0 0 E" pathEditMode="relative" rAng="0" ptsTypes="AA">
                                      <p:cBhvr>
                                        <p:cTn id="58" dur="5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5" grpId="0" animBg="1"/>
      <p:bldP spid="5" grpId="1" animBg="1"/>
      <p:bldP spid="6" grpId="0" animBg="1"/>
      <p:bldP spid="6" grpId="1" animBg="1"/>
      <p:bldP spid="7" grpId="0" animBg="1"/>
      <p:bldP spid="7" grpId="1" animBg="1"/>
      <p:bldP spid="8" grpId="0" animBg="1"/>
      <p:bldP spid="8" grpId="1" animBg="1"/>
      <p:bldP spid="9" grpId="0" animBg="1"/>
      <p:bldP spid="9" grpId="1" animBg="1"/>
      <p:bldP spid="10" grpId="0" animBg="1"/>
      <p:bldP spid="10"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02  ·  CRITIQUE DE L’EXISTANT</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Une image de marque fragilisée</a:t>
            </a:r>
            <a:endParaRPr lang="en-US" sz="3000" dirty="0"/>
          </a:p>
        </p:txBody>
      </p:sp>
      <p:pic>
        <p:nvPicPr>
          <p:cNvPr id="5" name="C1_logo" descr="Logo existant avec la mention DOKUI">    </p:cNvPr>
          <p:cNvPicPr>
            <a:picLocks noChangeAspect="1"/>
          </p:cNvPicPr>
          <p:nvPr/>
        </p:nvPicPr>
        <p:blipFill>
          <a:blip r:embed="rId1"/>
          <a:stretch>
            <a:fillRect/>
          </a:stretch>
        </p:blipFill>
        <p:spPr>
          <a:xfrm>
            <a:off x="685800" y="2105702"/>
            <a:ext cx="3566160" cy="3012356"/>
          </a:xfrm>
          <a:prstGeom prst="rect">
            <a:avLst/>
          </a:prstGeom>
          <a:effectLst>
            <a:outerShdw sx="100000" sy="100000" kx="0" ky="0" algn="bl" rotWithShape="0" blurRad="177800" dist="50800" dir="5400000">
              <a:srgbClr val="1D3557">
                <a:alpha val="16000"/>
              </a:srgbClr>
            </a:outerShdw>
          </a:effectLst>
        </p:spPr>
      </p:pic>
      <p:sp>
        <p:nvSpPr>
          <p:cNvPr id="6" name="C1_cap"/>
          <p:cNvSpPr txBox="1"/>
          <p:nvPr/>
        </p:nvSpPr>
        <p:spPr>
          <a:xfrm>
            <a:off x="685800" y="5440680"/>
            <a:ext cx="3566160" cy="274320"/>
          </a:xfrm>
          <a:prstGeom prst="rect">
            <a:avLst/>
          </a:prstGeom>
          <a:noFill/>
          <a:ln/>
        </p:spPr>
        <p:txBody>
          <a:bodyPr wrap="square" lIns="0" tIns="0" rIns="0" bIns="0" rtlCol="0" anchor="t"/>
          <a:lstStyle/>
          <a:p>
            <a:pPr algn="l" indent="0" marL="0">
              <a:buNone/>
            </a:pPr>
            <a:r>
              <a:rPr lang="en-US" sz="1100" dirty="0">
                <a:solidFill>
                  <a:schemeClr val="accent4"/>
                </a:solidFill>
              </a:rPr>
              <a:t>Logo existant, mention « DOKUI » ajoutée</a:t>
            </a:r>
            <a:endParaRPr lang="en-US" sz="1100" dirty="0"/>
          </a:p>
        </p:txBody>
      </p:sp>
      <p:sp>
        <p:nvSpPr>
          <p:cNvPr id="7" name="C2_n"/>
          <p:cNvSpPr txBox="1"/>
          <p:nvPr/>
        </p:nvSpPr>
        <p:spPr>
          <a:xfrm>
            <a:off x="4846320" y="1965960"/>
            <a:ext cx="640080" cy="457200"/>
          </a:xfrm>
          <a:prstGeom prst="rect">
            <a:avLst/>
          </a:prstGeom>
          <a:noFill/>
          <a:ln/>
        </p:spPr>
        <p:txBody>
          <a:bodyPr wrap="square" lIns="0" tIns="0" rIns="0" bIns="0" rtlCol="0" anchor="t"/>
          <a:lstStyle/>
          <a:p>
            <a:pPr indent="0" marL="0">
              <a:buNone/>
            </a:pPr>
            <a:r>
              <a:rPr lang="en-US" sz="1800" dirty="0">
                <a:solidFill>
                  <a:schemeClr val="accent1"/>
                </a:solidFill>
                <a:latin typeface="Poppins ExtraBold" pitchFamily="34" charset="0"/>
                <a:ea typeface="Poppins ExtraBold" pitchFamily="34" charset="-122"/>
                <a:cs typeface="Poppins ExtraBold" pitchFamily="34" charset="-120"/>
              </a:rPr>
              <a:t>01</a:t>
            </a:r>
            <a:endParaRPr lang="en-US" sz="1800" dirty="0"/>
          </a:p>
        </p:txBody>
      </p:sp>
      <p:sp>
        <p:nvSpPr>
          <p:cNvPr id="8" name="C2_t"/>
          <p:cNvSpPr txBox="1"/>
          <p:nvPr/>
        </p:nvSpPr>
        <p:spPr>
          <a:xfrm>
            <a:off x="5532120" y="1984248"/>
            <a:ext cx="5943600" cy="822960"/>
          </a:xfrm>
          <a:prstGeom prst="rect">
            <a:avLst/>
          </a:prstGeom>
          <a:noFill/>
          <a:ln/>
        </p:spPr>
        <p:txBody>
          <a:bodyPr wrap="square" lIns="0" tIns="0" rIns="0" bIns="0" rtlCol="0" anchor="t"/>
          <a:lstStyle/>
          <a:p>
            <a:pPr indent="0" marL="0">
              <a:buNone/>
            </a:pPr>
            <a:r>
              <a:rPr lang="en-US" sz="1700" dirty="0">
                <a:solidFill>
                  <a:schemeClr val="tx1"/>
                </a:solidFill>
              </a:rPr>
              <a:t>Logo décliné sans respect de la charte</a:t>
            </a:r>
            <a:endParaRPr lang="en-US" sz="1700" dirty="0"/>
          </a:p>
        </p:txBody>
      </p:sp>
      <p:sp>
        <p:nvSpPr>
          <p:cNvPr id="9" name="C3_n"/>
          <p:cNvSpPr txBox="1"/>
          <p:nvPr/>
        </p:nvSpPr>
        <p:spPr>
          <a:xfrm>
            <a:off x="4846320" y="2990088"/>
            <a:ext cx="640080" cy="457200"/>
          </a:xfrm>
          <a:prstGeom prst="rect">
            <a:avLst/>
          </a:prstGeom>
          <a:noFill/>
          <a:ln/>
        </p:spPr>
        <p:txBody>
          <a:bodyPr wrap="square" lIns="0" tIns="0" rIns="0" bIns="0" rtlCol="0" anchor="t"/>
          <a:lstStyle/>
          <a:p>
            <a:pPr indent="0" marL="0">
              <a:buNone/>
            </a:pPr>
            <a:r>
              <a:rPr lang="en-US" sz="1800" dirty="0">
                <a:solidFill>
                  <a:schemeClr val="accent1"/>
                </a:solidFill>
                <a:latin typeface="Poppins ExtraBold" pitchFamily="34" charset="0"/>
                <a:ea typeface="Poppins ExtraBold" pitchFamily="34" charset="-122"/>
                <a:cs typeface="Poppins ExtraBold" pitchFamily="34" charset="-120"/>
              </a:rPr>
              <a:t>02</a:t>
            </a:r>
            <a:endParaRPr lang="en-US" sz="1800" dirty="0"/>
          </a:p>
        </p:txBody>
      </p:sp>
      <p:sp>
        <p:nvSpPr>
          <p:cNvPr id="10" name="C3_t"/>
          <p:cNvSpPr txBox="1"/>
          <p:nvPr/>
        </p:nvSpPr>
        <p:spPr>
          <a:xfrm>
            <a:off x="5532120" y="3008376"/>
            <a:ext cx="5943600" cy="822960"/>
          </a:xfrm>
          <a:prstGeom prst="rect">
            <a:avLst/>
          </a:prstGeom>
          <a:noFill/>
          <a:ln/>
        </p:spPr>
        <p:txBody>
          <a:bodyPr wrap="square" lIns="0" tIns="0" rIns="0" bIns="0" rtlCol="0" anchor="t"/>
          <a:lstStyle/>
          <a:p>
            <a:pPr indent="0" marL="0">
              <a:buNone/>
            </a:pPr>
            <a:r>
              <a:rPr lang="en-US" sz="1700" dirty="0">
                <a:solidFill>
                  <a:schemeClr val="tx1"/>
                </a:solidFill>
              </a:rPr>
              <a:t>Visuels promotionnels sans code couleur commun</a:t>
            </a:r>
            <a:endParaRPr lang="en-US" sz="1700" dirty="0"/>
          </a:p>
        </p:txBody>
      </p:sp>
      <p:sp>
        <p:nvSpPr>
          <p:cNvPr id="11" name="C4_n"/>
          <p:cNvSpPr txBox="1"/>
          <p:nvPr/>
        </p:nvSpPr>
        <p:spPr>
          <a:xfrm>
            <a:off x="4846320" y="4014216"/>
            <a:ext cx="640080" cy="457200"/>
          </a:xfrm>
          <a:prstGeom prst="rect">
            <a:avLst/>
          </a:prstGeom>
          <a:noFill/>
          <a:ln/>
        </p:spPr>
        <p:txBody>
          <a:bodyPr wrap="square" lIns="0" tIns="0" rIns="0" bIns="0" rtlCol="0" anchor="t"/>
          <a:lstStyle/>
          <a:p>
            <a:pPr indent="0" marL="0">
              <a:buNone/>
            </a:pPr>
            <a:r>
              <a:rPr lang="en-US" sz="1800" dirty="0">
                <a:solidFill>
                  <a:schemeClr val="accent1"/>
                </a:solidFill>
                <a:latin typeface="Poppins ExtraBold" pitchFamily="34" charset="0"/>
                <a:ea typeface="Poppins ExtraBold" pitchFamily="34" charset="-122"/>
                <a:cs typeface="Poppins ExtraBold" pitchFamily="34" charset="-120"/>
              </a:rPr>
              <a:t>03</a:t>
            </a:r>
            <a:endParaRPr lang="en-US" sz="1800" dirty="0"/>
          </a:p>
        </p:txBody>
      </p:sp>
      <p:sp>
        <p:nvSpPr>
          <p:cNvPr id="12" name="C4_t"/>
          <p:cNvSpPr txBox="1"/>
          <p:nvPr/>
        </p:nvSpPr>
        <p:spPr>
          <a:xfrm>
            <a:off x="5532120" y="4032504"/>
            <a:ext cx="5943600" cy="822960"/>
          </a:xfrm>
          <a:prstGeom prst="rect">
            <a:avLst/>
          </a:prstGeom>
          <a:noFill/>
          <a:ln/>
        </p:spPr>
        <p:txBody>
          <a:bodyPr wrap="square" lIns="0" tIns="0" rIns="0" bIns="0" rtlCol="0" anchor="t"/>
          <a:lstStyle/>
          <a:p>
            <a:pPr indent="0" marL="0">
              <a:buNone/>
            </a:pPr>
            <a:r>
              <a:rPr lang="en-US" sz="1700" dirty="0">
                <a:solidFill>
                  <a:schemeClr val="tx1"/>
                </a:solidFill>
              </a:rPr>
              <a:t>Lien boutique non personnalisé, identifiant TikTok mal orthographié</a:t>
            </a:r>
            <a:endParaRPr lang="en-US" sz="1700" dirty="0"/>
          </a:p>
        </p:txBody>
      </p:sp>
      <p:sp>
        <p:nvSpPr>
          <p:cNvPr id="13" name="C5_n"/>
          <p:cNvSpPr txBox="1"/>
          <p:nvPr/>
        </p:nvSpPr>
        <p:spPr>
          <a:xfrm>
            <a:off x="4846320" y="5038344"/>
            <a:ext cx="640080" cy="457200"/>
          </a:xfrm>
          <a:prstGeom prst="rect">
            <a:avLst/>
          </a:prstGeom>
          <a:noFill/>
          <a:ln/>
        </p:spPr>
        <p:txBody>
          <a:bodyPr wrap="square" lIns="0" tIns="0" rIns="0" bIns="0" rtlCol="0" anchor="t"/>
          <a:lstStyle/>
          <a:p>
            <a:pPr indent="0" marL="0">
              <a:buNone/>
            </a:pPr>
            <a:r>
              <a:rPr lang="en-US" sz="1800" dirty="0">
                <a:solidFill>
                  <a:schemeClr val="accent1"/>
                </a:solidFill>
                <a:latin typeface="Poppins ExtraBold" pitchFamily="34" charset="0"/>
                <a:ea typeface="Poppins ExtraBold" pitchFamily="34" charset="-122"/>
                <a:cs typeface="Poppins ExtraBold" pitchFamily="34" charset="-120"/>
              </a:rPr>
              <a:t>04</a:t>
            </a:r>
            <a:endParaRPr lang="en-US" sz="1800" dirty="0"/>
          </a:p>
        </p:txBody>
      </p:sp>
      <p:sp>
        <p:nvSpPr>
          <p:cNvPr id="14" name="C5_t"/>
          <p:cNvSpPr txBox="1"/>
          <p:nvPr/>
        </p:nvSpPr>
        <p:spPr>
          <a:xfrm>
            <a:off x="5532120" y="5056632"/>
            <a:ext cx="5943600" cy="822960"/>
          </a:xfrm>
          <a:prstGeom prst="rect">
            <a:avLst/>
          </a:prstGeom>
          <a:noFill/>
          <a:ln/>
        </p:spPr>
        <p:txBody>
          <a:bodyPr wrap="square" lIns="0" tIns="0" rIns="0" bIns="0" rtlCol="0" anchor="t"/>
          <a:lstStyle/>
          <a:p>
            <a:pPr indent="0" marL="0">
              <a:buNone/>
            </a:pPr>
            <a:r>
              <a:rPr lang="en-US" sz="1700" dirty="0">
                <a:solidFill>
                  <a:schemeClr val="tx1"/>
                </a:solidFill>
              </a:rPr>
              <a:t>Ligne éditoriale confuse, vidéos brutes</a:t>
            </a:r>
            <a:endParaRPr lang="en-US" sz="17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10" presetClass="entr" presetSubtype="0" accel="0" decel="10000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par>
                                <p:cTn id="32" presetID="0" presetClass="path" presetSubtype="0" accel="0" decel="100000" fill="hold" grpId="1" nodeType="withEffect">
                                  <p:stCondLst>
                                    <p:cond delay="0"/>
                                  </p:stCondLst>
                                  <p:childTnLst>
                                    <p:animMotion origin="layout" path="M 0 0.02778 L 0 0 E" pathEditMode="relative" rAng="0" ptsTypes="AA">
                                      <p:cBhvr>
                                        <p:cTn id="33" dur="500" fill="hold"/>
                                        <p:tgtEl>
                                          <p:spTgt spid="7"/>
                                        </p:tgtEl>
                                        <p:attrNameLst>
                                          <p:attrName>ppt_x</p:attrName>
                                          <p:attrName>ppt_y</p:attrName>
                                        </p:attrNameLst>
                                      </p:cBhvr>
                                    </p:animMotion>
                                  </p:childTnLst>
                                </p:cTn>
                              </p:par>
                              <p:par>
                                <p:cTn id="34" presetID="10" presetClass="entr" presetSubtype="0" accel="0" decel="10000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par>
                                <p:cTn id="37" presetID="0" presetClass="path" presetSubtype="0" accel="0" decel="100000" fill="hold" grpId="1" nodeType="withEffect">
                                  <p:stCondLst>
                                    <p:cond delay="0"/>
                                  </p:stCondLst>
                                  <p:childTnLst>
                                    <p:animMotion origin="layout" path="M 0 0.02778 L 0 0 E" pathEditMode="relative" rAng="0" ptsTypes="AA">
                                      <p:cBhvr>
                                        <p:cTn id="38" dur="500" fill="hold"/>
                                        <p:tgtEl>
                                          <p:spTgt spid="8"/>
                                        </p:tgtEl>
                                        <p:attrNameLst>
                                          <p:attrName>ppt_x</p:attrName>
                                          <p:attrName>ppt_y</p:attrName>
                                        </p:attrNameLst>
                                      </p:cBhvr>
                                    </p:animMotion>
                                  </p:childTnLst>
                                </p:cTn>
                              </p:par>
                            </p:childTnLst>
                          </p:cTn>
                        </p:par>
                      </p:childTnLst>
                    </p:cTn>
                  </p:par>
                  <p:par>
                    <p:cTn id="39" fill="hold">
                      <p:stCondLst>
                        <p:cond delay="indefinite"/>
                      </p:stCondLst>
                      <p:childTnLst>
                        <p:par>
                          <p:cTn id="40" fill="hold">
                            <p:stCondLst>
                              <p:cond delay="0"/>
                            </p:stCondLst>
                            <p:childTnLst>
                              <p:par>
                                <p:cTn id="41" presetID="10" presetClass="entr" presetSubtype="0" accel="0" decel="100000" fill="hold" grpId="0" nodeType="click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fade">
                                      <p:cBhvr>
                                        <p:cTn id="43" dur="500"/>
                                        <p:tgtEl>
                                          <p:spTgt spid="9"/>
                                        </p:tgtEl>
                                      </p:cBhvr>
                                    </p:animEffect>
                                  </p:childTnLst>
                                </p:cTn>
                              </p:par>
                              <p:par>
                                <p:cTn id="44" presetID="0" presetClass="path" presetSubtype="0" accel="0" decel="100000" fill="hold" grpId="1" nodeType="withEffect">
                                  <p:stCondLst>
                                    <p:cond delay="0"/>
                                  </p:stCondLst>
                                  <p:childTnLst>
                                    <p:animMotion origin="layout" path="M 0 0.02778 L 0 0 E" pathEditMode="relative" rAng="0" ptsTypes="AA">
                                      <p:cBhvr>
                                        <p:cTn id="45" dur="500" fill="hold"/>
                                        <p:tgtEl>
                                          <p:spTgt spid="9"/>
                                        </p:tgtEl>
                                        <p:attrNameLst>
                                          <p:attrName>ppt_x</p:attrName>
                                          <p:attrName>ppt_y</p:attrName>
                                        </p:attrNameLst>
                                      </p:cBhvr>
                                    </p:animMotion>
                                  </p:childTnLst>
                                </p:cTn>
                              </p:par>
                              <p:par>
                                <p:cTn id="46" presetID="10" presetClass="entr" presetSubtype="0" accel="0" decel="100000" fill="hold" grpId="0" nodeType="withEffect">
                                  <p:stCondLst>
                                    <p:cond delay="0"/>
                                  </p:stCondLst>
                                  <p:childTnLst>
                                    <p:set>
                                      <p:cBhvr>
                                        <p:cTn id="47" dur="1" fill="hold">
                                          <p:stCondLst>
                                            <p:cond delay="0"/>
                                          </p:stCondLst>
                                        </p:cTn>
                                        <p:tgtEl>
                                          <p:spTgt spid="10"/>
                                        </p:tgtEl>
                                        <p:attrNameLst>
                                          <p:attrName>style.visibility</p:attrName>
                                        </p:attrNameLst>
                                      </p:cBhvr>
                                      <p:to>
                                        <p:strVal val="visible"/>
                                      </p:to>
                                    </p:set>
                                    <p:animEffect transition="in" filter="fade">
                                      <p:cBhvr>
                                        <p:cTn id="48" dur="500"/>
                                        <p:tgtEl>
                                          <p:spTgt spid="10"/>
                                        </p:tgtEl>
                                      </p:cBhvr>
                                    </p:animEffect>
                                  </p:childTnLst>
                                </p:cTn>
                              </p:par>
                              <p:par>
                                <p:cTn id="49" presetID="0" presetClass="path" presetSubtype="0" accel="0" decel="100000" fill="hold" grpId="1" nodeType="withEffect">
                                  <p:stCondLst>
                                    <p:cond delay="0"/>
                                  </p:stCondLst>
                                  <p:childTnLst>
                                    <p:animMotion origin="layout" path="M 0 0.02778 L 0 0 E" pathEditMode="relative" rAng="0" ptsTypes="AA">
                                      <p:cBhvr>
                                        <p:cTn id="50" dur="500" fill="hold"/>
                                        <p:tgtEl>
                                          <p:spTgt spid="10"/>
                                        </p:tgtEl>
                                        <p:attrNameLst>
                                          <p:attrName>ppt_x</p:attrName>
                                          <p:attrName>ppt_y</p:attrName>
                                        </p:attrNameLst>
                                      </p:cBhvr>
                                    </p:animMotion>
                                  </p:childTnLst>
                                </p:cTn>
                              </p:par>
                            </p:childTnLst>
                          </p:cTn>
                        </p:par>
                      </p:childTnLst>
                    </p:cTn>
                  </p:par>
                  <p:par>
                    <p:cTn id="51" fill="hold">
                      <p:stCondLst>
                        <p:cond delay="indefinite"/>
                      </p:stCondLst>
                      <p:childTnLst>
                        <p:par>
                          <p:cTn id="52" fill="hold">
                            <p:stCondLst>
                              <p:cond delay="0"/>
                            </p:stCondLst>
                            <p:childTnLst>
                              <p:par>
                                <p:cTn id="53" presetID="10" presetClass="entr" presetSubtype="0" accel="0" decel="100000" fill="hold" grpId="0" nodeType="clickEffect">
                                  <p:stCondLst>
                                    <p:cond delay="0"/>
                                  </p:stCondLst>
                                  <p:childTnLst>
                                    <p:set>
                                      <p:cBhvr>
                                        <p:cTn id="54" dur="1" fill="hold">
                                          <p:stCondLst>
                                            <p:cond delay="0"/>
                                          </p:stCondLst>
                                        </p:cTn>
                                        <p:tgtEl>
                                          <p:spTgt spid="11"/>
                                        </p:tgtEl>
                                        <p:attrNameLst>
                                          <p:attrName>style.visibility</p:attrName>
                                        </p:attrNameLst>
                                      </p:cBhvr>
                                      <p:to>
                                        <p:strVal val="visible"/>
                                      </p:to>
                                    </p:set>
                                    <p:animEffect transition="in" filter="fade">
                                      <p:cBhvr>
                                        <p:cTn id="55" dur="500"/>
                                        <p:tgtEl>
                                          <p:spTgt spid="11"/>
                                        </p:tgtEl>
                                      </p:cBhvr>
                                    </p:animEffect>
                                  </p:childTnLst>
                                </p:cTn>
                              </p:par>
                              <p:par>
                                <p:cTn id="56" presetID="0" presetClass="path" presetSubtype="0" accel="0" decel="100000" fill="hold" grpId="1" nodeType="withEffect">
                                  <p:stCondLst>
                                    <p:cond delay="0"/>
                                  </p:stCondLst>
                                  <p:childTnLst>
                                    <p:animMotion origin="layout" path="M 0 0.02778 L 0 0 E" pathEditMode="relative" rAng="0" ptsTypes="AA">
                                      <p:cBhvr>
                                        <p:cTn id="57" dur="500" fill="hold"/>
                                        <p:tgtEl>
                                          <p:spTgt spid="11"/>
                                        </p:tgtEl>
                                        <p:attrNameLst>
                                          <p:attrName>ppt_x</p:attrName>
                                          <p:attrName>ppt_y</p:attrName>
                                        </p:attrNameLst>
                                      </p:cBhvr>
                                    </p:animMotion>
                                  </p:childTnLst>
                                </p:cTn>
                              </p:par>
                              <p:par>
                                <p:cTn id="58" presetID="10" presetClass="entr" presetSubtype="0" accel="0" decel="100000" fill="hold" grpId="0" nodeType="withEffect">
                                  <p:stCondLst>
                                    <p:cond delay="0"/>
                                  </p:stCondLst>
                                  <p:childTnLst>
                                    <p:set>
                                      <p:cBhvr>
                                        <p:cTn id="59" dur="1" fill="hold">
                                          <p:stCondLst>
                                            <p:cond delay="0"/>
                                          </p:stCondLst>
                                        </p:cTn>
                                        <p:tgtEl>
                                          <p:spTgt spid="12"/>
                                        </p:tgtEl>
                                        <p:attrNameLst>
                                          <p:attrName>style.visibility</p:attrName>
                                        </p:attrNameLst>
                                      </p:cBhvr>
                                      <p:to>
                                        <p:strVal val="visible"/>
                                      </p:to>
                                    </p:set>
                                    <p:animEffect transition="in" filter="fade">
                                      <p:cBhvr>
                                        <p:cTn id="60" dur="500"/>
                                        <p:tgtEl>
                                          <p:spTgt spid="12"/>
                                        </p:tgtEl>
                                      </p:cBhvr>
                                    </p:animEffect>
                                  </p:childTnLst>
                                </p:cTn>
                              </p:par>
                              <p:par>
                                <p:cTn id="61" presetID="0" presetClass="path" presetSubtype="0" accel="0" decel="100000" fill="hold" grpId="1" nodeType="withEffect">
                                  <p:stCondLst>
                                    <p:cond delay="0"/>
                                  </p:stCondLst>
                                  <p:childTnLst>
                                    <p:animMotion origin="layout" path="M 0 0.02778 L 0 0 E" pathEditMode="relative" rAng="0" ptsTypes="AA">
                                      <p:cBhvr>
                                        <p:cTn id="62" dur="500" fill="hold"/>
                                        <p:tgtEl>
                                          <p:spTgt spid="12"/>
                                        </p:tgtEl>
                                        <p:attrNameLst>
                                          <p:attrName>ppt_x</p:attrName>
                                          <p:attrName>ppt_y</p:attrName>
                                        </p:attrNameLst>
                                      </p:cBhvr>
                                    </p:animMotion>
                                  </p:childTnLst>
                                </p:cTn>
                              </p:par>
                            </p:childTnLst>
                          </p:cTn>
                        </p:par>
                      </p:childTnLst>
                    </p:cTn>
                  </p:par>
                  <p:par>
                    <p:cTn id="63" fill="hold">
                      <p:stCondLst>
                        <p:cond delay="indefinite"/>
                      </p:stCondLst>
                      <p:childTnLst>
                        <p:par>
                          <p:cTn id="64" fill="hold">
                            <p:stCondLst>
                              <p:cond delay="0"/>
                            </p:stCondLst>
                            <p:childTnLst>
                              <p:par>
                                <p:cTn id="65" presetID="10" presetClass="entr" presetSubtype="0" accel="0" decel="100000" fill="hold" grpId="0" nodeType="clickEffect">
                                  <p:stCondLst>
                                    <p:cond delay="0"/>
                                  </p:stCondLst>
                                  <p:childTnLst>
                                    <p:set>
                                      <p:cBhvr>
                                        <p:cTn id="66" dur="1" fill="hold">
                                          <p:stCondLst>
                                            <p:cond delay="0"/>
                                          </p:stCondLst>
                                        </p:cTn>
                                        <p:tgtEl>
                                          <p:spTgt spid="13"/>
                                        </p:tgtEl>
                                        <p:attrNameLst>
                                          <p:attrName>style.visibility</p:attrName>
                                        </p:attrNameLst>
                                      </p:cBhvr>
                                      <p:to>
                                        <p:strVal val="visible"/>
                                      </p:to>
                                    </p:set>
                                    <p:animEffect transition="in" filter="fade">
                                      <p:cBhvr>
                                        <p:cTn id="67" dur="500"/>
                                        <p:tgtEl>
                                          <p:spTgt spid="13"/>
                                        </p:tgtEl>
                                      </p:cBhvr>
                                    </p:animEffect>
                                  </p:childTnLst>
                                </p:cTn>
                              </p:par>
                              <p:par>
                                <p:cTn id="68" presetID="0" presetClass="path" presetSubtype="0" accel="0" decel="100000" fill="hold" grpId="1" nodeType="withEffect">
                                  <p:stCondLst>
                                    <p:cond delay="0"/>
                                  </p:stCondLst>
                                  <p:childTnLst>
                                    <p:animMotion origin="layout" path="M 0 0.02778 L 0 0 E" pathEditMode="relative" rAng="0" ptsTypes="AA">
                                      <p:cBhvr>
                                        <p:cTn id="69" dur="500" fill="hold"/>
                                        <p:tgtEl>
                                          <p:spTgt spid="13"/>
                                        </p:tgtEl>
                                        <p:attrNameLst>
                                          <p:attrName>ppt_x</p:attrName>
                                          <p:attrName>ppt_y</p:attrName>
                                        </p:attrNameLst>
                                      </p:cBhvr>
                                    </p:animMotion>
                                  </p:childTnLst>
                                </p:cTn>
                              </p:par>
                              <p:par>
                                <p:cTn id="70" presetID="10" presetClass="entr" presetSubtype="0" accel="0" decel="100000" fill="hold" grpId="0" nodeType="with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fade">
                                      <p:cBhvr>
                                        <p:cTn id="72" dur="500"/>
                                        <p:tgtEl>
                                          <p:spTgt spid="14"/>
                                        </p:tgtEl>
                                      </p:cBhvr>
                                    </p:animEffect>
                                  </p:childTnLst>
                                </p:cTn>
                              </p:par>
                              <p:par>
                                <p:cTn id="73" presetID="0" presetClass="path" presetSubtype="0" accel="0" decel="100000" fill="hold" grpId="1" nodeType="withEffect">
                                  <p:stCondLst>
                                    <p:cond delay="0"/>
                                  </p:stCondLst>
                                  <p:childTnLst>
                                    <p:animMotion origin="layout" path="M 0 0.02778 L 0 0 E" pathEditMode="relative" rAng="0" ptsTypes="AA">
                                      <p:cBhvr>
                                        <p:cTn id="74" dur="500" fill="hold"/>
                                        <p:tgtEl>
                                          <p:spTgt spid="1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6" grpId="0" animBg="1"/>
      <p:bldP spid="6" grpId="1" animBg="1"/>
      <p:bldP spid="7" grpId="0" animBg="1"/>
      <p:bldP spid="7" grpId="1" animBg="1"/>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685800" y="1965960"/>
            <a:ext cx="3657600" cy="1371600"/>
          </a:xfrm>
          <a:prstGeom prst="rect">
            <a:avLst/>
          </a:prstGeom>
          <a:noFill/>
          <a:ln/>
        </p:spPr>
        <p:txBody>
          <a:bodyPr wrap="square" lIns="0" tIns="0" rIns="0" bIns="0" rtlCol="0" anchor="b"/>
          <a:lstStyle/>
          <a:p>
            <a:pPr algn="l" indent="0" marL="0">
              <a:buNone/>
            </a:pPr>
            <a:r>
              <a:rPr lang="en-US" sz="8000" dirty="0">
                <a:solidFill>
                  <a:schemeClr val="accent1"/>
                </a:solidFill>
                <a:latin typeface="Poppins ExtraBold" pitchFamily="34" charset="0"/>
                <a:ea typeface="Poppins ExtraBold" pitchFamily="34" charset="-122"/>
                <a:cs typeface="Poppins ExtraBold" pitchFamily="34" charset="-120"/>
              </a:rPr>
              <a:t>03</a:t>
            </a:r>
            <a:endParaRPr lang="en-US" sz="8000" dirty="0"/>
          </a:p>
        </p:txBody>
      </p:sp>
      <p:sp>
        <p:nvSpPr>
          <p:cNvPr id="3" name="Text 0"/>
          <p:cNvSpPr/>
          <p:nvPr>
            <p:ph idx="102" type="title" hasCustomPrompt="1"/>
          </p:nvPr>
        </p:nvSpPr>
        <p:spPr>
          <a:xfrm>
            <a:off x="685800" y="3429000"/>
            <a:ext cx="9601200" cy="1188720"/>
          </a:xfrm>
          <a:prstGeom prst="rect">
            <a:avLst/>
          </a:prstGeom>
          <a:noFill/>
          <a:ln/>
        </p:spPr>
        <p:txBody>
          <a:bodyPr wrap="square" lIns="0" tIns="0" rIns="0" bIns="0" rtlCol="0" anchor="t"/>
          <a:lstStyle/>
          <a:p>
            <a:pPr algn="l" indent="0" marL="0">
              <a:buNone/>
            </a:pPr>
            <a:r>
              <a:rPr lang="en-US" sz="4000" dirty="0">
                <a:solidFill>
                  <a:schemeClr val="bg1"/>
                </a:solidFill>
                <a:latin typeface="Poppins ExtraBold" pitchFamily="34" charset="0"/>
                <a:ea typeface="Poppins ExtraBold" pitchFamily="34" charset="-122"/>
                <a:cs typeface="Poppins ExtraBold" pitchFamily="34" charset="-120"/>
              </a:rPr>
              <a:t>Étude technique</a:t>
            </a:r>
            <a:endParaRPr lang="en-US" sz="4000" dirty="0"/>
          </a:p>
        </p:txBody>
      </p:sp>
      <p:sp>
        <p:nvSpPr>
          <p:cNvPr id="25" name="Slide Number Placeholder 0"/>
          <p:cNvSpPr>
            <a:spLocks noGrp="1"/>
          </p:cNvSpPr>
          <p:nvPr>
            <p:ph type="sldNum" sz="quarter" idx="4294967295"/>
          </p:nvPr>
        </p:nvSpPr>
        <p:spPr>
          <a:xfrm>
            <a:off x="10957255" y="4572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03  ·  CAHIER DES CHARGES</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Les cibles de la communication</a:t>
            </a:r>
            <a:endParaRPr lang="en-US" sz="3000" dirty="0"/>
          </a:p>
        </p:txBody>
      </p:sp>
      <p:sp>
        <p:nvSpPr>
          <p:cNvPr id="5" name="C1_card0"/>
          <p:cNvSpPr/>
          <p:nvPr/>
        </p:nvSpPr>
        <p:spPr>
          <a:xfrm>
            <a:off x="685800" y="2103120"/>
            <a:ext cx="3393338" cy="3566160"/>
          </a:xfrm>
          <a:prstGeom prst="roundRect">
            <a:avLst>
              <a:gd name="adj" fmla="val 3234"/>
            </a:avLst>
          </a:prstGeom>
          <a:solidFill>
            <a:schemeClr val="bg2"/>
          </a:solidFill>
          <a:ln/>
        </p:spPr>
      </p:sp>
      <p:sp>
        <p:nvSpPr>
          <p:cNvPr id="6" name="C1_i0_disc"/>
          <p:cNvSpPr/>
          <p:nvPr/>
        </p:nvSpPr>
        <p:spPr>
          <a:xfrm>
            <a:off x="1051560" y="2468880"/>
            <a:ext cx="914400" cy="914400"/>
          </a:xfrm>
          <a:prstGeom prst="ellipse">
            <a:avLst/>
          </a:prstGeom>
          <a:solidFill>
            <a:schemeClr val="tx1"/>
          </a:solidFill>
          <a:ln/>
        </p:spPr>
      </p:sp>
      <p:pic>
        <p:nvPicPr>
          <p:cNvPr id="7" name="C1_i0_ico" descr="preencoded.png">    </p:cNvPr>
          <p:cNvPicPr>
            <a:picLocks noChangeAspect="1"/>
          </p:cNvPicPr>
          <p:nvPr/>
        </p:nvPicPr>
        <p:blipFill>
          <a:blip r:embed="rId1"/>
          <a:stretch>
            <a:fillRect/>
          </a:stretch>
        </p:blipFill>
        <p:spPr>
          <a:xfrm>
            <a:off x="1280160" y="2697480"/>
            <a:ext cx="457200" cy="457200"/>
          </a:xfrm>
          <a:prstGeom prst="rect">
            <a:avLst/>
          </a:prstGeom>
        </p:spPr>
      </p:pic>
      <p:sp>
        <p:nvSpPr>
          <p:cNvPr id="8" name="C1_t0"/>
          <p:cNvSpPr txBox="1"/>
          <p:nvPr/>
        </p:nvSpPr>
        <p:spPr>
          <a:xfrm>
            <a:off x="960120" y="3703320"/>
            <a:ext cx="2844698" cy="457200"/>
          </a:xfrm>
          <a:prstGeom prst="rect">
            <a:avLst/>
          </a:prstGeom>
          <a:noFill/>
          <a:ln/>
        </p:spPr>
        <p:txBody>
          <a:bodyPr wrap="square" lIns="0" tIns="0" rIns="0" bIns="0" rtlCol="0" anchor="t"/>
          <a:lstStyle/>
          <a:p>
            <a:pPr indent="0" marL="0">
              <a:buNone/>
            </a:pPr>
            <a:r>
              <a:rPr lang="en-US" sz="1800" b="1" dirty="0">
                <a:solidFill>
                  <a:schemeClr val="tx1"/>
                </a:solidFill>
              </a:rPr>
              <a:t>Clients actuels</a:t>
            </a:r>
            <a:endParaRPr lang="en-US" sz="1800" dirty="0"/>
          </a:p>
        </p:txBody>
      </p:sp>
      <p:sp>
        <p:nvSpPr>
          <p:cNvPr id="9" name="C1_v0"/>
          <p:cNvSpPr txBox="1"/>
          <p:nvPr/>
        </p:nvSpPr>
        <p:spPr>
          <a:xfrm>
            <a:off x="960120" y="4206240"/>
            <a:ext cx="2844698" cy="411480"/>
          </a:xfrm>
          <a:prstGeom prst="rect">
            <a:avLst/>
          </a:prstGeom>
          <a:noFill/>
          <a:ln/>
        </p:spPr>
        <p:txBody>
          <a:bodyPr wrap="square" lIns="0" tIns="0" rIns="0" bIns="0" rtlCol="0" anchor="t"/>
          <a:lstStyle/>
          <a:p>
            <a:pPr indent="0" marL="0">
              <a:buNone/>
            </a:pPr>
            <a:r>
              <a:rPr lang="en-US" sz="1600" b="1" dirty="0">
                <a:solidFill>
                  <a:schemeClr val="accent1"/>
                </a:solidFill>
              </a:rPr>
              <a:t>Fidéliser</a:t>
            </a:r>
            <a:endParaRPr lang="en-US" sz="1600" dirty="0"/>
          </a:p>
        </p:txBody>
      </p:sp>
      <p:sp>
        <p:nvSpPr>
          <p:cNvPr id="10" name="C1_card1"/>
          <p:cNvSpPr/>
          <p:nvPr/>
        </p:nvSpPr>
        <p:spPr>
          <a:xfrm>
            <a:off x="4399178" y="2103120"/>
            <a:ext cx="3393338" cy="3566160"/>
          </a:xfrm>
          <a:prstGeom prst="roundRect">
            <a:avLst>
              <a:gd name="adj" fmla="val 3234"/>
            </a:avLst>
          </a:prstGeom>
          <a:solidFill>
            <a:schemeClr val="bg2"/>
          </a:solidFill>
          <a:ln/>
        </p:spPr>
      </p:sp>
      <p:sp>
        <p:nvSpPr>
          <p:cNvPr id="11" name="C1_i1_disc"/>
          <p:cNvSpPr/>
          <p:nvPr/>
        </p:nvSpPr>
        <p:spPr>
          <a:xfrm>
            <a:off x="4764938" y="2468880"/>
            <a:ext cx="914400" cy="914400"/>
          </a:xfrm>
          <a:prstGeom prst="ellipse">
            <a:avLst/>
          </a:prstGeom>
          <a:solidFill>
            <a:schemeClr val="tx1"/>
          </a:solidFill>
          <a:ln/>
        </p:spPr>
      </p:sp>
      <p:pic>
        <p:nvPicPr>
          <p:cNvPr id="12" name="C1_i1_ico" descr="preencoded.png">    </p:cNvPr>
          <p:cNvPicPr>
            <a:picLocks noChangeAspect="1"/>
          </p:cNvPicPr>
          <p:nvPr/>
        </p:nvPicPr>
        <p:blipFill>
          <a:blip r:embed="rId2"/>
          <a:stretch>
            <a:fillRect/>
          </a:stretch>
        </p:blipFill>
        <p:spPr>
          <a:xfrm>
            <a:off x="4993538" y="2697480"/>
            <a:ext cx="457200" cy="457200"/>
          </a:xfrm>
          <a:prstGeom prst="rect">
            <a:avLst/>
          </a:prstGeom>
        </p:spPr>
      </p:pic>
      <p:sp>
        <p:nvSpPr>
          <p:cNvPr id="13" name="C1_t1"/>
          <p:cNvSpPr txBox="1"/>
          <p:nvPr/>
        </p:nvSpPr>
        <p:spPr>
          <a:xfrm>
            <a:off x="4673498" y="3703320"/>
            <a:ext cx="2844698" cy="457200"/>
          </a:xfrm>
          <a:prstGeom prst="rect">
            <a:avLst/>
          </a:prstGeom>
          <a:noFill/>
          <a:ln/>
        </p:spPr>
        <p:txBody>
          <a:bodyPr wrap="square" lIns="0" tIns="0" rIns="0" bIns="0" rtlCol="0" anchor="t"/>
          <a:lstStyle/>
          <a:p>
            <a:pPr indent="0" marL="0">
              <a:buNone/>
            </a:pPr>
            <a:r>
              <a:rPr lang="en-US" sz="1800" b="1" dirty="0">
                <a:solidFill>
                  <a:schemeClr val="tx1"/>
                </a:solidFill>
              </a:rPr>
              <a:t>Clients potentiels</a:t>
            </a:r>
            <a:endParaRPr lang="en-US" sz="1800" dirty="0"/>
          </a:p>
        </p:txBody>
      </p:sp>
      <p:sp>
        <p:nvSpPr>
          <p:cNvPr id="14" name="C1_v1"/>
          <p:cNvSpPr txBox="1"/>
          <p:nvPr/>
        </p:nvSpPr>
        <p:spPr>
          <a:xfrm>
            <a:off x="4673498" y="4206240"/>
            <a:ext cx="2844698" cy="411480"/>
          </a:xfrm>
          <a:prstGeom prst="rect">
            <a:avLst/>
          </a:prstGeom>
          <a:noFill/>
          <a:ln/>
        </p:spPr>
        <p:txBody>
          <a:bodyPr wrap="square" lIns="0" tIns="0" rIns="0" bIns="0" rtlCol="0" anchor="t"/>
          <a:lstStyle/>
          <a:p>
            <a:pPr indent="0" marL="0">
              <a:buNone/>
            </a:pPr>
            <a:r>
              <a:rPr lang="en-US" sz="1600" b="1" dirty="0">
                <a:solidFill>
                  <a:schemeClr val="accent1"/>
                </a:solidFill>
              </a:rPr>
              <a:t>Attirer</a:t>
            </a:r>
            <a:endParaRPr lang="en-US" sz="1600" dirty="0"/>
          </a:p>
        </p:txBody>
      </p:sp>
      <p:sp>
        <p:nvSpPr>
          <p:cNvPr id="15" name="C1_card2"/>
          <p:cNvSpPr/>
          <p:nvPr/>
        </p:nvSpPr>
        <p:spPr>
          <a:xfrm>
            <a:off x="8112557" y="2103120"/>
            <a:ext cx="3393338" cy="3566160"/>
          </a:xfrm>
          <a:prstGeom prst="roundRect">
            <a:avLst>
              <a:gd name="adj" fmla="val 3234"/>
            </a:avLst>
          </a:prstGeom>
          <a:solidFill>
            <a:schemeClr val="bg2"/>
          </a:solidFill>
          <a:ln/>
        </p:spPr>
      </p:sp>
      <p:sp>
        <p:nvSpPr>
          <p:cNvPr id="16" name="C1_i2_disc"/>
          <p:cNvSpPr/>
          <p:nvPr/>
        </p:nvSpPr>
        <p:spPr>
          <a:xfrm>
            <a:off x="8478317" y="2468880"/>
            <a:ext cx="914400" cy="914400"/>
          </a:xfrm>
          <a:prstGeom prst="ellipse">
            <a:avLst/>
          </a:prstGeom>
          <a:solidFill>
            <a:schemeClr val="tx1"/>
          </a:solidFill>
          <a:ln/>
        </p:spPr>
      </p:sp>
      <p:pic>
        <p:nvPicPr>
          <p:cNvPr id="17" name="C1_i2_ico" descr="preencoded.png">    </p:cNvPr>
          <p:cNvPicPr>
            <a:picLocks noChangeAspect="1"/>
          </p:cNvPicPr>
          <p:nvPr/>
        </p:nvPicPr>
        <p:blipFill>
          <a:blip r:embed="rId3"/>
          <a:stretch>
            <a:fillRect/>
          </a:stretch>
        </p:blipFill>
        <p:spPr>
          <a:xfrm>
            <a:off x="8706917" y="2697480"/>
            <a:ext cx="457200" cy="457200"/>
          </a:xfrm>
          <a:prstGeom prst="rect">
            <a:avLst/>
          </a:prstGeom>
        </p:spPr>
      </p:pic>
      <p:sp>
        <p:nvSpPr>
          <p:cNvPr id="18" name="C1_t2"/>
          <p:cNvSpPr txBox="1"/>
          <p:nvPr/>
        </p:nvSpPr>
        <p:spPr>
          <a:xfrm>
            <a:off x="8386877" y="3703320"/>
            <a:ext cx="2844698" cy="457200"/>
          </a:xfrm>
          <a:prstGeom prst="rect">
            <a:avLst/>
          </a:prstGeom>
          <a:noFill/>
          <a:ln/>
        </p:spPr>
        <p:txBody>
          <a:bodyPr wrap="square" lIns="0" tIns="0" rIns="0" bIns="0" rtlCol="0" anchor="t"/>
          <a:lstStyle/>
          <a:p>
            <a:pPr indent="0" marL="0">
              <a:buNone/>
            </a:pPr>
            <a:r>
              <a:rPr lang="en-US" sz="1800" b="1" dirty="0">
                <a:solidFill>
                  <a:schemeClr val="tx1"/>
                </a:solidFill>
              </a:rPr>
              <a:t>Partenaires potentiels</a:t>
            </a:r>
            <a:endParaRPr lang="en-US" sz="1800" dirty="0"/>
          </a:p>
        </p:txBody>
      </p:sp>
      <p:sp>
        <p:nvSpPr>
          <p:cNvPr id="19" name="C1_v2"/>
          <p:cNvSpPr txBox="1"/>
          <p:nvPr/>
        </p:nvSpPr>
        <p:spPr>
          <a:xfrm>
            <a:off x="8386877" y="4206240"/>
            <a:ext cx="2844698" cy="411480"/>
          </a:xfrm>
          <a:prstGeom prst="rect">
            <a:avLst/>
          </a:prstGeom>
          <a:noFill/>
          <a:ln/>
        </p:spPr>
        <p:txBody>
          <a:bodyPr wrap="square" lIns="0" tIns="0" rIns="0" bIns="0" rtlCol="0" anchor="t"/>
          <a:lstStyle/>
          <a:p>
            <a:pPr indent="0" marL="0">
              <a:buNone/>
            </a:pPr>
            <a:r>
              <a:rPr lang="en-US" sz="1600" b="1" dirty="0">
                <a:solidFill>
                  <a:schemeClr val="accent1"/>
                </a:solidFill>
              </a:rPr>
              <a:t>Collaborer</a:t>
            </a:r>
            <a:endParaRPr lang="en-US" sz="16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7"/>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8"/>
                                        </p:tgtEl>
                                        <p:attrNameLst>
                                          <p:attrName>ppt_x</p:attrName>
                                          <p:attrName>ppt_y</p:attrName>
                                        </p:attrNameLst>
                                      </p:cBhvr>
                                    </p:animMotion>
                                  </p:childTnLst>
                                </p:cTn>
                              </p:par>
                              <p:par>
                                <p:cTn id="37" presetID="10" presetClass="entr" presetSubtype="0" accel="0" decel="10000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childTnLst>
                                </p:cTn>
                              </p:par>
                              <p:par>
                                <p:cTn id="40" presetID="0" presetClass="path" presetSubtype="0" accel="0" decel="100000" fill="hold" grpId="1" nodeType="withEffect">
                                  <p:stCondLst>
                                    <p:cond delay="0"/>
                                  </p:stCondLst>
                                  <p:childTnLst>
                                    <p:animMotion origin="layout" path="M 0 0.02778 L 0 0 E" pathEditMode="relative" rAng="0" ptsTypes="AA">
                                      <p:cBhvr>
                                        <p:cTn id="41" dur="500" fill="hold"/>
                                        <p:tgtEl>
                                          <p:spTgt spid="9"/>
                                        </p:tgtEl>
                                        <p:attrNameLst>
                                          <p:attrName>ppt_x</p:attrName>
                                          <p:attrName>ppt_y</p:attrName>
                                        </p:attrNameLst>
                                      </p:cBhvr>
                                    </p:animMotion>
                                  </p:childTnLst>
                                </p:cTn>
                              </p:par>
                              <p:par>
                                <p:cTn id="42" presetID="10" presetClass="entr" presetSubtype="0" accel="0" decel="10000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childTnLst>
                                </p:cTn>
                              </p:par>
                              <p:par>
                                <p:cTn id="45" presetID="0" presetClass="path" presetSubtype="0" accel="0" decel="100000" fill="hold" grpId="1" nodeType="withEffect">
                                  <p:stCondLst>
                                    <p:cond delay="0"/>
                                  </p:stCondLst>
                                  <p:childTnLst>
                                    <p:animMotion origin="layout" path="M 0 0.02778 L 0 0 E" pathEditMode="relative" rAng="0" ptsTypes="AA">
                                      <p:cBhvr>
                                        <p:cTn id="46" dur="500" fill="hold"/>
                                        <p:tgtEl>
                                          <p:spTgt spid="10"/>
                                        </p:tgtEl>
                                        <p:attrNameLst>
                                          <p:attrName>ppt_x</p:attrName>
                                          <p:attrName>ppt_y</p:attrName>
                                        </p:attrNameLst>
                                      </p:cBhvr>
                                    </p:animMotion>
                                  </p:childTnLst>
                                </p:cTn>
                              </p:par>
                              <p:par>
                                <p:cTn id="47" presetID="10" presetClass="entr" presetSubtype="0" accel="0" decel="10000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childTnLst>
                                </p:cTn>
                              </p:par>
                              <p:par>
                                <p:cTn id="50" presetID="0" presetClass="path" presetSubtype="0" accel="0" decel="100000" fill="hold" grpId="1" nodeType="withEffect">
                                  <p:stCondLst>
                                    <p:cond delay="0"/>
                                  </p:stCondLst>
                                  <p:childTnLst>
                                    <p:animMotion origin="layout" path="M 0 0.02778 L 0 0 E" pathEditMode="relative" rAng="0" ptsTypes="AA">
                                      <p:cBhvr>
                                        <p:cTn id="51" dur="500" fill="hold"/>
                                        <p:tgtEl>
                                          <p:spTgt spid="11"/>
                                        </p:tgtEl>
                                        <p:attrNameLst>
                                          <p:attrName>ppt_x</p:attrName>
                                          <p:attrName>ppt_y</p:attrName>
                                        </p:attrNameLst>
                                      </p:cBhvr>
                                    </p:animMotion>
                                  </p:childTnLst>
                                </p:cTn>
                              </p:par>
                              <p:par>
                                <p:cTn id="52" presetID="10" presetClass="entr" presetSubtype="0" accel="0" decel="10000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p:tgtEl>
                                          <p:spTgt spid="12"/>
                                        </p:tgtEl>
                                      </p:cBhvr>
                                    </p:animEffect>
                                  </p:childTnLst>
                                </p:cTn>
                              </p:par>
                              <p:par>
                                <p:cTn id="55" presetID="0" presetClass="path" presetSubtype="0" accel="0" decel="100000" fill="hold" grpId="1" nodeType="withEffect">
                                  <p:stCondLst>
                                    <p:cond delay="0"/>
                                  </p:stCondLst>
                                  <p:childTnLst>
                                    <p:animMotion origin="layout" path="M 0 0.02778 L 0 0 E" pathEditMode="relative" rAng="0" ptsTypes="AA">
                                      <p:cBhvr>
                                        <p:cTn id="56" dur="500" fill="hold"/>
                                        <p:tgtEl>
                                          <p:spTgt spid="12"/>
                                        </p:tgtEl>
                                        <p:attrNameLst>
                                          <p:attrName>ppt_x</p:attrName>
                                          <p:attrName>ppt_y</p:attrName>
                                        </p:attrNameLst>
                                      </p:cBhvr>
                                    </p:animMotion>
                                  </p:childTnLst>
                                </p:cTn>
                              </p:par>
                              <p:par>
                                <p:cTn id="57" presetID="10" presetClass="entr" presetSubtype="0" accel="0" decel="10000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p:tgtEl>
                                          <p:spTgt spid="13"/>
                                        </p:tgtEl>
                                      </p:cBhvr>
                                    </p:animEffect>
                                  </p:childTnLst>
                                </p:cTn>
                              </p:par>
                              <p:par>
                                <p:cTn id="60" presetID="0" presetClass="path" presetSubtype="0" accel="0" decel="100000" fill="hold" grpId="1" nodeType="withEffect">
                                  <p:stCondLst>
                                    <p:cond delay="0"/>
                                  </p:stCondLst>
                                  <p:childTnLst>
                                    <p:animMotion origin="layout" path="M 0 0.02778 L 0 0 E" pathEditMode="relative" rAng="0" ptsTypes="AA">
                                      <p:cBhvr>
                                        <p:cTn id="61" dur="500" fill="hold"/>
                                        <p:tgtEl>
                                          <p:spTgt spid="13"/>
                                        </p:tgtEl>
                                        <p:attrNameLst>
                                          <p:attrName>ppt_x</p:attrName>
                                          <p:attrName>ppt_y</p:attrName>
                                        </p:attrNameLst>
                                      </p:cBhvr>
                                    </p:animMotion>
                                  </p:childTnLst>
                                </p:cTn>
                              </p:par>
                              <p:par>
                                <p:cTn id="62" presetID="10" presetClass="entr" presetSubtype="0" accel="0" decel="10000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500"/>
                                        <p:tgtEl>
                                          <p:spTgt spid="14"/>
                                        </p:tgtEl>
                                      </p:cBhvr>
                                    </p:animEffect>
                                  </p:childTnLst>
                                </p:cTn>
                              </p:par>
                              <p:par>
                                <p:cTn id="65" presetID="0" presetClass="path" presetSubtype="0" accel="0" decel="100000" fill="hold" grpId="1" nodeType="withEffect">
                                  <p:stCondLst>
                                    <p:cond delay="0"/>
                                  </p:stCondLst>
                                  <p:childTnLst>
                                    <p:animMotion origin="layout" path="M 0 0.02778 L 0 0 E" pathEditMode="relative" rAng="0" ptsTypes="AA">
                                      <p:cBhvr>
                                        <p:cTn id="66" dur="500" fill="hold"/>
                                        <p:tgtEl>
                                          <p:spTgt spid="14"/>
                                        </p:tgtEl>
                                        <p:attrNameLst>
                                          <p:attrName>ppt_x</p:attrName>
                                          <p:attrName>ppt_y</p:attrName>
                                        </p:attrNameLst>
                                      </p:cBhvr>
                                    </p:animMotion>
                                  </p:childTnLst>
                                </p:cTn>
                              </p:par>
                              <p:par>
                                <p:cTn id="67" presetID="10" presetClass="entr" presetSubtype="0" accel="0" decel="10000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500"/>
                                        <p:tgtEl>
                                          <p:spTgt spid="15"/>
                                        </p:tgtEl>
                                      </p:cBhvr>
                                    </p:animEffect>
                                  </p:childTnLst>
                                </p:cTn>
                              </p:par>
                              <p:par>
                                <p:cTn id="70" presetID="0" presetClass="path" presetSubtype="0" accel="0" decel="100000" fill="hold" grpId="1" nodeType="withEffect">
                                  <p:stCondLst>
                                    <p:cond delay="0"/>
                                  </p:stCondLst>
                                  <p:childTnLst>
                                    <p:animMotion origin="layout" path="M 0 0.02778 L 0 0 E" pathEditMode="relative" rAng="0" ptsTypes="AA">
                                      <p:cBhvr>
                                        <p:cTn id="71" dur="500" fill="hold"/>
                                        <p:tgtEl>
                                          <p:spTgt spid="15"/>
                                        </p:tgtEl>
                                        <p:attrNameLst>
                                          <p:attrName>ppt_x</p:attrName>
                                          <p:attrName>ppt_y</p:attrName>
                                        </p:attrNameLst>
                                      </p:cBhvr>
                                    </p:animMotion>
                                  </p:childTnLst>
                                </p:cTn>
                              </p:par>
                              <p:par>
                                <p:cTn id="72" presetID="10" presetClass="entr" presetSubtype="0" accel="0" decel="10000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500"/>
                                        <p:tgtEl>
                                          <p:spTgt spid="16"/>
                                        </p:tgtEl>
                                      </p:cBhvr>
                                    </p:animEffect>
                                  </p:childTnLst>
                                </p:cTn>
                              </p:par>
                              <p:par>
                                <p:cTn id="75" presetID="0" presetClass="path" presetSubtype="0" accel="0" decel="100000" fill="hold" grpId="1" nodeType="withEffect">
                                  <p:stCondLst>
                                    <p:cond delay="0"/>
                                  </p:stCondLst>
                                  <p:childTnLst>
                                    <p:animMotion origin="layout" path="M 0 0.02778 L 0 0 E" pathEditMode="relative" rAng="0" ptsTypes="AA">
                                      <p:cBhvr>
                                        <p:cTn id="76" dur="500" fill="hold"/>
                                        <p:tgtEl>
                                          <p:spTgt spid="16"/>
                                        </p:tgtEl>
                                        <p:attrNameLst>
                                          <p:attrName>ppt_x</p:attrName>
                                          <p:attrName>ppt_y</p:attrName>
                                        </p:attrNameLst>
                                      </p:cBhvr>
                                    </p:animMotion>
                                  </p:childTnLst>
                                </p:cTn>
                              </p:par>
                              <p:par>
                                <p:cTn id="77" presetID="10" presetClass="entr" presetSubtype="0" accel="0" decel="10000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500"/>
                                        <p:tgtEl>
                                          <p:spTgt spid="17"/>
                                        </p:tgtEl>
                                      </p:cBhvr>
                                    </p:animEffect>
                                  </p:childTnLst>
                                </p:cTn>
                              </p:par>
                              <p:par>
                                <p:cTn id="80" presetID="0" presetClass="path" presetSubtype="0" accel="0" decel="100000" fill="hold" grpId="1" nodeType="withEffect">
                                  <p:stCondLst>
                                    <p:cond delay="0"/>
                                  </p:stCondLst>
                                  <p:childTnLst>
                                    <p:animMotion origin="layout" path="M 0 0.02778 L 0 0 E" pathEditMode="relative" rAng="0" ptsTypes="AA">
                                      <p:cBhvr>
                                        <p:cTn id="81" dur="500" fill="hold"/>
                                        <p:tgtEl>
                                          <p:spTgt spid="17"/>
                                        </p:tgtEl>
                                        <p:attrNameLst>
                                          <p:attrName>ppt_x</p:attrName>
                                          <p:attrName>ppt_y</p:attrName>
                                        </p:attrNameLst>
                                      </p:cBhvr>
                                    </p:animMotion>
                                  </p:childTnLst>
                                </p:cTn>
                              </p:par>
                              <p:par>
                                <p:cTn id="82" presetID="10" presetClass="entr" presetSubtype="0" accel="0" decel="100000" fill="hold" grpId="0" nodeType="withEffect">
                                  <p:stCondLst>
                                    <p:cond delay="0"/>
                                  </p:stCondLst>
                                  <p:childTnLst>
                                    <p:set>
                                      <p:cBhvr>
                                        <p:cTn id="83" dur="1" fill="hold">
                                          <p:stCondLst>
                                            <p:cond delay="0"/>
                                          </p:stCondLst>
                                        </p:cTn>
                                        <p:tgtEl>
                                          <p:spTgt spid="18"/>
                                        </p:tgtEl>
                                        <p:attrNameLst>
                                          <p:attrName>style.visibility</p:attrName>
                                        </p:attrNameLst>
                                      </p:cBhvr>
                                      <p:to>
                                        <p:strVal val="visible"/>
                                      </p:to>
                                    </p:set>
                                    <p:animEffect transition="in" filter="fade">
                                      <p:cBhvr>
                                        <p:cTn id="84" dur="500"/>
                                        <p:tgtEl>
                                          <p:spTgt spid="18"/>
                                        </p:tgtEl>
                                      </p:cBhvr>
                                    </p:animEffect>
                                  </p:childTnLst>
                                </p:cTn>
                              </p:par>
                              <p:par>
                                <p:cTn id="85" presetID="0" presetClass="path" presetSubtype="0" accel="0" decel="100000" fill="hold" grpId="1" nodeType="withEffect">
                                  <p:stCondLst>
                                    <p:cond delay="0"/>
                                  </p:stCondLst>
                                  <p:childTnLst>
                                    <p:animMotion origin="layout" path="M 0 0.02778 L 0 0 E" pathEditMode="relative" rAng="0" ptsTypes="AA">
                                      <p:cBhvr>
                                        <p:cTn id="86" dur="500" fill="hold"/>
                                        <p:tgtEl>
                                          <p:spTgt spid="18"/>
                                        </p:tgtEl>
                                        <p:attrNameLst>
                                          <p:attrName>ppt_x</p:attrName>
                                          <p:attrName>ppt_y</p:attrName>
                                        </p:attrNameLst>
                                      </p:cBhvr>
                                    </p:animMotion>
                                  </p:childTnLst>
                                </p:cTn>
                              </p:par>
                              <p:par>
                                <p:cTn id="87" presetID="10" presetClass="entr" presetSubtype="0" accel="0" decel="100000" fill="hold" grpId="0" nodeType="withEffect">
                                  <p:stCondLst>
                                    <p:cond delay="0"/>
                                  </p:stCondLst>
                                  <p:childTnLst>
                                    <p:set>
                                      <p:cBhvr>
                                        <p:cTn id="88" dur="1" fill="hold">
                                          <p:stCondLst>
                                            <p:cond delay="0"/>
                                          </p:stCondLst>
                                        </p:cTn>
                                        <p:tgtEl>
                                          <p:spTgt spid="19"/>
                                        </p:tgtEl>
                                        <p:attrNameLst>
                                          <p:attrName>style.visibility</p:attrName>
                                        </p:attrNameLst>
                                      </p:cBhvr>
                                      <p:to>
                                        <p:strVal val="visible"/>
                                      </p:to>
                                    </p:set>
                                    <p:animEffect transition="in" filter="fade">
                                      <p:cBhvr>
                                        <p:cTn id="89" dur="500"/>
                                        <p:tgtEl>
                                          <p:spTgt spid="19"/>
                                        </p:tgtEl>
                                      </p:cBhvr>
                                    </p:animEffect>
                                  </p:childTnLst>
                                </p:cTn>
                              </p:par>
                              <p:par>
                                <p:cTn id="90" presetID="0" presetClass="path" presetSubtype="0" accel="0" decel="100000" fill="hold" grpId="1" nodeType="withEffect">
                                  <p:stCondLst>
                                    <p:cond delay="0"/>
                                  </p:stCondLst>
                                  <p:childTnLst>
                                    <p:animMotion origin="layout" path="M 0 0.02778 L 0 0 E" pathEditMode="relative" rAng="0" ptsTypes="AA">
                                      <p:cBhvr>
                                        <p:cTn id="91" dur="500" fill="hold"/>
                                        <p:tgtEl>
                                          <p:spTgt spid="1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8" grpId="0" animBg="1"/>
      <p:bldP spid="8" grpId="1" animBg="1"/>
      <p:bldP spid="9" grpId="0" animBg="1"/>
      <p:bldP spid="9" grpId="1" animBg="1"/>
      <p:bldP spid="13" grpId="0" animBg="1"/>
      <p:bldP spid="13" grpId="1" animBg="1"/>
      <p:bldP spid="14" grpId="0" animBg="1"/>
      <p:bldP spid="14" grpId="1" animBg="1"/>
      <p:bldP spid="18" grpId="0" animBg="1"/>
      <p:bldP spid="18" grpId="1" animBg="1"/>
      <p:bldP spid="19" grpId="0" animBg="1"/>
      <p:bldP spid="19"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03  ·  PLANNING</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Un projet réalisé en 8 semaines</a:t>
            </a:r>
            <a:endParaRPr lang="en-US" sz="3000" dirty="0"/>
          </a:p>
        </p:txBody>
      </p:sp>
      <p:sp>
        <p:nvSpPr>
          <p:cNvPr id="5" name="C1_w0"/>
          <p:cNvSpPr txBox="1"/>
          <p:nvPr/>
        </p:nvSpPr>
        <p:spPr>
          <a:xfrm>
            <a:off x="4892040" y="1965960"/>
            <a:ext cx="826732" cy="320040"/>
          </a:xfrm>
          <a:prstGeom prst="rect">
            <a:avLst/>
          </a:prstGeom>
          <a:noFill/>
          <a:ln/>
        </p:spPr>
        <p:txBody>
          <a:bodyPr wrap="square" lIns="0" tIns="0" rIns="0" bIns="0" rtlCol="0" anchor="t"/>
          <a:lstStyle/>
          <a:p>
            <a:pPr algn="ctr" indent="0" marL="0">
              <a:buNone/>
            </a:pPr>
            <a:r>
              <a:rPr lang="en-US" sz="1200" b="1" dirty="0">
                <a:solidFill>
                  <a:schemeClr val="accent4"/>
                </a:solidFill>
              </a:rPr>
              <a:t>S1</a:t>
            </a:r>
            <a:endParaRPr lang="en-US" sz="1200" dirty="0"/>
          </a:p>
        </p:txBody>
      </p:sp>
      <p:sp>
        <p:nvSpPr>
          <p:cNvPr id="6" name="C1_w1"/>
          <p:cNvSpPr txBox="1"/>
          <p:nvPr/>
        </p:nvSpPr>
        <p:spPr>
          <a:xfrm>
            <a:off x="5718772" y="1965960"/>
            <a:ext cx="826732" cy="320040"/>
          </a:xfrm>
          <a:prstGeom prst="rect">
            <a:avLst/>
          </a:prstGeom>
          <a:noFill/>
          <a:ln/>
        </p:spPr>
        <p:txBody>
          <a:bodyPr wrap="square" lIns="0" tIns="0" rIns="0" bIns="0" rtlCol="0" anchor="t"/>
          <a:lstStyle/>
          <a:p>
            <a:pPr algn="ctr" indent="0" marL="0">
              <a:buNone/>
            </a:pPr>
            <a:r>
              <a:rPr lang="en-US" sz="1200" b="1" dirty="0">
                <a:solidFill>
                  <a:schemeClr val="accent4"/>
                </a:solidFill>
              </a:rPr>
              <a:t>S2</a:t>
            </a:r>
            <a:endParaRPr lang="en-US" sz="1200" dirty="0"/>
          </a:p>
        </p:txBody>
      </p:sp>
      <p:sp>
        <p:nvSpPr>
          <p:cNvPr id="7" name="C1_g1"/>
          <p:cNvSpPr/>
          <p:nvPr/>
        </p:nvSpPr>
        <p:spPr>
          <a:xfrm>
            <a:off x="5718772" y="2377440"/>
            <a:ext cx="0" cy="3429000"/>
          </a:xfrm>
          <a:prstGeom prst="line">
            <a:avLst/>
          </a:prstGeom>
          <a:noFill/>
          <a:ln w="12700">
            <a:solidFill>
              <a:srgbClr val="E1E6EC"/>
            </a:solidFill>
            <a:prstDash val="solid"/>
          </a:ln>
        </p:spPr>
      </p:sp>
      <p:sp>
        <p:nvSpPr>
          <p:cNvPr id="8" name="C1_w2"/>
          <p:cNvSpPr txBox="1"/>
          <p:nvPr/>
        </p:nvSpPr>
        <p:spPr>
          <a:xfrm>
            <a:off x="6545504" y="1965960"/>
            <a:ext cx="826732" cy="320040"/>
          </a:xfrm>
          <a:prstGeom prst="rect">
            <a:avLst/>
          </a:prstGeom>
          <a:noFill/>
          <a:ln/>
        </p:spPr>
        <p:txBody>
          <a:bodyPr wrap="square" lIns="0" tIns="0" rIns="0" bIns="0" rtlCol="0" anchor="t"/>
          <a:lstStyle/>
          <a:p>
            <a:pPr algn="ctr" indent="0" marL="0">
              <a:buNone/>
            </a:pPr>
            <a:r>
              <a:rPr lang="en-US" sz="1200" b="1" dirty="0">
                <a:solidFill>
                  <a:schemeClr val="accent4"/>
                </a:solidFill>
              </a:rPr>
              <a:t>S3</a:t>
            </a:r>
            <a:endParaRPr lang="en-US" sz="1200" dirty="0"/>
          </a:p>
        </p:txBody>
      </p:sp>
      <p:sp>
        <p:nvSpPr>
          <p:cNvPr id="9" name="C1_g2"/>
          <p:cNvSpPr/>
          <p:nvPr/>
        </p:nvSpPr>
        <p:spPr>
          <a:xfrm>
            <a:off x="6545504" y="2377440"/>
            <a:ext cx="0" cy="3429000"/>
          </a:xfrm>
          <a:prstGeom prst="line">
            <a:avLst/>
          </a:prstGeom>
          <a:noFill/>
          <a:ln w="12700">
            <a:solidFill>
              <a:srgbClr val="E1E6EC"/>
            </a:solidFill>
            <a:prstDash val="solid"/>
          </a:ln>
        </p:spPr>
      </p:sp>
      <p:sp>
        <p:nvSpPr>
          <p:cNvPr id="10" name="C1_w3"/>
          <p:cNvSpPr txBox="1"/>
          <p:nvPr/>
        </p:nvSpPr>
        <p:spPr>
          <a:xfrm>
            <a:off x="7372236" y="1965960"/>
            <a:ext cx="826732" cy="320040"/>
          </a:xfrm>
          <a:prstGeom prst="rect">
            <a:avLst/>
          </a:prstGeom>
          <a:noFill/>
          <a:ln/>
        </p:spPr>
        <p:txBody>
          <a:bodyPr wrap="square" lIns="0" tIns="0" rIns="0" bIns="0" rtlCol="0" anchor="t"/>
          <a:lstStyle/>
          <a:p>
            <a:pPr algn="ctr" indent="0" marL="0">
              <a:buNone/>
            </a:pPr>
            <a:r>
              <a:rPr lang="en-US" sz="1200" b="1" dirty="0">
                <a:solidFill>
                  <a:schemeClr val="accent4"/>
                </a:solidFill>
              </a:rPr>
              <a:t>S4</a:t>
            </a:r>
            <a:endParaRPr lang="en-US" sz="1200" dirty="0"/>
          </a:p>
        </p:txBody>
      </p:sp>
      <p:sp>
        <p:nvSpPr>
          <p:cNvPr id="11" name="C1_g3"/>
          <p:cNvSpPr/>
          <p:nvPr/>
        </p:nvSpPr>
        <p:spPr>
          <a:xfrm>
            <a:off x="7372236" y="2377440"/>
            <a:ext cx="0" cy="3429000"/>
          </a:xfrm>
          <a:prstGeom prst="line">
            <a:avLst/>
          </a:prstGeom>
          <a:noFill/>
          <a:ln w="12700">
            <a:solidFill>
              <a:srgbClr val="E1E6EC"/>
            </a:solidFill>
            <a:prstDash val="solid"/>
          </a:ln>
        </p:spPr>
      </p:sp>
      <p:sp>
        <p:nvSpPr>
          <p:cNvPr id="12" name="C1_w4"/>
          <p:cNvSpPr txBox="1"/>
          <p:nvPr/>
        </p:nvSpPr>
        <p:spPr>
          <a:xfrm>
            <a:off x="8198968" y="1965960"/>
            <a:ext cx="826732" cy="320040"/>
          </a:xfrm>
          <a:prstGeom prst="rect">
            <a:avLst/>
          </a:prstGeom>
          <a:noFill/>
          <a:ln/>
        </p:spPr>
        <p:txBody>
          <a:bodyPr wrap="square" lIns="0" tIns="0" rIns="0" bIns="0" rtlCol="0" anchor="t"/>
          <a:lstStyle/>
          <a:p>
            <a:pPr algn="ctr" indent="0" marL="0">
              <a:buNone/>
            </a:pPr>
            <a:r>
              <a:rPr lang="en-US" sz="1200" b="1" dirty="0">
                <a:solidFill>
                  <a:schemeClr val="accent4"/>
                </a:solidFill>
              </a:rPr>
              <a:t>S5</a:t>
            </a:r>
            <a:endParaRPr lang="en-US" sz="1200" dirty="0"/>
          </a:p>
        </p:txBody>
      </p:sp>
      <p:sp>
        <p:nvSpPr>
          <p:cNvPr id="13" name="C1_g4"/>
          <p:cNvSpPr/>
          <p:nvPr/>
        </p:nvSpPr>
        <p:spPr>
          <a:xfrm>
            <a:off x="8198968" y="2377440"/>
            <a:ext cx="0" cy="3429000"/>
          </a:xfrm>
          <a:prstGeom prst="line">
            <a:avLst/>
          </a:prstGeom>
          <a:noFill/>
          <a:ln w="12700">
            <a:solidFill>
              <a:srgbClr val="E1E6EC"/>
            </a:solidFill>
            <a:prstDash val="solid"/>
          </a:ln>
        </p:spPr>
      </p:sp>
      <p:sp>
        <p:nvSpPr>
          <p:cNvPr id="14" name="C1_w5"/>
          <p:cNvSpPr txBox="1"/>
          <p:nvPr/>
        </p:nvSpPr>
        <p:spPr>
          <a:xfrm>
            <a:off x="9025700" y="1965960"/>
            <a:ext cx="826732" cy="320040"/>
          </a:xfrm>
          <a:prstGeom prst="rect">
            <a:avLst/>
          </a:prstGeom>
          <a:noFill/>
          <a:ln/>
        </p:spPr>
        <p:txBody>
          <a:bodyPr wrap="square" lIns="0" tIns="0" rIns="0" bIns="0" rtlCol="0" anchor="t"/>
          <a:lstStyle/>
          <a:p>
            <a:pPr algn="ctr" indent="0" marL="0">
              <a:buNone/>
            </a:pPr>
            <a:r>
              <a:rPr lang="en-US" sz="1200" b="1" dirty="0">
                <a:solidFill>
                  <a:schemeClr val="accent4"/>
                </a:solidFill>
              </a:rPr>
              <a:t>S6</a:t>
            </a:r>
            <a:endParaRPr lang="en-US" sz="1200" dirty="0"/>
          </a:p>
        </p:txBody>
      </p:sp>
      <p:sp>
        <p:nvSpPr>
          <p:cNvPr id="15" name="C1_g5"/>
          <p:cNvSpPr/>
          <p:nvPr/>
        </p:nvSpPr>
        <p:spPr>
          <a:xfrm>
            <a:off x="9025700" y="2377440"/>
            <a:ext cx="0" cy="3429000"/>
          </a:xfrm>
          <a:prstGeom prst="line">
            <a:avLst/>
          </a:prstGeom>
          <a:noFill/>
          <a:ln w="12700">
            <a:solidFill>
              <a:srgbClr val="E1E6EC"/>
            </a:solidFill>
            <a:prstDash val="solid"/>
          </a:ln>
        </p:spPr>
      </p:sp>
      <p:sp>
        <p:nvSpPr>
          <p:cNvPr id="16" name="C1_w6"/>
          <p:cNvSpPr txBox="1"/>
          <p:nvPr/>
        </p:nvSpPr>
        <p:spPr>
          <a:xfrm>
            <a:off x="9852431" y="1965960"/>
            <a:ext cx="826732" cy="320040"/>
          </a:xfrm>
          <a:prstGeom prst="rect">
            <a:avLst/>
          </a:prstGeom>
          <a:noFill/>
          <a:ln/>
        </p:spPr>
        <p:txBody>
          <a:bodyPr wrap="square" lIns="0" tIns="0" rIns="0" bIns="0" rtlCol="0" anchor="t"/>
          <a:lstStyle/>
          <a:p>
            <a:pPr algn="ctr" indent="0" marL="0">
              <a:buNone/>
            </a:pPr>
            <a:r>
              <a:rPr lang="en-US" sz="1200" b="1" dirty="0">
                <a:solidFill>
                  <a:schemeClr val="accent4"/>
                </a:solidFill>
              </a:rPr>
              <a:t>S7</a:t>
            </a:r>
            <a:endParaRPr lang="en-US" sz="1200" dirty="0"/>
          </a:p>
        </p:txBody>
      </p:sp>
      <p:sp>
        <p:nvSpPr>
          <p:cNvPr id="17" name="C1_g6"/>
          <p:cNvSpPr/>
          <p:nvPr/>
        </p:nvSpPr>
        <p:spPr>
          <a:xfrm>
            <a:off x="9852431" y="2377440"/>
            <a:ext cx="0" cy="3429000"/>
          </a:xfrm>
          <a:prstGeom prst="line">
            <a:avLst/>
          </a:prstGeom>
          <a:noFill/>
          <a:ln w="12700">
            <a:solidFill>
              <a:srgbClr val="E1E6EC"/>
            </a:solidFill>
            <a:prstDash val="solid"/>
          </a:ln>
        </p:spPr>
      </p:sp>
      <p:sp>
        <p:nvSpPr>
          <p:cNvPr id="18" name="C1_w7"/>
          <p:cNvSpPr txBox="1"/>
          <p:nvPr/>
        </p:nvSpPr>
        <p:spPr>
          <a:xfrm>
            <a:off x="10679163" y="1965960"/>
            <a:ext cx="826732" cy="320040"/>
          </a:xfrm>
          <a:prstGeom prst="rect">
            <a:avLst/>
          </a:prstGeom>
          <a:noFill/>
          <a:ln/>
        </p:spPr>
        <p:txBody>
          <a:bodyPr wrap="square" lIns="0" tIns="0" rIns="0" bIns="0" rtlCol="0" anchor="t"/>
          <a:lstStyle/>
          <a:p>
            <a:pPr algn="ctr" indent="0" marL="0">
              <a:buNone/>
            </a:pPr>
            <a:r>
              <a:rPr lang="en-US" sz="1200" b="1" dirty="0">
                <a:solidFill>
                  <a:schemeClr val="accent4"/>
                </a:solidFill>
              </a:rPr>
              <a:t>S8</a:t>
            </a:r>
            <a:endParaRPr lang="en-US" sz="1200" dirty="0"/>
          </a:p>
        </p:txBody>
      </p:sp>
      <p:sp>
        <p:nvSpPr>
          <p:cNvPr id="19" name="C1_g7"/>
          <p:cNvSpPr/>
          <p:nvPr/>
        </p:nvSpPr>
        <p:spPr>
          <a:xfrm>
            <a:off x="10679163" y="2377440"/>
            <a:ext cx="0" cy="3429000"/>
          </a:xfrm>
          <a:prstGeom prst="line">
            <a:avLst/>
          </a:prstGeom>
          <a:noFill/>
          <a:ln w="12700">
            <a:solidFill>
              <a:srgbClr val="E1E6EC"/>
            </a:solidFill>
            <a:prstDash val="solid"/>
          </a:ln>
        </p:spPr>
      </p:sp>
      <p:sp>
        <p:nvSpPr>
          <p:cNvPr id="20" name="C1_t"/>
          <p:cNvSpPr txBox="1"/>
          <p:nvPr/>
        </p:nvSpPr>
        <p:spPr>
          <a:xfrm>
            <a:off x="685800" y="2514600"/>
            <a:ext cx="4023360" cy="548640"/>
          </a:xfrm>
          <a:prstGeom prst="rect">
            <a:avLst/>
          </a:prstGeom>
          <a:noFill/>
          <a:ln/>
        </p:spPr>
        <p:txBody>
          <a:bodyPr wrap="square" lIns="0" tIns="0" rIns="0" bIns="0" rtlCol="0" anchor="ctr"/>
          <a:lstStyle/>
          <a:p>
            <a:pPr indent="0" marL="0">
              <a:buNone/>
            </a:pPr>
            <a:r>
              <a:rPr lang="en-US" sz="1700" b="1" dirty="0">
                <a:solidFill>
                  <a:schemeClr val="tx1"/>
                </a:solidFill>
              </a:rPr>
              <a:t>Analyse et charte graphique</a:t>
            </a:r>
            <a:endParaRPr lang="en-US" sz="1700" dirty="0"/>
          </a:p>
        </p:txBody>
      </p:sp>
      <p:sp>
        <p:nvSpPr>
          <p:cNvPr id="21" name="C1_bar"/>
          <p:cNvSpPr/>
          <p:nvPr/>
        </p:nvSpPr>
        <p:spPr>
          <a:xfrm>
            <a:off x="4946904" y="2587752"/>
            <a:ext cx="1543736" cy="402336"/>
          </a:xfrm>
          <a:prstGeom prst="roundRect">
            <a:avLst>
              <a:gd name="adj" fmla="val 18182"/>
            </a:avLst>
          </a:prstGeom>
          <a:solidFill>
            <a:schemeClr val="tx1"/>
          </a:solidFill>
          <a:ln/>
        </p:spPr>
      </p:sp>
      <p:sp>
        <p:nvSpPr>
          <p:cNvPr id="22" name="C2_t"/>
          <p:cNvSpPr txBox="1"/>
          <p:nvPr/>
        </p:nvSpPr>
        <p:spPr>
          <a:xfrm>
            <a:off x="685800" y="3383280"/>
            <a:ext cx="4023360" cy="548640"/>
          </a:xfrm>
          <a:prstGeom prst="rect">
            <a:avLst/>
          </a:prstGeom>
          <a:noFill/>
          <a:ln/>
        </p:spPr>
        <p:txBody>
          <a:bodyPr wrap="square" lIns="0" tIns="0" rIns="0" bIns="0" rtlCol="0" anchor="ctr"/>
          <a:lstStyle/>
          <a:p>
            <a:pPr indent="0" marL="0">
              <a:buNone/>
            </a:pPr>
            <a:r>
              <a:rPr lang="en-US" sz="1700" b="1" dirty="0">
                <a:solidFill>
                  <a:schemeClr val="tx1"/>
                </a:solidFill>
              </a:rPr>
              <a:t>Supports print et maquette 3D</a:t>
            </a:r>
            <a:endParaRPr lang="en-US" sz="1700" dirty="0"/>
          </a:p>
        </p:txBody>
      </p:sp>
      <p:sp>
        <p:nvSpPr>
          <p:cNvPr id="23" name="C2_bar"/>
          <p:cNvSpPr/>
          <p:nvPr/>
        </p:nvSpPr>
        <p:spPr>
          <a:xfrm>
            <a:off x="6600368" y="3456432"/>
            <a:ext cx="1543736" cy="402336"/>
          </a:xfrm>
          <a:prstGeom prst="roundRect">
            <a:avLst>
              <a:gd name="adj" fmla="val 18182"/>
            </a:avLst>
          </a:prstGeom>
          <a:solidFill>
            <a:schemeClr val="tx1"/>
          </a:solidFill>
          <a:ln/>
        </p:spPr>
      </p:sp>
      <p:sp>
        <p:nvSpPr>
          <p:cNvPr id="24" name="C3_t"/>
          <p:cNvSpPr txBox="1"/>
          <p:nvPr/>
        </p:nvSpPr>
        <p:spPr>
          <a:xfrm>
            <a:off x="685800" y="4251960"/>
            <a:ext cx="4023360" cy="548640"/>
          </a:xfrm>
          <a:prstGeom prst="rect">
            <a:avLst/>
          </a:prstGeom>
          <a:noFill/>
          <a:ln/>
        </p:spPr>
        <p:txBody>
          <a:bodyPr wrap="square" lIns="0" tIns="0" rIns="0" bIns="0" rtlCol="0" anchor="ctr"/>
          <a:lstStyle/>
          <a:p>
            <a:pPr indent="0" marL="0">
              <a:buNone/>
            </a:pPr>
            <a:r>
              <a:rPr lang="en-US" sz="1700" b="1" dirty="0">
                <a:solidFill>
                  <a:schemeClr val="tx1"/>
                </a:solidFill>
              </a:rPr>
              <a:t>Spots animatiques 2D et 3D</a:t>
            </a:r>
            <a:endParaRPr lang="en-US" sz="1700" dirty="0"/>
          </a:p>
        </p:txBody>
      </p:sp>
      <p:sp>
        <p:nvSpPr>
          <p:cNvPr id="25" name="C3_bar"/>
          <p:cNvSpPr/>
          <p:nvPr/>
        </p:nvSpPr>
        <p:spPr>
          <a:xfrm>
            <a:off x="8253832" y="4325112"/>
            <a:ext cx="1543736" cy="402336"/>
          </a:xfrm>
          <a:prstGeom prst="roundRect">
            <a:avLst>
              <a:gd name="adj" fmla="val 18182"/>
            </a:avLst>
          </a:prstGeom>
          <a:solidFill>
            <a:schemeClr val="tx1"/>
          </a:solidFill>
          <a:ln/>
        </p:spPr>
      </p:sp>
      <p:sp>
        <p:nvSpPr>
          <p:cNvPr id="26" name="C4_t"/>
          <p:cNvSpPr txBox="1"/>
          <p:nvPr/>
        </p:nvSpPr>
        <p:spPr>
          <a:xfrm>
            <a:off x="685800" y="5120640"/>
            <a:ext cx="4023360" cy="548640"/>
          </a:xfrm>
          <a:prstGeom prst="rect">
            <a:avLst/>
          </a:prstGeom>
          <a:noFill/>
          <a:ln/>
        </p:spPr>
        <p:txBody>
          <a:bodyPr wrap="square" lIns="0" tIns="0" rIns="0" bIns="0" rtlCol="0" anchor="ctr"/>
          <a:lstStyle/>
          <a:p>
            <a:pPr indent="0" marL="0">
              <a:buNone/>
            </a:pPr>
            <a:r>
              <a:rPr lang="en-US" sz="1700" b="1" dirty="0">
                <a:solidFill>
                  <a:schemeClr val="tx1"/>
                </a:solidFill>
              </a:rPr>
              <a:t>Site web, intégration et tests</a:t>
            </a:r>
            <a:endParaRPr lang="en-US" sz="1700" dirty="0"/>
          </a:p>
        </p:txBody>
      </p:sp>
      <p:sp>
        <p:nvSpPr>
          <p:cNvPr id="27" name="C4_bar"/>
          <p:cNvSpPr/>
          <p:nvPr/>
        </p:nvSpPr>
        <p:spPr>
          <a:xfrm>
            <a:off x="9907295" y="5193792"/>
            <a:ext cx="1543736" cy="402336"/>
          </a:xfrm>
          <a:prstGeom prst="roundRect">
            <a:avLst>
              <a:gd name="adj" fmla="val 18182"/>
            </a:avLst>
          </a:prstGeom>
          <a:solidFill>
            <a:schemeClr val="accent1"/>
          </a:solidFill>
          <a:ln/>
        </p:spPr>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7"/>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8"/>
                                        </p:tgtEl>
                                        <p:attrNameLst>
                                          <p:attrName>ppt_x</p:attrName>
                                          <p:attrName>ppt_y</p:attrName>
                                        </p:attrNameLst>
                                      </p:cBhvr>
                                    </p:animMotion>
                                  </p:childTnLst>
                                </p:cTn>
                              </p:par>
                              <p:par>
                                <p:cTn id="37" presetID="10" presetClass="entr" presetSubtype="0" accel="0" decel="10000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childTnLst>
                                </p:cTn>
                              </p:par>
                              <p:par>
                                <p:cTn id="40" presetID="0" presetClass="path" presetSubtype="0" accel="0" decel="100000" fill="hold" grpId="1" nodeType="withEffect">
                                  <p:stCondLst>
                                    <p:cond delay="0"/>
                                  </p:stCondLst>
                                  <p:childTnLst>
                                    <p:animMotion origin="layout" path="M 0 0.02778 L 0 0 E" pathEditMode="relative" rAng="0" ptsTypes="AA">
                                      <p:cBhvr>
                                        <p:cTn id="41" dur="500" fill="hold"/>
                                        <p:tgtEl>
                                          <p:spTgt spid="9"/>
                                        </p:tgtEl>
                                        <p:attrNameLst>
                                          <p:attrName>ppt_x</p:attrName>
                                          <p:attrName>ppt_y</p:attrName>
                                        </p:attrNameLst>
                                      </p:cBhvr>
                                    </p:animMotion>
                                  </p:childTnLst>
                                </p:cTn>
                              </p:par>
                              <p:par>
                                <p:cTn id="42" presetID="10" presetClass="entr" presetSubtype="0" accel="0" decel="10000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childTnLst>
                                </p:cTn>
                              </p:par>
                              <p:par>
                                <p:cTn id="45" presetID="0" presetClass="path" presetSubtype="0" accel="0" decel="100000" fill="hold" grpId="1" nodeType="withEffect">
                                  <p:stCondLst>
                                    <p:cond delay="0"/>
                                  </p:stCondLst>
                                  <p:childTnLst>
                                    <p:animMotion origin="layout" path="M 0 0.02778 L 0 0 E" pathEditMode="relative" rAng="0" ptsTypes="AA">
                                      <p:cBhvr>
                                        <p:cTn id="46" dur="500" fill="hold"/>
                                        <p:tgtEl>
                                          <p:spTgt spid="10"/>
                                        </p:tgtEl>
                                        <p:attrNameLst>
                                          <p:attrName>ppt_x</p:attrName>
                                          <p:attrName>ppt_y</p:attrName>
                                        </p:attrNameLst>
                                      </p:cBhvr>
                                    </p:animMotion>
                                  </p:childTnLst>
                                </p:cTn>
                              </p:par>
                              <p:par>
                                <p:cTn id="47" presetID="10" presetClass="entr" presetSubtype="0" accel="0" decel="10000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childTnLst>
                                </p:cTn>
                              </p:par>
                              <p:par>
                                <p:cTn id="50" presetID="0" presetClass="path" presetSubtype="0" accel="0" decel="100000" fill="hold" grpId="1" nodeType="withEffect">
                                  <p:stCondLst>
                                    <p:cond delay="0"/>
                                  </p:stCondLst>
                                  <p:childTnLst>
                                    <p:animMotion origin="layout" path="M 0 0.02778 L 0 0 E" pathEditMode="relative" rAng="0" ptsTypes="AA">
                                      <p:cBhvr>
                                        <p:cTn id="51" dur="500" fill="hold"/>
                                        <p:tgtEl>
                                          <p:spTgt spid="11"/>
                                        </p:tgtEl>
                                        <p:attrNameLst>
                                          <p:attrName>ppt_x</p:attrName>
                                          <p:attrName>ppt_y</p:attrName>
                                        </p:attrNameLst>
                                      </p:cBhvr>
                                    </p:animMotion>
                                  </p:childTnLst>
                                </p:cTn>
                              </p:par>
                              <p:par>
                                <p:cTn id="52" presetID="10" presetClass="entr" presetSubtype="0" accel="0" decel="10000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p:tgtEl>
                                          <p:spTgt spid="12"/>
                                        </p:tgtEl>
                                      </p:cBhvr>
                                    </p:animEffect>
                                  </p:childTnLst>
                                </p:cTn>
                              </p:par>
                              <p:par>
                                <p:cTn id="55" presetID="0" presetClass="path" presetSubtype="0" accel="0" decel="100000" fill="hold" grpId="1" nodeType="withEffect">
                                  <p:stCondLst>
                                    <p:cond delay="0"/>
                                  </p:stCondLst>
                                  <p:childTnLst>
                                    <p:animMotion origin="layout" path="M 0 0.02778 L 0 0 E" pathEditMode="relative" rAng="0" ptsTypes="AA">
                                      <p:cBhvr>
                                        <p:cTn id="56" dur="500" fill="hold"/>
                                        <p:tgtEl>
                                          <p:spTgt spid="12"/>
                                        </p:tgtEl>
                                        <p:attrNameLst>
                                          <p:attrName>ppt_x</p:attrName>
                                          <p:attrName>ppt_y</p:attrName>
                                        </p:attrNameLst>
                                      </p:cBhvr>
                                    </p:animMotion>
                                  </p:childTnLst>
                                </p:cTn>
                              </p:par>
                              <p:par>
                                <p:cTn id="57" presetID="10" presetClass="entr" presetSubtype="0" accel="0" decel="10000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p:tgtEl>
                                          <p:spTgt spid="13"/>
                                        </p:tgtEl>
                                      </p:cBhvr>
                                    </p:animEffect>
                                  </p:childTnLst>
                                </p:cTn>
                              </p:par>
                              <p:par>
                                <p:cTn id="60" presetID="0" presetClass="path" presetSubtype="0" accel="0" decel="100000" fill="hold" grpId="1" nodeType="withEffect">
                                  <p:stCondLst>
                                    <p:cond delay="0"/>
                                  </p:stCondLst>
                                  <p:childTnLst>
                                    <p:animMotion origin="layout" path="M 0 0.02778 L 0 0 E" pathEditMode="relative" rAng="0" ptsTypes="AA">
                                      <p:cBhvr>
                                        <p:cTn id="61" dur="500" fill="hold"/>
                                        <p:tgtEl>
                                          <p:spTgt spid="13"/>
                                        </p:tgtEl>
                                        <p:attrNameLst>
                                          <p:attrName>ppt_x</p:attrName>
                                          <p:attrName>ppt_y</p:attrName>
                                        </p:attrNameLst>
                                      </p:cBhvr>
                                    </p:animMotion>
                                  </p:childTnLst>
                                </p:cTn>
                              </p:par>
                              <p:par>
                                <p:cTn id="62" presetID="10" presetClass="entr" presetSubtype="0" accel="0" decel="10000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500"/>
                                        <p:tgtEl>
                                          <p:spTgt spid="14"/>
                                        </p:tgtEl>
                                      </p:cBhvr>
                                    </p:animEffect>
                                  </p:childTnLst>
                                </p:cTn>
                              </p:par>
                              <p:par>
                                <p:cTn id="65" presetID="0" presetClass="path" presetSubtype="0" accel="0" decel="100000" fill="hold" grpId="1" nodeType="withEffect">
                                  <p:stCondLst>
                                    <p:cond delay="0"/>
                                  </p:stCondLst>
                                  <p:childTnLst>
                                    <p:animMotion origin="layout" path="M 0 0.02778 L 0 0 E" pathEditMode="relative" rAng="0" ptsTypes="AA">
                                      <p:cBhvr>
                                        <p:cTn id="66" dur="500" fill="hold"/>
                                        <p:tgtEl>
                                          <p:spTgt spid="14"/>
                                        </p:tgtEl>
                                        <p:attrNameLst>
                                          <p:attrName>ppt_x</p:attrName>
                                          <p:attrName>ppt_y</p:attrName>
                                        </p:attrNameLst>
                                      </p:cBhvr>
                                    </p:animMotion>
                                  </p:childTnLst>
                                </p:cTn>
                              </p:par>
                              <p:par>
                                <p:cTn id="67" presetID="10" presetClass="entr" presetSubtype="0" accel="0" decel="10000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500"/>
                                        <p:tgtEl>
                                          <p:spTgt spid="15"/>
                                        </p:tgtEl>
                                      </p:cBhvr>
                                    </p:animEffect>
                                  </p:childTnLst>
                                </p:cTn>
                              </p:par>
                              <p:par>
                                <p:cTn id="70" presetID="0" presetClass="path" presetSubtype="0" accel="0" decel="100000" fill="hold" grpId="1" nodeType="withEffect">
                                  <p:stCondLst>
                                    <p:cond delay="0"/>
                                  </p:stCondLst>
                                  <p:childTnLst>
                                    <p:animMotion origin="layout" path="M 0 0.02778 L 0 0 E" pathEditMode="relative" rAng="0" ptsTypes="AA">
                                      <p:cBhvr>
                                        <p:cTn id="71" dur="500" fill="hold"/>
                                        <p:tgtEl>
                                          <p:spTgt spid="15"/>
                                        </p:tgtEl>
                                        <p:attrNameLst>
                                          <p:attrName>ppt_x</p:attrName>
                                          <p:attrName>ppt_y</p:attrName>
                                        </p:attrNameLst>
                                      </p:cBhvr>
                                    </p:animMotion>
                                  </p:childTnLst>
                                </p:cTn>
                              </p:par>
                              <p:par>
                                <p:cTn id="72" presetID="10" presetClass="entr" presetSubtype="0" accel="0" decel="10000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500"/>
                                        <p:tgtEl>
                                          <p:spTgt spid="16"/>
                                        </p:tgtEl>
                                      </p:cBhvr>
                                    </p:animEffect>
                                  </p:childTnLst>
                                </p:cTn>
                              </p:par>
                              <p:par>
                                <p:cTn id="75" presetID="0" presetClass="path" presetSubtype="0" accel="0" decel="100000" fill="hold" grpId="1" nodeType="withEffect">
                                  <p:stCondLst>
                                    <p:cond delay="0"/>
                                  </p:stCondLst>
                                  <p:childTnLst>
                                    <p:animMotion origin="layout" path="M 0 0.02778 L 0 0 E" pathEditMode="relative" rAng="0" ptsTypes="AA">
                                      <p:cBhvr>
                                        <p:cTn id="76" dur="500" fill="hold"/>
                                        <p:tgtEl>
                                          <p:spTgt spid="16"/>
                                        </p:tgtEl>
                                        <p:attrNameLst>
                                          <p:attrName>ppt_x</p:attrName>
                                          <p:attrName>ppt_y</p:attrName>
                                        </p:attrNameLst>
                                      </p:cBhvr>
                                    </p:animMotion>
                                  </p:childTnLst>
                                </p:cTn>
                              </p:par>
                              <p:par>
                                <p:cTn id="77" presetID="10" presetClass="entr" presetSubtype="0" accel="0" decel="10000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500"/>
                                        <p:tgtEl>
                                          <p:spTgt spid="17"/>
                                        </p:tgtEl>
                                      </p:cBhvr>
                                    </p:animEffect>
                                  </p:childTnLst>
                                </p:cTn>
                              </p:par>
                              <p:par>
                                <p:cTn id="80" presetID="0" presetClass="path" presetSubtype="0" accel="0" decel="100000" fill="hold" grpId="1" nodeType="withEffect">
                                  <p:stCondLst>
                                    <p:cond delay="0"/>
                                  </p:stCondLst>
                                  <p:childTnLst>
                                    <p:animMotion origin="layout" path="M 0 0.02778 L 0 0 E" pathEditMode="relative" rAng="0" ptsTypes="AA">
                                      <p:cBhvr>
                                        <p:cTn id="81" dur="500" fill="hold"/>
                                        <p:tgtEl>
                                          <p:spTgt spid="17"/>
                                        </p:tgtEl>
                                        <p:attrNameLst>
                                          <p:attrName>ppt_x</p:attrName>
                                          <p:attrName>ppt_y</p:attrName>
                                        </p:attrNameLst>
                                      </p:cBhvr>
                                    </p:animMotion>
                                  </p:childTnLst>
                                </p:cTn>
                              </p:par>
                              <p:par>
                                <p:cTn id="82" presetID="10" presetClass="entr" presetSubtype="0" accel="0" decel="100000" fill="hold" grpId="0" nodeType="withEffect">
                                  <p:stCondLst>
                                    <p:cond delay="0"/>
                                  </p:stCondLst>
                                  <p:childTnLst>
                                    <p:set>
                                      <p:cBhvr>
                                        <p:cTn id="83" dur="1" fill="hold">
                                          <p:stCondLst>
                                            <p:cond delay="0"/>
                                          </p:stCondLst>
                                        </p:cTn>
                                        <p:tgtEl>
                                          <p:spTgt spid="18"/>
                                        </p:tgtEl>
                                        <p:attrNameLst>
                                          <p:attrName>style.visibility</p:attrName>
                                        </p:attrNameLst>
                                      </p:cBhvr>
                                      <p:to>
                                        <p:strVal val="visible"/>
                                      </p:to>
                                    </p:set>
                                    <p:animEffect transition="in" filter="fade">
                                      <p:cBhvr>
                                        <p:cTn id="84" dur="500"/>
                                        <p:tgtEl>
                                          <p:spTgt spid="18"/>
                                        </p:tgtEl>
                                      </p:cBhvr>
                                    </p:animEffect>
                                  </p:childTnLst>
                                </p:cTn>
                              </p:par>
                              <p:par>
                                <p:cTn id="85" presetID="0" presetClass="path" presetSubtype="0" accel="0" decel="100000" fill="hold" grpId="1" nodeType="withEffect">
                                  <p:stCondLst>
                                    <p:cond delay="0"/>
                                  </p:stCondLst>
                                  <p:childTnLst>
                                    <p:animMotion origin="layout" path="M 0 0.02778 L 0 0 E" pathEditMode="relative" rAng="0" ptsTypes="AA">
                                      <p:cBhvr>
                                        <p:cTn id="86" dur="500" fill="hold"/>
                                        <p:tgtEl>
                                          <p:spTgt spid="18"/>
                                        </p:tgtEl>
                                        <p:attrNameLst>
                                          <p:attrName>ppt_x</p:attrName>
                                          <p:attrName>ppt_y</p:attrName>
                                        </p:attrNameLst>
                                      </p:cBhvr>
                                    </p:animMotion>
                                  </p:childTnLst>
                                </p:cTn>
                              </p:par>
                              <p:par>
                                <p:cTn id="87" presetID="10" presetClass="entr" presetSubtype="0" accel="0" decel="100000" fill="hold" grpId="0" nodeType="withEffect">
                                  <p:stCondLst>
                                    <p:cond delay="0"/>
                                  </p:stCondLst>
                                  <p:childTnLst>
                                    <p:set>
                                      <p:cBhvr>
                                        <p:cTn id="88" dur="1" fill="hold">
                                          <p:stCondLst>
                                            <p:cond delay="0"/>
                                          </p:stCondLst>
                                        </p:cTn>
                                        <p:tgtEl>
                                          <p:spTgt spid="19"/>
                                        </p:tgtEl>
                                        <p:attrNameLst>
                                          <p:attrName>style.visibility</p:attrName>
                                        </p:attrNameLst>
                                      </p:cBhvr>
                                      <p:to>
                                        <p:strVal val="visible"/>
                                      </p:to>
                                    </p:set>
                                    <p:animEffect transition="in" filter="fade">
                                      <p:cBhvr>
                                        <p:cTn id="89" dur="500"/>
                                        <p:tgtEl>
                                          <p:spTgt spid="19"/>
                                        </p:tgtEl>
                                      </p:cBhvr>
                                    </p:animEffect>
                                  </p:childTnLst>
                                </p:cTn>
                              </p:par>
                              <p:par>
                                <p:cTn id="90" presetID="0" presetClass="path" presetSubtype="0" accel="0" decel="100000" fill="hold" grpId="1" nodeType="withEffect">
                                  <p:stCondLst>
                                    <p:cond delay="0"/>
                                  </p:stCondLst>
                                  <p:childTnLst>
                                    <p:animMotion origin="layout" path="M 0 0.02778 L 0 0 E" pathEditMode="relative" rAng="0" ptsTypes="AA">
                                      <p:cBhvr>
                                        <p:cTn id="91" dur="500" fill="hold"/>
                                        <p:tgtEl>
                                          <p:spTgt spid="19"/>
                                        </p:tgtEl>
                                        <p:attrNameLst>
                                          <p:attrName>ppt_x</p:attrName>
                                          <p:attrName>ppt_y</p:attrName>
                                        </p:attrNameLst>
                                      </p:cBhvr>
                                    </p:animMotion>
                                  </p:childTnLst>
                                </p:cTn>
                              </p:par>
                              <p:par>
                                <p:cTn id="92" presetID="10" presetClass="entr" presetSubtype="0" accel="0" decel="100000" fill="hold" grpId="0" nodeType="withEffect">
                                  <p:stCondLst>
                                    <p:cond delay="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500"/>
                                        <p:tgtEl>
                                          <p:spTgt spid="20"/>
                                        </p:tgtEl>
                                      </p:cBhvr>
                                    </p:animEffect>
                                  </p:childTnLst>
                                </p:cTn>
                              </p:par>
                              <p:par>
                                <p:cTn id="95" presetID="0" presetClass="path" presetSubtype="0" accel="0" decel="100000" fill="hold" grpId="1" nodeType="withEffect">
                                  <p:stCondLst>
                                    <p:cond delay="0"/>
                                  </p:stCondLst>
                                  <p:childTnLst>
                                    <p:animMotion origin="layout" path="M 0 0.02778 L 0 0 E" pathEditMode="relative" rAng="0" ptsTypes="AA">
                                      <p:cBhvr>
                                        <p:cTn id="96" dur="500" fill="hold"/>
                                        <p:tgtEl>
                                          <p:spTgt spid="20"/>
                                        </p:tgtEl>
                                        <p:attrNameLst>
                                          <p:attrName>ppt_x</p:attrName>
                                          <p:attrName>ppt_y</p:attrName>
                                        </p:attrNameLst>
                                      </p:cBhvr>
                                    </p:animMotion>
                                  </p:childTnLst>
                                </p:cTn>
                              </p:par>
                              <p:par>
                                <p:cTn id="97" presetID="10" presetClass="entr" presetSubtype="0" accel="0" decel="100000" fill="hold" grpId="0" nodeType="withEffect">
                                  <p:stCondLst>
                                    <p:cond delay="0"/>
                                  </p:stCondLst>
                                  <p:childTnLst>
                                    <p:set>
                                      <p:cBhvr>
                                        <p:cTn id="98" dur="1" fill="hold">
                                          <p:stCondLst>
                                            <p:cond delay="0"/>
                                          </p:stCondLst>
                                        </p:cTn>
                                        <p:tgtEl>
                                          <p:spTgt spid="21"/>
                                        </p:tgtEl>
                                        <p:attrNameLst>
                                          <p:attrName>style.visibility</p:attrName>
                                        </p:attrNameLst>
                                      </p:cBhvr>
                                      <p:to>
                                        <p:strVal val="visible"/>
                                      </p:to>
                                    </p:set>
                                    <p:animEffect transition="in" filter="fade">
                                      <p:cBhvr>
                                        <p:cTn id="99" dur="500"/>
                                        <p:tgtEl>
                                          <p:spTgt spid="21"/>
                                        </p:tgtEl>
                                      </p:cBhvr>
                                    </p:animEffect>
                                  </p:childTnLst>
                                </p:cTn>
                              </p:par>
                              <p:par>
                                <p:cTn id="100" presetID="0" presetClass="path" presetSubtype="0" accel="0" decel="100000" fill="hold" grpId="1" nodeType="withEffect">
                                  <p:stCondLst>
                                    <p:cond delay="0"/>
                                  </p:stCondLst>
                                  <p:childTnLst>
                                    <p:animMotion origin="layout" path="M 0 0.02778 L 0 0 E" pathEditMode="relative" rAng="0" ptsTypes="AA">
                                      <p:cBhvr>
                                        <p:cTn id="101" dur="500" fill="hold"/>
                                        <p:tgtEl>
                                          <p:spTgt spid="21"/>
                                        </p:tgtEl>
                                        <p:attrNameLst>
                                          <p:attrName>ppt_x</p:attrName>
                                          <p:attrName>ppt_y</p:attrName>
                                        </p:attrNameLst>
                                      </p:cBhvr>
                                    </p:animMotion>
                                  </p:childTnLst>
                                </p:cTn>
                              </p:par>
                            </p:childTnLst>
                          </p:cTn>
                        </p:par>
                      </p:childTnLst>
                    </p:cTn>
                  </p:par>
                  <p:par>
                    <p:cTn id="102" fill="hold">
                      <p:stCondLst>
                        <p:cond delay="indefinite"/>
                      </p:stCondLst>
                      <p:childTnLst>
                        <p:par>
                          <p:cTn id="103" fill="hold">
                            <p:stCondLst>
                              <p:cond delay="0"/>
                            </p:stCondLst>
                            <p:childTnLst>
                              <p:par>
                                <p:cTn id="104" presetID="10" presetClass="entr" presetSubtype="0" accel="0" decel="100000" fill="hold" grpId="0" nodeType="click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500"/>
                                        <p:tgtEl>
                                          <p:spTgt spid="22"/>
                                        </p:tgtEl>
                                      </p:cBhvr>
                                    </p:animEffect>
                                  </p:childTnLst>
                                </p:cTn>
                              </p:par>
                              <p:par>
                                <p:cTn id="107" presetID="0" presetClass="path" presetSubtype="0" accel="0" decel="100000" fill="hold" grpId="1" nodeType="withEffect">
                                  <p:stCondLst>
                                    <p:cond delay="0"/>
                                  </p:stCondLst>
                                  <p:childTnLst>
                                    <p:animMotion origin="layout" path="M 0 0.02778 L 0 0 E" pathEditMode="relative" rAng="0" ptsTypes="AA">
                                      <p:cBhvr>
                                        <p:cTn id="108" dur="500" fill="hold"/>
                                        <p:tgtEl>
                                          <p:spTgt spid="22"/>
                                        </p:tgtEl>
                                        <p:attrNameLst>
                                          <p:attrName>ppt_x</p:attrName>
                                          <p:attrName>ppt_y</p:attrName>
                                        </p:attrNameLst>
                                      </p:cBhvr>
                                    </p:animMotion>
                                  </p:childTnLst>
                                </p:cTn>
                              </p:par>
                              <p:par>
                                <p:cTn id="109" presetID="10" presetClass="entr" presetSubtype="0" accel="0" decel="10000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500"/>
                                        <p:tgtEl>
                                          <p:spTgt spid="23"/>
                                        </p:tgtEl>
                                      </p:cBhvr>
                                    </p:animEffect>
                                  </p:childTnLst>
                                </p:cTn>
                              </p:par>
                              <p:par>
                                <p:cTn id="112" presetID="0" presetClass="path" presetSubtype="0" accel="0" decel="100000" fill="hold" grpId="1" nodeType="withEffect">
                                  <p:stCondLst>
                                    <p:cond delay="0"/>
                                  </p:stCondLst>
                                  <p:childTnLst>
                                    <p:animMotion origin="layout" path="M 0 0.02778 L 0 0 E" pathEditMode="relative" rAng="0" ptsTypes="AA">
                                      <p:cBhvr>
                                        <p:cTn id="113" dur="500" fill="hold"/>
                                        <p:tgtEl>
                                          <p:spTgt spid="23"/>
                                        </p:tgtEl>
                                        <p:attrNameLst>
                                          <p:attrName>ppt_x</p:attrName>
                                          <p:attrName>ppt_y</p:attrName>
                                        </p:attrNameLst>
                                      </p:cBhvr>
                                    </p:animMotion>
                                  </p:childTnLst>
                                </p:cTn>
                              </p:par>
                            </p:childTnLst>
                          </p:cTn>
                        </p:par>
                      </p:childTnLst>
                    </p:cTn>
                  </p:par>
                  <p:par>
                    <p:cTn id="114" fill="hold">
                      <p:stCondLst>
                        <p:cond delay="indefinite"/>
                      </p:stCondLst>
                      <p:childTnLst>
                        <p:par>
                          <p:cTn id="115" fill="hold">
                            <p:stCondLst>
                              <p:cond delay="0"/>
                            </p:stCondLst>
                            <p:childTnLst>
                              <p:par>
                                <p:cTn id="116" presetID="10" presetClass="entr" presetSubtype="0" accel="0" decel="100000" fill="hold" grpId="0" nodeType="clickEffect">
                                  <p:stCondLst>
                                    <p:cond delay="0"/>
                                  </p:stCondLst>
                                  <p:childTnLst>
                                    <p:set>
                                      <p:cBhvr>
                                        <p:cTn id="117" dur="1" fill="hold">
                                          <p:stCondLst>
                                            <p:cond delay="0"/>
                                          </p:stCondLst>
                                        </p:cTn>
                                        <p:tgtEl>
                                          <p:spTgt spid="24"/>
                                        </p:tgtEl>
                                        <p:attrNameLst>
                                          <p:attrName>style.visibility</p:attrName>
                                        </p:attrNameLst>
                                      </p:cBhvr>
                                      <p:to>
                                        <p:strVal val="visible"/>
                                      </p:to>
                                    </p:set>
                                    <p:animEffect transition="in" filter="fade">
                                      <p:cBhvr>
                                        <p:cTn id="118" dur="500"/>
                                        <p:tgtEl>
                                          <p:spTgt spid="24"/>
                                        </p:tgtEl>
                                      </p:cBhvr>
                                    </p:animEffect>
                                  </p:childTnLst>
                                </p:cTn>
                              </p:par>
                              <p:par>
                                <p:cTn id="119" presetID="0" presetClass="path" presetSubtype="0" accel="0" decel="100000" fill="hold" grpId="1" nodeType="withEffect">
                                  <p:stCondLst>
                                    <p:cond delay="0"/>
                                  </p:stCondLst>
                                  <p:childTnLst>
                                    <p:animMotion origin="layout" path="M 0 0.02778 L 0 0 E" pathEditMode="relative" rAng="0" ptsTypes="AA">
                                      <p:cBhvr>
                                        <p:cTn id="120" dur="500" fill="hold"/>
                                        <p:tgtEl>
                                          <p:spTgt spid="24"/>
                                        </p:tgtEl>
                                        <p:attrNameLst>
                                          <p:attrName>ppt_x</p:attrName>
                                          <p:attrName>ppt_y</p:attrName>
                                        </p:attrNameLst>
                                      </p:cBhvr>
                                    </p:animMotion>
                                  </p:childTnLst>
                                </p:cTn>
                              </p:par>
                              <p:par>
                                <p:cTn id="121" presetID="10" presetClass="entr" presetSubtype="0" accel="0" decel="100000" fill="hold" grpId="0" nodeType="withEffect">
                                  <p:stCondLst>
                                    <p:cond delay="0"/>
                                  </p:stCondLst>
                                  <p:childTnLst>
                                    <p:set>
                                      <p:cBhvr>
                                        <p:cTn id="122" dur="1" fill="hold">
                                          <p:stCondLst>
                                            <p:cond delay="0"/>
                                          </p:stCondLst>
                                        </p:cTn>
                                        <p:tgtEl>
                                          <p:spTgt spid="25"/>
                                        </p:tgtEl>
                                        <p:attrNameLst>
                                          <p:attrName>style.visibility</p:attrName>
                                        </p:attrNameLst>
                                      </p:cBhvr>
                                      <p:to>
                                        <p:strVal val="visible"/>
                                      </p:to>
                                    </p:set>
                                    <p:animEffect transition="in" filter="fade">
                                      <p:cBhvr>
                                        <p:cTn id="123" dur="500"/>
                                        <p:tgtEl>
                                          <p:spTgt spid="25"/>
                                        </p:tgtEl>
                                      </p:cBhvr>
                                    </p:animEffect>
                                  </p:childTnLst>
                                </p:cTn>
                              </p:par>
                              <p:par>
                                <p:cTn id="124" presetID="0" presetClass="path" presetSubtype="0" accel="0" decel="100000" fill="hold" grpId="1" nodeType="withEffect">
                                  <p:stCondLst>
                                    <p:cond delay="0"/>
                                  </p:stCondLst>
                                  <p:childTnLst>
                                    <p:animMotion origin="layout" path="M 0 0.02778 L 0 0 E" pathEditMode="relative" rAng="0" ptsTypes="AA">
                                      <p:cBhvr>
                                        <p:cTn id="125" dur="500" fill="hold"/>
                                        <p:tgtEl>
                                          <p:spTgt spid="25"/>
                                        </p:tgtEl>
                                        <p:attrNameLst>
                                          <p:attrName>ppt_x</p:attrName>
                                          <p:attrName>ppt_y</p:attrName>
                                        </p:attrNameLst>
                                      </p:cBhvr>
                                    </p:animMotion>
                                  </p:childTnLst>
                                </p:cTn>
                              </p:par>
                            </p:childTnLst>
                          </p:cTn>
                        </p:par>
                      </p:childTnLst>
                    </p:cTn>
                  </p:par>
                  <p:par>
                    <p:cTn id="126" fill="hold">
                      <p:stCondLst>
                        <p:cond delay="indefinite"/>
                      </p:stCondLst>
                      <p:childTnLst>
                        <p:par>
                          <p:cTn id="127" fill="hold">
                            <p:stCondLst>
                              <p:cond delay="0"/>
                            </p:stCondLst>
                            <p:childTnLst>
                              <p:par>
                                <p:cTn id="128" presetID="10" presetClass="entr" presetSubtype="0" accel="0" decel="10000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500"/>
                                        <p:tgtEl>
                                          <p:spTgt spid="26"/>
                                        </p:tgtEl>
                                      </p:cBhvr>
                                    </p:animEffect>
                                  </p:childTnLst>
                                </p:cTn>
                              </p:par>
                              <p:par>
                                <p:cTn id="131" presetID="0" presetClass="path" presetSubtype="0" accel="0" decel="100000" fill="hold" grpId="1" nodeType="withEffect">
                                  <p:stCondLst>
                                    <p:cond delay="0"/>
                                  </p:stCondLst>
                                  <p:childTnLst>
                                    <p:animMotion origin="layout" path="M 0 0.02778 L 0 0 E" pathEditMode="relative" rAng="0" ptsTypes="AA">
                                      <p:cBhvr>
                                        <p:cTn id="132" dur="500" fill="hold"/>
                                        <p:tgtEl>
                                          <p:spTgt spid="26"/>
                                        </p:tgtEl>
                                        <p:attrNameLst>
                                          <p:attrName>ppt_x</p:attrName>
                                          <p:attrName>ppt_y</p:attrName>
                                        </p:attrNameLst>
                                      </p:cBhvr>
                                    </p:animMotion>
                                  </p:childTnLst>
                                </p:cTn>
                              </p:par>
                              <p:par>
                                <p:cTn id="133" presetID="10" presetClass="entr" presetSubtype="0" accel="0" decel="100000" fill="hold" grpId="0" nodeType="withEffect">
                                  <p:stCondLst>
                                    <p:cond delay="0"/>
                                  </p:stCondLst>
                                  <p:childTnLst>
                                    <p:set>
                                      <p:cBhvr>
                                        <p:cTn id="134" dur="1" fill="hold">
                                          <p:stCondLst>
                                            <p:cond delay="0"/>
                                          </p:stCondLst>
                                        </p:cTn>
                                        <p:tgtEl>
                                          <p:spTgt spid="27"/>
                                        </p:tgtEl>
                                        <p:attrNameLst>
                                          <p:attrName>style.visibility</p:attrName>
                                        </p:attrNameLst>
                                      </p:cBhvr>
                                      <p:to>
                                        <p:strVal val="visible"/>
                                      </p:to>
                                    </p:set>
                                    <p:animEffect transition="in" filter="fade">
                                      <p:cBhvr>
                                        <p:cTn id="135" dur="500"/>
                                        <p:tgtEl>
                                          <p:spTgt spid="27"/>
                                        </p:tgtEl>
                                      </p:cBhvr>
                                    </p:animEffect>
                                  </p:childTnLst>
                                </p:cTn>
                              </p:par>
                              <p:par>
                                <p:cTn id="136" presetID="0" presetClass="path" presetSubtype="0" accel="0" decel="100000" fill="hold" grpId="1" nodeType="withEffect">
                                  <p:stCondLst>
                                    <p:cond delay="0"/>
                                  </p:stCondLst>
                                  <p:childTnLst>
                                    <p:animMotion origin="layout" path="M 0 0.02778 L 0 0 E" pathEditMode="relative" rAng="0" ptsTypes="AA">
                                      <p:cBhvr>
                                        <p:cTn id="137" dur="500" fill="hold"/>
                                        <p:tgtEl>
                                          <p:spTgt spid="27"/>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5" grpId="0" animBg="1"/>
      <p:bldP spid="5" grpId="1" animBg="1"/>
      <p:bldP spid="6" grpId="0" animBg="1"/>
      <p:bldP spid="6" grpId="1" animBg="1"/>
      <p:bldP spid="8" grpId="0" animBg="1"/>
      <p:bldP spid="8" grpId="1" animBg="1"/>
      <p:bldP spid="10" grpId="0" animBg="1"/>
      <p:bldP spid="10" grpId="1" animBg="1"/>
      <p:bldP spid="12" grpId="0" animBg="1"/>
      <p:bldP spid="12" grpId="1" animBg="1"/>
      <p:bldP spid="14" grpId="0" animBg="1"/>
      <p:bldP spid="14" grpId="1" animBg="1"/>
      <p:bldP spid="16" grpId="0" animBg="1"/>
      <p:bldP spid="16" grpId="1" animBg="1"/>
      <p:bldP spid="18" grpId="0" animBg="1"/>
      <p:bldP spid="18" grpId="1" animBg="1"/>
      <p:bldP spid="20" grpId="0" animBg="1"/>
      <p:bldP spid="20" grpId="1" animBg="1"/>
      <p:bldP spid="22" grpId="0" animBg="1"/>
      <p:bldP spid="22" grpId="1" animBg="1"/>
      <p:bldP spid="24" grpId="0" animBg="1"/>
      <p:bldP spid="24" grpId="1" animBg="1"/>
      <p:bldP spid="25" grpId="0" animBg="1"/>
      <p:bldP spid="25" grpId="1" animBg="1"/>
      <p:bldP spid="26" grpId="0" animBg="1"/>
      <p:bldP spid="26"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03  ·  IDENTITÉ VISUELLE</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De l’esquisse au logo final</a:t>
            </a:r>
            <a:endParaRPr lang="en-US" sz="3000" dirty="0"/>
          </a:p>
        </p:txBody>
      </p:sp>
      <p:pic>
        <p:nvPicPr>
          <p:cNvPr id="5" name="C1_esq" descr="Esquisse du logo">    </p:cNvPr>
          <p:cNvPicPr>
            <a:picLocks noChangeAspect="1"/>
          </p:cNvPicPr>
          <p:nvPr/>
        </p:nvPicPr>
        <p:blipFill>
          <a:blip r:embed="rId1"/>
          <a:stretch>
            <a:fillRect/>
          </a:stretch>
        </p:blipFill>
        <p:spPr>
          <a:xfrm>
            <a:off x="685800" y="2103261"/>
            <a:ext cx="4754880" cy="3108677"/>
          </a:xfrm>
          <a:prstGeom prst="rect">
            <a:avLst/>
          </a:prstGeom>
          <a:effectLst>
            <a:outerShdw sx="100000" sy="100000" kx="0" ky="0" algn="bl" rotWithShape="0" blurRad="177800" dist="50800" dir="5400000">
              <a:srgbClr val="1D3557">
                <a:alpha val="16000"/>
              </a:srgbClr>
            </a:outerShdw>
          </a:effectLst>
        </p:spPr>
      </p:pic>
      <p:sp>
        <p:nvSpPr>
          <p:cNvPr id="6" name="C1_cap"/>
          <p:cNvSpPr txBox="1"/>
          <p:nvPr/>
        </p:nvSpPr>
        <p:spPr>
          <a:xfrm>
            <a:off x="685800" y="5486400"/>
            <a:ext cx="4754880" cy="274320"/>
          </a:xfrm>
          <a:prstGeom prst="rect">
            <a:avLst/>
          </a:prstGeom>
          <a:noFill/>
          <a:ln/>
        </p:spPr>
        <p:txBody>
          <a:bodyPr wrap="square" lIns="0" tIns="0" rIns="0" bIns="0" rtlCol="0" anchor="t"/>
          <a:lstStyle/>
          <a:p>
            <a:pPr algn="l" indent="0" marL="0">
              <a:buNone/>
            </a:pPr>
            <a:r>
              <a:rPr lang="en-US" sz="1100" dirty="0">
                <a:solidFill>
                  <a:schemeClr val="accent4"/>
                </a:solidFill>
              </a:rPr>
              <a:t>Esquisse : haltère, poing fermé, étoiles</a:t>
            </a:r>
            <a:endParaRPr lang="en-US" sz="1100" dirty="0"/>
          </a:p>
        </p:txBody>
      </p:sp>
      <p:pic>
        <p:nvPicPr>
          <p:cNvPr id="7" name="C2_arrow" descr="preencoded.png">    </p:cNvPr>
          <p:cNvPicPr>
            <a:picLocks noChangeAspect="1"/>
          </p:cNvPicPr>
          <p:nvPr/>
        </p:nvPicPr>
        <p:blipFill>
          <a:blip r:embed="rId2"/>
          <a:stretch>
            <a:fillRect/>
          </a:stretch>
        </p:blipFill>
        <p:spPr>
          <a:xfrm>
            <a:off x="5760720" y="3337560"/>
            <a:ext cx="640080" cy="640080"/>
          </a:xfrm>
          <a:prstGeom prst="rect">
            <a:avLst/>
          </a:prstGeom>
        </p:spPr>
      </p:pic>
      <p:pic>
        <p:nvPicPr>
          <p:cNvPr id="8" name="C2_logo" descr="Logo final American's Gym">    </p:cNvPr>
          <p:cNvPicPr>
            <a:picLocks noChangeAspect="1"/>
          </p:cNvPicPr>
          <p:nvPr/>
        </p:nvPicPr>
        <p:blipFill>
          <a:blip r:embed="rId3"/>
          <a:stretch>
            <a:fillRect/>
          </a:stretch>
        </p:blipFill>
        <p:spPr>
          <a:xfrm>
            <a:off x="6973902" y="2011680"/>
            <a:ext cx="4340197" cy="3291840"/>
          </a:xfrm>
          <a:prstGeom prst="rect">
            <a:avLst/>
          </a:prstGeom>
        </p:spPr>
      </p:pic>
      <p:sp>
        <p:nvSpPr>
          <p:cNvPr id="9" name="C2_cap"/>
          <p:cNvSpPr txBox="1"/>
          <p:nvPr/>
        </p:nvSpPr>
        <p:spPr>
          <a:xfrm>
            <a:off x="6766560" y="5486400"/>
            <a:ext cx="4754880" cy="274320"/>
          </a:xfrm>
          <a:prstGeom prst="rect">
            <a:avLst/>
          </a:prstGeom>
          <a:noFill/>
          <a:ln/>
        </p:spPr>
        <p:txBody>
          <a:bodyPr wrap="square" lIns="0" tIns="0" rIns="0" bIns="0" rtlCol="0" anchor="t"/>
          <a:lstStyle/>
          <a:p>
            <a:pPr algn="l" indent="0" marL="0">
              <a:buNone/>
            </a:pPr>
            <a:r>
              <a:rPr lang="en-US" sz="1100" dirty="0">
                <a:solidFill>
                  <a:schemeClr val="accent4"/>
                </a:solidFill>
              </a:rPr>
              <a:t>Logo final : une main tenant un haltère, surmontée d’étoiles</a:t>
            </a:r>
            <a:endParaRPr lang="en-US" sz="11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10" presetClass="entr" presetSubtype="0" accel="0" decel="10000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par>
                                <p:cTn id="32" presetID="0" presetClass="path" presetSubtype="0" accel="0" decel="100000" fill="hold" grpId="1" nodeType="withEffect">
                                  <p:stCondLst>
                                    <p:cond delay="0"/>
                                  </p:stCondLst>
                                  <p:childTnLst>
                                    <p:animMotion origin="layout" path="M 0 0.02778 L 0 0 E" pathEditMode="relative" rAng="0" ptsTypes="AA">
                                      <p:cBhvr>
                                        <p:cTn id="33" dur="500" fill="hold"/>
                                        <p:tgtEl>
                                          <p:spTgt spid="7"/>
                                        </p:tgtEl>
                                        <p:attrNameLst>
                                          <p:attrName>ppt_x</p:attrName>
                                          <p:attrName>ppt_y</p:attrName>
                                        </p:attrNameLst>
                                      </p:cBhvr>
                                    </p:animMotion>
                                  </p:childTnLst>
                                </p:cTn>
                              </p:par>
                              <p:par>
                                <p:cTn id="34" presetID="10" presetClass="entr" presetSubtype="0" accel="0" decel="10000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par>
                                <p:cTn id="37" presetID="0" presetClass="path" presetSubtype="0" accel="0" decel="100000" fill="hold" grpId="1" nodeType="withEffect">
                                  <p:stCondLst>
                                    <p:cond delay="0"/>
                                  </p:stCondLst>
                                  <p:childTnLst>
                                    <p:animMotion origin="layout" path="M 0 0.02778 L 0 0 E" pathEditMode="relative" rAng="0" ptsTypes="AA">
                                      <p:cBhvr>
                                        <p:cTn id="38" dur="500" fill="hold"/>
                                        <p:tgtEl>
                                          <p:spTgt spid="8"/>
                                        </p:tgtEl>
                                        <p:attrNameLst>
                                          <p:attrName>ppt_x</p:attrName>
                                          <p:attrName>ppt_y</p:attrName>
                                        </p:attrNameLst>
                                      </p:cBhvr>
                                    </p:animMotion>
                                  </p:childTnLst>
                                </p:cTn>
                              </p:par>
                              <p:par>
                                <p:cTn id="39" presetID="10" presetClass="entr" presetSubtype="0" accel="0" decel="10000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p:tgtEl>
                                          <p:spTgt spid="9"/>
                                        </p:tgtEl>
                                      </p:cBhvr>
                                    </p:animEffect>
                                  </p:childTnLst>
                                </p:cTn>
                              </p:par>
                              <p:par>
                                <p:cTn id="42" presetID="0" presetClass="path" presetSubtype="0" accel="0" decel="100000" fill="hold" grpId="1" nodeType="withEffect">
                                  <p:stCondLst>
                                    <p:cond delay="0"/>
                                  </p:stCondLst>
                                  <p:childTnLst>
                                    <p:animMotion origin="layout" path="M 0 0.02778 L 0 0 E" pathEditMode="relative" rAng="0" ptsTypes="AA">
                                      <p:cBhvr>
                                        <p:cTn id="43" dur="5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6" grpId="0" animBg="1"/>
      <p:bldP spid="6" grpId="1" animBg="1"/>
      <p:bldP spid="9" grpId="0" animBg="1"/>
      <p:bldP spid="9"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03  ·  CHARTE GRAPHIQUE</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Un logo hybride, quatre symboles</a:t>
            </a:r>
            <a:endParaRPr lang="en-US" sz="3000" dirty="0"/>
          </a:p>
        </p:txBody>
      </p:sp>
      <p:sp>
        <p:nvSpPr>
          <p:cNvPr id="5" name="C1_card0"/>
          <p:cNvSpPr/>
          <p:nvPr/>
        </p:nvSpPr>
        <p:spPr>
          <a:xfrm>
            <a:off x="685800" y="2103120"/>
            <a:ext cx="2499284" cy="3566160"/>
          </a:xfrm>
          <a:prstGeom prst="roundRect">
            <a:avLst>
              <a:gd name="adj" fmla="val 4390"/>
            </a:avLst>
          </a:prstGeom>
          <a:solidFill>
            <a:schemeClr val="bg2"/>
          </a:solidFill>
          <a:ln/>
        </p:spPr>
      </p:sp>
      <p:pic>
        <p:nvPicPr>
          <p:cNvPr id="6" name="C1_img0" descr="Force et détermination">    </p:cNvPr>
          <p:cNvPicPr>
            <a:picLocks noChangeAspect="1"/>
          </p:cNvPicPr>
          <p:nvPr/>
        </p:nvPicPr>
        <p:blipFill>
          <a:blip r:embed="rId1"/>
          <a:stretch>
            <a:fillRect/>
          </a:stretch>
        </p:blipFill>
        <p:spPr>
          <a:xfrm>
            <a:off x="960120" y="2715121"/>
            <a:ext cx="1950644" cy="1336318"/>
          </a:xfrm>
          <a:prstGeom prst="rect">
            <a:avLst/>
          </a:prstGeom>
        </p:spPr>
      </p:pic>
      <p:sp>
        <p:nvSpPr>
          <p:cNvPr id="7" name="C1_t0"/>
          <p:cNvSpPr txBox="1"/>
          <p:nvPr/>
        </p:nvSpPr>
        <p:spPr>
          <a:xfrm>
            <a:off x="822960" y="4663440"/>
            <a:ext cx="2224964" cy="457200"/>
          </a:xfrm>
          <a:prstGeom prst="rect">
            <a:avLst/>
          </a:prstGeom>
          <a:noFill/>
          <a:ln/>
        </p:spPr>
        <p:txBody>
          <a:bodyPr wrap="square" lIns="0" tIns="0" rIns="0" bIns="0" rtlCol="0" anchor="t"/>
          <a:lstStyle/>
          <a:p>
            <a:pPr algn="ctr" indent="0" marL="0">
              <a:buNone/>
            </a:pPr>
            <a:r>
              <a:rPr lang="en-US" sz="1400" b="1" dirty="0">
                <a:solidFill>
                  <a:schemeClr val="tx1"/>
                </a:solidFill>
              </a:rPr>
              <a:t>Force et détermination</a:t>
            </a:r>
            <a:endParaRPr lang="en-US" sz="1400" dirty="0"/>
          </a:p>
        </p:txBody>
      </p:sp>
      <p:sp>
        <p:nvSpPr>
          <p:cNvPr id="8" name="C1_card1"/>
          <p:cNvSpPr/>
          <p:nvPr/>
        </p:nvSpPr>
        <p:spPr>
          <a:xfrm>
            <a:off x="3459404" y="2103120"/>
            <a:ext cx="2499284" cy="3566160"/>
          </a:xfrm>
          <a:prstGeom prst="roundRect">
            <a:avLst>
              <a:gd name="adj" fmla="val 4390"/>
            </a:avLst>
          </a:prstGeom>
          <a:solidFill>
            <a:schemeClr val="bg2"/>
          </a:solidFill>
          <a:ln/>
        </p:spPr>
      </p:sp>
      <p:pic>
        <p:nvPicPr>
          <p:cNvPr id="9" name="C1_img1" descr="Fierté américaine">    </p:cNvPr>
          <p:cNvPicPr>
            <a:picLocks noChangeAspect="1"/>
          </p:cNvPicPr>
          <p:nvPr/>
        </p:nvPicPr>
        <p:blipFill>
          <a:blip r:embed="rId2"/>
          <a:stretch>
            <a:fillRect/>
          </a:stretch>
        </p:blipFill>
        <p:spPr>
          <a:xfrm>
            <a:off x="3733724" y="2780081"/>
            <a:ext cx="1950644" cy="1206398"/>
          </a:xfrm>
          <a:prstGeom prst="rect">
            <a:avLst/>
          </a:prstGeom>
        </p:spPr>
      </p:pic>
      <p:sp>
        <p:nvSpPr>
          <p:cNvPr id="10" name="C1_t1"/>
          <p:cNvSpPr txBox="1"/>
          <p:nvPr/>
        </p:nvSpPr>
        <p:spPr>
          <a:xfrm>
            <a:off x="3596564" y="4663440"/>
            <a:ext cx="2224964" cy="457200"/>
          </a:xfrm>
          <a:prstGeom prst="rect">
            <a:avLst/>
          </a:prstGeom>
          <a:noFill/>
          <a:ln/>
        </p:spPr>
        <p:txBody>
          <a:bodyPr wrap="square" lIns="0" tIns="0" rIns="0" bIns="0" rtlCol="0" anchor="t"/>
          <a:lstStyle/>
          <a:p>
            <a:pPr algn="ctr" indent="0" marL="0">
              <a:buNone/>
            </a:pPr>
            <a:r>
              <a:rPr lang="en-US" sz="1400" b="1" dirty="0">
                <a:solidFill>
                  <a:schemeClr val="tx1"/>
                </a:solidFill>
              </a:rPr>
              <a:t>Fierté américaine</a:t>
            </a:r>
            <a:endParaRPr lang="en-US" sz="1400" dirty="0"/>
          </a:p>
        </p:txBody>
      </p:sp>
      <p:sp>
        <p:nvSpPr>
          <p:cNvPr id="11" name="C1_card2"/>
          <p:cNvSpPr/>
          <p:nvPr/>
        </p:nvSpPr>
        <p:spPr>
          <a:xfrm>
            <a:off x="6233008" y="2103120"/>
            <a:ext cx="2499284" cy="3566160"/>
          </a:xfrm>
          <a:prstGeom prst="roundRect">
            <a:avLst>
              <a:gd name="adj" fmla="val 4390"/>
            </a:avLst>
          </a:prstGeom>
          <a:solidFill>
            <a:schemeClr val="bg2"/>
          </a:solidFill>
          <a:ln/>
        </p:spPr>
      </p:sp>
      <p:pic>
        <p:nvPicPr>
          <p:cNvPr id="12" name="C1_img2" descr="Identité de marque">    </p:cNvPr>
          <p:cNvPicPr>
            <a:picLocks noChangeAspect="1"/>
          </p:cNvPicPr>
          <p:nvPr/>
        </p:nvPicPr>
        <p:blipFill>
          <a:blip r:embed="rId3"/>
          <a:stretch>
            <a:fillRect/>
          </a:stretch>
        </p:blipFill>
        <p:spPr>
          <a:xfrm>
            <a:off x="6507328" y="2755058"/>
            <a:ext cx="1950644" cy="1256444"/>
          </a:xfrm>
          <a:prstGeom prst="rect">
            <a:avLst/>
          </a:prstGeom>
        </p:spPr>
      </p:pic>
      <p:sp>
        <p:nvSpPr>
          <p:cNvPr id="13" name="C1_t2"/>
          <p:cNvSpPr txBox="1"/>
          <p:nvPr/>
        </p:nvSpPr>
        <p:spPr>
          <a:xfrm>
            <a:off x="6370168" y="4663440"/>
            <a:ext cx="2224964" cy="457200"/>
          </a:xfrm>
          <a:prstGeom prst="rect">
            <a:avLst/>
          </a:prstGeom>
          <a:noFill/>
          <a:ln/>
        </p:spPr>
        <p:txBody>
          <a:bodyPr wrap="square" lIns="0" tIns="0" rIns="0" bIns="0" rtlCol="0" anchor="t"/>
          <a:lstStyle/>
          <a:p>
            <a:pPr algn="ctr" indent="0" marL="0">
              <a:buNone/>
            </a:pPr>
            <a:r>
              <a:rPr lang="en-US" sz="1400" b="1" dirty="0">
                <a:solidFill>
                  <a:schemeClr val="tx1"/>
                </a:solidFill>
              </a:rPr>
              <a:t>Identité de marque</a:t>
            </a:r>
            <a:endParaRPr lang="en-US" sz="1400" dirty="0"/>
          </a:p>
        </p:txBody>
      </p:sp>
      <p:sp>
        <p:nvSpPr>
          <p:cNvPr id="14" name="C1_card3"/>
          <p:cNvSpPr/>
          <p:nvPr/>
        </p:nvSpPr>
        <p:spPr>
          <a:xfrm>
            <a:off x="9006611" y="2103120"/>
            <a:ext cx="2499284" cy="3566160"/>
          </a:xfrm>
          <a:prstGeom prst="roundRect">
            <a:avLst>
              <a:gd name="adj" fmla="val 4390"/>
            </a:avLst>
          </a:prstGeom>
          <a:solidFill>
            <a:schemeClr val="bg2"/>
          </a:solidFill>
          <a:ln/>
        </p:spPr>
      </p:sp>
      <p:pic>
        <p:nvPicPr>
          <p:cNvPr id="15" name="C1_img3" descr="Image cohérente">    </p:cNvPr>
          <p:cNvPicPr>
            <a:picLocks noChangeAspect="1"/>
          </p:cNvPicPr>
          <p:nvPr/>
        </p:nvPicPr>
        <p:blipFill>
          <a:blip r:embed="rId4"/>
          <a:stretch>
            <a:fillRect/>
          </a:stretch>
        </p:blipFill>
        <p:spPr>
          <a:xfrm>
            <a:off x="9280931" y="2757997"/>
            <a:ext cx="1950644" cy="1250566"/>
          </a:xfrm>
          <a:prstGeom prst="rect">
            <a:avLst/>
          </a:prstGeom>
        </p:spPr>
      </p:pic>
      <p:sp>
        <p:nvSpPr>
          <p:cNvPr id="16" name="C1_t3"/>
          <p:cNvSpPr txBox="1"/>
          <p:nvPr/>
        </p:nvSpPr>
        <p:spPr>
          <a:xfrm>
            <a:off x="9143771" y="4663440"/>
            <a:ext cx="2224964" cy="457200"/>
          </a:xfrm>
          <a:prstGeom prst="rect">
            <a:avLst/>
          </a:prstGeom>
          <a:noFill/>
          <a:ln/>
        </p:spPr>
        <p:txBody>
          <a:bodyPr wrap="square" lIns="0" tIns="0" rIns="0" bIns="0" rtlCol="0" anchor="t"/>
          <a:lstStyle/>
          <a:p>
            <a:pPr algn="ctr" indent="0" marL="0">
              <a:buNone/>
            </a:pPr>
            <a:r>
              <a:rPr lang="en-US" sz="1400" b="1" dirty="0">
                <a:solidFill>
                  <a:schemeClr val="tx1"/>
                </a:solidFill>
              </a:rPr>
              <a:t>Image cohérente</a:t>
            </a:r>
            <a:endParaRPr lang="en-US" sz="14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7"/>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8"/>
                                        </p:tgtEl>
                                        <p:attrNameLst>
                                          <p:attrName>ppt_x</p:attrName>
                                          <p:attrName>ppt_y</p:attrName>
                                        </p:attrNameLst>
                                      </p:cBhvr>
                                    </p:animMotion>
                                  </p:childTnLst>
                                </p:cTn>
                              </p:par>
                              <p:par>
                                <p:cTn id="37" presetID="10" presetClass="entr" presetSubtype="0" accel="0" decel="10000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childTnLst>
                                </p:cTn>
                              </p:par>
                              <p:par>
                                <p:cTn id="40" presetID="0" presetClass="path" presetSubtype="0" accel="0" decel="100000" fill="hold" grpId="1" nodeType="withEffect">
                                  <p:stCondLst>
                                    <p:cond delay="0"/>
                                  </p:stCondLst>
                                  <p:childTnLst>
                                    <p:animMotion origin="layout" path="M 0 0.02778 L 0 0 E" pathEditMode="relative" rAng="0" ptsTypes="AA">
                                      <p:cBhvr>
                                        <p:cTn id="41" dur="500" fill="hold"/>
                                        <p:tgtEl>
                                          <p:spTgt spid="9"/>
                                        </p:tgtEl>
                                        <p:attrNameLst>
                                          <p:attrName>ppt_x</p:attrName>
                                          <p:attrName>ppt_y</p:attrName>
                                        </p:attrNameLst>
                                      </p:cBhvr>
                                    </p:animMotion>
                                  </p:childTnLst>
                                </p:cTn>
                              </p:par>
                              <p:par>
                                <p:cTn id="42" presetID="10" presetClass="entr" presetSubtype="0" accel="0" decel="10000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childTnLst>
                                </p:cTn>
                              </p:par>
                              <p:par>
                                <p:cTn id="45" presetID="0" presetClass="path" presetSubtype="0" accel="0" decel="100000" fill="hold" grpId="1" nodeType="withEffect">
                                  <p:stCondLst>
                                    <p:cond delay="0"/>
                                  </p:stCondLst>
                                  <p:childTnLst>
                                    <p:animMotion origin="layout" path="M 0 0.02778 L 0 0 E" pathEditMode="relative" rAng="0" ptsTypes="AA">
                                      <p:cBhvr>
                                        <p:cTn id="46" dur="500" fill="hold"/>
                                        <p:tgtEl>
                                          <p:spTgt spid="10"/>
                                        </p:tgtEl>
                                        <p:attrNameLst>
                                          <p:attrName>ppt_x</p:attrName>
                                          <p:attrName>ppt_y</p:attrName>
                                        </p:attrNameLst>
                                      </p:cBhvr>
                                    </p:animMotion>
                                  </p:childTnLst>
                                </p:cTn>
                              </p:par>
                              <p:par>
                                <p:cTn id="47" presetID="10" presetClass="entr" presetSubtype="0" accel="0" decel="10000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childTnLst>
                                </p:cTn>
                              </p:par>
                              <p:par>
                                <p:cTn id="50" presetID="0" presetClass="path" presetSubtype="0" accel="0" decel="100000" fill="hold" grpId="1" nodeType="withEffect">
                                  <p:stCondLst>
                                    <p:cond delay="0"/>
                                  </p:stCondLst>
                                  <p:childTnLst>
                                    <p:animMotion origin="layout" path="M 0 0.02778 L 0 0 E" pathEditMode="relative" rAng="0" ptsTypes="AA">
                                      <p:cBhvr>
                                        <p:cTn id="51" dur="500" fill="hold"/>
                                        <p:tgtEl>
                                          <p:spTgt spid="11"/>
                                        </p:tgtEl>
                                        <p:attrNameLst>
                                          <p:attrName>ppt_x</p:attrName>
                                          <p:attrName>ppt_y</p:attrName>
                                        </p:attrNameLst>
                                      </p:cBhvr>
                                    </p:animMotion>
                                  </p:childTnLst>
                                </p:cTn>
                              </p:par>
                              <p:par>
                                <p:cTn id="52" presetID="10" presetClass="entr" presetSubtype="0" accel="0" decel="10000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p:tgtEl>
                                          <p:spTgt spid="12"/>
                                        </p:tgtEl>
                                      </p:cBhvr>
                                    </p:animEffect>
                                  </p:childTnLst>
                                </p:cTn>
                              </p:par>
                              <p:par>
                                <p:cTn id="55" presetID="0" presetClass="path" presetSubtype="0" accel="0" decel="100000" fill="hold" grpId="1" nodeType="withEffect">
                                  <p:stCondLst>
                                    <p:cond delay="0"/>
                                  </p:stCondLst>
                                  <p:childTnLst>
                                    <p:animMotion origin="layout" path="M 0 0.02778 L 0 0 E" pathEditMode="relative" rAng="0" ptsTypes="AA">
                                      <p:cBhvr>
                                        <p:cTn id="56" dur="500" fill="hold"/>
                                        <p:tgtEl>
                                          <p:spTgt spid="12"/>
                                        </p:tgtEl>
                                        <p:attrNameLst>
                                          <p:attrName>ppt_x</p:attrName>
                                          <p:attrName>ppt_y</p:attrName>
                                        </p:attrNameLst>
                                      </p:cBhvr>
                                    </p:animMotion>
                                  </p:childTnLst>
                                </p:cTn>
                              </p:par>
                              <p:par>
                                <p:cTn id="57" presetID="10" presetClass="entr" presetSubtype="0" accel="0" decel="10000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p:tgtEl>
                                          <p:spTgt spid="13"/>
                                        </p:tgtEl>
                                      </p:cBhvr>
                                    </p:animEffect>
                                  </p:childTnLst>
                                </p:cTn>
                              </p:par>
                              <p:par>
                                <p:cTn id="60" presetID="0" presetClass="path" presetSubtype="0" accel="0" decel="100000" fill="hold" grpId="1" nodeType="withEffect">
                                  <p:stCondLst>
                                    <p:cond delay="0"/>
                                  </p:stCondLst>
                                  <p:childTnLst>
                                    <p:animMotion origin="layout" path="M 0 0.02778 L 0 0 E" pathEditMode="relative" rAng="0" ptsTypes="AA">
                                      <p:cBhvr>
                                        <p:cTn id="61" dur="500" fill="hold"/>
                                        <p:tgtEl>
                                          <p:spTgt spid="13"/>
                                        </p:tgtEl>
                                        <p:attrNameLst>
                                          <p:attrName>ppt_x</p:attrName>
                                          <p:attrName>ppt_y</p:attrName>
                                        </p:attrNameLst>
                                      </p:cBhvr>
                                    </p:animMotion>
                                  </p:childTnLst>
                                </p:cTn>
                              </p:par>
                              <p:par>
                                <p:cTn id="62" presetID="10" presetClass="entr" presetSubtype="0" accel="0" decel="10000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500"/>
                                        <p:tgtEl>
                                          <p:spTgt spid="14"/>
                                        </p:tgtEl>
                                      </p:cBhvr>
                                    </p:animEffect>
                                  </p:childTnLst>
                                </p:cTn>
                              </p:par>
                              <p:par>
                                <p:cTn id="65" presetID="0" presetClass="path" presetSubtype="0" accel="0" decel="100000" fill="hold" grpId="1" nodeType="withEffect">
                                  <p:stCondLst>
                                    <p:cond delay="0"/>
                                  </p:stCondLst>
                                  <p:childTnLst>
                                    <p:animMotion origin="layout" path="M 0 0.02778 L 0 0 E" pathEditMode="relative" rAng="0" ptsTypes="AA">
                                      <p:cBhvr>
                                        <p:cTn id="66" dur="500" fill="hold"/>
                                        <p:tgtEl>
                                          <p:spTgt spid="14"/>
                                        </p:tgtEl>
                                        <p:attrNameLst>
                                          <p:attrName>ppt_x</p:attrName>
                                          <p:attrName>ppt_y</p:attrName>
                                        </p:attrNameLst>
                                      </p:cBhvr>
                                    </p:animMotion>
                                  </p:childTnLst>
                                </p:cTn>
                              </p:par>
                              <p:par>
                                <p:cTn id="67" presetID="10" presetClass="entr" presetSubtype="0" accel="0" decel="10000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500"/>
                                        <p:tgtEl>
                                          <p:spTgt spid="15"/>
                                        </p:tgtEl>
                                      </p:cBhvr>
                                    </p:animEffect>
                                  </p:childTnLst>
                                </p:cTn>
                              </p:par>
                              <p:par>
                                <p:cTn id="70" presetID="0" presetClass="path" presetSubtype="0" accel="0" decel="100000" fill="hold" grpId="1" nodeType="withEffect">
                                  <p:stCondLst>
                                    <p:cond delay="0"/>
                                  </p:stCondLst>
                                  <p:childTnLst>
                                    <p:animMotion origin="layout" path="M 0 0.02778 L 0 0 E" pathEditMode="relative" rAng="0" ptsTypes="AA">
                                      <p:cBhvr>
                                        <p:cTn id="71" dur="500" fill="hold"/>
                                        <p:tgtEl>
                                          <p:spTgt spid="15"/>
                                        </p:tgtEl>
                                        <p:attrNameLst>
                                          <p:attrName>ppt_x</p:attrName>
                                          <p:attrName>ppt_y</p:attrName>
                                        </p:attrNameLst>
                                      </p:cBhvr>
                                    </p:animMotion>
                                  </p:childTnLst>
                                </p:cTn>
                              </p:par>
                              <p:par>
                                <p:cTn id="72" presetID="10" presetClass="entr" presetSubtype="0" accel="0" decel="10000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500"/>
                                        <p:tgtEl>
                                          <p:spTgt spid="16"/>
                                        </p:tgtEl>
                                      </p:cBhvr>
                                    </p:animEffect>
                                  </p:childTnLst>
                                </p:cTn>
                              </p:par>
                              <p:par>
                                <p:cTn id="75" presetID="0" presetClass="path" presetSubtype="0" accel="0" decel="100000" fill="hold" grpId="1" nodeType="withEffect">
                                  <p:stCondLst>
                                    <p:cond delay="0"/>
                                  </p:stCondLst>
                                  <p:childTnLst>
                                    <p:animMotion origin="layout" path="M 0 0.02778 L 0 0 E" pathEditMode="relative" rAng="0" ptsTypes="AA">
                                      <p:cBhvr>
                                        <p:cTn id="76" dur="500" fill="hold"/>
                                        <p:tgtEl>
                                          <p:spTgt spid="1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7" grpId="0" animBg="1"/>
      <p:bldP spid="7" grpId="1" animBg="1"/>
      <p:bldP spid="10" grpId="0" animBg="1"/>
      <p:bldP spid="10" grpId="1" animBg="1"/>
      <p:bldP spid="13" grpId="0" animBg="1"/>
      <p:bldP spid="13" grpId="1" animBg="1"/>
      <p:bldP spid="16" grpId="0" animBg="1"/>
      <p:bldP spid="16" grpId="1"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03  ·  TYPOGRAPHIE</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Deux familles sans empattement</a:t>
            </a:r>
            <a:endParaRPr lang="en-US" sz="3000" dirty="0"/>
          </a:p>
        </p:txBody>
      </p:sp>
      <p:sp>
        <p:nvSpPr>
          <p:cNvPr id="5" name="C1_card"/>
          <p:cNvSpPr/>
          <p:nvPr/>
        </p:nvSpPr>
        <p:spPr>
          <a:xfrm>
            <a:off x="685800" y="2057400"/>
            <a:ext cx="5250028" cy="3657600"/>
          </a:xfrm>
          <a:prstGeom prst="roundRect">
            <a:avLst>
              <a:gd name="adj" fmla="val 3000"/>
            </a:avLst>
          </a:prstGeom>
          <a:solidFill>
            <a:schemeClr val="bg2"/>
          </a:solidFill>
          <a:ln/>
        </p:spPr>
      </p:sp>
      <p:sp>
        <p:nvSpPr>
          <p:cNvPr id="6" name="C1_aa"/>
          <p:cNvSpPr txBox="1"/>
          <p:nvPr/>
        </p:nvSpPr>
        <p:spPr>
          <a:xfrm>
            <a:off x="1143000" y="2331720"/>
            <a:ext cx="2743200" cy="1737360"/>
          </a:xfrm>
          <a:prstGeom prst="rect">
            <a:avLst/>
          </a:prstGeom>
          <a:noFill/>
          <a:ln/>
        </p:spPr>
        <p:txBody>
          <a:bodyPr wrap="square" lIns="0" tIns="0" rIns="0" bIns="0" rtlCol="0" anchor="t"/>
          <a:lstStyle/>
          <a:p>
            <a:pPr indent="0" marL="0">
              <a:buNone/>
            </a:pPr>
            <a:r>
              <a:rPr lang="en-US" sz="11000" dirty="0">
                <a:solidFill>
                  <a:schemeClr val="tx1"/>
                </a:solidFill>
                <a:latin typeface="Impact" pitchFamily="34" charset="0"/>
                <a:ea typeface="Impact" pitchFamily="34" charset="-122"/>
                <a:cs typeface="Impact" pitchFamily="34" charset="-120"/>
              </a:rPr>
              <a:t>Aa</a:t>
            </a:r>
            <a:endParaRPr lang="en-US" sz="11000" dirty="0"/>
          </a:p>
        </p:txBody>
      </p:sp>
      <p:sp>
        <p:nvSpPr>
          <p:cNvPr id="7" name="C1_lab"/>
          <p:cNvSpPr txBox="1"/>
          <p:nvPr/>
        </p:nvSpPr>
        <p:spPr>
          <a:xfrm>
            <a:off x="1143000" y="4343400"/>
            <a:ext cx="4335628" cy="320040"/>
          </a:xfrm>
          <a:prstGeom prst="rect">
            <a:avLst/>
          </a:prstGeom>
          <a:noFill/>
          <a:ln/>
        </p:spPr>
        <p:txBody>
          <a:bodyPr wrap="square" lIns="0" tIns="0" rIns="0" bIns="0" rtlCol="0" anchor="t"/>
          <a:lstStyle/>
          <a:p>
            <a:pPr indent="0" marL="0">
              <a:buNone/>
            </a:pPr>
            <a:r>
              <a:rPr lang="en-US" sz="1100" b="1" spc="200" kern="0" dirty="0">
                <a:solidFill>
                  <a:schemeClr val="accent1"/>
                </a:solidFill>
              </a:rPr>
              <a:t>LOGO</a:t>
            </a:r>
            <a:endParaRPr lang="en-US" sz="1100" dirty="0"/>
          </a:p>
        </p:txBody>
      </p:sp>
      <p:sp>
        <p:nvSpPr>
          <p:cNvPr id="8" name="C1_name"/>
          <p:cNvSpPr txBox="1"/>
          <p:nvPr/>
        </p:nvSpPr>
        <p:spPr>
          <a:xfrm>
            <a:off x="1143000" y="4709160"/>
            <a:ext cx="4335628" cy="457200"/>
          </a:xfrm>
          <a:prstGeom prst="rect">
            <a:avLst/>
          </a:prstGeom>
          <a:noFill/>
          <a:ln/>
        </p:spPr>
        <p:txBody>
          <a:bodyPr wrap="square" lIns="0" tIns="0" rIns="0" bIns="0" rtlCol="0" anchor="t"/>
          <a:lstStyle/>
          <a:p>
            <a:pPr indent="0" marL="0">
              <a:buNone/>
            </a:pPr>
            <a:r>
              <a:rPr lang="en-US" sz="1800" b="1" dirty="0">
                <a:solidFill>
                  <a:schemeClr val="tx1"/>
                </a:solidFill>
              </a:rPr>
              <a:t>Impact / College Bold (style approchant)</a:t>
            </a:r>
            <a:endParaRPr lang="en-US" sz="1800" dirty="0"/>
          </a:p>
        </p:txBody>
      </p:sp>
      <p:sp>
        <p:nvSpPr>
          <p:cNvPr id="9" name="C2_card"/>
          <p:cNvSpPr/>
          <p:nvPr/>
        </p:nvSpPr>
        <p:spPr>
          <a:xfrm>
            <a:off x="6255868" y="2057400"/>
            <a:ext cx="5250028" cy="3657600"/>
          </a:xfrm>
          <a:prstGeom prst="roundRect">
            <a:avLst>
              <a:gd name="adj" fmla="val 3000"/>
            </a:avLst>
          </a:prstGeom>
          <a:solidFill>
            <a:schemeClr val="bg2"/>
          </a:solidFill>
          <a:ln/>
        </p:spPr>
      </p:sp>
      <p:sp>
        <p:nvSpPr>
          <p:cNvPr id="10" name="C2_aa"/>
          <p:cNvSpPr txBox="1"/>
          <p:nvPr/>
        </p:nvSpPr>
        <p:spPr>
          <a:xfrm>
            <a:off x="6713068" y="2331720"/>
            <a:ext cx="2743200" cy="1737360"/>
          </a:xfrm>
          <a:prstGeom prst="rect">
            <a:avLst/>
          </a:prstGeom>
          <a:noFill/>
          <a:ln/>
        </p:spPr>
        <p:txBody>
          <a:bodyPr wrap="square" lIns="0" tIns="0" rIns="0" bIns="0" rtlCol="0" anchor="t"/>
          <a:lstStyle/>
          <a:p>
            <a:pPr indent="0" marL="0">
              <a:buNone/>
            </a:pPr>
            <a:r>
              <a:rPr lang="en-US" sz="11000" dirty="0">
                <a:solidFill>
                  <a:schemeClr val="tx1"/>
                </a:solidFill>
                <a:latin typeface="Poppins ExtraBold" pitchFamily="34" charset="0"/>
                <a:ea typeface="Poppins ExtraBold" pitchFamily="34" charset="-122"/>
                <a:cs typeface="Poppins ExtraBold" pitchFamily="34" charset="-120"/>
              </a:rPr>
              <a:t>Aa</a:t>
            </a:r>
            <a:endParaRPr lang="en-US" sz="11000" dirty="0"/>
          </a:p>
        </p:txBody>
      </p:sp>
      <p:sp>
        <p:nvSpPr>
          <p:cNvPr id="11" name="C2_lab"/>
          <p:cNvSpPr txBox="1"/>
          <p:nvPr/>
        </p:nvSpPr>
        <p:spPr>
          <a:xfrm>
            <a:off x="6713068" y="4343400"/>
            <a:ext cx="4335628" cy="320040"/>
          </a:xfrm>
          <a:prstGeom prst="rect">
            <a:avLst/>
          </a:prstGeom>
          <a:noFill/>
          <a:ln/>
        </p:spPr>
        <p:txBody>
          <a:bodyPr wrap="square" lIns="0" tIns="0" rIns="0" bIns="0" rtlCol="0" anchor="t"/>
          <a:lstStyle/>
          <a:p>
            <a:pPr indent="0" marL="0">
              <a:buNone/>
            </a:pPr>
            <a:r>
              <a:rPr lang="en-US" sz="1100" b="1" spc="200" kern="0" dirty="0">
                <a:solidFill>
                  <a:schemeClr val="accent1"/>
                </a:solidFill>
              </a:rPr>
              <a:t>SUPPORTS</a:t>
            </a:r>
            <a:endParaRPr lang="en-US" sz="1100" dirty="0"/>
          </a:p>
        </p:txBody>
      </p:sp>
      <p:sp>
        <p:nvSpPr>
          <p:cNvPr id="12" name="C2_name"/>
          <p:cNvSpPr txBox="1"/>
          <p:nvPr/>
        </p:nvSpPr>
        <p:spPr>
          <a:xfrm>
            <a:off x="6713068" y="4709160"/>
            <a:ext cx="4335628" cy="457200"/>
          </a:xfrm>
          <a:prstGeom prst="rect">
            <a:avLst/>
          </a:prstGeom>
          <a:noFill/>
          <a:ln/>
        </p:spPr>
        <p:txBody>
          <a:bodyPr wrap="square" lIns="0" tIns="0" rIns="0" bIns="0" rtlCol="0" anchor="t"/>
          <a:lstStyle/>
          <a:p>
            <a:pPr indent="0" marL="0">
              <a:buNone/>
            </a:pPr>
            <a:r>
              <a:rPr lang="en-US" sz="1800" b="1" dirty="0">
                <a:solidFill>
                  <a:schemeClr val="tx1"/>
                </a:solidFill>
              </a:rPr>
              <a:t>Poppins ExtraBold</a:t>
            </a:r>
            <a:endParaRPr lang="en-US" sz="18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7"/>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8"/>
                                        </p:tgtEl>
                                        <p:attrNameLst>
                                          <p:attrName>ppt_x</p:attrName>
                                          <p:attrName>ppt_y</p:attrName>
                                        </p:attrNameLst>
                                      </p:cBhvr>
                                    </p:animMotion>
                                  </p:childTnLst>
                                </p:cTn>
                              </p:par>
                            </p:childTnLst>
                          </p:cTn>
                        </p:par>
                      </p:childTnLst>
                    </p:cTn>
                  </p:par>
                  <p:par>
                    <p:cTn id="37" fill="hold">
                      <p:stCondLst>
                        <p:cond delay="indefinite"/>
                      </p:stCondLst>
                      <p:childTnLst>
                        <p:par>
                          <p:cTn id="38" fill="hold">
                            <p:stCondLst>
                              <p:cond delay="0"/>
                            </p:stCondLst>
                            <p:childTnLst>
                              <p:par>
                                <p:cTn id="39" presetID="10" presetClass="entr" presetSubtype="0" accel="0" decel="100000" fill="hold" grpId="0" nodeType="click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p:tgtEl>
                                          <p:spTgt spid="9"/>
                                        </p:tgtEl>
                                      </p:cBhvr>
                                    </p:animEffect>
                                  </p:childTnLst>
                                </p:cTn>
                              </p:par>
                              <p:par>
                                <p:cTn id="42" presetID="0" presetClass="path" presetSubtype="0" accel="0" decel="100000" fill="hold" grpId="1" nodeType="withEffect">
                                  <p:stCondLst>
                                    <p:cond delay="0"/>
                                  </p:stCondLst>
                                  <p:childTnLst>
                                    <p:animMotion origin="layout" path="M 0 0.02778 L 0 0 E" pathEditMode="relative" rAng="0" ptsTypes="AA">
                                      <p:cBhvr>
                                        <p:cTn id="43" dur="500" fill="hold"/>
                                        <p:tgtEl>
                                          <p:spTgt spid="9"/>
                                        </p:tgtEl>
                                        <p:attrNameLst>
                                          <p:attrName>ppt_x</p:attrName>
                                          <p:attrName>ppt_y</p:attrName>
                                        </p:attrNameLst>
                                      </p:cBhvr>
                                    </p:animMotion>
                                  </p:childTnLst>
                                </p:cTn>
                              </p:par>
                              <p:par>
                                <p:cTn id="44" presetID="10" presetClass="entr" presetSubtype="0" accel="0" decel="10000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childTnLst>
                                </p:cTn>
                              </p:par>
                              <p:par>
                                <p:cTn id="47" presetID="0" presetClass="path" presetSubtype="0" accel="0" decel="100000" fill="hold" grpId="1" nodeType="withEffect">
                                  <p:stCondLst>
                                    <p:cond delay="0"/>
                                  </p:stCondLst>
                                  <p:childTnLst>
                                    <p:animMotion origin="layout" path="M 0 0.02778 L 0 0 E" pathEditMode="relative" rAng="0" ptsTypes="AA">
                                      <p:cBhvr>
                                        <p:cTn id="48" dur="500" fill="hold"/>
                                        <p:tgtEl>
                                          <p:spTgt spid="10"/>
                                        </p:tgtEl>
                                        <p:attrNameLst>
                                          <p:attrName>ppt_x</p:attrName>
                                          <p:attrName>ppt_y</p:attrName>
                                        </p:attrNameLst>
                                      </p:cBhvr>
                                    </p:animMotion>
                                  </p:childTnLst>
                                </p:cTn>
                              </p:par>
                              <p:par>
                                <p:cTn id="49" presetID="10" presetClass="entr" presetSubtype="0" accel="0" decel="10000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childTnLst>
                                </p:cTn>
                              </p:par>
                              <p:par>
                                <p:cTn id="52" presetID="0" presetClass="path" presetSubtype="0" accel="0" decel="100000" fill="hold" grpId="1" nodeType="withEffect">
                                  <p:stCondLst>
                                    <p:cond delay="0"/>
                                  </p:stCondLst>
                                  <p:childTnLst>
                                    <p:animMotion origin="layout" path="M 0 0.02778 L 0 0 E" pathEditMode="relative" rAng="0" ptsTypes="AA">
                                      <p:cBhvr>
                                        <p:cTn id="53" dur="500" fill="hold"/>
                                        <p:tgtEl>
                                          <p:spTgt spid="11"/>
                                        </p:tgtEl>
                                        <p:attrNameLst>
                                          <p:attrName>ppt_x</p:attrName>
                                          <p:attrName>ppt_y</p:attrName>
                                        </p:attrNameLst>
                                      </p:cBhvr>
                                    </p:animMotion>
                                  </p:childTnLst>
                                </p:cTn>
                              </p:par>
                              <p:par>
                                <p:cTn id="54" presetID="10" presetClass="entr" presetSubtype="0" accel="0" decel="10000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par>
                                <p:cTn id="57" presetID="0" presetClass="path" presetSubtype="0" accel="0" decel="100000" fill="hold" grpId="1" nodeType="withEffect">
                                  <p:stCondLst>
                                    <p:cond delay="0"/>
                                  </p:stCondLst>
                                  <p:childTnLst>
                                    <p:animMotion origin="layout" path="M 0 0.02778 L 0 0 E" pathEditMode="relative" rAng="0" ptsTypes="AA">
                                      <p:cBhvr>
                                        <p:cTn id="58" dur="5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6" grpId="0" animBg="1"/>
      <p:bldP spid="6" grpId="1" animBg="1"/>
      <p:bldP spid="7" grpId="0" animBg="1"/>
      <p:bldP spid="7" grpId="1" animBg="1"/>
      <p:bldP spid="8" grpId="0" animBg="1"/>
      <p:bldP spid="8" grpId="1" animBg="1"/>
      <p:bldP spid="10" grpId="0" animBg="1"/>
      <p:bldP spid="10" grpId="1" animBg="1"/>
      <p:bldP spid="11" grpId="0" animBg="1"/>
      <p:bldP spid="11" grpId="1" animBg="1"/>
      <p:bldP spid="12" grpId="0" animBg="1"/>
      <p:bldP spid="12"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03  ·  COLORIMÉTRIE</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Une palette inspirée du drapeau américain</a:t>
            </a:r>
            <a:endParaRPr lang="en-US" sz="3000" dirty="0"/>
          </a:p>
        </p:txBody>
      </p:sp>
      <p:sp>
        <p:nvSpPr>
          <p:cNvPr id="5" name="C1_sw0"/>
          <p:cNvSpPr/>
          <p:nvPr/>
        </p:nvSpPr>
        <p:spPr>
          <a:xfrm>
            <a:off x="685800" y="2057400"/>
            <a:ext cx="2499284" cy="2926080"/>
          </a:xfrm>
          <a:prstGeom prst="roundRect">
            <a:avLst>
              <a:gd name="adj" fmla="val 4390"/>
            </a:avLst>
          </a:prstGeom>
          <a:solidFill>
            <a:srgbClr val="1D3557"/>
          </a:solidFill>
          <a:ln/>
        </p:spPr>
      </p:sp>
      <p:sp>
        <p:nvSpPr>
          <p:cNvPr id="6" name="C1_swl0"/>
          <p:cNvSpPr txBox="1"/>
          <p:nvPr/>
        </p:nvSpPr>
        <p:spPr>
          <a:xfrm>
            <a:off x="960120" y="4434840"/>
            <a:ext cx="2042084" cy="365760"/>
          </a:xfrm>
          <a:prstGeom prst="rect">
            <a:avLst/>
          </a:prstGeom>
          <a:noFill/>
          <a:ln/>
        </p:spPr>
        <p:txBody>
          <a:bodyPr wrap="square" lIns="0" tIns="0" rIns="0" bIns="0" rtlCol="0" anchor="t"/>
          <a:lstStyle/>
          <a:p>
            <a:pPr indent="0" marL="0">
              <a:buNone/>
            </a:pPr>
            <a:r>
              <a:rPr lang="en-US" sz="1400" b="1" dirty="0">
                <a:solidFill>
                  <a:srgbClr val="FFFFFF"/>
                </a:solidFill>
              </a:rPr>
              <a:t>Bleu  </a:t>
            </a:r>
            <a:pPr indent="0" marL="0">
              <a:buNone/>
            </a:pPr>
            <a:r>
              <a:rPr lang="en-US" sz="1400" dirty="0">
                <a:solidFill>
                  <a:srgbClr val="FFFFFF"/>
                </a:solidFill>
              </a:rPr>
              <a:t>#1D3557</a:t>
            </a:r>
            <a:endParaRPr lang="en-US" sz="1400" dirty="0"/>
          </a:p>
        </p:txBody>
      </p:sp>
      <p:sp>
        <p:nvSpPr>
          <p:cNvPr id="7" name="C1_sw1"/>
          <p:cNvSpPr/>
          <p:nvPr/>
        </p:nvSpPr>
        <p:spPr>
          <a:xfrm>
            <a:off x="3459404" y="2057400"/>
            <a:ext cx="2499284" cy="2926080"/>
          </a:xfrm>
          <a:prstGeom prst="roundRect">
            <a:avLst>
              <a:gd name="adj" fmla="val 4390"/>
            </a:avLst>
          </a:prstGeom>
          <a:solidFill>
            <a:srgbClr val="E63946"/>
          </a:solidFill>
          <a:ln/>
        </p:spPr>
      </p:sp>
      <p:sp>
        <p:nvSpPr>
          <p:cNvPr id="8" name="C1_swl1"/>
          <p:cNvSpPr txBox="1"/>
          <p:nvPr/>
        </p:nvSpPr>
        <p:spPr>
          <a:xfrm>
            <a:off x="3733724" y="4434840"/>
            <a:ext cx="2042084" cy="365760"/>
          </a:xfrm>
          <a:prstGeom prst="rect">
            <a:avLst/>
          </a:prstGeom>
          <a:noFill/>
          <a:ln/>
        </p:spPr>
        <p:txBody>
          <a:bodyPr wrap="square" lIns="0" tIns="0" rIns="0" bIns="0" rtlCol="0" anchor="t"/>
          <a:lstStyle/>
          <a:p>
            <a:pPr indent="0" marL="0">
              <a:buNone/>
            </a:pPr>
            <a:r>
              <a:rPr lang="en-US" sz="1400" b="1" dirty="0">
                <a:solidFill>
                  <a:srgbClr val="FFFFFF"/>
                </a:solidFill>
              </a:rPr>
              <a:t>Rouge  </a:t>
            </a:r>
            <a:pPr indent="0" marL="0">
              <a:buNone/>
            </a:pPr>
            <a:r>
              <a:rPr lang="en-US" sz="1400" dirty="0">
                <a:solidFill>
                  <a:srgbClr val="FFFFFF"/>
                </a:solidFill>
              </a:rPr>
              <a:t>#E63946</a:t>
            </a:r>
            <a:endParaRPr lang="en-US" sz="1400" dirty="0"/>
          </a:p>
        </p:txBody>
      </p:sp>
      <p:sp>
        <p:nvSpPr>
          <p:cNvPr id="9" name="C1_sw2"/>
          <p:cNvSpPr/>
          <p:nvPr/>
        </p:nvSpPr>
        <p:spPr>
          <a:xfrm>
            <a:off x="6233008" y="2057400"/>
            <a:ext cx="2499284" cy="2926080"/>
          </a:xfrm>
          <a:prstGeom prst="roundRect">
            <a:avLst>
              <a:gd name="adj" fmla="val 4390"/>
            </a:avLst>
          </a:prstGeom>
          <a:solidFill>
            <a:srgbClr val="FFFFFF"/>
          </a:solidFill>
          <a:ln w="12700">
            <a:solidFill>
              <a:srgbClr val="D5DCE5"/>
            </a:solidFill>
            <a:prstDash val="solid"/>
          </a:ln>
        </p:spPr>
      </p:sp>
      <p:sp>
        <p:nvSpPr>
          <p:cNvPr id="10" name="C1_swl2"/>
          <p:cNvSpPr txBox="1"/>
          <p:nvPr/>
        </p:nvSpPr>
        <p:spPr>
          <a:xfrm>
            <a:off x="6507328" y="4434840"/>
            <a:ext cx="2042084" cy="365760"/>
          </a:xfrm>
          <a:prstGeom prst="rect">
            <a:avLst/>
          </a:prstGeom>
          <a:noFill/>
          <a:ln/>
        </p:spPr>
        <p:txBody>
          <a:bodyPr wrap="square" lIns="0" tIns="0" rIns="0" bIns="0" rtlCol="0" anchor="t"/>
          <a:lstStyle/>
          <a:p>
            <a:pPr indent="0" marL="0">
              <a:buNone/>
            </a:pPr>
            <a:r>
              <a:rPr lang="en-US" sz="1400" b="1" dirty="0">
                <a:solidFill>
                  <a:srgbClr val="1D3557"/>
                </a:solidFill>
              </a:rPr>
              <a:t>Blanc  </a:t>
            </a:r>
            <a:pPr indent="0" marL="0">
              <a:buNone/>
            </a:pPr>
            <a:r>
              <a:rPr lang="en-US" sz="1400" dirty="0">
                <a:solidFill>
                  <a:srgbClr val="1D3557"/>
                </a:solidFill>
              </a:rPr>
              <a:t>#FFFFFF</a:t>
            </a:r>
            <a:endParaRPr lang="en-US" sz="1400" dirty="0"/>
          </a:p>
        </p:txBody>
      </p:sp>
      <p:sp>
        <p:nvSpPr>
          <p:cNvPr id="11" name="C1_sw3"/>
          <p:cNvSpPr/>
          <p:nvPr/>
        </p:nvSpPr>
        <p:spPr>
          <a:xfrm>
            <a:off x="9006611" y="2057400"/>
            <a:ext cx="2499284" cy="2926080"/>
          </a:xfrm>
          <a:prstGeom prst="roundRect">
            <a:avLst>
              <a:gd name="adj" fmla="val 4390"/>
            </a:avLst>
          </a:prstGeom>
          <a:solidFill>
            <a:srgbClr val="A8DADC"/>
          </a:solidFill>
          <a:ln/>
        </p:spPr>
      </p:sp>
      <p:sp>
        <p:nvSpPr>
          <p:cNvPr id="12" name="C1_swl3"/>
          <p:cNvSpPr txBox="1"/>
          <p:nvPr/>
        </p:nvSpPr>
        <p:spPr>
          <a:xfrm>
            <a:off x="9280931" y="4434840"/>
            <a:ext cx="2042084" cy="365760"/>
          </a:xfrm>
          <a:prstGeom prst="rect">
            <a:avLst/>
          </a:prstGeom>
          <a:noFill/>
          <a:ln/>
        </p:spPr>
        <p:txBody>
          <a:bodyPr wrap="square" lIns="0" tIns="0" rIns="0" bIns="0" rtlCol="0" anchor="t"/>
          <a:lstStyle/>
          <a:p>
            <a:pPr indent="0" marL="0">
              <a:buNone/>
            </a:pPr>
            <a:r>
              <a:rPr lang="en-US" sz="1400" b="1" dirty="0">
                <a:solidFill>
                  <a:srgbClr val="1D3557"/>
                </a:solidFill>
              </a:rPr>
              <a:t>Gris métal  </a:t>
            </a:r>
            <a:pPr indent="0" marL="0">
              <a:buNone/>
            </a:pPr>
            <a:r>
              <a:rPr lang="en-US" sz="1400" dirty="0">
                <a:solidFill>
                  <a:srgbClr val="1D3557"/>
                </a:solidFill>
              </a:rPr>
              <a:t>#A8DADC</a:t>
            </a:r>
            <a:endParaRPr lang="en-US" sz="1400" dirty="0"/>
          </a:p>
        </p:txBody>
      </p:sp>
      <p:sp>
        <p:nvSpPr>
          <p:cNvPr id="13" name="C2_sens"/>
          <p:cNvSpPr txBox="1"/>
          <p:nvPr/>
        </p:nvSpPr>
        <p:spPr>
          <a:xfrm>
            <a:off x="685800" y="5303520"/>
            <a:ext cx="10820095" cy="411480"/>
          </a:xfrm>
          <a:prstGeom prst="rect">
            <a:avLst/>
          </a:prstGeom>
          <a:noFill/>
          <a:ln/>
        </p:spPr>
        <p:txBody>
          <a:bodyPr wrap="square" lIns="0" tIns="0" rIns="0" bIns="0" rtlCol="0" anchor="t"/>
          <a:lstStyle/>
          <a:p>
            <a:pPr indent="0" marL="0">
              <a:buNone/>
            </a:pPr>
            <a:r>
              <a:rPr lang="en-US" sz="1600" b="1" dirty="0">
                <a:solidFill>
                  <a:schemeClr val="tx1"/>
                </a:solidFill>
              </a:rPr>
              <a:t>Bleu </a:t>
            </a:r>
            <a:pPr indent="0" marL="0">
              <a:buNone/>
            </a:pPr>
            <a:r>
              <a:rPr lang="en-US" sz="1600" dirty="0">
                <a:solidFill>
                  <a:schemeClr val="tx2"/>
                </a:solidFill>
              </a:rPr>
              <a:t>confiance    </a:t>
            </a:r>
            <a:pPr indent="0" marL="0">
              <a:buNone/>
            </a:pPr>
            <a:r>
              <a:rPr lang="en-US" sz="1600" b="1" dirty="0">
                <a:solidFill>
                  <a:schemeClr val="accent1"/>
                </a:solidFill>
              </a:rPr>
              <a:t>Rouge </a:t>
            </a:r>
            <a:pPr indent="0" marL="0">
              <a:buNone/>
            </a:pPr>
            <a:r>
              <a:rPr lang="en-US" sz="1600" dirty="0">
                <a:solidFill>
                  <a:schemeClr val="tx2"/>
                </a:solidFill>
              </a:rPr>
              <a:t>énergie    </a:t>
            </a:r>
            <a:pPr indent="0" marL="0">
              <a:buNone/>
            </a:pPr>
            <a:r>
              <a:rPr lang="en-US" sz="1600" b="1" dirty="0">
                <a:solidFill>
                  <a:schemeClr val="tx1"/>
                </a:solidFill>
              </a:rPr>
              <a:t>Blanc </a:t>
            </a:r>
            <a:pPr indent="0" marL="0">
              <a:buNone/>
            </a:pPr>
            <a:r>
              <a:rPr lang="en-US" sz="1600" dirty="0">
                <a:solidFill>
                  <a:schemeClr val="tx2"/>
                </a:solidFill>
              </a:rPr>
              <a:t>clarté</a:t>
            </a:r>
            <a:endParaRPr lang="en-US" sz="16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7"/>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8"/>
                                        </p:tgtEl>
                                        <p:attrNameLst>
                                          <p:attrName>ppt_x</p:attrName>
                                          <p:attrName>ppt_y</p:attrName>
                                        </p:attrNameLst>
                                      </p:cBhvr>
                                    </p:animMotion>
                                  </p:childTnLst>
                                </p:cTn>
                              </p:par>
                              <p:par>
                                <p:cTn id="37" presetID="10" presetClass="entr" presetSubtype="0" accel="0" decel="10000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childTnLst>
                                </p:cTn>
                              </p:par>
                              <p:par>
                                <p:cTn id="40" presetID="0" presetClass="path" presetSubtype="0" accel="0" decel="100000" fill="hold" grpId="1" nodeType="withEffect">
                                  <p:stCondLst>
                                    <p:cond delay="0"/>
                                  </p:stCondLst>
                                  <p:childTnLst>
                                    <p:animMotion origin="layout" path="M 0 0.02778 L 0 0 E" pathEditMode="relative" rAng="0" ptsTypes="AA">
                                      <p:cBhvr>
                                        <p:cTn id="41" dur="500" fill="hold"/>
                                        <p:tgtEl>
                                          <p:spTgt spid="9"/>
                                        </p:tgtEl>
                                        <p:attrNameLst>
                                          <p:attrName>ppt_x</p:attrName>
                                          <p:attrName>ppt_y</p:attrName>
                                        </p:attrNameLst>
                                      </p:cBhvr>
                                    </p:animMotion>
                                  </p:childTnLst>
                                </p:cTn>
                              </p:par>
                              <p:par>
                                <p:cTn id="42" presetID="10" presetClass="entr" presetSubtype="0" accel="0" decel="10000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childTnLst>
                                </p:cTn>
                              </p:par>
                              <p:par>
                                <p:cTn id="45" presetID="0" presetClass="path" presetSubtype="0" accel="0" decel="100000" fill="hold" grpId="1" nodeType="withEffect">
                                  <p:stCondLst>
                                    <p:cond delay="0"/>
                                  </p:stCondLst>
                                  <p:childTnLst>
                                    <p:animMotion origin="layout" path="M 0 0.02778 L 0 0 E" pathEditMode="relative" rAng="0" ptsTypes="AA">
                                      <p:cBhvr>
                                        <p:cTn id="46" dur="500" fill="hold"/>
                                        <p:tgtEl>
                                          <p:spTgt spid="10"/>
                                        </p:tgtEl>
                                        <p:attrNameLst>
                                          <p:attrName>ppt_x</p:attrName>
                                          <p:attrName>ppt_y</p:attrName>
                                        </p:attrNameLst>
                                      </p:cBhvr>
                                    </p:animMotion>
                                  </p:childTnLst>
                                </p:cTn>
                              </p:par>
                              <p:par>
                                <p:cTn id="47" presetID="10" presetClass="entr" presetSubtype="0" accel="0" decel="10000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childTnLst>
                                </p:cTn>
                              </p:par>
                              <p:par>
                                <p:cTn id="50" presetID="0" presetClass="path" presetSubtype="0" accel="0" decel="100000" fill="hold" grpId="1" nodeType="withEffect">
                                  <p:stCondLst>
                                    <p:cond delay="0"/>
                                  </p:stCondLst>
                                  <p:childTnLst>
                                    <p:animMotion origin="layout" path="M 0 0.02778 L 0 0 E" pathEditMode="relative" rAng="0" ptsTypes="AA">
                                      <p:cBhvr>
                                        <p:cTn id="51" dur="500" fill="hold"/>
                                        <p:tgtEl>
                                          <p:spTgt spid="11"/>
                                        </p:tgtEl>
                                        <p:attrNameLst>
                                          <p:attrName>ppt_x</p:attrName>
                                          <p:attrName>ppt_y</p:attrName>
                                        </p:attrNameLst>
                                      </p:cBhvr>
                                    </p:animMotion>
                                  </p:childTnLst>
                                </p:cTn>
                              </p:par>
                              <p:par>
                                <p:cTn id="52" presetID="10" presetClass="entr" presetSubtype="0" accel="0" decel="10000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p:tgtEl>
                                          <p:spTgt spid="12"/>
                                        </p:tgtEl>
                                      </p:cBhvr>
                                    </p:animEffect>
                                  </p:childTnLst>
                                </p:cTn>
                              </p:par>
                              <p:par>
                                <p:cTn id="55" presetID="0" presetClass="path" presetSubtype="0" accel="0" decel="100000" fill="hold" grpId="1" nodeType="withEffect">
                                  <p:stCondLst>
                                    <p:cond delay="0"/>
                                  </p:stCondLst>
                                  <p:childTnLst>
                                    <p:animMotion origin="layout" path="M 0 0.02778 L 0 0 E" pathEditMode="relative" rAng="0" ptsTypes="AA">
                                      <p:cBhvr>
                                        <p:cTn id="56" dur="500" fill="hold"/>
                                        <p:tgtEl>
                                          <p:spTgt spid="12"/>
                                        </p:tgtEl>
                                        <p:attrNameLst>
                                          <p:attrName>ppt_x</p:attrName>
                                          <p:attrName>ppt_y</p:attrName>
                                        </p:attrNameLst>
                                      </p:cBhvr>
                                    </p:animMotion>
                                  </p:childTnLst>
                                </p:cTn>
                              </p:par>
                            </p:childTnLst>
                          </p:cTn>
                        </p:par>
                      </p:childTnLst>
                    </p:cTn>
                  </p:par>
                  <p:par>
                    <p:cTn id="57" fill="hold">
                      <p:stCondLst>
                        <p:cond delay="indefinite"/>
                      </p:stCondLst>
                      <p:childTnLst>
                        <p:par>
                          <p:cTn id="58" fill="hold">
                            <p:stCondLst>
                              <p:cond delay="0"/>
                            </p:stCondLst>
                            <p:childTnLst>
                              <p:par>
                                <p:cTn id="59" presetID="10" presetClass="entr" presetSubtype="0" accel="0" decel="100000"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500"/>
                                        <p:tgtEl>
                                          <p:spTgt spid="13"/>
                                        </p:tgtEl>
                                      </p:cBhvr>
                                    </p:animEffect>
                                  </p:childTnLst>
                                </p:cTn>
                              </p:par>
                              <p:par>
                                <p:cTn id="62" presetID="0" presetClass="path" presetSubtype="0" accel="0" decel="100000" fill="hold" grpId="1" nodeType="withEffect">
                                  <p:stCondLst>
                                    <p:cond delay="0"/>
                                  </p:stCondLst>
                                  <p:childTnLst>
                                    <p:animMotion origin="layout" path="M 0 0.02778 L 0 0 E" pathEditMode="relative" rAng="0" ptsTypes="AA">
                                      <p:cBhvr>
                                        <p:cTn id="63" dur="500" fill="hold"/>
                                        <p:tgtEl>
                                          <p:spTgt spid="1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6" grpId="0" animBg="1"/>
      <p:bldP spid="6" grpId="1" animBg="1"/>
      <p:bldP spid="8" grpId="0" animBg="1"/>
      <p:bldP spid="8" grpId="1" animBg="1"/>
      <p:bldP spid="10" grpId="0" animBg="1"/>
      <p:bldP spid="10" grpId="1" animBg="1"/>
      <p:bldP spid="12" grpId="0" animBg="1"/>
      <p:bldP spid="12" grpId="1" animBg="1"/>
      <p:bldP spid="13" grpId="0" animBg="1"/>
      <p:bldP spid="13"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03  ·  RÈGLES D’UTILISATION</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Ce qu’il ne faut pas faire</a:t>
            </a:r>
            <a:endParaRPr lang="en-US" sz="3000" dirty="0"/>
          </a:p>
        </p:txBody>
      </p:sp>
      <p:pic>
        <p:nvPicPr>
          <p:cNvPr id="5" name="C1_img" descr="Exemples d'usages interdits du logo">    </p:cNvPr>
          <p:cNvPicPr>
            <a:picLocks noChangeAspect="1"/>
          </p:cNvPicPr>
          <p:nvPr/>
        </p:nvPicPr>
        <p:blipFill>
          <a:blip r:embed="rId1"/>
          <a:stretch>
            <a:fillRect/>
          </a:stretch>
        </p:blipFill>
        <p:spPr>
          <a:xfrm>
            <a:off x="685800" y="2230625"/>
            <a:ext cx="5486400" cy="3036831"/>
          </a:xfrm>
          <a:prstGeom prst="rect">
            <a:avLst/>
          </a:prstGeom>
          <a:effectLst>
            <a:outerShdw sx="100000" sy="100000" kx="0" ky="0" algn="bl" rotWithShape="0" blurRad="177800" dist="50800" dir="5400000">
              <a:srgbClr val="1D3557">
                <a:alpha val="16000"/>
              </a:srgbClr>
            </a:outerShdw>
          </a:effectLst>
        </p:spPr>
      </p:pic>
      <p:pic>
        <p:nvPicPr>
          <p:cNvPr id="6" name="C2_x0" descr="preencoded.png">    </p:cNvPr>
          <p:cNvPicPr>
            <a:picLocks noChangeAspect="1"/>
          </p:cNvPicPr>
          <p:nvPr/>
        </p:nvPicPr>
        <p:blipFill>
          <a:blip r:embed="rId2"/>
          <a:stretch>
            <a:fillRect/>
          </a:stretch>
        </p:blipFill>
        <p:spPr>
          <a:xfrm>
            <a:off x="6675120" y="2148840"/>
            <a:ext cx="438912" cy="438912"/>
          </a:xfrm>
          <a:prstGeom prst="rect">
            <a:avLst/>
          </a:prstGeom>
        </p:spPr>
      </p:pic>
      <p:sp>
        <p:nvSpPr>
          <p:cNvPr id="7" name="C2_t0"/>
          <p:cNvSpPr txBox="1"/>
          <p:nvPr/>
        </p:nvSpPr>
        <p:spPr>
          <a:xfrm>
            <a:off x="7315200" y="2103120"/>
            <a:ext cx="4206240" cy="548640"/>
          </a:xfrm>
          <a:prstGeom prst="rect">
            <a:avLst/>
          </a:prstGeom>
          <a:noFill/>
          <a:ln/>
        </p:spPr>
        <p:txBody>
          <a:bodyPr wrap="square" lIns="0" tIns="0" rIns="0" bIns="0" rtlCol="0" anchor="ctr"/>
          <a:lstStyle/>
          <a:p>
            <a:pPr indent="0" marL="0">
              <a:buNone/>
            </a:pPr>
            <a:r>
              <a:rPr lang="en-US" sz="1700" dirty="0">
                <a:solidFill>
                  <a:schemeClr val="tx1"/>
                </a:solidFill>
              </a:rPr>
              <a:t>Déformer ou étirer le logo</a:t>
            </a:r>
            <a:endParaRPr lang="en-US" sz="1700" dirty="0"/>
          </a:p>
        </p:txBody>
      </p:sp>
      <p:pic>
        <p:nvPicPr>
          <p:cNvPr id="8" name="C2_x1" descr="preencoded.png">    </p:cNvPr>
          <p:cNvPicPr>
            <a:picLocks noChangeAspect="1"/>
          </p:cNvPicPr>
          <p:nvPr/>
        </p:nvPicPr>
        <p:blipFill>
          <a:blip r:embed="rId3"/>
          <a:stretch>
            <a:fillRect/>
          </a:stretch>
        </p:blipFill>
        <p:spPr>
          <a:xfrm>
            <a:off x="6675120" y="3017520"/>
            <a:ext cx="438912" cy="438912"/>
          </a:xfrm>
          <a:prstGeom prst="rect">
            <a:avLst/>
          </a:prstGeom>
        </p:spPr>
      </p:pic>
      <p:sp>
        <p:nvSpPr>
          <p:cNvPr id="9" name="C2_t1"/>
          <p:cNvSpPr txBox="1"/>
          <p:nvPr/>
        </p:nvSpPr>
        <p:spPr>
          <a:xfrm>
            <a:off x="7315200" y="2971800"/>
            <a:ext cx="4206240" cy="548640"/>
          </a:xfrm>
          <a:prstGeom prst="rect">
            <a:avLst/>
          </a:prstGeom>
          <a:noFill/>
          <a:ln/>
        </p:spPr>
        <p:txBody>
          <a:bodyPr wrap="square" lIns="0" tIns="0" rIns="0" bIns="0" rtlCol="0" anchor="ctr"/>
          <a:lstStyle/>
          <a:p>
            <a:pPr indent="0" marL="0">
              <a:buNone/>
            </a:pPr>
            <a:r>
              <a:rPr lang="en-US" sz="1700" dirty="0">
                <a:solidFill>
                  <a:schemeClr val="tx1"/>
                </a:solidFill>
              </a:rPr>
              <a:t>Changer les couleurs</a:t>
            </a:r>
            <a:endParaRPr lang="en-US" sz="1700" dirty="0"/>
          </a:p>
        </p:txBody>
      </p:sp>
      <p:pic>
        <p:nvPicPr>
          <p:cNvPr id="10" name="C2_x2" descr="preencoded.png">    </p:cNvPr>
          <p:cNvPicPr>
            <a:picLocks noChangeAspect="1"/>
          </p:cNvPicPr>
          <p:nvPr/>
        </p:nvPicPr>
        <p:blipFill>
          <a:blip r:embed="rId4"/>
          <a:stretch>
            <a:fillRect/>
          </a:stretch>
        </p:blipFill>
        <p:spPr>
          <a:xfrm>
            <a:off x="6675120" y="3886200"/>
            <a:ext cx="438912" cy="438912"/>
          </a:xfrm>
          <a:prstGeom prst="rect">
            <a:avLst/>
          </a:prstGeom>
        </p:spPr>
      </p:pic>
      <p:sp>
        <p:nvSpPr>
          <p:cNvPr id="11" name="C2_t2"/>
          <p:cNvSpPr txBox="1"/>
          <p:nvPr/>
        </p:nvSpPr>
        <p:spPr>
          <a:xfrm>
            <a:off x="7315200" y="3840480"/>
            <a:ext cx="4206240" cy="548640"/>
          </a:xfrm>
          <a:prstGeom prst="rect">
            <a:avLst/>
          </a:prstGeom>
          <a:noFill/>
          <a:ln/>
        </p:spPr>
        <p:txBody>
          <a:bodyPr wrap="square" lIns="0" tIns="0" rIns="0" bIns="0" rtlCol="0" anchor="ctr"/>
          <a:lstStyle/>
          <a:p>
            <a:pPr indent="0" marL="0">
              <a:buNone/>
            </a:pPr>
            <a:r>
              <a:rPr lang="en-US" sz="1700" dirty="0">
                <a:solidFill>
                  <a:schemeClr val="tx1"/>
                </a:solidFill>
              </a:rPr>
              <a:t>Ajouter des éléments graphiques</a:t>
            </a:r>
            <a:endParaRPr lang="en-US" sz="1700" dirty="0"/>
          </a:p>
        </p:txBody>
      </p:sp>
      <p:pic>
        <p:nvPicPr>
          <p:cNvPr id="12" name="C2_x3" descr="preencoded.png">    </p:cNvPr>
          <p:cNvPicPr>
            <a:picLocks noChangeAspect="1"/>
          </p:cNvPicPr>
          <p:nvPr/>
        </p:nvPicPr>
        <p:blipFill>
          <a:blip r:embed="rId5"/>
          <a:stretch>
            <a:fillRect/>
          </a:stretch>
        </p:blipFill>
        <p:spPr>
          <a:xfrm>
            <a:off x="6675120" y="4754880"/>
            <a:ext cx="438912" cy="438912"/>
          </a:xfrm>
          <a:prstGeom prst="rect">
            <a:avLst/>
          </a:prstGeom>
        </p:spPr>
      </p:pic>
      <p:sp>
        <p:nvSpPr>
          <p:cNvPr id="13" name="C2_t3"/>
          <p:cNvSpPr txBox="1"/>
          <p:nvPr/>
        </p:nvSpPr>
        <p:spPr>
          <a:xfrm>
            <a:off x="7315200" y="4709160"/>
            <a:ext cx="4206240" cy="548640"/>
          </a:xfrm>
          <a:prstGeom prst="rect">
            <a:avLst/>
          </a:prstGeom>
          <a:noFill/>
          <a:ln/>
        </p:spPr>
        <p:txBody>
          <a:bodyPr wrap="square" lIns="0" tIns="0" rIns="0" bIns="0" rtlCol="0" anchor="ctr"/>
          <a:lstStyle/>
          <a:p>
            <a:pPr indent="0" marL="0">
              <a:buNone/>
            </a:pPr>
            <a:r>
              <a:rPr lang="en-US" sz="1700" dirty="0">
                <a:solidFill>
                  <a:schemeClr val="tx1"/>
                </a:solidFill>
              </a:rPr>
              <a:t>Supprimer « GYM » ou les étoiles</a:t>
            </a:r>
            <a:endParaRPr lang="en-US" sz="17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childTnLst>
                          </p:cTn>
                        </p:par>
                      </p:childTnLst>
                    </p:cTn>
                  </p:par>
                  <p:par>
                    <p:cTn id="22" fill="hold">
                      <p:stCondLst>
                        <p:cond delay="indefinite"/>
                      </p:stCondLst>
                      <p:childTnLst>
                        <p:par>
                          <p:cTn id="23" fill="hold">
                            <p:stCondLst>
                              <p:cond delay="0"/>
                            </p:stCondLst>
                            <p:childTnLst>
                              <p:par>
                                <p:cTn id="24" presetID="10" presetClass="entr" presetSubtype="0" accel="0" decel="10000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p:tgtEl>
                                          <p:spTgt spid="6"/>
                                        </p:tgtEl>
                                      </p:cBhvr>
                                    </p:animEffect>
                                  </p:childTnLst>
                                </p:cTn>
                              </p:par>
                              <p:par>
                                <p:cTn id="27" presetID="0" presetClass="path" presetSubtype="0" accel="0" decel="100000" fill="hold" grpId="1" nodeType="withEffect">
                                  <p:stCondLst>
                                    <p:cond delay="0"/>
                                  </p:stCondLst>
                                  <p:childTnLst>
                                    <p:animMotion origin="layout" path="M 0 0.02778 L 0 0 E" pathEditMode="relative" rAng="0" ptsTypes="AA">
                                      <p:cBhvr>
                                        <p:cTn id="28" dur="500" fill="hold"/>
                                        <p:tgtEl>
                                          <p:spTgt spid="6"/>
                                        </p:tgtEl>
                                        <p:attrNameLst>
                                          <p:attrName>ppt_x</p:attrName>
                                          <p:attrName>ppt_y</p:attrName>
                                        </p:attrNameLst>
                                      </p:cBhvr>
                                    </p:animMotion>
                                  </p:childTnLst>
                                </p:cTn>
                              </p:par>
                              <p:par>
                                <p:cTn id="29" presetID="10" presetClass="entr" presetSubtype="0" accel="0" decel="10000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par>
                                <p:cTn id="32" presetID="0" presetClass="path" presetSubtype="0" accel="0" decel="100000" fill="hold" grpId="1" nodeType="withEffect">
                                  <p:stCondLst>
                                    <p:cond delay="0"/>
                                  </p:stCondLst>
                                  <p:childTnLst>
                                    <p:animMotion origin="layout" path="M 0 0.02778 L 0 0 E" pathEditMode="relative" rAng="0" ptsTypes="AA">
                                      <p:cBhvr>
                                        <p:cTn id="33" dur="500" fill="hold"/>
                                        <p:tgtEl>
                                          <p:spTgt spid="7"/>
                                        </p:tgtEl>
                                        <p:attrNameLst>
                                          <p:attrName>ppt_x</p:attrName>
                                          <p:attrName>ppt_y</p:attrName>
                                        </p:attrNameLst>
                                      </p:cBhvr>
                                    </p:animMotion>
                                  </p:childTnLst>
                                </p:cTn>
                              </p:par>
                              <p:par>
                                <p:cTn id="34" presetID="10" presetClass="entr" presetSubtype="0" accel="0" decel="10000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par>
                                <p:cTn id="37" presetID="0" presetClass="path" presetSubtype="0" accel="0" decel="100000" fill="hold" grpId="1" nodeType="withEffect">
                                  <p:stCondLst>
                                    <p:cond delay="0"/>
                                  </p:stCondLst>
                                  <p:childTnLst>
                                    <p:animMotion origin="layout" path="M 0 0.02778 L 0 0 E" pathEditMode="relative" rAng="0" ptsTypes="AA">
                                      <p:cBhvr>
                                        <p:cTn id="38" dur="500" fill="hold"/>
                                        <p:tgtEl>
                                          <p:spTgt spid="8"/>
                                        </p:tgtEl>
                                        <p:attrNameLst>
                                          <p:attrName>ppt_x</p:attrName>
                                          <p:attrName>ppt_y</p:attrName>
                                        </p:attrNameLst>
                                      </p:cBhvr>
                                    </p:animMotion>
                                  </p:childTnLst>
                                </p:cTn>
                              </p:par>
                              <p:par>
                                <p:cTn id="39" presetID="10" presetClass="entr" presetSubtype="0" accel="0" decel="10000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p:tgtEl>
                                          <p:spTgt spid="9"/>
                                        </p:tgtEl>
                                      </p:cBhvr>
                                    </p:animEffect>
                                  </p:childTnLst>
                                </p:cTn>
                              </p:par>
                              <p:par>
                                <p:cTn id="42" presetID="0" presetClass="path" presetSubtype="0" accel="0" decel="100000" fill="hold" grpId="1" nodeType="withEffect">
                                  <p:stCondLst>
                                    <p:cond delay="0"/>
                                  </p:stCondLst>
                                  <p:childTnLst>
                                    <p:animMotion origin="layout" path="M 0 0.02778 L 0 0 E" pathEditMode="relative" rAng="0" ptsTypes="AA">
                                      <p:cBhvr>
                                        <p:cTn id="43" dur="500" fill="hold"/>
                                        <p:tgtEl>
                                          <p:spTgt spid="9"/>
                                        </p:tgtEl>
                                        <p:attrNameLst>
                                          <p:attrName>ppt_x</p:attrName>
                                          <p:attrName>ppt_y</p:attrName>
                                        </p:attrNameLst>
                                      </p:cBhvr>
                                    </p:animMotion>
                                  </p:childTnLst>
                                </p:cTn>
                              </p:par>
                              <p:par>
                                <p:cTn id="44" presetID="10" presetClass="entr" presetSubtype="0" accel="0" decel="10000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childTnLst>
                                </p:cTn>
                              </p:par>
                              <p:par>
                                <p:cTn id="47" presetID="0" presetClass="path" presetSubtype="0" accel="0" decel="100000" fill="hold" grpId="1" nodeType="withEffect">
                                  <p:stCondLst>
                                    <p:cond delay="0"/>
                                  </p:stCondLst>
                                  <p:childTnLst>
                                    <p:animMotion origin="layout" path="M 0 0.02778 L 0 0 E" pathEditMode="relative" rAng="0" ptsTypes="AA">
                                      <p:cBhvr>
                                        <p:cTn id="48" dur="500" fill="hold"/>
                                        <p:tgtEl>
                                          <p:spTgt spid="10"/>
                                        </p:tgtEl>
                                        <p:attrNameLst>
                                          <p:attrName>ppt_x</p:attrName>
                                          <p:attrName>ppt_y</p:attrName>
                                        </p:attrNameLst>
                                      </p:cBhvr>
                                    </p:animMotion>
                                  </p:childTnLst>
                                </p:cTn>
                              </p:par>
                              <p:par>
                                <p:cTn id="49" presetID="10" presetClass="entr" presetSubtype="0" accel="0" decel="10000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childTnLst>
                                </p:cTn>
                              </p:par>
                              <p:par>
                                <p:cTn id="52" presetID="0" presetClass="path" presetSubtype="0" accel="0" decel="100000" fill="hold" grpId="1" nodeType="withEffect">
                                  <p:stCondLst>
                                    <p:cond delay="0"/>
                                  </p:stCondLst>
                                  <p:childTnLst>
                                    <p:animMotion origin="layout" path="M 0 0.02778 L 0 0 E" pathEditMode="relative" rAng="0" ptsTypes="AA">
                                      <p:cBhvr>
                                        <p:cTn id="53" dur="500" fill="hold"/>
                                        <p:tgtEl>
                                          <p:spTgt spid="11"/>
                                        </p:tgtEl>
                                        <p:attrNameLst>
                                          <p:attrName>ppt_x</p:attrName>
                                          <p:attrName>ppt_y</p:attrName>
                                        </p:attrNameLst>
                                      </p:cBhvr>
                                    </p:animMotion>
                                  </p:childTnLst>
                                </p:cTn>
                              </p:par>
                              <p:par>
                                <p:cTn id="54" presetID="10" presetClass="entr" presetSubtype="0" accel="0" decel="10000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par>
                                <p:cTn id="57" presetID="0" presetClass="path" presetSubtype="0" accel="0" decel="100000" fill="hold" grpId="1" nodeType="withEffect">
                                  <p:stCondLst>
                                    <p:cond delay="0"/>
                                  </p:stCondLst>
                                  <p:childTnLst>
                                    <p:animMotion origin="layout" path="M 0 0.02778 L 0 0 E" pathEditMode="relative" rAng="0" ptsTypes="AA">
                                      <p:cBhvr>
                                        <p:cTn id="58" dur="500" fill="hold"/>
                                        <p:tgtEl>
                                          <p:spTgt spid="12"/>
                                        </p:tgtEl>
                                        <p:attrNameLst>
                                          <p:attrName>ppt_x</p:attrName>
                                          <p:attrName>ppt_y</p:attrName>
                                        </p:attrNameLst>
                                      </p:cBhvr>
                                    </p:animMotion>
                                  </p:childTnLst>
                                </p:cTn>
                              </p:par>
                              <p:par>
                                <p:cTn id="59" presetID="10" presetClass="entr" presetSubtype="0" accel="0" decel="10000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500"/>
                                        <p:tgtEl>
                                          <p:spTgt spid="13"/>
                                        </p:tgtEl>
                                      </p:cBhvr>
                                    </p:animEffect>
                                  </p:childTnLst>
                                </p:cTn>
                              </p:par>
                              <p:par>
                                <p:cTn id="62" presetID="0" presetClass="path" presetSubtype="0" accel="0" decel="100000" fill="hold" grpId="1" nodeType="withEffect">
                                  <p:stCondLst>
                                    <p:cond delay="0"/>
                                  </p:stCondLst>
                                  <p:childTnLst>
                                    <p:animMotion origin="layout" path="M 0 0.02778 L 0 0 E" pathEditMode="relative" rAng="0" ptsTypes="AA">
                                      <p:cBhvr>
                                        <p:cTn id="63" dur="500" fill="hold"/>
                                        <p:tgtEl>
                                          <p:spTgt spid="1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7" grpId="0" animBg="1"/>
      <p:bldP spid="7" grpId="1" animBg="1"/>
      <p:bldP spid="9" grpId="0" animBg="1"/>
      <p:bldP spid="9" grpId="1" animBg="1"/>
      <p:bldP spid="11" grpId="0" animBg="1"/>
      <p:bldP spid="11" grpId="1" animBg="1"/>
      <p:bldP spid="13" grpId="0" animBg="1"/>
      <p:bldP spid="13"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03  ·  DÉCLINAISONS</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Le logo appliqué aux supports de marque</a:t>
            </a:r>
            <a:endParaRPr lang="en-US" sz="3000" dirty="0"/>
          </a:p>
        </p:txBody>
      </p:sp>
      <p:sp>
        <p:nvSpPr>
          <p:cNvPr id="5" name="C1_card0"/>
          <p:cNvSpPr/>
          <p:nvPr/>
        </p:nvSpPr>
        <p:spPr>
          <a:xfrm>
            <a:off x="685800" y="1874520"/>
            <a:ext cx="3393338" cy="1828800"/>
          </a:xfrm>
          <a:prstGeom prst="roundRect">
            <a:avLst>
              <a:gd name="adj" fmla="val 6000"/>
            </a:avLst>
          </a:prstGeom>
          <a:solidFill>
            <a:schemeClr val="bg2"/>
          </a:solidFill>
          <a:ln/>
        </p:spPr>
      </p:sp>
      <p:pic>
        <p:nvPicPr>
          <p:cNvPr id="6" name="C1_img0" descr="Carte de visite">    </p:cNvPr>
          <p:cNvPicPr>
            <a:picLocks noChangeAspect="1"/>
          </p:cNvPicPr>
          <p:nvPr/>
        </p:nvPicPr>
        <p:blipFill>
          <a:blip r:embed="rId1"/>
          <a:stretch>
            <a:fillRect/>
          </a:stretch>
        </p:blipFill>
        <p:spPr>
          <a:xfrm>
            <a:off x="1121460" y="2011680"/>
            <a:ext cx="2522018" cy="1554480"/>
          </a:xfrm>
          <a:prstGeom prst="rect">
            <a:avLst/>
          </a:prstGeom>
        </p:spPr>
      </p:pic>
      <p:sp>
        <p:nvSpPr>
          <p:cNvPr id="7" name="C1_cap0"/>
          <p:cNvSpPr txBox="1"/>
          <p:nvPr/>
        </p:nvSpPr>
        <p:spPr>
          <a:xfrm>
            <a:off x="685800" y="3730752"/>
            <a:ext cx="3393338" cy="274320"/>
          </a:xfrm>
          <a:prstGeom prst="rect">
            <a:avLst/>
          </a:prstGeom>
          <a:noFill/>
          <a:ln/>
        </p:spPr>
        <p:txBody>
          <a:bodyPr wrap="square" lIns="0" tIns="0" rIns="0" bIns="0" rtlCol="0" anchor="t"/>
          <a:lstStyle/>
          <a:p>
            <a:pPr algn="l" indent="0" marL="0">
              <a:buNone/>
            </a:pPr>
            <a:r>
              <a:rPr lang="en-US" sz="1100" dirty="0">
                <a:solidFill>
                  <a:schemeClr val="accent4"/>
                </a:solidFill>
              </a:rPr>
              <a:t>Carte de visite</a:t>
            </a:r>
            <a:endParaRPr lang="en-US" sz="1100" dirty="0"/>
          </a:p>
        </p:txBody>
      </p:sp>
      <p:sp>
        <p:nvSpPr>
          <p:cNvPr id="8" name="C1_card1"/>
          <p:cNvSpPr/>
          <p:nvPr/>
        </p:nvSpPr>
        <p:spPr>
          <a:xfrm>
            <a:off x="4399178" y="1874520"/>
            <a:ext cx="3393338" cy="1828800"/>
          </a:xfrm>
          <a:prstGeom prst="roundRect">
            <a:avLst>
              <a:gd name="adj" fmla="val 6000"/>
            </a:avLst>
          </a:prstGeom>
          <a:solidFill>
            <a:schemeClr val="bg2"/>
          </a:solidFill>
          <a:ln/>
        </p:spPr>
      </p:sp>
      <p:pic>
        <p:nvPicPr>
          <p:cNvPr id="9" name="C1_img1" descr="T-shirt">    </p:cNvPr>
          <p:cNvPicPr>
            <a:picLocks noChangeAspect="1"/>
          </p:cNvPicPr>
          <p:nvPr/>
        </p:nvPicPr>
        <p:blipFill>
          <a:blip r:embed="rId2"/>
          <a:stretch>
            <a:fillRect/>
          </a:stretch>
        </p:blipFill>
        <p:spPr>
          <a:xfrm>
            <a:off x="5159280" y="2011680"/>
            <a:ext cx="1873135" cy="1554480"/>
          </a:xfrm>
          <a:prstGeom prst="rect">
            <a:avLst/>
          </a:prstGeom>
        </p:spPr>
      </p:pic>
      <p:sp>
        <p:nvSpPr>
          <p:cNvPr id="10" name="C1_cap1"/>
          <p:cNvSpPr txBox="1"/>
          <p:nvPr/>
        </p:nvSpPr>
        <p:spPr>
          <a:xfrm>
            <a:off x="4399178" y="3730752"/>
            <a:ext cx="3393338" cy="274320"/>
          </a:xfrm>
          <a:prstGeom prst="rect">
            <a:avLst/>
          </a:prstGeom>
          <a:noFill/>
          <a:ln/>
        </p:spPr>
        <p:txBody>
          <a:bodyPr wrap="square" lIns="0" tIns="0" rIns="0" bIns="0" rtlCol="0" anchor="t"/>
          <a:lstStyle/>
          <a:p>
            <a:pPr algn="l" indent="0" marL="0">
              <a:buNone/>
            </a:pPr>
            <a:r>
              <a:rPr lang="en-US" sz="1100" dirty="0">
                <a:solidFill>
                  <a:schemeClr val="accent4"/>
                </a:solidFill>
              </a:rPr>
              <a:t>T-shirt</a:t>
            </a:r>
            <a:endParaRPr lang="en-US" sz="1100" dirty="0"/>
          </a:p>
        </p:txBody>
      </p:sp>
      <p:sp>
        <p:nvSpPr>
          <p:cNvPr id="11" name="C1_card2"/>
          <p:cNvSpPr/>
          <p:nvPr/>
        </p:nvSpPr>
        <p:spPr>
          <a:xfrm>
            <a:off x="8112557" y="1874520"/>
            <a:ext cx="3393338" cy="1828800"/>
          </a:xfrm>
          <a:prstGeom prst="roundRect">
            <a:avLst>
              <a:gd name="adj" fmla="val 6000"/>
            </a:avLst>
          </a:prstGeom>
          <a:solidFill>
            <a:schemeClr val="bg2"/>
          </a:solidFill>
          <a:ln/>
        </p:spPr>
      </p:sp>
      <p:pic>
        <p:nvPicPr>
          <p:cNvPr id="12" name="C1_img2" descr="Casquette">    </p:cNvPr>
          <p:cNvPicPr>
            <a:picLocks noChangeAspect="1"/>
          </p:cNvPicPr>
          <p:nvPr/>
        </p:nvPicPr>
        <p:blipFill>
          <a:blip r:embed="rId3"/>
          <a:stretch>
            <a:fillRect/>
          </a:stretch>
        </p:blipFill>
        <p:spPr>
          <a:xfrm>
            <a:off x="8984130" y="2011680"/>
            <a:ext cx="1650191" cy="1554480"/>
          </a:xfrm>
          <a:prstGeom prst="rect">
            <a:avLst/>
          </a:prstGeom>
        </p:spPr>
      </p:pic>
      <p:sp>
        <p:nvSpPr>
          <p:cNvPr id="13" name="C1_cap2"/>
          <p:cNvSpPr txBox="1"/>
          <p:nvPr/>
        </p:nvSpPr>
        <p:spPr>
          <a:xfrm>
            <a:off x="8112557" y="3730752"/>
            <a:ext cx="3393338" cy="274320"/>
          </a:xfrm>
          <a:prstGeom prst="rect">
            <a:avLst/>
          </a:prstGeom>
          <a:noFill/>
          <a:ln/>
        </p:spPr>
        <p:txBody>
          <a:bodyPr wrap="square" lIns="0" tIns="0" rIns="0" bIns="0" rtlCol="0" anchor="t"/>
          <a:lstStyle/>
          <a:p>
            <a:pPr algn="l" indent="0" marL="0">
              <a:buNone/>
            </a:pPr>
            <a:r>
              <a:rPr lang="en-US" sz="1100" dirty="0">
                <a:solidFill>
                  <a:schemeClr val="accent4"/>
                </a:solidFill>
              </a:rPr>
              <a:t>Casquette</a:t>
            </a:r>
            <a:endParaRPr lang="en-US" sz="1100" dirty="0"/>
          </a:p>
        </p:txBody>
      </p:sp>
      <p:sp>
        <p:nvSpPr>
          <p:cNvPr id="14" name="C2_card3"/>
          <p:cNvSpPr/>
          <p:nvPr/>
        </p:nvSpPr>
        <p:spPr>
          <a:xfrm>
            <a:off x="685800" y="4114800"/>
            <a:ext cx="3393338" cy="1828800"/>
          </a:xfrm>
          <a:prstGeom prst="roundRect">
            <a:avLst>
              <a:gd name="adj" fmla="val 6000"/>
            </a:avLst>
          </a:prstGeom>
          <a:solidFill>
            <a:schemeClr val="bg2"/>
          </a:solidFill>
          <a:ln/>
        </p:spPr>
      </p:sp>
      <p:pic>
        <p:nvPicPr>
          <p:cNvPr id="15" name="C2_img3" descr="Sac de sport">    </p:cNvPr>
          <p:cNvPicPr>
            <a:picLocks noChangeAspect="1"/>
          </p:cNvPicPr>
          <p:nvPr/>
        </p:nvPicPr>
        <p:blipFill>
          <a:blip r:embed="rId4"/>
          <a:stretch>
            <a:fillRect/>
          </a:stretch>
        </p:blipFill>
        <p:spPr>
          <a:xfrm>
            <a:off x="1864309" y="4251960"/>
            <a:ext cx="1036320" cy="1554480"/>
          </a:xfrm>
          <a:prstGeom prst="rect">
            <a:avLst/>
          </a:prstGeom>
        </p:spPr>
      </p:pic>
      <p:sp>
        <p:nvSpPr>
          <p:cNvPr id="16" name="C2_cap3"/>
          <p:cNvSpPr txBox="1"/>
          <p:nvPr/>
        </p:nvSpPr>
        <p:spPr>
          <a:xfrm>
            <a:off x="685800" y="5971032"/>
            <a:ext cx="3393338" cy="274320"/>
          </a:xfrm>
          <a:prstGeom prst="rect">
            <a:avLst/>
          </a:prstGeom>
          <a:noFill/>
          <a:ln/>
        </p:spPr>
        <p:txBody>
          <a:bodyPr wrap="square" lIns="0" tIns="0" rIns="0" bIns="0" rtlCol="0" anchor="t"/>
          <a:lstStyle/>
          <a:p>
            <a:pPr algn="l" indent="0" marL="0">
              <a:buNone/>
            </a:pPr>
            <a:r>
              <a:rPr lang="en-US" sz="1100" dirty="0">
                <a:solidFill>
                  <a:schemeClr val="accent4"/>
                </a:solidFill>
              </a:rPr>
              <a:t>Sac de sport</a:t>
            </a:r>
            <a:endParaRPr lang="en-US" sz="1100" dirty="0"/>
          </a:p>
        </p:txBody>
      </p:sp>
      <p:sp>
        <p:nvSpPr>
          <p:cNvPr id="17" name="C2_card4"/>
          <p:cNvSpPr/>
          <p:nvPr/>
        </p:nvSpPr>
        <p:spPr>
          <a:xfrm>
            <a:off x="4399178" y="4114800"/>
            <a:ext cx="3393338" cy="1828800"/>
          </a:xfrm>
          <a:prstGeom prst="roundRect">
            <a:avLst>
              <a:gd name="adj" fmla="val 6000"/>
            </a:avLst>
          </a:prstGeom>
          <a:solidFill>
            <a:schemeClr val="bg2"/>
          </a:solidFill>
          <a:ln/>
        </p:spPr>
      </p:sp>
      <p:pic>
        <p:nvPicPr>
          <p:cNvPr id="18" name="C2_img4" descr="Gourdes">    </p:cNvPr>
          <p:cNvPicPr>
            <a:picLocks noChangeAspect="1"/>
          </p:cNvPicPr>
          <p:nvPr/>
        </p:nvPicPr>
        <p:blipFill>
          <a:blip r:embed="rId5"/>
          <a:stretch>
            <a:fillRect/>
          </a:stretch>
        </p:blipFill>
        <p:spPr>
          <a:xfrm>
            <a:off x="5318608" y="4251960"/>
            <a:ext cx="1554480" cy="1554480"/>
          </a:xfrm>
          <a:prstGeom prst="rect">
            <a:avLst/>
          </a:prstGeom>
        </p:spPr>
      </p:pic>
      <p:sp>
        <p:nvSpPr>
          <p:cNvPr id="19" name="C2_cap4"/>
          <p:cNvSpPr txBox="1"/>
          <p:nvPr/>
        </p:nvSpPr>
        <p:spPr>
          <a:xfrm>
            <a:off x="4399178" y="5971032"/>
            <a:ext cx="3393338" cy="274320"/>
          </a:xfrm>
          <a:prstGeom prst="rect">
            <a:avLst/>
          </a:prstGeom>
          <a:noFill/>
          <a:ln/>
        </p:spPr>
        <p:txBody>
          <a:bodyPr wrap="square" lIns="0" tIns="0" rIns="0" bIns="0" rtlCol="0" anchor="t"/>
          <a:lstStyle/>
          <a:p>
            <a:pPr algn="l" indent="0" marL="0">
              <a:buNone/>
            </a:pPr>
            <a:r>
              <a:rPr lang="en-US" sz="1100" dirty="0">
                <a:solidFill>
                  <a:schemeClr val="accent4"/>
                </a:solidFill>
              </a:rPr>
              <a:t>Gourdes</a:t>
            </a:r>
            <a:endParaRPr lang="en-US" sz="1100" dirty="0"/>
          </a:p>
        </p:txBody>
      </p:sp>
      <p:sp>
        <p:nvSpPr>
          <p:cNvPr id="20" name="C2_card5"/>
          <p:cNvSpPr/>
          <p:nvPr/>
        </p:nvSpPr>
        <p:spPr>
          <a:xfrm>
            <a:off x="8112557" y="4114800"/>
            <a:ext cx="3393338" cy="1828800"/>
          </a:xfrm>
          <a:prstGeom prst="roundRect">
            <a:avLst>
              <a:gd name="adj" fmla="val 6000"/>
            </a:avLst>
          </a:prstGeom>
          <a:solidFill>
            <a:schemeClr val="bg2"/>
          </a:solidFill>
          <a:ln/>
        </p:spPr>
      </p:sp>
      <p:pic>
        <p:nvPicPr>
          <p:cNvPr id="21" name="C2_img5" descr="Stylo">    </p:cNvPr>
          <p:cNvPicPr>
            <a:picLocks noChangeAspect="1"/>
          </p:cNvPicPr>
          <p:nvPr/>
        </p:nvPicPr>
        <p:blipFill>
          <a:blip r:embed="rId6"/>
          <a:stretch>
            <a:fillRect/>
          </a:stretch>
        </p:blipFill>
        <p:spPr>
          <a:xfrm>
            <a:off x="8417803" y="4251960"/>
            <a:ext cx="2782845" cy="1554480"/>
          </a:xfrm>
          <a:prstGeom prst="rect">
            <a:avLst/>
          </a:prstGeom>
        </p:spPr>
      </p:pic>
      <p:sp>
        <p:nvSpPr>
          <p:cNvPr id="22" name="C2_cap5"/>
          <p:cNvSpPr txBox="1"/>
          <p:nvPr/>
        </p:nvSpPr>
        <p:spPr>
          <a:xfrm>
            <a:off x="8112557" y="5971032"/>
            <a:ext cx="3393338" cy="274320"/>
          </a:xfrm>
          <a:prstGeom prst="rect">
            <a:avLst/>
          </a:prstGeom>
          <a:noFill/>
          <a:ln/>
        </p:spPr>
        <p:txBody>
          <a:bodyPr wrap="square" lIns="0" tIns="0" rIns="0" bIns="0" rtlCol="0" anchor="t"/>
          <a:lstStyle/>
          <a:p>
            <a:pPr algn="l" indent="0" marL="0">
              <a:buNone/>
            </a:pPr>
            <a:r>
              <a:rPr lang="en-US" sz="1100" dirty="0">
                <a:solidFill>
                  <a:schemeClr val="accent4"/>
                </a:solidFill>
              </a:rPr>
              <a:t>Stylo</a:t>
            </a:r>
            <a:endParaRPr lang="en-US" sz="11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7"/>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8"/>
                                        </p:tgtEl>
                                        <p:attrNameLst>
                                          <p:attrName>ppt_x</p:attrName>
                                          <p:attrName>ppt_y</p:attrName>
                                        </p:attrNameLst>
                                      </p:cBhvr>
                                    </p:animMotion>
                                  </p:childTnLst>
                                </p:cTn>
                              </p:par>
                              <p:par>
                                <p:cTn id="37" presetID="10" presetClass="entr" presetSubtype="0" accel="0" decel="10000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childTnLst>
                                </p:cTn>
                              </p:par>
                              <p:par>
                                <p:cTn id="40" presetID="0" presetClass="path" presetSubtype="0" accel="0" decel="100000" fill="hold" grpId="1" nodeType="withEffect">
                                  <p:stCondLst>
                                    <p:cond delay="0"/>
                                  </p:stCondLst>
                                  <p:childTnLst>
                                    <p:animMotion origin="layout" path="M 0 0.02778 L 0 0 E" pathEditMode="relative" rAng="0" ptsTypes="AA">
                                      <p:cBhvr>
                                        <p:cTn id="41" dur="500" fill="hold"/>
                                        <p:tgtEl>
                                          <p:spTgt spid="9"/>
                                        </p:tgtEl>
                                        <p:attrNameLst>
                                          <p:attrName>ppt_x</p:attrName>
                                          <p:attrName>ppt_y</p:attrName>
                                        </p:attrNameLst>
                                      </p:cBhvr>
                                    </p:animMotion>
                                  </p:childTnLst>
                                </p:cTn>
                              </p:par>
                              <p:par>
                                <p:cTn id="42" presetID="10" presetClass="entr" presetSubtype="0" accel="0" decel="10000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childTnLst>
                                </p:cTn>
                              </p:par>
                              <p:par>
                                <p:cTn id="45" presetID="0" presetClass="path" presetSubtype="0" accel="0" decel="100000" fill="hold" grpId="1" nodeType="withEffect">
                                  <p:stCondLst>
                                    <p:cond delay="0"/>
                                  </p:stCondLst>
                                  <p:childTnLst>
                                    <p:animMotion origin="layout" path="M 0 0.02778 L 0 0 E" pathEditMode="relative" rAng="0" ptsTypes="AA">
                                      <p:cBhvr>
                                        <p:cTn id="46" dur="500" fill="hold"/>
                                        <p:tgtEl>
                                          <p:spTgt spid="10"/>
                                        </p:tgtEl>
                                        <p:attrNameLst>
                                          <p:attrName>ppt_x</p:attrName>
                                          <p:attrName>ppt_y</p:attrName>
                                        </p:attrNameLst>
                                      </p:cBhvr>
                                    </p:animMotion>
                                  </p:childTnLst>
                                </p:cTn>
                              </p:par>
                              <p:par>
                                <p:cTn id="47" presetID="10" presetClass="entr" presetSubtype="0" accel="0" decel="10000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childTnLst>
                                </p:cTn>
                              </p:par>
                              <p:par>
                                <p:cTn id="50" presetID="0" presetClass="path" presetSubtype="0" accel="0" decel="100000" fill="hold" grpId="1" nodeType="withEffect">
                                  <p:stCondLst>
                                    <p:cond delay="0"/>
                                  </p:stCondLst>
                                  <p:childTnLst>
                                    <p:animMotion origin="layout" path="M 0 0.02778 L 0 0 E" pathEditMode="relative" rAng="0" ptsTypes="AA">
                                      <p:cBhvr>
                                        <p:cTn id="51" dur="500" fill="hold"/>
                                        <p:tgtEl>
                                          <p:spTgt spid="11"/>
                                        </p:tgtEl>
                                        <p:attrNameLst>
                                          <p:attrName>ppt_x</p:attrName>
                                          <p:attrName>ppt_y</p:attrName>
                                        </p:attrNameLst>
                                      </p:cBhvr>
                                    </p:animMotion>
                                  </p:childTnLst>
                                </p:cTn>
                              </p:par>
                              <p:par>
                                <p:cTn id="52" presetID="10" presetClass="entr" presetSubtype="0" accel="0" decel="10000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p:tgtEl>
                                          <p:spTgt spid="12"/>
                                        </p:tgtEl>
                                      </p:cBhvr>
                                    </p:animEffect>
                                  </p:childTnLst>
                                </p:cTn>
                              </p:par>
                              <p:par>
                                <p:cTn id="55" presetID="0" presetClass="path" presetSubtype="0" accel="0" decel="100000" fill="hold" grpId="1" nodeType="withEffect">
                                  <p:stCondLst>
                                    <p:cond delay="0"/>
                                  </p:stCondLst>
                                  <p:childTnLst>
                                    <p:animMotion origin="layout" path="M 0 0.02778 L 0 0 E" pathEditMode="relative" rAng="0" ptsTypes="AA">
                                      <p:cBhvr>
                                        <p:cTn id="56" dur="500" fill="hold"/>
                                        <p:tgtEl>
                                          <p:spTgt spid="12"/>
                                        </p:tgtEl>
                                        <p:attrNameLst>
                                          <p:attrName>ppt_x</p:attrName>
                                          <p:attrName>ppt_y</p:attrName>
                                        </p:attrNameLst>
                                      </p:cBhvr>
                                    </p:animMotion>
                                  </p:childTnLst>
                                </p:cTn>
                              </p:par>
                              <p:par>
                                <p:cTn id="57" presetID="10" presetClass="entr" presetSubtype="0" accel="0" decel="10000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p:tgtEl>
                                          <p:spTgt spid="13"/>
                                        </p:tgtEl>
                                      </p:cBhvr>
                                    </p:animEffect>
                                  </p:childTnLst>
                                </p:cTn>
                              </p:par>
                              <p:par>
                                <p:cTn id="60" presetID="0" presetClass="path" presetSubtype="0" accel="0" decel="100000" fill="hold" grpId="1" nodeType="withEffect">
                                  <p:stCondLst>
                                    <p:cond delay="0"/>
                                  </p:stCondLst>
                                  <p:childTnLst>
                                    <p:animMotion origin="layout" path="M 0 0.02778 L 0 0 E" pathEditMode="relative" rAng="0" ptsTypes="AA">
                                      <p:cBhvr>
                                        <p:cTn id="61" dur="500" fill="hold"/>
                                        <p:tgtEl>
                                          <p:spTgt spid="13"/>
                                        </p:tgtEl>
                                        <p:attrNameLst>
                                          <p:attrName>ppt_x</p:attrName>
                                          <p:attrName>ppt_y</p:attrName>
                                        </p:attrNameLst>
                                      </p:cBhvr>
                                    </p:animMotion>
                                  </p:childTnLst>
                                </p:cTn>
                              </p:par>
                            </p:childTnLst>
                          </p:cTn>
                        </p:par>
                      </p:childTnLst>
                    </p:cTn>
                  </p:par>
                  <p:par>
                    <p:cTn id="62" fill="hold">
                      <p:stCondLst>
                        <p:cond delay="indefinite"/>
                      </p:stCondLst>
                      <p:childTnLst>
                        <p:par>
                          <p:cTn id="63" fill="hold">
                            <p:stCondLst>
                              <p:cond delay="0"/>
                            </p:stCondLst>
                            <p:childTnLst>
                              <p:par>
                                <p:cTn id="64" presetID="10" presetClass="entr" presetSubtype="0" accel="0" decel="100000" fill="hold" grpId="0" nodeType="click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500"/>
                                        <p:tgtEl>
                                          <p:spTgt spid="14"/>
                                        </p:tgtEl>
                                      </p:cBhvr>
                                    </p:animEffect>
                                  </p:childTnLst>
                                </p:cTn>
                              </p:par>
                              <p:par>
                                <p:cTn id="67" presetID="0" presetClass="path" presetSubtype="0" accel="0" decel="100000" fill="hold" grpId="1" nodeType="withEffect">
                                  <p:stCondLst>
                                    <p:cond delay="0"/>
                                  </p:stCondLst>
                                  <p:childTnLst>
                                    <p:animMotion origin="layout" path="M 0 0.02778 L 0 0 E" pathEditMode="relative" rAng="0" ptsTypes="AA">
                                      <p:cBhvr>
                                        <p:cTn id="68" dur="500" fill="hold"/>
                                        <p:tgtEl>
                                          <p:spTgt spid="14"/>
                                        </p:tgtEl>
                                        <p:attrNameLst>
                                          <p:attrName>ppt_x</p:attrName>
                                          <p:attrName>ppt_y</p:attrName>
                                        </p:attrNameLst>
                                      </p:cBhvr>
                                    </p:animMotion>
                                  </p:childTnLst>
                                </p:cTn>
                              </p:par>
                              <p:par>
                                <p:cTn id="69" presetID="10" presetClass="entr" presetSubtype="0" accel="0" decel="10000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500"/>
                                        <p:tgtEl>
                                          <p:spTgt spid="15"/>
                                        </p:tgtEl>
                                      </p:cBhvr>
                                    </p:animEffect>
                                  </p:childTnLst>
                                </p:cTn>
                              </p:par>
                              <p:par>
                                <p:cTn id="72" presetID="0" presetClass="path" presetSubtype="0" accel="0" decel="100000" fill="hold" grpId="1" nodeType="withEffect">
                                  <p:stCondLst>
                                    <p:cond delay="0"/>
                                  </p:stCondLst>
                                  <p:childTnLst>
                                    <p:animMotion origin="layout" path="M 0 0.02778 L 0 0 E" pathEditMode="relative" rAng="0" ptsTypes="AA">
                                      <p:cBhvr>
                                        <p:cTn id="73" dur="500" fill="hold"/>
                                        <p:tgtEl>
                                          <p:spTgt spid="15"/>
                                        </p:tgtEl>
                                        <p:attrNameLst>
                                          <p:attrName>ppt_x</p:attrName>
                                          <p:attrName>ppt_y</p:attrName>
                                        </p:attrNameLst>
                                      </p:cBhvr>
                                    </p:animMotion>
                                  </p:childTnLst>
                                </p:cTn>
                              </p:par>
                              <p:par>
                                <p:cTn id="74" presetID="10" presetClass="entr" presetSubtype="0" accel="0" decel="10000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500"/>
                                        <p:tgtEl>
                                          <p:spTgt spid="16"/>
                                        </p:tgtEl>
                                      </p:cBhvr>
                                    </p:animEffect>
                                  </p:childTnLst>
                                </p:cTn>
                              </p:par>
                              <p:par>
                                <p:cTn id="77" presetID="0" presetClass="path" presetSubtype="0" accel="0" decel="100000" fill="hold" grpId="1" nodeType="withEffect">
                                  <p:stCondLst>
                                    <p:cond delay="0"/>
                                  </p:stCondLst>
                                  <p:childTnLst>
                                    <p:animMotion origin="layout" path="M 0 0.02778 L 0 0 E" pathEditMode="relative" rAng="0" ptsTypes="AA">
                                      <p:cBhvr>
                                        <p:cTn id="78" dur="500" fill="hold"/>
                                        <p:tgtEl>
                                          <p:spTgt spid="16"/>
                                        </p:tgtEl>
                                        <p:attrNameLst>
                                          <p:attrName>ppt_x</p:attrName>
                                          <p:attrName>ppt_y</p:attrName>
                                        </p:attrNameLst>
                                      </p:cBhvr>
                                    </p:animMotion>
                                  </p:childTnLst>
                                </p:cTn>
                              </p:par>
                              <p:par>
                                <p:cTn id="79" presetID="10" presetClass="entr" presetSubtype="0" accel="0" decel="10000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500"/>
                                        <p:tgtEl>
                                          <p:spTgt spid="17"/>
                                        </p:tgtEl>
                                      </p:cBhvr>
                                    </p:animEffect>
                                  </p:childTnLst>
                                </p:cTn>
                              </p:par>
                              <p:par>
                                <p:cTn id="82" presetID="0" presetClass="path" presetSubtype="0" accel="0" decel="100000" fill="hold" grpId="1" nodeType="withEffect">
                                  <p:stCondLst>
                                    <p:cond delay="0"/>
                                  </p:stCondLst>
                                  <p:childTnLst>
                                    <p:animMotion origin="layout" path="M 0 0.02778 L 0 0 E" pathEditMode="relative" rAng="0" ptsTypes="AA">
                                      <p:cBhvr>
                                        <p:cTn id="83" dur="500" fill="hold"/>
                                        <p:tgtEl>
                                          <p:spTgt spid="17"/>
                                        </p:tgtEl>
                                        <p:attrNameLst>
                                          <p:attrName>ppt_x</p:attrName>
                                          <p:attrName>ppt_y</p:attrName>
                                        </p:attrNameLst>
                                      </p:cBhvr>
                                    </p:animMotion>
                                  </p:childTnLst>
                                </p:cTn>
                              </p:par>
                              <p:par>
                                <p:cTn id="84" presetID="10" presetClass="entr" presetSubtype="0" accel="0" decel="10000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500"/>
                                        <p:tgtEl>
                                          <p:spTgt spid="18"/>
                                        </p:tgtEl>
                                      </p:cBhvr>
                                    </p:animEffect>
                                  </p:childTnLst>
                                </p:cTn>
                              </p:par>
                              <p:par>
                                <p:cTn id="87" presetID="0" presetClass="path" presetSubtype="0" accel="0" decel="100000" fill="hold" grpId="1" nodeType="withEffect">
                                  <p:stCondLst>
                                    <p:cond delay="0"/>
                                  </p:stCondLst>
                                  <p:childTnLst>
                                    <p:animMotion origin="layout" path="M 0 0.02778 L 0 0 E" pathEditMode="relative" rAng="0" ptsTypes="AA">
                                      <p:cBhvr>
                                        <p:cTn id="88" dur="500" fill="hold"/>
                                        <p:tgtEl>
                                          <p:spTgt spid="18"/>
                                        </p:tgtEl>
                                        <p:attrNameLst>
                                          <p:attrName>ppt_x</p:attrName>
                                          <p:attrName>ppt_y</p:attrName>
                                        </p:attrNameLst>
                                      </p:cBhvr>
                                    </p:animMotion>
                                  </p:childTnLst>
                                </p:cTn>
                              </p:par>
                              <p:par>
                                <p:cTn id="89" presetID="10" presetClass="entr" presetSubtype="0" accel="0" decel="10000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500"/>
                                        <p:tgtEl>
                                          <p:spTgt spid="19"/>
                                        </p:tgtEl>
                                      </p:cBhvr>
                                    </p:animEffect>
                                  </p:childTnLst>
                                </p:cTn>
                              </p:par>
                              <p:par>
                                <p:cTn id="92" presetID="0" presetClass="path" presetSubtype="0" accel="0" decel="100000" fill="hold" grpId="1" nodeType="withEffect">
                                  <p:stCondLst>
                                    <p:cond delay="0"/>
                                  </p:stCondLst>
                                  <p:childTnLst>
                                    <p:animMotion origin="layout" path="M 0 0.02778 L 0 0 E" pathEditMode="relative" rAng="0" ptsTypes="AA">
                                      <p:cBhvr>
                                        <p:cTn id="93" dur="500" fill="hold"/>
                                        <p:tgtEl>
                                          <p:spTgt spid="19"/>
                                        </p:tgtEl>
                                        <p:attrNameLst>
                                          <p:attrName>ppt_x</p:attrName>
                                          <p:attrName>ppt_y</p:attrName>
                                        </p:attrNameLst>
                                      </p:cBhvr>
                                    </p:animMotion>
                                  </p:childTnLst>
                                </p:cTn>
                              </p:par>
                              <p:par>
                                <p:cTn id="94" presetID="10" presetClass="entr" presetSubtype="0" accel="0" decel="10000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500"/>
                                        <p:tgtEl>
                                          <p:spTgt spid="20"/>
                                        </p:tgtEl>
                                      </p:cBhvr>
                                    </p:animEffect>
                                  </p:childTnLst>
                                </p:cTn>
                              </p:par>
                              <p:par>
                                <p:cTn id="97" presetID="0" presetClass="path" presetSubtype="0" accel="0" decel="100000" fill="hold" grpId="1" nodeType="withEffect">
                                  <p:stCondLst>
                                    <p:cond delay="0"/>
                                  </p:stCondLst>
                                  <p:childTnLst>
                                    <p:animMotion origin="layout" path="M 0 0.02778 L 0 0 E" pathEditMode="relative" rAng="0" ptsTypes="AA">
                                      <p:cBhvr>
                                        <p:cTn id="98" dur="500" fill="hold"/>
                                        <p:tgtEl>
                                          <p:spTgt spid="20"/>
                                        </p:tgtEl>
                                        <p:attrNameLst>
                                          <p:attrName>ppt_x</p:attrName>
                                          <p:attrName>ppt_y</p:attrName>
                                        </p:attrNameLst>
                                      </p:cBhvr>
                                    </p:animMotion>
                                  </p:childTnLst>
                                </p:cTn>
                              </p:par>
                              <p:par>
                                <p:cTn id="99" presetID="10" presetClass="entr" presetSubtype="0" accel="0" decel="10000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500"/>
                                        <p:tgtEl>
                                          <p:spTgt spid="21"/>
                                        </p:tgtEl>
                                      </p:cBhvr>
                                    </p:animEffect>
                                  </p:childTnLst>
                                </p:cTn>
                              </p:par>
                              <p:par>
                                <p:cTn id="102" presetID="0" presetClass="path" presetSubtype="0" accel="0" decel="100000" fill="hold" grpId="1" nodeType="withEffect">
                                  <p:stCondLst>
                                    <p:cond delay="0"/>
                                  </p:stCondLst>
                                  <p:childTnLst>
                                    <p:animMotion origin="layout" path="M 0 0.02778 L 0 0 E" pathEditMode="relative" rAng="0" ptsTypes="AA">
                                      <p:cBhvr>
                                        <p:cTn id="103" dur="500" fill="hold"/>
                                        <p:tgtEl>
                                          <p:spTgt spid="21"/>
                                        </p:tgtEl>
                                        <p:attrNameLst>
                                          <p:attrName>ppt_x</p:attrName>
                                          <p:attrName>ppt_y</p:attrName>
                                        </p:attrNameLst>
                                      </p:cBhvr>
                                    </p:animMotion>
                                  </p:childTnLst>
                                </p:cTn>
                              </p:par>
                              <p:par>
                                <p:cTn id="104" presetID="10" presetClass="entr" presetSubtype="0" accel="0" decel="10000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500"/>
                                        <p:tgtEl>
                                          <p:spTgt spid="22"/>
                                        </p:tgtEl>
                                      </p:cBhvr>
                                    </p:animEffect>
                                  </p:childTnLst>
                                </p:cTn>
                              </p:par>
                              <p:par>
                                <p:cTn id="107" presetID="0" presetClass="path" presetSubtype="0" accel="0" decel="100000" fill="hold" grpId="1" nodeType="withEffect">
                                  <p:stCondLst>
                                    <p:cond delay="0"/>
                                  </p:stCondLst>
                                  <p:childTnLst>
                                    <p:animMotion origin="layout" path="M 0 0.02778 L 0 0 E" pathEditMode="relative" rAng="0" ptsTypes="AA">
                                      <p:cBhvr>
                                        <p:cTn id="108" dur="500" fill="hold"/>
                                        <p:tgtEl>
                                          <p:spTgt spid="2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7" grpId="0" animBg="1"/>
      <p:bldP spid="7" grpId="1" animBg="1"/>
      <p:bldP spid="10" grpId="0" animBg="1"/>
      <p:bldP spid="10" grpId="1" animBg="1"/>
      <p:bldP spid="13" grpId="0" animBg="1"/>
      <p:bldP spid="13" grpId="1" animBg="1"/>
      <p:bldP spid="16" grpId="0" animBg="1"/>
      <p:bldP spid="16" grpId="1" animBg="1"/>
      <p:bldP spid="19" grpId="0" animBg="1"/>
      <p:bldP spid="19" grpId="1" animBg="1"/>
      <p:bldP spid="22" grpId="0" animBg="1"/>
      <p:bldP spid="22"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03  ·  OUTILS</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Logiciels et langages</a:t>
            </a:r>
            <a:endParaRPr lang="en-US" sz="3000" dirty="0"/>
          </a:p>
        </p:txBody>
      </p:sp>
      <p:sp>
        <p:nvSpPr>
          <p:cNvPr id="5" name="C1_card"/>
          <p:cNvSpPr/>
          <p:nvPr/>
        </p:nvSpPr>
        <p:spPr>
          <a:xfrm>
            <a:off x="685800" y="2057400"/>
            <a:ext cx="3393338" cy="3108960"/>
          </a:xfrm>
          <a:prstGeom prst="roundRect">
            <a:avLst>
              <a:gd name="adj" fmla="val 3529"/>
            </a:avLst>
          </a:prstGeom>
          <a:solidFill>
            <a:schemeClr val="bg2"/>
          </a:solidFill>
          <a:ln/>
        </p:spPr>
      </p:sp>
      <p:pic>
        <p:nvPicPr>
          <p:cNvPr id="6" name="C1_logo0" descr="/tmp/claude-0/-home-user-HANDY/6bbfc0f3-9363-58e6-a84d-0853f925f572/scratchpad/deck/assets/sw_ai.png">    </p:cNvPr>
          <p:cNvPicPr>
            <a:picLocks noChangeAspect="1"/>
          </p:cNvPicPr>
          <p:nvPr/>
        </p:nvPicPr>
        <p:blipFill>
          <a:blip r:embed="rId1"/>
          <a:stretch>
            <a:fillRect/>
          </a:stretch>
        </p:blipFill>
        <p:spPr>
          <a:xfrm>
            <a:off x="1051560" y="2423160"/>
            <a:ext cx="777240" cy="777240"/>
          </a:xfrm>
          <a:prstGeom prst="rect">
            <a:avLst/>
          </a:prstGeom>
        </p:spPr>
      </p:pic>
      <p:pic>
        <p:nvPicPr>
          <p:cNvPr id="7" name="C1_logo1" descr="/tmp/claude-0/-home-user-HANDY/6bbfc0f3-9363-58e6-a84d-0853f925f572/scratchpad/deck/assets/sw_ps.png">    </p:cNvPr>
          <p:cNvPicPr>
            <a:picLocks noChangeAspect="1"/>
          </p:cNvPicPr>
          <p:nvPr/>
        </p:nvPicPr>
        <p:blipFill>
          <a:blip r:embed="rId2"/>
          <a:stretch>
            <a:fillRect/>
          </a:stretch>
        </p:blipFill>
        <p:spPr>
          <a:xfrm>
            <a:off x="2011680" y="2423160"/>
            <a:ext cx="777240" cy="777240"/>
          </a:xfrm>
          <a:prstGeom prst="rect">
            <a:avLst/>
          </a:prstGeom>
        </p:spPr>
      </p:pic>
      <p:sp>
        <p:nvSpPr>
          <p:cNvPr id="8" name="C1_t"/>
          <p:cNvSpPr txBox="1"/>
          <p:nvPr/>
        </p:nvSpPr>
        <p:spPr>
          <a:xfrm>
            <a:off x="1051560" y="3566160"/>
            <a:ext cx="2661818" cy="457200"/>
          </a:xfrm>
          <a:prstGeom prst="rect">
            <a:avLst/>
          </a:prstGeom>
          <a:noFill/>
          <a:ln/>
        </p:spPr>
        <p:txBody>
          <a:bodyPr wrap="square" lIns="0" tIns="0" rIns="0" bIns="0" rtlCol="0" anchor="t"/>
          <a:lstStyle/>
          <a:p>
            <a:pPr indent="0" marL="0">
              <a:buNone/>
            </a:pPr>
            <a:r>
              <a:rPr lang="en-US" sz="1900" b="1" dirty="0">
                <a:solidFill>
                  <a:schemeClr val="tx1"/>
                </a:solidFill>
              </a:rPr>
              <a:t>Création graphique</a:t>
            </a:r>
            <a:endParaRPr lang="en-US" sz="1900" dirty="0"/>
          </a:p>
        </p:txBody>
      </p:sp>
      <p:sp>
        <p:nvSpPr>
          <p:cNvPr id="9" name="C1_d"/>
          <p:cNvSpPr txBox="1"/>
          <p:nvPr/>
        </p:nvSpPr>
        <p:spPr>
          <a:xfrm>
            <a:off x="1051560" y="4069080"/>
            <a:ext cx="2844698" cy="1097280"/>
          </a:xfrm>
          <a:prstGeom prst="rect">
            <a:avLst/>
          </a:prstGeom>
          <a:noFill/>
          <a:ln/>
        </p:spPr>
        <p:txBody>
          <a:bodyPr wrap="square" lIns="0" tIns="0" rIns="0" bIns="0" rtlCol="0" anchor="t"/>
          <a:lstStyle/>
          <a:p>
            <a:pPr indent="0" marL="0">
              <a:buNone/>
            </a:pPr>
            <a:r>
              <a:rPr lang="en-US" sz="1400" dirty="0">
                <a:solidFill>
                  <a:schemeClr val="tx2"/>
                </a:solidFill>
              </a:rPr>
              <a:t>Illustrator, Photoshop</a:t>
            </a:r>
            <a:endParaRPr lang="en-US" sz="1400" dirty="0"/>
          </a:p>
        </p:txBody>
      </p:sp>
      <p:sp>
        <p:nvSpPr>
          <p:cNvPr id="10" name="C2_card"/>
          <p:cNvSpPr/>
          <p:nvPr/>
        </p:nvSpPr>
        <p:spPr>
          <a:xfrm>
            <a:off x="4399178" y="2057400"/>
            <a:ext cx="3393338" cy="3108960"/>
          </a:xfrm>
          <a:prstGeom prst="roundRect">
            <a:avLst>
              <a:gd name="adj" fmla="val 3529"/>
            </a:avLst>
          </a:prstGeom>
          <a:solidFill>
            <a:schemeClr val="bg2"/>
          </a:solidFill>
          <a:ln/>
        </p:spPr>
      </p:sp>
      <p:pic>
        <p:nvPicPr>
          <p:cNvPr id="11" name="C2_logo0" descr="/tmp/claude-0/-home-user-HANDY/6bbfc0f3-9363-58e6-a84d-0853f925f572/scratchpad/deck/assets/sw_ae.png">    </p:cNvPr>
          <p:cNvPicPr>
            <a:picLocks noChangeAspect="1"/>
          </p:cNvPicPr>
          <p:nvPr/>
        </p:nvPicPr>
        <p:blipFill>
          <a:blip r:embed="rId3"/>
          <a:stretch>
            <a:fillRect/>
          </a:stretch>
        </p:blipFill>
        <p:spPr>
          <a:xfrm>
            <a:off x="4764938" y="2423160"/>
            <a:ext cx="777240" cy="777240"/>
          </a:xfrm>
          <a:prstGeom prst="rect">
            <a:avLst/>
          </a:prstGeom>
        </p:spPr>
      </p:pic>
      <p:pic>
        <p:nvPicPr>
          <p:cNvPr id="12" name="C2_logo1" descr="/tmp/claude-0/-home-user-HANDY/6bbfc0f3-9363-58e6-a84d-0853f925f572/scratchpad/deck/assets/sw_pr.png">    </p:cNvPr>
          <p:cNvPicPr>
            <a:picLocks noChangeAspect="1"/>
          </p:cNvPicPr>
          <p:nvPr/>
        </p:nvPicPr>
        <p:blipFill>
          <a:blip r:embed="rId4"/>
          <a:stretch>
            <a:fillRect/>
          </a:stretch>
        </p:blipFill>
        <p:spPr>
          <a:xfrm>
            <a:off x="5725058" y="2423160"/>
            <a:ext cx="777240" cy="777240"/>
          </a:xfrm>
          <a:prstGeom prst="rect">
            <a:avLst/>
          </a:prstGeom>
        </p:spPr>
      </p:pic>
      <p:sp>
        <p:nvSpPr>
          <p:cNvPr id="13" name="C2_t"/>
          <p:cNvSpPr txBox="1"/>
          <p:nvPr/>
        </p:nvSpPr>
        <p:spPr>
          <a:xfrm>
            <a:off x="4764938" y="3566160"/>
            <a:ext cx="2661818" cy="457200"/>
          </a:xfrm>
          <a:prstGeom prst="rect">
            <a:avLst/>
          </a:prstGeom>
          <a:noFill/>
          <a:ln/>
        </p:spPr>
        <p:txBody>
          <a:bodyPr wrap="square" lIns="0" tIns="0" rIns="0" bIns="0" rtlCol="0" anchor="t"/>
          <a:lstStyle/>
          <a:p>
            <a:pPr indent="0" marL="0">
              <a:buNone/>
            </a:pPr>
            <a:r>
              <a:rPr lang="en-US" sz="1900" b="1" dirty="0">
                <a:solidFill>
                  <a:schemeClr val="tx1"/>
                </a:solidFill>
              </a:rPr>
              <a:t>Animation et vidéo</a:t>
            </a:r>
            <a:endParaRPr lang="en-US" sz="1900" dirty="0"/>
          </a:p>
        </p:txBody>
      </p:sp>
      <p:sp>
        <p:nvSpPr>
          <p:cNvPr id="14" name="C2_d"/>
          <p:cNvSpPr txBox="1"/>
          <p:nvPr/>
        </p:nvSpPr>
        <p:spPr>
          <a:xfrm>
            <a:off x="4764938" y="4069080"/>
            <a:ext cx="2844698" cy="1097280"/>
          </a:xfrm>
          <a:prstGeom prst="rect">
            <a:avLst/>
          </a:prstGeom>
          <a:noFill/>
          <a:ln/>
        </p:spPr>
        <p:txBody>
          <a:bodyPr wrap="square" lIns="0" tIns="0" rIns="0" bIns="0" rtlCol="0" anchor="t"/>
          <a:lstStyle/>
          <a:p>
            <a:pPr indent="0" marL="0">
              <a:buNone/>
            </a:pPr>
            <a:r>
              <a:rPr lang="en-US" sz="1400" dirty="0">
                <a:solidFill>
                  <a:schemeClr val="tx2"/>
                </a:solidFill>
              </a:rPr>
              <a:t>After Effects, Premiere Pro, Blender</a:t>
            </a:r>
            <a:endParaRPr lang="en-US" sz="1400" dirty="0"/>
          </a:p>
        </p:txBody>
      </p:sp>
      <p:sp>
        <p:nvSpPr>
          <p:cNvPr id="15" name="C3_card"/>
          <p:cNvSpPr/>
          <p:nvPr/>
        </p:nvSpPr>
        <p:spPr>
          <a:xfrm>
            <a:off x="8112557" y="2057400"/>
            <a:ext cx="3393338" cy="3108960"/>
          </a:xfrm>
          <a:prstGeom prst="roundRect">
            <a:avLst>
              <a:gd name="adj" fmla="val 3529"/>
            </a:avLst>
          </a:prstGeom>
          <a:solidFill>
            <a:schemeClr val="bg2"/>
          </a:solidFill>
          <a:ln/>
        </p:spPr>
      </p:sp>
      <p:pic>
        <p:nvPicPr>
          <p:cNvPr id="16" name="C3_logo0" descr="/tmp/claude-0/-home-user-HANDY/6bbfc0f3-9363-58e6-a84d-0853f925f572/scratchpad/deck/assets/sw_dw.png">    </p:cNvPr>
          <p:cNvPicPr>
            <a:picLocks noChangeAspect="1"/>
          </p:cNvPicPr>
          <p:nvPr/>
        </p:nvPicPr>
        <p:blipFill>
          <a:blip r:embed="rId5"/>
          <a:stretch>
            <a:fillRect/>
          </a:stretch>
        </p:blipFill>
        <p:spPr>
          <a:xfrm>
            <a:off x="8478317" y="2423160"/>
            <a:ext cx="777240" cy="777240"/>
          </a:xfrm>
          <a:prstGeom prst="rect">
            <a:avLst/>
          </a:prstGeom>
        </p:spPr>
      </p:pic>
      <p:sp>
        <p:nvSpPr>
          <p:cNvPr id="17" name="C3_t"/>
          <p:cNvSpPr txBox="1"/>
          <p:nvPr/>
        </p:nvSpPr>
        <p:spPr>
          <a:xfrm>
            <a:off x="8478317" y="3566160"/>
            <a:ext cx="2661818" cy="457200"/>
          </a:xfrm>
          <a:prstGeom prst="rect">
            <a:avLst/>
          </a:prstGeom>
          <a:noFill/>
          <a:ln/>
        </p:spPr>
        <p:txBody>
          <a:bodyPr wrap="square" lIns="0" tIns="0" rIns="0" bIns="0" rtlCol="0" anchor="t"/>
          <a:lstStyle/>
          <a:p>
            <a:pPr indent="0" marL="0">
              <a:buNone/>
            </a:pPr>
            <a:r>
              <a:rPr lang="en-US" sz="1900" b="1" dirty="0">
                <a:solidFill>
                  <a:schemeClr val="tx1"/>
                </a:solidFill>
              </a:rPr>
              <a:t>Site web</a:t>
            </a:r>
            <a:endParaRPr lang="en-US" sz="1900" dirty="0"/>
          </a:p>
        </p:txBody>
      </p:sp>
      <p:sp>
        <p:nvSpPr>
          <p:cNvPr id="18" name="C3_d"/>
          <p:cNvSpPr txBox="1"/>
          <p:nvPr/>
        </p:nvSpPr>
        <p:spPr>
          <a:xfrm>
            <a:off x="8478317" y="4069080"/>
            <a:ext cx="2844698" cy="1097280"/>
          </a:xfrm>
          <a:prstGeom prst="rect">
            <a:avLst/>
          </a:prstGeom>
          <a:noFill/>
          <a:ln/>
        </p:spPr>
        <p:txBody>
          <a:bodyPr wrap="square" lIns="0" tIns="0" rIns="0" bIns="0" rtlCol="0" anchor="t"/>
          <a:lstStyle/>
          <a:p>
            <a:pPr indent="0" marL="0">
              <a:buNone/>
            </a:pPr>
            <a:r>
              <a:rPr lang="en-US" sz="1400" dirty="0">
                <a:solidFill>
                  <a:schemeClr val="tx2"/>
                </a:solidFill>
              </a:rPr>
              <a:t>Dreamweaver, HTML, CSS, JavaScript</a:t>
            </a:r>
            <a:endParaRPr lang="en-US" sz="14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7"/>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8"/>
                                        </p:tgtEl>
                                        <p:attrNameLst>
                                          <p:attrName>ppt_x</p:attrName>
                                          <p:attrName>ppt_y</p:attrName>
                                        </p:attrNameLst>
                                      </p:cBhvr>
                                    </p:animMotion>
                                  </p:childTnLst>
                                </p:cTn>
                              </p:par>
                              <p:par>
                                <p:cTn id="37" presetID="10" presetClass="entr" presetSubtype="0" accel="0" decel="10000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childTnLst>
                                </p:cTn>
                              </p:par>
                              <p:par>
                                <p:cTn id="40" presetID="0" presetClass="path" presetSubtype="0" accel="0" decel="100000" fill="hold" grpId="1" nodeType="withEffect">
                                  <p:stCondLst>
                                    <p:cond delay="0"/>
                                  </p:stCondLst>
                                  <p:childTnLst>
                                    <p:animMotion origin="layout" path="M 0 0.02778 L 0 0 E" pathEditMode="relative" rAng="0" ptsTypes="AA">
                                      <p:cBhvr>
                                        <p:cTn id="41" dur="500" fill="hold"/>
                                        <p:tgtEl>
                                          <p:spTgt spid="9"/>
                                        </p:tgtEl>
                                        <p:attrNameLst>
                                          <p:attrName>ppt_x</p:attrName>
                                          <p:attrName>ppt_y</p:attrName>
                                        </p:attrNameLst>
                                      </p:cBhvr>
                                    </p:animMotion>
                                  </p:childTnLst>
                                </p:cTn>
                              </p:par>
                            </p:childTnLst>
                          </p:cTn>
                        </p:par>
                      </p:childTnLst>
                    </p:cTn>
                  </p:par>
                  <p:par>
                    <p:cTn id="42" fill="hold">
                      <p:stCondLst>
                        <p:cond delay="indefinite"/>
                      </p:stCondLst>
                      <p:childTnLst>
                        <p:par>
                          <p:cTn id="43" fill="hold">
                            <p:stCondLst>
                              <p:cond delay="0"/>
                            </p:stCondLst>
                            <p:childTnLst>
                              <p:par>
                                <p:cTn id="44" presetID="10" presetClass="entr" presetSubtype="0" accel="0" decel="100000"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childTnLst>
                                </p:cTn>
                              </p:par>
                              <p:par>
                                <p:cTn id="47" presetID="0" presetClass="path" presetSubtype="0" accel="0" decel="100000" fill="hold" grpId="1" nodeType="withEffect">
                                  <p:stCondLst>
                                    <p:cond delay="0"/>
                                  </p:stCondLst>
                                  <p:childTnLst>
                                    <p:animMotion origin="layout" path="M 0 0.02778 L 0 0 E" pathEditMode="relative" rAng="0" ptsTypes="AA">
                                      <p:cBhvr>
                                        <p:cTn id="48" dur="500" fill="hold"/>
                                        <p:tgtEl>
                                          <p:spTgt spid="10"/>
                                        </p:tgtEl>
                                        <p:attrNameLst>
                                          <p:attrName>ppt_x</p:attrName>
                                          <p:attrName>ppt_y</p:attrName>
                                        </p:attrNameLst>
                                      </p:cBhvr>
                                    </p:animMotion>
                                  </p:childTnLst>
                                </p:cTn>
                              </p:par>
                              <p:par>
                                <p:cTn id="49" presetID="10" presetClass="entr" presetSubtype="0" accel="0" decel="10000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childTnLst>
                                </p:cTn>
                              </p:par>
                              <p:par>
                                <p:cTn id="52" presetID="0" presetClass="path" presetSubtype="0" accel="0" decel="100000" fill="hold" grpId="1" nodeType="withEffect">
                                  <p:stCondLst>
                                    <p:cond delay="0"/>
                                  </p:stCondLst>
                                  <p:childTnLst>
                                    <p:animMotion origin="layout" path="M 0 0.02778 L 0 0 E" pathEditMode="relative" rAng="0" ptsTypes="AA">
                                      <p:cBhvr>
                                        <p:cTn id="53" dur="500" fill="hold"/>
                                        <p:tgtEl>
                                          <p:spTgt spid="11"/>
                                        </p:tgtEl>
                                        <p:attrNameLst>
                                          <p:attrName>ppt_x</p:attrName>
                                          <p:attrName>ppt_y</p:attrName>
                                        </p:attrNameLst>
                                      </p:cBhvr>
                                    </p:animMotion>
                                  </p:childTnLst>
                                </p:cTn>
                              </p:par>
                              <p:par>
                                <p:cTn id="54" presetID="10" presetClass="entr" presetSubtype="0" accel="0" decel="10000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par>
                                <p:cTn id="57" presetID="0" presetClass="path" presetSubtype="0" accel="0" decel="100000" fill="hold" grpId="1" nodeType="withEffect">
                                  <p:stCondLst>
                                    <p:cond delay="0"/>
                                  </p:stCondLst>
                                  <p:childTnLst>
                                    <p:animMotion origin="layout" path="M 0 0.02778 L 0 0 E" pathEditMode="relative" rAng="0" ptsTypes="AA">
                                      <p:cBhvr>
                                        <p:cTn id="58" dur="500" fill="hold"/>
                                        <p:tgtEl>
                                          <p:spTgt spid="12"/>
                                        </p:tgtEl>
                                        <p:attrNameLst>
                                          <p:attrName>ppt_x</p:attrName>
                                          <p:attrName>ppt_y</p:attrName>
                                        </p:attrNameLst>
                                      </p:cBhvr>
                                    </p:animMotion>
                                  </p:childTnLst>
                                </p:cTn>
                              </p:par>
                              <p:par>
                                <p:cTn id="59" presetID="10" presetClass="entr" presetSubtype="0" accel="0" decel="10000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500"/>
                                        <p:tgtEl>
                                          <p:spTgt spid="13"/>
                                        </p:tgtEl>
                                      </p:cBhvr>
                                    </p:animEffect>
                                  </p:childTnLst>
                                </p:cTn>
                              </p:par>
                              <p:par>
                                <p:cTn id="62" presetID="0" presetClass="path" presetSubtype="0" accel="0" decel="100000" fill="hold" grpId="1" nodeType="withEffect">
                                  <p:stCondLst>
                                    <p:cond delay="0"/>
                                  </p:stCondLst>
                                  <p:childTnLst>
                                    <p:animMotion origin="layout" path="M 0 0.02778 L 0 0 E" pathEditMode="relative" rAng="0" ptsTypes="AA">
                                      <p:cBhvr>
                                        <p:cTn id="63" dur="500" fill="hold"/>
                                        <p:tgtEl>
                                          <p:spTgt spid="13"/>
                                        </p:tgtEl>
                                        <p:attrNameLst>
                                          <p:attrName>ppt_x</p:attrName>
                                          <p:attrName>ppt_y</p:attrName>
                                        </p:attrNameLst>
                                      </p:cBhvr>
                                    </p:animMotion>
                                  </p:childTnLst>
                                </p:cTn>
                              </p:par>
                              <p:par>
                                <p:cTn id="64" presetID="10" presetClass="entr" presetSubtype="0" accel="0" decel="10000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500"/>
                                        <p:tgtEl>
                                          <p:spTgt spid="14"/>
                                        </p:tgtEl>
                                      </p:cBhvr>
                                    </p:animEffect>
                                  </p:childTnLst>
                                </p:cTn>
                              </p:par>
                              <p:par>
                                <p:cTn id="67" presetID="0" presetClass="path" presetSubtype="0" accel="0" decel="100000" fill="hold" grpId="1" nodeType="withEffect">
                                  <p:stCondLst>
                                    <p:cond delay="0"/>
                                  </p:stCondLst>
                                  <p:childTnLst>
                                    <p:animMotion origin="layout" path="M 0 0.02778 L 0 0 E" pathEditMode="relative" rAng="0" ptsTypes="AA">
                                      <p:cBhvr>
                                        <p:cTn id="68" dur="500" fill="hold"/>
                                        <p:tgtEl>
                                          <p:spTgt spid="14"/>
                                        </p:tgtEl>
                                        <p:attrNameLst>
                                          <p:attrName>ppt_x</p:attrName>
                                          <p:attrName>ppt_y</p:attrName>
                                        </p:attrNameLst>
                                      </p:cBhvr>
                                    </p:animMotion>
                                  </p:childTnLst>
                                </p:cTn>
                              </p:par>
                            </p:childTnLst>
                          </p:cTn>
                        </p:par>
                      </p:childTnLst>
                    </p:cTn>
                  </p:par>
                  <p:par>
                    <p:cTn id="69" fill="hold">
                      <p:stCondLst>
                        <p:cond delay="indefinite"/>
                      </p:stCondLst>
                      <p:childTnLst>
                        <p:par>
                          <p:cTn id="70" fill="hold">
                            <p:stCondLst>
                              <p:cond delay="0"/>
                            </p:stCondLst>
                            <p:childTnLst>
                              <p:par>
                                <p:cTn id="71" presetID="10" presetClass="entr" presetSubtype="0" accel="0" decel="100000" fill="hold" grpId="0" nodeType="click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500"/>
                                        <p:tgtEl>
                                          <p:spTgt spid="15"/>
                                        </p:tgtEl>
                                      </p:cBhvr>
                                    </p:animEffect>
                                  </p:childTnLst>
                                </p:cTn>
                              </p:par>
                              <p:par>
                                <p:cTn id="74" presetID="0" presetClass="path" presetSubtype="0" accel="0" decel="100000" fill="hold" grpId="1" nodeType="withEffect">
                                  <p:stCondLst>
                                    <p:cond delay="0"/>
                                  </p:stCondLst>
                                  <p:childTnLst>
                                    <p:animMotion origin="layout" path="M 0 0.02778 L 0 0 E" pathEditMode="relative" rAng="0" ptsTypes="AA">
                                      <p:cBhvr>
                                        <p:cTn id="75" dur="500" fill="hold"/>
                                        <p:tgtEl>
                                          <p:spTgt spid="15"/>
                                        </p:tgtEl>
                                        <p:attrNameLst>
                                          <p:attrName>ppt_x</p:attrName>
                                          <p:attrName>ppt_y</p:attrName>
                                        </p:attrNameLst>
                                      </p:cBhvr>
                                    </p:animMotion>
                                  </p:childTnLst>
                                </p:cTn>
                              </p:par>
                              <p:par>
                                <p:cTn id="76" presetID="10" presetClass="entr" presetSubtype="0" accel="0" decel="100000" fill="hold" grpId="0" nodeType="withEffect">
                                  <p:stCondLst>
                                    <p:cond delay="0"/>
                                  </p:stCondLst>
                                  <p:childTnLst>
                                    <p:set>
                                      <p:cBhvr>
                                        <p:cTn id="77" dur="1" fill="hold">
                                          <p:stCondLst>
                                            <p:cond delay="0"/>
                                          </p:stCondLst>
                                        </p:cTn>
                                        <p:tgtEl>
                                          <p:spTgt spid="16"/>
                                        </p:tgtEl>
                                        <p:attrNameLst>
                                          <p:attrName>style.visibility</p:attrName>
                                        </p:attrNameLst>
                                      </p:cBhvr>
                                      <p:to>
                                        <p:strVal val="visible"/>
                                      </p:to>
                                    </p:set>
                                    <p:animEffect transition="in" filter="fade">
                                      <p:cBhvr>
                                        <p:cTn id="78" dur="500"/>
                                        <p:tgtEl>
                                          <p:spTgt spid="16"/>
                                        </p:tgtEl>
                                      </p:cBhvr>
                                    </p:animEffect>
                                  </p:childTnLst>
                                </p:cTn>
                              </p:par>
                              <p:par>
                                <p:cTn id="79" presetID="0" presetClass="path" presetSubtype="0" accel="0" decel="100000" fill="hold" grpId="1" nodeType="withEffect">
                                  <p:stCondLst>
                                    <p:cond delay="0"/>
                                  </p:stCondLst>
                                  <p:childTnLst>
                                    <p:animMotion origin="layout" path="M 0 0.02778 L 0 0 E" pathEditMode="relative" rAng="0" ptsTypes="AA">
                                      <p:cBhvr>
                                        <p:cTn id="80" dur="500" fill="hold"/>
                                        <p:tgtEl>
                                          <p:spTgt spid="16"/>
                                        </p:tgtEl>
                                        <p:attrNameLst>
                                          <p:attrName>ppt_x</p:attrName>
                                          <p:attrName>ppt_y</p:attrName>
                                        </p:attrNameLst>
                                      </p:cBhvr>
                                    </p:animMotion>
                                  </p:childTnLst>
                                </p:cTn>
                              </p:par>
                              <p:par>
                                <p:cTn id="81" presetID="10" presetClass="entr" presetSubtype="0" accel="0" decel="100000" fill="hold" grpId="0" nodeType="withEffect">
                                  <p:stCondLst>
                                    <p:cond delay="0"/>
                                  </p:stCondLst>
                                  <p:childTnLst>
                                    <p:set>
                                      <p:cBhvr>
                                        <p:cTn id="82" dur="1" fill="hold">
                                          <p:stCondLst>
                                            <p:cond delay="0"/>
                                          </p:stCondLst>
                                        </p:cTn>
                                        <p:tgtEl>
                                          <p:spTgt spid="17"/>
                                        </p:tgtEl>
                                        <p:attrNameLst>
                                          <p:attrName>style.visibility</p:attrName>
                                        </p:attrNameLst>
                                      </p:cBhvr>
                                      <p:to>
                                        <p:strVal val="visible"/>
                                      </p:to>
                                    </p:set>
                                    <p:animEffect transition="in" filter="fade">
                                      <p:cBhvr>
                                        <p:cTn id="83" dur="500"/>
                                        <p:tgtEl>
                                          <p:spTgt spid="17"/>
                                        </p:tgtEl>
                                      </p:cBhvr>
                                    </p:animEffect>
                                  </p:childTnLst>
                                </p:cTn>
                              </p:par>
                              <p:par>
                                <p:cTn id="84" presetID="0" presetClass="path" presetSubtype="0" accel="0" decel="100000" fill="hold" grpId="1" nodeType="withEffect">
                                  <p:stCondLst>
                                    <p:cond delay="0"/>
                                  </p:stCondLst>
                                  <p:childTnLst>
                                    <p:animMotion origin="layout" path="M 0 0.02778 L 0 0 E" pathEditMode="relative" rAng="0" ptsTypes="AA">
                                      <p:cBhvr>
                                        <p:cTn id="85" dur="500" fill="hold"/>
                                        <p:tgtEl>
                                          <p:spTgt spid="17"/>
                                        </p:tgtEl>
                                        <p:attrNameLst>
                                          <p:attrName>ppt_x</p:attrName>
                                          <p:attrName>ppt_y</p:attrName>
                                        </p:attrNameLst>
                                      </p:cBhvr>
                                    </p:animMotion>
                                  </p:childTnLst>
                                </p:cTn>
                              </p:par>
                              <p:par>
                                <p:cTn id="86" presetID="10" presetClass="entr" presetSubtype="0" accel="0" decel="100000" fill="hold" grpId="0" nodeType="with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500"/>
                                        <p:tgtEl>
                                          <p:spTgt spid="18"/>
                                        </p:tgtEl>
                                      </p:cBhvr>
                                    </p:animEffect>
                                  </p:childTnLst>
                                </p:cTn>
                              </p:par>
                              <p:par>
                                <p:cTn id="89" presetID="0" presetClass="path" presetSubtype="0" accel="0" decel="100000" fill="hold" grpId="1" nodeType="withEffect">
                                  <p:stCondLst>
                                    <p:cond delay="0"/>
                                  </p:stCondLst>
                                  <p:childTnLst>
                                    <p:animMotion origin="layout" path="M 0 0.02778 L 0 0 E" pathEditMode="relative" rAng="0" ptsTypes="AA">
                                      <p:cBhvr>
                                        <p:cTn id="90" dur="500" fill="hold"/>
                                        <p:tgtEl>
                                          <p:spTgt spid="18"/>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8" grpId="0" animBg="1"/>
      <p:bldP spid="8" grpId="1" animBg="1"/>
      <p:bldP spid="9" grpId="0" animBg="1"/>
      <p:bldP spid="9" grpId="1" animBg="1"/>
      <p:bldP spid="13" grpId="0" animBg="1"/>
      <p:bldP spid="13" grpId="1" animBg="1"/>
      <p:bldP spid="14" grpId="0" animBg="1"/>
      <p:bldP spid="14" grpId="1" animBg="1"/>
      <p:bldP spid="17" grpId="0" animBg="1"/>
      <p:bldP spid="17" grpId="1" animBg="1"/>
      <p:bldP spid="18" grpId="0" animBg="1"/>
      <p:bldP spid="18" grpId="1"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03  ·  COÛT DU PROJET</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Estimation budgétaire</a:t>
            </a:r>
            <a:endParaRPr lang="en-US" sz="3000" dirty="0"/>
          </a:p>
        </p:txBody>
      </p:sp>
      <p:sp>
        <p:nvSpPr>
          <p:cNvPr id="5" name="C1_card"/>
          <p:cNvSpPr/>
          <p:nvPr/>
        </p:nvSpPr>
        <p:spPr>
          <a:xfrm>
            <a:off x="685800" y="2057400"/>
            <a:ext cx="5669280" cy="3657600"/>
          </a:xfrm>
          <a:prstGeom prst="roundRect">
            <a:avLst>
              <a:gd name="adj" fmla="val 3000"/>
            </a:avLst>
          </a:prstGeom>
          <a:solidFill>
            <a:schemeClr val="tx1"/>
          </a:solidFill>
          <a:ln/>
        </p:spPr>
      </p:sp>
      <p:pic>
        <p:nvPicPr>
          <p:cNvPr id="6" name="C1_ico" descr="preencoded.png">    </p:cNvPr>
          <p:cNvPicPr>
            <a:picLocks noChangeAspect="1"/>
          </p:cNvPicPr>
          <p:nvPr/>
        </p:nvPicPr>
        <p:blipFill>
          <a:blip r:embed="rId1"/>
          <a:stretch>
            <a:fillRect/>
          </a:stretch>
        </p:blipFill>
        <p:spPr>
          <a:xfrm>
            <a:off x="1143000" y="2423160"/>
            <a:ext cx="685800" cy="685800"/>
          </a:xfrm>
          <a:prstGeom prst="rect">
            <a:avLst/>
          </a:prstGeom>
        </p:spPr>
      </p:pic>
      <p:sp>
        <p:nvSpPr>
          <p:cNvPr id="7" name="C1_num"/>
          <p:cNvSpPr txBox="1"/>
          <p:nvPr/>
        </p:nvSpPr>
        <p:spPr>
          <a:xfrm>
            <a:off x="1143000" y="3337560"/>
            <a:ext cx="4937760" cy="1005840"/>
          </a:xfrm>
          <a:prstGeom prst="rect">
            <a:avLst/>
          </a:prstGeom>
          <a:noFill/>
          <a:ln/>
        </p:spPr>
        <p:txBody>
          <a:bodyPr wrap="square" lIns="0" tIns="0" rIns="0" bIns="0" rtlCol="0" anchor="t"/>
          <a:lstStyle/>
          <a:p>
            <a:pPr indent="0" marL="0">
              <a:buNone/>
            </a:pPr>
            <a:r>
              <a:rPr lang="en-US" sz="5400" dirty="0">
                <a:solidFill>
                  <a:schemeClr val="bg1"/>
                </a:solidFill>
                <a:latin typeface="Poppins ExtraBold" pitchFamily="34" charset="0"/>
                <a:ea typeface="Poppins ExtraBold" pitchFamily="34" charset="-122"/>
                <a:cs typeface="Poppins ExtraBold" pitchFamily="34" charset="-120"/>
              </a:rPr>
              <a:t>4 800 000</a:t>
            </a:r>
            <a:endParaRPr lang="en-US" sz="5400" dirty="0"/>
          </a:p>
        </p:txBody>
      </p:sp>
      <p:sp>
        <p:nvSpPr>
          <p:cNvPr id="8" name="C1_lab"/>
          <p:cNvSpPr txBox="1"/>
          <p:nvPr/>
        </p:nvSpPr>
        <p:spPr>
          <a:xfrm>
            <a:off x="1143000" y="4434840"/>
            <a:ext cx="4937760" cy="457200"/>
          </a:xfrm>
          <a:prstGeom prst="rect">
            <a:avLst/>
          </a:prstGeom>
          <a:noFill/>
          <a:ln/>
        </p:spPr>
        <p:txBody>
          <a:bodyPr wrap="square" lIns="0" tIns="0" rIns="0" bIns="0" rtlCol="0" anchor="t"/>
          <a:lstStyle/>
          <a:p>
            <a:pPr indent="0" marL="0">
              <a:buNone/>
            </a:pPr>
            <a:r>
              <a:rPr lang="en-US" sz="1800" dirty="0">
                <a:solidFill>
                  <a:schemeClr val="accent2"/>
                </a:solidFill>
              </a:rPr>
              <a:t>FCFA, coût global estimé</a:t>
            </a:r>
            <a:endParaRPr lang="en-US" sz="1800" dirty="0"/>
          </a:p>
        </p:txBody>
      </p:sp>
      <p:pic>
        <p:nvPicPr>
          <p:cNvPr id="9" name="C2_ck0" descr="preencoded.png">    </p:cNvPr>
          <p:cNvPicPr>
            <a:picLocks noChangeAspect="1"/>
          </p:cNvPicPr>
          <p:nvPr/>
        </p:nvPicPr>
        <p:blipFill>
          <a:blip r:embed="rId2"/>
          <a:stretch>
            <a:fillRect/>
          </a:stretch>
        </p:blipFill>
        <p:spPr>
          <a:xfrm>
            <a:off x="6766560" y="2221992"/>
            <a:ext cx="411480" cy="411480"/>
          </a:xfrm>
          <a:prstGeom prst="rect">
            <a:avLst/>
          </a:prstGeom>
        </p:spPr>
      </p:pic>
      <p:sp>
        <p:nvSpPr>
          <p:cNvPr id="10" name="C2_t0"/>
          <p:cNvSpPr txBox="1"/>
          <p:nvPr/>
        </p:nvSpPr>
        <p:spPr>
          <a:xfrm>
            <a:off x="7360920" y="2148840"/>
            <a:ext cx="4160520" cy="548640"/>
          </a:xfrm>
          <a:prstGeom prst="rect">
            <a:avLst/>
          </a:prstGeom>
          <a:noFill/>
          <a:ln/>
        </p:spPr>
        <p:txBody>
          <a:bodyPr wrap="square" lIns="0" tIns="0" rIns="0" bIns="0" rtlCol="0" anchor="ctr"/>
          <a:lstStyle/>
          <a:p>
            <a:pPr indent="0" marL="0">
              <a:buNone/>
            </a:pPr>
            <a:r>
              <a:rPr lang="en-US" sz="1700" dirty="0">
                <a:solidFill>
                  <a:schemeClr val="tx1"/>
                </a:solidFill>
              </a:rPr>
              <a:t>Identité visuelle : logotype et charte</a:t>
            </a:r>
            <a:endParaRPr lang="en-US" sz="1700" dirty="0"/>
          </a:p>
        </p:txBody>
      </p:sp>
      <p:pic>
        <p:nvPicPr>
          <p:cNvPr id="11" name="C2_ck1" descr="preencoded.png">    </p:cNvPr>
          <p:cNvPicPr>
            <a:picLocks noChangeAspect="1"/>
          </p:cNvPicPr>
          <p:nvPr/>
        </p:nvPicPr>
        <p:blipFill>
          <a:blip r:embed="rId3"/>
          <a:stretch>
            <a:fillRect/>
          </a:stretch>
        </p:blipFill>
        <p:spPr>
          <a:xfrm>
            <a:off x="6766560" y="3118104"/>
            <a:ext cx="411480" cy="411480"/>
          </a:xfrm>
          <a:prstGeom prst="rect">
            <a:avLst/>
          </a:prstGeom>
        </p:spPr>
      </p:pic>
      <p:sp>
        <p:nvSpPr>
          <p:cNvPr id="12" name="C2_t1"/>
          <p:cNvSpPr txBox="1"/>
          <p:nvPr/>
        </p:nvSpPr>
        <p:spPr>
          <a:xfrm>
            <a:off x="7360920" y="3044952"/>
            <a:ext cx="4160520" cy="548640"/>
          </a:xfrm>
          <a:prstGeom prst="rect">
            <a:avLst/>
          </a:prstGeom>
          <a:noFill/>
          <a:ln/>
        </p:spPr>
        <p:txBody>
          <a:bodyPr wrap="square" lIns="0" tIns="0" rIns="0" bIns="0" rtlCol="0" anchor="ctr"/>
          <a:lstStyle/>
          <a:p>
            <a:pPr indent="0" marL="0">
              <a:buNone/>
            </a:pPr>
            <a:r>
              <a:rPr lang="en-US" sz="1700" dirty="0">
                <a:solidFill>
                  <a:schemeClr val="tx1"/>
                </a:solidFill>
              </a:rPr>
              <a:t>Maquettes et spots 2D, 3D</a:t>
            </a:r>
            <a:endParaRPr lang="en-US" sz="1700" dirty="0"/>
          </a:p>
        </p:txBody>
      </p:sp>
      <p:pic>
        <p:nvPicPr>
          <p:cNvPr id="13" name="C2_ck2" descr="preencoded.png">    </p:cNvPr>
          <p:cNvPicPr>
            <a:picLocks noChangeAspect="1"/>
          </p:cNvPicPr>
          <p:nvPr/>
        </p:nvPicPr>
        <p:blipFill>
          <a:blip r:embed="rId4"/>
          <a:stretch>
            <a:fillRect/>
          </a:stretch>
        </p:blipFill>
        <p:spPr>
          <a:xfrm>
            <a:off x="6766560" y="4014216"/>
            <a:ext cx="411480" cy="411480"/>
          </a:xfrm>
          <a:prstGeom prst="rect">
            <a:avLst/>
          </a:prstGeom>
        </p:spPr>
      </p:pic>
      <p:sp>
        <p:nvSpPr>
          <p:cNvPr id="14" name="C2_t2"/>
          <p:cNvSpPr txBox="1"/>
          <p:nvPr/>
        </p:nvSpPr>
        <p:spPr>
          <a:xfrm>
            <a:off x="7360920" y="3941064"/>
            <a:ext cx="4160520" cy="548640"/>
          </a:xfrm>
          <a:prstGeom prst="rect">
            <a:avLst/>
          </a:prstGeom>
          <a:noFill/>
          <a:ln/>
        </p:spPr>
        <p:txBody>
          <a:bodyPr wrap="square" lIns="0" tIns="0" rIns="0" bIns="0" rtlCol="0" anchor="ctr"/>
          <a:lstStyle/>
          <a:p>
            <a:pPr indent="0" marL="0">
              <a:buNone/>
            </a:pPr>
            <a:r>
              <a:rPr lang="en-US" sz="1700" dirty="0">
                <a:solidFill>
                  <a:schemeClr val="tx1"/>
                </a:solidFill>
              </a:rPr>
              <a:t>Supports imprimés et gadgets</a:t>
            </a:r>
            <a:endParaRPr lang="en-US" sz="1700" dirty="0"/>
          </a:p>
        </p:txBody>
      </p:sp>
      <p:pic>
        <p:nvPicPr>
          <p:cNvPr id="15" name="C2_ck3" descr="preencoded.png">    </p:cNvPr>
          <p:cNvPicPr>
            <a:picLocks noChangeAspect="1"/>
          </p:cNvPicPr>
          <p:nvPr/>
        </p:nvPicPr>
        <p:blipFill>
          <a:blip r:embed="rId5"/>
          <a:stretch>
            <a:fillRect/>
          </a:stretch>
        </p:blipFill>
        <p:spPr>
          <a:xfrm>
            <a:off x="6766560" y="4910328"/>
            <a:ext cx="411480" cy="411480"/>
          </a:xfrm>
          <a:prstGeom prst="rect">
            <a:avLst/>
          </a:prstGeom>
        </p:spPr>
      </p:pic>
      <p:sp>
        <p:nvSpPr>
          <p:cNvPr id="16" name="C2_t3"/>
          <p:cNvSpPr txBox="1"/>
          <p:nvPr/>
        </p:nvSpPr>
        <p:spPr>
          <a:xfrm>
            <a:off x="7360920" y="4837176"/>
            <a:ext cx="4160520" cy="548640"/>
          </a:xfrm>
          <a:prstGeom prst="rect">
            <a:avLst/>
          </a:prstGeom>
          <a:noFill/>
          <a:ln/>
        </p:spPr>
        <p:txBody>
          <a:bodyPr wrap="square" lIns="0" tIns="0" rIns="0" bIns="0" rtlCol="0" anchor="ctr"/>
          <a:lstStyle/>
          <a:p>
            <a:pPr indent="0" marL="0">
              <a:buNone/>
            </a:pPr>
            <a:r>
              <a:rPr lang="en-US" sz="1700" dirty="0">
                <a:solidFill>
                  <a:schemeClr val="tx1"/>
                </a:solidFill>
              </a:rPr>
              <a:t>Site web et hébergement</a:t>
            </a:r>
            <a:endParaRPr lang="en-US" sz="17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7"/>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8"/>
                                        </p:tgtEl>
                                        <p:attrNameLst>
                                          <p:attrName>ppt_x</p:attrName>
                                          <p:attrName>ppt_y</p:attrName>
                                        </p:attrNameLst>
                                      </p:cBhvr>
                                    </p:animMotion>
                                  </p:childTnLst>
                                </p:cTn>
                              </p:par>
                            </p:childTnLst>
                          </p:cTn>
                        </p:par>
                      </p:childTnLst>
                    </p:cTn>
                  </p:par>
                  <p:par>
                    <p:cTn id="37" fill="hold">
                      <p:stCondLst>
                        <p:cond delay="indefinite"/>
                      </p:stCondLst>
                      <p:childTnLst>
                        <p:par>
                          <p:cTn id="38" fill="hold">
                            <p:stCondLst>
                              <p:cond delay="0"/>
                            </p:stCondLst>
                            <p:childTnLst>
                              <p:par>
                                <p:cTn id="39" presetID="10" presetClass="entr" presetSubtype="0" accel="0" decel="100000" fill="hold" grpId="0" nodeType="click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p:tgtEl>
                                          <p:spTgt spid="9"/>
                                        </p:tgtEl>
                                      </p:cBhvr>
                                    </p:animEffect>
                                  </p:childTnLst>
                                </p:cTn>
                              </p:par>
                              <p:par>
                                <p:cTn id="42" presetID="0" presetClass="path" presetSubtype="0" accel="0" decel="100000" fill="hold" grpId="1" nodeType="withEffect">
                                  <p:stCondLst>
                                    <p:cond delay="0"/>
                                  </p:stCondLst>
                                  <p:childTnLst>
                                    <p:animMotion origin="layout" path="M 0 0.02778 L 0 0 E" pathEditMode="relative" rAng="0" ptsTypes="AA">
                                      <p:cBhvr>
                                        <p:cTn id="43" dur="500" fill="hold"/>
                                        <p:tgtEl>
                                          <p:spTgt spid="9"/>
                                        </p:tgtEl>
                                        <p:attrNameLst>
                                          <p:attrName>ppt_x</p:attrName>
                                          <p:attrName>ppt_y</p:attrName>
                                        </p:attrNameLst>
                                      </p:cBhvr>
                                    </p:animMotion>
                                  </p:childTnLst>
                                </p:cTn>
                              </p:par>
                              <p:par>
                                <p:cTn id="44" presetID="10" presetClass="entr" presetSubtype="0" accel="0" decel="10000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childTnLst>
                                </p:cTn>
                              </p:par>
                              <p:par>
                                <p:cTn id="47" presetID="0" presetClass="path" presetSubtype="0" accel="0" decel="100000" fill="hold" grpId="1" nodeType="withEffect">
                                  <p:stCondLst>
                                    <p:cond delay="0"/>
                                  </p:stCondLst>
                                  <p:childTnLst>
                                    <p:animMotion origin="layout" path="M 0 0.02778 L 0 0 E" pathEditMode="relative" rAng="0" ptsTypes="AA">
                                      <p:cBhvr>
                                        <p:cTn id="48" dur="500" fill="hold"/>
                                        <p:tgtEl>
                                          <p:spTgt spid="10"/>
                                        </p:tgtEl>
                                        <p:attrNameLst>
                                          <p:attrName>ppt_x</p:attrName>
                                          <p:attrName>ppt_y</p:attrName>
                                        </p:attrNameLst>
                                      </p:cBhvr>
                                    </p:animMotion>
                                  </p:childTnLst>
                                </p:cTn>
                              </p:par>
                              <p:par>
                                <p:cTn id="49" presetID="10" presetClass="entr" presetSubtype="0" accel="0" decel="10000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childTnLst>
                                </p:cTn>
                              </p:par>
                              <p:par>
                                <p:cTn id="52" presetID="0" presetClass="path" presetSubtype="0" accel="0" decel="100000" fill="hold" grpId="1" nodeType="withEffect">
                                  <p:stCondLst>
                                    <p:cond delay="0"/>
                                  </p:stCondLst>
                                  <p:childTnLst>
                                    <p:animMotion origin="layout" path="M 0 0.02778 L 0 0 E" pathEditMode="relative" rAng="0" ptsTypes="AA">
                                      <p:cBhvr>
                                        <p:cTn id="53" dur="500" fill="hold"/>
                                        <p:tgtEl>
                                          <p:spTgt spid="11"/>
                                        </p:tgtEl>
                                        <p:attrNameLst>
                                          <p:attrName>ppt_x</p:attrName>
                                          <p:attrName>ppt_y</p:attrName>
                                        </p:attrNameLst>
                                      </p:cBhvr>
                                    </p:animMotion>
                                  </p:childTnLst>
                                </p:cTn>
                              </p:par>
                              <p:par>
                                <p:cTn id="54" presetID="10" presetClass="entr" presetSubtype="0" accel="0" decel="10000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par>
                                <p:cTn id="57" presetID="0" presetClass="path" presetSubtype="0" accel="0" decel="100000" fill="hold" grpId="1" nodeType="withEffect">
                                  <p:stCondLst>
                                    <p:cond delay="0"/>
                                  </p:stCondLst>
                                  <p:childTnLst>
                                    <p:animMotion origin="layout" path="M 0 0.02778 L 0 0 E" pathEditMode="relative" rAng="0" ptsTypes="AA">
                                      <p:cBhvr>
                                        <p:cTn id="58" dur="500" fill="hold"/>
                                        <p:tgtEl>
                                          <p:spTgt spid="12"/>
                                        </p:tgtEl>
                                        <p:attrNameLst>
                                          <p:attrName>ppt_x</p:attrName>
                                          <p:attrName>ppt_y</p:attrName>
                                        </p:attrNameLst>
                                      </p:cBhvr>
                                    </p:animMotion>
                                  </p:childTnLst>
                                </p:cTn>
                              </p:par>
                              <p:par>
                                <p:cTn id="59" presetID="10" presetClass="entr" presetSubtype="0" accel="0" decel="10000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500"/>
                                        <p:tgtEl>
                                          <p:spTgt spid="13"/>
                                        </p:tgtEl>
                                      </p:cBhvr>
                                    </p:animEffect>
                                  </p:childTnLst>
                                </p:cTn>
                              </p:par>
                              <p:par>
                                <p:cTn id="62" presetID="0" presetClass="path" presetSubtype="0" accel="0" decel="100000" fill="hold" grpId="1" nodeType="withEffect">
                                  <p:stCondLst>
                                    <p:cond delay="0"/>
                                  </p:stCondLst>
                                  <p:childTnLst>
                                    <p:animMotion origin="layout" path="M 0 0.02778 L 0 0 E" pathEditMode="relative" rAng="0" ptsTypes="AA">
                                      <p:cBhvr>
                                        <p:cTn id="63" dur="500" fill="hold"/>
                                        <p:tgtEl>
                                          <p:spTgt spid="13"/>
                                        </p:tgtEl>
                                        <p:attrNameLst>
                                          <p:attrName>ppt_x</p:attrName>
                                          <p:attrName>ppt_y</p:attrName>
                                        </p:attrNameLst>
                                      </p:cBhvr>
                                    </p:animMotion>
                                  </p:childTnLst>
                                </p:cTn>
                              </p:par>
                              <p:par>
                                <p:cTn id="64" presetID="10" presetClass="entr" presetSubtype="0" accel="0" decel="10000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500"/>
                                        <p:tgtEl>
                                          <p:spTgt spid="14"/>
                                        </p:tgtEl>
                                      </p:cBhvr>
                                    </p:animEffect>
                                  </p:childTnLst>
                                </p:cTn>
                              </p:par>
                              <p:par>
                                <p:cTn id="67" presetID="0" presetClass="path" presetSubtype="0" accel="0" decel="100000" fill="hold" grpId="1" nodeType="withEffect">
                                  <p:stCondLst>
                                    <p:cond delay="0"/>
                                  </p:stCondLst>
                                  <p:childTnLst>
                                    <p:animMotion origin="layout" path="M 0 0.02778 L 0 0 E" pathEditMode="relative" rAng="0" ptsTypes="AA">
                                      <p:cBhvr>
                                        <p:cTn id="68" dur="500" fill="hold"/>
                                        <p:tgtEl>
                                          <p:spTgt spid="14"/>
                                        </p:tgtEl>
                                        <p:attrNameLst>
                                          <p:attrName>ppt_x</p:attrName>
                                          <p:attrName>ppt_y</p:attrName>
                                        </p:attrNameLst>
                                      </p:cBhvr>
                                    </p:animMotion>
                                  </p:childTnLst>
                                </p:cTn>
                              </p:par>
                              <p:par>
                                <p:cTn id="69" presetID="10" presetClass="entr" presetSubtype="0" accel="0" decel="10000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500"/>
                                        <p:tgtEl>
                                          <p:spTgt spid="15"/>
                                        </p:tgtEl>
                                      </p:cBhvr>
                                    </p:animEffect>
                                  </p:childTnLst>
                                </p:cTn>
                              </p:par>
                              <p:par>
                                <p:cTn id="72" presetID="0" presetClass="path" presetSubtype="0" accel="0" decel="100000" fill="hold" grpId="1" nodeType="withEffect">
                                  <p:stCondLst>
                                    <p:cond delay="0"/>
                                  </p:stCondLst>
                                  <p:childTnLst>
                                    <p:animMotion origin="layout" path="M 0 0.02778 L 0 0 E" pathEditMode="relative" rAng="0" ptsTypes="AA">
                                      <p:cBhvr>
                                        <p:cTn id="73" dur="500" fill="hold"/>
                                        <p:tgtEl>
                                          <p:spTgt spid="15"/>
                                        </p:tgtEl>
                                        <p:attrNameLst>
                                          <p:attrName>ppt_x</p:attrName>
                                          <p:attrName>ppt_y</p:attrName>
                                        </p:attrNameLst>
                                      </p:cBhvr>
                                    </p:animMotion>
                                  </p:childTnLst>
                                </p:cTn>
                              </p:par>
                              <p:par>
                                <p:cTn id="74" presetID="10" presetClass="entr" presetSubtype="0" accel="0" decel="10000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500"/>
                                        <p:tgtEl>
                                          <p:spTgt spid="16"/>
                                        </p:tgtEl>
                                      </p:cBhvr>
                                    </p:animEffect>
                                  </p:childTnLst>
                                </p:cTn>
                              </p:par>
                              <p:par>
                                <p:cTn id="77" presetID="0" presetClass="path" presetSubtype="0" accel="0" decel="100000" fill="hold" grpId="1" nodeType="withEffect">
                                  <p:stCondLst>
                                    <p:cond delay="0"/>
                                  </p:stCondLst>
                                  <p:childTnLst>
                                    <p:animMotion origin="layout" path="M 0 0.02778 L 0 0 E" pathEditMode="relative" rAng="0" ptsTypes="AA">
                                      <p:cBhvr>
                                        <p:cTn id="78" dur="500" fill="hold"/>
                                        <p:tgtEl>
                                          <p:spTgt spid="1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7" grpId="0" animBg="1"/>
      <p:bldP spid="7" grpId="1" animBg="1"/>
      <p:bldP spid="8" grpId="0" animBg="1"/>
      <p:bldP spid="8" grpId="1" animBg="1"/>
      <p:bldP spid="10" grpId="0" animBg="1"/>
      <p:bldP spid="10" grpId="1" animBg="1"/>
      <p:bldP spid="12" grpId="0" animBg="1"/>
      <p:bldP spid="12" grpId="1" animBg="1"/>
      <p:bldP spid="14" grpId="0" animBg="1"/>
      <p:bldP spid="14" grpId="1" animBg="1"/>
      <p:bldP spid="16" grpId="0" animBg="1"/>
      <p:bldP spid="16" grpId="1"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body" hasCustomPrompt="1"/>
          </p:nvPr>
        </p:nvSpPr>
        <p:spPr>
          <a:xfrm>
            <a:off x="685800" y="1965960"/>
            <a:ext cx="3657600" cy="1371600"/>
          </a:xfrm>
          <a:prstGeom prst="rect">
            <a:avLst/>
          </a:prstGeom>
          <a:noFill/>
          <a:ln/>
        </p:spPr>
        <p:txBody>
          <a:bodyPr wrap="square" lIns="0" tIns="0" rIns="0" bIns="0" rtlCol="0" anchor="b"/>
          <a:lstStyle/>
          <a:p>
            <a:pPr algn="l" indent="0" marL="0">
              <a:buNone/>
            </a:pPr>
            <a:r>
              <a:rPr lang="en-US" sz="8000" dirty="0">
                <a:solidFill>
                  <a:schemeClr val="accent1"/>
                </a:solidFill>
                <a:latin typeface="Poppins ExtraBold" pitchFamily="34" charset="0"/>
                <a:ea typeface="Poppins ExtraBold" pitchFamily="34" charset="-122"/>
                <a:cs typeface="Poppins ExtraBold" pitchFamily="34" charset="-120"/>
              </a:rPr>
              <a:t>04</a:t>
            </a:r>
            <a:endParaRPr lang="en-US" sz="8000" dirty="0"/>
          </a:p>
        </p:txBody>
      </p:sp>
      <p:sp>
        <p:nvSpPr>
          <p:cNvPr id="3" name="Text 0"/>
          <p:cNvSpPr/>
          <p:nvPr>
            <p:ph idx="102" type="title" hasCustomPrompt="1"/>
          </p:nvPr>
        </p:nvSpPr>
        <p:spPr>
          <a:xfrm>
            <a:off x="685800" y="3429000"/>
            <a:ext cx="9601200" cy="1188720"/>
          </a:xfrm>
          <a:prstGeom prst="rect">
            <a:avLst/>
          </a:prstGeom>
          <a:noFill/>
          <a:ln/>
        </p:spPr>
        <p:txBody>
          <a:bodyPr wrap="square" lIns="0" tIns="0" rIns="0" bIns="0" rtlCol="0" anchor="t"/>
          <a:lstStyle/>
          <a:p>
            <a:pPr algn="l" indent="0" marL="0">
              <a:buNone/>
            </a:pPr>
            <a:r>
              <a:rPr lang="en-US" sz="4000" dirty="0">
                <a:solidFill>
                  <a:schemeClr val="bg1"/>
                </a:solidFill>
                <a:latin typeface="Poppins ExtraBold" pitchFamily="34" charset="0"/>
                <a:ea typeface="Poppins ExtraBold" pitchFamily="34" charset="-122"/>
                <a:cs typeface="Poppins ExtraBold" pitchFamily="34" charset="-120"/>
              </a:rPr>
              <a:t>Réalisation des supports</a:t>
            </a:r>
            <a:endParaRPr lang="en-US" sz="4000" dirty="0"/>
          </a:p>
        </p:txBody>
      </p:sp>
      <p:sp>
        <p:nvSpPr>
          <p:cNvPr id="25" name="Slide Number Placeholder 0"/>
          <p:cNvSpPr>
            <a:spLocks noGrp="1"/>
          </p:cNvSpPr>
          <p:nvPr>
            <p:ph type="sldNum" sz="quarter" idx="4294967295"/>
          </p:nvPr>
        </p:nvSpPr>
        <p:spPr>
          <a:xfrm>
            <a:off x="10957255" y="4572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04  ·  AFFICHE 1</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Le brassage Côte d’Ivoire – États-Unis</a:t>
            </a:r>
            <a:endParaRPr lang="en-US" sz="3000" dirty="0"/>
          </a:p>
        </p:txBody>
      </p:sp>
      <p:pic>
        <p:nvPicPr>
          <p:cNvPr id="5" name="C1_a" descr="Visuel final">    </p:cNvPr>
          <p:cNvPicPr>
            <a:picLocks noChangeAspect="1"/>
          </p:cNvPicPr>
          <p:nvPr/>
        </p:nvPicPr>
        <p:blipFill>
          <a:blip r:embed="rId1"/>
          <a:stretch>
            <a:fillRect/>
          </a:stretch>
        </p:blipFill>
        <p:spPr>
          <a:xfrm>
            <a:off x="685800" y="2052371"/>
            <a:ext cx="5227168" cy="3484778"/>
          </a:xfrm>
          <a:prstGeom prst="rect">
            <a:avLst/>
          </a:prstGeom>
          <a:effectLst>
            <a:outerShdw sx="100000" sy="100000" kx="0" ky="0" algn="bl" rotWithShape="0" blurRad="177800" dist="50800" dir="5400000">
              <a:srgbClr val="1D3557">
                <a:alpha val="16000"/>
              </a:srgbClr>
            </a:outerShdw>
          </a:effectLst>
        </p:spPr>
      </p:pic>
      <p:sp>
        <p:nvSpPr>
          <p:cNvPr id="6" name="C1_ca"/>
          <p:cNvSpPr txBox="1"/>
          <p:nvPr/>
        </p:nvSpPr>
        <p:spPr>
          <a:xfrm>
            <a:off x="685800" y="5646877"/>
            <a:ext cx="5227168" cy="274320"/>
          </a:xfrm>
          <a:prstGeom prst="rect">
            <a:avLst/>
          </a:prstGeom>
          <a:noFill/>
          <a:ln/>
        </p:spPr>
        <p:txBody>
          <a:bodyPr wrap="square" lIns="0" tIns="0" rIns="0" bIns="0" rtlCol="0" anchor="t"/>
          <a:lstStyle/>
          <a:p>
            <a:pPr algn="l" indent="0" marL="0">
              <a:buNone/>
            </a:pPr>
            <a:r>
              <a:rPr lang="en-US" sz="1100" dirty="0">
                <a:solidFill>
                  <a:schemeClr val="accent4"/>
                </a:solidFill>
              </a:rPr>
              <a:t>Visuel final</a:t>
            </a:r>
            <a:endParaRPr lang="en-US" sz="1100" dirty="0"/>
          </a:p>
        </p:txBody>
      </p:sp>
      <p:pic>
        <p:nvPicPr>
          <p:cNvPr id="7" name="C2_b" descr="Mise en situation">    </p:cNvPr>
          <p:cNvPicPr>
            <a:picLocks noChangeAspect="1"/>
          </p:cNvPicPr>
          <p:nvPr/>
        </p:nvPicPr>
        <p:blipFill>
          <a:blip r:embed="rId2"/>
          <a:stretch>
            <a:fillRect/>
          </a:stretch>
        </p:blipFill>
        <p:spPr>
          <a:xfrm>
            <a:off x="6278728" y="2053460"/>
            <a:ext cx="5227168" cy="3482600"/>
          </a:xfrm>
          <a:prstGeom prst="rect">
            <a:avLst/>
          </a:prstGeom>
          <a:effectLst>
            <a:outerShdw sx="100000" sy="100000" kx="0" ky="0" algn="bl" rotWithShape="0" blurRad="177800" dist="50800" dir="5400000">
              <a:srgbClr val="1D3557">
                <a:alpha val="16000"/>
              </a:srgbClr>
            </a:outerShdw>
          </a:effectLst>
        </p:spPr>
      </p:pic>
      <p:sp>
        <p:nvSpPr>
          <p:cNvPr id="8" name="C2_cb"/>
          <p:cNvSpPr txBox="1"/>
          <p:nvPr/>
        </p:nvSpPr>
        <p:spPr>
          <a:xfrm>
            <a:off x="6278728" y="5645788"/>
            <a:ext cx="5227168" cy="274320"/>
          </a:xfrm>
          <a:prstGeom prst="rect">
            <a:avLst/>
          </a:prstGeom>
          <a:noFill/>
          <a:ln/>
        </p:spPr>
        <p:txBody>
          <a:bodyPr wrap="square" lIns="0" tIns="0" rIns="0" bIns="0" rtlCol="0" anchor="t"/>
          <a:lstStyle/>
          <a:p>
            <a:pPr algn="l" indent="0" marL="0">
              <a:buNone/>
            </a:pPr>
            <a:r>
              <a:rPr lang="en-US" sz="1100" dirty="0">
                <a:solidFill>
                  <a:schemeClr val="accent4"/>
                </a:solidFill>
              </a:rPr>
              <a:t>Mise en situation</a:t>
            </a:r>
            <a:endParaRPr lang="en-US" sz="11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10" presetClass="entr" presetSubtype="0" accel="0" decel="10000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par>
                                <p:cTn id="32" presetID="0" presetClass="path" presetSubtype="0" accel="0" decel="100000" fill="hold" grpId="1" nodeType="withEffect">
                                  <p:stCondLst>
                                    <p:cond delay="0"/>
                                  </p:stCondLst>
                                  <p:childTnLst>
                                    <p:animMotion origin="layout" path="M 0 0.02778 L 0 0 E" pathEditMode="relative" rAng="0" ptsTypes="AA">
                                      <p:cBhvr>
                                        <p:cTn id="33" dur="500" fill="hold"/>
                                        <p:tgtEl>
                                          <p:spTgt spid="7"/>
                                        </p:tgtEl>
                                        <p:attrNameLst>
                                          <p:attrName>ppt_x</p:attrName>
                                          <p:attrName>ppt_y</p:attrName>
                                        </p:attrNameLst>
                                      </p:cBhvr>
                                    </p:animMotion>
                                  </p:childTnLst>
                                </p:cTn>
                              </p:par>
                              <p:par>
                                <p:cTn id="34" presetID="10" presetClass="entr" presetSubtype="0" accel="0" decel="10000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par>
                                <p:cTn id="37" presetID="0" presetClass="path" presetSubtype="0" accel="0" decel="100000" fill="hold" grpId="1" nodeType="withEffect">
                                  <p:stCondLst>
                                    <p:cond delay="0"/>
                                  </p:stCondLst>
                                  <p:childTnLst>
                                    <p:animMotion origin="layout" path="M 0 0.02778 L 0 0 E" pathEditMode="relative" rAng="0" ptsTypes="AA">
                                      <p:cBhvr>
                                        <p:cTn id="38" dur="500" fill="hold"/>
                                        <p:tgtEl>
                                          <p:spTgt spid="8"/>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6" grpId="0" animBg="1"/>
      <p:bldP spid="6" grpId="1" animBg="1"/>
      <p:bldP spid="8" grpId="0" animBg="1"/>
      <p:bldP spid="8" grpId="1"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04  ·  AFFICHE 2</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Un message persuasif et mémorable</a:t>
            </a:r>
            <a:endParaRPr lang="en-US" sz="3000" dirty="0"/>
          </a:p>
        </p:txBody>
      </p:sp>
      <p:pic>
        <p:nvPicPr>
          <p:cNvPr id="5" name="C1_a" descr="Visuel final">    </p:cNvPr>
          <p:cNvPicPr>
            <a:picLocks noChangeAspect="1"/>
          </p:cNvPicPr>
          <p:nvPr/>
        </p:nvPicPr>
        <p:blipFill>
          <a:blip r:embed="rId1"/>
          <a:stretch>
            <a:fillRect/>
          </a:stretch>
        </p:blipFill>
        <p:spPr>
          <a:xfrm>
            <a:off x="685800" y="2052371"/>
            <a:ext cx="5227168" cy="3484778"/>
          </a:xfrm>
          <a:prstGeom prst="rect">
            <a:avLst/>
          </a:prstGeom>
          <a:effectLst>
            <a:outerShdw sx="100000" sy="100000" kx="0" ky="0" algn="bl" rotWithShape="0" blurRad="177800" dist="50800" dir="5400000">
              <a:srgbClr val="1D3557">
                <a:alpha val="16000"/>
              </a:srgbClr>
            </a:outerShdw>
          </a:effectLst>
        </p:spPr>
      </p:pic>
      <p:sp>
        <p:nvSpPr>
          <p:cNvPr id="6" name="C1_ca"/>
          <p:cNvSpPr txBox="1"/>
          <p:nvPr/>
        </p:nvSpPr>
        <p:spPr>
          <a:xfrm>
            <a:off x="685800" y="5646877"/>
            <a:ext cx="5227168" cy="274320"/>
          </a:xfrm>
          <a:prstGeom prst="rect">
            <a:avLst/>
          </a:prstGeom>
          <a:noFill/>
          <a:ln/>
        </p:spPr>
        <p:txBody>
          <a:bodyPr wrap="square" lIns="0" tIns="0" rIns="0" bIns="0" rtlCol="0" anchor="t"/>
          <a:lstStyle/>
          <a:p>
            <a:pPr algn="l" indent="0" marL="0">
              <a:buNone/>
            </a:pPr>
            <a:r>
              <a:rPr lang="en-US" sz="1100" dirty="0">
                <a:solidFill>
                  <a:schemeClr val="accent4"/>
                </a:solidFill>
              </a:rPr>
              <a:t>Visuel final</a:t>
            </a:r>
            <a:endParaRPr lang="en-US" sz="1100" dirty="0"/>
          </a:p>
        </p:txBody>
      </p:sp>
      <p:pic>
        <p:nvPicPr>
          <p:cNvPr id="7" name="C2_b" descr="Mise en situation">    </p:cNvPr>
          <p:cNvPicPr>
            <a:picLocks noChangeAspect="1"/>
          </p:cNvPicPr>
          <p:nvPr/>
        </p:nvPicPr>
        <p:blipFill>
          <a:blip r:embed="rId2"/>
          <a:stretch>
            <a:fillRect/>
          </a:stretch>
        </p:blipFill>
        <p:spPr>
          <a:xfrm>
            <a:off x="6278728" y="2047880"/>
            <a:ext cx="5227168" cy="3493760"/>
          </a:xfrm>
          <a:prstGeom prst="rect">
            <a:avLst/>
          </a:prstGeom>
          <a:effectLst>
            <a:outerShdw sx="100000" sy="100000" kx="0" ky="0" algn="bl" rotWithShape="0" blurRad="177800" dist="50800" dir="5400000">
              <a:srgbClr val="1D3557">
                <a:alpha val="16000"/>
              </a:srgbClr>
            </a:outerShdw>
          </a:effectLst>
        </p:spPr>
      </p:pic>
      <p:sp>
        <p:nvSpPr>
          <p:cNvPr id="8" name="C2_cb"/>
          <p:cNvSpPr txBox="1"/>
          <p:nvPr/>
        </p:nvSpPr>
        <p:spPr>
          <a:xfrm>
            <a:off x="6278728" y="5651368"/>
            <a:ext cx="5227168" cy="274320"/>
          </a:xfrm>
          <a:prstGeom prst="rect">
            <a:avLst/>
          </a:prstGeom>
          <a:noFill/>
          <a:ln/>
        </p:spPr>
        <p:txBody>
          <a:bodyPr wrap="square" lIns="0" tIns="0" rIns="0" bIns="0" rtlCol="0" anchor="t"/>
          <a:lstStyle/>
          <a:p>
            <a:pPr algn="l" indent="0" marL="0">
              <a:buNone/>
            </a:pPr>
            <a:r>
              <a:rPr lang="en-US" sz="1100" dirty="0">
                <a:solidFill>
                  <a:schemeClr val="accent4"/>
                </a:solidFill>
              </a:rPr>
              <a:t>Mise en situation</a:t>
            </a:r>
            <a:endParaRPr lang="en-US" sz="11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10" presetClass="entr" presetSubtype="0" accel="0" decel="10000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par>
                                <p:cTn id="32" presetID="0" presetClass="path" presetSubtype="0" accel="0" decel="100000" fill="hold" grpId="1" nodeType="withEffect">
                                  <p:stCondLst>
                                    <p:cond delay="0"/>
                                  </p:stCondLst>
                                  <p:childTnLst>
                                    <p:animMotion origin="layout" path="M 0 0.02778 L 0 0 E" pathEditMode="relative" rAng="0" ptsTypes="AA">
                                      <p:cBhvr>
                                        <p:cTn id="33" dur="500" fill="hold"/>
                                        <p:tgtEl>
                                          <p:spTgt spid="7"/>
                                        </p:tgtEl>
                                        <p:attrNameLst>
                                          <p:attrName>ppt_x</p:attrName>
                                          <p:attrName>ppt_y</p:attrName>
                                        </p:attrNameLst>
                                      </p:cBhvr>
                                    </p:animMotion>
                                  </p:childTnLst>
                                </p:cTn>
                              </p:par>
                              <p:par>
                                <p:cTn id="34" presetID="10" presetClass="entr" presetSubtype="0" accel="0" decel="10000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par>
                                <p:cTn id="37" presetID="0" presetClass="path" presetSubtype="0" accel="0" decel="100000" fill="hold" grpId="1" nodeType="withEffect">
                                  <p:stCondLst>
                                    <p:cond delay="0"/>
                                  </p:stCondLst>
                                  <p:childTnLst>
                                    <p:animMotion origin="layout" path="M 0 0.02778 L 0 0 E" pathEditMode="relative" rAng="0" ptsTypes="AA">
                                      <p:cBhvr>
                                        <p:cTn id="38" dur="500" fill="hold"/>
                                        <p:tgtEl>
                                          <p:spTgt spid="8"/>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6" grpId="0" animBg="1"/>
      <p:bldP spid="6" grpId="1" animBg="1"/>
      <p:bldP spid="8" grpId="0" animBg="1"/>
      <p:bldP spid="8"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04  ·  FLYER</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Les tarifs en un coup d’œil</a:t>
            </a:r>
            <a:endParaRPr lang="en-US" sz="3000" dirty="0"/>
          </a:p>
        </p:txBody>
      </p:sp>
      <p:pic>
        <p:nvPicPr>
          <p:cNvPr id="5" name="C1_a" descr="Flyer final">    </p:cNvPr>
          <p:cNvPicPr>
            <a:picLocks noChangeAspect="1"/>
          </p:cNvPicPr>
          <p:nvPr/>
        </p:nvPicPr>
        <p:blipFill>
          <a:blip r:embed="rId1"/>
          <a:stretch>
            <a:fillRect/>
          </a:stretch>
        </p:blipFill>
        <p:spPr>
          <a:xfrm>
            <a:off x="685800" y="1943829"/>
            <a:ext cx="5227168" cy="3701863"/>
          </a:xfrm>
          <a:prstGeom prst="rect">
            <a:avLst/>
          </a:prstGeom>
          <a:effectLst>
            <a:outerShdw sx="100000" sy="100000" kx="0" ky="0" algn="bl" rotWithShape="0" blurRad="177800" dist="50800" dir="5400000">
              <a:srgbClr val="1D3557">
                <a:alpha val="16000"/>
              </a:srgbClr>
            </a:outerShdw>
          </a:effectLst>
        </p:spPr>
      </p:pic>
      <p:sp>
        <p:nvSpPr>
          <p:cNvPr id="6" name="C1_ca"/>
          <p:cNvSpPr txBox="1"/>
          <p:nvPr/>
        </p:nvSpPr>
        <p:spPr>
          <a:xfrm>
            <a:off x="685800" y="5755419"/>
            <a:ext cx="5227168" cy="274320"/>
          </a:xfrm>
          <a:prstGeom prst="rect">
            <a:avLst/>
          </a:prstGeom>
          <a:noFill/>
          <a:ln/>
        </p:spPr>
        <p:txBody>
          <a:bodyPr wrap="square" lIns="0" tIns="0" rIns="0" bIns="0" rtlCol="0" anchor="t"/>
          <a:lstStyle/>
          <a:p>
            <a:pPr algn="l" indent="0" marL="0">
              <a:buNone/>
            </a:pPr>
            <a:r>
              <a:rPr lang="en-US" sz="1100" dirty="0">
                <a:solidFill>
                  <a:schemeClr val="accent4"/>
                </a:solidFill>
              </a:rPr>
              <a:t>Flyer final</a:t>
            </a:r>
            <a:endParaRPr lang="en-US" sz="1100" dirty="0"/>
          </a:p>
        </p:txBody>
      </p:sp>
      <p:pic>
        <p:nvPicPr>
          <p:cNvPr id="7" name="C2_b" descr="Mise en situation">    </p:cNvPr>
          <p:cNvPicPr>
            <a:picLocks noChangeAspect="1"/>
          </p:cNvPicPr>
          <p:nvPr/>
        </p:nvPicPr>
        <p:blipFill>
          <a:blip r:embed="rId2"/>
          <a:stretch>
            <a:fillRect/>
          </a:stretch>
        </p:blipFill>
        <p:spPr>
          <a:xfrm>
            <a:off x="6278728" y="1948369"/>
            <a:ext cx="5227168" cy="3692782"/>
          </a:xfrm>
          <a:prstGeom prst="rect">
            <a:avLst/>
          </a:prstGeom>
          <a:effectLst>
            <a:outerShdw sx="100000" sy="100000" kx="0" ky="0" algn="bl" rotWithShape="0" blurRad="177800" dist="50800" dir="5400000">
              <a:srgbClr val="1D3557">
                <a:alpha val="16000"/>
              </a:srgbClr>
            </a:outerShdw>
          </a:effectLst>
        </p:spPr>
      </p:pic>
      <p:sp>
        <p:nvSpPr>
          <p:cNvPr id="8" name="C2_cb"/>
          <p:cNvSpPr txBox="1"/>
          <p:nvPr/>
        </p:nvSpPr>
        <p:spPr>
          <a:xfrm>
            <a:off x="6278728" y="5750879"/>
            <a:ext cx="5227168" cy="274320"/>
          </a:xfrm>
          <a:prstGeom prst="rect">
            <a:avLst/>
          </a:prstGeom>
          <a:noFill/>
          <a:ln/>
        </p:spPr>
        <p:txBody>
          <a:bodyPr wrap="square" lIns="0" tIns="0" rIns="0" bIns="0" rtlCol="0" anchor="t"/>
          <a:lstStyle/>
          <a:p>
            <a:pPr algn="l" indent="0" marL="0">
              <a:buNone/>
            </a:pPr>
            <a:r>
              <a:rPr lang="en-US" sz="1100" dirty="0">
                <a:solidFill>
                  <a:schemeClr val="accent4"/>
                </a:solidFill>
              </a:rPr>
              <a:t>Mise en situation</a:t>
            </a:r>
            <a:endParaRPr lang="en-US" sz="11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10" presetClass="entr" presetSubtype="0" accel="0" decel="10000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par>
                                <p:cTn id="32" presetID="0" presetClass="path" presetSubtype="0" accel="0" decel="100000" fill="hold" grpId="1" nodeType="withEffect">
                                  <p:stCondLst>
                                    <p:cond delay="0"/>
                                  </p:stCondLst>
                                  <p:childTnLst>
                                    <p:animMotion origin="layout" path="M 0 0.02778 L 0 0 E" pathEditMode="relative" rAng="0" ptsTypes="AA">
                                      <p:cBhvr>
                                        <p:cTn id="33" dur="500" fill="hold"/>
                                        <p:tgtEl>
                                          <p:spTgt spid="7"/>
                                        </p:tgtEl>
                                        <p:attrNameLst>
                                          <p:attrName>ppt_x</p:attrName>
                                          <p:attrName>ppt_y</p:attrName>
                                        </p:attrNameLst>
                                      </p:cBhvr>
                                    </p:animMotion>
                                  </p:childTnLst>
                                </p:cTn>
                              </p:par>
                              <p:par>
                                <p:cTn id="34" presetID="10" presetClass="entr" presetSubtype="0" accel="0" decel="10000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par>
                                <p:cTn id="37" presetID="0" presetClass="path" presetSubtype="0" accel="0" decel="100000" fill="hold" grpId="1" nodeType="withEffect">
                                  <p:stCondLst>
                                    <p:cond delay="0"/>
                                  </p:stCondLst>
                                  <p:childTnLst>
                                    <p:animMotion origin="layout" path="M 0 0.02778 L 0 0 E" pathEditMode="relative" rAng="0" ptsTypes="AA">
                                      <p:cBhvr>
                                        <p:cTn id="38" dur="500" fill="hold"/>
                                        <p:tgtEl>
                                          <p:spTgt spid="8"/>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6" grpId="0" animBg="1"/>
      <p:bldP spid="6" grpId="1" animBg="1"/>
      <p:bldP spid="8" grpId="0" animBg="1"/>
      <p:bldP spid="8" grpId="1"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04  ·  DÉPLIANT</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Un dépliant trois volets</a:t>
            </a:r>
            <a:endParaRPr lang="en-US" sz="3000" dirty="0"/>
          </a:p>
        </p:txBody>
      </p:sp>
      <p:pic>
        <p:nvPicPr>
          <p:cNvPr id="5" name="C1_mock" descr="Mise en situation du dépliant">    </p:cNvPr>
          <p:cNvPicPr>
            <a:picLocks noChangeAspect="1"/>
          </p:cNvPicPr>
          <p:nvPr/>
        </p:nvPicPr>
        <p:blipFill>
          <a:blip r:embed="rId1"/>
          <a:stretch>
            <a:fillRect/>
          </a:stretch>
        </p:blipFill>
        <p:spPr>
          <a:xfrm>
            <a:off x="685800" y="1874520"/>
            <a:ext cx="5181600" cy="3886200"/>
          </a:xfrm>
          <a:prstGeom prst="rect">
            <a:avLst/>
          </a:prstGeom>
          <a:effectLst>
            <a:outerShdw sx="100000" sy="100000" kx="0" ky="0" algn="bl" rotWithShape="0" blurRad="177800" dist="50800" dir="5400000">
              <a:srgbClr val="1D3557">
                <a:alpha val="16000"/>
              </a:srgbClr>
            </a:outerShdw>
          </a:effectLst>
        </p:spPr>
      </p:pic>
      <p:sp>
        <p:nvSpPr>
          <p:cNvPr id="6" name="C1_cap"/>
          <p:cNvSpPr txBox="1"/>
          <p:nvPr/>
        </p:nvSpPr>
        <p:spPr>
          <a:xfrm>
            <a:off x="685800" y="5870448"/>
            <a:ext cx="5181600" cy="274320"/>
          </a:xfrm>
          <a:prstGeom prst="rect">
            <a:avLst/>
          </a:prstGeom>
          <a:noFill/>
          <a:ln/>
        </p:spPr>
        <p:txBody>
          <a:bodyPr wrap="square" lIns="0" tIns="0" rIns="0" bIns="0" rtlCol="0" anchor="t"/>
          <a:lstStyle/>
          <a:p>
            <a:pPr algn="l" indent="0" marL="0">
              <a:buNone/>
            </a:pPr>
            <a:r>
              <a:rPr lang="en-US" sz="1100" dirty="0">
                <a:solidFill>
                  <a:schemeClr val="accent4"/>
                </a:solidFill>
              </a:rPr>
              <a:t>Mise en situation</a:t>
            </a:r>
            <a:endParaRPr lang="en-US" sz="1100" dirty="0"/>
          </a:p>
        </p:txBody>
      </p:sp>
      <p:pic>
        <p:nvPicPr>
          <p:cNvPr id="7" name="C2_ext" descr="Dépliant, face extérieure">    </p:cNvPr>
          <p:cNvPicPr>
            <a:picLocks noChangeAspect="1"/>
          </p:cNvPicPr>
          <p:nvPr/>
        </p:nvPicPr>
        <p:blipFill>
          <a:blip r:embed="rId2"/>
          <a:stretch>
            <a:fillRect/>
          </a:stretch>
        </p:blipFill>
        <p:spPr>
          <a:xfrm>
            <a:off x="7086600" y="1874520"/>
            <a:ext cx="2565690" cy="1828800"/>
          </a:xfrm>
          <a:prstGeom prst="rect">
            <a:avLst/>
          </a:prstGeom>
          <a:effectLst>
            <a:outerShdw sx="100000" sy="100000" kx="0" ky="0" algn="bl" rotWithShape="0" blurRad="177800" dist="50800" dir="5400000">
              <a:srgbClr val="1D3557">
                <a:alpha val="16000"/>
              </a:srgbClr>
            </a:outerShdw>
          </a:effectLst>
        </p:spPr>
      </p:pic>
      <p:sp>
        <p:nvSpPr>
          <p:cNvPr id="8" name="C2_cap1"/>
          <p:cNvSpPr txBox="1"/>
          <p:nvPr/>
        </p:nvSpPr>
        <p:spPr>
          <a:xfrm>
            <a:off x="7086600" y="3776472"/>
            <a:ext cx="2565690" cy="274320"/>
          </a:xfrm>
          <a:prstGeom prst="rect">
            <a:avLst/>
          </a:prstGeom>
          <a:noFill/>
          <a:ln/>
        </p:spPr>
        <p:txBody>
          <a:bodyPr wrap="square" lIns="0" tIns="0" rIns="0" bIns="0" rtlCol="0" anchor="t"/>
          <a:lstStyle/>
          <a:p>
            <a:pPr algn="l" indent="0" marL="0">
              <a:buNone/>
            </a:pPr>
            <a:r>
              <a:rPr lang="en-US" sz="1100" dirty="0">
                <a:solidFill>
                  <a:schemeClr val="accent4"/>
                </a:solidFill>
              </a:rPr>
              <a:t>Face extérieure</a:t>
            </a:r>
            <a:endParaRPr lang="en-US" sz="1100" dirty="0"/>
          </a:p>
        </p:txBody>
      </p:sp>
      <p:pic>
        <p:nvPicPr>
          <p:cNvPr id="9" name="C3_int" descr="Dépliant, face intérieure">    </p:cNvPr>
          <p:cNvPicPr>
            <a:picLocks noChangeAspect="1"/>
          </p:cNvPicPr>
          <p:nvPr/>
        </p:nvPicPr>
        <p:blipFill>
          <a:blip r:embed="rId3"/>
          <a:stretch>
            <a:fillRect/>
          </a:stretch>
        </p:blipFill>
        <p:spPr>
          <a:xfrm>
            <a:off x="7086600" y="4069080"/>
            <a:ext cx="2373263" cy="1691640"/>
          </a:xfrm>
          <a:prstGeom prst="rect">
            <a:avLst/>
          </a:prstGeom>
          <a:effectLst>
            <a:outerShdw sx="100000" sy="100000" kx="0" ky="0" algn="bl" rotWithShape="0" blurRad="177800" dist="50800" dir="5400000">
              <a:srgbClr val="1D3557">
                <a:alpha val="16000"/>
              </a:srgbClr>
            </a:outerShdw>
          </a:effectLst>
        </p:spPr>
      </p:pic>
      <p:sp>
        <p:nvSpPr>
          <p:cNvPr id="10" name="C3_cap2"/>
          <p:cNvSpPr txBox="1"/>
          <p:nvPr/>
        </p:nvSpPr>
        <p:spPr>
          <a:xfrm>
            <a:off x="7086600" y="5833872"/>
            <a:ext cx="2373263" cy="274320"/>
          </a:xfrm>
          <a:prstGeom prst="rect">
            <a:avLst/>
          </a:prstGeom>
          <a:noFill/>
          <a:ln/>
        </p:spPr>
        <p:txBody>
          <a:bodyPr wrap="square" lIns="0" tIns="0" rIns="0" bIns="0" rtlCol="0" anchor="t"/>
          <a:lstStyle/>
          <a:p>
            <a:pPr algn="l" indent="0" marL="0">
              <a:buNone/>
            </a:pPr>
            <a:r>
              <a:rPr lang="en-US" sz="1100" dirty="0">
                <a:solidFill>
                  <a:schemeClr val="accent4"/>
                </a:solidFill>
              </a:rPr>
              <a:t>Face intérieure</a:t>
            </a:r>
            <a:endParaRPr lang="en-US" sz="11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10" presetClass="entr" presetSubtype="0" accel="0" decel="10000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par>
                                <p:cTn id="32" presetID="0" presetClass="path" presetSubtype="0" accel="0" decel="100000" fill="hold" grpId="1" nodeType="withEffect">
                                  <p:stCondLst>
                                    <p:cond delay="0"/>
                                  </p:stCondLst>
                                  <p:childTnLst>
                                    <p:animMotion origin="layout" path="M 0 0.02778 L 0 0 E" pathEditMode="relative" rAng="0" ptsTypes="AA">
                                      <p:cBhvr>
                                        <p:cTn id="33" dur="500" fill="hold"/>
                                        <p:tgtEl>
                                          <p:spTgt spid="7"/>
                                        </p:tgtEl>
                                        <p:attrNameLst>
                                          <p:attrName>ppt_x</p:attrName>
                                          <p:attrName>ppt_y</p:attrName>
                                        </p:attrNameLst>
                                      </p:cBhvr>
                                    </p:animMotion>
                                  </p:childTnLst>
                                </p:cTn>
                              </p:par>
                              <p:par>
                                <p:cTn id="34" presetID="10" presetClass="entr" presetSubtype="0" accel="0" decel="10000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par>
                                <p:cTn id="37" presetID="0" presetClass="path" presetSubtype="0" accel="0" decel="100000" fill="hold" grpId="1" nodeType="withEffect">
                                  <p:stCondLst>
                                    <p:cond delay="0"/>
                                  </p:stCondLst>
                                  <p:childTnLst>
                                    <p:animMotion origin="layout" path="M 0 0.02778 L 0 0 E" pathEditMode="relative" rAng="0" ptsTypes="AA">
                                      <p:cBhvr>
                                        <p:cTn id="38" dur="500" fill="hold"/>
                                        <p:tgtEl>
                                          <p:spTgt spid="8"/>
                                        </p:tgtEl>
                                        <p:attrNameLst>
                                          <p:attrName>ppt_x</p:attrName>
                                          <p:attrName>ppt_y</p:attrName>
                                        </p:attrNameLst>
                                      </p:cBhvr>
                                    </p:animMotion>
                                  </p:childTnLst>
                                </p:cTn>
                              </p:par>
                            </p:childTnLst>
                          </p:cTn>
                        </p:par>
                      </p:childTnLst>
                    </p:cTn>
                  </p:par>
                  <p:par>
                    <p:cTn id="39" fill="hold">
                      <p:stCondLst>
                        <p:cond delay="indefinite"/>
                      </p:stCondLst>
                      <p:childTnLst>
                        <p:par>
                          <p:cTn id="40" fill="hold">
                            <p:stCondLst>
                              <p:cond delay="0"/>
                            </p:stCondLst>
                            <p:childTnLst>
                              <p:par>
                                <p:cTn id="41" presetID="10" presetClass="entr" presetSubtype="0" accel="0" decel="100000" fill="hold" grpId="0" nodeType="click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fade">
                                      <p:cBhvr>
                                        <p:cTn id="43" dur="500"/>
                                        <p:tgtEl>
                                          <p:spTgt spid="9"/>
                                        </p:tgtEl>
                                      </p:cBhvr>
                                    </p:animEffect>
                                  </p:childTnLst>
                                </p:cTn>
                              </p:par>
                              <p:par>
                                <p:cTn id="44" presetID="0" presetClass="path" presetSubtype="0" accel="0" decel="100000" fill="hold" grpId="1" nodeType="withEffect">
                                  <p:stCondLst>
                                    <p:cond delay="0"/>
                                  </p:stCondLst>
                                  <p:childTnLst>
                                    <p:animMotion origin="layout" path="M 0 0.02778 L 0 0 E" pathEditMode="relative" rAng="0" ptsTypes="AA">
                                      <p:cBhvr>
                                        <p:cTn id="45" dur="500" fill="hold"/>
                                        <p:tgtEl>
                                          <p:spTgt spid="9"/>
                                        </p:tgtEl>
                                        <p:attrNameLst>
                                          <p:attrName>ppt_x</p:attrName>
                                          <p:attrName>ppt_y</p:attrName>
                                        </p:attrNameLst>
                                      </p:cBhvr>
                                    </p:animMotion>
                                  </p:childTnLst>
                                </p:cTn>
                              </p:par>
                              <p:par>
                                <p:cTn id="46" presetID="10" presetClass="entr" presetSubtype="0" accel="0" decel="100000" fill="hold" grpId="0" nodeType="withEffect">
                                  <p:stCondLst>
                                    <p:cond delay="0"/>
                                  </p:stCondLst>
                                  <p:childTnLst>
                                    <p:set>
                                      <p:cBhvr>
                                        <p:cTn id="47" dur="1" fill="hold">
                                          <p:stCondLst>
                                            <p:cond delay="0"/>
                                          </p:stCondLst>
                                        </p:cTn>
                                        <p:tgtEl>
                                          <p:spTgt spid="10"/>
                                        </p:tgtEl>
                                        <p:attrNameLst>
                                          <p:attrName>style.visibility</p:attrName>
                                        </p:attrNameLst>
                                      </p:cBhvr>
                                      <p:to>
                                        <p:strVal val="visible"/>
                                      </p:to>
                                    </p:set>
                                    <p:animEffect transition="in" filter="fade">
                                      <p:cBhvr>
                                        <p:cTn id="48" dur="500"/>
                                        <p:tgtEl>
                                          <p:spTgt spid="10"/>
                                        </p:tgtEl>
                                      </p:cBhvr>
                                    </p:animEffect>
                                  </p:childTnLst>
                                </p:cTn>
                              </p:par>
                              <p:par>
                                <p:cTn id="49" presetID="0" presetClass="path" presetSubtype="0" accel="0" decel="100000" fill="hold" grpId="1" nodeType="withEffect">
                                  <p:stCondLst>
                                    <p:cond delay="0"/>
                                  </p:stCondLst>
                                  <p:childTnLst>
                                    <p:animMotion origin="layout" path="M 0 0.02778 L 0 0 E" pathEditMode="relative" rAng="0" ptsTypes="AA">
                                      <p:cBhvr>
                                        <p:cTn id="50" dur="500" fill="hold"/>
                                        <p:tgtEl>
                                          <p:spTgt spid="1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6" grpId="0" animBg="1"/>
      <p:bldP spid="6" grpId="1" animBg="1"/>
      <p:bldP spid="8" grpId="0" animBg="1"/>
      <p:bldP spid="8" grpId="1" animBg="1"/>
      <p:bldP spid="10" grpId="0" animBg="1"/>
      <p:bldP spid="10" grpId="1"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04  ·  KAKÉMONO</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Une lecture verticale et hiérarchisée</a:t>
            </a:r>
            <a:endParaRPr lang="en-US" sz="3000" dirty="0"/>
          </a:p>
        </p:txBody>
      </p:sp>
      <p:pic>
        <p:nvPicPr>
          <p:cNvPr id="5" name="C1_k" descr="Kakémono final">    </p:cNvPr>
          <p:cNvPicPr>
            <a:picLocks noChangeAspect="1"/>
          </p:cNvPicPr>
          <p:nvPr/>
        </p:nvPicPr>
        <p:blipFill>
          <a:blip r:embed="rId1"/>
          <a:stretch>
            <a:fillRect/>
          </a:stretch>
        </p:blipFill>
        <p:spPr>
          <a:xfrm>
            <a:off x="685800" y="1783080"/>
            <a:ext cx="1869516" cy="4069080"/>
          </a:xfrm>
          <a:prstGeom prst="rect">
            <a:avLst/>
          </a:prstGeom>
          <a:effectLst>
            <a:outerShdw sx="100000" sy="100000" kx="0" ky="0" algn="bl" rotWithShape="0" blurRad="177800" dist="50800" dir="5400000">
              <a:srgbClr val="1D3557">
                <a:alpha val="16000"/>
              </a:srgbClr>
            </a:outerShdw>
          </a:effectLst>
        </p:spPr>
      </p:pic>
      <p:sp>
        <p:nvSpPr>
          <p:cNvPr id="6" name="C1_cap"/>
          <p:cNvSpPr txBox="1"/>
          <p:nvPr/>
        </p:nvSpPr>
        <p:spPr>
          <a:xfrm>
            <a:off x="685800" y="5943600"/>
            <a:ext cx="2377440" cy="274320"/>
          </a:xfrm>
          <a:prstGeom prst="rect">
            <a:avLst/>
          </a:prstGeom>
          <a:noFill/>
          <a:ln/>
        </p:spPr>
        <p:txBody>
          <a:bodyPr wrap="square" lIns="0" tIns="0" rIns="0" bIns="0" rtlCol="0" anchor="t"/>
          <a:lstStyle/>
          <a:p>
            <a:pPr algn="l" indent="0" marL="0">
              <a:buNone/>
            </a:pPr>
            <a:r>
              <a:rPr lang="en-US" sz="1100" dirty="0">
                <a:solidFill>
                  <a:schemeClr val="accent4"/>
                </a:solidFill>
              </a:rPr>
              <a:t>Kakémono final</a:t>
            </a:r>
            <a:endParaRPr lang="en-US" sz="1100" dirty="0"/>
          </a:p>
        </p:txBody>
      </p:sp>
      <p:pic>
        <p:nvPicPr>
          <p:cNvPr id="7" name="C2_k" descr="Mise en situation du kakémono">    </p:cNvPr>
          <p:cNvPicPr>
            <a:picLocks noChangeAspect="1"/>
          </p:cNvPicPr>
          <p:nvPr/>
        </p:nvPicPr>
        <p:blipFill>
          <a:blip r:embed="rId2"/>
          <a:stretch>
            <a:fillRect/>
          </a:stretch>
        </p:blipFill>
        <p:spPr>
          <a:xfrm>
            <a:off x="3246120" y="1783080"/>
            <a:ext cx="2958673" cy="4069080"/>
          </a:xfrm>
          <a:prstGeom prst="rect">
            <a:avLst/>
          </a:prstGeom>
          <a:effectLst>
            <a:outerShdw sx="100000" sy="100000" kx="0" ky="0" algn="bl" rotWithShape="0" blurRad="177800" dist="50800" dir="5400000">
              <a:srgbClr val="1D3557">
                <a:alpha val="16000"/>
              </a:srgbClr>
            </a:outerShdw>
          </a:effectLst>
        </p:spPr>
      </p:pic>
      <p:sp>
        <p:nvSpPr>
          <p:cNvPr id="8" name="C2_cap"/>
          <p:cNvSpPr txBox="1"/>
          <p:nvPr/>
        </p:nvSpPr>
        <p:spPr>
          <a:xfrm>
            <a:off x="3246120" y="5943600"/>
            <a:ext cx="2958673" cy="274320"/>
          </a:xfrm>
          <a:prstGeom prst="rect">
            <a:avLst/>
          </a:prstGeom>
          <a:noFill/>
          <a:ln/>
        </p:spPr>
        <p:txBody>
          <a:bodyPr wrap="square" lIns="0" tIns="0" rIns="0" bIns="0" rtlCol="0" anchor="t"/>
          <a:lstStyle/>
          <a:p>
            <a:pPr algn="l" indent="0" marL="0">
              <a:buNone/>
            </a:pPr>
            <a:r>
              <a:rPr lang="en-US" sz="1100" dirty="0">
                <a:solidFill>
                  <a:schemeClr val="accent4"/>
                </a:solidFill>
              </a:rPr>
              <a:t>Mise en situation</a:t>
            </a:r>
            <a:endParaRPr lang="en-US" sz="1100" dirty="0"/>
          </a:p>
        </p:txBody>
      </p:sp>
      <p:sp>
        <p:nvSpPr>
          <p:cNvPr id="9" name="C3_l0"/>
          <p:cNvSpPr txBox="1"/>
          <p:nvPr/>
        </p:nvSpPr>
        <p:spPr>
          <a:xfrm>
            <a:off x="6766560" y="2011680"/>
            <a:ext cx="4754880" cy="320040"/>
          </a:xfrm>
          <a:prstGeom prst="rect">
            <a:avLst/>
          </a:prstGeom>
          <a:noFill/>
          <a:ln/>
        </p:spPr>
        <p:txBody>
          <a:bodyPr wrap="square" lIns="0" tIns="0" rIns="0" bIns="0" rtlCol="0" anchor="t"/>
          <a:lstStyle/>
          <a:p>
            <a:pPr indent="0" marL="0">
              <a:buNone/>
            </a:pPr>
            <a:r>
              <a:rPr lang="en-US" sz="1100" b="1" spc="200" kern="0" dirty="0">
                <a:solidFill>
                  <a:schemeClr val="accent1"/>
                </a:solidFill>
              </a:rPr>
              <a:t>FORMAT</a:t>
            </a:r>
            <a:endParaRPr lang="en-US" sz="1100" dirty="0"/>
          </a:p>
        </p:txBody>
      </p:sp>
      <p:sp>
        <p:nvSpPr>
          <p:cNvPr id="10" name="C3_v0"/>
          <p:cNvSpPr txBox="1"/>
          <p:nvPr/>
        </p:nvSpPr>
        <p:spPr>
          <a:xfrm>
            <a:off x="6766560" y="2359152"/>
            <a:ext cx="4754880" cy="731520"/>
          </a:xfrm>
          <a:prstGeom prst="rect">
            <a:avLst/>
          </a:prstGeom>
          <a:noFill/>
          <a:ln/>
        </p:spPr>
        <p:txBody>
          <a:bodyPr wrap="square" lIns="0" tIns="0" rIns="0" bIns="0" rtlCol="0" anchor="t"/>
          <a:lstStyle/>
          <a:p>
            <a:pPr indent="0" marL="0">
              <a:buNone/>
            </a:pPr>
            <a:r>
              <a:rPr lang="en-US" sz="1700" dirty="0">
                <a:solidFill>
                  <a:schemeClr val="tx1"/>
                </a:solidFill>
              </a:rPr>
              <a:t>85 × 200 cm</a:t>
            </a:r>
            <a:endParaRPr lang="en-US" sz="1700" dirty="0"/>
          </a:p>
        </p:txBody>
      </p:sp>
      <p:sp>
        <p:nvSpPr>
          <p:cNvPr id="11" name="C3_l1"/>
          <p:cNvSpPr txBox="1"/>
          <p:nvPr/>
        </p:nvSpPr>
        <p:spPr>
          <a:xfrm>
            <a:off x="6766560" y="3200400"/>
            <a:ext cx="4754880" cy="320040"/>
          </a:xfrm>
          <a:prstGeom prst="rect">
            <a:avLst/>
          </a:prstGeom>
          <a:noFill/>
          <a:ln/>
        </p:spPr>
        <p:txBody>
          <a:bodyPr wrap="square" lIns="0" tIns="0" rIns="0" bIns="0" rtlCol="0" anchor="t"/>
          <a:lstStyle/>
          <a:p>
            <a:pPr indent="0" marL="0">
              <a:buNone/>
            </a:pPr>
            <a:r>
              <a:rPr lang="en-US" sz="1100" b="1" spc="200" kern="0" dirty="0">
                <a:solidFill>
                  <a:schemeClr val="accent1"/>
                </a:solidFill>
              </a:rPr>
              <a:t>USAGE</a:t>
            </a:r>
            <a:endParaRPr lang="en-US" sz="1100" dirty="0"/>
          </a:p>
        </p:txBody>
      </p:sp>
      <p:sp>
        <p:nvSpPr>
          <p:cNvPr id="12" name="C3_v1"/>
          <p:cNvSpPr txBox="1"/>
          <p:nvPr/>
        </p:nvSpPr>
        <p:spPr>
          <a:xfrm>
            <a:off x="6766560" y="3547872"/>
            <a:ext cx="4754880" cy="731520"/>
          </a:xfrm>
          <a:prstGeom prst="rect">
            <a:avLst/>
          </a:prstGeom>
          <a:noFill/>
          <a:ln/>
        </p:spPr>
        <p:txBody>
          <a:bodyPr wrap="square" lIns="0" tIns="0" rIns="0" bIns="0" rtlCol="0" anchor="t"/>
          <a:lstStyle/>
          <a:p>
            <a:pPr indent="0" marL="0">
              <a:buNone/>
            </a:pPr>
            <a:r>
              <a:rPr lang="en-US" sz="1700" dirty="0">
                <a:solidFill>
                  <a:schemeClr val="tx1"/>
                </a:solidFill>
              </a:rPr>
              <a:t>Accueil, événements sportifs</a:t>
            </a:r>
            <a:endParaRPr lang="en-US" sz="17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10" presetClass="entr" presetSubtype="0" accel="0" decel="10000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par>
                                <p:cTn id="32" presetID="0" presetClass="path" presetSubtype="0" accel="0" decel="100000" fill="hold" grpId="1" nodeType="withEffect">
                                  <p:stCondLst>
                                    <p:cond delay="0"/>
                                  </p:stCondLst>
                                  <p:childTnLst>
                                    <p:animMotion origin="layout" path="M 0 0.02778 L 0 0 E" pathEditMode="relative" rAng="0" ptsTypes="AA">
                                      <p:cBhvr>
                                        <p:cTn id="33" dur="500" fill="hold"/>
                                        <p:tgtEl>
                                          <p:spTgt spid="7"/>
                                        </p:tgtEl>
                                        <p:attrNameLst>
                                          <p:attrName>ppt_x</p:attrName>
                                          <p:attrName>ppt_y</p:attrName>
                                        </p:attrNameLst>
                                      </p:cBhvr>
                                    </p:animMotion>
                                  </p:childTnLst>
                                </p:cTn>
                              </p:par>
                              <p:par>
                                <p:cTn id="34" presetID="10" presetClass="entr" presetSubtype="0" accel="0" decel="10000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par>
                                <p:cTn id="37" presetID="0" presetClass="path" presetSubtype="0" accel="0" decel="100000" fill="hold" grpId="1" nodeType="withEffect">
                                  <p:stCondLst>
                                    <p:cond delay="0"/>
                                  </p:stCondLst>
                                  <p:childTnLst>
                                    <p:animMotion origin="layout" path="M 0 0.02778 L 0 0 E" pathEditMode="relative" rAng="0" ptsTypes="AA">
                                      <p:cBhvr>
                                        <p:cTn id="38" dur="500" fill="hold"/>
                                        <p:tgtEl>
                                          <p:spTgt spid="8"/>
                                        </p:tgtEl>
                                        <p:attrNameLst>
                                          <p:attrName>ppt_x</p:attrName>
                                          <p:attrName>ppt_y</p:attrName>
                                        </p:attrNameLst>
                                      </p:cBhvr>
                                    </p:animMotion>
                                  </p:childTnLst>
                                </p:cTn>
                              </p:par>
                            </p:childTnLst>
                          </p:cTn>
                        </p:par>
                      </p:childTnLst>
                    </p:cTn>
                  </p:par>
                  <p:par>
                    <p:cTn id="39" fill="hold">
                      <p:stCondLst>
                        <p:cond delay="indefinite"/>
                      </p:stCondLst>
                      <p:childTnLst>
                        <p:par>
                          <p:cTn id="40" fill="hold">
                            <p:stCondLst>
                              <p:cond delay="0"/>
                            </p:stCondLst>
                            <p:childTnLst>
                              <p:par>
                                <p:cTn id="41" presetID="10" presetClass="entr" presetSubtype="0" accel="0" decel="100000" fill="hold" grpId="0" nodeType="click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fade">
                                      <p:cBhvr>
                                        <p:cTn id="43" dur="500"/>
                                        <p:tgtEl>
                                          <p:spTgt spid="9"/>
                                        </p:tgtEl>
                                      </p:cBhvr>
                                    </p:animEffect>
                                  </p:childTnLst>
                                </p:cTn>
                              </p:par>
                              <p:par>
                                <p:cTn id="44" presetID="0" presetClass="path" presetSubtype="0" accel="0" decel="100000" fill="hold" grpId="1" nodeType="withEffect">
                                  <p:stCondLst>
                                    <p:cond delay="0"/>
                                  </p:stCondLst>
                                  <p:childTnLst>
                                    <p:animMotion origin="layout" path="M 0 0.02778 L 0 0 E" pathEditMode="relative" rAng="0" ptsTypes="AA">
                                      <p:cBhvr>
                                        <p:cTn id="45" dur="500" fill="hold"/>
                                        <p:tgtEl>
                                          <p:spTgt spid="9"/>
                                        </p:tgtEl>
                                        <p:attrNameLst>
                                          <p:attrName>ppt_x</p:attrName>
                                          <p:attrName>ppt_y</p:attrName>
                                        </p:attrNameLst>
                                      </p:cBhvr>
                                    </p:animMotion>
                                  </p:childTnLst>
                                </p:cTn>
                              </p:par>
                              <p:par>
                                <p:cTn id="46" presetID="10" presetClass="entr" presetSubtype="0" accel="0" decel="100000" fill="hold" grpId="0" nodeType="withEffect">
                                  <p:stCondLst>
                                    <p:cond delay="0"/>
                                  </p:stCondLst>
                                  <p:childTnLst>
                                    <p:set>
                                      <p:cBhvr>
                                        <p:cTn id="47" dur="1" fill="hold">
                                          <p:stCondLst>
                                            <p:cond delay="0"/>
                                          </p:stCondLst>
                                        </p:cTn>
                                        <p:tgtEl>
                                          <p:spTgt spid="10"/>
                                        </p:tgtEl>
                                        <p:attrNameLst>
                                          <p:attrName>style.visibility</p:attrName>
                                        </p:attrNameLst>
                                      </p:cBhvr>
                                      <p:to>
                                        <p:strVal val="visible"/>
                                      </p:to>
                                    </p:set>
                                    <p:animEffect transition="in" filter="fade">
                                      <p:cBhvr>
                                        <p:cTn id="48" dur="500"/>
                                        <p:tgtEl>
                                          <p:spTgt spid="10"/>
                                        </p:tgtEl>
                                      </p:cBhvr>
                                    </p:animEffect>
                                  </p:childTnLst>
                                </p:cTn>
                              </p:par>
                              <p:par>
                                <p:cTn id="49" presetID="0" presetClass="path" presetSubtype="0" accel="0" decel="100000" fill="hold" grpId="1" nodeType="withEffect">
                                  <p:stCondLst>
                                    <p:cond delay="0"/>
                                  </p:stCondLst>
                                  <p:childTnLst>
                                    <p:animMotion origin="layout" path="M 0 0.02778 L 0 0 E" pathEditMode="relative" rAng="0" ptsTypes="AA">
                                      <p:cBhvr>
                                        <p:cTn id="50" dur="500" fill="hold"/>
                                        <p:tgtEl>
                                          <p:spTgt spid="10"/>
                                        </p:tgtEl>
                                        <p:attrNameLst>
                                          <p:attrName>ppt_x</p:attrName>
                                          <p:attrName>ppt_y</p:attrName>
                                        </p:attrNameLst>
                                      </p:cBhvr>
                                    </p:animMotion>
                                  </p:childTnLst>
                                </p:cTn>
                              </p:par>
                              <p:par>
                                <p:cTn id="51" presetID="10" presetClass="entr" presetSubtype="0" accel="0" decel="100000" fill="hold" grpId="0" nodeType="withEffect">
                                  <p:stCondLst>
                                    <p:cond delay="0"/>
                                  </p:stCondLst>
                                  <p:childTnLst>
                                    <p:set>
                                      <p:cBhvr>
                                        <p:cTn id="52" dur="1" fill="hold">
                                          <p:stCondLst>
                                            <p:cond delay="0"/>
                                          </p:stCondLst>
                                        </p:cTn>
                                        <p:tgtEl>
                                          <p:spTgt spid="11"/>
                                        </p:tgtEl>
                                        <p:attrNameLst>
                                          <p:attrName>style.visibility</p:attrName>
                                        </p:attrNameLst>
                                      </p:cBhvr>
                                      <p:to>
                                        <p:strVal val="visible"/>
                                      </p:to>
                                    </p:set>
                                    <p:animEffect transition="in" filter="fade">
                                      <p:cBhvr>
                                        <p:cTn id="53" dur="500"/>
                                        <p:tgtEl>
                                          <p:spTgt spid="11"/>
                                        </p:tgtEl>
                                      </p:cBhvr>
                                    </p:animEffect>
                                  </p:childTnLst>
                                </p:cTn>
                              </p:par>
                              <p:par>
                                <p:cTn id="54" presetID="0" presetClass="path" presetSubtype="0" accel="0" decel="100000" fill="hold" grpId="1" nodeType="withEffect">
                                  <p:stCondLst>
                                    <p:cond delay="0"/>
                                  </p:stCondLst>
                                  <p:childTnLst>
                                    <p:animMotion origin="layout" path="M 0 0.02778 L 0 0 E" pathEditMode="relative" rAng="0" ptsTypes="AA">
                                      <p:cBhvr>
                                        <p:cTn id="55" dur="500" fill="hold"/>
                                        <p:tgtEl>
                                          <p:spTgt spid="11"/>
                                        </p:tgtEl>
                                        <p:attrNameLst>
                                          <p:attrName>ppt_x</p:attrName>
                                          <p:attrName>ppt_y</p:attrName>
                                        </p:attrNameLst>
                                      </p:cBhvr>
                                    </p:animMotion>
                                  </p:childTnLst>
                                </p:cTn>
                              </p:par>
                              <p:par>
                                <p:cTn id="56" presetID="10" presetClass="entr" presetSubtype="0" accel="0" decel="100000" fill="hold" grpId="0" nodeType="with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fade">
                                      <p:cBhvr>
                                        <p:cTn id="58" dur="500"/>
                                        <p:tgtEl>
                                          <p:spTgt spid="12"/>
                                        </p:tgtEl>
                                      </p:cBhvr>
                                    </p:animEffect>
                                  </p:childTnLst>
                                </p:cTn>
                              </p:par>
                              <p:par>
                                <p:cTn id="59" presetID="0" presetClass="path" presetSubtype="0" accel="0" decel="100000" fill="hold" grpId="1" nodeType="withEffect">
                                  <p:stCondLst>
                                    <p:cond delay="0"/>
                                  </p:stCondLst>
                                  <p:childTnLst>
                                    <p:animMotion origin="layout" path="M 0 0.02778 L 0 0 E" pathEditMode="relative" rAng="0" ptsTypes="AA">
                                      <p:cBhvr>
                                        <p:cTn id="60" dur="5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6" grpId="0" animBg="1"/>
      <p:bldP spid="6" grpId="1" animBg="1"/>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04  ·  SUPPORTS DIGITAUX</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Des visuels pour les réseaux sociaux</a:t>
            </a:r>
            <a:endParaRPr lang="en-US" sz="3000" dirty="0"/>
          </a:p>
        </p:txBody>
      </p:sp>
      <p:pic>
        <p:nvPicPr>
          <p:cNvPr id="5" name="C1_img" descr="Visuel réseaux sociaux">    </p:cNvPr>
          <p:cNvPicPr>
            <a:picLocks noChangeAspect="1"/>
          </p:cNvPicPr>
          <p:nvPr/>
        </p:nvPicPr>
        <p:blipFill>
          <a:blip r:embed="rId1"/>
          <a:stretch>
            <a:fillRect/>
          </a:stretch>
        </p:blipFill>
        <p:spPr>
          <a:xfrm>
            <a:off x="685800" y="1874520"/>
            <a:ext cx="5487458" cy="3886200"/>
          </a:xfrm>
          <a:prstGeom prst="rect">
            <a:avLst/>
          </a:prstGeom>
          <a:effectLst>
            <a:outerShdw sx="100000" sy="100000" kx="0" ky="0" algn="bl" rotWithShape="0" blurRad="177800" dist="50800" dir="5400000">
              <a:srgbClr val="1D3557">
                <a:alpha val="16000"/>
              </a:srgbClr>
            </a:outerShdw>
          </a:effectLst>
        </p:spPr>
      </p:pic>
      <p:sp>
        <p:nvSpPr>
          <p:cNvPr id="6" name="C1_cap"/>
          <p:cNvSpPr txBox="1"/>
          <p:nvPr/>
        </p:nvSpPr>
        <p:spPr>
          <a:xfrm>
            <a:off x="685800" y="5870448"/>
            <a:ext cx="5487458" cy="274320"/>
          </a:xfrm>
          <a:prstGeom prst="rect">
            <a:avLst/>
          </a:prstGeom>
          <a:noFill/>
          <a:ln/>
        </p:spPr>
        <p:txBody>
          <a:bodyPr wrap="square" lIns="0" tIns="0" rIns="0" bIns="0" rtlCol="0" anchor="t"/>
          <a:lstStyle/>
          <a:p>
            <a:pPr algn="l" indent="0" marL="0">
              <a:buNone/>
            </a:pPr>
            <a:r>
              <a:rPr lang="en-US" sz="1100" dirty="0">
                <a:solidFill>
                  <a:schemeClr val="accent4"/>
                </a:solidFill>
              </a:rPr>
              <a:t>Affiche réseaux sociaux</a:t>
            </a:r>
            <a:endParaRPr lang="en-US" sz="1100" dirty="0"/>
          </a:p>
        </p:txBody>
      </p:sp>
      <p:sp>
        <p:nvSpPr>
          <p:cNvPr id="7" name="C2_d0_disc"/>
          <p:cNvSpPr/>
          <p:nvPr/>
        </p:nvSpPr>
        <p:spPr>
          <a:xfrm>
            <a:off x="7223760" y="2103120"/>
            <a:ext cx="685800" cy="685800"/>
          </a:xfrm>
          <a:prstGeom prst="ellipse">
            <a:avLst/>
          </a:prstGeom>
          <a:solidFill>
            <a:schemeClr val="bg2"/>
          </a:solidFill>
          <a:ln/>
        </p:spPr>
      </p:sp>
      <p:pic>
        <p:nvPicPr>
          <p:cNvPr id="8" name="C2_d0_ico" descr="preencoded.png">    </p:cNvPr>
          <p:cNvPicPr>
            <a:picLocks noChangeAspect="1"/>
          </p:cNvPicPr>
          <p:nvPr/>
        </p:nvPicPr>
        <p:blipFill>
          <a:blip r:embed="rId2"/>
          <a:stretch>
            <a:fillRect/>
          </a:stretch>
        </p:blipFill>
        <p:spPr>
          <a:xfrm>
            <a:off x="7395210" y="2274570"/>
            <a:ext cx="342900" cy="342900"/>
          </a:xfrm>
          <a:prstGeom prst="rect">
            <a:avLst/>
          </a:prstGeom>
        </p:spPr>
      </p:pic>
      <p:sp>
        <p:nvSpPr>
          <p:cNvPr id="9" name="C2_t0"/>
          <p:cNvSpPr txBox="1"/>
          <p:nvPr/>
        </p:nvSpPr>
        <p:spPr>
          <a:xfrm>
            <a:off x="8138160" y="2148840"/>
            <a:ext cx="3383280" cy="640080"/>
          </a:xfrm>
          <a:prstGeom prst="rect">
            <a:avLst/>
          </a:prstGeom>
          <a:noFill/>
          <a:ln/>
        </p:spPr>
        <p:txBody>
          <a:bodyPr wrap="square" lIns="0" tIns="0" rIns="0" bIns="0" rtlCol="0" anchor="ctr"/>
          <a:lstStyle/>
          <a:p>
            <a:pPr indent="0" marL="0">
              <a:buNone/>
            </a:pPr>
            <a:r>
              <a:rPr lang="en-US" sz="1700" dirty="0">
                <a:solidFill>
                  <a:schemeClr val="tx1"/>
                </a:solidFill>
              </a:rPr>
              <a:t>Facebook, Instagram, TikTok</a:t>
            </a:r>
            <a:endParaRPr lang="en-US" sz="1700" dirty="0"/>
          </a:p>
        </p:txBody>
      </p:sp>
      <p:sp>
        <p:nvSpPr>
          <p:cNvPr id="10" name="C2_d1_disc"/>
          <p:cNvSpPr/>
          <p:nvPr/>
        </p:nvSpPr>
        <p:spPr>
          <a:xfrm>
            <a:off x="7223760" y="3291840"/>
            <a:ext cx="685800" cy="685800"/>
          </a:xfrm>
          <a:prstGeom prst="ellipse">
            <a:avLst/>
          </a:prstGeom>
          <a:solidFill>
            <a:schemeClr val="bg2"/>
          </a:solidFill>
          <a:ln/>
        </p:spPr>
      </p:sp>
      <p:pic>
        <p:nvPicPr>
          <p:cNvPr id="11" name="C2_d1_ico" descr="preencoded.png">    </p:cNvPr>
          <p:cNvPicPr>
            <a:picLocks noChangeAspect="1"/>
          </p:cNvPicPr>
          <p:nvPr/>
        </p:nvPicPr>
        <p:blipFill>
          <a:blip r:embed="rId3"/>
          <a:stretch>
            <a:fillRect/>
          </a:stretch>
        </p:blipFill>
        <p:spPr>
          <a:xfrm>
            <a:off x="7395210" y="3463290"/>
            <a:ext cx="342900" cy="342900"/>
          </a:xfrm>
          <a:prstGeom prst="rect">
            <a:avLst/>
          </a:prstGeom>
        </p:spPr>
      </p:pic>
      <p:sp>
        <p:nvSpPr>
          <p:cNvPr id="12" name="C2_t1"/>
          <p:cNvSpPr txBox="1"/>
          <p:nvPr/>
        </p:nvSpPr>
        <p:spPr>
          <a:xfrm>
            <a:off x="8138160" y="3337560"/>
            <a:ext cx="3383280" cy="640080"/>
          </a:xfrm>
          <a:prstGeom prst="rect">
            <a:avLst/>
          </a:prstGeom>
          <a:noFill/>
          <a:ln/>
        </p:spPr>
        <p:txBody>
          <a:bodyPr wrap="square" lIns="0" tIns="0" rIns="0" bIns="0" rtlCol="0" anchor="ctr"/>
          <a:lstStyle/>
          <a:p>
            <a:pPr indent="0" marL="0">
              <a:buNone/>
            </a:pPr>
            <a:r>
              <a:rPr lang="en-US" sz="1700" dirty="0">
                <a:solidFill>
                  <a:schemeClr val="tx1"/>
                </a:solidFill>
              </a:rPr>
              <a:t>Format carré 1080 × 1080 pixels</a:t>
            </a:r>
            <a:endParaRPr lang="en-US" sz="1700" dirty="0"/>
          </a:p>
        </p:txBody>
      </p:sp>
      <p:sp>
        <p:nvSpPr>
          <p:cNvPr id="13" name="C2_d2_disc"/>
          <p:cNvSpPr/>
          <p:nvPr/>
        </p:nvSpPr>
        <p:spPr>
          <a:xfrm>
            <a:off x="7223760" y="4480560"/>
            <a:ext cx="685800" cy="685800"/>
          </a:xfrm>
          <a:prstGeom prst="ellipse">
            <a:avLst/>
          </a:prstGeom>
          <a:solidFill>
            <a:schemeClr val="bg2"/>
          </a:solidFill>
          <a:ln/>
        </p:spPr>
      </p:sp>
      <p:pic>
        <p:nvPicPr>
          <p:cNvPr id="14" name="C2_d2_ico" descr="preencoded.png">    </p:cNvPr>
          <p:cNvPicPr>
            <a:picLocks noChangeAspect="1"/>
          </p:cNvPicPr>
          <p:nvPr/>
        </p:nvPicPr>
        <p:blipFill>
          <a:blip r:embed="rId4"/>
          <a:stretch>
            <a:fillRect/>
          </a:stretch>
        </p:blipFill>
        <p:spPr>
          <a:xfrm>
            <a:off x="7395210" y="4652010"/>
            <a:ext cx="342900" cy="342900"/>
          </a:xfrm>
          <a:prstGeom prst="rect">
            <a:avLst/>
          </a:prstGeom>
        </p:spPr>
      </p:pic>
      <p:sp>
        <p:nvSpPr>
          <p:cNvPr id="15" name="C2_t2"/>
          <p:cNvSpPr txBox="1"/>
          <p:nvPr/>
        </p:nvSpPr>
        <p:spPr>
          <a:xfrm>
            <a:off x="8138160" y="4526280"/>
            <a:ext cx="3383280" cy="640080"/>
          </a:xfrm>
          <a:prstGeom prst="rect">
            <a:avLst/>
          </a:prstGeom>
          <a:noFill/>
          <a:ln/>
        </p:spPr>
        <p:txBody>
          <a:bodyPr wrap="square" lIns="0" tIns="0" rIns="0" bIns="0" rtlCol="0" anchor="ctr"/>
          <a:lstStyle/>
          <a:p>
            <a:pPr indent="0" marL="0">
              <a:buNone/>
            </a:pPr>
            <a:r>
              <a:rPr lang="en-US" sz="1700" dirty="0">
                <a:solidFill>
                  <a:schemeClr val="tx1"/>
                </a:solidFill>
              </a:rPr>
              <a:t>Continuité avec les supports imprimés</a:t>
            </a:r>
            <a:endParaRPr lang="en-US" sz="17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10" presetClass="entr" presetSubtype="0" accel="0" decel="10000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par>
                                <p:cTn id="32" presetID="0" presetClass="path" presetSubtype="0" accel="0" decel="100000" fill="hold" grpId="1" nodeType="withEffect">
                                  <p:stCondLst>
                                    <p:cond delay="0"/>
                                  </p:stCondLst>
                                  <p:childTnLst>
                                    <p:animMotion origin="layout" path="M 0 0.02778 L 0 0 E" pathEditMode="relative" rAng="0" ptsTypes="AA">
                                      <p:cBhvr>
                                        <p:cTn id="33" dur="500" fill="hold"/>
                                        <p:tgtEl>
                                          <p:spTgt spid="7"/>
                                        </p:tgtEl>
                                        <p:attrNameLst>
                                          <p:attrName>ppt_x</p:attrName>
                                          <p:attrName>ppt_y</p:attrName>
                                        </p:attrNameLst>
                                      </p:cBhvr>
                                    </p:animMotion>
                                  </p:childTnLst>
                                </p:cTn>
                              </p:par>
                              <p:par>
                                <p:cTn id="34" presetID="10" presetClass="entr" presetSubtype="0" accel="0" decel="10000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par>
                                <p:cTn id="37" presetID="0" presetClass="path" presetSubtype="0" accel="0" decel="100000" fill="hold" grpId="1" nodeType="withEffect">
                                  <p:stCondLst>
                                    <p:cond delay="0"/>
                                  </p:stCondLst>
                                  <p:childTnLst>
                                    <p:animMotion origin="layout" path="M 0 0.02778 L 0 0 E" pathEditMode="relative" rAng="0" ptsTypes="AA">
                                      <p:cBhvr>
                                        <p:cTn id="38" dur="500" fill="hold"/>
                                        <p:tgtEl>
                                          <p:spTgt spid="8"/>
                                        </p:tgtEl>
                                        <p:attrNameLst>
                                          <p:attrName>ppt_x</p:attrName>
                                          <p:attrName>ppt_y</p:attrName>
                                        </p:attrNameLst>
                                      </p:cBhvr>
                                    </p:animMotion>
                                  </p:childTnLst>
                                </p:cTn>
                              </p:par>
                              <p:par>
                                <p:cTn id="39" presetID="10" presetClass="entr" presetSubtype="0" accel="0" decel="10000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p:tgtEl>
                                          <p:spTgt spid="9"/>
                                        </p:tgtEl>
                                      </p:cBhvr>
                                    </p:animEffect>
                                  </p:childTnLst>
                                </p:cTn>
                              </p:par>
                              <p:par>
                                <p:cTn id="42" presetID="0" presetClass="path" presetSubtype="0" accel="0" decel="100000" fill="hold" grpId="1" nodeType="withEffect">
                                  <p:stCondLst>
                                    <p:cond delay="0"/>
                                  </p:stCondLst>
                                  <p:childTnLst>
                                    <p:animMotion origin="layout" path="M 0 0.02778 L 0 0 E" pathEditMode="relative" rAng="0" ptsTypes="AA">
                                      <p:cBhvr>
                                        <p:cTn id="43" dur="500" fill="hold"/>
                                        <p:tgtEl>
                                          <p:spTgt spid="9"/>
                                        </p:tgtEl>
                                        <p:attrNameLst>
                                          <p:attrName>ppt_x</p:attrName>
                                          <p:attrName>ppt_y</p:attrName>
                                        </p:attrNameLst>
                                      </p:cBhvr>
                                    </p:animMotion>
                                  </p:childTnLst>
                                </p:cTn>
                              </p:par>
                              <p:par>
                                <p:cTn id="44" presetID="10" presetClass="entr" presetSubtype="0" accel="0" decel="10000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childTnLst>
                                </p:cTn>
                              </p:par>
                              <p:par>
                                <p:cTn id="47" presetID="0" presetClass="path" presetSubtype="0" accel="0" decel="100000" fill="hold" grpId="1" nodeType="withEffect">
                                  <p:stCondLst>
                                    <p:cond delay="0"/>
                                  </p:stCondLst>
                                  <p:childTnLst>
                                    <p:animMotion origin="layout" path="M 0 0.02778 L 0 0 E" pathEditMode="relative" rAng="0" ptsTypes="AA">
                                      <p:cBhvr>
                                        <p:cTn id="48" dur="500" fill="hold"/>
                                        <p:tgtEl>
                                          <p:spTgt spid="10"/>
                                        </p:tgtEl>
                                        <p:attrNameLst>
                                          <p:attrName>ppt_x</p:attrName>
                                          <p:attrName>ppt_y</p:attrName>
                                        </p:attrNameLst>
                                      </p:cBhvr>
                                    </p:animMotion>
                                  </p:childTnLst>
                                </p:cTn>
                              </p:par>
                              <p:par>
                                <p:cTn id="49" presetID="10" presetClass="entr" presetSubtype="0" accel="0" decel="10000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childTnLst>
                                </p:cTn>
                              </p:par>
                              <p:par>
                                <p:cTn id="52" presetID="0" presetClass="path" presetSubtype="0" accel="0" decel="100000" fill="hold" grpId="1" nodeType="withEffect">
                                  <p:stCondLst>
                                    <p:cond delay="0"/>
                                  </p:stCondLst>
                                  <p:childTnLst>
                                    <p:animMotion origin="layout" path="M 0 0.02778 L 0 0 E" pathEditMode="relative" rAng="0" ptsTypes="AA">
                                      <p:cBhvr>
                                        <p:cTn id="53" dur="500" fill="hold"/>
                                        <p:tgtEl>
                                          <p:spTgt spid="11"/>
                                        </p:tgtEl>
                                        <p:attrNameLst>
                                          <p:attrName>ppt_x</p:attrName>
                                          <p:attrName>ppt_y</p:attrName>
                                        </p:attrNameLst>
                                      </p:cBhvr>
                                    </p:animMotion>
                                  </p:childTnLst>
                                </p:cTn>
                              </p:par>
                              <p:par>
                                <p:cTn id="54" presetID="10" presetClass="entr" presetSubtype="0" accel="0" decel="10000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par>
                                <p:cTn id="57" presetID="0" presetClass="path" presetSubtype="0" accel="0" decel="100000" fill="hold" grpId="1" nodeType="withEffect">
                                  <p:stCondLst>
                                    <p:cond delay="0"/>
                                  </p:stCondLst>
                                  <p:childTnLst>
                                    <p:animMotion origin="layout" path="M 0 0.02778 L 0 0 E" pathEditMode="relative" rAng="0" ptsTypes="AA">
                                      <p:cBhvr>
                                        <p:cTn id="58" dur="500" fill="hold"/>
                                        <p:tgtEl>
                                          <p:spTgt spid="12"/>
                                        </p:tgtEl>
                                        <p:attrNameLst>
                                          <p:attrName>ppt_x</p:attrName>
                                          <p:attrName>ppt_y</p:attrName>
                                        </p:attrNameLst>
                                      </p:cBhvr>
                                    </p:animMotion>
                                  </p:childTnLst>
                                </p:cTn>
                              </p:par>
                              <p:par>
                                <p:cTn id="59" presetID="10" presetClass="entr" presetSubtype="0" accel="0" decel="10000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500"/>
                                        <p:tgtEl>
                                          <p:spTgt spid="13"/>
                                        </p:tgtEl>
                                      </p:cBhvr>
                                    </p:animEffect>
                                  </p:childTnLst>
                                </p:cTn>
                              </p:par>
                              <p:par>
                                <p:cTn id="62" presetID="0" presetClass="path" presetSubtype="0" accel="0" decel="100000" fill="hold" grpId="1" nodeType="withEffect">
                                  <p:stCondLst>
                                    <p:cond delay="0"/>
                                  </p:stCondLst>
                                  <p:childTnLst>
                                    <p:animMotion origin="layout" path="M 0 0.02778 L 0 0 E" pathEditMode="relative" rAng="0" ptsTypes="AA">
                                      <p:cBhvr>
                                        <p:cTn id="63" dur="500" fill="hold"/>
                                        <p:tgtEl>
                                          <p:spTgt spid="13"/>
                                        </p:tgtEl>
                                        <p:attrNameLst>
                                          <p:attrName>ppt_x</p:attrName>
                                          <p:attrName>ppt_y</p:attrName>
                                        </p:attrNameLst>
                                      </p:cBhvr>
                                    </p:animMotion>
                                  </p:childTnLst>
                                </p:cTn>
                              </p:par>
                              <p:par>
                                <p:cTn id="64" presetID="10" presetClass="entr" presetSubtype="0" accel="0" decel="10000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500"/>
                                        <p:tgtEl>
                                          <p:spTgt spid="14"/>
                                        </p:tgtEl>
                                      </p:cBhvr>
                                    </p:animEffect>
                                  </p:childTnLst>
                                </p:cTn>
                              </p:par>
                              <p:par>
                                <p:cTn id="67" presetID="0" presetClass="path" presetSubtype="0" accel="0" decel="100000" fill="hold" grpId="1" nodeType="withEffect">
                                  <p:stCondLst>
                                    <p:cond delay="0"/>
                                  </p:stCondLst>
                                  <p:childTnLst>
                                    <p:animMotion origin="layout" path="M 0 0.02778 L 0 0 E" pathEditMode="relative" rAng="0" ptsTypes="AA">
                                      <p:cBhvr>
                                        <p:cTn id="68" dur="500" fill="hold"/>
                                        <p:tgtEl>
                                          <p:spTgt spid="14"/>
                                        </p:tgtEl>
                                        <p:attrNameLst>
                                          <p:attrName>ppt_x</p:attrName>
                                          <p:attrName>ppt_y</p:attrName>
                                        </p:attrNameLst>
                                      </p:cBhvr>
                                    </p:animMotion>
                                  </p:childTnLst>
                                </p:cTn>
                              </p:par>
                              <p:par>
                                <p:cTn id="69" presetID="10" presetClass="entr" presetSubtype="0" accel="0" decel="10000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500"/>
                                        <p:tgtEl>
                                          <p:spTgt spid="15"/>
                                        </p:tgtEl>
                                      </p:cBhvr>
                                    </p:animEffect>
                                  </p:childTnLst>
                                </p:cTn>
                              </p:par>
                              <p:par>
                                <p:cTn id="72" presetID="0" presetClass="path" presetSubtype="0" accel="0" decel="100000" fill="hold" grpId="1" nodeType="withEffect">
                                  <p:stCondLst>
                                    <p:cond delay="0"/>
                                  </p:stCondLst>
                                  <p:childTnLst>
                                    <p:animMotion origin="layout" path="M 0 0.02778 L 0 0 E" pathEditMode="relative" rAng="0" ptsTypes="AA">
                                      <p:cBhvr>
                                        <p:cTn id="73" dur="500" fill="hold"/>
                                        <p:tgtEl>
                                          <p:spTgt spid="1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6" grpId="0" animBg="1"/>
      <p:bldP spid="6" grpId="1" animBg="1"/>
      <p:bldP spid="9" grpId="0" animBg="1"/>
      <p:bldP spid="9" grpId="1" animBg="1"/>
      <p:bldP spid="12" grpId="0" animBg="1"/>
      <p:bldP spid="12" grpId="1" animBg="1"/>
      <p:bldP spid="15" grpId="0" animBg="1"/>
      <p:bldP spid="15" grpId="1"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04  ·  ANIMATION DU LOGO</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Le logo prend vie</a:t>
            </a:r>
            <a:endParaRPr lang="en-US" sz="3000" dirty="0"/>
          </a:p>
        </p:txBody>
      </p:sp>
      <p:pic>
        <p:nvPicPr>
          <p:cNvPr id="3" name="V2_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85800" y="1920240"/>
            <a:ext cx="6949440" cy="3909060"/>
          </a:xfrm>
          <a:prstGeom prst="rect">
            <a:avLst/>
          </a:prstGeom>
        </p:spPr>
      </p:pic>
      <p:sp>
        <p:nvSpPr>
          <p:cNvPr id="6" name="C1_l0"/>
          <p:cNvSpPr txBox="1"/>
          <p:nvPr/>
        </p:nvSpPr>
        <p:spPr>
          <a:xfrm>
            <a:off x="8229600" y="2011680"/>
            <a:ext cx="3291840" cy="292608"/>
          </a:xfrm>
          <a:prstGeom prst="rect">
            <a:avLst/>
          </a:prstGeom>
          <a:noFill/>
          <a:ln/>
        </p:spPr>
        <p:txBody>
          <a:bodyPr wrap="square" lIns="0" tIns="0" rIns="0" bIns="0" rtlCol="0" anchor="t"/>
          <a:lstStyle/>
          <a:p>
            <a:pPr indent="0" marL="0">
              <a:buNone/>
            </a:pPr>
            <a:r>
              <a:rPr lang="en-US" sz="1100" b="1" spc="200" kern="0" dirty="0">
                <a:solidFill>
                  <a:schemeClr val="accent1"/>
                </a:solidFill>
              </a:rPr>
              <a:t>LOGICIEL</a:t>
            </a:r>
            <a:endParaRPr lang="en-US" sz="1100" dirty="0"/>
          </a:p>
        </p:txBody>
      </p:sp>
      <p:sp>
        <p:nvSpPr>
          <p:cNvPr id="7" name="C1_v0"/>
          <p:cNvSpPr txBox="1"/>
          <p:nvPr/>
        </p:nvSpPr>
        <p:spPr>
          <a:xfrm>
            <a:off x="8229600" y="2322576"/>
            <a:ext cx="3291840" cy="548640"/>
          </a:xfrm>
          <a:prstGeom prst="rect">
            <a:avLst/>
          </a:prstGeom>
          <a:noFill/>
          <a:ln/>
        </p:spPr>
        <p:txBody>
          <a:bodyPr wrap="square" lIns="0" tIns="0" rIns="0" bIns="0" rtlCol="0" anchor="t"/>
          <a:lstStyle/>
          <a:p>
            <a:pPr indent="0" marL="0">
              <a:buNone/>
            </a:pPr>
            <a:r>
              <a:rPr lang="en-US" sz="1700" dirty="0">
                <a:solidFill>
                  <a:schemeClr val="tx1"/>
                </a:solidFill>
              </a:rPr>
              <a:t>Adobe After Effects</a:t>
            </a:r>
            <a:endParaRPr lang="en-US" sz="1700" dirty="0"/>
          </a:p>
        </p:txBody>
      </p:sp>
      <p:sp>
        <p:nvSpPr>
          <p:cNvPr id="8" name="C1_l1"/>
          <p:cNvSpPr txBox="1"/>
          <p:nvPr/>
        </p:nvSpPr>
        <p:spPr>
          <a:xfrm>
            <a:off x="8229600" y="2999232"/>
            <a:ext cx="3291840" cy="292608"/>
          </a:xfrm>
          <a:prstGeom prst="rect">
            <a:avLst/>
          </a:prstGeom>
          <a:noFill/>
          <a:ln/>
        </p:spPr>
        <p:txBody>
          <a:bodyPr wrap="square" lIns="0" tIns="0" rIns="0" bIns="0" rtlCol="0" anchor="t"/>
          <a:lstStyle/>
          <a:p>
            <a:pPr indent="0" marL="0">
              <a:buNone/>
            </a:pPr>
            <a:r>
              <a:rPr lang="en-US" sz="1100" b="1" spc="200" kern="0" dirty="0">
                <a:solidFill>
                  <a:schemeClr val="accent1"/>
                </a:solidFill>
              </a:rPr>
              <a:t>TECHNIQUE</a:t>
            </a:r>
            <a:endParaRPr lang="en-US" sz="1100" dirty="0"/>
          </a:p>
        </p:txBody>
      </p:sp>
      <p:sp>
        <p:nvSpPr>
          <p:cNvPr id="9" name="C1_v1"/>
          <p:cNvSpPr txBox="1"/>
          <p:nvPr/>
        </p:nvSpPr>
        <p:spPr>
          <a:xfrm>
            <a:off x="8229600" y="3310128"/>
            <a:ext cx="3291840" cy="548640"/>
          </a:xfrm>
          <a:prstGeom prst="rect">
            <a:avLst/>
          </a:prstGeom>
          <a:noFill/>
          <a:ln/>
        </p:spPr>
        <p:txBody>
          <a:bodyPr wrap="square" lIns="0" tIns="0" rIns="0" bIns="0" rtlCol="0" anchor="t"/>
          <a:lstStyle/>
          <a:p>
            <a:pPr indent="0" marL="0">
              <a:buNone/>
            </a:pPr>
            <a:r>
              <a:rPr lang="en-US" sz="1700" dirty="0">
                <a:solidFill>
                  <a:schemeClr val="tx1"/>
                </a:solidFill>
              </a:rPr>
              <a:t>Animation des éléments textuels</a:t>
            </a:r>
            <a:endParaRPr lang="en-US" sz="1700" dirty="0"/>
          </a:p>
        </p:txBody>
      </p:sp>
      <p:sp>
        <p:nvSpPr>
          <p:cNvPr id="10" name="C1_l2"/>
          <p:cNvSpPr txBox="1"/>
          <p:nvPr/>
        </p:nvSpPr>
        <p:spPr>
          <a:xfrm>
            <a:off x="8229600" y="3986784"/>
            <a:ext cx="3291840" cy="292608"/>
          </a:xfrm>
          <a:prstGeom prst="rect">
            <a:avLst/>
          </a:prstGeom>
          <a:noFill/>
          <a:ln/>
        </p:spPr>
        <p:txBody>
          <a:bodyPr wrap="square" lIns="0" tIns="0" rIns="0" bIns="0" rtlCol="0" anchor="t"/>
          <a:lstStyle/>
          <a:p>
            <a:pPr indent="0" marL="0">
              <a:buNone/>
            </a:pPr>
            <a:r>
              <a:rPr lang="en-US" sz="1100" b="1" spc="200" kern="0" dirty="0">
                <a:solidFill>
                  <a:schemeClr val="accent1"/>
                </a:solidFill>
              </a:rPr>
              <a:t>EXPORT</a:t>
            </a:r>
            <a:endParaRPr lang="en-US" sz="1100" dirty="0"/>
          </a:p>
        </p:txBody>
      </p:sp>
      <p:sp>
        <p:nvSpPr>
          <p:cNvPr id="11" name="C1_v2"/>
          <p:cNvSpPr txBox="1"/>
          <p:nvPr/>
        </p:nvSpPr>
        <p:spPr>
          <a:xfrm>
            <a:off x="8229600" y="4297680"/>
            <a:ext cx="3291840" cy="548640"/>
          </a:xfrm>
          <a:prstGeom prst="rect">
            <a:avLst/>
          </a:prstGeom>
          <a:noFill/>
          <a:ln/>
        </p:spPr>
        <p:txBody>
          <a:bodyPr wrap="square" lIns="0" tIns="0" rIns="0" bIns="0" rtlCol="0" anchor="t"/>
          <a:lstStyle/>
          <a:p>
            <a:pPr indent="0" marL="0">
              <a:buNone/>
            </a:pPr>
            <a:r>
              <a:rPr lang="en-US" sz="1700" dirty="0">
                <a:solidFill>
                  <a:schemeClr val="tx1"/>
                </a:solidFill>
              </a:rPr>
              <a:t>Format MP4</a:t>
            </a:r>
            <a:endParaRPr lang="en-US" sz="17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6"/>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7"/>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8"/>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9"/>
                                        </p:tgtEl>
                                        <p:attrNameLst>
                                          <p:attrName>ppt_x</p:attrName>
                                          <p:attrName>ppt_y</p:attrName>
                                        </p:attrNameLst>
                                      </p:cBhvr>
                                    </p:animMotion>
                                  </p:childTnLst>
                                </p:cTn>
                              </p:par>
                              <p:par>
                                <p:cTn id="37" presetID="10" presetClass="entr" presetSubtype="0" accel="0" decel="10000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par>
                                <p:cTn id="40" presetID="0" presetClass="path" presetSubtype="0" accel="0" decel="100000" fill="hold" grpId="1" nodeType="withEffect">
                                  <p:stCondLst>
                                    <p:cond delay="0"/>
                                  </p:stCondLst>
                                  <p:childTnLst>
                                    <p:animMotion origin="layout" path="M 0 0.02778 L 0 0 E" pathEditMode="relative" rAng="0" ptsTypes="AA">
                                      <p:cBhvr>
                                        <p:cTn id="41" dur="500" fill="hold"/>
                                        <p:tgtEl>
                                          <p:spTgt spid="10"/>
                                        </p:tgtEl>
                                        <p:attrNameLst>
                                          <p:attrName>ppt_x</p:attrName>
                                          <p:attrName>ppt_y</p:attrName>
                                        </p:attrNameLst>
                                      </p:cBhvr>
                                    </p:animMotion>
                                  </p:childTnLst>
                                </p:cTn>
                              </p:par>
                              <p:par>
                                <p:cTn id="42" presetID="10" presetClass="entr" presetSubtype="0" accel="0" decel="100000"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500"/>
                                        <p:tgtEl>
                                          <p:spTgt spid="11"/>
                                        </p:tgtEl>
                                      </p:cBhvr>
                                    </p:animEffect>
                                  </p:childTnLst>
                                </p:cTn>
                              </p:par>
                              <p:par>
                                <p:cTn id="45" presetID="0" presetClass="path" presetSubtype="0" accel="0" decel="100000" fill="hold" grpId="1" nodeType="withEffect">
                                  <p:stCondLst>
                                    <p:cond delay="0"/>
                                  </p:stCondLst>
                                  <p:childTnLst>
                                    <p:animMotion origin="layout" path="M 0 0.02778 L 0 0 E" pathEditMode="relative" rAng="0" ptsTypes="AA">
                                      <p:cBhvr>
                                        <p:cTn id="46" dur="500" fill="hold"/>
                                        <p:tgtEl>
                                          <p:spTgt spid="11"/>
                                        </p:tgtEl>
                                        <p:attrNameLst>
                                          <p:attrName>ppt_x</p:attrName>
                                          <p:attrName>ppt_y</p:attrName>
                                        </p:attrNameLst>
                                      </p:cBhvr>
                                    </p:animMotion>
                                  </p:childTnLst>
                                </p:cTn>
                              </p:par>
                            </p:childTnLst>
                          </p:cTn>
                        </p:par>
                      </p:childTnLst>
                    </p:cTn>
                  </p:par>
                  <p:par>
                    <p:cTn id="49" fill="hold">
                      <p:stCondLst>
                        <p:cond delay="indefinite"/>
                      </p:stCondLst>
                      <p:childTnLst>
                        <p:par>
                          <p:cTn id="50" fill="hold">
                            <p:stCondLst>
                              <p:cond delay="0"/>
                            </p:stCondLst>
                            <p:childTnLst>
                              <p:par>
                                <p:cTn id="51" presetID="10" presetClass="entr" presetSubtype="0" accel="0" decel="100000" fill="hold" grpId="0" nodeType="clickEffect">
                                  <p:stCondLst>
                                    <p:cond delay="0"/>
                                  </p:stCondLst>
                                  <p:childTnLst>
                                    <p:set>
                                      <p:cBhvr>
                                        <p:cTn id="52" dur="1" fill="hold">
                                          <p:stCondLst>
                                            <p:cond delay="0"/>
                                          </p:stCondLst>
                                        </p:cTn>
                                        <p:tgtEl>
                                          <p:spTgt spid="3"/>
                                        </p:tgtEl>
                                        <p:attrNameLst>
                                          <p:attrName>style.visibility</p:attrName>
                                        </p:attrNameLst>
                                      </p:cBhvr>
                                      <p:to>
                                        <p:strVal val="visible"/>
                                      </p:to>
                                    </p:set>
                                    <p:animEffect transition="in" filter="fade">
                                      <p:cBhvr>
                                        <p:cTn id="53" dur="500"/>
                                        <p:tgtEl>
                                          <p:spTgt spid="3"/>
                                        </p:tgtEl>
                                      </p:cBhvr>
                                    </p:animEffect>
                                  </p:childTnLst>
                                </p:cTn>
                              </p:par>
                              <p:par>
                                <p:cTn id="54" presetID="0" presetClass="path" presetSubtype="0" accel="0" decel="100000" fill="hold" grpId="1" nodeType="withEffect">
                                  <p:stCondLst>
                                    <p:cond delay="0"/>
                                  </p:stCondLst>
                                  <p:childTnLst>
                                    <p:animMotion origin="layout" path="M 0 0.02778 L 0 0 E" pathEditMode="relative" rAng="0" ptsTypes="AA">
                                      <p:cBhvr>
                                        <p:cTn id="55" dur="500" fill="hold"/>
                                        <p:tgtEl>
                                          <p:spTgt spid="3"/>
                                        </p:tgtEl>
                                        <p:attrNameLst>
                                          <p:attrName>ppt_x</p:attrName>
                                          <p:attrName>ppt_y</p:attrName>
                                        </p:attrNameLst>
                                      </p:cBhvr>
                                    </p:animMotion>
                                  </p:childTnLst>
                                </p:cTn>
                              </p:par>
                            </p:childTnLst>
                          </p:cTn>
                        </p:par>
                        <p:par>
                          <p:cTn id="56" fill="hold">
                            <p:stCondLst>
                              <p:cond delay="500"/>
                            </p:stCondLst>
                            <p:childTnLst>
                              <p:par>
                                <p:cTn id="47" presetID="1" presetClass="mediacall" presetSubtype="0" fill="hold" nodeType="afterEffect">
                                  <p:stCondLst>
                                    <p:cond delay="0"/>
                                  </p:stCondLst>
                                  <p:childTnLst>
                                    <p:cmd type="call" cmd="playFrom(0.0)">
                                      <p:cBhvr>
                                        <p:cTn id="48" dur="30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57" fill="hold" display="0">
                  <p:stCondLst>
                    <p:cond delay="indefinite"/>
                  </p:stCondLst>
                </p:cTn>
                <p:tgtEl>
                  <p:spTgt spid="3"/>
                </p:tgtEl>
              </p:cMediaNode>
            </p:video>
          </p:childTnLst>
        </p:cTn>
      </p:par>
    </p:tnLst>
    <p:bldLst>
      <p:bldP spid="2" grpId="0" animBg="1"/>
      <p:bldP spid="2" grpId="1" animBg="1"/>
      <p:bldP spid="3" grpId="0" animBg="1"/>
      <p:bldP spid="3" grpId="1" animBg="1"/>
      <p:bldP spid="6" grpId="0" animBg="1"/>
      <p:bldP spid="6" grpId="1" animBg="1"/>
      <p:bldP spid="7" grpId="0" animBg="1"/>
      <p:bldP spid="7" grpId="1" animBg="1"/>
      <p:bldP spid="8" grpId="0" animBg="1"/>
      <p:bldP spid="8" grpId="1" animBg="1"/>
      <p:bldP spid="9" grpId="0" animBg="1"/>
      <p:bldP spid="9" grpId="1" animBg="1"/>
      <p:bldP spid="10" grpId="0" animBg="1"/>
      <p:bldP spid="10" grpId="1" animBg="1"/>
      <p:bldP spid="11" grpId="0" animBg="1"/>
      <p:bldP spid="11" grpId="1" animBg="1"/>
      <p:bldP spid="3" grpId="0" animBg="1"/>
      <p:bldP spid="3" grpId="1"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04  ·  SPOT 2D</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Un spot animé en motion design</a:t>
            </a:r>
            <a:endParaRPr lang="en-US" sz="3000" dirty="0"/>
          </a:p>
        </p:txBody>
      </p:sp>
      <p:pic>
        <p:nvPicPr>
          <p:cNvPr id="3" name="V2_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85800" y="1920240"/>
            <a:ext cx="6949440" cy="3909060"/>
          </a:xfrm>
          <a:prstGeom prst="rect">
            <a:avLst/>
          </a:prstGeom>
        </p:spPr>
      </p:pic>
      <p:sp>
        <p:nvSpPr>
          <p:cNvPr id="6" name="C1_l0"/>
          <p:cNvSpPr txBox="1"/>
          <p:nvPr/>
        </p:nvSpPr>
        <p:spPr>
          <a:xfrm>
            <a:off x="8229600" y="2011680"/>
            <a:ext cx="3291840" cy="292608"/>
          </a:xfrm>
          <a:prstGeom prst="rect">
            <a:avLst/>
          </a:prstGeom>
          <a:noFill/>
          <a:ln/>
        </p:spPr>
        <p:txBody>
          <a:bodyPr wrap="square" lIns="0" tIns="0" rIns="0" bIns="0" rtlCol="0" anchor="t"/>
          <a:lstStyle/>
          <a:p>
            <a:pPr indent="0" marL="0">
              <a:buNone/>
            </a:pPr>
            <a:r>
              <a:rPr lang="en-US" sz="1100" b="1" spc="200" kern="0" dirty="0">
                <a:solidFill>
                  <a:schemeClr val="accent1"/>
                </a:solidFill>
              </a:rPr>
              <a:t>TYPE</a:t>
            </a:r>
            <a:endParaRPr lang="en-US" sz="1100" dirty="0"/>
          </a:p>
        </p:txBody>
      </p:sp>
      <p:sp>
        <p:nvSpPr>
          <p:cNvPr id="7" name="C1_v0"/>
          <p:cNvSpPr txBox="1"/>
          <p:nvPr/>
        </p:nvSpPr>
        <p:spPr>
          <a:xfrm>
            <a:off x="8229600" y="2322576"/>
            <a:ext cx="3291840" cy="548640"/>
          </a:xfrm>
          <a:prstGeom prst="rect">
            <a:avLst/>
          </a:prstGeom>
          <a:noFill/>
          <a:ln/>
        </p:spPr>
        <p:txBody>
          <a:bodyPr wrap="square" lIns="0" tIns="0" rIns="0" bIns="0" rtlCol="0" anchor="t"/>
          <a:lstStyle/>
          <a:p>
            <a:pPr indent="0" marL="0">
              <a:buNone/>
            </a:pPr>
            <a:r>
              <a:rPr lang="en-US" sz="1700" dirty="0">
                <a:solidFill>
                  <a:schemeClr val="tx1"/>
                </a:solidFill>
              </a:rPr>
              <a:t>Animation 2D</a:t>
            </a:r>
            <a:endParaRPr lang="en-US" sz="1700" dirty="0"/>
          </a:p>
        </p:txBody>
      </p:sp>
      <p:sp>
        <p:nvSpPr>
          <p:cNvPr id="8" name="C1_l1"/>
          <p:cNvSpPr txBox="1"/>
          <p:nvPr/>
        </p:nvSpPr>
        <p:spPr>
          <a:xfrm>
            <a:off x="8229600" y="2999232"/>
            <a:ext cx="3291840" cy="292608"/>
          </a:xfrm>
          <a:prstGeom prst="rect">
            <a:avLst/>
          </a:prstGeom>
          <a:noFill/>
          <a:ln/>
        </p:spPr>
        <p:txBody>
          <a:bodyPr wrap="square" lIns="0" tIns="0" rIns="0" bIns="0" rtlCol="0" anchor="t"/>
          <a:lstStyle/>
          <a:p>
            <a:pPr indent="0" marL="0">
              <a:buNone/>
            </a:pPr>
            <a:r>
              <a:rPr lang="en-US" sz="1100" b="1" spc="200" kern="0" dirty="0">
                <a:solidFill>
                  <a:schemeClr val="accent1"/>
                </a:solidFill>
              </a:rPr>
              <a:t>FORMAT</a:t>
            </a:r>
            <a:endParaRPr lang="en-US" sz="1100" dirty="0"/>
          </a:p>
        </p:txBody>
      </p:sp>
      <p:sp>
        <p:nvSpPr>
          <p:cNvPr id="9" name="C1_v1"/>
          <p:cNvSpPr txBox="1"/>
          <p:nvPr/>
        </p:nvSpPr>
        <p:spPr>
          <a:xfrm>
            <a:off x="8229600" y="3310128"/>
            <a:ext cx="3291840" cy="548640"/>
          </a:xfrm>
          <a:prstGeom prst="rect">
            <a:avLst/>
          </a:prstGeom>
          <a:noFill/>
          <a:ln/>
        </p:spPr>
        <p:txBody>
          <a:bodyPr wrap="square" lIns="0" tIns="0" rIns="0" bIns="0" rtlCol="0" anchor="t"/>
          <a:lstStyle/>
          <a:p>
            <a:pPr indent="0" marL="0">
              <a:buNone/>
            </a:pPr>
            <a:r>
              <a:rPr lang="en-US" sz="1700" dirty="0">
                <a:solidFill>
                  <a:schemeClr val="tx1"/>
                </a:solidFill>
              </a:rPr>
              <a:t>1920 × 1080 pixels</a:t>
            </a:r>
            <a:endParaRPr lang="en-US" sz="1700" dirty="0"/>
          </a:p>
        </p:txBody>
      </p:sp>
      <p:sp>
        <p:nvSpPr>
          <p:cNvPr id="10" name="C1_l2"/>
          <p:cNvSpPr txBox="1"/>
          <p:nvPr/>
        </p:nvSpPr>
        <p:spPr>
          <a:xfrm>
            <a:off x="8229600" y="3986784"/>
            <a:ext cx="3291840" cy="292608"/>
          </a:xfrm>
          <a:prstGeom prst="rect">
            <a:avLst/>
          </a:prstGeom>
          <a:noFill/>
          <a:ln/>
        </p:spPr>
        <p:txBody>
          <a:bodyPr wrap="square" lIns="0" tIns="0" rIns="0" bIns="0" rtlCol="0" anchor="t"/>
          <a:lstStyle/>
          <a:p>
            <a:pPr indent="0" marL="0">
              <a:buNone/>
            </a:pPr>
            <a:r>
              <a:rPr lang="en-US" sz="1100" b="1" spc="200" kern="0" dirty="0">
                <a:solidFill>
                  <a:schemeClr val="accent1"/>
                </a:solidFill>
              </a:rPr>
              <a:t>RÉALISATION ET MONTAGE</a:t>
            </a:r>
            <a:endParaRPr lang="en-US" sz="1100" dirty="0"/>
          </a:p>
        </p:txBody>
      </p:sp>
      <p:sp>
        <p:nvSpPr>
          <p:cNvPr id="11" name="C1_v2"/>
          <p:cNvSpPr txBox="1"/>
          <p:nvPr/>
        </p:nvSpPr>
        <p:spPr>
          <a:xfrm>
            <a:off x="8229600" y="4297680"/>
            <a:ext cx="3291840" cy="548640"/>
          </a:xfrm>
          <a:prstGeom prst="rect">
            <a:avLst/>
          </a:prstGeom>
          <a:noFill/>
          <a:ln/>
        </p:spPr>
        <p:txBody>
          <a:bodyPr wrap="square" lIns="0" tIns="0" rIns="0" bIns="0" rtlCol="0" anchor="t"/>
          <a:lstStyle/>
          <a:p>
            <a:pPr indent="0" marL="0">
              <a:buNone/>
            </a:pPr>
            <a:r>
              <a:rPr lang="en-US" sz="1700" dirty="0">
                <a:solidFill>
                  <a:schemeClr val="tx1"/>
                </a:solidFill>
              </a:rPr>
              <a:t>CAMARA BINTOU</a:t>
            </a:r>
            <a:endParaRPr lang="en-US" sz="17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6"/>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7"/>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8"/>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9"/>
                                        </p:tgtEl>
                                        <p:attrNameLst>
                                          <p:attrName>ppt_x</p:attrName>
                                          <p:attrName>ppt_y</p:attrName>
                                        </p:attrNameLst>
                                      </p:cBhvr>
                                    </p:animMotion>
                                  </p:childTnLst>
                                </p:cTn>
                              </p:par>
                              <p:par>
                                <p:cTn id="37" presetID="10" presetClass="entr" presetSubtype="0" accel="0" decel="10000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par>
                                <p:cTn id="40" presetID="0" presetClass="path" presetSubtype="0" accel="0" decel="100000" fill="hold" grpId="1" nodeType="withEffect">
                                  <p:stCondLst>
                                    <p:cond delay="0"/>
                                  </p:stCondLst>
                                  <p:childTnLst>
                                    <p:animMotion origin="layout" path="M 0 0.02778 L 0 0 E" pathEditMode="relative" rAng="0" ptsTypes="AA">
                                      <p:cBhvr>
                                        <p:cTn id="41" dur="500" fill="hold"/>
                                        <p:tgtEl>
                                          <p:spTgt spid="10"/>
                                        </p:tgtEl>
                                        <p:attrNameLst>
                                          <p:attrName>ppt_x</p:attrName>
                                          <p:attrName>ppt_y</p:attrName>
                                        </p:attrNameLst>
                                      </p:cBhvr>
                                    </p:animMotion>
                                  </p:childTnLst>
                                </p:cTn>
                              </p:par>
                              <p:par>
                                <p:cTn id="42" presetID="10" presetClass="entr" presetSubtype="0" accel="0" decel="100000"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500"/>
                                        <p:tgtEl>
                                          <p:spTgt spid="11"/>
                                        </p:tgtEl>
                                      </p:cBhvr>
                                    </p:animEffect>
                                  </p:childTnLst>
                                </p:cTn>
                              </p:par>
                              <p:par>
                                <p:cTn id="45" presetID="0" presetClass="path" presetSubtype="0" accel="0" decel="100000" fill="hold" grpId="1" nodeType="withEffect">
                                  <p:stCondLst>
                                    <p:cond delay="0"/>
                                  </p:stCondLst>
                                  <p:childTnLst>
                                    <p:animMotion origin="layout" path="M 0 0.02778 L 0 0 E" pathEditMode="relative" rAng="0" ptsTypes="AA">
                                      <p:cBhvr>
                                        <p:cTn id="46" dur="500" fill="hold"/>
                                        <p:tgtEl>
                                          <p:spTgt spid="11"/>
                                        </p:tgtEl>
                                        <p:attrNameLst>
                                          <p:attrName>ppt_x</p:attrName>
                                          <p:attrName>ppt_y</p:attrName>
                                        </p:attrNameLst>
                                      </p:cBhvr>
                                    </p:animMotion>
                                  </p:childTnLst>
                                </p:cTn>
                              </p:par>
                            </p:childTnLst>
                          </p:cTn>
                        </p:par>
                      </p:childTnLst>
                    </p:cTn>
                  </p:par>
                  <p:par>
                    <p:cTn id="49" fill="hold">
                      <p:stCondLst>
                        <p:cond delay="indefinite"/>
                      </p:stCondLst>
                      <p:childTnLst>
                        <p:par>
                          <p:cTn id="50" fill="hold">
                            <p:stCondLst>
                              <p:cond delay="0"/>
                            </p:stCondLst>
                            <p:childTnLst>
                              <p:par>
                                <p:cTn id="51" presetID="10" presetClass="entr" presetSubtype="0" accel="0" decel="100000" fill="hold" grpId="0" nodeType="clickEffect">
                                  <p:stCondLst>
                                    <p:cond delay="0"/>
                                  </p:stCondLst>
                                  <p:childTnLst>
                                    <p:set>
                                      <p:cBhvr>
                                        <p:cTn id="52" dur="1" fill="hold">
                                          <p:stCondLst>
                                            <p:cond delay="0"/>
                                          </p:stCondLst>
                                        </p:cTn>
                                        <p:tgtEl>
                                          <p:spTgt spid="3"/>
                                        </p:tgtEl>
                                        <p:attrNameLst>
                                          <p:attrName>style.visibility</p:attrName>
                                        </p:attrNameLst>
                                      </p:cBhvr>
                                      <p:to>
                                        <p:strVal val="visible"/>
                                      </p:to>
                                    </p:set>
                                    <p:animEffect transition="in" filter="fade">
                                      <p:cBhvr>
                                        <p:cTn id="53" dur="500"/>
                                        <p:tgtEl>
                                          <p:spTgt spid="3"/>
                                        </p:tgtEl>
                                      </p:cBhvr>
                                    </p:animEffect>
                                  </p:childTnLst>
                                </p:cTn>
                              </p:par>
                              <p:par>
                                <p:cTn id="54" presetID="0" presetClass="path" presetSubtype="0" accel="0" decel="100000" fill="hold" grpId="1" nodeType="withEffect">
                                  <p:stCondLst>
                                    <p:cond delay="0"/>
                                  </p:stCondLst>
                                  <p:childTnLst>
                                    <p:animMotion origin="layout" path="M 0 0.02778 L 0 0 E" pathEditMode="relative" rAng="0" ptsTypes="AA">
                                      <p:cBhvr>
                                        <p:cTn id="55" dur="500" fill="hold"/>
                                        <p:tgtEl>
                                          <p:spTgt spid="3"/>
                                        </p:tgtEl>
                                        <p:attrNameLst>
                                          <p:attrName>ppt_x</p:attrName>
                                          <p:attrName>ppt_y</p:attrName>
                                        </p:attrNameLst>
                                      </p:cBhvr>
                                    </p:animMotion>
                                  </p:childTnLst>
                                </p:cTn>
                              </p:par>
                            </p:childTnLst>
                          </p:cTn>
                        </p:par>
                        <p:par>
                          <p:cTn id="56" fill="hold">
                            <p:stCondLst>
                              <p:cond delay="500"/>
                            </p:stCondLst>
                            <p:childTnLst>
                              <p:par>
                                <p:cTn id="47" presetID="1" presetClass="mediacall" presetSubtype="0" fill="hold" nodeType="afterEffect">
                                  <p:stCondLst>
                                    <p:cond delay="0"/>
                                  </p:stCondLst>
                                  <p:childTnLst>
                                    <p:cmd type="call" cmd="playFrom(0.0)">
                                      <p:cBhvr>
                                        <p:cTn id="48" dur="30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57" fill="hold" display="0">
                  <p:stCondLst>
                    <p:cond delay="indefinite"/>
                  </p:stCondLst>
                </p:cTn>
                <p:tgtEl>
                  <p:spTgt spid="3"/>
                </p:tgtEl>
              </p:cMediaNode>
            </p:video>
          </p:childTnLst>
        </p:cTn>
      </p:par>
    </p:tnLst>
    <p:bldLst>
      <p:bldP spid="2" grpId="0" animBg="1"/>
      <p:bldP spid="2" grpId="1" animBg="1"/>
      <p:bldP spid="3" grpId="0" animBg="1"/>
      <p:bldP spid="3" grpId="1" animBg="1"/>
      <p:bldP spid="6" grpId="0" animBg="1"/>
      <p:bldP spid="6" grpId="1" animBg="1"/>
      <p:bldP spid="7" grpId="0" animBg="1"/>
      <p:bldP spid="7" grpId="1" animBg="1"/>
      <p:bldP spid="8" grpId="0" animBg="1"/>
      <p:bldP spid="8" grpId="1" animBg="1"/>
      <p:bldP spid="9" grpId="0" animBg="1"/>
      <p:bldP spid="9" grpId="1" animBg="1"/>
      <p:bldP spid="10" grpId="0" animBg="1"/>
      <p:bldP spid="10" grpId="1" animBg="1"/>
      <p:bldP spid="11" grpId="0" animBg="1"/>
      <p:bldP spid="11" grpId="1" animBg="1"/>
      <p:bldP spid="3" grpId="0" animBg="1"/>
      <p:bldP spid="3" grpId="1"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04  ·  SPOT 3D</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Les locaux modélisés en 3D</a:t>
            </a:r>
            <a:endParaRPr lang="en-US" sz="3000" dirty="0"/>
          </a:p>
        </p:txBody>
      </p:sp>
      <p:pic>
        <p:nvPicPr>
          <p:cNvPr id="5" name="C1_img" descr="Modélisation 3D du bâtiment American's Gym">    </p:cNvPr>
          <p:cNvPicPr>
            <a:picLocks noChangeAspect="1"/>
          </p:cNvPicPr>
          <p:nvPr/>
        </p:nvPicPr>
        <p:blipFill>
          <a:blip r:embed="rId1"/>
          <a:stretch>
            <a:fillRect/>
          </a:stretch>
        </p:blipFill>
        <p:spPr>
          <a:xfrm>
            <a:off x="685800" y="1880785"/>
            <a:ext cx="6949440" cy="3873669"/>
          </a:xfrm>
          <a:prstGeom prst="rect">
            <a:avLst/>
          </a:prstGeom>
          <a:effectLst>
            <a:outerShdw sx="100000" sy="100000" kx="0" ky="0" algn="bl" rotWithShape="0" blurRad="177800" dist="50800" dir="5400000">
              <a:srgbClr val="1D3557">
                <a:alpha val="16000"/>
              </a:srgbClr>
            </a:outerShdw>
          </a:effectLst>
        </p:spPr>
      </p:pic>
      <p:sp>
        <p:nvSpPr>
          <p:cNvPr id="6" name="C1_cap"/>
          <p:cNvSpPr txBox="1"/>
          <p:nvPr/>
        </p:nvSpPr>
        <p:spPr>
          <a:xfrm>
            <a:off x="685800" y="5864183"/>
            <a:ext cx="6949440" cy="274320"/>
          </a:xfrm>
          <a:prstGeom prst="rect">
            <a:avLst/>
          </a:prstGeom>
          <a:noFill/>
          <a:ln/>
        </p:spPr>
        <p:txBody>
          <a:bodyPr wrap="square" lIns="0" tIns="0" rIns="0" bIns="0" rtlCol="0" anchor="t"/>
          <a:lstStyle/>
          <a:p>
            <a:pPr algn="l" indent="0" marL="0">
              <a:buNone/>
            </a:pPr>
            <a:r>
              <a:rPr lang="en-US" sz="1100" dirty="0">
                <a:solidFill>
                  <a:schemeClr val="accent4"/>
                </a:solidFill>
              </a:rPr>
              <a:t>Modélisation du bâtiment d’American’s Gym</a:t>
            </a:r>
            <a:endParaRPr lang="en-US" sz="1100" dirty="0"/>
          </a:p>
        </p:txBody>
      </p:sp>
      <p:sp>
        <p:nvSpPr>
          <p:cNvPr id="7" name="C2_l0"/>
          <p:cNvSpPr txBox="1"/>
          <p:nvPr/>
        </p:nvSpPr>
        <p:spPr>
          <a:xfrm>
            <a:off x="8229600" y="2011680"/>
            <a:ext cx="3291840" cy="292608"/>
          </a:xfrm>
          <a:prstGeom prst="rect">
            <a:avLst/>
          </a:prstGeom>
          <a:noFill/>
          <a:ln/>
        </p:spPr>
        <p:txBody>
          <a:bodyPr wrap="square" lIns="0" tIns="0" rIns="0" bIns="0" rtlCol="0" anchor="t"/>
          <a:lstStyle/>
          <a:p>
            <a:pPr indent="0" marL="0">
              <a:buNone/>
            </a:pPr>
            <a:r>
              <a:rPr lang="en-US" sz="1100" b="1" spc="200" kern="0" dirty="0">
                <a:solidFill>
                  <a:schemeClr val="accent1"/>
                </a:solidFill>
              </a:rPr>
              <a:t>DURÉE</a:t>
            </a:r>
            <a:endParaRPr lang="en-US" sz="1100" dirty="0"/>
          </a:p>
        </p:txBody>
      </p:sp>
      <p:sp>
        <p:nvSpPr>
          <p:cNvPr id="8" name="C2_v0"/>
          <p:cNvSpPr txBox="1"/>
          <p:nvPr/>
        </p:nvSpPr>
        <p:spPr>
          <a:xfrm>
            <a:off x="8229600" y="2322576"/>
            <a:ext cx="3291840" cy="548640"/>
          </a:xfrm>
          <a:prstGeom prst="rect">
            <a:avLst/>
          </a:prstGeom>
          <a:noFill/>
          <a:ln/>
        </p:spPr>
        <p:txBody>
          <a:bodyPr wrap="square" lIns="0" tIns="0" rIns="0" bIns="0" rtlCol="0" anchor="t"/>
          <a:lstStyle/>
          <a:p>
            <a:pPr indent="0" marL="0">
              <a:buNone/>
            </a:pPr>
            <a:r>
              <a:rPr lang="en-US" sz="1700" dirty="0">
                <a:solidFill>
                  <a:schemeClr val="tx1"/>
                </a:solidFill>
              </a:rPr>
              <a:t>30 secondes</a:t>
            </a:r>
            <a:endParaRPr lang="en-US" sz="1700" dirty="0"/>
          </a:p>
        </p:txBody>
      </p:sp>
      <p:sp>
        <p:nvSpPr>
          <p:cNvPr id="9" name="C2_l1"/>
          <p:cNvSpPr txBox="1"/>
          <p:nvPr/>
        </p:nvSpPr>
        <p:spPr>
          <a:xfrm>
            <a:off x="8229600" y="2999232"/>
            <a:ext cx="3291840" cy="292608"/>
          </a:xfrm>
          <a:prstGeom prst="rect">
            <a:avLst/>
          </a:prstGeom>
          <a:noFill/>
          <a:ln/>
        </p:spPr>
        <p:txBody>
          <a:bodyPr wrap="square" lIns="0" tIns="0" rIns="0" bIns="0" rtlCol="0" anchor="t"/>
          <a:lstStyle/>
          <a:p>
            <a:pPr indent="0" marL="0">
              <a:buNone/>
            </a:pPr>
            <a:r>
              <a:rPr lang="en-US" sz="1100" b="1" spc="200" kern="0" dirty="0">
                <a:solidFill>
                  <a:schemeClr val="accent1"/>
                </a:solidFill>
              </a:rPr>
              <a:t>OUTILS</a:t>
            </a:r>
            <a:endParaRPr lang="en-US" sz="1100" dirty="0"/>
          </a:p>
        </p:txBody>
      </p:sp>
      <p:sp>
        <p:nvSpPr>
          <p:cNvPr id="10" name="C2_v1"/>
          <p:cNvSpPr txBox="1"/>
          <p:nvPr/>
        </p:nvSpPr>
        <p:spPr>
          <a:xfrm>
            <a:off x="8229600" y="3310128"/>
            <a:ext cx="3291840" cy="548640"/>
          </a:xfrm>
          <a:prstGeom prst="rect">
            <a:avLst/>
          </a:prstGeom>
          <a:noFill/>
          <a:ln/>
        </p:spPr>
        <p:txBody>
          <a:bodyPr wrap="square" lIns="0" tIns="0" rIns="0" bIns="0" rtlCol="0" anchor="t"/>
          <a:lstStyle/>
          <a:p>
            <a:pPr indent="0" marL="0">
              <a:buNone/>
            </a:pPr>
            <a:r>
              <a:rPr lang="en-US" sz="1700" dirty="0">
                <a:solidFill>
                  <a:schemeClr val="tx1"/>
                </a:solidFill>
              </a:rPr>
              <a:t>Blender, Premiere Pro, Twinmotion</a:t>
            </a:r>
            <a:endParaRPr lang="en-US" sz="17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10" presetClass="entr" presetSubtype="0" accel="0" decel="10000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par>
                                <p:cTn id="32" presetID="0" presetClass="path" presetSubtype="0" accel="0" decel="100000" fill="hold" grpId="1" nodeType="withEffect">
                                  <p:stCondLst>
                                    <p:cond delay="0"/>
                                  </p:stCondLst>
                                  <p:childTnLst>
                                    <p:animMotion origin="layout" path="M 0 0.02778 L 0 0 E" pathEditMode="relative" rAng="0" ptsTypes="AA">
                                      <p:cBhvr>
                                        <p:cTn id="33" dur="500" fill="hold"/>
                                        <p:tgtEl>
                                          <p:spTgt spid="7"/>
                                        </p:tgtEl>
                                        <p:attrNameLst>
                                          <p:attrName>ppt_x</p:attrName>
                                          <p:attrName>ppt_y</p:attrName>
                                        </p:attrNameLst>
                                      </p:cBhvr>
                                    </p:animMotion>
                                  </p:childTnLst>
                                </p:cTn>
                              </p:par>
                              <p:par>
                                <p:cTn id="34" presetID="10" presetClass="entr" presetSubtype="0" accel="0" decel="10000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par>
                                <p:cTn id="37" presetID="0" presetClass="path" presetSubtype="0" accel="0" decel="100000" fill="hold" grpId="1" nodeType="withEffect">
                                  <p:stCondLst>
                                    <p:cond delay="0"/>
                                  </p:stCondLst>
                                  <p:childTnLst>
                                    <p:animMotion origin="layout" path="M 0 0.02778 L 0 0 E" pathEditMode="relative" rAng="0" ptsTypes="AA">
                                      <p:cBhvr>
                                        <p:cTn id="38" dur="500" fill="hold"/>
                                        <p:tgtEl>
                                          <p:spTgt spid="8"/>
                                        </p:tgtEl>
                                        <p:attrNameLst>
                                          <p:attrName>ppt_x</p:attrName>
                                          <p:attrName>ppt_y</p:attrName>
                                        </p:attrNameLst>
                                      </p:cBhvr>
                                    </p:animMotion>
                                  </p:childTnLst>
                                </p:cTn>
                              </p:par>
                              <p:par>
                                <p:cTn id="39" presetID="10" presetClass="entr" presetSubtype="0" accel="0" decel="10000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p:tgtEl>
                                          <p:spTgt spid="9"/>
                                        </p:tgtEl>
                                      </p:cBhvr>
                                    </p:animEffect>
                                  </p:childTnLst>
                                </p:cTn>
                              </p:par>
                              <p:par>
                                <p:cTn id="42" presetID="0" presetClass="path" presetSubtype="0" accel="0" decel="100000" fill="hold" grpId="1" nodeType="withEffect">
                                  <p:stCondLst>
                                    <p:cond delay="0"/>
                                  </p:stCondLst>
                                  <p:childTnLst>
                                    <p:animMotion origin="layout" path="M 0 0.02778 L 0 0 E" pathEditMode="relative" rAng="0" ptsTypes="AA">
                                      <p:cBhvr>
                                        <p:cTn id="43" dur="500" fill="hold"/>
                                        <p:tgtEl>
                                          <p:spTgt spid="9"/>
                                        </p:tgtEl>
                                        <p:attrNameLst>
                                          <p:attrName>ppt_x</p:attrName>
                                          <p:attrName>ppt_y</p:attrName>
                                        </p:attrNameLst>
                                      </p:cBhvr>
                                    </p:animMotion>
                                  </p:childTnLst>
                                </p:cTn>
                              </p:par>
                              <p:par>
                                <p:cTn id="44" presetID="10" presetClass="entr" presetSubtype="0" accel="0" decel="10000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childTnLst>
                                </p:cTn>
                              </p:par>
                              <p:par>
                                <p:cTn id="47" presetID="0" presetClass="path" presetSubtype="0" accel="0" decel="100000" fill="hold" grpId="1" nodeType="withEffect">
                                  <p:stCondLst>
                                    <p:cond delay="0"/>
                                  </p:stCondLst>
                                  <p:childTnLst>
                                    <p:animMotion origin="layout" path="M 0 0.02778 L 0 0 E" pathEditMode="relative" rAng="0" ptsTypes="AA">
                                      <p:cBhvr>
                                        <p:cTn id="48" dur="500" fill="hold"/>
                                        <p:tgtEl>
                                          <p:spTgt spid="1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6" grpId="0" animBg="1"/>
      <p:bldP spid="6" grpId="1" animBg="1"/>
      <p:bldP spid="7" grpId="0" animBg="1"/>
      <p:bldP spid="7" grpId="1" animBg="1"/>
      <p:bldP spid="8" grpId="0" animBg="1"/>
      <p:bldP spid="8" grpId="1" animBg="1"/>
      <p:bldP spid="9" grpId="0" animBg="1"/>
      <p:bldP spid="9" grpId="1" animBg="1"/>
      <p:bldP spid="10" grpId="0" animBg="1"/>
      <p:bldP spid="10" grpId="1"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04  ·  SITE WEB</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Le site vitrine, cœur de l’écosystème numérique</a:t>
            </a:r>
            <a:endParaRPr lang="en-US" sz="3000" dirty="0"/>
          </a:p>
        </p:txBody>
      </p:sp>
      <p:sp>
        <p:nvSpPr>
          <p:cNvPr id="5" name="C1_root"/>
          <p:cNvSpPr/>
          <p:nvPr/>
        </p:nvSpPr>
        <p:spPr>
          <a:xfrm>
            <a:off x="4907128" y="2103120"/>
            <a:ext cx="2377440" cy="777240"/>
          </a:xfrm>
          <a:prstGeom prst="roundRect">
            <a:avLst>
              <a:gd name="adj" fmla="val 11765"/>
            </a:avLst>
          </a:prstGeom>
          <a:solidFill>
            <a:schemeClr val="tx1"/>
          </a:solidFill>
          <a:ln/>
        </p:spPr>
      </p:sp>
      <p:sp>
        <p:nvSpPr>
          <p:cNvPr id="6" name="C1_roott"/>
          <p:cNvSpPr txBox="1"/>
          <p:nvPr/>
        </p:nvSpPr>
        <p:spPr>
          <a:xfrm>
            <a:off x="4907128" y="2103120"/>
            <a:ext cx="2377440" cy="777240"/>
          </a:xfrm>
          <a:prstGeom prst="rect">
            <a:avLst/>
          </a:prstGeom>
          <a:noFill/>
          <a:ln/>
        </p:spPr>
        <p:txBody>
          <a:bodyPr wrap="square" lIns="0" tIns="0" rIns="0" bIns="0" rtlCol="0" anchor="ctr"/>
          <a:lstStyle/>
          <a:p>
            <a:pPr algn="ctr" indent="0" marL="0">
              <a:buNone/>
            </a:pPr>
            <a:r>
              <a:rPr lang="en-US" sz="1800" b="1" dirty="0">
                <a:solidFill>
                  <a:schemeClr val="bg1"/>
                </a:solidFill>
              </a:rPr>
              <a:t>Accueil</a:t>
            </a:r>
            <a:endParaRPr lang="en-US" sz="1800" dirty="0"/>
          </a:p>
        </p:txBody>
      </p:sp>
      <p:sp>
        <p:nvSpPr>
          <p:cNvPr id="7" name="C2_v"/>
          <p:cNvSpPr/>
          <p:nvPr/>
        </p:nvSpPr>
        <p:spPr>
          <a:xfrm>
            <a:off x="6095848" y="2880360"/>
            <a:ext cx="0" cy="502920"/>
          </a:xfrm>
          <a:prstGeom prst="line">
            <a:avLst/>
          </a:prstGeom>
          <a:noFill/>
          <a:ln w="25400">
            <a:solidFill>
              <a:srgbClr val="A8DADC"/>
            </a:solidFill>
            <a:prstDash val="solid"/>
          </a:ln>
        </p:spPr>
      </p:sp>
      <p:sp>
        <p:nvSpPr>
          <p:cNvPr id="8" name="C2_h"/>
          <p:cNvSpPr/>
          <p:nvPr/>
        </p:nvSpPr>
        <p:spPr>
          <a:xfrm>
            <a:off x="1676370" y="3383280"/>
            <a:ext cx="8838956" cy="0"/>
          </a:xfrm>
          <a:prstGeom prst="line">
            <a:avLst/>
          </a:prstGeom>
          <a:noFill/>
          <a:ln w="25400">
            <a:solidFill>
              <a:srgbClr val="A8DADC"/>
            </a:solidFill>
            <a:prstDash val="solid"/>
          </a:ln>
        </p:spPr>
      </p:sp>
      <p:sp>
        <p:nvSpPr>
          <p:cNvPr id="9" name="C2_l0"/>
          <p:cNvSpPr/>
          <p:nvPr/>
        </p:nvSpPr>
        <p:spPr>
          <a:xfrm>
            <a:off x="1676370" y="3383280"/>
            <a:ext cx="0" cy="457200"/>
          </a:xfrm>
          <a:prstGeom prst="line">
            <a:avLst/>
          </a:prstGeom>
          <a:noFill/>
          <a:ln w="25400">
            <a:solidFill>
              <a:srgbClr val="A8DADC"/>
            </a:solidFill>
            <a:prstDash val="solid"/>
          </a:ln>
        </p:spPr>
      </p:sp>
      <p:sp>
        <p:nvSpPr>
          <p:cNvPr id="10" name="C2_c0"/>
          <p:cNvSpPr/>
          <p:nvPr/>
        </p:nvSpPr>
        <p:spPr>
          <a:xfrm>
            <a:off x="685800" y="3840480"/>
            <a:ext cx="1981139" cy="1097280"/>
          </a:xfrm>
          <a:prstGeom prst="roundRect">
            <a:avLst>
              <a:gd name="adj" fmla="val 10000"/>
            </a:avLst>
          </a:prstGeom>
          <a:solidFill>
            <a:schemeClr val="bg2"/>
          </a:solidFill>
          <a:ln/>
        </p:spPr>
      </p:sp>
      <p:sp>
        <p:nvSpPr>
          <p:cNvPr id="11" name="C2_t0"/>
          <p:cNvSpPr txBox="1"/>
          <p:nvPr/>
        </p:nvSpPr>
        <p:spPr>
          <a:xfrm>
            <a:off x="777240" y="3840480"/>
            <a:ext cx="1798259" cy="1097280"/>
          </a:xfrm>
          <a:prstGeom prst="rect">
            <a:avLst/>
          </a:prstGeom>
          <a:noFill/>
          <a:ln/>
        </p:spPr>
        <p:txBody>
          <a:bodyPr wrap="square" lIns="0" tIns="0" rIns="0" bIns="0" rtlCol="0" anchor="ctr"/>
          <a:lstStyle/>
          <a:p>
            <a:pPr algn="ctr" indent="0" marL="0">
              <a:buNone/>
            </a:pPr>
            <a:r>
              <a:rPr lang="en-US" sz="1500" b="1" dirty="0">
                <a:solidFill>
                  <a:schemeClr val="tx1"/>
                </a:solidFill>
              </a:rPr>
              <a:t>À propos</a:t>
            </a:r>
            <a:endParaRPr lang="en-US" sz="1500" dirty="0"/>
          </a:p>
        </p:txBody>
      </p:sp>
      <p:sp>
        <p:nvSpPr>
          <p:cNvPr id="12" name="C2_l1"/>
          <p:cNvSpPr/>
          <p:nvPr/>
        </p:nvSpPr>
        <p:spPr>
          <a:xfrm>
            <a:off x="3886109" y="3383280"/>
            <a:ext cx="0" cy="457200"/>
          </a:xfrm>
          <a:prstGeom prst="line">
            <a:avLst/>
          </a:prstGeom>
          <a:noFill/>
          <a:ln w="25400">
            <a:solidFill>
              <a:srgbClr val="A8DADC"/>
            </a:solidFill>
            <a:prstDash val="solid"/>
          </a:ln>
        </p:spPr>
      </p:sp>
      <p:sp>
        <p:nvSpPr>
          <p:cNvPr id="13" name="C2_c1"/>
          <p:cNvSpPr/>
          <p:nvPr/>
        </p:nvSpPr>
        <p:spPr>
          <a:xfrm>
            <a:off x="2895539" y="3840480"/>
            <a:ext cx="1981139" cy="1097280"/>
          </a:xfrm>
          <a:prstGeom prst="roundRect">
            <a:avLst>
              <a:gd name="adj" fmla="val 10000"/>
            </a:avLst>
          </a:prstGeom>
          <a:solidFill>
            <a:schemeClr val="bg2"/>
          </a:solidFill>
          <a:ln/>
        </p:spPr>
      </p:sp>
      <p:sp>
        <p:nvSpPr>
          <p:cNvPr id="14" name="C2_t1"/>
          <p:cNvSpPr txBox="1"/>
          <p:nvPr/>
        </p:nvSpPr>
        <p:spPr>
          <a:xfrm>
            <a:off x="2986979" y="3840480"/>
            <a:ext cx="1798259" cy="1097280"/>
          </a:xfrm>
          <a:prstGeom prst="rect">
            <a:avLst/>
          </a:prstGeom>
          <a:noFill/>
          <a:ln/>
        </p:spPr>
        <p:txBody>
          <a:bodyPr wrap="square" lIns="0" tIns="0" rIns="0" bIns="0" rtlCol="0" anchor="ctr"/>
          <a:lstStyle/>
          <a:p>
            <a:pPr algn="ctr" indent="0" marL="0">
              <a:buNone/>
            </a:pPr>
            <a:r>
              <a:rPr lang="en-US" sz="1500" b="1" dirty="0">
                <a:solidFill>
                  <a:schemeClr val="tx1"/>
                </a:solidFill>
              </a:rPr>
              <a:t>Nos équipements</a:t>
            </a:r>
            <a:endParaRPr lang="en-US" sz="1500" dirty="0"/>
          </a:p>
        </p:txBody>
      </p:sp>
      <p:sp>
        <p:nvSpPr>
          <p:cNvPr id="15" name="C2_l2"/>
          <p:cNvSpPr/>
          <p:nvPr/>
        </p:nvSpPr>
        <p:spPr>
          <a:xfrm>
            <a:off x="6095848" y="3383280"/>
            <a:ext cx="0" cy="457200"/>
          </a:xfrm>
          <a:prstGeom prst="line">
            <a:avLst/>
          </a:prstGeom>
          <a:noFill/>
          <a:ln w="25400">
            <a:solidFill>
              <a:srgbClr val="A8DADC"/>
            </a:solidFill>
            <a:prstDash val="solid"/>
          </a:ln>
        </p:spPr>
      </p:sp>
      <p:sp>
        <p:nvSpPr>
          <p:cNvPr id="16" name="C2_c2"/>
          <p:cNvSpPr/>
          <p:nvPr/>
        </p:nvSpPr>
        <p:spPr>
          <a:xfrm>
            <a:off x="5105278" y="3840480"/>
            <a:ext cx="1981139" cy="1097280"/>
          </a:xfrm>
          <a:prstGeom prst="roundRect">
            <a:avLst>
              <a:gd name="adj" fmla="val 10000"/>
            </a:avLst>
          </a:prstGeom>
          <a:solidFill>
            <a:schemeClr val="bg2"/>
          </a:solidFill>
          <a:ln/>
        </p:spPr>
      </p:sp>
      <p:sp>
        <p:nvSpPr>
          <p:cNvPr id="17" name="C2_t2"/>
          <p:cNvSpPr txBox="1"/>
          <p:nvPr/>
        </p:nvSpPr>
        <p:spPr>
          <a:xfrm>
            <a:off x="5196718" y="3840480"/>
            <a:ext cx="1798259" cy="1097280"/>
          </a:xfrm>
          <a:prstGeom prst="rect">
            <a:avLst/>
          </a:prstGeom>
          <a:noFill/>
          <a:ln/>
        </p:spPr>
        <p:txBody>
          <a:bodyPr wrap="square" lIns="0" tIns="0" rIns="0" bIns="0" rtlCol="0" anchor="ctr"/>
          <a:lstStyle/>
          <a:p>
            <a:pPr algn="ctr" indent="0" marL="0">
              <a:buNone/>
            </a:pPr>
            <a:r>
              <a:rPr lang="en-US" sz="1500" b="1" dirty="0">
                <a:solidFill>
                  <a:schemeClr val="tx1"/>
                </a:solidFill>
              </a:rPr>
              <a:t>Boutique</a:t>
            </a:r>
            <a:endParaRPr lang="en-US" sz="1500" dirty="0"/>
          </a:p>
        </p:txBody>
      </p:sp>
      <p:sp>
        <p:nvSpPr>
          <p:cNvPr id="18" name="C2_l3"/>
          <p:cNvSpPr/>
          <p:nvPr/>
        </p:nvSpPr>
        <p:spPr>
          <a:xfrm>
            <a:off x="8305587" y="3383280"/>
            <a:ext cx="0" cy="457200"/>
          </a:xfrm>
          <a:prstGeom prst="line">
            <a:avLst/>
          </a:prstGeom>
          <a:noFill/>
          <a:ln w="25400">
            <a:solidFill>
              <a:srgbClr val="A8DADC"/>
            </a:solidFill>
            <a:prstDash val="solid"/>
          </a:ln>
        </p:spPr>
      </p:sp>
      <p:sp>
        <p:nvSpPr>
          <p:cNvPr id="19" name="C2_c3"/>
          <p:cNvSpPr/>
          <p:nvPr/>
        </p:nvSpPr>
        <p:spPr>
          <a:xfrm>
            <a:off x="7315017" y="3840480"/>
            <a:ext cx="1981139" cy="1097280"/>
          </a:xfrm>
          <a:prstGeom prst="roundRect">
            <a:avLst>
              <a:gd name="adj" fmla="val 10000"/>
            </a:avLst>
          </a:prstGeom>
          <a:solidFill>
            <a:schemeClr val="bg2"/>
          </a:solidFill>
          <a:ln/>
        </p:spPr>
      </p:sp>
      <p:sp>
        <p:nvSpPr>
          <p:cNvPr id="20" name="C2_t3"/>
          <p:cNvSpPr txBox="1"/>
          <p:nvPr/>
        </p:nvSpPr>
        <p:spPr>
          <a:xfrm>
            <a:off x="7406457" y="3840480"/>
            <a:ext cx="1798259" cy="1097280"/>
          </a:xfrm>
          <a:prstGeom prst="rect">
            <a:avLst/>
          </a:prstGeom>
          <a:noFill/>
          <a:ln/>
        </p:spPr>
        <p:txBody>
          <a:bodyPr wrap="square" lIns="0" tIns="0" rIns="0" bIns="0" rtlCol="0" anchor="ctr"/>
          <a:lstStyle/>
          <a:p>
            <a:pPr algn="ctr" indent="0" marL="0">
              <a:buNone/>
            </a:pPr>
            <a:r>
              <a:rPr lang="en-US" sz="1500" b="1" dirty="0">
                <a:solidFill>
                  <a:schemeClr val="tx1"/>
                </a:solidFill>
              </a:rPr>
              <a:t>Tarifs et abonnements</a:t>
            </a:r>
            <a:endParaRPr lang="en-US" sz="1500" dirty="0"/>
          </a:p>
        </p:txBody>
      </p:sp>
      <p:sp>
        <p:nvSpPr>
          <p:cNvPr id="21" name="C2_l4"/>
          <p:cNvSpPr/>
          <p:nvPr/>
        </p:nvSpPr>
        <p:spPr>
          <a:xfrm>
            <a:off x="10515326" y="3383280"/>
            <a:ext cx="0" cy="457200"/>
          </a:xfrm>
          <a:prstGeom prst="line">
            <a:avLst/>
          </a:prstGeom>
          <a:noFill/>
          <a:ln w="25400">
            <a:solidFill>
              <a:srgbClr val="A8DADC"/>
            </a:solidFill>
            <a:prstDash val="solid"/>
          </a:ln>
        </p:spPr>
      </p:sp>
      <p:sp>
        <p:nvSpPr>
          <p:cNvPr id="22" name="C2_c4"/>
          <p:cNvSpPr/>
          <p:nvPr/>
        </p:nvSpPr>
        <p:spPr>
          <a:xfrm>
            <a:off x="9524756" y="3840480"/>
            <a:ext cx="1981139" cy="1097280"/>
          </a:xfrm>
          <a:prstGeom prst="roundRect">
            <a:avLst>
              <a:gd name="adj" fmla="val 10000"/>
            </a:avLst>
          </a:prstGeom>
          <a:solidFill>
            <a:schemeClr val="bg2"/>
          </a:solidFill>
          <a:ln/>
        </p:spPr>
      </p:sp>
      <p:sp>
        <p:nvSpPr>
          <p:cNvPr id="23" name="C2_t4"/>
          <p:cNvSpPr txBox="1"/>
          <p:nvPr/>
        </p:nvSpPr>
        <p:spPr>
          <a:xfrm>
            <a:off x="9616196" y="3840480"/>
            <a:ext cx="1798259" cy="1097280"/>
          </a:xfrm>
          <a:prstGeom prst="rect">
            <a:avLst/>
          </a:prstGeom>
          <a:noFill/>
          <a:ln/>
        </p:spPr>
        <p:txBody>
          <a:bodyPr wrap="square" lIns="0" tIns="0" rIns="0" bIns="0" rtlCol="0" anchor="ctr"/>
          <a:lstStyle/>
          <a:p>
            <a:pPr algn="ctr" indent="0" marL="0">
              <a:buNone/>
            </a:pPr>
            <a:r>
              <a:rPr lang="en-US" sz="1500" b="1" dirty="0">
                <a:solidFill>
                  <a:schemeClr val="tx1"/>
                </a:solidFill>
              </a:rPr>
              <a:t>Contacts</a:t>
            </a:r>
            <a:endParaRPr lang="en-US" sz="15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10" presetClass="entr" presetSubtype="0" accel="0" decel="10000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par>
                                <p:cTn id="32" presetID="0" presetClass="path" presetSubtype="0" accel="0" decel="100000" fill="hold" grpId="1" nodeType="withEffect">
                                  <p:stCondLst>
                                    <p:cond delay="0"/>
                                  </p:stCondLst>
                                  <p:childTnLst>
                                    <p:animMotion origin="layout" path="M 0 0.02778 L 0 0 E" pathEditMode="relative" rAng="0" ptsTypes="AA">
                                      <p:cBhvr>
                                        <p:cTn id="33" dur="500" fill="hold"/>
                                        <p:tgtEl>
                                          <p:spTgt spid="7"/>
                                        </p:tgtEl>
                                        <p:attrNameLst>
                                          <p:attrName>ppt_x</p:attrName>
                                          <p:attrName>ppt_y</p:attrName>
                                        </p:attrNameLst>
                                      </p:cBhvr>
                                    </p:animMotion>
                                  </p:childTnLst>
                                </p:cTn>
                              </p:par>
                              <p:par>
                                <p:cTn id="34" presetID="10" presetClass="entr" presetSubtype="0" accel="0" decel="10000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par>
                                <p:cTn id="37" presetID="0" presetClass="path" presetSubtype="0" accel="0" decel="100000" fill="hold" grpId="1" nodeType="withEffect">
                                  <p:stCondLst>
                                    <p:cond delay="0"/>
                                  </p:stCondLst>
                                  <p:childTnLst>
                                    <p:animMotion origin="layout" path="M 0 0.02778 L 0 0 E" pathEditMode="relative" rAng="0" ptsTypes="AA">
                                      <p:cBhvr>
                                        <p:cTn id="38" dur="500" fill="hold"/>
                                        <p:tgtEl>
                                          <p:spTgt spid="8"/>
                                        </p:tgtEl>
                                        <p:attrNameLst>
                                          <p:attrName>ppt_x</p:attrName>
                                          <p:attrName>ppt_y</p:attrName>
                                        </p:attrNameLst>
                                      </p:cBhvr>
                                    </p:animMotion>
                                  </p:childTnLst>
                                </p:cTn>
                              </p:par>
                              <p:par>
                                <p:cTn id="39" presetID="10" presetClass="entr" presetSubtype="0" accel="0" decel="10000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p:tgtEl>
                                          <p:spTgt spid="9"/>
                                        </p:tgtEl>
                                      </p:cBhvr>
                                    </p:animEffect>
                                  </p:childTnLst>
                                </p:cTn>
                              </p:par>
                              <p:par>
                                <p:cTn id="42" presetID="0" presetClass="path" presetSubtype="0" accel="0" decel="100000" fill="hold" grpId="1" nodeType="withEffect">
                                  <p:stCondLst>
                                    <p:cond delay="0"/>
                                  </p:stCondLst>
                                  <p:childTnLst>
                                    <p:animMotion origin="layout" path="M 0 0.02778 L 0 0 E" pathEditMode="relative" rAng="0" ptsTypes="AA">
                                      <p:cBhvr>
                                        <p:cTn id="43" dur="500" fill="hold"/>
                                        <p:tgtEl>
                                          <p:spTgt spid="9"/>
                                        </p:tgtEl>
                                        <p:attrNameLst>
                                          <p:attrName>ppt_x</p:attrName>
                                          <p:attrName>ppt_y</p:attrName>
                                        </p:attrNameLst>
                                      </p:cBhvr>
                                    </p:animMotion>
                                  </p:childTnLst>
                                </p:cTn>
                              </p:par>
                              <p:par>
                                <p:cTn id="44" presetID="10" presetClass="entr" presetSubtype="0" accel="0" decel="10000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childTnLst>
                                </p:cTn>
                              </p:par>
                              <p:par>
                                <p:cTn id="47" presetID="0" presetClass="path" presetSubtype="0" accel="0" decel="100000" fill="hold" grpId="1" nodeType="withEffect">
                                  <p:stCondLst>
                                    <p:cond delay="0"/>
                                  </p:stCondLst>
                                  <p:childTnLst>
                                    <p:animMotion origin="layout" path="M 0 0.02778 L 0 0 E" pathEditMode="relative" rAng="0" ptsTypes="AA">
                                      <p:cBhvr>
                                        <p:cTn id="48" dur="500" fill="hold"/>
                                        <p:tgtEl>
                                          <p:spTgt spid="10"/>
                                        </p:tgtEl>
                                        <p:attrNameLst>
                                          <p:attrName>ppt_x</p:attrName>
                                          <p:attrName>ppt_y</p:attrName>
                                        </p:attrNameLst>
                                      </p:cBhvr>
                                    </p:animMotion>
                                  </p:childTnLst>
                                </p:cTn>
                              </p:par>
                              <p:par>
                                <p:cTn id="49" presetID="10" presetClass="entr" presetSubtype="0" accel="0" decel="10000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childTnLst>
                                </p:cTn>
                              </p:par>
                              <p:par>
                                <p:cTn id="52" presetID="0" presetClass="path" presetSubtype="0" accel="0" decel="100000" fill="hold" grpId="1" nodeType="withEffect">
                                  <p:stCondLst>
                                    <p:cond delay="0"/>
                                  </p:stCondLst>
                                  <p:childTnLst>
                                    <p:animMotion origin="layout" path="M 0 0.02778 L 0 0 E" pathEditMode="relative" rAng="0" ptsTypes="AA">
                                      <p:cBhvr>
                                        <p:cTn id="53" dur="500" fill="hold"/>
                                        <p:tgtEl>
                                          <p:spTgt spid="11"/>
                                        </p:tgtEl>
                                        <p:attrNameLst>
                                          <p:attrName>ppt_x</p:attrName>
                                          <p:attrName>ppt_y</p:attrName>
                                        </p:attrNameLst>
                                      </p:cBhvr>
                                    </p:animMotion>
                                  </p:childTnLst>
                                </p:cTn>
                              </p:par>
                              <p:par>
                                <p:cTn id="54" presetID="10" presetClass="entr" presetSubtype="0" accel="0" decel="10000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par>
                                <p:cTn id="57" presetID="0" presetClass="path" presetSubtype="0" accel="0" decel="100000" fill="hold" grpId="1" nodeType="withEffect">
                                  <p:stCondLst>
                                    <p:cond delay="0"/>
                                  </p:stCondLst>
                                  <p:childTnLst>
                                    <p:animMotion origin="layout" path="M 0 0.02778 L 0 0 E" pathEditMode="relative" rAng="0" ptsTypes="AA">
                                      <p:cBhvr>
                                        <p:cTn id="58" dur="500" fill="hold"/>
                                        <p:tgtEl>
                                          <p:spTgt spid="12"/>
                                        </p:tgtEl>
                                        <p:attrNameLst>
                                          <p:attrName>ppt_x</p:attrName>
                                          <p:attrName>ppt_y</p:attrName>
                                        </p:attrNameLst>
                                      </p:cBhvr>
                                    </p:animMotion>
                                  </p:childTnLst>
                                </p:cTn>
                              </p:par>
                              <p:par>
                                <p:cTn id="59" presetID="10" presetClass="entr" presetSubtype="0" accel="0" decel="10000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500"/>
                                        <p:tgtEl>
                                          <p:spTgt spid="13"/>
                                        </p:tgtEl>
                                      </p:cBhvr>
                                    </p:animEffect>
                                  </p:childTnLst>
                                </p:cTn>
                              </p:par>
                              <p:par>
                                <p:cTn id="62" presetID="0" presetClass="path" presetSubtype="0" accel="0" decel="100000" fill="hold" grpId="1" nodeType="withEffect">
                                  <p:stCondLst>
                                    <p:cond delay="0"/>
                                  </p:stCondLst>
                                  <p:childTnLst>
                                    <p:animMotion origin="layout" path="M 0 0.02778 L 0 0 E" pathEditMode="relative" rAng="0" ptsTypes="AA">
                                      <p:cBhvr>
                                        <p:cTn id="63" dur="500" fill="hold"/>
                                        <p:tgtEl>
                                          <p:spTgt spid="13"/>
                                        </p:tgtEl>
                                        <p:attrNameLst>
                                          <p:attrName>ppt_x</p:attrName>
                                          <p:attrName>ppt_y</p:attrName>
                                        </p:attrNameLst>
                                      </p:cBhvr>
                                    </p:animMotion>
                                  </p:childTnLst>
                                </p:cTn>
                              </p:par>
                              <p:par>
                                <p:cTn id="64" presetID="10" presetClass="entr" presetSubtype="0" accel="0" decel="10000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500"/>
                                        <p:tgtEl>
                                          <p:spTgt spid="14"/>
                                        </p:tgtEl>
                                      </p:cBhvr>
                                    </p:animEffect>
                                  </p:childTnLst>
                                </p:cTn>
                              </p:par>
                              <p:par>
                                <p:cTn id="67" presetID="0" presetClass="path" presetSubtype="0" accel="0" decel="100000" fill="hold" grpId="1" nodeType="withEffect">
                                  <p:stCondLst>
                                    <p:cond delay="0"/>
                                  </p:stCondLst>
                                  <p:childTnLst>
                                    <p:animMotion origin="layout" path="M 0 0.02778 L 0 0 E" pathEditMode="relative" rAng="0" ptsTypes="AA">
                                      <p:cBhvr>
                                        <p:cTn id="68" dur="500" fill="hold"/>
                                        <p:tgtEl>
                                          <p:spTgt spid="14"/>
                                        </p:tgtEl>
                                        <p:attrNameLst>
                                          <p:attrName>ppt_x</p:attrName>
                                          <p:attrName>ppt_y</p:attrName>
                                        </p:attrNameLst>
                                      </p:cBhvr>
                                    </p:animMotion>
                                  </p:childTnLst>
                                </p:cTn>
                              </p:par>
                              <p:par>
                                <p:cTn id="69" presetID="10" presetClass="entr" presetSubtype="0" accel="0" decel="10000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500"/>
                                        <p:tgtEl>
                                          <p:spTgt spid="15"/>
                                        </p:tgtEl>
                                      </p:cBhvr>
                                    </p:animEffect>
                                  </p:childTnLst>
                                </p:cTn>
                              </p:par>
                              <p:par>
                                <p:cTn id="72" presetID="0" presetClass="path" presetSubtype="0" accel="0" decel="100000" fill="hold" grpId="1" nodeType="withEffect">
                                  <p:stCondLst>
                                    <p:cond delay="0"/>
                                  </p:stCondLst>
                                  <p:childTnLst>
                                    <p:animMotion origin="layout" path="M 0 0.02778 L 0 0 E" pathEditMode="relative" rAng="0" ptsTypes="AA">
                                      <p:cBhvr>
                                        <p:cTn id="73" dur="500" fill="hold"/>
                                        <p:tgtEl>
                                          <p:spTgt spid="15"/>
                                        </p:tgtEl>
                                        <p:attrNameLst>
                                          <p:attrName>ppt_x</p:attrName>
                                          <p:attrName>ppt_y</p:attrName>
                                        </p:attrNameLst>
                                      </p:cBhvr>
                                    </p:animMotion>
                                  </p:childTnLst>
                                </p:cTn>
                              </p:par>
                              <p:par>
                                <p:cTn id="74" presetID="10" presetClass="entr" presetSubtype="0" accel="0" decel="10000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500"/>
                                        <p:tgtEl>
                                          <p:spTgt spid="16"/>
                                        </p:tgtEl>
                                      </p:cBhvr>
                                    </p:animEffect>
                                  </p:childTnLst>
                                </p:cTn>
                              </p:par>
                              <p:par>
                                <p:cTn id="77" presetID="0" presetClass="path" presetSubtype="0" accel="0" decel="100000" fill="hold" grpId="1" nodeType="withEffect">
                                  <p:stCondLst>
                                    <p:cond delay="0"/>
                                  </p:stCondLst>
                                  <p:childTnLst>
                                    <p:animMotion origin="layout" path="M 0 0.02778 L 0 0 E" pathEditMode="relative" rAng="0" ptsTypes="AA">
                                      <p:cBhvr>
                                        <p:cTn id="78" dur="500" fill="hold"/>
                                        <p:tgtEl>
                                          <p:spTgt spid="16"/>
                                        </p:tgtEl>
                                        <p:attrNameLst>
                                          <p:attrName>ppt_x</p:attrName>
                                          <p:attrName>ppt_y</p:attrName>
                                        </p:attrNameLst>
                                      </p:cBhvr>
                                    </p:animMotion>
                                  </p:childTnLst>
                                </p:cTn>
                              </p:par>
                              <p:par>
                                <p:cTn id="79" presetID="10" presetClass="entr" presetSubtype="0" accel="0" decel="10000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500"/>
                                        <p:tgtEl>
                                          <p:spTgt spid="17"/>
                                        </p:tgtEl>
                                      </p:cBhvr>
                                    </p:animEffect>
                                  </p:childTnLst>
                                </p:cTn>
                              </p:par>
                              <p:par>
                                <p:cTn id="82" presetID="0" presetClass="path" presetSubtype="0" accel="0" decel="100000" fill="hold" grpId="1" nodeType="withEffect">
                                  <p:stCondLst>
                                    <p:cond delay="0"/>
                                  </p:stCondLst>
                                  <p:childTnLst>
                                    <p:animMotion origin="layout" path="M 0 0.02778 L 0 0 E" pathEditMode="relative" rAng="0" ptsTypes="AA">
                                      <p:cBhvr>
                                        <p:cTn id="83" dur="500" fill="hold"/>
                                        <p:tgtEl>
                                          <p:spTgt spid="17"/>
                                        </p:tgtEl>
                                        <p:attrNameLst>
                                          <p:attrName>ppt_x</p:attrName>
                                          <p:attrName>ppt_y</p:attrName>
                                        </p:attrNameLst>
                                      </p:cBhvr>
                                    </p:animMotion>
                                  </p:childTnLst>
                                </p:cTn>
                              </p:par>
                              <p:par>
                                <p:cTn id="84" presetID="10" presetClass="entr" presetSubtype="0" accel="0" decel="10000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500"/>
                                        <p:tgtEl>
                                          <p:spTgt spid="18"/>
                                        </p:tgtEl>
                                      </p:cBhvr>
                                    </p:animEffect>
                                  </p:childTnLst>
                                </p:cTn>
                              </p:par>
                              <p:par>
                                <p:cTn id="87" presetID="0" presetClass="path" presetSubtype="0" accel="0" decel="100000" fill="hold" grpId="1" nodeType="withEffect">
                                  <p:stCondLst>
                                    <p:cond delay="0"/>
                                  </p:stCondLst>
                                  <p:childTnLst>
                                    <p:animMotion origin="layout" path="M 0 0.02778 L 0 0 E" pathEditMode="relative" rAng="0" ptsTypes="AA">
                                      <p:cBhvr>
                                        <p:cTn id="88" dur="500" fill="hold"/>
                                        <p:tgtEl>
                                          <p:spTgt spid="18"/>
                                        </p:tgtEl>
                                        <p:attrNameLst>
                                          <p:attrName>ppt_x</p:attrName>
                                          <p:attrName>ppt_y</p:attrName>
                                        </p:attrNameLst>
                                      </p:cBhvr>
                                    </p:animMotion>
                                  </p:childTnLst>
                                </p:cTn>
                              </p:par>
                              <p:par>
                                <p:cTn id="89" presetID="10" presetClass="entr" presetSubtype="0" accel="0" decel="10000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500"/>
                                        <p:tgtEl>
                                          <p:spTgt spid="19"/>
                                        </p:tgtEl>
                                      </p:cBhvr>
                                    </p:animEffect>
                                  </p:childTnLst>
                                </p:cTn>
                              </p:par>
                              <p:par>
                                <p:cTn id="92" presetID="0" presetClass="path" presetSubtype="0" accel="0" decel="100000" fill="hold" grpId="1" nodeType="withEffect">
                                  <p:stCondLst>
                                    <p:cond delay="0"/>
                                  </p:stCondLst>
                                  <p:childTnLst>
                                    <p:animMotion origin="layout" path="M 0 0.02778 L 0 0 E" pathEditMode="relative" rAng="0" ptsTypes="AA">
                                      <p:cBhvr>
                                        <p:cTn id="93" dur="500" fill="hold"/>
                                        <p:tgtEl>
                                          <p:spTgt spid="19"/>
                                        </p:tgtEl>
                                        <p:attrNameLst>
                                          <p:attrName>ppt_x</p:attrName>
                                          <p:attrName>ppt_y</p:attrName>
                                        </p:attrNameLst>
                                      </p:cBhvr>
                                    </p:animMotion>
                                  </p:childTnLst>
                                </p:cTn>
                              </p:par>
                              <p:par>
                                <p:cTn id="94" presetID="10" presetClass="entr" presetSubtype="0" accel="0" decel="10000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500"/>
                                        <p:tgtEl>
                                          <p:spTgt spid="20"/>
                                        </p:tgtEl>
                                      </p:cBhvr>
                                    </p:animEffect>
                                  </p:childTnLst>
                                </p:cTn>
                              </p:par>
                              <p:par>
                                <p:cTn id="97" presetID="0" presetClass="path" presetSubtype="0" accel="0" decel="100000" fill="hold" grpId="1" nodeType="withEffect">
                                  <p:stCondLst>
                                    <p:cond delay="0"/>
                                  </p:stCondLst>
                                  <p:childTnLst>
                                    <p:animMotion origin="layout" path="M 0 0.02778 L 0 0 E" pathEditMode="relative" rAng="0" ptsTypes="AA">
                                      <p:cBhvr>
                                        <p:cTn id="98" dur="500" fill="hold"/>
                                        <p:tgtEl>
                                          <p:spTgt spid="20"/>
                                        </p:tgtEl>
                                        <p:attrNameLst>
                                          <p:attrName>ppt_x</p:attrName>
                                          <p:attrName>ppt_y</p:attrName>
                                        </p:attrNameLst>
                                      </p:cBhvr>
                                    </p:animMotion>
                                  </p:childTnLst>
                                </p:cTn>
                              </p:par>
                              <p:par>
                                <p:cTn id="99" presetID="10" presetClass="entr" presetSubtype="0" accel="0" decel="10000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500"/>
                                        <p:tgtEl>
                                          <p:spTgt spid="21"/>
                                        </p:tgtEl>
                                      </p:cBhvr>
                                    </p:animEffect>
                                  </p:childTnLst>
                                </p:cTn>
                              </p:par>
                              <p:par>
                                <p:cTn id="102" presetID="0" presetClass="path" presetSubtype="0" accel="0" decel="100000" fill="hold" grpId="1" nodeType="withEffect">
                                  <p:stCondLst>
                                    <p:cond delay="0"/>
                                  </p:stCondLst>
                                  <p:childTnLst>
                                    <p:animMotion origin="layout" path="M 0 0.02778 L 0 0 E" pathEditMode="relative" rAng="0" ptsTypes="AA">
                                      <p:cBhvr>
                                        <p:cTn id="103" dur="500" fill="hold"/>
                                        <p:tgtEl>
                                          <p:spTgt spid="21"/>
                                        </p:tgtEl>
                                        <p:attrNameLst>
                                          <p:attrName>ppt_x</p:attrName>
                                          <p:attrName>ppt_y</p:attrName>
                                        </p:attrNameLst>
                                      </p:cBhvr>
                                    </p:animMotion>
                                  </p:childTnLst>
                                </p:cTn>
                              </p:par>
                              <p:par>
                                <p:cTn id="104" presetID="10" presetClass="entr" presetSubtype="0" accel="0" decel="10000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500"/>
                                        <p:tgtEl>
                                          <p:spTgt spid="22"/>
                                        </p:tgtEl>
                                      </p:cBhvr>
                                    </p:animEffect>
                                  </p:childTnLst>
                                </p:cTn>
                              </p:par>
                              <p:par>
                                <p:cTn id="107" presetID="0" presetClass="path" presetSubtype="0" accel="0" decel="100000" fill="hold" grpId="1" nodeType="withEffect">
                                  <p:stCondLst>
                                    <p:cond delay="0"/>
                                  </p:stCondLst>
                                  <p:childTnLst>
                                    <p:animMotion origin="layout" path="M 0 0.02778 L 0 0 E" pathEditMode="relative" rAng="0" ptsTypes="AA">
                                      <p:cBhvr>
                                        <p:cTn id="108" dur="500" fill="hold"/>
                                        <p:tgtEl>
                                          <p:spTgt spid="22"/>
                                        </p:tgtEl>
                                        <p:attrNameLst>
                                          <p:attrName>ppt_x</p:attrName>
                                          <p:attrName>ppt_y</p:attrName>
                                        </p:attrNameLst>
                                      </p:cBhvr>
                                    </p:animMotion>
                                  </p:childTnLst>
                                </p:cTn>
                              </p:par>
                              <p:par>
                                <p:cTn id="109" presetID="10" presetClass="entr" presetSubtype="0" accel="0" decel="10000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500"/>
                                        <p:tgtEl>
                                          <p:spTgt spid="23"/>
                                        </p:tgtEl>
                                      </p:cBhvr>
                                    </p:animEffect>
                                  </p:childTnLst>
                                </p:cTn>
                              </p:par>
                              <p:par>
                                <p:cTn id="112" presetID="0" presetClass="path" presetSubtype="0" accel="0" decel="100000" fill="hold" grpId="1" nodeType="withEffect">
                                  <p:stCondLst>
                                    <p:cond delay="0"/>
                                  </p:stCondLst>
                                  <p:childTnLst>
                                    <p:animMotion origin="layout" path="M 0 0.02778 L 0 0 E" pathEditMode="relative" rAng="0" ptsTypes="AA">
                                      <p:cBhvr>
                                        <p:cTn id="113" dur="500" fill="hold"/>
                                        <p:tgtEl>
                                          <p:spTgt spid="2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6" grpId="0" animBg="1"/>
      <p:bldP spid="6" grpId="1" animBg="1"/>
      <p:bldP spid="11" grpId="0" animBg="1"/>
      <p:bldP spid="11" grpId="1" animBg="1"/>
      <p:bldP spid="14" grpId="0" animBg="1"/>
      <p:bldP spid="14" grpId="1" animBg="1"/>
      <p:bldP spid="17" grpId="0" animBg="1"/>
      <p:bldP spid="17" grpId="1" animBg="1"/>
      <p:bldP spid="20" grpId="0" animBg="1"/>
      <p:bldP spid="20" grpId="1" animBg="1"/>
      <p:bldP spid="23" grpId="0" animBg="1"/>
      <p:bldP spid="23" grpId="1"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04  ·  SITE WEB</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La page d’accueil</a:t>
            </a:r>
            <a:endParaRPr lang="en-US" sz="3000" dirty="0"/>
          </a:p>
        </p:txBody>
      </p:sp>
      <p:pic>
        <p:nvPicPr>
          <p:cNvPr id="5" name="C1_img" descr="Page d'accueil du site American's Gym">    </p:cNvPr>
          <p:cNvPicPr>
            <a:picLocks noChangeAspect="1"/>
          </p:cNvPicPr>
          <p:nvPr/>
        </p:nvPicPr>
        <p:blipFill>
          <a:blip r:embed="rId1"/>
          <a:stretch>
            <a:fillRect/>
          </a:stretch>
        </p:blipFill>
        <p:spPr>
          <a:xfrm>
            <a:off x="1493313" y="1828800"/>
            <a:ext cx="9205069" cy="3931920"/>
          </a:xfrm>
          <a:prstGeom prst="rect">
            <a:avLst/>
          </a:prstGeom>
          <a:effectLst>
            <a:outerShdw sx="100000" sy="100000" kx="0" ky="0" algn="bl" rotWithShape="0" blurRad="177800" dist="50800" dir="5400000">
              <a:srgbClr val="1D3557">
                <a:alpha val="16000"/>
              </a:srgbClr>
            </a:outerShdw>
          </a:effectLst>
        </p:spPr>
      </p:pic>
      <p:sp>
        <p:nvSpPr>
          <p:cNvPr id="6" name="C1_cap"/>
          <p:cNvSpPr txBox="1"/>
          <p:nvPr/>
        </p:nvSpPr>
        <p:spPr>
          <a:xfrm>
            <a:off x="1493313" y="5870448"/>
            <a:ext cx="9205069" cy="274320"/>
          </a:xfrm>
          <a:prstGeom prst="rect">
            <a:avLst/>
          </a:prstGeom>
          <a:noFill/>
          <a:ln/>
        </p:spPr>
        <p:txBody>
          <a:bodyPr wrap="square" lIns="0" tIns="0" rIns="0" bIns="0" rtlCol="0" anchor="t"/>
          <a:lstStyle/>
          <a:p>
            <a:pPr algn="l" indent="0" marL="0">
              <a:buNone/>
            </a:pPr>
            <a:r>
              <a:rPr lang="en-US" sz="1100" dirty="0">
                <a:solidFill>
                  <a:schemeClr val="accent4"/>
                </a:solidFill>
              </a:rPr>
              <a:t>Page « Accueil »</a:t>
            </a:r>
            <a:endParaRPr lang="en-US" sz="11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6" grpId="0" animBg="1"/>
      <p:bldP spid="6" grpId="1"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04  ·  SITE WEB</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Les pages du site</a:t>
            </a:r>
            <a:endParaRPr lang="en-US" sz="3000" dirty="0"/>
          </a:p>
        </p:txBody>
      </p:sp>
      <p:pic>
        <p:nvPicPr>
          <p:cNvPr id="5" name="C1_img0" descr="Page À propos">    </p:cNvPr>
          <p:cNvPicPr>
            <a:picLocks noChangeAspect="1"/>
          </p:cNvPicPr>
          <p:nvPr/>
        </p:nvPicPr>
        <p:blipFill>
          <a:blip r:embed="rId1"/>
          <a:stretch>
            <a:fillRect/>
          </a:stretch>
        </p:blipFill>
        <p:spPr>
          <a:xfrm>
            <a:off x="1440516" y="1783080"/>
            <a:ext cx="3717736" cy="1783080"/>
          </a:xfrm>
          <a:prstGeom prst="rect">
            <a:avLst/>
          </a:prstGeom>
          <a:effectLst>
            <a:outerShdw sx="100000" sy="100000" kx="0" ky="0" algn="bl" rotWithShape="0" blurRad="177800" dist="50800" dir="5400000">
              <a:srgbClr val="1D3557">
                <a:alpha val="16000"/>
              </a:srgbClr>
            </a:outerShdw>
          </a:effectLst>
        </p:spPr>
      </p:pic>
      <p:sp>
        <p:nvSpPr>
          <p:cNvPr id="6" name="C1_cap0"/>
          <p:cNvSpPr txBox="1"/>
          <p:nvPr/>
        </p:nvSpPr>
        <p:spPr>
          <a:xfrm>
            <a:off x="1440516" y="3639312"/>
            <a:ext cx="3717736" cy="274320"/>
          </a:xfrm>
          <a:prstGeom prst="rect">
            <a:avLst/>
          </a:prstGeom>
          <a:noFill/>
          <a:ln/>
        </p:spPr>
        <p:txBody>
          <a:bodyPr wrap="square" lIns="0" tIns="0" rIns="0" bIns="0" rtlCol="0" anchor="t"/>
          <a:lstStyle/>
          <a:p>
            <a:pPr algn="l" indent="0" marL="0">
              <a:buNone/>
            </a:pPr>
            <a:r>
              <a:rPr lang="en-US" sz="1100" dirty="0">
                <a:solidFill>
                  <a:schemeClr val="accent4"/>
                </a:solidFill>
              </a:rPr>
              <a:t>À propos</a:t>
            </a:r>
            <a:endParaRPr lang="en-US" sz="1100" dirty="0"/>
          </a:p>
        </p:txBody>
      </p:sp>
      <p:pic>
        <p:nvPicPr>
          <p:cNvPr id="7" name="C1_img1" descr="Page Nos équipements">    </p:cNvPr>
          <p:cNvPicPr>
            <a:picLocks noChangeAspect="1"/>
          </p:cNvPicPr>
          <p:nvPr/>
        </p:nvPicPr>
        <p:blipFill>
          <a:blip r:embed="rId2"/>
          <a:stretch>
            <a:fillRect/>
          </a:stretch>
        </p:blipFill>
        <p:spPr>
          <a:xfrm>
            <a:off x="7022136" y="1783080"/>
            <a:ext cx="3740351" cy="1783080"/>
          </a:xfrm>
          <a:prstGeom prst="rect">
            <a:avLst/>
          </a:prstGeom>
          <a:effectLst>
            <a:outerShdw sx="100000" sy="100000" kx="0" ky="0" algn="bl" rotWithShape="0" blurRad="177800" dist="50800" dir="5400000">
              <a:srgbClr val="1D3557">
                <a:alpha val="16000"/>
              </a:srgbClr>
            </a:outerShdw>
          </a:effectLst>
        </p:spPr>
      </p:pic>
      <p:sp>
        <p:nvSpPr>
          <p:cNvPr id="8" name="C1_cap1"/>
          <p:cNvSpPr txBox="1"/>
          <p:nvPr/>
        </p:nvSpPr>
        <p:spPr>
          <a:xfrm>
            <a:off x="7022136" y="3639312"/>
            <a:ext cx="3740351" cy="274320"/>
          </a:xfrm>
          <a:prstGeom prst="rect">
            <a:avLst/>
          </a:prstGeom>
          <a:noFill/>
          <a:ln/>
        </p:spPr>
        <p:txBody>
          <a:bodyPr wrap="square" lIns="0" tIns="0" rIns="0" bIns="0" rtlCol="0" anchor="t"/>
          <a:lstStyle/>
          <a:p>
            <a:pPr algn="l" indent="0" marL="0">
              <a:buNone/>
            </a:pPr>
            <a:r>
              <a:rPr lang="en-US" sz="1100" dirty="0">
                <a:solidFill>
                  <a:schemeClr val="accent4"/>
                </a:solidFill>
              </a:rPr>
              <a:t>Nos équipements</a:t>
            </a:r>
            <a:endParaRPr lang="en-US" sz="1100" dirty="0"/>
          </a:p>
        </p:txBody>
      </p:sp>
      <p:pic>
        <p:nvPicPr>
          <p:cNvPr id="9" name="C2_img2" descr="Page Boutique">    </p:cNvPr>
          <p:cNvPicPr>
            <a:picLocks noChangeAspect="1"/>
          </p:cNvPicPr>
          <p:nvPr/>
        </p:nvPicPr>
        <p:blipFill>
          <a:blip r:embed="rId3"/>
          <a:stretch>
            <a:fillRect/>
          </a:stretch>
        </p:blipFill>
        <p:spPr>
          <a:xfrm>
            <a:off x="1427462" y="4023360"/>
            <a:ext cx="3743845" cy="1783080"/>
          </a:xfrm>
          <a:prstGeom prst="rect">
            <a:avLst/>
          </a:prstGeom>
          <a:effectLst>
            <a:outerShdw sx="100000" sy="100000" kx="0" ky="0" algn="bl" rotWithShape="0" blurRad="177800" dist="50800" dir="5400000">
              <a:srgbClr val="1D3557">
                <a:alpha val="16000"/>
              </a:srgbClr>
            </a:outerShdw>
          </a:effectLst>
        </p:spPr>
      </p:pic>
      <p:sp>
        <p:nvSpPr>
          <p:cNvPr id="10" name="C2_cap2"/>
          <p:cNvSpPr txBox="1"/>
          <p:nvPr/>
        </p:nvSpPr>
        <p:spPr>
          <a:xfrm>
            <a:off x="1427462" y="5879592"/>
            <a:ext cx="3743845" cy="274320"/>
          </a:xfrm>
          <a:prstGeom prst="rect">
            <a:avLst/>
          </a:prstGeom>
          <a:noFill/>
          <a:ln/>
        </p:spPr>
        <p:txBody>
          <a:bodyPr wrap="square" lIns="0" tIns="0" rIns="0" bIns="0" rtlCol="0" anchor="t"/>
          <a:lstStyle/>
          <a:p>
            <a:pPr algn="l" indent="0" marL="0">
              <a:buNone/>
            </a:pPr>
            <a:r>
              <a:rPr lang="en-US" sz="1100" dirty="0">
                <a:solidFill>
                  <a:schemeClr val="accent4"/>
                </a:solidFill>
              </a:rPr>
              <a:t>Boutique</a:t>
            </a:r>
            <a:endParaRPr lang="en-US" sz="1100" dirty="0"/>
          </a:p>
        </p:txBody>
      </p:sp>
      <p:pic>
        <p:nvPicPr>
          <p:cNvPr id="11" name="C2_img3" descr="Page Tarifs et abonnements">    </p:cNvPr>
          <p:cNvPicPr>
            <a:picLocks noChangeAspect="1"/>
          </p:cNvPicPr>
          <p:nvPr/>
        </p:nvPicPr>
        <p:blipFill>
          <a:blip r:embed="rId4"/>
          <a:stretch>
            <a:fillRect/>
          </a:stretch>
        </p:blipFill>
        <p:spPr>
          <a:xfrm>
            <a:off x="7032320" y="4023360"/>
            <a:ext cx="3719982" cy="1783080"/>
          </a:xfrm>
          <a:prstGeom prst="rect">
            <a:avLst/>
          </a:prstGeom>
          <a:effectLst>
            <a:outerShdw sx="100000" sy="100000" kx="0" ky="0" algn="bl" rotWithShape="0" blurRad="177800" dist="50800" dir="5400000">
              <a:srgbClr val="1D3557">
                <a:alpha val="16000"/>
              </a:srgbClr>
            </a:outerShdw>
          </a:effectLst>
        </p:spPr>
      </p:pic>
      <p:sp>
        <p:nvSpPr>
          <p:cNvPr id="12" name="C2_cap3"/>
          <p:cNvSpPr txBox="1"/>
          <p:nvPr/>
        </p:nvSpPr>
        <p:spPr>
          <a:xfrm>
            <a:off x="7032320" y="5879592"/>
            <a:ext cx="3719982" cy="274320"/>
          </a:xfrm>
          <a:prstGeom prst="rect">
            <a:avLst/>
          </a:prstGeom>
          <a:noFill/>
          <a:ln/>
        </p:spPr>
        <p:txBody>
          <a:bodyPr wrap="square" lIns="0" tIns="0" rIns="0" bIns="0" rtlCol="0" anchor="t"/>
          <a:lstStyle/>
          <a:p>
            <a:pPr algn="l" indent="0" marL="0">
              <a:buNone/>
            </a:pPr>
            <a:r>
              <a:rPr lang="en-US" sz="1100" dirty="0">
                <a:solidFill>
                  <a:schemeClr val="accent4"/>
                </a:solidFill>
              </a:rPr>
              <a:t>Tarifs et abonnements</a:t>
            </a:r>
            <a:endParaRPr lang="en-US" sz="11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7"/>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8"/>
                                        </p:tgtEl>
                                        <p:attrNameLst>
                                          <p:attrName>ppt_x</p:attrName>
                                          <p:attrName>ppt_y</p:attrName>
                                        </p:attrNameLst>
                                      </p:cBhvr>
                                    </p:animMotion>
                                  </p:childTnLst>
                                </p:cTn>
                              </p:par>
                            </p:childTnLst>
                          </p:cTn>
                        </p:par>
                      </p:childTnLst>
                    </p:cTn>
                  </p:par>
                  <p:par>
                    <p:cTn id="37" fill="hold">
                      <p:stCondLst>
                        <p:cond delay="indefinite"/>
                      </p:stCondLst>
                      <p:childTnLst>
                        <p:par>
                          <p:cTn id="38" fill="hold">
                            <p:stCondLst>
                              <p:cond delay="0"/>
                            </p:stCondLst>
                            <p:childTnLst>
                              <p:par>
                                <p:cTn id="39" presetID="10" presetClass="entr" presetSubtype="0" accel="0" decel="100000" fill="hold" grpId="0" nodeType="click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p:tgtEl>
                                          <p:spTgt spid="9"/>
                                        </p:tgtEl>
                                      </p:cBhvr>
                                    </p:animEffect>
                                  </p:childTnLst>
                                </p:cTn>
                              </p:par>
                              <p:par>
                                <p:cTn id="42" presetID="0" presetClass="path" presetSubtype="0" accel="0" decel="100000" fill="hold" grpId="1" nodeType="withEffect">
                                  <p:stCondLst>
                                    <p:cond delay="0"/>
                                  </p:stCondLst>
                                  <p:childTnLst>
                                    <p:animMotion origin="layout" path="M 0 0.02778 L 0 0 E" pathEditMode="relative" rAng="0" ptsTypes="AA">
                                      <p:cBhvr>
                                        <p:cTn id="43" dur="500" fill="hold"/>
                                        <p:tgtEl>
                                          <p:spTgt spid="9"/>
                                        </p:tgtEl>
                                        <p:attrNameLst>
                                          <p:attrName>ppt_x</p:attrName>
                                          <p:attrName>ppt_y</p:attrName>
                                        </p:attrNameLst>
                                      </p:cBhvr>
                                    </p:animMotion>
                                  </p:childTnLst>
                                </p:cTn>
                              </p:par>
                              <p:par>
                                <p:cTn id="44" presetID="10" presetClass="entr" presetSubtype="0" accel="0" decel="10000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childTnLst>
                                </p:cTn>
                              </p:par>
                              <p:par>
                                <p:cTn id="47" presetID="0" presetClass="path" presetSubtype="0" accel="0" decel="100000" fill="hold" grpId="1" nodeType="withEffect">
                                  <p:stCondLst>
                                    <p:cond delay="0"/>
                                  </p:stCondLst>
                                  <p:childTnLst>
                                    <p:animMotion origin="layout" path="M 0 0.02778 L 0 0 E" pathEditMode="relative" rAng="0" ptsTypes="AA">
                                      <p:cBhvr>
                                        <p:cTn id="48" dur="500" fill="hold"/>
                                        <p:tgtEl>
                                          <p:spTgt spid="10"/>
                                        </p:tgtEl>
                                        <p:attrNameLst>
                                          <p:attrName>ppt_x</p:attrName>
                                          <p:attrName>ppt_y</p:attrName>
                                        </p:attrNameLst>
                                      </p:cBhvr>
                                    </p:animMotion>
                                  </p:childTnLst>
                                </p:cTn>
                              </p:par>
                              <p:par>
                                <p:cTn id="49" presetID="10" presetClass="entr" presetSubtype="0" accel="0" decel="10000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childTnLst>
                                </p:cTn>
                              </p:par>
                              <p:par>
                                <p:cTn id="52" presetID="0" presetClass="path" presetSubtype="0" accel="0" decel="100000" fill="hold" grpId="1" nodeType="withEffect">
                                  <p:stCondLst>
                                    <p:cond delay="0"/>
                                  </p:stCondLst>
                                  <p:childTnLst>
                                    <p:animMotion origin="layout" path="M 0 0.02778 L 0 0 E" pathEditMode="relative" rAng="0" ptsTypes="AA">
                                      <p:cBhvr>
                                        <p:cTn id="53" dur="500" fill="hold"/>
                                        <p:tgtEl>
                                          <p:spTgt spid="11"/>
                                        </p:tgtEl>
                                        <p:attrNameLst>
                                          <p:attrName>ppt_x</p:attrName>
                                          <p:attrName>ppt_y</p:attrName>
                                        </p:attrNameLst>
                                      </p:cBhvr>
                                    </p:animMotion>
                                  </p:childTnLst>
                                </p:cTn>
                              </p:par>
                              <p:par>
                                <p:cTn id="54" presetID="10" presetClass="entr" presetSubtype="0" accel="0" decel="10000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par>
                                <p:cTn id="57" presetID="0" presetClass="path" presetSubtype="0" accel="0" decel="100000" fill="hold" grpId="1" nodeType="withEffect">
                                  <p:stCondLst>
                                    <p:cond delay="0"/>
                                  </p:stCondLst>
                                  <p:childTnLst>
                                    <p:animMotion origin="layout" path="M 0 0.02778 L 0 0 E" pathEditMode="relative" rAng="0" ptsTypes="AA">
                                      <p:cBhvr>
                                        <p:cTn id="58" dur="5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6" grpId="0" animBg="1"/>
      <p:bldP spid="6" grpId="1" animBg="1"/>
      <p:bldP spid="8" grpId="0" animBg="1"/>
      <p:bldP spid="8" grpId="1" animBg="1"/>
      <p:bldP spid="10" grpId="0" animBg="1"/>
      <p:bldP spid="10" grpId="1" animBg="1"/>
      <p:bldP spid="12" grpId="0" animBg="1"/>
      <p:bldP spid="12"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1" type="body" hasCustomPrompt="1"/>
          </p:nvPr>
        </p:nvSpPr>
        <p:spPr>
          <a:xfrm>
            <a:off x="685800" y="1965960"/>
            <a:ext cx="3657600" cy="1371600"/>
          </a:xfrm>
          <a:prstGeom prst="rect">
            <a:avLst/>
          </a:prstGeom>
          <a:noFill/>
          <a:ln/>
        </p:spPr>
        <p:txBody>
          <a:bodyPr wrap="square" lIns="0" tIns="0" rIns="0" bIns="0" rtlCol="0" anchor="b"/>
          <a:lstStyle/>
          <a:p>
            <a:pPr algn="l" indent="0" marL="0">
              <a:buNone/>
            </a:pPr>
            <a:r>
              <a:rPr lang="en-US" sz="8000" dirty="0">
                <a:solidFill>
                  <a:schemeClr val="accent1"/>
                </a:solidFill>
                <a:latin typeface="Poppins ExtraBold" pitchFamily="34" charset="0"/>
                <a:ea typeface="Poppins ExtraBold" pitchFamily="34" charset="-122"/>
                <a:cs typeface="Poppins ExtraBold" pitchFamily="34" charset="-120"/>
              </a:rPr>
              <a:t>05</a:t>
            </a:r>
            <a:endParaRPr lang="en-US" sz="8000" dirty="0"/>
          </a:p>
        </p:txBody>
      </p:sp>
      <p:sp>
        <p:nvSpPr>
          <p:cNvPr id="3" name="Text 0"/>
          <p:cNvSpPr/>
          <p:nvPr>
            <p:ph idx="102" type="title" hasCustomPrompt="1"/>
          </p:nvPr>
        </p:nvSpPr>
        <p:spPr>
          <a:xfrm>
            <a:off x="685800" y="3429000"/>
            <a:ext cx="9601200" cy="1188720"/>
          </a:xfrm>
          <a:prstGeom prst="rect">
            <a:avLst/>
          </a:prstGeom>
          <a:noFill/>
          <a:ln/>
        </p:spPr>
        <p:txBody>
          <a:bodyPr wrap="square" lIns="0" tIns="0" rIns="0" bIns="0" rtlCol="0" anchor="t"/>
          <a:lstStyle/>
          <a:p>
            <a:pPr algn="l" indent="0" marL="0">
              <a:buNone/>
            </a:pPr>
            <a:r>
              <a:rPr lang="en-US" sz="4000" dirty="0">
                <a:solidFill>
                  <a:schemeClr val="bg1"/>
                </a:solidFill>
                <a:latin typeface="Poppins ExtraBold" pitchFamily="34" charset="0"/>
                <a:ea typeface="Poppins ExtraBold" pitchFamily="34" charset="-122"/>
                <a:cs typeface="Poppins ExtraBold" pitchFamily="34" charset="-120"/>
              </a:rPr>
              <a:t>Conclusion</a:t>
            </a:r>
            <a:endParaRPr lang="en-US" sz="4000" dirty="0"/>
          </a:p>
        </p:txBody>
      </p:sp>
      <p:sp>
        <p:nvSpPr>
          <p:cNvPr id="25" name="Slide Number Placeholder 0"/>
          <p:cNvSpPr>
            <a:spLocks noGrp="1"/>
          </p:cNvSpPr>
          <p:nvPr>
            <p:ph type="sldNum" sz="quarter" idx="4294967295"/>
          </p:nvPr>
        </p:nvSpPr>
        <p:spPr>
          <a:xfrm>
            <a:off x="10957255" y="4572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05  ·  CONCLUSION</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Une réponse concrète à la problématique</a:t>
            </a:r>
            <a:endParaRPr lang="en-US" sz="3000" dirty="0"/>
          </a:p>
        </p:txBody>
      </p:sp>
      <p:sp>
        <p:nvSpPr>
          <p:cNvPr id="5" name="C1_i_disc"/>
          <p:cNvSpPr/>
          <p:nvPr/>
        </p:nvSpPr>
        <p:spPr>
          <a:xfrm>
            <a:off x="685800" y="2011680"/>
            <a:ext cx="777240" cy="777240"/>
          </a:xfrm>
          <a:prstGeom prst="ellipse">
            <a:avLst/>
          </a:prstGeom>
          <a:solidFill>
            <a:schemeClr val="tx1"/>
          </a:solidFill>
          <a:ln/>
        </p:spPr>
      </p:sp>
      <p:pic>
        <p:nvPicPr>
          <p:cNvPr id="6" name="C1_i_ico" descr="preencoded.png">    </p:cNvPr>
          <p:cNvPicPr>
            <a:picLocks noChangeAspect="1"/>
          </p:cNvPicPr>
          <p:nvPr/>
        </p:nvPicPr>
        <p:blipFill>
          <a:blip r:embed="rId1"/>
          <a:stretch>
            <a:fillRect/>
          </a:stretch>
        </p:blipFill>
        <p:spPr>
          <a:xfrm>
            <a:off x="880110" y="2205990"/>
            <a:ext cx="388620" cy="388620"/>
          </a:xfrm>
          <a:prstGeom prst="rect">
            <a:avLst/>
          </a:prstGeom>
        </p:spPr>
      </p:pic>
      <p:sp>
        <p:nvSpPr>
          <p:cNvPr id="7" name="C1_t"/>
          <p:cNvSpPr txBox="1"/>
          <p:nvPr/>
        </p:nvSpPr>
        <p:spPr>
          <a:xfrm>
            <a:off x="1783080" y="2057400"/>
            <a:ext cx="9692640" cy="685800"/>
          </a:xfrm>
          <a:prstGeom prst="rect">
            <a:avLst/>
          </a:prstGeom>
          <a:noFill/>
          <a:ln/>
        </p:spPr>
        <p:txBody>
          <a:bodyPr wrap="square" lIns="0" tIns="0" rIns="0" bIns="0" rtlCol="0" anchor="ctr"/>
          <a:lstStyle/>
          <a:p>
            <a:pPr indent="0" marL="0">
              <a:buNone/>
            </a:pPr>
            <a:r>
              <a:rPr lang="en-US" sz="1900" b="1" dirty="0">
                <a:solidFill>
                  <a:schemeClr val="tx1"/>
                </a:solidFill>
              </a:rPr>
              <a:t>Une identité visuelle cohérente</a:t>
            </a:r>
            <a:endParaRPr lang="en-US" sz="1900" dirty="0"/>
          </a:p>
        </p:txBody>
      </p:sp>
      <p:sp>
        <p:nvSpPr>
          <p:cNvPr id="8" name="C2_i_disc"/>
          <p:cNvSpPr/>
          <p:nvPr/>
        </p:nvSpPr>
        <p:spPr>
          <a:xfrm>
            <a:off x="685800" y="3200400"/>
            <a:ext cx="777240" cy="777240"/>
          </a:xfrm>
          <a:prstGeom prst="ellipse">
            <a:avLst/>
          </a:prstGeom>
          <a:solidFill>
            <a:schemeClr val="tx1"/>
          </a:solidFill>
          <a:ln/>
        </p:spPr>
      </p:sp>
      <p:pic>
        <p:nvPicPr>
          <p:cNvPr id="9" name="C2_i_ico" descr="preencoded.png">    </p:cNvPr>
          <p:cNvPicPr>
            <a:picLocks noChangeAspect="1"/>
          </p:cNvPicPr>
          <p:nvPr/>
        </p:nvPicPr>
        <p:blipFill>
          <a:blip r:embed="rId2"/>
          <a:stretch>
            <a:fillRect/>
          </a:stretch>
        </p:blipFill>
        <p:spPr>
          <a:xfrm>
            <a:off x="880110" y="3394710"/>
            <a:ext cx="388620" cy="388620"/>
          </a:xfrm>
          <a:prstGeom prst="rect">
            <a:avLst/>
          </a:prstGeom>
        </p:spPr>
      </p:pic>
      <p:sp>
        <p:nvSpPr>
          <p:cNvPr id="10" name="C2_t"/>
          <p:cNvSpPr txBox="1"/>
          <p:nvPr/>
        </p:nvSpPr>
        <p:spPr>
          <a:xfrm>
            <a:off x="1783080" y="3246120"/>
            <a:ext cx="9692640" cy="685800"/>
          </a:xfrm>
          <a:prstGeom prst="rect">
            <a:avLst/>
          </a:prstGeom>
          <a:noFill/>
          <a:ln/>
        </p:spPr>
        <p:txBody>
          <a:bodyPr wrap="square" lIns="0" tIns="0" rIns="0" bIns="0" rtlCol="0" anchor="ctr"/>
          <a:lstStyle/>
          <a:p>
            <a:pPr indent="0" marL="0">
              <a:buNone/>
            </a:pPr>
            <a:r>
              <a:rPr lang="en-US" sz="1900" b="1" dirty="0">
                <a:solidFill>
                  <a:schemeClr val="tx1"/>
                </a:solidFill>
              </a:rPr>
              <a:t>Des supports imprimés, audiovisuels et numériques complémentaires</a:t>
            </a:r>
            <a:endParaRPr lang="en-US" sz="1900" dirty="0"/>
          </a:p>
        </p:txBody>
      </p:sp>
      <p:sp>
        <p:nvSpPr>
          <p:cNvPr id="11" name="C3_i_disc"/>
          <p:cNvSpPr/>
          <p:nvPr/>
        </p:nvSpPr>
        <p:spPr>
          <a:xfrm>
            <a:off x="685800" y="4389120"/>
            <a:ext cx="777240" cy="777240"/>
          </a:xfrm>
          <a:prstGeom prst="ellipse">
            <a:avLst/>
          </a:prstGeom>
          <a:solidFill>
            <a:schemeClr val="accent1"/>
          </a:solidFill>
          <a:ln/>
        </p:spPr>
      </p:sp>
      <p:pic>
        <p:nvPicPr>
          <p:cNvPr id="12" name="C3_i_ico" descr="preencoded.png">    </p:cNvPr>
          <p:cNvPicPr>
            <a:picLocks noChangeAspect="1"/>
          </p:cNvPicPr>
          <p:nvPr/>
        </p:nvPicPr>
        <p:blipFill>
          <a:blip r:embed="rId3"/>
          <a:stretch>
            <a:fillRect/>
          </a:stretch>
        </p:blipFill>
        <p:spPr>
          <a:xfrm>
            <a:off x="880110" y="4583430"/>
            <a:ext cx="388620" cy="388620"/>
          </a:xfrm>
          <a:prstGeom prst="rect">
            <a:avLst/>
          </a:prstGeom>
        </p:spPr>
      </p:pic>
      <p:sp>
        <p:nvSpPr>
          <p:cNvPr id="13" name="C3_t"/>
          <p:cNvSpPr txBox="1"/>
          <p:nvPr/>
        </p:nvSpPr>
        <p:spPr>
          <a:xfrm>
            <a:off x="1783080" y="4434840"/>
            <a:ext cx="9692640" cy="685800"/>
          </a:xfrm>
          <a:prstGeom prst="rect">
            <a:avLst/>
          </a:prstGeom>
          <a:noFill/>
          <a:ln/>
        </p:spPr>
        <p:txBody>
          <a:bodyPr wrap="square" lIns="0" tIns="0" rIns="0" bIns="0" rtlCol="0" anchor="ctr"/>
          <a:lstStyle/>
          <a:p>
            <a:pPr indent="0" marL="0">
              <a:buNone/>
            </a:pPr>
            <a:r>
              <a:rPr lang="en-US" sz="1900" b="1" dirty="0">
                <a:solidFill>
                  <a:schemeClr val="tx1"/>
                </a:solidFill>
              </a:rPr>
              <a:t>Une image plus professionnelle de la structure</a:t>
            </a:r>
            <a:endParaRPr lang="en-US" sz="19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7"/>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34" presetID="10" presetClass="entr" presetSubtype="0" accel="0" decel="100000"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par>
                                <p:cTn id="37" presetID="0" presetClass="path" presetSubtype="0" accel="0" decel="100000" fill="hold" grpId="1" nodeType="withEffect">
                                  <p:stCondLst>
                                    <p:cond delay="0"/>
                                  </p:stCondLst>
                                  <p:childTnLst>
                                    <p:animMotion origin="layout" path="M 0 0.02778 L 0 0 E" pathEditMode="relative" rAng="0" ptsTypes="AA">
                                      <p:cBhvr>
                                        <p:cTn id="38" dur="500" fill="hold"/>
                                        <p:tgtEl>
                                          <p:spTgt spid="8"/>
                                        </p:tgtEl>
                                        <p:attrNameLst>
                                          <p:attrName>ppt_x</p:attrName>
                                          <p:attrName>ppt_y</p:attrName>
                                        </p:attrNameLst>
                                      </p:cBhvr>
                                    </p:animMotion>
                                  </p:childTnLst>
                                </p:cTn>
                              </p:par>
                              <p:par>
                                <p:cTn id="39" presetID="10" presetClass="entr" presetSubtype="0" accel="0" decel="10000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p:tgtEl>
                                          <p:spTgt spid="9"/>
                                        </p:tgtEl>
                                      </p:cBhvr>
                                    </p:animEffect>
                                  </p:childTnLst>
                                </p:cTn>
                              </p:par>
                              <p:par>
                                <p:cTn id="42" presetID="0" presetClass="path" presetSubtype="0" accel="0" decel="100000" fill="hold" grpId="1" nodeType="withEffect">
                                  <p:stCondLst>
                                    <p:cond delay="0"/>
                                  </p:stCondLst>
                                  <p:childTnLst>
                                    <p:animMotion origin="layout" path="M 0 0.02778 L 0 0 E" pathEditMode="relative" rAng="0" ptsTypes="AA">
                                      <p:cBhvr>
                                        <p:cTn id="43" dur="500" fill="hold"/>
                                        <p:tgtEl>
                                          <p:spTgt spid="9"/>
                                        </p:tgtEl>
                                        <p:attrNameLst>
                                          <p:attrName>ppt_x</p:attrName>
                                          <p:attrName>ppt_y</p:attrName>
                                        </p:attrNameLst>
                                      </p:cBhvr>
                                    </p:animMotion>
                                  </p:childTnLst>
                                </p:cTn>
                              </p:par>
                              <p:par>
                                <p:cTn id="44" presetID="10" presetClass="entr" presetSubtype="0" accel="0" decel="10000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childTnLst>
                                </p:cTn>
                              </p:par>
                              <p:par>
                                <p:cTn id="47" presetID="0" presetClass="path" presetSubtype="0" accel="0" decel="100000" fill="hold" grpId="1" nodeType="withEffect">
                                  <p:stCondLst>
                                    <p:cond delay="0"/>
                                  </p:stCondLst>
                                  <p:childTnLst>
                                    <p:animMotion origin="layout" path="M 0 0.02778 L 0 0 E" pathEditMode="relative" rAng="0" ptsTypes="AA">
                                      <p:cBhvr>
                                        <p:cTn id="48" dur="500" fill="hold"/>
                                        <p:tgtEl>
                                          <p:spTgt spid="10"/>
                                        </p:tgtEl>
                                        <p:attrNameLst>
                                          <p:attrName>ppt_x</p:attrName>
                                          <p:attrName>ppt_y</p:attrName>
                                        </p:attrNameLst>
                                      </p:cBhvr>
                                    </p:animMotion>
                                  </p:childTnLst>
                                </p:cTn>
                              </p:par>
                            </p:childTnLst>
                          </p:cTn>
                        </p:par>
                      </p:childTnLst>
                    </p:cTn>
                  </p:par>
                  <p:par>
                    <p:cTn id="49" fill="hold">
                      <p:stCondLst>
                        <p:cond delay="indefinite"/>
                      </p:stCondLst>
                      <p:childTnLst>
                        <p:par>
                          <p:cTn id="50" fill="hold">
                            <p:stCondLst>
                              <p:cond delay="0"/>
                            </p:stCondLst>
                            <p:childTnLst>
                              <p:par>
                                <p:cTn id="51" presetID="10" presetClass="entr" presetSubtype="0" accel="0" decel="100000" fill="hold" grpId="0" nodeType="clickEffect">
                                  <p:stCondLst>
                                    <p:cond delay="0"/>
                                  </p:stCondLst>
                                  <p:childTnLst>
                                    <p:set>
                                      <p:cBhvr>
                                        <p:cTn id="52" dur="1" fill="hold">
                                          <p:stCondLst>
                                            <p:cond delay="0"/>
                                          </p:stCondLst>
                                        </p:cTn>
                                        <p:tgtEl>
                                          <p:spTgt spid="11"/>
                                        </p:tgtEl>
                                        <p:attrNameLst>
                                          <p:attrName>style.visibility</p:attrName>
                                        </p:attrNameLst>
                                      </p:cBhvr>
                                      <p:to>
                                        <p:strVal val="visible"/>
                                      </p:to>
                                    </p:set>
                                    <p:animEffect transition="in" filter="fade">
                                      <p:cBhvr>
                                        <p:cTn id="53" dur="500"/>
                                        <p:tgtEl>
                                          <p:spTgt spid="11"/>
                                        </p:tgtEl>
                                      </p:cBhvr>
                                    </p:animEffect>
                                  </p:childTnLst>
                                </p:cTn>
                              </p:par>
                              <p:par>
                                <p:cTn id="54" presetID="0" presetClass="path" presetSubtype="0" accel="0" decel="100000" fill="hold" grpId="1" nodeType="withEffect">
                                  <p:stCondLst>
                                    <p:cond delay="0"/>
                                  </p:stCondLst>
                                  <p:childTnLst>
                                    <p:animMotion origin="layout" path="M 0 0.02778 L 0 0 E" pathEditMode="relative" rAng="0" ptsTypes="AA">
                                      <p:cBhvr>
                                        <p:cTn id="55" dur="500" fill="hold"/>
                                        <p:tgtEl>
                                          <p:spTgt spid="11"/>
                                        </p:tgtEl>
                                        <p:attrNameLst>
                                          <p:attrName>ppt_x</p:attrName>
                                          <p:attrName>ppt_y</p:attrName>
                                        </p:attrNameLst>
                                      </p:cBhvr>
                                    </p:animMotion>
                                  </p:childTnLst>
                                </p:cTn>
                              </p:par>
                              <p:par>
                                <p:cTn id="56" presetID="10" presetClass="entr" presetSubtype="0" accel="0" decel="100000" fill="hold" grpId="0" nodeType="with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fade">
                                      <p:cBhvr>
                                        <p:cTn id="58" dur="500"/>
                                        <p:tgtEl>
                                          <p:spTgt spid="12"/>
                                        </p:tgtEl>
                                      </p:cBhvr>
                                    </p:animEffect>
                                  </p:childTnLst>
                                </p:cTn>
                              </p:par>
                              <p:par>
                                <p:cTn id="59" presetID="0" presetClass="path" presetSubtype="0" accel="0" decel="100000" fill="hold" grpId="1" nodeType="withEffect">
                                  <p:stCondLst>
                                    <p:cond delay="0"/>
                                  </p:stCondLst>
                                  <p:childTnLst>
                                    <p:animMotion origin="layout" path="M 0 0.02778 L 0 0 E" pathEditMode="relative" rAng="0" ptsTypes="AA">
                                      <p:cBhvr>
                                        <p:cTn id="60" dur="500" fill="hold"/>
                                        <p:tgtEl>
                                          <p:spTgt spid="12"/>
                                        </p:tgtEl>
                                        <p:attrNameLst>
                                          <p:attrName>ppt_x</p:attrName>
                                          <p:attrName>ppt_y</p:attrName>
                                        </p:attrNameLst>
                                      </p:cBhvr>
                                    </p:animMotion>
                                  </p:childTnLst>
                                </p:cTn>
                              </p:par>
                              <p:par>
                                <p:cTn id="61" presetID="10" presetClass="entr" presetSubtype="0" accel="0" decel="10000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childTnLst>
                                </p:cTn>
                              </p:par>
                              <p:par>
                                <p:cTn id="64" presetID="0" presetClass="path" presetSubtype="0" accel="0" decel="100000" fill="hold" grpId="1" nodeType="withEffect">
                                  <p:stCondLst>
                                    <p:cond delay="0"/>
                                  </p:stCondLst>
                                  <p:childTnLst>
                                    <p:animMotion origin="layout" path="M 0 0.02778 L 0 0 E" pathEditMode="relative" rAng="0" ptsTypes="AA">
                                      <p:cBhvr>
                                        <p:cTn id="65" dur="500" fill="hold"/>
                                        <p:tgtEl>
                                          <p:spTgt spid="1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7" grpId="0" animBg="1"/>
      <p:bldP spid="7" grpId="1" animBg="1"/>
      <p:bldP spid="10" grpId="0" animBg="1"/>
      <p:bldP spid="10" grpId="1" animBg="1"/>
      <p:bldP spid="13" grpId="0" animBg="1"/>
      <p:bldP spid="13" grpId="1"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1"/>
                </a:solidFill>
              </a:rPr>
              <a:t>05  ·  RECOMMANDATIONS</a:t>
            </a:r>
            <a:endParaRPr lang="en-US" sz="1100" dirty="0"/>
          </a:p>
        </p:txBody>
      </p:sp>
      <p:sp>
        <p:nvSpPr>
          <p:cNvPr id="3" name="Text 0"/>
          <p:cNvSpPr/>
          <p:nvPr>
            <p:ph idx="101" type="title" hasCustomPrompt="1"/>
          </p:nvPr>
        </p:nvSpPr>
        <p:spPr>
          <a:xfrm>
            <a:off x="685800" y="768096"/>
            <a:ext cx="10820095" cy="914400"/>
          </a:xfrm>
          <a:prstGeom prst="rect">
            <a:avLst/>
          </a:prstGeom>
          <a:noFill/>
          <a:ln/>
        </p:spPr>
        <p:txBody>
          <a:bodyPr wrap="square" lIns="0" tIns="0" rIns="0" bIns="0" rtlCol="0" anchor="t"/>
          <a:lstStyle/>
          <a:p>
            <a:pPr algn="l" indent="0" marL="0">
              <a:buNone/>
            </a:pPr>
            <a:r>
              <a:rPr lang="en-US" sz="3000" dirty="0">
                <a:solidFill>
                  <a:schemeClr val="tx1"/>
                </a:solidFill>
                <a:latin typeface="Poppins ExtraBold" pitchFamily="34" charset="0"/>
                <a:ea typeface="Poppins ExtraBold" pitchFamily="34" charset="-122"/>
                <a:cs typeface="Poppins ExtraBold" pitchFamily="34" charset="-120"/>
              </a:rPr>
              <a:t>Pour une communication durable</a:t>
            </a:r>
            <a:endParaRPr lang="en-US" sz="3000" dirty="0"/>
          </a:p>
        </p:txBody>
      </p:sp>
      <p:sp>
        <p:nvSpPr>
          <p:cNvPr id="5" name="C1_card"/>
          <p:cNvSpPr/>
          <p:nvPr/>
        </p:nvSpPr>
        <p:spPr>
          <a:xfrm>
            <a:off x="685800" y="2103120"/>
            <a:ext cx="3393338" cy="3566160"/>
          </a:xfrm>
          <a:prstGeom prst="roundRect">
            <a:avLst>
              <a:gd name="adj" fmla="val 3234"/>
            </a:avLst>
          </a:prstGeom>
          <a:solidFill>
            <a:schemeClr val="bg2"/>
          </a:solidFill>
          <a:ln/>
        </p:spPr>
      </p:sp>
      <p:sp>
        <p:nvSpPr>
          <p:cNvPr id="6" name="C1_i_disc"/>
          <p:cNvSpPr/>
          <p:nvPr/>
        </p:nvSpPr>
        <p:spPr>
          <a:xfrm>
            <a:off x="1051560" y="2468880"/>
            <a:ext cx="914400" cy="914400"/>
          </a:xfrm>
          <a:prstGeom prst="ellipse">
            <a:avLst/>
          </a:prstGeom>
          <a:solidFill>
            <a:schemeClr val="tx1"/>
          </a:solidFill>
          <a:ln/>
        </p:spPr>
      </p:sp>
      <p:pic>
        <p:nvPicPr>
          <p:cNvPr id="7" name="C1_i_ico" descr="preencoded.png">    </p:cNvPr>
          <p:cNvPicPr>
            <a:picLocks noChangeAspect="1"/>
          </p:cNvPicPr>
          <p:nvPr/>
        </p:nvPicPr>
        <p:blipFill>
          <a:blip r:embed="rId1"/>
          <a:stretch>
            <a:fillRect/>
          </a:stretch>
        </p:blipFill>
        <p:spPr>
          <a:xfrm>
            <a:off x="1280160" y="2697480"/>
            <a:ext cx="457200" cy="457200"/>
          </a:xfrm>
          <a:prstGeom prst="rect">
            <a:avLst/>
          </a:prstGeom>
        </p:spPr>
      </p:pic>
      <p:sp>
        <p:nvSpPr>
          <p:cNvPr id="8" name="C1_t"/>
          <p:cNvSpPr txBox="1"/>
          <p:nvPr/>
        </p:nvSpPr>
        <p:spPr>
          <a:xfrm>
            <a:off x="960120" y="3703320"/>
            <a:ext cx="2844698" cy="1463040"/>
          </a:xfrm>
          <a:prstGeom prst="rect">
            <a:avLst/>
          </a:prstGeom>
          <a:noFill/>
          <a:ln/>
        </p:spPr>
        <p:txBody>
          <a:bodyPr wrap="square" lIns="0" tIns="0" rIns="0" bIns="0" rtlCol="0" anchor="t"/>
          <a:lstStyle/>
          <a:p>
            <a:pPr indent="0" marL="0">
              <a:buNone/>
            </a:pPr>
            <a:r>
              <a:rPr lang="en-US" sz="1600" b="1" dirty="0">
                <a:solidFill>
                  <a:schemeClr val="tx1"/>
                </a:solidFill>
              </a:rPr>
              <a:t>Adopter une stratégie cohérente et durable</a:t>
            </a:r>
            <a:endParaRPr lang="en-US" sz="1600" dirty="0"/>
          </a:p>
        </p:txBody>
      </p:sp>
      <p:sp>
        <p:nvSpPr>
          <p:cNvPr id="9" name="C2_card"/>
          <p:cNvSpPr/>
          <p:nvPr/>
        </p:nvSpPr>
        <p:spPr>
          <a:xfrm>
            <a:off x="4399178" y="2103120"/>
            <a:ext cx="3393338" cy="3566160"/>
          </a:xfrm>
          <a:prstGeom prst="roundRect">
            <a:avLst>
              <a:gd name="adj" fmla="val 3234"/>
            </a:avLst>
          </a:prstGeom>
          <a:solidFill>
            <a:schemeClr val="bg2"/>
          </a:solidFill>
          <a:ln/>
        </p:spPr>
      </p:sp>
      <p:sp>
        <p:nvSpPr>
          <p:cNvPr id="10" name="C2_i_disc"/>
          <p:cNvSpPr/>
          <p:nvPr/>
        </p:nvSpPr>
        <p:spPr>
          <a:xfrm>
            <a:off x="4764938" y="2468880"/>
            <a:ext cx="914400" cy="914400"/>
          </a:xfrm>
          <a:prstGeom prst="ellipse">
            <a:avLst/>
          </a:prstGeom>
          <a:solidFill>
            <a:schemeClr val="tx1"/>
          </a:solidFill>
          <a:ln/>
        </p:spPr>
      </p:sp>
      <p:pic>
        <p:nvPicPr>
          <p:cNvPr id="11" name="C2_i_ico" descr="preencoded.png">    </p:cNvPr>
          <p:cNvPicPr>
            <a:picLocks noChangeAspect="1"/>
          </p:cNvPicPr>
          <p:nvPr/>
        </p:nvPicPr>
        <p:blipFill>
          <a:blip r:embed="rId2"/>
          <a:stretch>
            <a:fillRect/>
          </a:stretch>
        </p:blipFill>
        <p:spPr>
          <a:xfrm>
            <a:off x="4993538" y="2697480"/>
            <a:ext cx="457200" cy="457200"/>
          </a:xfrm>
          <a:prstGeom prst="rect">
            <a:avLst/>
          </a:prstGeom>
        </p:spPr>
      </p:pic>
      <p:sp>
        <p:nvSpPr>
          <p:cNvPr id="12" name="C2_t"/>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600" b="1" dirty="0">
                <a:solidFill>
                  <a:schemeClr val="tx1"/>
                </a:solidFill>
              </a:rPr>
              <a:t>Actualiser régulièrement les contenus</a:t>
            </a:r>
            <a:endParaRPr lang="en-US" sz="1600" dirty="0"/>
          </a:p>
        </p:txBody>
      </p:sp>
      <p:sp>
        <p:nvSpPr>
          <p:cNvPr id="13" name="C3_card"/>
          <p:cNvSpPr/>
          <p:nvPr/>
        </p:nvSpPr>
        <p:spPr>
          <a:xfrm>
            <a:off x="8112557" y="2103120"/>
            <a:ext cx="3393338" cy="3566160"/>
          </a:xfrm>
          <a:prstGeom prst="roundRect">
            <a:avLst>
              <a:gd name="adj" fmla="val 3234"/>
            </a:avLst>
          </a:prstGeom>
          <a:solidFill>
            <a:schemeClr val="bg2"/>
          </a:solidFill>
          <a:ln/>
        </p:spPr>
      </p:sp>
      <p:sp>
        <p:nvSpPr>
          <p:cNvPr id="14" name="C3_i_disc"/>
          <p:cNvSpPr/>
          <p:nvPr/>
        </p:nvSpPr>
        <p:spPr>
          <a:xfrm>
            <a:off x="8478317" y="2468880"/>
            <a:ext cx="914400" cy="914400"/>
          </a:xfrm>
          <a:prstGeom prst="ellipse">
            <a:avLst/>
          </a:prstGeom>
          <a:solidFill>
            <a:schemeClr val="tx1"/>
          </a:solidFill>
          <a:ln/>
        </p:spPr>
      </p:sp>
      <p:pic>
        <p:nvPicPr>
          <p:cNvPr id="15" name="C3_i_ico" descr="preencoded.png">    </p:cNvPr>
          <p:cNvPicPr>
            <a:picLocks noChangeAspect="1"/>
          </p:cNvPicPr>
          <p:nvPr/>
        </p:nvPicPr>
        <p:blipFill>
          <a:blip r:embed="rId3"/>
          <a:stretch>
            <a:fillRect/>
          </a:stretch>
        </p:blipFill>
        <p:spPr>
          <a:xfrm>
            <a:off x="8706917" y="2697480"/>
            <a:ext cx="457200" cy="457200"/>
          </a:xfrm>
          <a:prstGeom prst="rect">
            <a:avLst/>
          </a:prstGeom>
        </p:spPr>
      </p:pic>
      <p:sp>
        <p:nvSpPr>
          <p:cNvPr id="16" name="C3_t"/>
          <p:cNvSpPr txBox="1"/>
          <p:nvPr/>
        </p:nvSpPr>
        <p:spPr>
          <a:xfrm>
            <a:off x="8386877" y="3703320"/>
            <a:ext cx="2844698" cy="1463040"/>
          </a:xfrm>
          <a:prstGeom prst="rect">
            <a:avLst/>
          </a:prstGeom>
          <a:noFill/>
          <a:ln/>
        </p:spPr>
        <p:txBody>
          <a:bodyPr wrap="square" lIns="0" tIns="0" rIns="0" bIns="0" rtlCol="0" anchor="t"/>
          <a:lstStyle/>
          <a:p>
            <a:pPr indent="0" marL="0">
              <a:buNone/>
            </a:pPr>
            <a:r>
              <a:rPr lang="en-US" sz="1600" b="1" dirty="0">
                <a:solidFill>
                  <a:schemeClr val="tx1"/>
                </a:solidFill>
              </a:rPr>
              <a:t>Mesurer : interactions, inscriptions, adhérents</a:t>
            </a:r>
            <a:endParaRPr lang="en-US" sz="16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5"/>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6"/>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7"/>
                                        </p:tgtEl>
                                        <p:attrNameLst>
                                          <p:attrName>ppt_x</p:attrName>
                                          <p:attrName>ppt_y</p:attrName>
                                        </p:attrNameLst>
                                      </p:cBhvr>
                                    </p:animMotion>
                                  </p:childTnLst>
                                </p:cTn>
                              </p:par>
                              <p:par>
                                <p:cTn id="32" presetID="10" presetClass="entr" presetSubtype="0" accel="0" decel="10000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par>
                                <p:cTn id="35" presetID="0" presetClass="path" presetSubtype="0" accel="0" decel="100000" fill="hold" grpId="1" nodeType="withEffect">
                                  <p:stCondLst>
                                    <p:cond delay="0"/>
                                  </p:stCondLst>
                                  <p:childTnLst>
                                    <p:animMotion origin="layout" path="M 0 0.02778 L 0 0 E" pathEditMode="relative" rAng="0" ptsTypes="AA">
                                      <p:cBhvr>
                                        <p:cTn id="36" dur="500" fill="hold"/>
                                        <p:tgtEl>
                                          <p:spTgt spid="8"/>
                                        </p:tgtEl>
                                        <p:attrNameLst>
                                          <p:attrName>ppt_x</p:attrName>
                                          <p:attrName>ppt_y</p:attrName>
                                        </p:attrNameLst>
                                      </p:cBhvr>
                                    </p:animMotion>
                                  </p:childTnLst>
                                </p:cTn>
                              </p:par>
                            </p:childTnLst>
                          </p:cTn>
                        </p:par>
                      </p:childTnLst>
                    </p:cTn>
                  </p:par>
                  <p:par>
                    <p:cTn id="37" fill="hold">
                      <p:stCondLst>
                        <p:cond delay="indefinite"/>
                      </p:stCondLst>
                      <p:childTnLst>
                        <p:par>
                          <p:cTn id="38" fill="hold">
                            <p:stCondLst>
                              <p:cond delay="0"/>
                            </p:stCondLst>
                            <p:childTnLst>
                              <p:par>
                                <p:cTn id="39" presetID="10" presetClass="entr" presetSubtype="0" accel="0" decel="100000" fill="hold" grpId="0" nodeType="click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p:tgtEl>
                                          <p:spTgt spid="9"/>
                                        </p:tgtEl>
                                      </p:cBhvr>
                                    </p:animEffect>
                                  </p:childTnLst>
                                </p:cTn>
                              </p:par>
                              <p:par>
                                <p:cTn id="42" presetID="0" presetClass="path" presetSubtype="0" accel="0" decel="100000" fill="hold" grpId="1" nodeType="withEffect">
                                  <p:stCondLst>
                                    <p:cond delay="0"/>
                                  </p:stCondLst>
                                  <p:childTnLst>
                                    <p:animMotion origin="layout" path="M 0 0.02778 L 0 0 E" pathEditMode="relative" rAng="0" ptsTypes="AA">
                                      <p:cBhvr>
                                        <p:cTn id="43" dur="500" fill="hold"/>
                                        <p:tgtEl>
                                          <p:spTgt spid="9"/>
                                        </p:tgtEl>
                                        <p:attrNameLst>
                                          <p:attrName>ppt_x</p:attrName>
                                          <p:attrName>ppt_y</p:attrName>
                                        </p:attrNameLst>
                                      </p:cBhvr>
                                    </p:animMotion>
                                  </p:childTnLst>
                                </p:cTn>
                              </p:par>
                              <p:par>
                                <p:cTn id="44" presetID="10" presetClass="entr" presetSubtype="0" accel="0" decel="10000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childTnLst>
                                </p:cTn>
                              </p:par>
                              <p:par>
                                <p:cTn id="47" presetID="0" presetClass="path" presetSubtype="0" accel="0" decel="100000" fill="hold" grpId="1" nodeType="withEffect">
                                  <p:stCondLst>
                                    <p:cond delay="0"/>
                                  </p:stCondLst>
                                  <p:childTnLst>
                                    <p:animMotion origin="layout" path="M 0 0.02778 L 0 0 E" pathEditMode="relative" rAng="0" ptsTypes="AA">
                                      <p:cBhvr>
                                        <p:cTn id="48" dur="500" fill="hold"/>
                                        <p:tgtEl>
                                          <p:spTgt spid="10"/>
                                        </p:tgtEl>
                                        <p:attrNameLst>
                                          <p:attrName>ppt_x</p:attrName>
                                          <p:attrName>ppt_y</p:attrName>
                                        </p:attrNameLst>
                                      </p:cBhvr>
                                    </p:animMotion>
                                  </p:childTnLst>
                                </p:cTn>
                              </p:par>
                              <p:par>
                                <p:cTn id="49" presetID="10" presetClass="entr" presetSubtype="0" accel="0" decel="10000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childTnLst>
                                </p:cTn>
                              </p:par>
                              <p:par>
                                <p:cTn id="52" presetID="0" presetClass="path" presetSubtype="0" accel="0" decel="100000" fill="hold" grpId="1" nodeType="withEffect">
                                  <p:stCondLst>
                                    <p:cond delay="0"/>
                                  </p:stCondLst>
                                  <p:childTnLst>
                                    <p:animMotion origin="layout" path="M 0 0.02778 L 0 0 E" pathEditMode="relative" rAng="0" ptsTypes="AA">
                                      <p:cBhvr>
                                        <p:cTn id="53" dur="500" fill="hold"/>
                                        <p:tgtEl>
                                          <p:spTgt spid="11"/>
                                        </p:tgtEl>
                                        <p:attrNameLst>
                                          <p:attrName>ppt_x</p:attrName>
                                          <p:attrName>ppt_y</p:attrName>
                                        </p:attrNameLst>
                                      </p:cBhvr>
                                    </p:animMotion>
                                  </p:childTnLst>
                                </p:cTn>
                              </p:par>
                              <p:par>
                                <p:cTn id="54" presetID="10" presetClass="entr" presetSubtype="0" accel="0" decel="10000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par>
                                <p:cTn id="57" presetID="0" presetClass="path" presetSubtype="0" accel="0" decel="100000" fill="hold" grpId="1" nodeType="withEffect">
                                  <p:stCondLst>
                                    <p:cond delay="0"/>
                                  </p:stCondLst>
                                  <p:childTnLst>
                                    <p:animMotion origin="layout" path="M 0 0.02778 L 0 0 E" pathEditMode="relative" rAng="0" ptsTypes="AA">
                                      <p:cBhvr>
                                        <p:cTn id="58" dur="500" fill="hold"/>
                                        <p:tgtEl>
                                          <p:spTgt spid="12"/>
                                        </p:tgtEl>
                                        <p:attrNameLst>
                                          <p:attrName>ppt_x</p:attrName>
                                          <p:attrName>ppt_y</p:attrName>
                                        </p:attrNameLst>
                                      </p:cBhvr>
                                    </p:animMotion>
                                  </p:childTnLst>
                                </p:cTn>
                              </p:par>
                            </p:childTnLst>
                          </p:cTn>
                        </p:par>
                      </p:childTnLst>
                    </p:cTn>
                  </p:par>
                  <p:par>
                    <p:cTn id="59" fill="hold">
                      <p:stCondLst>
                        <p:cond delay="indefinite"/>
                      </p:stCondLst>
                      <p:childTnLst>
                        <p:par>
                          <p:cTn id="60" fill="hold">
                            <p:stCondLst>
                              <p:cond delay="0"/>
                            </p:stCondLst>
                            <p:childTnLst>
                              <p:par>
                                <p:cTn id="61" presetID="10" presetClass="entr" presetSubtype="0" accel="0" decel="100000"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childTnLst>
                                </p:cTn>
                              </p:par>
                              <p:par>
                                <p:cTn id="64" presetID="0" presetClass="path" presetSubtype="0" accel="0" decel="100000" fill="hold" grpId="1" nodeType="withEffect">
                                  <p:stCondLst>
                                    <p:cond delay="0"/>
                                  </p:stCondLst>
                                  <p:childTnLst>
                                    <p:animMotion origin="layout" path="M 0 0.02778 L 0 0 E" pathEditMode="relative" rAng="0" ptsTypes="AA">
                                      <p:cBhvr>
                                        <p:cTn id="65" dur="500" fill="hold"/>
                                        <p:tgtEl>
                                          <p:spTgt spid="13"/>
                                        </p:tgtEl>
                                        <p:attrNameLst>
                                          <p:attrName>ppt_x</p:attrName>
                                          <p:attrName>ppt_y</p:attrName>
                                        </p:attrNameLst>
                                      </p:cBhvr>
                                    </p:animMotion>
                                  </p:childTnLst>
                                </p:cTn>
                              </p:par>
                              <p:par>
                                <p:cTn id="66" presetID="10" presetClass="entr" presetSubtype="0" accel="0" decel="100000"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8" dur="500"/>
                                        <p:tgtEl>
                                          <p:spTgt spid="14"/>
                                        </p:tgtEl>
                                      </p:cBhvr>
                                    </p:animEffect>
                                  </p:childTnLst>
                                </p:cTn>
                              </p:par>
                              <p:par>
                                <p:cTn id="69" presetID="0" presetClass="path" presetSubtype="0" accel="0" decel="100000" fill="hold" grpId="1" nodeType="withEffect">
                                  <p:stCondLst>
                                    <p:cond delay="0"/>
                                  </p:stCondLst>
                                  <p:childTnLst>
                                    <p:animMotion origin="layout" path="M 0 0.02778 L 0 0 E" pathEditMode="relative" rAng="0" ptsTypes="AA">
                                      <p:cBhvr>
                                        <p:cTn id="70" dur="500" fill="hold"/>
                                        <p:tgtEl>
                                          <p:spTgt spid="14"/>
                                        </p:tgtEl>
                                        <p:attrNameLst>
                                          <p:attrName>ppt_x</p:attrName>
                                          <p:attrName>ppt_y</p:attrName>
                                        </p:attrNameLst>
                                      </p:cBhvr>
                                    </p:animMotion>
                                  </p:childTnLst>
                                </p:cTn>
                              </p:par>
                              <p:par>
                                <p:cTn id="71" presetID="10" presetClass="entr" presetSubtype="0" accel="0" decel="10000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500"/>
                                        <p:tgtEl>
                                          <p:spTgt spid="15"/>
                                        </p:tgtEl>
                                      </p:cBhvr>
                                    </p:animEffect>
                                  </p:childTnLst>
                                </p:cTn>
                              </p:par>
                              <p:par>
                                <p:cTn id="74" presetID="0" presetClass="path" presetSubtype="0" accel="0" decel="100000" fill="hold" grpId="1" nodeType="withEffect">
                                  <p:stCondLst>
                                    <p:cond delay="0"/>
                                  </p:stCondLst>
                                  <p:childTnLst>
                                    <p:animMotion origin="layout" path="M 0 0.02778 L 0 0 E" pathEditMode="relative" rAng="0" ptsTypes="AA">
                                      <p:cBhvr>
                                        <p:cTn id="75" dur="500" fill="hold"/>
                                        <p:tgtEl>
                                          <p:spTgt spid="15"/>
                                        </p:tgtEl>
                                        <p:attrNameLst>
                                          <p:attrName>ppt_x</p:attrName>
                                          <p:attrName>ppt_y</p:attrName>
                                        </p:attrNameLst>
                                      </p:cBhvr>
                                    </p:animMotion>
                                  </p:childTnLst>
                                </p:cTn>
                              </p:par>
                              <p:par>
                                <p:cTn id="76" presetID="10" presetClass="entr" presetSubtype="0" accel="0" decel="100000" fill="hold" grpId="0" nodeType="withEffect">
                                  <p:stCondLst>
                                    <p:cond delay="0"/>
                                  </p:stCondLst>
                                  <p:childTnLst>
                                    <p:set>
                                      <p:cBhvr>
                                        <p:cTn id="77" dur="1" fill="hold">
                                          <p:stCondLst>
                                            <p:cond delay="0"/>
                                          </p:stCondLst>
                                        </p:cTn>
                                        <p:tgtEl>
                                          <p:spTgt spid="16"/>
                                        </p:tgtEl>
                                        <p:attrNameLst>
                                          <p:attrName>style.visibility</p:attrName>
                                        </p:attrNameLst>
                                      </p:cBhvr>
                                      <p:to>
                                        <p:strVal val="visible"/>
                                      </p:to>
                                    </p:set>
                                    <p:animEffect transition="in" filter="fade">
                                      <p:cBhvr>
                                        <p:cTn id="78" dur="500"/>
                                        <p:tgtEl>
                                          <p:spTgt spid="16"/>
                                        </p:tgtEl>
                                      </p:cBhvr>
                                    </p:animEffect>
                                  </p:childTnLst>
                                </p:cTn>
                              </p:par>
                              <p:par>
                                <p:cTn id="79" presetID="0" presetClass="path" presetSubtype="0" accel="0" decel="100000" fill="hold" grpId="1" nodeType="withEffect">
                                  <p:stCondLst>
                                    <p:cond delay="0"/>
                                  </p:stCondLst>
                                  <p:childTnLst>
                                    <p:animMotion origin="layout" path="M 0 0.02778 L 0 0 E" pathEditMode="relative" rAng="0" ptsTypes="AA">
                                      <p:cBhvr>
                                        <p:cTn id="80" dur="500" fill="hold"/>
                                        <p:tgtEl>
                                          <p:spTgt spid="1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8" grpId="0" animBg="1"/>
      <p:bldP spid="8" grpId="1" animBg="1"/>
      <p:bldP spid="12" grpId="0" animBg="1"/>
      <p:bldP spid="12" grpId="1" animBg="1"/>
      <p:bldP spid="16" grpId="0" animBg="1"/>
      <p:bldP spid="16" grpId="1"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85800" y="1143000"/>
            <a:ext cx="10820095" cy="310896"/>
          </a:xfrm>
          <a:prstGeom prst="rect">
            <a:avLst/>
          </a:prstGeom>
          <a:noFill/>
          <a:ln/>
        </p:spPr>
        <p:txBody>
          <a:bodyPr wrap="square" lIns="0" tIns="0" rIns="0" bIns="0" rtlCol="0" anchor="t"/>
          <a:lstStyle/>
          <a:p>
            <a:pPr algn="l" indent="0" marL="0">
              <a:buNone/>
            </a:pPr>
            <a:r>
              <a:rPr lang="en-US" sz="1100" b="1" spc="200" kern="0" dirty="0">
                <a:solidFill>
                  <a:schemeClr val="accent2"/>
                </a:solidFill>
              </a:rPr>
              <a:t>FIN DE LA PRÉSENTATION</a:t>
            </a:r>
            <a:endParaRPr lang="en-US" sz="1100" dirty="0"/>
          </a:p>
        </p:txBody>
      </p:sp>
      <p:sp>
        <p:nvSpPr>
          <p:cNvPr id="3" name="Text 0"/>
          <p:cNvSpPr/>
          <p:nvPr>
            <p:ph idx="101" type="title" hasCustomPrompt="1"/>
          </p:nvPr>
        </p:nvSpPr>
        <p:spPr>
          <a:xfrm>
            <a:off x="685800" y="1645920"/>
            <a:ext cx="9692640" cy="3566160"/>
          </a:xfrm>
          <a:prstGeom prst="rect">
            <a:avLst/>
          </a:prstGeom>
          <a:noFill/>
          <a:ln/>
        </p:spPr>
        <p:txBody>
          <a:bodyPr wrap="square" lIns="0" tIns="0" rIns="0" bIns="0" rtlCol="0" anchor="t"/>
          <a:lstStyle/>
          <a:p>
            <a:pPr algn="l" indent="0" marL="0">
              <a:lnSpc>
                <a:spcPct val="110000"/>
              </a:lnSpc>
              <a:buNone/>
            </a:pPr>
            <a:r>
              <a:rPr lang="en-US" sz="3000" dirty="0">
                <a:solidFill>
                  <a:schemeClr val="bg1"/>
                </a:solidFill>
                <a:latin typeface="Poppins ExtraBold" pitchFamily="34" charset="0"/>
                <a:ea typeface="Poppins ExtraBold" pitchFamily="34" charset="-122"/>
                <a:cs typeface="Poppins ExtraBold" pitchFamily="34" charset="-120"/>
              </a:rPr>
              <a:t>Merci de votre attention</a:t>
            </a:r>
            <a:endParaRPr lang="en-US" sz="3000" dirty="0"/>
          </a:p>
        </p:txBody>
      </p:sp>
      <p:pic>
        <p:nvPicPr>
          <p:cNvPr id="4" name="C1_logo" descr="Logo American's Gym">    </p:cNvPr>
          <p:cNvPicPr>
            <a:picLocks noChangeAspect="1"/>
          </p:cNvPicPr>
          <p:nvPr/>
        </p:nvPicPr>
        <p:blipFill>
          <a:blip r:embed="rId1"/>
          <a:stretch>
            <a:fillRect/>
          </a:stretch>
        </p:blipFill>
        <p:spPr>
          <a:xfrm>
            <a:off x="8138160" y="2100249"/>
            <a:ext cx="3383280" cy="2566063"/>
          </a:xfrm>
          <a:prstGeom prst="rect">
            <a:avLst/>
          </a:prstGeom>
        </p:spPr>
      </p:pic>
      <p:sp>
        <p:nvSpPr>
          <p:cNvPr id="5" name="C1_nom"/>
          <p:cNvSpPr txBox="1"/>
          <p:nvPr/>
        </p:nvSpPr>
        <p:spPr>
          <a:xfrm>
            <a:off x="685800" y="3017520"/>
            <a:ext cx="6858000" cy="411480"/>
          </a:xfrm>
          <a:prstGeom prst="rect">
            <a:avLst/>
          </a:prstGeom>
          <a:noFill/>
          <a:ln/>
        </p:spPr>
        <p:txBody>
          <a:bodyPr wrap="square" lIns="0" tIns="0" rIns="0" bIns="0" rtlCol="0" anchor="t"/>
          <a:lstStyle/>
          <a:p>
            <a:pPr indent="0" marL="0">
              <a:buNone/>
            </a:pPr>
            <a:r>
              <a:rPr lang="en-US" sz="1800" b="1" dirty="0">
                <a:solidFill>
                  <a:schemeClr val="bg1"/>
                </a:solidFill>
              </a:rPr>
              <a:t>CAMARA BINTOU ÉPSE HOZAN</a:t>
            </a:r>
            <a:endParaRPr lang="en-US" sz="1800" dirty="0"/>
          </a:p>
        </p:txBody>
      </p:sp>
      <p:sp>
        <p:nvSpPr>
          <p:cNvPr id="6" name="C1_sub"/>
          <p:cNvSpPr txBox="1"/>
          <p:nvPr/>
        </p:nvSpPr>
        <p:spPr>
          <a:xfrm>
            <a:off x="685800" y="3474720"/>
            <a:ext cx="7315200" cy="365760"/>
          </a:xfrm>
          <a:prstGeom prst="rect">
            <a:avLst/>
          </a:prstGeom>
          <a:noFill/>
          <a:ln/>
        </p:spPr>
        <p:txBody>
          <a:bodyPr wrap="square" lIns="0" tIns="0" rIns="0" bIns="0" rtlCol="0" anchor="t"/>
          <a:lstStyle/>
          <a:p>
            <a:pPr indent="0" marL="0">
              <a:buNone/>
            </a:pPr>
            <a:r>
              <a:rPr lang="en-US" sz="1200" dirty="0">
                <a:solidFill>
                  <a:schemeClr val="accent2"/>
                </a:solidFill>
              </a:rPr>
              <a:t>Licence professionnelle Arts et Images Numériques  ·  ISTC Polytechnique  ·  2025-2026</a:t>
            </a:r>
            <a:endParaRPr lang="en-US" sz="1200" dirty="0"/>
          </a:p>
        </p:txBody>
      </p:sp>
      <p:sp>
        <p:nvSpPr>
          <p:cNvPr id="25" name="Slide Number Placeholder 0"/>
          <p:cNvSpPr>
            <a:spLocks noGrp="1"/>
          </p:cNvSpPr>
          <p:nvPr>
            <p:ph type="sldNum" sz="quarter" idx="4294967295"/>
          </p:nvPr>
        </p:nvSpPr>
        <p:spPr>
          <a:xfrm>
            <a:off x="10957255" y="6382512"/>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0"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0" presetClass="path" presetSubtype="0" accel="0" decel="100000" fill="hold" grpId="1" nodeType="withEffect">
                                  <p:stCondLst>
                                    <p:cond delay="0"/>
                                  </p:stCondLst>
                                  <p:childTnLst>
                                    <p:animMotion origin="layout" path="M 0 0.02778 L 0 0 E" pathEditMode="relative" rAng="0" ptsTypes="AA">
                                      <p:cBhvr>
                                        <p:cTn id="9" dur="500" fill="hold"/>
                                        <p:tgtEl>
                                          <p:spTgt spid="2"/>
                                        </p:tgtEl>
                                        <p:attrNameLst>
                                          <p:attrName>ppt_x</p:attrName>
                                          <p:attrName>ppt_y</p:attrName>
                                        </p:attrNameLst>
                                      </p:cBhvr>
                                    </p:animMotion>
                                  </p:childTnLst>
                                </p:cTn>
                              </p:par>
                              <p:par>
                                <p:cTn id="10" presetID="10" presetClass="entr" presetSubtype="0" accel="0" decel="10000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3" presetID="0" presetClass="path" presetSubtype="0" accel="0" decel="100000" fill="hold" grpId="1" nodeType="withEffect">
                                  <p:stCondLst>
                                    <p:cond delay="0"/>
                                  </p:stCondLst>
                                  <p:childTnLst>
                                    <p:animMotion origin="layout" path="M 0 0.02778 L 0 0 E" pathEditMode="relative" rAng="0" ptsTypes="AA">
                                      <p:cBhvr>
                                        <p:cTn id="14" dur="500" fill="hold"/>
                                        <p:tgtEl>
                                          <p:spTgt spid="3"/>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accel="0" decel="10000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childTnLst>
                                </p:cTn>
                              </p:par>
                              <p:par>
                                <p:cTn id="20" presetID="0" presetClass="path" presetSubtype="0" accel="0" decel="100000" fill="hold" grpId="1" nodeType="withEffect">
                                  <p:stCondLst>
                                    <p:cond delay="0"/>
                                  </p:stCondLst>
                                  <p:childTnLst>
                                    <p:animMotion origin="layout" path="M 0 0.02778 L 0 0 E" pathEditMode="relative" rAng="0" ptsTypes="AA">
                                      <p:cBhvr>
                                        <p:cTn id="21" dur="500" fill="hold"/>
                                        <p:tgtEl>
                                          <p:spTgt spid="4"/>
                                        </p:tgtEl>
                                        <p:attrNameLst>
                                          <p:attrName>ppt_x</p:attrName>
                                          <p:attrName>ppt_y</p:attrName>
                                        </p:attrNameLst>
                                      </p:cBhvr>
                                    </p:animMotion>
                                  </p:childTnLst>
                                </p:cTn>
                              </p:par>
                              <p:par>
                                <p:cTn id="22" presetID="10" presetClass="entr" presetSubtype="0" accel="0" decel="100000" fill="hold" grpId="0" nodeType="with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500"/>
                                        <p:tgtEl>
                                          <p:spTgt spid="5"/>
                                        </p:tgtEl>
                                      </p:cBhvr>
                                    </p:animEffect>
                                  </p:childTnLst>
                                </p:cTn>
                              </p:par>
                              <p:par>
                                <p:cTn id="25" presetID="0" presetClass="path" presetSubtype="0" accel="0" decel="100000" fill="hold" grpId="1" nodeType="withEffect">
                                  <p:stCondLst>
                                    <p:cond delay="0"/>
                                  </p:stCondLst>
                                  <p:childTnLst>
                                    <p:animMotion origin="layout" path="M 0 0.02778 L 0 0 E" pathEditMode="relative" rAng="0" ptsTypes="AA">
                                      <p:cBhvr>
                                        <p:cTn id="26" dur="500" fill="hold"/>
                                        <p:tgtEl>
                                          <p:spTgt spid="5"/>
                                        </p:tgtEl>
                                        <p:attrNameLst>
                                          <p:attrName>ppt_x</p:attrName>
                                          <p:attrName>ppt_y</p:attrName>
                                        </p:attrNameLst>
                                      </p:cBhvr>
                                    </p:animMotion>
                                  </p:childTnLst>
                                </p:cTn>
                              </p:par>
                              <p:par>
                                <p:cTn id="27" presetID="10" presetClass="entr" presetSubtype="0" accel="0" decel="100000" fill="hold" grpId="0" nodeType="withEffect">
                                  <p:stCondLst>
                                    <p:cond delay="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500"/>
                                        <p:tgtEl>
                                          <p:spTgt spid="6"/>
                                        </p:tgtEl>
                                      </p:cBhvr>
                                    </p:animEffect>
                                  </p:childTnLst>
                                </p:cTn>
                              </p:par>
                              <p:par>
                                <p:cTn id="30" presetID="0" presetClass="path" presetSubtype="0" accel="0" decel="100000" fill="hold" grpId="1" nodeType="withEffect">
                                  <p:stCondLst>
                                    <p:cond delay="0"/>
                                  </p:stCondLst>
                                  <p:childTnLst>
                                    <p:animMotion origin="layout" path="M 0 0.02778 L 0 0 E" pathEditMode="relative" rAng="0" ptsTypes="AA">
                                      <p:cBhvr>
                                        <p:cTn id="31" dur="5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5" grpId="0" animBg="1"/>
      <p:bldP spid="5" grpId="1" animBg="1"/>
      <p:bldP spid="6" grpId="0" animBg="1"/>
      <p:bldP spid="6" grpId="1" animBg="1"/>
    </p:bldLst>
  </p:timing>
</p:sld>
</file>

<file path=ppt/theme/theme1.xml><?xml version="1.0" encoding="utf-8"?>
<a:theme xmlns:a="http://schemas.openxmlformats.org/drawingml/2006/main" name="American's Gym">
  <a:themeElements>
    <a:clrScheme name="American's Gym">
      <a:dk1>
        <a:srgbClr val="1D3557"/>
      </a:dk1>
      <a:lt1>
        <a:srgbClr val="FFFFFF"/>
      </a:lt1>
      <a:dk2>
        <a:srgbClr val="2B3A4F"/>
      </a:dk2>
      <a:lt2>
        <a:srgbClr val="EEF2F6"/>
      </a:lt2>
      <a:accent1>
        <a:srgbClr val="E63946"/>
      </a:accent1>
      <a:accent2>
        <a:srgbClr val="A8DADC"/>
      </a:accent2>
      <a:accent3>
        <a:srgbClr val="1D3557"/>
      </a:accent3>
      <a:accent4>
        <a:srgbClr val="6B7A90"/>
      </a:accent4>
      <a:accent5>
        <a:srgbClr val="142640"/>
      </a:accent5>
      <a:accent6>
        <a:srgbClr val="F7D7DA"/>
      </a:accent6>
      <a:hlink>
        <a:srgbClr val="E63946"/>
      </a:hlink>
      <a:folHlink>
        <a:srgbClr val="1D3557"/>
      </a:folHlink>
    </a:clrScheme>
    <a:fontScheme name="American's Gym">
      <a:majorFont>
        <a:latin typeface="Poppins Extra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ISTC Polytechnique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 Supports de communication American's Gym</dc:title>
  <dc:subject>PptxGenJS Presentation</dc:subject>
  <dc:creator>CAMARA BINTOU ÉPSE HOZAN</dc:creator>
  <cp:lastModifiedBy>CAMARA BINTOU ÉPSE HOZAN</cp:lastModifiedBy>
  <cp:revision>1</cp:revision>
  <dcterms:created xsi:type="dcterms:W3CDTF">2026-10-24T10:07:28Z</dcterms:created>
  <dcterms:modified xsi:type="dcterms:W3CDTF">2026-10-24T10:07:28Z</dcterms:modified>
</cp:coreProperties>
</file>