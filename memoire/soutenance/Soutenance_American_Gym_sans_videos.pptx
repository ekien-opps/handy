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e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b76b1c4f-5b10-eb60-f8fe-ff1b8cbe18e7}">
          <p14:sldIdLst>
            <p14:sldId id="256"/>
            <p14:sldId id="257"/>
          </p14:sldIdLst>
        </p14:section>
        <p14:section name="01 · Introduction" id="{f11c1095-a1e1-0c49-60e5-1b5836c15dbc}">
          <p14:sldIdLst>
            <p14:sldId id="258"/>
            <p14:sldId id="259"/>
            <p14:sldId id="260"/>
            <p14:sldId id="261"/>
            <p14:sldId id="262"/>
          </p14:sldIdLst>
        </p14:section>
        <p14:section name="02 · Cadre d’étude" id="{bf02b81d-5623-286f-fbe1-816c3a796a39}">
          <p14:sldIdLst>
            <p14:sldId id="263"/>
            <p14:sldId id="264"/>
            <p14:sldId id="265"/>
            <p14:sldId id="266"/>
            <p14:sldId id="267"/>
          </p14:sldIdLst>
        </p14:section>
        <p14:section name="03 · Étude technique" id="{0abab8c9-94bd-f3b1-346f-7ef72782c68a}">
          <p14:sldIdLst>
            <p14:sldId id="268"/>
            <p14:sldId id="269"/>
            <p14:sldId id="270"/>
            <p14:sldId id="271"/>
            <p14:sldId id="272"/>
            <p14:sldId id="273"/>
            <p14:sldId id="274"/>
            <p14:sldId id="275"/>
            <p14:sldId id="276"/>
            <p14:sldId id="277"/>
            <p14:sldId id="278"/>
          </p14:sldIdLst>
        </p14:section>
        <p14:section name="04 · Réalisations" id="{dfcf6870-ab28-f69d-98df-bdd8c3139df1}">
          <p14:sldIdLst>
            <p14:sldId id="279"/>
            <p14:sldId id="280"/>
            <p14:sldId id="281"/>
            <p14:sldId id="282"/>
            <p14:sldId id="283"/>
            <p14:sldId id="284"/>
            <p14:sldId id="285"/>
            <p14:sldId id="286"/>
            <p14:sldId id="287"/>
            <p14:sldId id="288"/>
            <p14:sldId id="289"/>
            <p14:sldId id="290"/>
            <p14:sldId id="291"/>
          </p14:sldIdLst>
        </p14:section>
        <p14:section name="05 · Conclusion" id="{029d7924-b3a1-1910-4de5-0b076575e64e}">
          <p14:sldIdLst>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Mesdames et Messieurs les membres du jury, je vous présente mon mémoire de Licence professionnelle en Arts et Images Numériques : la conception et la réalisation de supports de communication pour la promotion de la structure de sport American's Gym. Travail dirigé par M. Chafick ADJIBADÉ, sous la supervision du Prof. TOA AGNINI Jules Évariste.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le plan du mémoire : introduction et problématique, cadre d'étude, étude technique, réalisation des supports, puis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le contexte et la question qui a guidé ce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secteur du sport et du fitness connaît un essor des salles et des agences spécialisées. Pour se démarquer, une structure comme American's Gym doit s'appuyer sur des supports adaptés à sa cible et à son positionnement, afin d'accroître sa notoriété, d'attirer de nouveaux adhérents et de fidéliser sa clientèle.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Malgré la diversité de ses activités et la qualité de ses prestations, American's Gym souffre d'une visibilité limitée, faute de supports de communication professionnels et harmonisés. D'où la question centrale de l'étude.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question, l'étude poursuit quatre objectifs : une identité visuelle cohérente, des supports imprimés, des contenus audiovisuels 2D et 3D, et un site web moderne.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L'hypothèse retenue : une stratégie de communication fondée sur des supports graphiques et numériques professionnels permettra d'améliorer significativement la notoriété d'American's Gym, de renforcer son image de marque et d'accroître sa capacité à attirer et fidéliser sa clientèle.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temps : la structure étudiée et l'analyse de sa communication existante.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American's Gym Dokui est un club de fitness, de musculation et de sports de combat situé à Abidjan, dans le quartier d'Abobo-Dokui. Son concept associe des équipements de musculation et de cardio-training importés des États-Unis à un accueil adapté aux réalités ivoiriennes. La direction est assurée par le PDG Djakaria KONATÉ.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Musculation et fitness avec coaching personnalisé ; sports de combat (boxe anglaise / pieds-poings et taekwondo) ; une offre inclusive avec des séances dédiées aux femmes voilées ; enfin la vente de compléments alimentaires et de produits de 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Facebook : une page active d'environ 1 300 abonnés, surtout des vidéos d'ambiance et des fiches produits. TikTok : environ 27 900 mentions J'aime, axé sur le coaching en direct. Une boutique en ligne hébergée sur Shopify (le mémoire écrit « Spotify » p. 10 : coquille à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d'origine puissant mais mention DOKUI ajoutée sans respect des proportions ; affiches produits aux codes vert fluo ou marron déconnectés de l'identité ; lien boutique shopify.com non personnalisé et identifiant TikTok @amricains.gym.dok mal orthographié ; ligne éditoriale de type catalogue et vidéos brutes sans montage. Conséquences : baisse de crédibilité et déficit d'image face à la concurrence.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temps : le cahier des charges et la nouvelle identité visuelle.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cibles principales : les clients actuels à fidéliser ; les clients potentiels (jeunes, adultes, travailleurs, étudiants) à attirer ; les partenaires potentiels (entreprises, marques de nutrition, institutions). Le cahier des charges cite aussi les professionnels de l'industrie (coachs, kinésithérapeutes, nutritionnistes) et le grand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Semaines 1-2 : analyse du besoin, recherches créatives et validation de la charte. Semaines 3-4 : supports print et maquette 3D. Semaines 5-6 : post-production des spots 2D et 3D. Semaines 7-8 : interfaces du site vitrine, intégration des contenus, tests et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recherche s'est concentrée sur des symboles forts de la force athlétique, l'haltère et le poing fermé, associés à l'imagerie américaine : étoiles, rouge, blanc et bleu. Le logo retenu représente une main tenant un haltère, surmontée d'étoiles, avec le nom American's Gym.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poing et l'haltère : la force brute, la musculation et la détermination. Les étoiles : la fierté américaine, l'histoire et la tradition. Le texte AMERICAN'S : une identité de marque forte et exclusive. Le ruban GYM : le nom du logo hybride qui réunit tous ces éléments en une image puissante et cohérente.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 utilise une police au style approchant Impact ou College Bold, en gras pour l'impact visuel. Les supports de communication utilisent Poppins ExtraBold ; les textes secondaires sont en graisse régulière pour la lisibilité.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Codes officiels : bleu #1D3557, blanc #FFFFFF, rouge #E63946 et gris métal #A8DADC. Le bleu symbolise la confiance et la rigueur ; le rouge l'énergie, le courage et la passion ; le blanc la clarté et l'accessibilité. Le gris métal sert aux reliefs de l'haltère. Couleurs définies en CMJN pour l'impression et RVB pour le numérique.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Interdits visuels : ne pas déformer ou étirer le logo ; ne pas changer ses couleurs ; ne pas ajouter d'éléments graphiques ; ne pas supprimer le texte GYM ni les étoiles. Sur fond foncé, détourer le ruban d'un fin liseré blanc ou utiliser la version monochrome blanche.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 est appliqué sur la carte de visite, le polo, la casquette, le sac de sport, les gourdes et le stylo, pour une présence de marque cohérente au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Création graphique : Adobe Illustrator et Photoshop. Animation et vidéo : After Effects, Premiere Pro et Blender, avec Twinmotion pour le rendu final du spot 3D. Web : Adobe Dreamweaver, HTML, CSS et JavaScript ; la base de données est modélisée avec la méthode MERISE (MCD, MLD).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2 du mémoire estime le coût global à 4 800 000 FCFA, réparti entre l'identité visuelle, les maquettes et spots 2D et 3D, les supports imprimés et gadgets, et le site web avec son hébergement. ATTENTION : vérifier le tableau avant la soutenance, la somme des lignes donne 4 300 000 FCFA.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temps : les supports réalisés, imprimés, audiovisuels et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première affiche met en avant l'identité particulière de la salle : le brassage entre la Côte d'Ivoire et les États-Unis, perceptible dans le nom American's Gym et les équipements venus des États-Unis. Réalisée sous Adobe Photoshop.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deuxième affiche vise un effet persuasif et mémorable : logo officiel, accroche, slogan et contacts (07 88 48 18 72, Facebook, Instagram, TikTok).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flyer présente de manière synthétique les services, les tarifs et les avantages d'American's Gym Dokui. Il est consultable en version imprimée comme sur les réseaux sociaux. Format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Dépliant en trois volets, six pages, plié en accordéon. Couverture avec logo, visuel et slogan ; présentation des installations et des tarifs ; catalogue des compléments ; dos avec plan d'accès à Abobo-Dokui, contacts et horaires. Réalisé sous Adobe Illustrator.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kakémono, au format 85 × 200 cm, est destiné aux espaces d'accueil, aux événements sportifs et aux opérations promotionnelles : logo en partie haute, accroche, slogan, coordonnées et appel à l'action « Rejoignez la communauté American's Gym Dokui ». Réalisé sous Photoshop, en CMJN à 300 pixels par pouce.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visuels sont destinés à Facebook, Instagram et TikTok, au format carré 1080 × 1080 pixels pour les publications et en formats verticaux pour les stories. Objectif : une continuité visuelle entre supports imprimés et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Animation du logo réalisée sous Adobe After Effects : les éléments textuels du logo sont animés (position, opacité, rotation) puis synchronisés par images-clés, avant un export au format MP4 avec la piste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spot 2D présente de façon dynamique les activités et services d'American's Gym Dokui : les équipements s'animent en rythme, puis une scène de groupe illustre la convivialité, avant la signature « American's Gym, l'excellence du fitness au cœur de votre bien-être ». (Durée annoncée : 25 s dans la fiche technique, 30 s plus loin : à harmoniser ; la vidéo fournie dure 26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spot 3D présente l'image moderne et professionnelle des locaux : une caméra virtuelle traverse la salle modélisée, met en valeur les équipements et les jeux de lumière. Modélisation sous Blender, montage et bruitage sous Premiere Pro, rendu final sous Twinmotion. Durée : 30 secondes, 1920 × 1080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vitrine est le point central de l'écosystème numérique : il crédibilise la structure, présente l'espace sportif et permet la commande de compléments alimentaires. Six rubriques : Accueil, À propos, Nos équipements, Boutique, Tarifs et abonnements, Contacts.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L'onglet Accueil présente brièvement l'ensemble des éléments de l'entreprise et donne accès au menu de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propos : histoire, vision et valeurs. Nos équipements. Boutique : catalogue filtrable de compléments. Tarifs et abonnements. Contacts : formulaire, carte interactive d'Abobo-Dokui, téléphone, Gmail et réseaux sociaux.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je reviens sur la problématique et propose des recommandations.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travaux réalisés montrent que la création de supports de communication visuelle et numérique est un moyen pertinent de valoriser l'identité d'American's Gym et de soutenir sa promotion. Toutefois, la conception ne suffit pas à elle seule : les résultats dépendront de la qualité de la diffusion, de la régularité des publications et de la continuité des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recommandons à American's Gym une stratégie de communication cohérente et durable : utilisation harmonisée des supports, actualisation régulière des contenus numériques, puis évaluation des effets à partir d'indicateurs comme les interactions numériques, les demandes d'inscription et l'évolution du nombre d'adhérents.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de votre attention et me tiens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rtlCol="0"/>
          <a:lstStyle>
            <a:lvl1pPr algn="l" indent="0" marL="0">
              <a:buNone/>
              <a:defRPr lang="en-US" sz="1100" b="1" spc="2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rtlCol="0"/>
          <a:lstStyle>
            <a:lvl1pPr algn="l" indent="0" marL="0">
              <a:buNone/>
              <a:defRPr lang="en-US" sz="3000" dirty="0">
                <a:solidFill>
                  <a:schemeClr val="tx1"/>
                </a:solidFill>
                <a:latin typeface="Poppins ExtraBold" pitchFamily="34" charset="0"/>
                <a:ea typeface="Poppins ExtraBold" pitchFamily="34" charset="-122"/>
                <a:cs typeface="Poppins ExtraBold" pitchFamily="34" charset="-120"/>
              </a:defRPr>
            </a:lvl1pPr>
          </a:lstStyle>
          <a:p>
            <a:pPr algn="l" indent="0" marL="0">
              <a:buNone/>
            </a:pPr>
            <a:endParaRPr lang="en-US" sz="3000" dirty="0"/>
          </a:p>
        </p:txBody>
      </p:sp>
      <p:sp>
        <p:nvSpPr>
          <p:cNvPr id="4" name="Text 0"/>
          <p:cNvSpPr/>
          <p:nvPr/>
        </p:nvSpPr>
        <p:spPr>
          <a:xfrm>
            <a:off x="685800" y="6382512"/>
            <a:ext cx="9144000" cy="256032"/>
          </a:xfrm>
          <a:prstGeom prst="rect">
            <a:avLst/>
          </a:prstGeom>
          <a:noFill/>
          <a:ln/>
        </p:spPr>
        <p:txBody>
          <a:bodyPr wrap="square" lIns="0" tIns="0" rIns="0" bIns="0" rtlCol="0" anchor="ctr"/>
          <a:lstStyle/>
          <a:p>
            <a:pPr indent="0" marL="0">
              <a:buNone/>
            </a:pPr>
            <a:r>
              <a:rPr lang="en-US" sz="900" dirty="0">
                <a:solidFill>
                  <a:schemeClr val="accent4"/>
                </a:solidFill>
              </a:rPr>
              <a:t>CAMARA BINTOU ÉPSE HOZAN  ·  Licence professionnelle Arts et Images Numériques  ·  ISTC Polytechnique</a:t>
            </a:r>
            <a:endParaRPr lang="en-US" sz="900" dirty="0"/>
          </a:p>
        </p:txBody>
      </p:sp>
      <p:sp>
        <p:nvSpPr>
          <p:cNvPr id="2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_DIVIDER">
    <p:bg>
      <p:bgPr>
        <a:solidFill>
          <a:schemeClr val="tx1"/>
        </a:solidFill>
      </p:bgPr>
    </p:bg>
    <p:spTree>
      <p:nvGrpSpPr>
        <p:cNvPr id="1" name=""/>
        <p:cNvGrpSpPr/>
        <p:nvPr/>
      </p:nvGrpSpPr>
      <p:grpSpPr>
        <a:xfrm>
          <a:off x="0" y="0"/>
          <a:ext cx="0" cy="0"/>
          <a:chOff x="0" y="0"/>
          <a:chExt cx="0" cy="0"/>
        </a:xfrm>
      </p:grpSpPr>
      <p:pic>
        <p:nvPicPr>
          <p:cNvPr id="2" name="Image 0" descr="/tmp/claude-0/-home-user-HANDY/6bbfc0f3-9363-58e6-a84d-0853f925f572/scratchpad/deck/assets/logo_ag.png">    </p:cNvPr>
          <p:cNvPicPr>
            <a:picLocks noChangeAspect="1"/>
          </p:cNvPicPr>
          <p:nvPr/>
        </p:nvPicPr>
        <p:blipFill>
          <a:blip r:embed="rId1"/>
          <a:stretch>
            <a:fillRect/>
          </a:stretch>
        </p:blipFill>
        <p:spPr>
          <a:xfrm>
            <a:off x="10362895" y="5715000"/>
            <a:ext cx="1143000" cy="866913"/>
          </a:xfrm>
          <a:prstGeom prst="rect">
            <a:avLst/>
          </a:prstGeom>
        </p:spPr>
      </p:pic>
      <p:sp>
        <p:nvSpPr>
          <p:cNvPr id="3" name="Text 0"/>
          <p:cNvSpPr/>
          <p:nvPr>
            <p:ph idx="101" type="body" hasCustomPrompt="1"/>
          </p:nvPr>
        </p:nvSpPr>
        <p:spPr>
          <a:xfrm>
            <a:off x="685800" y="1965960"/>
            <a:ext cx="3657600" cy="1371600"/>
          </a:xfrm>
          <a:prstGeom prst="rect">
            <a:avLst/>
          </a:prstGeom>
          <a:noFill/>
          <a:ln/>
        </p:spPr>
        <p:txBody>
          <a:bodyPr wrap="square" rtlCol="0"/>
          <a:lstStyle>
            <a:lvl1pPr algn="l" indent="0" marL="0">
              <a:buNone/>
              <a:defRPr lang="en-US" sz="8000" dirty="0">
                <a:solidFill>
                  <a:schemeClr val="accent1"/>
                </a:solidFill>
                <a:latin typeface="Poppins ExtraBold" pitchFamily="34" charset="0"/>
                <a:ea typeface="Poppins ExtraBold" pitchFamily="34" charset="-122"/>
                <a:cs typeface="Poppins ExtraBold" pitchFamily="34" charset="-120"/>
              </a:defRPr>
            </a:lvl1pPr>
          </a:lstStyle>
          <a:p>
            <a:pPr algn="l" indent="0" marL="0">
              <a:buNone/>
            </a:pPr>
            <a:endParaRPr lang="en-US" sz="8000" dirty="0"/>
          </a:p>
        </p:txBody>
      </p:sp>
      <p:sp>
        <p:nvSpPr>
          <p:cNvPr id="4" name="Text 0"/>
          <p:cNvSpPr/>
          <p:nvPr>
            <p:ph idx="102" type="title" hasCustomPrompt="1"/>
          </p:nvPr>
        </p:nvSpPr>
        <p:spPr>
          <a:xfrm>
            <a:off x="685800" y="3429000"/>
            <a:ext cx="9601200" cy="1188720"/>
          </a:xfrm>
          <a:prstGeom prst="rect">
            <a:avLst/>
          </a:prstGeom>
          <a:noFill/>
          <a:ln/>
        </p:spPr>
        <p:txBody>
          <a:bodyPr wrap="square" rtlCol="0"/>
          <a:lstStyle>
            <a:lvl1pPr algn="l" indent="0" marL="0">
              <a:buNone/>
              <a:defRPr lang="en-US" sz="4000" dirty="0">
                <a:solidFill>
                  <a:schemeClr val="bg1"/>
                </a:solidFill>
                <a:latin typeface="Poppins ExtraBold" pitchFamily="34" charset="0"/>
                <a:ea typeface="Poppins ExtraBold" pitchFamily="34" charset="-122"/>
                <a:cs typeface="Poppins ExtraBold"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_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1143000"/>
            <a:ext cx="10820095" cy="310896"/>
          </a:xfrm>
          <a:prstGeom prst="rect">
            <a:avLst/>
          </a:prstGeom>
          <a:noFill/>
          <a:ln/>
        </p:spPr>
        <p:txBody>
          <a:bodyPr wrap="square" rtlCol="0"/>
          <a:lstStyle>
            <a:lvl1pPr algn="l" indent="0" marL="0">
              <a:buNone/>
              <a:defRPr lang="en-US" sz="1100" b="1" spc="200" kern="0"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685800" y="1645920"/>
            <a:ext cx="9692640" cy="3566160"/>
          </a:xfrm>
          <a:prstGeom prst="rect">
            <a:avLst/>
          </a:prstGeom>
          <a:noFill/>
          <a:ln/>
        </p:spPr>
        <p:txBody>
          <a:bodyPr wrap="square" rtlCol="0"/>
          <a:lstStyle>
            <a:lvl1pPr algn="l" indent="0" marL="0">
              <a:lnSpc>
                <a:spcPct val="110000"/>
              </a:lnSpc>
              <a:buNone/>
              <a:defRPr lang="en-US" sz="3000" dirty="0">
                <a:solidFill>
                  <a:schemeClr val="bg1"/>
                </a:solidFill>
                <a:latin typeface="Poppins ExtraBold" pitchFamily="34" charset="0"/>
                <a:ea typeface="Poppins ExtraBold" pitchFamily="34" charset="-122"/>
                <a:cs typeface="Poppins ExtraBold" pitchFamily="34" charset="-120"/>
              </a:defRPr>
            </a:lvl1pPr>
          </a:lstStyle>
          <a:p>
            <a:pPr algn="l" indent="0" marL="0">
              <a:lnSpc>
                <a:spcPct val="110000"/>
              </a:lnSpc>
              <a:buNone/>
            </a:pPr>
            <a:endParaRPr lang="en-US" sz="3000" dirty="0"/>
          </a:p>
        </p:txBody>
      </p:sp>
      <p:sp>
        <p:nvSpPr>
          <p:cNvPr id="2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image" Target="../media/image-21-4.jpg"/><Relationship Id="rId5" Type="http://schemas.openxmlformats.org/officeDocument/2006/relationships/image" Target="../media/image-21-5.jpg"/><Relationship Id="rId6" Type="http://schemas.openxmlformats.org/officeDocument/2006/relationships/image" Target="../media/image-21-6.jp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jpg"/><Relationship Id="rId3" Type="http://schemas.openxmlformats.org/officeDocument/2006/relationships/image" Target="../media/image-28-3.jp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image" Target="../media/image-36-3.jpg"/><Relationship Id="rId4" Type="http://schemas.openxmlformats.org/officeDocument/2006/relationships/image" Target="../media/image-36-4.jpg"/><Relationship Id="rId5" Type="http://schemas.openxmlformats.org/officeDocument/2006/relationships/slideLayout" Target="../slideLayouts/slideLayout2.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_istc_chip"/>
          <p:cNvSpPr/>
          <p:nvPr/>
        </p:nvSpPr>
        <p:spPr>
          <a:xfrm>
            <a:off x="685800" y="502920"/>
            <a:ext cx="1417320" cy="1097280"/>
          </a:xfrm>
          <a:prstGeom prst="roundRect">
            <a:avLst>
              <a:gd name="adj" fmla="val 10000"/>
            </a:avLst>
          </a:prstGeom>
          <a:solidFill>
            <a:schemeClr val="bg1"/>
          </a:solidFill>
          <a:ln/>
        </p:spPr>
      </p:sp>
      <p:pic>
        <p:nvPicPr>
          <p:cNvPr id="3" name="T_istc" descr="Logo ISTC Polytechnique">    </p:cNvPr>
          <p:cNvPicPr>
            <a:picLocks noChangeAspect="1"/>
          </p:cNvPicPr>
          <p:nvPr/>
        </p:nvPicPr>
        <p:blipFill>
          <a:blip r:embed="rId1"/>
          <a:stretch>
            <a:fillRect/>
          </a:stretch>
        </p:blipFill>
        <p:spPr>
          <a:xfrm>
            <a:off x="795528" y="583088"/>
            <a:ext cx="1197864" cy="936943"/>
          </a:xfrm>
          <a:prstGeom prst="rect">
            <a:avLst/>
          </a:prstGeom>
        </p:spPr>
      </p:pic>
      <p:sp>
        <p:nvSpPr>
          <p:cNvPr id="4" name="T_eyebrow"/>
          <p:cNvSpPr txBox="1"/>
          <p:nvPr/>
        </p:nvSpPr>
        <p:spPr>
          <a:xfrm>
            <a:off x="685800" y="2011680"/>
            <a:ext cx="8412480" cy="274320"/>
          </a:xfrm>
          <a:prstGeom prst="rect">
            <a:avLst/>
          </a:prstGeom>
          <a:noFill/>
          <a:ln/>
        </p:spPr>
        <p:txBody>
          <a:bodyPr wrap="square" lIns="0" tIns="0" rIns="0" bIns="0" rtlCol="0" anchor="t"/>
          <a:lstStyle/>
          <a:p>
            <a:pPr indent="0" marL="0">
              <a:buNone/>
            </a:pPr>
            <a:r>
              <a:rPr lang="en-US" sz="1000" b="1" spc="100" kern="0" dirty="0">
                <a:solidFill>
                  <a:schemeClr val="accent2"/>
                </a:solidFill>
              </a:rPr>
              <a:t>SOUTENANCE DE LICENCE PROFESSIONNELLE  ·  ARTS ET IMAGES NUMÉRIQUES  ·  2025-2026</a:t>
            </a:r>
            <a:endParaRPr lang="en-US" sz="1000" dirty="0"/>
          </a:p>
        </p:txBody>
      </p:sp>
      <p:sp>
        <p:nvSpPr>
          <p:cNvPr id="5" name="T_title"/>
          <p:cNvSpPr txBox="1"/>
          <p:nvPr/>
        </p:nvSpPr>
        <p:spPr>
          <a:xfrm>
            <a:off x="685800" y="2377440"/>
            <a:ext cx="7498080" cy="1828800"/>
          </a:xfrm>
          <a:prstGeom prst="rect">
            <a:avLst/>
          </a:prstGeom>
          <a:noFill/>
          <a:ln/>
        </p:spPr>
        <p:txBody>
          <a:bodyPr wrap="square" lIns="0" tIns="0" rIns="0" bIns="0" rtlCol="0" anchor="t"/>
          <a:lstStyle/>
          <a:p>
            <a:pPr indent="0" marL="0">
              <a:lnSpc>
                <a:spcPct val="105000"/>
              </a:lnSpc>
              <a:buNone/>
            </a:pPr>
            <a:r>
              <a:rPr lang="en-US" sz="2800" dirty="0">
                <a:solidFill>
                  <a:schemeClr val="bg1"/>
                </a:solidFill>
                <a:latin typeface="Poppins ExtraBold" pitchFamily="34" charset="0"/>
                <a:ea typeface="Poppins ExtraBold" pitchFamily="34" charset="-122"/>
                <a:cs typeface="Poppins ExtraBold" pitchFamily="34" charset="-120"/>
              </a:rPr>
              <a:t>Conception et réalisation de supports de communication pour la promotion de la structure de sport « American’s Gym »</a:t>
            </a:r>
            <a:endParaRPr lang="en-US" sz="2800" dirty="0"/>
          </a:p>
        </p:txBody>
      </p:sp>
      <p:pic>
        <p:nvPicPr>
          <p:cNvPr id="6" name="T_logo" descr="Logo American's Gym">    </p:cNvPr>
          <p:cNvPicPr>
            <a:picLocks noChangeAspect="1"/>
          </p:cNvPicPr>
          <p:nvPr/>
        </p:nvPicPr>
        <p:blipFill>
          <a:blip r:embed="rId2"/>
          <a:stretch>
            <a:fillRect/>
          </a:stretch>
        </p:blipFill>
        <p:spPr>
          <a:xfrm>
            <a:off x="8458200" y="1947297"/>
            <a:ext cx="3063240" cy="2323327"/>
          </a:xfrm>
          <a:prstGeom prst="rect">
            <a:avLst/>
          </a:prstGeom>
        </p:spPr>
      </p:pic>
      <p:sp>
        <p:nvSpPr>
          <p:cNvPr id="7" name="C1_presente"/>
          <p:cNvSpPr txBox="1"/>
          <p:nvPr/>
        </p:nvSpPr>
        <p:spPr>
          <a:xfrm>
            <a:off x="685800" y="4754880"/>
            <a:ext cx="7680960" cy="365760"/>
          </a:xfrm>
          <a:prstGeom prst="rect">
            <a:avLst/>
          </a:prstGeom>
          <a:noFill/>
          <a:ln/>
        </p:spPr>
        <p:txBody>
          <a:bodyPr wrap="square" lIns="0" tIns="0" rIns="0" bIns="0" rtlCol="0" anchor="t"/>
          <a:lstStyle/>
          <a:p>
            <a:pPr indent="0" marL="0">
              <a:buNone/>
            </a:pPr>
            <a:r>
              <a:rPr lang="en-US" sz="1600" dirty="0">
                <a:solidFill>
                  <a:schemeClr val="accent2"/>
                </a:solidFill>
              </a:rPr>
              <a:t>Présenté par  </a:t>
            </a:r>
            <a:pPr indent="0" marL="0">
              <a:buNone/>
            </a:pPr>
            <a:r>
              <a:rPr lang="en-US" sz="1600" b="1" dirty="0">
                <a:solidFill>
                  <a:schemeClr val="bg1"/>
                </a:solidFill>
              </a:rPr>
              <a:t>CAMARA BINTOU ÉPSE HOZAN</a:t>
            </a:r>
            <a:endParaRPr lang="en-US" sz="1600" dirty="0"/>
          </a:p>
        </p:txBody>
      </p:sp>
      <p:sp>
        <p:nvSpPr>
          <p:cNvPr id="8" name="C1_directeur"/>
          <p:cNvSpPr txBox="1"/>
          <p:nvPr/>
        </p:nvSpPr>
        <p:spPr>
          <a:xfrm>
            <a:off x="685800" y="5349240"/>
            <a:ext cx="4937760" cy="320040"/>
          </a:xfrm>
          <a:prstGeom prst="rect">
            <a:avLst/>
          </a:prstGeom>
          <a:noFill/>
          <a:ln/>
        </p:spPr>
        <p:txBody>
          <a:bodyPr wrap="square" lIns="0" tIns="0" rIns="0" bIns="0" rtlCol="0" anchor="t"/>
          <a:lstStyle/>
          <a:p>
            <a:pPr indent="0" marL="0">
              <a:buNone/>
            </a:pPr>
            <a:r>
              <a:rPr lang="en-US" sz="1200" dirty="0">
                <a:solidFill>
                  <a:schemeClr val="accent2"/>
                </a:solidFill>
              </a:rPr>
              <a:t>Directeur de mémoire  </a:t>
            </a:r>
            <a:pPr indent="0" marL="0">
              <a:buNone/>
            </a:pPr>
            <a:r>
              <a:rPr lang="en-US" sz="1200" dirty="0">
                <a:solidFill>
                  <a:schemeClr val="bg1"/>
                </a:solidFill>
              </a:rPr>
              <a:t>M. Chafick ADJIBADÉ</a:t>
            </a:r>
            <a:endParaRPr lang="en-US" sz="1200" dirty="0"/>
          </a:p>
        </p:txBody>
      </p:sp>
      <p:sp>
        <p:nvSpPr>
          <p:cNvPr id="9" name="C1_superviseur"/>
          <p:cNvSpPr txBox="1"/>
          <p:nvPr/>
        </p:nvSpPr>
        <p:spPr>
          <a:xfrm>
            <a:off x="5806440" y="5349240"/>
            <a:ext cx="5760720" cy="320040"/>
          </a:xfrm>
          <a:prstGeom prst="rect">
            <a:avLst/>
          </a:prstGeom>
          <a:noFill/>
          <a:ln/>
        </p:spPr>
        <p:txBody>
          <a:bodyPr wrap="square" lIns="0" tIns="0" rIns="0" bIns="0" rtlCol="0" anchor="t"/>
          <a:lstStyle/>
          <a:p>
            <a:pPr indent="0" marL="0">
              <a:buNone/>
            </a:pPr>
            <a:r>
              <a:rPr lang="en-US" sz="1200" dirty="0">
                <a:solidFill>
                  <a:schemeClr val="accent2"/>
                </a:solidFill>
              </a:rPr>
              <a:t>Superviseur  </a:t>
            </a:r>
            <a:pPr indent="0" marL="0">
              <a:buNone/>
            </a:pPr>
            <a:r>
              <a:rPr lang="en-US" sz="1200" dirty="0">
                <a:solidFill>
                  <a:schemeClr val="bg1"/>
                </a:solidFill>
              </a:rPr>
              <a:t>Prof. TOA AGNINI Jules Évariste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par>
                                <p:cTn id="15" presetID="10" presetClass="entr" presetSubtype="0" accel="0" decel="10000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0" presetClass="path" presetSubtype="0" accel="0" decel="100000" fill="hold" grpId="1" nodeType="withEffect">
                                  <p:stCondLst>
                                    <p:cond delay="0"/>
                                  </p:stCondLst>
                                  <p:childTnLst>
                                    <p:animMotion origin="layout" path="M 0 0.02778 L 0 0 E" pathEditMode="relative" rAng="0" ptsTypes="AA">
                                      <p:cBhvr>
                                        <p:cTn id="19" dur="500" fill="hold"/>
                                        <p:tgtEl>
                                          <p:spTgt spid="4"/>
                                        </p:tgtEl>
                                        <p:attrNameLst>
                                          <p:attrName>ppt_x</p:attrName>
                                          <p:attrName>ppt_y</p:attrName>
                                        </p:attrNameLst>
                                      </p:cBhvr>
                                    </p:animMotion>
                                  </p:childTnLst>
                                </p:cTn>
                              </p:par>
                              <p:par>
                                <p:cTn id="20" presetID="10" presetClass="entr" presetSubtype="0" accel="0" decel="10000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0" presetClass="path" presetSubtype="0" accel="0" decel="100000" fill="hold" grpId="1" nodeType="withEffect">
                                  <p:stCondLst>
                                    <p:cond delay="0"/>
                                  </p:stCondLst>
                                  <p:childTnLst>
                                    <p:animMotion origin="layout" path="M 0 0.02778 L 0 0 E" pathEditMode="relative" rAng="0" ptsTypes="AA">
                                      <p:cBhvr>
                                        <p:cTn id="24" dur="500" fill="hold"/>
                                        <p:tgtEl>
                                          <p:spTgt spid="5"/>
                                        </p:tgtEl>
                                        <p:attrNameLst>
                                          <p:attrName>ppt_x</p:attrName>
                                          <p:attrName>ppt_y</p:attrName>
                                        </p:attrNameLst>
                                      </p:cBhvr>
                                    </p:animMotion>
                                  </p:childTnLst>
                                </p:cTn>
                              </p:par>
                              <p:par>
                                <p:cTn id="25" presetID="10" presetClass="entr" presetSubtype="0" accel="0" decel="10000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0" presetClass="path" presetSubtype="0" accel="0" decel="100000" fill="hold" grpId="1" nodeType="withEffect">
                                  <p:stCondLst>
                                    <p:cond delay="0"/>
                                  </p:stCondLst>
                                  <p:childTnLst>
                                    <p:animMotion origin="layout" path="M 0 0.02778 L 0 0 E" pathEditMode="relative" rAng="0" ptsTypes="AA">
                                      <p:cBhvr>
                                        <p:cTn id="29" dur="500" fill="hold"/>
                                        <p:tgtEl>
                                          <p:spTgt spid="6"/>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accel="0" decel="10000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animBg="1"/>
      <p:bldP spid="7" grpId="1" animBg="1"/>
      <p:bldP spid="8" grpId="0" animBg="1"/>
      <p:bldP spid="8" grpId="1" animBg="1"/>
      <p:bldP spid="9" grpId="0" animBg="1"/>
      <p:bldP spid="9"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PLAN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Plan de la présentation</a:t>
            </a:r>
            <a:endParaRPr lang="en-US" sz="3000" dirty="0"/>
          </a:p>
        </p:txBody>
      </p:sp>
      <p:sp>
        <p:nvSpPr>
          <p:cNvPr id="4" name="C1_n0"/>
          <p:cNvSpPr txBox="1"/>
          <p:nvPr/>
        </p:nvSpPr>
        <p:spPr>
          <a:xfrm>
            <a:off x="685800" y="192024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01</a:t>
            </a:r>
            <a:endParaRPr lang="en-US" sz="3000" dirty="0"/>
          </a:p>
        </p:txBody>
      </p:sp>
      <p:sp>
        <p:nvSpPr>
          <p:cNvPr id="5" name="C1_t0"/>
          <p:cNvSpPr txBox="1"/>
          <p:nvPr/>
        </p:nvSpPr>
        <p:spPr>
          <a:xfrm>
            <a:off x="1874520" y="192024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Introduction et problématique</a:t>
            </a:r>
            <a:endParaRPr lang="en-US" sz="2200" dirty="0"/>
          </a:p>
        </p:txBody>
      </p:sp>
      <p:sp>
        <p:nvSpPr>
          <p:cNvPr id="6" name="C1_sep0"/>
          <p:cNvSpPr/>
          <p:nvPr/>
        </p:nvSpPr>
        <p:spPr>
          <a:xfrm>
            <a:off x="1874520" y="2651760"/>
            <a:ext cx="6858000" cy="0"/>
          </a:xfrm>
          <a:prstGeom prst="line">
            <a:avLst/>
          </a:prstGeom>
          <a:noFill/>
          <a:ln w="12700">
            <a:solidFill>
              <a:srgbClr val="D5DCE5"/>
            </a:solidFill>
            <a:prstDash val="solid"/>
          </a:ln>
        </p:spPr>
      </p:sp>
      <p:sp>
        <p:nvSpPr>
          <p:cNvPr id="7" name="C1_n1"/>
          <p:cNvSpPr txBox="1"/>
          <p:nvPr/>
        </p:nvSpPr>
        <p:spPr>
          <a:xfrm>
            <a:off x="685800" y="274320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02</a:t>
            </a:r>
            <a:endParaRPr lang="en-US" sz="3000" dirty="0"/>
          </a:p>
        </p:txBody>
      </p:sp>
      <p:sp>
        <p:nvSpPr>
          <p:cNvPr id="8" name="C1_t1"/>
          <p:cNvSpPr txBox="1"/>
          <p:nvPr/>
        </p:nvSpPr>
        <p:spPr>
          <a:xfrm>
            <a:off x="1874520" y="274320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Cadre d’étude</a:t>
            </a:r>
            <a:endParaRPr lang="en-US" sz="2200" dirty="0"/>
          </a:p>
        </p:txBody>
      </p:sp>
      <p:sp>
        <p:nvSpPr>
          <p:cNvPr id="9" name="C1_sep1"/>
          <p:cNvSpPr/>
          <p:nvPr/>
        </p:nvSpPr>
        <p:spPr>
          <a:xfrm>
            <a:off x="1874520" y="3474720"/>
            <a:ext cx="6858000" cy="0"/>
          </a:xfrm>
          <a:prstGeom prst="line">
            <a:avLst/>
          </a:prstGeom>
          <a:noFill/>
          <a:ln w="12700">
            <a:solidFill>
              <a:srgbClr val="D5DCE5"/>
            </a:solidFill>
            <a:prstDash val="solid"/>
          </a:ln>
        </p:spPr>
      </p:sp>
      <p:sp>
        <p:nvSpPr>
          <p:cNvPr id="10" name="C1_n2"/>
          <p:cNvSpPr txBox="1"/>
          <p:nvPr/>
        </p:nvSpPr>
        <p:spPr>
          <a:xfrm>
            <a:off x="685800" y="356616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03</a:t>
            </a:r>
            <a:endParaRPr lang="en-US" sz="3000" dirty="0"/>
          </a:p>
        </p:txBody>
      </p:sp>
      <p:sp>
        <p:nvSpPr>
          <p:cNvPr id="11" name="C1_t2"/>
          <p:cNvSpPr txBox="1"/>
          <p:nvPr/>
        </p:nvSpPr>
        <p:spPr>
          <a:xfrm>
            <a:off x="1874520" y="356616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Étude technique</a:t>
            </a:r>
            <a:endParaRPr lang="en-US" sz="2200" dirty="0"/>
          </a:p>
        </p:txBody>
      </p:sp>
      <p:sp>
        <p:nvSpPr>
          <p:cNvPr id="12" name="C1_sep2"/>
          <p:cNvSpPr/>
          <p:nvPr/>
        </p:nvSpPr>
        <p:spPr>
          <a:xfrm>
            <a:off x="1874520" y="4297680"/>
            <a:ext cx="6858000" cy="0"/>
          </a:xfrm>
          <a:prstGeom prst="line">
            <a:avLst/>
          </a:prstGeom>
          <a:noFill/>
          <a:ln w="12700">
            <a:solidFill>
              <a:srgbClr val="D5DCE5"/>
            </a:solidFill>
            <a:prstDash val="solid"/>
          </a:ln>
        </p:spPr>
      </p:sp>
      <p:sp>
        <p:nvSpPr>
          <p:cNvPr id="13" name="C1_n3"/>
          <p:cNvSpPr txBox="1"/>
          <p:nvPr/>
        </p:nvSpPr>
        <p:spPr>
          <a:xfrm>
            <a:off x="685800" y="438912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04</a:t>
            </a:r>
            <a:endParaRPr lang="en-US" sz="3000" dirty="0"/>
          </a:p>
        </p:txBody>
      </p:sp>
      <p:sp>
        <p:nvSpPr>
          <p:cNvPr id="14" name="C1_t3"/>
          <p:cNvSpPr txBox="1"/>
          <p:nvPr/>
        </p:nvSpPr>
        <p:spPr>
          <a:xfrm>
            <a:off x="1874520" y="438912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Réalisation des supports</a:t>
            </a:r>
            <a:endParaRPr lang="en-US" sz="2200" dirty="0"/>
          </a:p>
        </p:txBody>
      </p:sp>
      <p:sp>
        <p:nvSpPr>
          <p:cNvPr id="15" name="C1_sep3"/>
          <p:cNvSpPr/>
          <p:nvPr/>
        </p:nvSpPr>
        <p:spPr>
          <a:xfrm>
            <a:off x="1874520" y="5120640"/>
            <a:ext cx="6858000" cy="0"/>
          </a:xfrm>
          <a:prstGeom prst="line">
            <a:avLst/>
          </a:prstGeom>
          <a:noFill/>
          <a:ln w="12700">
            <a:solidFill>
              <a:srgbClr val="D5DCE5"/>
            </a:solidFill>
            <a:prstDash val="solid"/>
          </a:ln>
        </p:spPr>
      </p:sp>
      <p:sp>
        <p:nvSpPr>
          <p:cNvPr id="16" name="C1_n4"/>
          <p:cNvSpPr txBox="1"/>
          <p:nvPr/>
        </p:nvSpPr>
        <p:spPr>
          <a:xfrm>
            <a:off x="685800" y="521208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05</a:t>
            </a:r>
            <a:endParaRPr lang="en-US" sz="3000" dirty="0"/>
          </a:p>
        </p:txBody>
      </p:sp>
      <p:sp>
        <p:nvSpPr>
          <p:cNvPr id="17" name="C1_t4"/>
          <p:cNvSpPr txBox="1"/>
          <p:nvPr/>
        </p:nvSpPr>
        <p:spPr>
          <a:xfrm>
            <a:off x="1874520" y="521208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Conclusion</a:t>
            </a:r>
            <a:endParaRPr lang="en-US" sz="2200" dirty="0"/>
          </a:p>
        </p:txBody>
      </p:sp>
      <p:pic>
        <p:nvPicPr>
          <p:cNvPr id="18" name="C1_logo" descr="Logo American's Gym">    </p:cNvPr>
          <p:cNvPicPr>
            <a:picLocks noChangeAspect="1"/>
          </p:cNvPicPr>
          <p:nvPr/>
        </p:nvPicPr>
        <p:blipFill>
          <a:blip r:embed="rId1"/>
          <a:stretch>
            <a:fillRect/>
          </a:stretch>
        </p:blipFill>
        <p:spPr>
          <a:xfrm>
            <a:off x="8595360" y="2730831"/>
            <a:ext cx="2926080" cy="2219297"/>
          </a:xfrm>
          <a:prstGeom prst="rect">
            <a:avLst/>
          </a:prstGeom>
        </p:spPr>
      </p:pic>
      <p:sp>
        <p:nvSpPr>
          <p:cNvPr id="19"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7" grpId="0" animBg="1"/>
      <p:bldP spid="7" grpId="1" animBg="1"/>
      <p:bldP spid="8" grpId="0" animBg="1"/>
      <p:bldP spid="8" grpId="1" animBg="1"/>
      <p:bldP spid="10" grpId="0" animBg="1"/>
      <p:bldP spid="10" grpId="1" animBg="1"/>
      <p:bldP spid="11" grpId="0" animBg="1"/>
      <p:bldP spid="11" grpId="1" animBg="1"/>
      <p:bldP spid="13" grpId="0" animBg="1"/>
      <p:bldP spid="13" grpId="1" animBg="1"/>
      <p:bldP spid="14" grpId="0" animBg="1"/>
      <p:bldP spid="14" grpId="1" animBg="1"/>
      <p:bldP spid="16" grpId="0" animBg="1"/>
      <p:bldP spid="16" grpId="1" animBg="1"/>
      <p:bldP spid="17" grpId="0" animBg="1"/>
      <p:bldP spid="17"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01</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Introduction et problématique</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01  ·  INTRODUCTION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La communication, un levier stratégique</a:t>
            </a:r>
            <a:endParaRPr lang="en-US" sz="3000" dirty="0"/>
          </a:p>
        </p:txBody>
      </p:sp>
      <p:sp>
        <p:nvSpPr>
          <p:cNvPr id="4" name="C1_lead"/>
          <p:cNvSpPr txBox="1"/>
          <p:nvPr/>
        </p:nvSpPr>
        <p:spPr>
          <a:xfrm>
            <a:off x="685800" y="1965960"/>
            <a:ext cx="8778240" cy="868680"/>
          </a:xfrm>
          <a:prstGeom prst="rect">
            <a:avLst/>
          </a:prstGeom>
          <a:noFill/>
          <a:ln/>
        </p:spPr>
        <p:txBody>
          <a:bodyPr wrap="square" lIns="0" tIns="0" rIns="0" bIns="0" rtlCol="0" anchor="t"/>
          <a:lstStyle/>
          <a:p>
            <a:pPr indent="0" marL="0">
              <a:buNone/>
            </a:pPr>
            <a:r>
              <a:rPr lang="en-US" sz="1800" dirty="0">
                <a:solidFill>
                  <a:schemeClr val="tx2"/>
                </a:solidFill>
              </a:rPr>
              <a:t>Avec l’essor des salles de sport, il devient essentiel de se démarquer par des actions de communication efficaces, cohérentes et innovantes.</a:t>
            </a:r>
            <a:endParaRPr lang="en-US" sz="1800" dirty="0"/>
          </a:p>
        </p:txBody>
      </p:sp>
      <p:sp>
        <p:nvSpPr>
          <p:cNvPr id="5" name="C2_card0"/>
          <p:cNvSpPr/>
          <p:nvPr/>
        </p:nvSpPr>
        <p:spPr>
          <a:xfrm>
            <a:off x="685800" y="3291840"/>
            <a:ext cx="3393338" cy="2377440"/>
          </a:xfrm>
          <a:prstGeom prst="roundRect">
            <a:avLst>
              <a:gd name="adj" fmla="val 4615"/>
            </a:avLst>
          </a:prstGeom>
          <a:solidFill>
            <a:schemeClr val="bg2"/>
          </a:solidFill>
          <a:ln/>
        </p:spPr>
      </p:sp>
      <p:sp>
        <p:nvSpPr>
          <p:cNvPr id="6" name="C2_i0_disc"/>
          <p:cNvSpPr/>
          <p:nvPr/>
        </p:nvSpPr>
        <p:spPr>
          <a:xfrm>
            <a:off x="1051560" y="3611880"/>
            <a:ext cx="822960" cy="822960"/>
          </a:xfrm>
          <a:prstGeom prst="ellipse">
            <a:avLst/>
          </a:prstGeom>
          <a:solidFill>
            <a:schemeClr val="tx1"/>
          </a:solidFill>
          <a:ln/>
        </p:spPr>
      </p:sp>
      <p:pic>
        <p:nvPicPr>
          <p:cNvPr id="7" name="C2_i0_ico" descr="preencoded.png">    </p:cNvPr>
          <p:cNvPicPr>
            <a:picLocks noChangeAspect="1"/>
          </p:cNvPicPr>
          <p:nvPr/>
        </p:nvPicPr>
        <p:blipFill>
          <a:blip r:embed="rId1"/>
          <a:stretch>
            <a:fillRect/>
          </a:stretch>
        </p:blipFill>
        <p:spPr>
          <a:xfrm>
            <a:off x="1257300" y="3817620"/>
            <a:ext cx="411480" cy="411480"/>
          </a:xfrm>
          <a:prstGeom prst="rect">
            <a:avLst/>
          </a:prstGeom>
        </p:spPr>
      </p:pic>
      <p:sp>
        <p:nvSpPr>
          <p:cNvPr id="8" name="C2_t0"/>
          <p:cNvSpPr txBox="1"/>
          <p:nvPr/>
        </p:nvSpPr>
        <p:spPr>
          <a:xfrm>
            <a:off x="1051560"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Accroître sa notoriété</a:t>
            </a:r>
            <a:endParaRPr lang="en-US" sz="1800" dirty="0"/>
          </a:p>
        </p:txBody>
      </p:sp>
      <p:sp>
        <p:nvSpPr>
          <p:cNvPr id="9" name="C2_card1"/>
          <p:cNvSpPr/>
          <p:nvPr/>
        </p:nvSpPr>
        <p:spPr>
          <a:xfrm>
            <a:off x="4399178" y="3291840"/>
            <a:ext cx="3393338" cy="2377440"/>
          </a:xfrm>
          <a:prstGeom prst="roundRect">
            <a:avLst>
              <a:gd name="adj" fmla="val 4615"/>
            </a:avLst>
          </a:prstGeom>
          <a:solidFill>
            <a:schemeClr val="bg2"/>
          </a:solidFill>
          <a:ln/>
        </p:spPr>
      </p:sp>
      <p:sp>
        <p:nvSpPr>
          <p:cNvPr id="10" name="C2_i1_disc"/>
          <p:cNvSpPr/>
          <p:nvPr/>
        </p:nvSpPr>
        <p:spPr>
          <a:xfrm>
            <a:off x="4764938" y="3611880"/>
            <a:ext cx="822960" cy="822960"/>
          </a:xfrm>
          <a:prstGeom prst="ellipse">
            <a:avLst/>
          </a:prstGeom>
          <a:solidFill>
            <a:schemeClr val="tx1"/>
          </a:solidFill>
          <a:ln/>
        </p:spPr>
      </p:sp>
      <p:pic>
        <p:nvPicPr>
          <p:cNvPr id="11" name="C2_i1_ico" descr="preencoded.png">    </p:cNvPr>
          <p:cNvPicPr>
            <a:picLocks noChangeAspect="1"/>
          </p:cNvPicPr>
          <p:nvPr/>
        </p:nvPicPr>
        <p:blipFill>
          <a:blip r:embed="rId2"/>
          <a:stretch>
            <a:fillRect/>
          </a:stretch>
        </p:blipFill>
        <p:spPr>
          <a:xfrm>
            <a:off x="4970678" y="3817620"/>
            <a:ext cx="411480" cy="411480"/>
          </a:xfrm>
          <a:prstGeom prst="rect">
            <a:avLst/>
          </a:prstGeom>
        </p:spPr>
      </p:pic>
      <p:sp>
        <p:nvSpPr>
          <p:cNvPr id="12" name="C2_t1"/>
          <p:cNvSpPr txBox="1"/>
          <p:nvPr/>
        </p:nvSpPr>
        <p:spPr>
          <a:xfrm>
            <a:off x="4764938"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Attirer de nouveaux adhérents</a:t>
            </a:r>
            <a:endParaRPr lang="en-US" sz="1800" dirty="0"/>
          </a:p>
        </p:txBody>
      </p:sp>
      <p:sp>
        <p:nvSpPr>
          <p:cNvPr id="13" name="C2_card2"/>
          <p:cNvSpPr/>
          <p:nvPr/>
        </p:nvSpPr>
        <p:spPr>
          <a:xfrm>
            <a:off x="8112557" y="3291840"/>
            <a:ext cx="3393338" cy="2377440"/>
          </a:xfrm>
          <a:prstGeom prst="roundRect">
            <a:avLst>
              <a:gd name="adj" fmla="val 4615"/>
            </a:avLst>
          </a:prstGeom>
          <a:solidFill>
            <a:schemeClr val="bg2"/>
          </a:solidFill>
          <a:ln/>
        </p:spPr>
      </p:sp>
      <p:sp>
        <p:nvSpPr>
          <p:cNvPr id="14" name="C2_i2_disc"/>
          <p:cNvSpPr/>
          <p:nvPr/>
        </p:nvSpPr>
        <p:spPr>
          <a:xfrm>
            <a:off x="8478317" y="3611880"/>
            <a:ext cx="822960" cy="822960"/>
          </a:xfrm>
          <a:prstGeom prst="ellipse">
            <a:avLst/>
          </a:prstGeom>
          <a:solidFill>
            <a:schemeClr val="tx1"/>
          </a:solidFill>
          <a:ln/>
        </p:spPr>
      </p:sp>
      <p:pic>
        <p:nvPicPr>
          <p:cNvPr id="15" name="C2_i2_ico" descr="preencoded.png">    </p:cNvPr>
          <p:cNvPicPr>
            <a:picLocks noChangeAspect="1"/>
          </p:cNvPicPr>
          <p:nvPr/>
        </p:nvPicPr>
        <p:blipFill>
          <a:blip r:embed="rId3"/>
          <a:stretch>
            <a:fillRect/>
          </a:stretch>
        </p:blipFill>
        <p:spPr>
          <a:xfrm>
            <a:off x="8684057" y="3817620"/>
            <a:ext cx="411480" cy="411480"/>
          </a:xfrm>
          <a:prstGeom prst="rect">
            <a:avLst/>
          </a:prstGeom>
        </p:spPr>
      </p:pic>
      <p:sp>
        <p:nvSpPr>
          <p:cNvPr id="16" name="C2_t2"/>
          <p:cNvSpPr txBox="1"/>
          <p:nvPr/>
        </p:nvSpPr>
        <p:spPr>
          <a:xfrm>
            <a:off x="8478317"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Fidéliser sa clientèle</a:t>
            </a:r>
            <a:endParaRPr lang="en-US" sz="1800" dirty="0"/>
          </a:p>
        </p:txBody>
      </p:sp>
      <p:sp>
        <p:nvSpPr>
          <p:cNvPr id="1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accel="0" decel="10000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0" presetClass="path" presetSubtype="0" accel="0" decel="100000" fill="hold" grpId="1" nodeType="withEffect">
                                  <p:stCondLst>
                                    <p:cond delay="0"/>
                                  </p:stCondLst>
                                  <p:childTnLst>
                                    <p:animMotion origin="layout" path="M 0 0.02778 L 0 0 E" pathEditMode="relative" rAng="0" ptsTypes="AA">
                                      <p:cBhvr>
                                        <p:cTn id="28" dur="500" fill="hold"/>
                                        <p:tgtEl>
                                          <p:spTgt spid="5"/>
                                        </p:tgtEl>
                                        <p:attrNameLst>
                                          <p:attrName>ppt_x</p:attrName>
                                          <p:attrName>ppt_y</p:attrName>
                                        </p:attrNameLst>
                                      </p:cBhvr>
                                    </p:animMotion>
                                  </p:childTnLst>
                                </p:cTn>
                              </p:par>
                              <p:par>
                                <p:cTn id="29" presetID="10" presetClass="entr" presetSubtype="0" accel="0" decel="10000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8" grpId="0" animBg="1"/>
      <p:bldP spid="8" grpId="1" animBg="1"/>
      <p:bldP spid="12" grpId="0" animBg="1"/>
      <p:bldP spid="12" grpId="1" animBg="1"/>
      <p:bldP spid="16" grpId="0" animBg="1"/>
      <p:bldP spid="1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11430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2"/>
                </a:solidFill>
              </a:rPr>
              <a:t>PROBLÉMATIQUE</a:t>
            </a:r>
            <a:endParaRPr lang="en-US" sz="1100" dirty="0"/>
          </a:p>
        </p:txBody>
      </p:sp>
      <p:sp>
        <p:nvSpPr>
          <p:cNvPr id="3" name="Text 0"/>
          <p:cNvSpPr/>
          <p:nvPr>
            <p:ph idx="101" type="title" hasCustomPrompt="1"/>
          </p:nvPr>
        </p:nvSpPr>
        <p:spPr>
          <a:xfrm>
            <a:off x="685800" y="1645920"/>
            <a:ext cx="9692640" cy="3566160"/>
          </a:xfrm>
          <a:prstGeom prst="rect">
            <a:avLst/>
          </a:prstGeom>
          <a:noFill/>
          <a:ln/>
        </p:spPr>
        <p:txBody>
          <a:bodyPr wrap="square" lIns="0" tIns="0" rIns="0" bIns="0" rtlCol="0" anchor="t"/>
          <a:lstStyle/>
          <a:p>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Comment la conception et la réalisation de supports de communication imprimés et numériques peuvent-elles contribuer à </a:t>
            </a:r>
            <a:pPr algn="l" indent="0" marL="0">
              <a:lnSpc>
                <a:spcPct val="110000"/>
              </a:lnSpc>
              <a:buNone/>
            </a:pPr>
            <a:r>
              <a:rPr lang="en-US" sz="3000" dirty="0">
                <a:solidFill>
                  <a:schemeClr val="accent2"/>
                </a:solidFill>
                <a:latin typeface="Poppins ExtraBold" pitchFamily="34" charset="0"/>
                <a:ea typeface="Poppins ExtraBold" pitchFamily="34" charset="-122"/>
                <a:cs typeface="Poppins ExtraBold" pitchFamily="34" charset="-120"/>
              </a:rPr>
              <a:t>améliorer la visibilité</a:t>
            </a:r>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 </a:t>
            </a:r>
            <a:pPr algn="l" indent="0" marL="0">
              <a:lnSpc>
                <a:spcPct val="110000"/>
              </a:lnSpc>
              <a:buNone/>
            </a:pPr>
            <a:r>
              <a:rPr lang="en-US" sz="3000" dirty="0">
                <a:solidFill>
                  <a:schemeClr val="accent2"/>
                </a:solidFill>
                <a:latin typeface="Poppins ExtraBold" pitchFamily="34" charset="0"/>
                <a:ea typeface="Poppins ExtraBold" pitchFamily="34" charset="-122"/>
                <a:cs typeface="Poppins ExtraBold" pitchFamily="34" charset="-120"/>
              </a:rPr>
              <a:t>renforcer l’image de marque</a:t>
            </a:r>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 et </a:t>
            </a:r>
            <a:pPr algn="l" indent="0" marL="0">
              <a:lnSpc>
                <a:spcPct val="110000"/>
              </a:lnSpc>
              <a:buNone/>
            </a:pPr>
            <a:r>
              <a:rPr lang="en-US" sz="3000" dirty="0">
                <a:solidFill>
                  <a:schemeClr val="accent2"/>
                </a:solidFill>
                <a:latin typeface="Poppins ExtraBold" pitchFamily="34" charset="0"/>
                <a:ea typeface="Poppins ExtraBold" pitchFamily="34" charset="-122"/>
                <a:cs typeface="Poppins ExtraBold" pitchFamily="34" charset="-120"/>
              </a:rPr>
              <a:t>promouvoir efficacement les activités</a:t>
            </a:r>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 d’American’s Gym ?</a:t>
            </a:r>
            <a:endParaRPr lang="en-US" sz="3000" dirty="0"/>
          </a:p>
        </p:txBody>
      </p:sp>
      <p:sp>
        <p:nvSpPr>
          <p:cNvPr id="4"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01  ·  OBJECTIFS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Quatre objectifs</a:t>
            </a:r>
            <a:endParaRPr lang="en-US" sz="3000" dirty="0"/>
          </a:p>
        </p:txBody>
      </p:sp>
      <p:sp>
        <p:nvSpPr>
          <p:cNvPr id="4" name="C1_card"/>
          <p:cNvSpPr/>
          <p:nvPr/>
        </p:nvSpPr>
        <p:spPr>
          <a:xfrm>
            <a:off x="685800" y="2011680"/>
            <a:ext cx="5250028" cy="1691640"/>
          </a:xfrm>
          <a:prstGeom prst="roundRect">
            <a:avLst>
              <a:gd name="adj" fmla="val 6486"/>
            </a:avLst>
          </a:prstGeom>
          <a:solidFill>
            <a:schemeClr val="bg2"/>
          </a:solidFill>
          <a:ln/>
        </p:spPr>
      </p:sp>
      <p:sp>
        <p:nvSpPr>
          <p:cNvPr id="5" name="C1_i_disc"/>
          <p:cNvSpPr/>
          <p:nvPr/>
        </p:nvSpPr>
        <p:spPr>
          <a:xfrm>
            <a:off x="1051560" y="2441448"/>
            <a:ext cx="822960" cy="822960"/>
          </a:xfrm>
          <a:prstGeom prst="ellipse">
            <a:avLst/>
          </a:prstGeom>
          <a:solidFill>
            <a:schemeClr val="tx1"/>
          </a:solidFill>
          <a:ln/>
        </p:spPr>
      </p:sp>
      <p:pic>
        <p:nvPicPr>
          <p:cNvPr id="6" name="C1_i_ico" descr="preencoded.png">    </p:cNvPr>
          <p:cNvPicPr>
            <a:picLocks noChangeAspect="1"/>
          </p:cNvPicPr>
          <p:nvPr/>
        </p:nvPicPr>
        <p:blipFill>
          <a:blip r:embed="rId1"/>
          <a:stretch>
            <a:fillRect/>
          </a:stretch>
        </p:blipFill>
        <p:spPr>
          <a:xfrm>
            <a:off x="1257300" y="2647188"/>
            <a:ext cx="411480" cy="411480"/>
          </a:xfrm>
          <a:prstGeom prst="rect">
            <a:avLst/>
          </a:prstGeom>
        </p:spPr>
      </p:pic>
      <p:sp>
        <p:nvSpPr>
          <p:cNvPr id="7" name="C1_t"/>
          <p:cNvSpPr txBox="1"/>
          <p:nvPr/>
        </p:nvSpPr>
        <p:spPr>
          <a:xfrm>
            <a:off x="2194560"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Une identité visuelle cohérente</a:t>
            </a:r>
            <a:endParaRPr lang="en-US" sz="1800" dirty="0"/>
          </a:p>
        </p:txBody>
      </p:sp>
      <p:sp>
        <p:nvSpPr>
          <p:cNvPr id="8" name="C2_card"/>
          <p:cNvSpPr/>
          <p:nvPr/>
        </p:nvSpPr>
        <p:spPr>
          <a:xfrm>
            <a:off x="6255868" y="2011680"/>
            <a:ext cx="5250028" cy="1691640"/>
          </a:xfrm>
          <a:prstGeom prst="roundRect">
            <a:avLst>
              <a:gd name="adj" fmla="val 6486"/>
            </a:avLst>
          </a:prstGeom>
          <a:solidFill>
            <a:schemeClr val="bg2"/>
          </a:solidFill>
          <a:ln/>
        </p:spPr>
      </p:sp>
      <p:sp>
        <p:nvSpPr>
          <p:cNvPr id="9" name="C2_i_disc"/>
          <p:cNvSpPr/>
          <p:nvPr/>
        </p:nvSpPr>
        <p:spPr>
          <a:xfrm>
            <a:off x="6621628" y="2441448"/>
            <a:ext cx="822960" cy="822960"/>
          </a:xfrm>
          <a:prstGeom prst="ellipse">
            <a:avLst/>
          </a:prstGeom>
          <a:solidFill>
            <a:schemeClr val="tx1"/>
          </a:solidFill>
          <a:ln/>
        </p:spPr>
      </p:sp>
      <p:pic>
        <p:nvPicPr>
          <p:cNvPr id="10" name="C2_i_ico" descr="preencoded.png">    </p:cNvPr>
          <p:cNvPicPr>
            <a:picLocks noChangeAspect="1"/>
          </p:cNvPicPr>
          <p:nvPr/>
        </p:nvPicPr>
        <p:blipFill>
          <a:blip r:embed="rId2"/>
          <a:stretch>
            <a:fillRect/>
          </a:stretch>
        </p:blipFill>
        <p:spPr>
          <a:xfrm>
            <a:off x="6827368" y="2647188"/>
            <a:ext cx="411480" cy="411480"/>
          </a:xfrm>
          <a:prstGeom prst="rect">
            <a:avLst/>
          </a:prstGeom>
        </p:spPr>
      </p:pic>
      <p:sp>
        <p:nvSpPr>
          <p:cNvPr id="11" name="C2_t"/>
          <p:cNvSpPr txBox="1"/>
          <p:nvPr/>
        </p:nvSpPr>
        <p:spPr>
          <a:xfrm>
            <a:off x="7764628"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Des supports imprimés</a:t>
            </a:r>
            <a:endParaRPr lang="en-US" sz="1800" dirty="0"/>
          </a:p>
        </p:txBody>
      </p:sp>
      <p:sp>
        <p:nvSpPr>
          <p:cNvPr id="12" name="C3_card"/>
          <p:cNvSpPr/>
          <p:nvPr/>
        </p:nvSpPr>
        <p:spPr>
          <a:xfrm>
            <a:off x="685800" y="3977640"/>
            <a:ext cx="5250028" cy="1691640"/>
          </a:xfrm>
          <a:prstGeom prst="roundRect">
            <a:avLst>
              <a:gd name="adj" fmla="val 6486"/>
            </a:avLst>
          </a:prstGeom>
          <a:solidFill>
            <a:schemeClr val="bg2"/>
          </a:solidFill>
          <a:ln/>
        </p:spPr>
      </p:sp>
      <p:sp>
        <p:nvSpPr>
          <p:cNvPr id="13" name="C3_i_disc"/>
          <p:cNvSpPr/>
          <p:nvPr/>
        </p:nvSpPr>
        <p:spPr>
          <a:xfrm>
            <a:off x="1051560" y="4407408"/>
            <a:ext cx="822960" cy="822960"/>
          </a:xfrm>
          <a:prstGeom prst="ellipse">
            <a:avLst/>
          </a:prstGeom>
          <a:solidFill>
            <a:schemeClr val="tx1"/>
          </a:solidFill>
          <a:ln/>
        </p:spPr>
      </p:sp>
      <p:pic>
        <p:nvPicPr>
          <p:cNvPr id="14" name="C3_i_ico" descr="preencoded.png">    </p:cNvPr>
          <p:cNvPicPr>
            <a:picLocks noChangeAspect="1"/>
          </p:cNvPicPr>
          <p:nvPr/>
        </p:nvPicPr>
        <p:blipFill>
          <a:blip r:embed="rId3"/>
          <a:stretch>
            <a:fillRect/>
          </a:stretch>
        </p:blipFill>
        <p:spPr>
          <a:xfrm>
            <a:off x="1257300" y="4613148"/>
            <a:ext cx="411480" cy="411480"/>
          </a:xfrm>
          <a:prstGeom prst="rect">
            <a:avLst/>
          </a:prstGeom>
        </p:spPr>
      </p:pic>
      <p:sp>
        <p:nvSpPr>
          <p:cNvPr id="15" name="C3_t"/>
          <p:cNvSpPr txBox="1"/>
          <p:nvPr/>
        </p:nvSpPr>
        <p:spPr>
          <a:xfrm>
            <a:off x="2194560"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Des contenus audiovisuels 2D et 3D</a:t>
            </a:r>
            <a:endParaRPr lang="en-US" sz="1800" dirty="0"/>
          </a:p>
        </p:txBody>
      </p:sp>
      <p:sp>
        <p:nvSpPr>
          <p:cNvPr id="16" name="C4_card"/>
          <p:cNvSpPr/>
          <p:nvPr/>
        </p:nvSpPr>
        <p:spPr>
          <a:xfrm>
            <a:off x="6255868" y="3977640"/>
            <a:ext cx="5250028" cy="1691640"/>
          </a:xfrm>
          <a:prstGeom prst="roundRect">
            <a:avLst>
              <a:gd name="adj" fmla="val 6486"/>
            </a:avLst>
          </a:prstGeom>
          <a:solidFill>
            <a:schemeClr val="bg2"/>
          </a:solidFill>
          <a:ln/>
        </p:spPr>
      </p:sp>
      <p:sp>
        <p:nvSpPr>
          <p:cNvPr id="17" name="C4_i_disc"/>
          <p:cNvSpPr/>
          <p:nvPr/>
        </p:nvSpPr>
        <p:spPr>
          <a:xfrm>
            <a:off x="6621628" y="4407408"/>
            <a:ext cx="822960" cy="822960"/>
          </a:xfrm>
          <a:prstGeom prst="ellipse">
            <a:avLst/>
          </a:prstGeom>
          <a:solidFill>
            <a:schemeClr val="tx1"/>
          </a:solidFill>
          <a:ln/>
        </p:spPr>
      </p:sp>
      <p:pic>
        <p:nvPicPr>
          <p:cNvPr id="18" name="C4_i_ico" descr="preencoded.png">    </p:cNvPr>
          <p:cNvPicPr>
            <a:picLocks noChangeAspect="1"/>
          </p:cNvPicPr>
          <p:nvPr/>
        </p:nvPicPr>
        <p:blipFill>
          <a:blip r:embed="rId4"/>
          <a:stretch>
            <a:fillRect/>
          </a:stretch>
        </p:blipFill>
        <p:spPr>
          <a:xfrm>
            <a:off x="6827368" y="4613148"/>
            <a:ext cx="411480" cy="411480"/>
          </a:xfrm>
          <a:prstGeom prst="rect">
            <a:avLst/>
          </a:prstGeom>
        </p:spPr>
      </p:pic>
      <p:sp>
        <p:nvSpPr>
          <p:cNvPr id="19" name="C4_t"/>
          <p:cNvSpPr txBox="1"/>
          <p:nvPr/>
        </p:nvSpPr>
        <p:spPr>
          <a:xfrm>
            <a:off x="7764628"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Un site web moderne</a:t>
            </a:r>
            <a:endParaRPr lang="en-US" sz="1800" dirty="0"/>
          </a:p>
        </p:txBody>
      </p:sp>
      <p:sp>
        <p:nvSpPr>
          <p:cNvPr id="2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0" presetClass="entr" presetSubtype="0" accel="0" decel="10000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0" presetClass="path" presetSubtype="0" accel="0" decel="100000" fill="hold" grpId="1" nodeType="withEffect">
                                  <p:stCondLst>
                                    <p:cond delay="0"/>
                                  </p:stCondLst>
                                  <p:childTnLst>
                                    <p:animMotion origin="layout" path="M 0 0.02778 L 0 0 E" pathEditMode="relative" rAng="0" ptsTypes="AA">
                                      <p:cBhvr>
                                        <p:cTn id="65" dur="500" fill="hold"/>
                                        <p:tgtEl>
                                          <p:spTgt spid="12"/>
                                        </p:tgtEl>
                                        <p:attrNameLst>
                                          <p:attrName>ppt_x</p:attrName>
                                          <p:attrName>ppt_y</p:attrName>
                                        </p:attrNameLst>
                                      </p:cBhvr>
                                    </p:animMotion>
                                  </p:childTnLst>
                                </p:cTn>
                              </p:par>
                              <p:par>
                                <p:cTn id="66" presetID="10" presetClass="entr" presetSubtype="0" accel="0" decel="10000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par>
                                <p:cTn id="69" presetID="0" presetClass="path" presetSubtype="0" accel="0" decel="100000" fill="hold" grpId="1" nodeType="withEffect">
                                  <p:stCondLst>
                                    <p:cond delay="0"/>
                                  </p:stCondLst>
                                  <p:childTnLst>
                                    <p:animMotion origin="layout" path="M 0 0.02778 L 0 0 E" pathEditMode="relative" rAng="0" ptsTypes="AA">
                                      <p:cBhvr>
                                        <p:cTn id="70" dur="500" fill="hold"/>
                                        <p:tgtEl>
                                          <p:spTgt spid="13"/>
                                        </p:tgtEl>
                                        <p:attrNameLst>
                                          <p:attrName>ppt_x</p:attrName>
                                          <p:attrName>ppt_y</p:attrName>
                                        </p:attrNameLst>
                                      </p:cBhvr>
                                    </p:animMotion>
                                  </p:childTnLst>
                                </p:cTn>
                              </p:par>
                              <p:par>
                                <p:cTn id="71" presetID="10" presetClass="entr" presetSubtype="0" accel="0" decel="10000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4" presetID="0" presetClass="path" presetSubtype="0" accel="0" decel="100000" fill="hold" grpId="1" nodeType="withEffect">
                                  <p:stCondLst>
                                    <p:cond delay="0"/>
                                  </p:stCondLst>
                                  <p:childTnLst>
                                    <p:animMotion origin="layout" path="M 0 0.02778 L 0 0 E" pathEditMode="relative" rAng="0" ptsTypes="AA">
                                      <p:cBhvr>
                                        <p:cTn id="75" dur="500" fill="hold"/>
                                        <p:tgtEl>
                                          <p:spTgt spid="14"/>
                                        </p:tgtEl>
                                        <p:attrNameLst>
                                          <p:attrName>ppt_x</p:attrName>
                                          <p:attrName>ppt_y</p:attrName>
                                        </p:attrNameLst>
                                      </p:cBhvr>
                                    </p:animMotion>
                                  </p:childTnLst>
                                </p:cTn>
                              </p:par>
                              <p:par>
                                <p:cTn id="76" presetID="10" presetClass="entr" presetSubtype="0" accel="0" decel="10000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0" presetClass="path" presetSubtype="0" accel="0" decel="100000" fill="hold" grpId="1" nodeType="withEffect">
                                  <p:stCondLst>
                                    <p:cond delay="0"/>
                                  </p:stCondLst>
                                  <p:childTnLst>
                                    <p:animMotion origin="layout" path="M 0 0.02778 L 0 0 E" pathEditMode="relative" rAng="0" ptsTypes="AA">
                                      <p:cBhvr>
                                        <p:cTn id="80" dur="500" fill="hold"/>
                                        <p:tgtEl>
                                          <p:spTgt spid="15"/>
                                        </p:tgtEl>
                                        <p:attrNameLst>
                                          <p:attrName>ppt_x</p:attrName>
                                          <p:attrName>ppt_y</p:attrName>
                                        </p:attrNameLst>
                                      </p:cBhvr>
                                    </p:animMotion>
                                  </p:childTnLst>
                                </p:cTn>
                              </p:par>
                            </p:childTnLst>
                          </p:cTn>
                        </p:par>
                      </p:childTnLst>
                    </p:cTn>
                  </p:par>
                  <p:par>
                    <p:cTn id="81" fill="hold">
                      <p:stCondLst>
                        <p:cond delay="indefinite"/>
                      </p:stCondLst>
                      <p:childTnLst>
                        <p:par>
                          <p:cTn id="82" fill="hold">
                            <p:stCondLst>
                              <p:cond delay="0"/>
                            </p:stCondLst>
                            <p:childTnLst>
                              <p:par>
                                <p:cTn id="83" presetID="10" presetClass="entr" presetSubtype="0" accel="0" decel="100000" fill="hold" grpId="0"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500"/>
                                        <p:tgtEl>
                                          <p:spTgt spid="16"/>
                                        </p:tgtEl>
                                      </p:cBhvr>
                                    </p:animEffect>
                                  </p:childTnLst>
                                </p:cTn>
                              </p:par>
                              <p:par>
                                <p:cTn id="86" presetID="0" presetClass="path" presetSubtype="0" accel="0" decel="100000" fill="hold" grpId="1" nodeType="withEffect">
                                  <p:stCondLst>
                                    <p:cond delay="0"/>
                                  </p:stCondLst>
                                  <p:childTnLst>
                                    <p:animMotion origin="layout" path="M 0 0.02778 L 0 0 E" pathEditMode="relative" rAng="0" ptsTypes="AA">
                                      <p:cBhvr>
                                        <p:cTn id="87" dur="500" fill="hold"/>
                                        <p:tgtEl>
                                          <p:spTgt spid="16"/>
                                        </p:tgtEl>
                                        <p:attrNameLst>
                                          <p:attrName>ppt_x</p:attrName>
                                          <p:attrName>ppt_y</p:attrName>
                                        </p:attrNameLst>
                                      </p:cBhvr>
                                    </p:animMotion>
                                  </p:childTnLst>
                                </p:cTn>
                              </p:par>
                              <p:par>
                                <p:cTn id="88" presetID="10" presetClass="entr" presetSubtype="0" accel="0" decel="100000" fill="hold" grpId="0" nodeType="withEffect">
                                  <p:stCondLst>
                                    <p:cond delay="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500"/>
                                        <p:tgtEl>
                                          <p:spTgt spid="17"/>
                                        </p:tgtEl>
                                      </p:cBhvr>
                                    </p:animEffect>
                                  </p:childTnLst>
                                </p:cTn>
                              </p:par>
                              <p:par>
                                <p:cTn id="91" presetID="0" presetClass="path" presetSubtype="0" accel="0" decel="100000" fill="hold" grpId="1" nodeType="withEffect">
                                  <p:stCondLst>
                                    <p:cond delay="0"/>
                                  </p:stCondLst>
                                  <p:childTnLst>
                                    <p:animMotion origin="layout" path="M 0 0.02778 L 0 0 E" pathEditMode="relative" rAng="0" ptsTypes="AA">
                                      <p:cBhvr>
                                        <p:cTn id="92" dur="500" fill="hold"/>
                                        <p:tgtEl>
                                          <p:spTgt spid="17"/>
                                        </p:tgtEl>
                                        <p:attrNameLst>
                                          <p:attrName>ppt_x</p:attrName>
                                          <p:attrName>ppt_y</p:attrName>
                                        </p:attrNameLst>
                                      </p:cBhvr>
                                    </p:animMotion>
                                  </p:childTnLst>
                                </p:cTn>
                              </p:par>
                              <p:par>
                                <p:cTn id="93" presetID="10" presetClass="entr" presetSubtype="0" accel="0" decel="10000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500"/>
                                        <p:tgtEl>
                                          <p:spTgt spid="18"/>
                                        </p:tgtEl>
                                      </p:cBhvr>
                                    </p:animEffect>
                                  </p:childTnLst>
                                </p:cTn>
                              </p:par>
                              <p:par>
                                <p:cTn id="96" presetID="0" presetClass="path" presetSubtype="0" accel="0" decel="100000" fill="hold" grpId="1" nodeType="withEffect">
                                  <p:stCondLst>
                                    <p:cond delay="0"/>
                                  </p:stCondLst>
                                  <p:childTnLst>
                                    <p:animMotion origin="layout" path="M 0 0.02778 L 0 0 E" pathEditMode="relative" rAng="0" ptsTypes="AA">
                                      <p:cBhvr>
                                        <p:cTn id="97" dur="500" fill="hold"/>
                                        <p:tgtEl>
                                          <p:spTgt spid="18"/>
                                        </p:tgtEl>
                                        <p:attrNameLst>
                                          <p:attrName>ppt_x</p:attrName>
                                          <p:attrName>ppt_y</p:attrName>
                                        </p:attrNameLst>
                                      </p:cBhvr>
                                    </p:animMotion>
                                  </p:childTnLst>
                                </p:cTn>
                              </p:par>
                              <p:par>
                                <p:cTn id="98" presetID="10" presetClass="entr" presetSubtype="0" accel="0" decel="100000" fill="hold" grpId="0" nodeType="withEffect">
                                  <p:stCondLst>
                                    <p:cond delay="0"/>
                                  </p:stCondLst>
                                  <p:childTnLst>
                                    <p:set>
                                      <p:cBhvr>
                                        <p:cTn id="99" dur="1" fill="hold">
                                          <p:stCondLst>
                                            <p:cond delay="0"/>
                                          </p:stCondLst>
                                        </p:cTn>
                                        <p:tgtEl>
                                          <p:spTgt spid="19"/>
                                        </p:tgtEl>
                                        <p:attrNameLst>
                                          <p:attrName>style.visibility</p:attrName>
                                        </p:attrNameLst>
                                      </p:cBhvr>
                                      <p:to>
                                        <p:strVal val="visible"/>
                                      </p:to>
                                    </p:set>
                                    <p:animEffect transition="in" filter="fade">
                                      <p:cBhvr>
                                        <p:cTn id="100" dur="500"/>
                                        <p:tgtEl>
                                          <p:spTgt spid="19"/>
                                        </p:tgtEl>
                                      </p:cBhvr>
                                    </p:animEffect>
                                  </p:childTnLst>
                                </p:cTn>
                              </p:par>
                              <p:par>
                                <p:cTn id="101" presetID="0" presetClass="path" presetSubtype="0" accel="0" decel="100000" fill="hold" grpId="1" nodeType="withEffect">
                                  <p:stCondLst>
                                    <p:cond delay="0"/>
                                  </p:stCondLst>
                                  <p:childTnLst>
                                    <p:animMotion origin="layout" path="M 0 0.02778 L 0 0 E" pathEditMode="relative" rAng="0" ptsTypes="AA">
                                      <p:cBhvr>
                                        <p:cTn id="102" dur="500" fill="hold"/>
                                        <p:tgtEl>
                                          <p:spTgt spid="1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11" grpId="0" animBg="1"/>
      <p:bldP spid="11" grpId="1" animBg="1"/>
      <p:bldP spid="15" grpId="0" animBg="1"/>
      <p:bldP spid="15" grpId="1" animBg="1"/>
      <p:bldP spid="19" grpId="0" animBg="1"/>
      <p:bldP spid="19"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01  ·  HYPOTHÈSE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Hypothèse de recherche</a:t>
            </a:r>
            <a:endParaRPr lang="en-US" sz="3000" dirty="0"/>
          </a:p>
        </p:txBody>
      </p:sp>
      <p:sp>
        <p:nvSpPr>
          <p:cNvPr id="4" name="C1_lead"/>
          <p:cNvSpPr txBox="1"/>
          <p:nvPr/>
        </p:nvSpPr>
        <p:spPr>
          <a:xfrm>
            <a:off x="685800" y="2057400"/>
            <a:ext cx="10820095" cy="548640"/>
          </a:xfrm>
          <a:prstGeom prst="rect">
            <a:avLst/>
          </a:prstGeom>
          <a:noFill/>
          <a:ln/>
        </p:spPr>
        <p:txBody>
          <a:bodyPr wrap="square" lIns="0" tIns="0" rIns="0" bIns="0" rtlCol="0" anchor="t"/>
          <a:lstStyle/>
          <a:p>
            <a:pPr indent="0" marL="0">
              <a:buNone/>
            </a:pPr>
            <a:r>
              <a:rPr lang="en-US" sz="1800" dirty="0">
                <a:solidFill>
                  <a:schemeClr val="tx2"/>
                </a:solidFill>
              </a:rPr>
              <a:t>Des supports graphiques et numériques professionnels permettront :</a:t>
            </a:r>
            <a:endParaRPr lang="en-US" sz="1800" dirty="0"/>
          </a:p>
        </p:txBody>
      </p:sp>
      <p:sp>
        <p:nvSpPr>
          <p:cNvPr id="5" name="C2_card0"/>
          <p:cNvSpPr/>
          <p:nvPr/>
        </p:nvSpPr>
        <p:spPr>
          <a:xfrm>
            <a:off x="685800" y="3291840"/>
            <a:ext cx="3393338" cy="2377440"/>
          </a:xfrm>
          <a:prstGeom prst="roundRect">
            <a:avLst>
              <a:gd name="adj" fmla="val 4615"/>
            </a:avLst>
          </a:prstGeom>
          <a:solidFill>
            <a:schemeClr val="bg2"/>
          </a:solidFill>
          <a:ln/>
        </p:spPr>
      </p:sp>
      <p:sp>
        <p:nvSpPr>
          <p:cNvPr id="6" name="C2_i0_disc"/>
          <p:cNvSpPr/>
          <p:nvPr/>
        </p:nvSpPr>
        <p:spPr>
          <a:xfrm>
            <a:off x="1051560" y="3611880"/>
            <a:ext cx="822960" cy="822960"/>
          </a:xfrm>
          <a:prstGeom prst="ellipse">
            <a:avLst/>
          </a:prstGeom>
          <a:solidFill>
            <a:schemeClr val="accent1"/>
          </a:solidFill>
          <a:ln/>
        </p:spPr>
      </p:sp>
      <p:pic>
        <p:nvPicPr>
          <p:cNvPr id="7" name="C2_i0_ico" descr="preencoded.png">    </p:cNvPr>
          <p:cNvPicPr>
            <a:picLocks noChangeAspect="1"/>
          </p:cNvPicPr>
          <p:nvPr/>
        </p:nvPicPr>
        <p:blipFill>
          <a:blip r:embed="rId1"/>
          <a:stretch>
            <a:fillRect/>
          </a:stretch>
        </p:blipFill>
        <p:spPr>
          <a:xfrm>
            <a:off x="1257300" y="3817620"/>
            <a:ext cx="411480" cy="411480"/>
          </a:xfrm>
          <a:prstGeom prst="rect">
            <a:avLst/>
          </a:prstGeom>
        </p:spPr>
      </p:pic>
      <p:sp>
        <p:nvSpPr>
          <p:cNvPr id="8" name="C2_t0"/>
          <p:cNvSpPr txBox="1"/>
          <p:nvPr/>
        </p:nvSpPr>
        <p:spPr>
          <a:xfrm>
            <a:off x="1051560"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D’améliorer la notoriété</a:t>
            </a:r>
            <a:endParaRPr lang="en-US" sz="1800" dirty="0"/>
          </a:p>
        </p:txBody>
      </p:sp>
      <p:sp>
        <p:nvSpPr>
          <p:cNvPr id="9" name="C2_card1"/>
          <p:cNvSpPr/>
          <p:nvPr/>
        </p:nvSpPr>
        <p:spPr>
          <a:xfrm>
            <a:off x="4399178" y="3291840"/>
            <a:ext cx="3393338" cy="2377440"/>
          </a:xfrm>
          <a:prstGeom prst="roundRect">
            <a:avLst>
              <a:gd name="adj" fmla="val 4615"/>
            </a:avLst>
          </a:prstGeom>
          <a:solidFill>
            <a:schemeClr val="bg2"/>
          </a:solidFill>
          <a:ln/>
        </p:spPr>
      </p:sp>
      <p:sp>
        <p:nvSpPr>
          <p:cNvPr id="10" name="C2_i1_disc"/>
          <p:cNvSpPr/>
          <p:nvPr/>
        </p:nvSpPr>
        <p:spPr>
          <a:xfrm>
            <a:off x="4764938" y="3611880"/>
            <a:ext cx="822960" cy="822960"/>
          </a:xfrm>
          <a:prstGeom prst="ellipse">
            <a:avLst/>
          </a:prstGeom>
          <a:solidFill>
            <a:schemeClr val="accent1"/>
          </a:solidFill>
          <a:ln/>
        </p:spPr>
      </p:sp>
      <p:pic>
        <p:nvPicPr>
          <p:cNvPr id="11" name="C2_i1_ico" descr="preencoded.png">    </p:cNvPr>
          <p:cNvPicPr>
            <a:picLocks noChangeAspect="1"/>
          </p:cNvPicPr>
          <p:nvPr/>
        </p:nvPicPr>
        <p:blipFill>
          <a:blip r:embed="rId2"/>
          <a:stretch>
            <a:fillRect/>
          </a:stretch>
        </p:blipFill>
        <p:spPr>
          <a:xfrm>
            <a:off x="4970678" y="3817620"/>
            <a:ext cx="411480" cy="411480"/>
          </a:xfrm>
          <a:prstGeom prst="rect">
            <a:avLst/>
          </a:prstGeom>
        </p:spPr>
      </p:pic>
      <p:sp>
        <p:nvSpPr>
          <p:cNvPr id="12" name="C2_t1"/>
          <p:cNvSpPr txBox="1"/>
          <p:nvPr/>
        </p:nvSpPr>
        <p:spPr>
          <a:xfrm>
            <a:off x="4764938"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De renforcer l’image de marque</a:t>
            </a:r>
            <a:endParaRPr lang="en-US" sz="1800" dirty="0"/>
          </a:p>
        </p:txBody>
      </p:sp>
      <p:sp>
        <p:nvSpPr>
          <p:cNvPr id="13" name="C2_card2"/>
          <p:cNvSpPr/>
          <p:nvPr/>
        </p:nvSpPr>
        <p:spPr>
          <a:xfrm>
            <a:off x="8112557" y="3291840"/>
            <a:ext cx="3393338" cy="2377440"/>
          </a:xfrm>
          <a:prstGeom prst="roundRect">
            <a:avLst>
              <a:gd name="adj" fmla="val 4615"/>
            </a:avLst>
          </a:prstGeom>
          <a:solidFill>
            <a:schemeClr val="bg2"/>
          </a:solidFill>
          <a:ln/>
        </p:spPr>
      </p:sp>
      <p:sp>
        <p:nvSpPr>
          <p:cNvPr id="14" name="C2_i2_disc"/>
          <p:cNvSpPr/>
          <p:nvPr/>
        </p:nvSpPr>
        <p:spPr>
          <a:xfrm>
            <a:off x="8478317" y="3611880"/>
            <a:ext cx="822960" cy="822960"/>
          </a:xfrm>
          <a:prstGeom prst="ellipse">
            <a:avLst/>
          </a:prstGeom>
          <a:solidFill>
            <a:schemeClr val="accent1"/>
          </a:solidFill>
          <a:ln/>
        </p:spPr>
      </p:sp>
      <p:pic>
        <p:nvPicPr>
          <p:cNvPr id="15" name="C2_i2_ico" descr="preencoded.png">    </p:cNvPr>
          <p:cNvPicPr>
            <a:picLocks noChangeAspect="1"/>
          </p:cNvPicPr>
          <p:nvPr/>
        </p:nvPicPr>
        <p:blipFill>
          <a:blip r:embed="rId3"/>
          <a:stretch>
            <a:fillRect/>
          </a:stretch>
        </p:blipFill>
        <p:spPr>
          <a:xfrm>
            <a:off x="8684057" y="3817620"/>
            <a:ext cx="411480" cy="411480"/>
          </a:xfrm>
          <a:prstGeom prst="rect">
            <a:avLst/>
          </a:prstGeom>
        </p:spPr>
      </p:pic>
      <p:sp>
        <p:nvSpPr>
          <p:cNvPr id="16" name="C2_t2"/>
          <p:cNvSpPr txBox="1"/>
          <p:nvPr/>
        </p:nvSpPr>
        <p:spPr>
          <a:xfrm>
            <a:off x="8478317"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D’attirer et fidéliser la clientèle</a:t>
            </a:r>
            <a:endParaRPr lang="en-US" sz="1800" dirty="0"/>
          </a:p>
        </p:txBody>
      </p:sp>
      <p:sp>
        <p:nvSpPr>
          <p:cNvPr id="1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accel="0" decel="10000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0" presetClass="path" presetSubtype="0" accel="0" decel="100000" fill="hold" grpId="1" nodeType="withEffect">
                                  <p:stCondLst>
                                    <p:cond delay="0"/>
                                  </p:stCondLst>
                                  <p:childTnLst>
                                    <p:animMotion origin="layout" path="M 0 0.02778 L 0 0 E" pathEditMode="relative" rAng="0" ptsTypes="AA">
                                      <p:cBhvr>
                                        <p:cTn id="28" dur="500" fill="hold"/>
                                        <p:tgtEl>
                                          <p:spTgt spid="5"/>
                                        </p:tgtEl>
                                        <p:attrNameLst>
                                          <p:attrName>ppt_x</p:attrName>
                                          <p:attrName>ppt_y</p:attrName>
                                        </p:attrNameLst>
                                      </p:cBhvr>
                                    </p:animMotion>
                                  </p:childTnLst>
                                </p:cTn>
                              </p:par>
                              <p:par>
                                <p:cTn id="29" presetID="10" presetClass="entr" presetSubtype="0" accel="0" decel="10000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8" grpId="0" animBg="1"/>
      <p:bldP spid="8" grpId="1" animBg="1"/>
      <p:bldP spid="12" grpId="0" animBg="1"/>
      <p:bldP spid="12" grpId="1" animBg="1"/>
      <p:bldP spid="16" grpId="0" animBg="1"/>
      <p:bldP spid="1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02</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Cadre d’étude</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LA STRUCTURE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brassage Côte d’Ivoire – États-Unis</a:t>
            </a:r>
            <a:endParaRPr lang="en-US" sz="3000" dirty="0"/>
          </a:p>
        </p:txBody>
      </p:sp>
      <p:sp>
        <p:nvSpPr>
          <p:cNvPr id="4" name="C1_f0_disc"/>
          <p:cNvSpPr/>
          <p:nvPr/>
        </p:nvSpPr>
        <p:spPr>
          <a:xfrm>
            <a:off x="685800" y="2057400"/>
            <a:ext cx="658368" cy="658368"/>
          </a:xfrm>
          <a:prstGeom prst="ellipse">
            <a:avLst/>
          </a:prstGeom>
          <a:solidFill>
            <a:schemeClr val="bg2"/>
          </a:solidFill>
          <a:ln/>
        </p:spPr>
      </p:sp>
      <p:pic>
        <p:nvPicPr>
          <p:cNvPr id="5" name="C1_f0_ico" descr="preencoded.png">    </p:cNvPr>
          <p:cNvPicPr>
            <a:picLocks noChangeAspect="1"/>
          </p:cNvPicPr>
          <p:nvPr/>
        </p:nvPicPr>
        <p:blipFill>
          <a:blip r:embed="rId1"/>
          <a:stretch>
            <a:fillRect/>
          </a:stretch>
        </p:blipFill>
        <p:spPr>
          <a:xfrm>
            <a:off x="850392" y="2221992"/>
            <a:ext cx="329184" cy="329184"/>
          </a:xfrm>
          <a:prstGeom prst="rect">
            <a:avLst/>
          </a:prstGeom>
        </p:spPr>
      </p:pic>
      <p:sp>
        <p:nvSpPr>
          <p:cNvPr id="6" name="C1_ft0"/>
          <p:cNvSpPr txBox="1"/>
          <p:nvPr/>
        </p:nvSpPr>
        <p:spPr>
          <a:xfrm>
            <a:off x="1600200" y="2112264"/>
            <a:ext cx="5852160" cy="548640"/>
          </a:xfrm>
          <a:prstGeom prst="rect">
            <a:avLst/>
          </a:prstGeom>
          <a:noFill/>
          <a:ln/>
        </p:spPr>
        <p:txBody>
          <a:bodyPr wrap="square" lIns="0" tIns="0" rIns="0" bIns="0" rtlCol="0" anchor="ctr"/>
          <a:lstStyle/>
          <a:p>
            <a:pPr indent="0" marL="0">
              <a:buNone/>
            </a:pPr>
            <a:r>
              <a:rPr lang="en-US" sz="1700" dirty="0">
                <a:solidFill>
                  <a:schemeClr val="tx1"/>
                </a:solidFill>
              </a:rPr>
              <a:t>Fitness, musculation et sports de combat</a:t>
            </a:r>
            <a:endParaRPr lang="en-US" sz="1700" dirty="0"/>
          </a:p>
        </p:txBody>
      </p:sp>
      <p:sp>
        <p:nvSpPr>
          <p:cNvPr id="7" name="C1_f1_disc"/>
          <p:cNvSpPr/>
          <p:nvPr/>
        </p:nvSpPr>
        <p:spPr>
          <a:xfrm>
            <a:off x="685800" y="3044952"/>
            <a:ext cx="658368" cy="658368"/>
          </a:xfrm>
          <a:prstGeom prst="ellipse">
            <a:avLst/>
          </a:prstGeom>
          <a:solidFill>
            <a:schemeClr val="bg2"/>
          </a:solidFill>
          <a:ln/>
        </p:spPr>
      </p:sp>
      <p:pic>
        <p:nvPicPr>
          <p:cNvPr id="8" name="C1_f1_ico" descr="preencoded.png">    </p:cNvPr>
          <p:cNvPicPr>
            <a:picLocks noChangeAspect="1"/>
          </p:cNvPicPr>
          <p:nvPr/>
        </p:nvPicPr>
        <p:blipFill>
          <a:blip r:embed="rId2"/>
          <a:stretch>
            <a:fillRect/>
          </a:stretch>
        </p:blipFill>
        <p:spPr>
          <a:xfrm>
            <a:off x="850392" y="3209544"/>
            <a:ext cx="329184" cy="329184"/>
          </a:xfrm>
          <a:prstGeom prst="rect">
            <a:avLst/>
          </a:prstGeom>
        </p:spPr>
      </p:pic>
      <p:sp>
        <p:nvSpPr>
          <p:cNvPr id="9" name="C1_ft1"/>
          <p:cNvSpPr txBox="1"/>
          <p:nvPr/>
        </p:nvSpPr>
        <p:spPr>
          <a:xfrm>
            <a:off x="1600200" y="3099816"/>
            <a:ext cx="5852160" cy="548640"/>
          </a:xfrm>
          <a:prstGeom prst="rect">
            <a:avLst/>
          </a:prstGeom>
          <a:noFill/>
          <a:ln/>
        </p:spPr>
        <p:txBody>
          <a:bodyPr wrap="square" lIns="0" tIns="0" rIns="0" bIns="0" rtlCol="0" anchor="ctr"/>
          <a:lstStyle/>
          <a:p>
            <a:pPr indent="0" marL="0">
              <a:buNone/>
            </a:pPr>
            <a:r>
              <a:rPr lang="en-US" sz="1700" dirty="0">
                <a:solidFill>
                  <a:schemeClr val="tx1"/>
                </a:solidFill>
              </a:rPr>
              <a:t>Implanté à Abobo-Dokui, Abidjan</a:t>
            </a:r>
            <a:endParaRPr lang="en-US" sz="1700" dirty="0"/>
          </a:p>
        </p:txBody>
      </p:sp>
      <p:sp>
        <p:nvSpPr>
          <p:cNvPr id="10" name="C2_f2_disc"/>
          <p:cNvSpPr/>
          <p:nvPr/>
        </p:nvSpPr>
        <p:spPr>
          <a:xfrm>
            <a:off x="685800" y="4032504"/>
            <a:ext cx="658368" cy="658368"/>
          </a:xfrm>
          <a:prstGeom prst="ellipse">
            <a:avLst/>
          </a:prstGeom>
          <a:solidFill>
            <a:schemeClr val="bg2"/>
          </a:solidFill>
          <a:ln/>
        </p:spPr>
      </p:sp>
      <p:pic>
        <p:nvPicPr>
          <p:cNvPr id="11" name="C2_f2_ico" descr="preencoded.png">    </p:cNvPr>
          <p:cNvPicPr>
            <a:picLocks noChangeAspect="1"/>
          </p:cNvPicPr>
          <p:nvPr/>
        </p:nvPicPr>
        <p:blipFill>
          <a:blip r:embed="rId3"/>
          <a:stretch>
            <a:fillRect/>
          </a:stretch>
        </p:blipFill>
        <p:spPr>
          <a:xfrm>
            <a:off x="850392" y="4197096"/>
            <a:ext cx="329184" cy="329184"/>
          </a:xfrm>
          <a:prstGeom prst="rect">
            <a:avLst/>
          </a:prstGeom>
        </p:spPr>
      </p:pic>
      <p:sp>
        <p:nvSpPr>
          <p:cNvPr id="12" name="C2_ft2"/>
          <p:cNvSpPr txBox="1"/>
          <p:nvPr/>
        </p:nvSpPr>
        <p:spPr>
          <a:xfrm>
            <a:off x="1600200" y="4087368"/>
            <a:ext cx="5852160" cy="548640"/>
          </a:xfrm>
          <a:prstGeom prst="rect">
            <a:avLst/>
          </a:prstGeom>
          <a:noFill/>
          <a:ln/>
        </p:spPr>
        <p:txBody>
          <a:bodyPr wrap="square" lIns="0" tIns="0" rIns="0" bIns="0" rtlCol="0" anchor="ctr"/>
          <a:lstStyle/>
          <a:p>
            <a:pPr indent="0" marL="0">
              <a:buNone/>
            </a:pPr>
            <a:r>
              <a:rPr lang="en-US" sz="1700" dirty="0">
                <a:solidFill>
                  <a:schemeClr val="tx1"/>
                </a:solidFill>
              </a:rPr>
              <a:t>Équipements importés des États-Unis</a:t>
            </a:r>
            <a:endParaRPr lang="en-US" sz="1700" dirty="0"/>
          </a:p>
        </p:txBody>
      </p:sp>
      <p:sp>
        <p:nvSpPr>
          <p:cNvPr id="13" name="C2_f3_disc"/>
          <p:cNvSpPr/>
          <p:nvPr/>
        </p:nvSpPr>
        <p:spPr>
          <a:xfrm>
            <a:off x="685800" y="5020056"/>
            <a:ext cx="658368" cy="658368"/>
          </a:xfrm>
          <a:prstGeom prst="ellipse">
            <a:avLst/>
          </a:prstGeom>
          <a:solidFill>
            <a:schemeClr val="bg2"/>
          </a:solidFill>
          <a:ln/>
        </p:spPr>
      </p:sp>
      <p:pic>
        <p:nvPicPr>
          <p:cNvPr id="14" name="C2_f3_ico" descr="preencoded.png">    </p:cNvPr>
          <p:cNvPicPr>
            <a:picLocks noChangeAspect="1"/>
          </p:cNvPicPr>
          <p:nvPr/>
        </p:nvPicPr>
        <p:blipFill>
          <a:blip r:embed="rId4"/>
          <a:stretch>
            <a:fillRect/>
          </a:stretch>
        </p:blipFill>
        <p:spPr>
          <a:xfrm>
            <a:off x="850392" y="5184648"/>
            <a:ext cx="329184" cy="329184"/>
          </a:xfrm>
          <a:prstGeom prst="rect">
            <a:avLst/>
          </a:prstGeom>
        </p:spPr>
      </p:pic>
      <p:sp>
        <p:nvSpPr>
          <p:cNvPr id="15" name="C2_ft3"/>
          <p:cNvSpPr txBox="1"/>
          <p:nvPr/>
        </p:nvSpPr>
        <p:spPr>
          <a:xfrm>
            <a:off x="1600200" y="5074920"/>
            <a:ext cx="5852160" cy="548640"/>
          </a:xfrm>
          <a:prstGeom prst="rect">
            <a:avLst/>
          </a:prstGeom>
          <a:noFill/>
          <a:ln/>
        </p:spPr>
        <p:txBody>
          <a:bodyPr wrap="square" lIns="0" tIns="0" rIns="0" bIns="0" rtlCol="0" anchor="ctr"/>
          <a:lstStyle/>
          <a:p>
            <a:pPr indent="0" marL="0">
              <a:buNone/>
            </a:pPr>
            <a:r>
              <a:rPr lang="en-US" sz="1700" dirty="0">
                <a:solidFill>
                  <a:schemeClr val="tx1"/>
                </a:solidFill>
              </a:rPr>
              <a:t>Dirigé par Djakaria KONATÉ, PDG</a:t>
            </a:r>
            <a:endParaRPr lang="en-US" sz="1700" dirty="0"/>
          </a:p>
        </p:txBody>
      </p:sp>
      <p:pic>
        <p:nvPicPr>
          <p:cNvPr id="16" name="C3_equipe" descr="Affiche de présentation de l'équipe d'American's Gym">    </p:cNvPr>
          <p:cNvPicPr>
            <a:picLocks noChangeAspect="1"/>
          </p:cNvPicPr>
          <p:nvPr/>
        </p:nvPicPr>
        <p:blipFill>
          <a:blip r:embed="rId5"/>
          <a:stretch>
            <a:fillRect/>
          </a:stretch>
        </p:blipFill>
        <p:spPr>
          <a:xfrm>
            <a:off x="8003408" y="1783080"/>
            <a:ext cx="3287023" cy="4389120"/>
          </a:xfrm>
          <a:prstGeom prst="rect">
            <a:avLst/>
          </a:prstGeom>
          <a:effectLst>
            <a:outerShdw sx="100000" sy="100000" kx="0" ky="0" algn="bl" rotWithShape="0" blurRad="177800" dist="50800" dir="5400000">
              <a:srgbClr val="1D3557">
                <a:alpha val="16000"/>
              </a:srgbClr>
            </a:outerShdw>
          </a:effectLst>
        </p:spPr>
      </p:pic>
      <p:sp>
        <p:nvSpPr>
          <p:cNvPr id="1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0" decel="10000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childTnLst>
                          </p:cTn>
                        </p:par>
                      </p:childTnLst>
                    </p:cTn>
                  </p:par>
                  <p:par>
                    <p:cTn id="79" fill="hold">
                      <p:stCondLst>
                        <p:cond delay="indefinite"/>
                      </p:stCondLst>
                      <p:childTnLst>
                        <p:par>
                          <p:cTn id="80" fill="hold">
                            <p:stCondLst>
                              <p:cond delay="0"/>
                            </p:stCondLst>
                            <p:childTnLst>
                              <p:par>
                                <p:cTn id="81" presetID="10" presetClass="entr" presetSubtype="0" accel="0" decel="100000"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fade">
                                      <p:cBhvr>
                                        <p:cTn id="83" dur="500"/>
                                        <p:tgtEl>
                                          <p:spTgt spid="16"/>
                                        </p:tgtEl>
                                      </p:cBhvr>
                                    </p:animEffect>
                                  </p:childTnLst>
                                </p:cTn>
                              </p:par>
                              <p:par>
                                <p:cTn id="84" presetID="0" presetClass="path" presetSubtype="0" accel="0" decel="100000" fill="hold" grpId="1" nodeType="withEffect">
                                  <p:stCondLst>
                                    <p:cond delay="0"/>
                                  </p:stCondLst>
                                  <p:childTnLst>
                                    <p:animMotion origin="layout" path="M 0 0.02778 L 0 0 E" pathEditMode="relative" rAng="0" ptsTypes="AA">
                                      <p:cBhvr>
                                        <p:cTn id="85" dur="5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P spid="15" grpId="0" animBg="1"/>
      <p:bldP spid="1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LES SERVICES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offre diversifiée et inclusive</a:t>
            </a:r>
            <a:endParaRPr lang="en-US" sz="3000" dirty="0"/>
          </a:p>
        </p:txBody>
      </p:sp>
      <p:sp>
        <p:nvSpPr>
          <p:cNvPr id="4" name="C1_card0"/>
          <p:cNvSpPr/>
          <p:nvPr/>
        </p:nvSpPr>
        <p:spPr>
          <a:xfrm>
            <a:off x="685800" y="2011680"/>
            <a:ext cx="5250028" cy="1691640"/>
          </a:xfrm>
          <a:prstGeom prst="roundRect">
            <a:avLst>
              <a:gd name="adj" fmla="val 6486"/>
            </a:avLst>
          </a:prstGeom>
          <a:solidFill>
            <a:schemeClr val="bg2"/>
          </a:solidFill>
          <a:ln/>
        </p:spPr>
      </p:sp>
      <p:sp>
        <p:nvSpPr>
          <p:cNvPr id="5" name="C1_i0_disc"/>
          <p:cNvSpPr/>
          <p:nvPr/>
        </p:nvSpPr>
        <p:spPr>
          <a:xfrm>
            <a:off x="1051560" y="2441448"/>
            <a:ext cx="822960" cy="822960"/>
          </a:xfrm>
          <a:prstGeom prst="ellipse">
            <a:avLst/>
          </a:prstGeom>
          <a:solidFill>
            <a:schemeClr val="tx1"/>
          </a:solidFill>
          <a:ln/>
        </p:spPr>
      </p:sp>
      <p:pic>
        <p:nvPicPr>
          <p:cNvPr id="6" name="C1_i0_ico" descr="preencoded.png">    </p:cNvPr>
          <p:cNvPicPr>
            <a:picLocks noChangeAspect="1"/>
          </p:cNvPicPr>
          <p:nvPr/>
        </p:nvPicPr>
        <p:blipFill>
          <a:blip r:embed="rId1"/>
          <a:stretch>
            <a:fillRect/>
          </a:stretch>
        </p:blipFill>
        <p:spPr>
          <a:xfrm>
            <a:off x="1257300" y="2647188"/>
            <a:ext cx="411480" cy="411480"/>
          </a:xfrm>
          <a:prstGeom prst="rect">
            <a:avLst/>
          </a:prstGeom>
        </p:spPr>
      </p:pic>
      <p:sp>
        <p:nvSpPr>
          <p:cNvPr id="7" name="C1_t0"/>
          <p:cNvSpPr txBox="1"/>
          <p:nvPr/>
        </p:nvSpPr>
        <p:spPr>
          <a:xfrm>
            <a:off x="2194560"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Musculation et fitness</a:t>
            </a:r>
            <a:endParaRPr lang="en-US" sz="1800" dirty="0"/>
          </a:p>
        </p:txBody>
      </p:sp>
      <p:sp>
        <p:nvSpPr>
          <p:cNvPr id="8" name="C1_card1"/>
          <p:cNvSpPr/>
          <p:nvPr/>
        </p:nvSpPr>
        <p:spPr>
          <a:xfrm>
            <a:off x="6255868" y="2011680"/>
            <a:ext cx="5250028" cy="1691640"/>
          </a:xfrm>
          <a:prstGeom prst="roundRect">
            <a:avLst>
              <a:gd name="adj" fmla="val 6486"/>
            </a:avLst>
          </a:prstGeom>
          <a:solidFill>
            <a:schemeClr val="bg2"/>
          </a:solidFill>
          <a:ln/>
        </p:spPr>
      </p:sp>
      <p:sp>
        <p:nvSpPr>
          <p:cNvPr id="9" name="C1_i1_disc"/>
          <p:cNvSpPr/>
          <p:nvPr/>
        </p:nvSpPr>
        <p:spPr>
          <a:xfrm>
            <a:off x="6621628" y="2441448"/>
            <a:ext cx="822960" cy="822960"/>
          </a:xfrm>
          <a:prstGeom prst="ellipse">
            <a:avLst/>
          </a:prstGeom>
          <a:solidFill>
            <a:schemeClr val="tx1"/>
          </a:solidFill>
          <a:ln/>
        </p:spPr>
      </p:sp>
      <p:pic>
        <p:nvPicPr>
          <p:cNvPr id="10" name="C1_i1_ico" descr="preencoded.png">    </p:cNvPr>
          <p:cNvPicPr>
            <a:picLocks noChangeAspect="1"/>
          </p:cNvPicPr>
          <p:nvPr/>
        </p:nvPicPr>
        <p:blipFill>
          <a:blip r:embed="rId2"/>
          <a:stretch>
            <a:fillRect/>
          </a:stretch>
        </p:blipFill>
        <p:spPr>
          <a:xfrm>
            <a:off x="6827368" y="2647188"/>
            <a:ext cx="411480" cy="411480"/>
          </a:xfrm>
          <a:prstGeom prst="rect">
            <a:avLst/>
          </a:prstGeom>
        </p:spPr>
      </p:pic>
      <p:sp>
        <p:nvSpPr>
          <p:cNvPr id="11" name="C1_t1"/>
          <p:cNvSpPr txBox="1"/>
          <p:nvPr/>
        </p:nvSpPr>
        <p:spPr>
          <a:xfrm>
            <a:off x="7764628"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Boxe et taekwondo</a:t>
            </a:r>
            <a:endParaRPr lang="en-US" sz="1800" dirty="0"/>
          </a:p>
        </p:txBody>
      </p:sp>
      <p:sp>
        <p:nvSpPr>
          <p:cNvPr id="12" name="C1_card2"/>
          <p:cNvSpPr/>
          <p:nvPr/>
        </p:nvSpPr>
        <p:spPr>
          <a:xfrm>
            <a:off x="685800" y="3977640"/>
            <a:ext cx="5250028" cy="1691640"/>
          </a:xfrm>
          <a:prstGeom prst="roundRect">
            <a:avLst>
              <a:gd name="adj" fmla="val 6486"/>
            </a:avLst>
          </a:prstGeom>
          <a:solidFill>
            <a:schemeClr val="bg2"/>
          </a:solidFill>
          <a:ln/>
        </p:spPr>
      </p:sp>
      <p:sp>
        <p:nvSpPr>
          <p:cNvPr id="13" name="C1_i2_disc"/>
          <p:cNvSpPr/>
          <p:nvPr/>
        </p:nvSpPr>
        <p:spPr>
          <a:xfrm>
            <a:off x="1051560" y="4407408"/>
            <a:ext cx="822960" cy="822960"/>
          </a:xfrm>
          <a:prstGeom prst="ellipse">
            <a:avLst/>
          </a:prstGeom>
          <a:solidFill>
            <a:schemeClr val="accent1"/>
          </a:solidFill>
          <a:ln/>
        </p:spPr>
      </p:sp>
      <p:pic>
        <p:nvPicPr>
          <p:cNvPr id="14" name="C1_i2_ico" descr="preencoded.png">    </p:cNvPr>
          <p:cNvPicPr>
            <a:picLocks noChangeAspect="1"/>
          </p:cNvPicPr>
          <p:nvPr/>
        </p:nvPicPr>
        <p:blipFill>
          <a:blip r:embed="rId3"/>
          <a:stretch>
            <a:fillRect/>
          </a:stretch>
        </p:blipFill>
        <p:spPr>
          <a:xfrm>
            <a:off x="1257300" y="4613148"/>
            <a:ext cx="411480" cy="411480"/>
          </a:xfrm>
          <a:prstGeom prst="rect">
            <a:avLst/>
          </a:prstGeom>
        </p:spPr>
      </p:pic>
      <p:sp>
        <p:nvSpPr>
          <p:cNvPr id="15" name="C1_t2"/>
          <p:cNvSpPr txBox="1"/>
          <p:nvPr/>
        </p:nvSpPr>
        <p:spPr>
          <a:xfrm>
            <a:off x="2194560"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Séances dédiées aux femmes voilées</a:t>
            </a:r>
            <a:endParaRPr lang="en-US" sz="1800" dirty="0"/>
          </a:p>
        </p:txBody>
      </p:sp>
      <p:sp>
        <p:nvSpPr>
          <p:cNvPr id="16" name="C1_card3"/>
          <p:cNvSpPr/>
          <p:nvPr/>
        </p:nvSpPr>
        <p:spPr>
          <a:xfrm>
            <a:off x="6255868" y="3977640"/>
            <a:ext cx="5250028" cy="1691640"/>
          </a:xfrm>
          <a:prstGeom prst="roundRect">
            <a:avLst>
              <a:gd name="adj" fmla="val 6486"/>
            </a:avLst>
          </a:prstGeom>
          <a:solidFill>
            <a:schemeClr val="bg2"/>
          </a:solidFill>
          <a:ln/>
        </p:spPr>
      </p:sp>
      <p:sp>
        <p:nvSpPr>
          <p:cNvPr id="17" name="C1_i3_disc"/>
          <p:cNvSpPr/>
          <p:nvPr/>
        </p:nvSpPr>
        <p:spPr>
          <a:xfrm>
            <a:off x="6621628" y="4407408"/>
            <a:ext cx="822960" cy="822960"/>
          </a:xfrm>
          <a:prstGeom prst="ellipse">
            <a:avLst/>
          </a:prstGeom>
          <a:solidFill>
            <a:schemeClr val="tx1"/>
          </a:solidFill>
          <a:ln/>
        </p:spPr>
      </p:sp>
      <p:pic>
        <p:nvPicPr>
          <p:cNvPr id="18" name="C1_i3_ico" descr="preencoded.png">    </p:cNvPr>
          <p:cNvPicPr>
            <a:picLocks noChangeAspect="1"/>
          </p:cNvPicPr>
          <p:nvPr/>
        </p:nvPicPr>
        <p:blipFill>
          <a:blip r:embed="rId4"/>
          <a:stretch>
            <a:fillRect/>
          </a:stretch>
        </p:blipFill>
        <p:spPr>
          <a:xfrm>
            <a:off x="6827368" y="4613148"/>
            <a:ext cx="411480" cy="411480"/>
          </a:xfrm>
          <a:prstGeom prst="rect">
            <a:avLst/>
          </a:prstGeom>
        </p:spPr>
      </p:pic>
      <p:sp>
        <p:nvSpPr>
          <p:cNvPr id="19" name="C1_t3"/>
          <p:cNvSpPr txBox="1"/>
          <p:nvPr/>
        </p:nvSpPr>
        <p:spPr>
          <a:xfrm>
            <a:off x="7764628"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Compléments et soins</a:t>
            </a:r>
            <a:endParaRPr lang="en-US" sz="1800" dirty="0"/>
          </a:p>
        </p:txBody>
      </p:sp>
      <p:sp>
        <p:nvSpPr>
          <p:cNvPr id="2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par>
                                <p:cTn id="92" presetID="10" presetClass="entr" presetSubtype="0" accel="0" decel="100000" fill="hold" grpId="0"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0" presetClass="path" presetSubtype="0" accel="0" decel="100000" fill="hold" grpId="1" nodeType="withEffect">
                                  <p:stCondLst>
                                    <p:cond delay="0"/>
                                  </p:stCondLst>
                                  <p:childTnLst>
                                    <p:animMotion origin="layout" path="M 0 0.02778 L 0 0 E" pathEditMode="relative" rAng="0" ptsTypes="AA">
                                      <p:cBhvr>
                                        <p:cTn id="96" dur="500" fill="hold"/>
                                        <p:tgtEl>
                                          <p:spTgt spid="1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11" grpId="0" animBg="1"/>
      <p:bldP spid="11" grpId="1" animBg="1"/>
      <p:bldP spid="15" grpId="0" animBg="1"/>
      <p:bldP spid="15" grpId="1" animBg="1"/>
      <p:bldP spid="19" grpId="0" animBg="1"/>
      <p:bldP spid="19"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CANAUX DIGITAUX</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présence numérique déjà active</a:t>
            </a:r>
            <a:endParaRPr lang="en-US" sz="3000" dirty="0"/>
          </a:p>
        </p:txBody>
      </p:sp>
      <p:sp>
        <p:nvSpPr>
          <p:cNvPr id="4" name="C1_sn0"/>
          <p:cNvSpPr txBox="1"/>
          <p:nvPr/>
        </p:nvSpPr>
        <p:spPr>
          <a:xfrm>
            <a:off x="685800" y="2011680"/>
            <a:ext cx="5120640" cy="731520"/>
          </a:xfrm>
          <a:prstGeom prst="rect">
            <a:avLst/>
          </a:prstGeom>
          <a:noFill/>
          <a:ln/>
        </p:spPr>
        <p:txBody>
          <a:bodyPr wrap="square" lIns="0" tIns="0" rIns="0" bIns="0" rtlCol="0" anchor="t"/>
          <a:lstStyle/>
          <a:p>
            <a:pPr indent="0" marL="0">
              <a:buNone/>
            </a:pPr>
            <a:r>
              <a:rPr lang="en-US" sz="4000" dirty="0">
                <a:solidFill>
                  <a:schemeClr val="accent1"/>
                </a:solidFill>
                <a:latin typeface="Poppins ExtraBold" pitchFamily="34" charset="0"/>
                <a:ea typeface="Poppins ExtraBold" pitchFamily="34" charset="-122"/>
                <a:cs typeface="Poppins ExtraBold" pitchFamily="34" charset="-120"/>
              </a:rPr>
              <a:t>≈ 1 300</a:t>
            </a:r>
            <a:endParaRPr lang="en-US" sz="4000" dirty="0"/>
          </a:p>
        </p:txBody>
      </p:sp>
      <p:sp>
        <p:nvSpPr>
          <p:cNvPr id="5" name="C1_sl0"/>
          <p:cNvSpPr txBox="1"/>
          <p:nvPr/>
        </p:nvSpPr>
        <p:spPr>
          <a:xfrm>
            <a:off x="685800" y="2724912"/>
            <a:ext cx="5120640" cy="365760"/>
          </a:xfrm>
          <a:prstGeom prst="rect">
            <a:avLst/>
          </a:prstGeom>
          <a:noFill/>
          <a:ln/>
        </p:spPr>
        <p:txBody>
          <a:bodyPr wrap="square" lIns="0" tIns="0" rIns="0" bIns="0" rtlCol="0" anchor="t"/>
          <a:lstStyle/>
          <a:p>
            <a:pPr indent="0" marL="0">
              <a:buNone/>
            </a:pPr>
            <a:r>
              <a:rPr lang="en-US" sz="1500" dirty="0">
                <a:solidFill>
                  <a:schemeClr val="tx2"/>
                </a:solidFill>
              </a:rPr>
              <a:t>abonnés sur Facebook</a:t>
            </a:r>
            <a:endParaRPr lang="en-US" sz="1500" dirty="0"/>
          </a:p>
        </p:txBody>
      </p:sp>
      <p:sp>
        <p:nvSpPr>
          <p:cNvPr id="6" name="C1_sn1"/>
          <p:cNvSpPr txBox="1"/>
          <p:nvPr/>
        </p:nvSpPr>
        <p:spPr>
          <a:xfrm>
            <a:off x="685800" y="3383280"/>
            <a:ext cx="5120640" cy="731520"/>
          </a:xfrm>
          <a:prstGeom prst="rect">
            <a:avLst/>
          </a:prstGeom>
          <a:noFill/>
          <a:ln/>
        </p:spPr>
        <p:txBody>
          <a:bodyPr wrap="square" lIns="0" tIns="0" rIns="0" bIns="0" rtlCol="0" anchor="t"/>
          <a:lstStyle/>
          <a:p>
            <a:pPr indent="0" marL="0">
              <a:buNone/>
            </a:pPr>
            <a:r>
              <a:rPr lang="en-US" sz="4000" dirty="0">
                <a:solidFill>
                  <a:schemeClr val="accent1"/>
                </a:solidFill>
                <a:latin typeface="Poppins ExtraBold" pitchFamily="34" charset="0"/>
                <a:ea typeface="Poppins ExtraBold" pitchFamily="34" charset="-122"/>
                <a:cs typeface="Poppins ExtraBold" pitchFamily="34" charset="-120"/>
              </a:rPr>
              <a:t>27 900</a:t>
            </a:r>
            <a:endParaRPr lang="en-US" sz="4000" dirty="0"/>
          </a:p>
        </p:txBody>
      </p:sp>
      <p:sp>
        <p:nvSpPr>
          <p:cNvPr id="7" name="C1_sl1"/>
          <p:cNvSpPr txBox="1"/>
          <p:nvPr/>
        </p:nvSpPr>
        <p:spPr>
          <a:xfrm>
            <a:off x="685800" y="4096512"/>
            <a:ext cx="5120640" cy="365760"/>
          </a:xfrm>
          <a:prstGeom prst="rect">
            <a:avLst/>
          </a:prstGeom>
          <a:noFill/>
          <a:ln/>
        </p:spPr>
        <p:txBody>
          <a:bodyPr wrap="square" lIns="0" tIns="0" rIns="0" bIns="0" rtlCol="0" anchor="t"/>
          <a:lstStyle/>
          <a:p>
            <a:pPr indent="0" marL="0">
              <a:buNone/>
            </a:pPr>
            <a:r>
              <a:rPr lang="en-US" sz="1500" dirty="0">
                <a:solidFill>
                  <a:schemeClr val="tx2"/>
                </a:solidFill>
              </a:rPr>
              <a:t>mentions « J’aime » sur TikTok</a:t>
            </a:r>
            <a:endParaRPr lang="en-US" sz="1500" dirty="0"/>
          </a:p>
        </p:txBody>
      </p:sp>
      <p:sp>
        <p:nvSpPr>
          <p:cNvPr id="8" name="C1_sn2"/>
          <p:cNvSpPr txBox="1"/>
          <p:nvPr/>
        </p:nvSpPr>
        <p:spPr>
          <a:xfrm>
            <a:off x="685800" y="4754880"/>
            <a:ext cx="5120640" cy="731520"/>
          </a:xfrm>
          <a:prstGeom prst="rect">
            <a:avLst/>
          </a:prstGeom>
          <a:noFill/>
          <a:ln/>
        </p:spPr>
        <p:txBody>
          <a:bodyPr wrap="square" lIns="0" tIns="0" rIns="0" bIns="0" rtlCol="0" anchor="t"/>
          <a:lstStyle/>
          <a:p>
            <a:pPr indent="0" marL="0">
              <a:buNone/>
            </a:pPr>
            <a:r>
              <a:rPr lang="en-US" sz="4000" dirty="0">
                <a:solidFill>
                  <a:schemeClr val="tx1"/>
                </a:solidFill>
                <a:latin typeface="Poppins ExtraBold" pitchFamily="34" charset="0"/>
                <a:ea typeface="Poppins ExtraBold" pitchFamily="34" charset="-122"/>
                <a:cs typeface="Poppins ExtraBold" pitchFamily="34" charset="-120"/>
              </a:rPr>
              <a:t>Shopify</a:t>
            </a:r>
            <a:endParaRPr lang="en-US" sz="4000" dirty="0"/>
          </a:p>
        </p:txBody>
      </p:sp>
      <p:sp>
        <p:nvSpPr>
          <p:cNvPr id="9" name="C1_sl2"/>
          <p:cNvSpPr txBox="1"/>
          <p:nvPr/>
        </p:nvSpPr>
        <p:spPr>
          <a:xfrm>
            <a:off x="685800" y="5468112"/>
            <a:ext cx="5120640" cy="365760"/>
          </a:xfrm>
          <a:prstGeom prst="rect">
            <a:avLst/>
          </a:prstGeom>
          <a:noFill/>
          <a:ln/>
        </p:spPr>
        <p:txBody>
          <a:bodyPr wrap="square" lIns="0" tIns="0" rIns="0" bIns="0" rtlCol="0" anchor="t"/>
          <a:lstStyle/>
          <a:p>
            <a:pPr indent="0" marL="0">
              <a:buNone/>
            </a:pPr>
            <a:r>
              <a:rPr lang="en-US" sz="1500" dirty="0">
                <a:solidFill>
                  <a:schemeClr val="tx2"/>
                </a:solidFill>
              </a:rPr>
              <a:t>boutique en ligne</a:t>
            </a:r>
            <a:endParaRPr lang="en-US" sz="1500" dirty="0"/>
          </a:p>
        </p:txBody>
      </p:sp>
      <p:pic>
        <p:nvPicPr>
          <p:cNvPr id="10" name="C2_tiktok" descr="Capture du compte TikTok">    </p:cNvPr>
          <p:cNvPicPr>
            <a:picLocks noChangeAspect="1"/>
          </p:cNvPicPr>
          <p:nvPr/>
        </p:nvPicPr>
        <p:blipFill>
          <a:blip r:embed="rId1"/>
          <a:stretch>
            <a:fillRect/>
          </a:stretch>
        </p:blipFill>
        <p:spPr>
          <a:xfrm>
            <a:off x="6400800" y="2435818"/>
            <a:ext cx="2423160" cy="3037925"/>
          </a:xfrm>
          <a:prstGeom prst="rect">
            <a:avLst/>
          </a:prstGeom>
          <a:effectLst>
            <a:outerShdw sx="100000" sy="100000" kx="0" ky="0" algn="bl" rotWithShape="0" blurRad="177800" dist="50800" dir="5400000">
              <a:srgbClr val="1D3557">
                <a:alpha val="16000"/>
              </a:srgbClr>
            </a:outerShdw>
          </a:effectLst>
        </p:spPr>
      </p:pic>
      <p:pic>
        <p:nvPicPr>
          <p:cNvPr id="11" name="C2_facebook" descr="Capture de la page Facebook">    </p:cNvPr>
          <p:cNvPicPr>
            <a:picLocks noChangeAspect="1"/>
          </p:cNvPicPr>
          <p:nvPr/>
        </p:nvPicPr>
        <p:blipFill>
          <a:blip r:embed="rId2"/>
          <a:stretch>
            <a:fillRect/>
          </a:stretch>
        </p:blipFill>
        <p:spPr>
          <a:xfrm>
            <a:off x="9052560" y="2431330"/>
            <a:ext cx="2423160" cy="3046899"/>
          </a:xfrm>
          <a:prstGeom prst="rect">
            <a:avLst/>
          </a:prstGeom>
          <a:effectLst>
            <a:outerShdw sx="100000" sy="100000" kx="0" ky="0" algn="bl" rotWithShape="0" blurRad="177800" dist="50800" dir="5400000">
              <a:srgbClr val="1D3557">
                <a:alpha val="16000"/>
              </a:srgbClr>
            </a:outerShdw>
          </a:effectLst>
        </p:spPr>
      </p:pic>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0" decel="10000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CRITIQUE DE L’EXISTANT</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image de marque fragilisée</a:t>
            </a:r>
            <a:endParaRPr lang="en-US" sz="3000" dirty="0"/>
          </a:p>
        </p:txBody>
      </p:sp>
      <p:pic>
        <p:nvPicPr>
          <p:cNvPr id="4" name="C1_logo" descr="Logo existant avec la mention DOKUI">    </p:cNvPr>
          <p:cNvPicPr>
            <a:picLocks noChangeAspect="1"/>
          </p:cNvPicPr>
          <p:nvPr/>
        </p:nvPicPr>
        <p:blipFill>
          <a:blip r:embed="rId1"/>
          <a:stretch>
            <a:fillRect/>
          </a:stretch>
        </p:blipFill>
        <p:spPr>
          <a:xfrm>
            <a:off x="685800" y="2105702"/>
            <a:ext cx="3566160" cy="3012356"/>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440680"/>
            <a:ext cx="3566160" cy="274320"/>
          </a:xfrm>
          <a:prstGeom prst="rect">
            <a:avLst/>
          </a:prstGeom>
          <a:noFill/>
          <a:ln/>
        </p:spPr>
        <p:txBody>
          <a:bodyPr wrap="square" lIns="0" tIns="0" rIns="0" bIns="0" rtlCol="0" anchor="t"/>
          <a:lstStyle/>
          <a:p>
            <a:pPr algn="l" indent="0" marL="0">
              <a:buNone/>
            </a:pPr>
            <a:r>
              <a:rPr lang="en-US" sz="1100" dirty="0">
                <a:solidFill>
                  <a:schemeClr val="accent4"/>
                </a:solidFill>
              </a:rPr>
              <a:t>Logo existant, mention « DOKUI » ajoutée</a:t>
            </a:r>
            <a:endParaRPr lang="en-US" sz="1100" dirty="0"/>
          </a:p>
        </p:txBody>
      </p:sp>
      <p:sp>
        <p:nvSpPr>
          <p:cNvPr id="6" name="C2_n"/>
          <p:cNvSpPr txBox="1"/>
          <p:nvPr/>
        </p:nvSpPr>
        <p:spPr>
          <a:xfrm>
            <a:off x="4846320" y="1965960"/>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01</a:t>
            </a:r>
            <a:endParaRPr lang="en-US" sz="1800" dirty="0"/>
          </a:p>
        </p:txBody>
      </p:sp>
      <p:sp>
        <p:nvSpPr>
          <p:cNvPr id="7" name="C2_t"/>
          <p:cNvSpPr txBox="1"/>
          <p:nvPr/>
        </p:nvSpPr>
        <p:spPr>
          <a:xfrm>
            <a:off x="5532120" y="1984248"/>
            <a:ext cx="5943600" cy="822960"/>
          </a:xfrm>
          <a:prstGeom prst="rect">
            <a:avLst/>
          </a:prstGeom>
          <a:noFill/>
          <a:ln/>
        </p:spPr>
        <p:txBody>
          <a:bodyPr wrap="square" lIns="0" tIns="0" rIns="0" bIns="0" rtlCol="0" anchor="t"/>
          <a:lstStyle/>
          <a:p>
            <a:pPr indent="0" marL="0">
              <a:buNone/>
            </a:pPr>
            <a:r>
              <a:rPr lang="en-US" sz="1700" dirty="0">
                <a:solidFill>
                  <a:schemeClr val="tx1"/>
                </a:solidFill>
              </a:rPr>
              <a:t>Logo décliné sans respect de la charte</a:t>
            </a:r>
            <a:endParaRPr lang="en-US" sz="1700" dirty="0"/>
          </a:p>
        </p:txBody>
      </p:sp>
      <p:sp>
        <p:nvSpPr>
          <p:cNvPr id="8" name="C3_n"/>
          <p:cNvSpPr txBox="1"/>
          <p:nvPr/>
        </p:nvSpPr>
        <p:spPr>
          <a:xfrm>
            <a:off x="4846320" y="2990088"/>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02</a:t>
            </a:r>
            <a:endParaRPr lang="en-US" sz="1800" dirty="0"/>
          </a:p>
        </p:txBody>
      </p:sp>
      <p:sp>
        <p:nvSpPr>
          <p:cNvPr id="9" name="C3_t"/>
          <p:cNvSpPr txBox="1"/>
          <p:nvPr/>
        </p:nvSpPr>
        <p:spPr>
          <a:xfrm>
            <a:off x="5532120" y="3008376"/>
            <a:ext cx="5943600" cy="822960"/>
          </a:xfrm>
          <a:prstGeom prst="rect">
            <a:avLst/>
          </a:prstGeom>
          <a:noFill/>
          <a:ln/>
        </p:spPr>
        <p:txBody>
          <a:bodyPr wrap="square" lIns="0" tIns="0" rIns="0" bIns="0" rtlCol="0" anchor="t"/>
          <a:lstStyle/>
          <a:p>
            <a:pPr indent="0" marL="0">
              <a:buNone/>
            </a:pPr>
            <a:r>
              <a:rPr lang="en-US" sz="1700" dirty="0">
                <a:solidFill>
                  <a:schemeClr val="tx1"/>
                </a:solidFill>
              </a:rPr>
              <a:t>Visuels promotionnels sans code couleur commun</a:t>
            </a:r>
            <a:endParaRPr lang="en-US" sz="1700" dirty="0"/>
          </a:p>
        </p:txBody>
      </p:sp>
      <p:sp>
        <p:nvSpPr>
          <p:cNvPr id="10" name="C4_n"/>
          <p:cNvSpPr txBox="1"/>
          <p:nvPr/>
        </p:nvSpPr>
        <p:spPr>
          <a:xfrm>
            <a:off x="4846320" y="4014216"/>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03</a:t>
            </a:r>
            <a:endParaRPr lang="en-US" sz="1800" dirty="0"/>
          </a:p>
        </p:txBody>
      </p:sp>
      <p:sp>
        <p:nvSpPr>
          <p:cNvPr id="11" name="C4_t"/>
          <p:cNvSpPr txBox="1"/>
          <p:nvPr/>
        </p:nvSpPr>
        <p:spPr>
          <a:xfrm>
            <a:off x="5532120" y="4032504"/>
            <a:ext cx="5943600" cy="822960"/>
          </a:xfrm>
          <a:prstGeom prst="rect">
            <a:avLst/>
          </a:prstGeom>
          <a:noFill/>
          <a:ln/>
        </p:spPr>
        <p:txBody>
          <a:bodyPr wrap="square" lIns="0" tIns="0" rIns="0" bIns="0" rtlCol="0" anchor="t"/>
          <a:lstStyle/>
          <a:p>
            <a:pPr indent="0" marL="0">
              <a:buNone/>
            </a:pPr>
            <a:r>
              <a:rPr lang="en-US" sz="1700" dirty="0">
                <a:solidFill>
                  <a:schemeClr val="tx1"/>
                </a:solidFill>
              </a:rPr>
              <a:t>Lien boutique non personnalisé, identifiant TikTok mal orthographié</a:t>
            </a:r>
            <a:endParaRPr lang="en-US" sz="1700" dirty="0"/>
          </a:p>
        </p:txBody>
      </p:sp>
      <p:sp>
        <p:nvSpPr>
          <p:cNvPr id="12" name="C5_n"/>
          <p:cNvSpPr txBox="1"/>
          <p:nvPr/>
        </p:nvSpPr>
        <p:spPr>
          <a:xfrm>
            <a:off x="4846320" y="5038344"/>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04</a:t>
            </a:r>
            <a:endParaRPr lang="en-US" sz="1800" dirty="0"/>
          </a:p>
        </p:txBody>
      </p:sp>
      <p:sp>
        <p:nvSpPr>
          <p:cNvPr id="13" name="C5_t"/>
          <p:cNvSpPr txBox="1"/>
          <p:nvPr/>
        </p:nvSpPr>
        <p:spPr>
          <a:xfrm>
            <a:off x="5532120" y="5056632"/>
            <a:ext cx="5943600" cy="822960"/>
          </a:xfrm>
          <a:prstGeom prst="rect">
            <a:avLst/>
          </a:prstGeom>
          <a:noFill/>
          <a:ln/>
        </p:spPr>
        <p:txBody>
          <a:bodyPr wrap="square" lIns="0" tIns="0" rIns="0" bIns="0" rtlCol="0" anchor="t"/>
          <a:lstStyle/>
          <a:p>
            <a:pPr indent="0" marL="0">
              <a:buNone/>
            </a:pPr>
            <a:r>
              <a:rPr lang="en-US" sz="1700" dirty="0">
                <a:solidFill>
                  <a:schemeClr val="tx1"/>
                </a:solidFill>
              </a:rPr>
              <a:t>Ligne éditoriale confuse, vidéos brutes</a:t>
            </a:r>
            <a:endParaRPr lang="en-US" sz="1700" dirty="0"/>
          </a:p>
        </p:txBody>
      </p:sp>
      <p:sp>
        <p:nvSpPr>
          <p:cNvPr id="14"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0" decel="10000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0" presetClass="path" presetSubtype="0" accel="0" decel="100000" fill="hold" grpId="1" nodeType="withEffect">
                                  <p:stCondLst>
                                    <p:cond delay="0"/>
                                  </p:stCondLst>
                                  <p:childTnLst>
                                    <p:animMotion origin="layout" path="M 0 0.02778 L 0 0 E" pathEditMode="relative" rAng="0" ptsTypes="AA">
                                      <p:cBhvr>
                                        <p:cTn id="45" dur="500" fill="hold"/>
                                        <p:tgtEl>
                                          <p:spTgt spid="8"/>
                                        </p:tgtEl>
                                        <p:attrNameLst>
                                          <p:attrName>ppt_x</p:attrName>
                                          <p:attrName>ppt_y</p:attrName>
                                        </p:attrNameLst>
                                      </p:cBhvr>
                                    </p:animMotion>
                                  </p:childTnLst>
                                </p:cTn>
                              </p:par>
                              <p:par>
                                <p:cTn id="46" presetID="10" presetClass="entr" presetSubtype="0" accel="0" decel="10000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0" presetClass="path" presetSubtype="0" accel="0" decel="100000" fill="hold" grpId="1" nodeType="withEffect">
                                  <p:stCondLst>
                                    <p:cond delay="0"/>
                                  </p:stCondLst>
                                  <p:childTnLst>
                                    <p:animMotion origin="layout" path="M 0 0.02778 L 0 0 E" pathEditMode="relative" rAng="0" ptsTypes="AA">
                                      <p:cBhvr>
                                        <p:cTn id="50" dur="500" fill="hold"/>
                                        <p:tgtEl>
                                          <p:spTgt spid="9"/>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accel="0" decel="10000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par>
                                <p:cTn id="56" presetID="0" presetClass="path" presetSubtype="0" accel="0" decel="100000" fill="hold" grpId="1" nodeType="withEffect">
                                  <p:stCondLst>
                                    <p:cond delay="0"/>
                                  </p:stCondLst>
                                  <p:childTnLst>
                                    <p:animMotion origin="layout" path="M 0 0.02778 L 0 0 E" pathEditMode="relative" rAng="0" ptsTypes="AA">
                                      <p:cBhvr>
                                        <p:cTn id="57" dur="500" fill="hold"/>
                                        <p:tgtEl>
                                          <p:spTgt spid="10"/>
                                        </p:tgtEl>
                                        <p:attrNameLst>
                                          <p:attrName>ppt_x</p:attrName>
                                          <p:attrName>ppt_y</p:attrName>
                                        </p:attrNameLst>
                                      </p:cBhvr>
                                    </p:animMotion>
                                  </p:childTnLst>
                                </p:cTn>
                              </p:par>
                              <p:par>
                                <p:cTn id="58" presetID="10" presetClass="entr" presetSubtype="0" accel="0" decel="10000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500"/>
                                        <p:tgtEl>
                                          <p:spTgt spid="11"/>
                                        </p:tgtEl>
                                      </p:cBhvr>
                                    </p:animEffect>
                                  </p:childTnLst>
                                </p:cTn>
                              </p:par>
                              <p:par>
                                <p:cTn id="61" presetID="0" presetClass="path" presetSubtype="0" accel="0" decel="100000" fill="hold" grpId="1" nodeType="withEffect">
                                  <p:stCondLst>
                                    <p:cond delay="0"/>
                                  </p:stCondLst>
                                  <p:childTnLst>
                                    <p:animMotion origin="layout" path="M 0 0.02778 L 0 0 E" pathEditMode="relative" rAng="0" ptsTypes="AA">
                                      <p:cBhvr>
                                        <p:cTn id="62" dur="500" fill="hold"/>
                                        <p:tgtEl>
                                          <p:spTgt spid="11"/>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10" presetClass="entr" presetSubtype="0" accel="0" decel="10000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par>
                                <p:cTn id="68" presetID="0" presetClass="path" presetSubtype="0" accel="0" decel="100000" fill="hold" grpId="1" nodeType="withEffect">
                                  <p:stCondLst>
                                    <p:cond delay="0"/>
                                  </p:stCondLst>
                                  <p:childTnLst>
                                    <p:animMotion origin="layout" path="M 0 0.02778 L 0 0 E" pathEditMode="relative" rAng="0" ptsTypes="AA">
                                      <p:cBhvr>
                                        <p:cTn id="69" dur="500" fill="hold"/>
                                        <p:tgtEl>
                                          <p:spTgt spid="12"/>
                                        </p:tgtEl>
                                        <p:attrNameLst>
                                          <p:attrName>ppt_x</p:attrName>
                                          <p:attrName>ppt_y</p:attrName>
                                        </p:attrNameLst>
                                      </p:cBhvr>
                                    </p:animMotion>
                                  </p:childTnLst>
                                </p:cTn>
                              </p:par>
                              <p:par>
                                <p:cTn id="70" presetID="10" presetClass="entr" presetSubtype="0" accel="0" decel="100000"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par>
                                <p:cTn id="73" presetID="0" presetClass="path" presetSubtype="0" accel="0" decel="100000" fill="hold" grpId="1" nodeType="withEffect">
                                  <p:stCondLst>
                                    <p:cond delay="0"/>
                                  </p:stCondLst>
                                  <p:childTnLst>
                                    <p:animMotion origin="layout" path="M 0 0.02778 L 0 0 E" pathEditMode="relative" rAng="0" ptsTypes="AA">
                                      <p:cBhvr>
                                        <p:cTn id="74" dur="5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03</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Étude technique</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CAHIER DES CHARGES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cibles de la communication</a:t>
            </a:r>
            <a:endParaRPr lang="en-US" sz="3000" dirty="0"/>
          </a:p>
        </p:txBody>
      </p:sp>
      <p:sp>
        <p:nvSpPr>
          <p:cNvPr id="4" name="C1_card0"/>
          <p:cNvSpPr/>
          <p:nvPr/>
        </p:nvSpPr>
        <p:spPr>
          <a:xfrm>
            <a:off x="685800" y="2103120"/>
            <a:ext cx="3393338" cy="3566160"/>
          </a:xfrm>
          <a:prstGeom prst="roundRect">
            <a:avLst>
              <a:gd name="adj" fmla="val 3234"/>
            </a:avLst>
          </a:prstGeom>
          <a:solidFill>
            <a:schemeClr val="bg2"/>
          </a:solidFill>
          <a:ln/>
        </p:spPr>
      </p:sp>
      <p:sp>
        <p:nvSpPr>
          <p:cNvPr id="5" name="C1_i0_disc"/>
          <p:cNvSpPr/>
          <p:nvPr/>
        </p:nvSpPr>
        <p:spPr>
          <a:xfrm>
            <a:off x="1051560" y="2468880"/>
            <a:ext cx="914400" cy="914400"/>
          </a:xfrm>
          <a:prstGeom prst="ellipse">
            <a:avLst/>
          </a:prstGeom>
          <a:solidFill>
            <a:schemeClr val="tx1"/>
          </a:solidFill>
          <a:ln/>
        </p:spPr>
      </p:sp>
      <p:pic>
        <p:nvPicPr>
          <p:cNvPr id="6" name="C1_i0_ico" descr="preencoded.png">    </p:cNvPr>
          <p:cNvPicPr>
            <a:picLocks noChangeAspect="1"/>
          </p:cNvPicPr>
          <p:nvPr/>
        </p:nvPicPr>
        <p:blipFill>
          <a:blip r:embed="rId1"/>
          <a:stretch>
            <a:fillRect/>
          </a:stretch>
        </p:blipFill>
        <p:spPr>
          <a:xfrm>
            <a:off x="1280160" y="2697480"/>
            <a:ext cx="457200" cy="457200"/>
          </a:xfrm>
          <a:prstGeom prst="rect">
            <a:avLst/>
          </a:prstGeom>
        </p:spPr>
      </p:pic>
      <p:sp>
        <p:nvSpPr>
          <p:cNvPr id="7" name="C1_t0"/>
          <p:cNvSpPr txBox="1"/>
          <p:nvPr/>
        </p:nvSpPr>
        <p:spPr>
          <a:xfrm>
            <a:off x="960120" y="3703320"/>
            <a:ext cx="2844698" cy="457200"/>
          </a:xfrm>
          <a:prstGeom prst="rect">
            <a:avLst/>
          </a:prstGeom>
          <a:noFill/>
          <a:ln/>
        </p:spPr>
        <p:txBody>
          <a:bodyPr wrap="square" lIns="0" tIns="0" rIns="0" bIns="0" rtlCol="0" anchor="t"/>
          <a:lstStyle/>
          <a:p>
            <a:pPr indent="0" marL="0">
              <a:buNone/>
            </a:pPr>
            <a:r>
              <a:rPr lang="en-US" sz="1800" b="1" dirty="0">
                <a:solidFill>
                  <a:schemeClr val="tx1"/>
                </a:solidFill>
              </a:rPr>
              <a:t>Clients actuels</a:t>
            </a:r>
            <a:endParaRPr lang="en-US" sz="1800" dirty="0"/>
          </a:p>
        </p:txBody>
      </p:sp>
      <p:sp>
        <p:nvSpPr>
          <p:cNvPr id="8" name="C1_v0"/>
          <p:cNvSpPr txBox="1"/>
          <p:nvPr/>
        </p:nvSpPr>
        <p:spPr>
          <a:xfrm>
            <a:off x="960120" y="4206240"/>
            <a:ext cx="2844698" cy="411480"/>
          </a:xfrm>
          <a:prstGeom prst="rect">
            <a:avLst/>
          </a:prstGeom>
          <a:noFill/>
          <a:ln/>
        </p:spPr>
        <p:txBody>
          <a:bodyPr wrap="square" lIns="0" tIns="0" rIns="0" bIns="0" rtlCol="0" anchor="t"/>
          <a:lstStyle/>
          <a:p>
            <a:pPr indent="0" marL="0">
              <a:buNone/>
            </a:pPr>
            <a:r>
              <a:rPr lang="en-US" sz="1600" b="1" dirty="0">
                <a:solidFill>
                  <a:schemeClr val="accent1"/>
                </a:solidFill>
              </a:rPr>
              <a:t>Fidéliser</a:t>
            </a:r>
            <a:endParaRPr lang="en-US" sz="1600" dirty="0"/>
          </a:p>
        </p:txBody>
      </p:sp>
      <p:sp>
        <p:nvSpPr>
          <p:cNvPr id="9" name="C1_card1"/>
          <p:cNvSpPr/>
          <p:nvPr/>
        </p:nvSpPr>
        <p:spPr>
          <a:xfrm>
            <a:off x="4399178" y="2103120"/>
            <a:ext cx="3393338" cy="3566160"/>
          </a:xfrm>
          <a:prstGeom prst="roundRect">
            <a:avLst>
              <a:gd name="adj" fmla="val 3234"/>
            </a:avLst>
          </a:prstGeom>
          <a:solidFill>
            <a:schemeClr val="bg2"/>
          </a:solidFill>
          <a:ln/>
        </p:spPr>
      </p:sp>
      <p:sp>
        <p:nvSpPr>
          <p:cNvPr id="10" name="C1_i1_disc"/>
          <p:cNvSpPr/>
          <p:nvPr/>
        </p:nvSpPr>
        <p:spPr>
          <a:xfrm>
            <a:off x="4764938" y="2468880"/>
            <a:ext cx="914400" cy="914400"/>
          </a:xfrm>
          <a:prstGeom prst="ellipse">
            <a:avLst/>
          </a:prstGeom>
          <a:solidFill>
            <a:schemeClr val="tx1"/>
          </a:solidFill>
          <a:ln/>
        </p:spPr>
      </p:sp>
      <p:pic>
        <p:nvPicPr>
          <p:cNvPr id="11" name="C1_i1_ico" descr="preencoded.png">    </p:cNvPr>
          <p:cNvPicPr>
            <a:picLocks noChangeAspect="1"/>
          </p:cNvPicPr>
          <p:nvPr/>
        </p:nvPicPr>
        <p:blipFill>
          <a:blip r:embed="rId2"/>
          <a:stretch>
            <a:fillRect/>
          </a:stretch>
        </p:blipFill>
        <p:spPr>
          <a:xfrm>
            <a:off x="4993538" y="2697480"/>
            <a:ext cx="457200" cy="457200"/>
          </a:xfrm>
          <a:prstGeom prst="rect">
            <a:avLst/>
          </a:prstGeom>
        </p:spPr>
      </p:pic>
      <p:sp>
        <p:nvSpPr>
          <p:cNvPr id="12" name="C1_t1"/>
          <p:cNvSpPr txBox="1"/>
          <p:nvPr/>
        </p:nvSpPr>
        <p:spPr>
          <a:xfrm>
            <a:off x="4673498" y="3703320"/>
            <a:ext cx="2844698" cy="457200"/>
          </a:xfrm>
          <a:prstGeom prst="rect">
            <a:avLst/>
          </a:prstGeom>
          <a:noFill/>
          <a:ln/>
        </p:spPr>
        <p:txBody>
          <a:bodyPr wrap="square" lIns="0" tIns="0" rIns="0" bIns="0" rtlCol="0" anchor="t"/>
          <a:lstStyle/>
          <a:p>
            <a:pPr indent="0" marL="0">
              <a:buNone/>
            </a:pPr>
            <a:r>
              <a:rPr lang="en-US" sz="1800" b="1" dirty="0">
                <a:solidFill>
                  <a:schemeClr val="tx1"/>
                </a:solidFill>
              </a:rPr>
              <a:t>Clients potentiels</a:t>
            </a:r>
            <a:endParaRPr lang="en-US" sz="1800" dirty="0"/>
          </a:p>
        </p:txBody>
      </p:sp>
      <p:sp>
        <p:nvSpPr>
          <p:cNvPr id="13" name="C1_v1"/>
          <p:cNvSpPr txBox="1"/>
          <p:nvPr/>
        </p:nvSpPr>
        <p:spPr>
          <a:xfrm>
            <a:off x="4673498" y="4206240"/>
            <a:ext cx="2844698" cy="411480"/>
          </a:xfrm>
          <a:prstGeom prst="rect">
            <a:avLst/>
          </a:prstGeom>
          <a:noFill/>
          <a:ln/>
        </p:spPr>
        <p:txBody>
          <a:bodyPr wrap="square" lIns="0" tIns="0" rIns="0" bIns="0" rtlCol="0" anchor="t"/>
          <a:lstStyle/>
          <a:p>
            <a:pPr indent="0" marL="0">
              <a:buNone/>
            </a:pPr>
            <a:r>
              <a:rPr lang="en-US" sz="1600" b="1" dirty="0">
                <a:solidFill>
                  <a:schemeClr val="accent1"/>
                </a:solidFill>
              </a:rPr>
              <a:t>Attirer</a:t>
            </a:r>
            <a:endParaRPr lang="en-US" sz="1600" dirty="0"/>
          </a:p>
        </p:txBody>
      </p:sp>
      <p:sp>
        <p:nvSpPr>
          <p:cNvPr id="14" name="C1_card2"/>
          <p:cNvSpPr/>
          <p:nvPr/>
        </p:nvSpPr>
        <p:spPr>
          <a:xfrm>
            <a:off x="8112557" y="2103120"/>
            <a:ext cx="3393338" cy="3566160"/>
          </a:xfrm>
          <a:prstGeom prst="roundRect">
            <a:avLst>
              <a:gd name="adj" fmla="val 3234"/>
            </a:avLst>
          </a:prstGeom>
          <a:solidFill>
            <a:schemeClr val="bg2"/>
          </a:solidFill>
          <a:ln/>
        </p:spPr>
      </p:sp>
      <p:sp>
        <p:nvSpPr>
          <p:cNvPr id="15" name="C1_i2_disc"/>
          <p:cNvSpPr/>
          <p:nvPr/>
        </p:nvSpPr>
        <p:spPr>
          <a:xfrm>
            <a:off x="8478317" y="2468880"/>
            <a:ext cx="914400" cy="914400"/>
          </a:xfrm>
          <a:prstGeom prst="ellipse">
            <a:avLst/>
          </a:prstGeom>
          <a:solidFill>
            <a:schemeClr val="tx1"/>
          </a:solidFill>
          <a:ln/>
        </p:spPr>
      </p:sp>
      <p:pic>
        <p:nvPicPr>
          <p:cNvPr id="16" name="C1_i2_ico" descr="preencoded.png">    </p:cNvPr>
          <p:cNvPicPr>
            <a:picLocks noChangeAspect="1"/>
          </p:cNvPicPr>
          <p:nvPr/>
        </p:nvPicPr>
        <p:blipFill>
          <a:blip r:embed="rId3"/>
          <a:stretch>
            <a:fillRect/>
          </a:stretch>
        </p:blipFill>
        <p:spPr>
          <a:xfrm>
            <a:off x="8706917" y="2697480"/>
            <a:ext cx="457200" cy="457200"/>
          </a:xfrm>
          <a:prstGeom prst="rect">
            <a:avLst/>
          </a:prstGeom>
        </p:spPr>
      </p:pic>
      <p:sp>
        <p:nvSpPr>
          <p:cNvPr id="17" name="C1_t2"/>
          <p:cNvSpPr txBox="1"/>
          <p:nvPr/>
        </p:nvSpPr>
        <p:spPr>
          <a:xfrm>
            <a:off x="8386877" y="3703320"/>
            <a:ext cx="2844698" cy="457200"/>
          </a:xfrm>
          <a:prstGeom prst="rect">
            <a:avLst/>
          </a:prstGeom>
          <a:noFill/>
          <a:ln/>
        </p:spPr>
        <p:txBody>
          <a:bodyPr wrap="square" lIns="0" tIns="0" rIns="0" bIns="0" rtlCol="0" anchor="t"/>
          <a:lstStyle/>
          <a:p>
            <a:pPr indent="0" marL="0">
              <a:buNone/>
            </a:pPr>
            <a:r>
              <a:rPr lang="en-US" sz="1800" b="1" dirty="0">
                <a:solidFill>
                  <a:schemeClr val="tx1"/>
                </a:solidFill>
              </a:rPr>
              <a:t>Partenaires potentiels</a:t>
            </a:r>
            <a:endParaRPr lang="en-US" sz="1800" dirty="0"/>
          </a:p>
        </p:txBody>
      </p:sp>
      <p:sp>
        <p:nvSpPr>
          <p:cNvPr id="18" name="C1_v2"/>
          <p:cNvSpPr txBox="1"/>
          <p:nvPr/>
        </p:nvSpPr>
        <p:spPr>
          <a:xfrm>
            <a:off x="8386877" y="4206240"/>
            <a:ext cx="2844698" cy="411480"/>
          </a:xfrm>
          <a:prstGeom prst="rect">
            <a:avLst/>
          </a:prstGeom>
          <a:noFill/>
          <a:ln/>
        </p:spPr>
        <p:txBody>
          <a:bodyPr wrap="square" lIns="0" tIns="0" rIns="0" bIns="0" rtlCol="0" anchor="t"/>
          <a:lstStyle/>
          <a:p>
            <a:pPr indent="0" marL="0">
              <a:buNone/>
            </a:pPr>
            <a:r>
              <a:rPr lang="en-US" sz="1600" b="1" dirty="0">
                <a:solidFill>
                  <a:schemeClr val="accent1"/>
                </a:solidFill>
              </a:rPr>
              <a:t>Collaborer</a:t>
            </a:r>
            <a:endParaRPr lang="en-US" sz="1600" dirty="0"/>
          </a:p>
        </p:txBody>
      </p:sp>
      <p:sp>
        <p:nvSpPr>
          <p:cNvPr id="19"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8" grpId="0" animBg="1"/>
      <p:bldP spid="8" grpId="1" animBg="1"/>
      <p:bldP spid="12" grpId="0" animBg="1"/>
      <p:bldP spid="12" grpId="1" animBg="1"/>
      <p:bldP spid="13" grpId="0" animBg="1"/>
      <p:bldP spid="13" grpId="1" animBg="1"/>
      <p:bldP spid="17" grpId="0" animBg="1"/>
      <p:bldP spid="17" grpId="1" animBg="1"/>
      <p:bldP spid="18" grpId="0" animBg="1"/>
      <p:bldP spid="1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PLANNING</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projet réalisé en 8 semaines</a:t>
            </a:r>
            <a:endParaRPr lang="en-US" sz="3000" dirty="0"/>
          </a:p>
        </p:txBody>
      </p:sp>
      <p:sp>
        <p:nvSpPr>
          <p:cNvPr id="4" name="C1_w0"/>
          <p:cNvSpPr txBox="1"/>
          <p:nvPr/>
        </p:nvSpPr>
        <p:spPr>
          <a:xfrm>
            <a:off x="4892040"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S1</a:t>
            </a:r>
            <a:endParaRPr lang="en-US" sz="1200" dirty="0"/>
          </a:p>
        </p:txBody>
      </p:sp>
      <p:sp>
        <p:nvSpPr>
          <p:cNvPr id="5" name="C1_w1"/>
          <p:cNvSpPr txBox="1"/>
          <p:nvPr/>
        </p:nvSpPr>
        <p:spPr>
          <a:xfrm>
            <a:off x="5718772"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S2</a:t>
            </a:r>
            <a:endParaRPr lang="en-US" sz="1200" dirty="0"/>
          </a:p>
        </p:txBody>
      </p:sp>
      <p:sp>
        <p:nvSpPr>
          <p:cNvPr id="6" name="C1_g1"/>
          <p:cNvSpPr/>
          <p:nvPr/>
        </p:nvSpPr>
        <p:spPr>
          <a:xfrm>
            <a:off x="5718772" y="2377440"/>
            <a:ext cx="0" cy="3429000"/>
          </a:xfrm>
          <a:prstGeom prst="line">
            <a:avLst/>
          </a:prstGeom>
          <a:noFill/>
          <a:ln w="12700">
            <a:solidFill>
              <a:srgbClr val="E1E6EC"/>
            </a:solidFill>
            <a:prstDash val="solid"/>
          </a:ln>
        </p:spPr>
      </p:sp>
      <p:sp>
        <p:nvSpPr>
          <p:cNvPr id="7" name="C1_w2"/>
          <p:cNvSpPr txBox="1"/>
          <p:nvPr/>
        </p:nvSpPr>
        <p:spPr>
          <a:xfrm>
            <a:off x="6545504"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S3</a:t>
            </a:r>
            <a:endParaRPr lang="en-US" sz="1200" dirty="0"/>
          </a:p>
        </p:txBody>
      </p:sp>
      <p:sp>
        <p:nvSpPr>
          <p:cNvPr id="8" name="C1_g2"/>
          <p:cNvSpPr/>
          <p:nvPr/>
        </p:nvSpPr>
        <p:spPr>
          <a:xfrm>
            <a:off x="6545504" y="2377440"/>
            <a:ext cx="0" cy="3429000"/>
          </a:xfrm>
          <a:prstGeom prst="line">
            <a:avLst/>
          </a:prstGeom>
          <a:noFill/>
          <a:ln w="12700">
            <a:solidFill>
              <a:srgbClr val="E1E6EC"/>
            </a:solidFill>
            <a:prstDash val="solid"/>
          </a:ln>
        </p:spPr>
      </p:sp>
      <p:sp>
        <p:nvSpPr>
          <p:cNvPr id="9" name="C1_w3"/>
          <p:cNvSpPr txBox="1"/>
          <p:nvPr/>
        </p:nvSpPr>
        <p:spPr>
          <a:xfrm>
            <a:off x="7372236"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S4</a:t>
            </a:r>
            <a:endParaRPr lang="en-US" sz="1200" dirty="0"/>
          </a:p>
        </p:txBody>
      </p:sp>
      <p:sp>
        <p:nvSpPr>
          <p:cNvPr id="10" name="C1_g3"/>
          <p:cNvSpPr/>
          <p:nvPr/>
        </p:nvSpPr>
        <p:spPr>
          <a:xfrm>
            <a:off x="7372236" y="2377440"/>
            <a:ext cx="0" cy="3429000"/>
          </a:xfrm>
          <a:prstGeom prst="line">
            <a:avLst/>
          </a:prstGeom>
          <a:noFill/>
          <a:ln w="12700">
            <a:solidFill>
              <a:srgbClr val="E1E6EC"/>
            </a:solidFill>
            <a:prstDash val="solid"/>
          </a:ln>
        </p:spPr>
      </p:sp>
      <p:sp>
        <p:nvSpPr>
          <p:cNvPr id="11" name="C1_w4"/>
          <p:cNvSpPr txBox="1"/>
          <p:nvPr/>
        </p:nvSpPr>
        <p:spPr>
          <a:xfrm>
            <a:off x="8198968"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S5</a:t>
            </a:r>
            <a:endParaRPr lang="en-US" sz="1200" dirty="0"/>
          </a:p>
        </p:txBody>
      </p:sp>
      <p:sp>
        <p:nvSpPr>
          <p:cNvPr id="12" name="C1_g4"/>
          <p:cNvSpPr/>
          <p:nvPr/>
        </p:nvSpPr>
        <p:spPr>
          <a:xfrm>
            <a:off x="8198968" y="2377440"/>
            <a:ext cx="0" cy="3429000"/>
          </a:xfrm>
          <a:prstGeom prst="line">
            <a:avLst/>
          </a:prstGeom>
          <a:noFill/>
          <a:ln w="12700">
            <a:solidFill>
              <a:srgbClr val="E1E6EC"/>
            </a:solidFill>
            <a:prstDash val="solid"/>
          </a:ln>
        </p:spPr>
      </p:sp>
      <p:sp>
        <p:nvSpPr>
          <p:cNvPr id="13" name="C1_w5"/>
          <p:cNvSpPr txBox="1"/>
          <p:nvPr/>
        </p:nvSpPr>
        <p:spPr>
          <a:xfrm>
            <a:off x="9025700"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S6</a:t>
            </a:r>
            <a:endParaRPr lang="en-US" sz="1200" dirty="0"/>
          </a:p>
        </p:txBody>
      </p:sp>
      <p:sp>
        <p:nvSpPr>
          <p:cNvPr id="14" name="C1_g5"/>
          <p:cNvSpPr/>
          <p:nvPr/>
        </p:nvSpPr>
        <p:spPr>
          <a:xfrm>
            <a:off x="9025700" y="2377440"/>
            <a:ext cx="0" cy="3429000"/>
          </a:xfrm>
          <a:prstGeom prst="line">
            <a:avLst/>
          </a:prstGeom>
          <a:noFill/>
          <a:ln w="12700">
            <a:solidFill>
              <a:srgbClr val="E1E6EC"/>
            </a:solidFill>
            <a:prstDash val="solid"/>
          </a:ln>
        </p:spPr>
      </p:sp>
      <p:sp>
        <p:nvSpPr>
          <p:cNvPr id="15" name="C1_w6"/>
          <p:cNvSpPr txBox="1"/>
          <p:nvPr/>
        </p:nvSpPr>
        <p:spPr>
          <a:xfrm>
            <a:off x="9852431"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S7</a:t>
            </a:r>
            <a:endParaRPr lang="en-US" sz="1200" dirty="0"/>
          </a:p>
        </p:txBody>
      </p:sp>
      <p:sp>
        <p:nvSpPr>
          <p:cNvPr id="16" name="C1_g6"/>
          <p:cNvSpPr/>
          <p:nvPr/>
        </p:nvSpPr>
        <p:spPr>
          <a:xfrm>
            <a:off x="9852431" y="2377440"/>
            <a:ext cx="0" cy="3429000"/>
          </a:xfrm>
          <a:prstGeom prst="line">
            <a:avLst/>
          </a:prstGeom>
          <a:noFill/>
          <a:ln w="12700">
            <a:solidFill>
              <a:srgbClr val="E1E6EC"/>
            </a:solidFill>
            <a:prstDash val="solid"/>
          </a:ln>
        </p:spPr>
      </p:sp>
      <p:sp>
        <p:nvSpPr>
          <p:cNvPr id="17" name="C1_w7"/>
          <p:cNvSpPr txBox="1"/>
          <p:nvPr/>
        </p:nvSpPr>
        <p:spPr>
          <a:xfrm>
            <a:off x="10679163"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S8</a:t>
            </a:r>
            <a:endParaRPr lang="en-US" sz="1200" dirty="0"/>
          </a:p>
        </p:txBody>
      </p:sp>
      <p:sp>
        <p:nvSpPr>
          <p:cNvPr id="18" name="C1_g7"/>
          <p:cNvSpPr/>
          <p:nvPr/>
        </p:nvSpPr>
        <p:spPr>
          <a:xfrm>
            <a:off x="10679163" y="2377440"/>
            <a:ext cx="0" cy="3429000"/>
          </a:xfrm>
          <a:prstGeom prst="line">
            <a:avLst/>
          </a:prstGeom>
          <a:noFill/>
          <a:ln w="12700">
            <a:solidFill>
              <a:srgbClr val="E1E6EC"/>
            </a:solidFill>
            <a:prstDash val="solid"/>
          </a:ln>
        </p:spPr>
      </p:sp>
      <p:sp>
        <p:nvSpPr>
          <p:cNvPr id="19" name="C1_t"/>
          <p:cNvSpPr txBox="1"/>
          <p:nvPr/>
        </p:nvSpPr>
        <p:spPr>
          <a:xfrm>
            <a:off x="685800" y="251460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Analyse et charte graphique</a:t>
            </a:r>
            <a:endParaRPr lang="en-US" sz="1700" dirty="0"/>
          </a:p>
        </p:txBody>
      </p:sp>
      <p:sp>
        <p:nvSpPr>
          <p:cNvPr id="20" name="C1_bar"/>
          <p:cNvSpPr/>
          <p:nvPr/>
        </p:nvSpPr>
        <p:spPr>
          <a:xfrm>
            <a:off x="4946904" y="2587752"/>
            <a:ext cx="1543736" cy="402336"/>
          </a:xfrm>
          <a:prstGeom prst="roundRect">
            <a:avLst>
              <a:gd name="adj" fmla="val 18182"/>
            </a:avLst>
          </a:prstGeom>
          <a:solidFill>
            <a:schemeClr val="tx1"/>
          </a:solidFill>
          <a:ln/>
        </p:spPr>
      </p:sp>
      <p:sp>
        <p:nvSpPr>
          <p:cNvPr id="21" name="C2_t"/>
          <p:cNvSpPr txBox="1"/>
          <p:nvPr/>
        </p:nvSpPr>
        <p:spPr>
          <a:xfrm>
            <a:off x="685800" y="33832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Supports print et maquette 3D</a:t>
            </a:r>
            <a:endParaRPr lang="en-US" sz="1700" dirty="0"/>
          </a:p>
        </p:txBody>
      </p:sp>
      <p:sp>
        <p:nvSpPr>
          <p:cNvPr id="22" name="C2_bar"/>
          <p:cNvSpPr/>
          <p:nvPr/>
        </p:nvSpPr>
        <p:spPr>
          <a:xfrm>
            <a:off x="6600368" y="3456432"/>
            <a:ext cx="1543736" cy="402336"/>
          </a:xfrm>
          <a:prstGeom prst="roundRect">
            <a:avLst>
              <a:gd name="adj" fmla="val 18182"/>
            </a:avLst>
          </a:prstGeom>
          <a:solidFill>
            <a:schemeClr val="tx1"/>
          </a:solidFill>
          <a:ln/>
        </p:spPr>
      </p:sp>
      <p:sp>
        <p:nvSpPr>
          <p:cNvPr id="23" name="C3_t"/>
          <p:cNvSpPr txBox="1"/>
          <p:nvPr/>
        </p:nvSpPr>
        <p:spPr>
          <a:xfrm>
            <a:off x="685800" y="425196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Spots animatiques 2D et 3D</a:t>
            </a:r>
            <a:endParaRPr lang="en-US" sz="1700" dirty="0"/>
          </a:p>
        </p:txBody>
      </p:sp>
      <p:sp>
        <p:nvSpPr>
          <p:cNvPr id="24" name="C3_bar"/>
          <p:cNvSpPr/>
          <p:nvPr/>
        </p:nvSpPr>
        <p:spPr>
          <a:xfrm>
            <a:off x="8253832" y="4325112"/>
            <a:ext cx="1543736" cy="402336"/>
          </a:xfrm>
          <a:prstGeom prst="roundRect">
            <a:avLst>
              <a:gd name="adj" fmla="val 18182"/>
            </a:avLst>
          </a:prstGeom>
          <a:solidFill>
            <a:schemeClr val="tx1"/>
          </a:solidFill>
          <a:ln/>
        </p:spPr>
      </p:sp>
      <p:sp>
        <p:nvSpPr>
          <p:cNvPr id="25" name="C4_t"/>
          <p:cNvSpPr txBox="1"/>
          <p:nvPr/>
        </p:nvSpPr>
        <p:spPr>
          <a:xfrm>
            <a:off x="685800" y="512064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Site web, intégration et tests</a:t>
            </a:r>
            <a:endParaRPr lang="en-US" sz="1700" dirty="0"/>
          </a:p>
        </p:txBody>
      </p:sp>
      <p:sp>
        <p:nvSpPr>
          <p:cNvPr id="26" name="C4_bar"/>
          <p:cNvSpPr/>
          <p:nvPr/>
        </p:nvSpPr>
        <p:spPr>
          <a:xfrm>
            <a:off x="9907295" y="5193792"/>
            <a:ext cx="1543736" cy="402336"/>
          </a:xfrm>
          <a:prstGeom prst="roundRect">
            <a:avLst>
              <a:gd name="adj" fmla="val 18182"/>
            </a:avLst>
          </a:prstGeom>
          <a:solidFill>
            <a:schemeClr val="accent1"/>
          </a:solidFill>
          <a:ln/>
        </p:spPr>
      </p:sp>
      <p:sp>
        <p:nvSpPr>
          <p:cNvPr id="2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par>
                                <p:cTn id="92" presetID="10" presetClass="entr" presetSubtype="0" accel="0" decel="100000" fill="hold" grpId="0"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0" presetClass="path" presetSubtype="0" accel="0" decel="100000" fill="hold" grpId="1" nodeType="withEffect">
                                  <p:stCondLst>
                                    <p:cond delay="0"/>
                                  </p:stCondLst>
                                  <p:childTnLst>
                                    <p:animMotion origin="layout" path="M 0 0.02778 L 0 0 E" pathEditMode="relative" rAng="0" ptsTypes="AA">
                                      <p:cBhvr>
                                        <p:cTn id="96" dur="500" fill="hold"/>
                                        <p:tgtEl>
                                          <p:spTgt spid="19"/>
                                        </p:tgtEl>
                                        <p:attrNameLst>
                                          <p:attrName>ppt_x</p:attrName>
                                          <p:attrName>ppt_y</p:attrName>
                                        </p:attrNameLst>
                                      </p:cBhvr>
                                    </p:animMotion>
                                  </p:childTnLst>
                                </p:cTn>
                              </p:par>
                              <p:par>
                                <p:cTn id="97" presetID="10" presetClass="entr" presetSubtype="0" accel="0" decel="100000" fill="hold" grpId="0" nodeType="with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500"/>
                                        <p:tgtEl>
                                          <p:spTgt spid="20"/>
                                        </p:tgtEl>
                                      </p:cBhvr>
                                    </p:animEffect>
                                  </p:childTnLst>
                                </p:cTn>
                              </p:par>
                              <p:par>
                                <p:cTn id="100" presetID="0" presetClass="path" presetSubtype="0" accel="0" decel="100000" fill="hold" grpId="1" nodeType="withEffect">
                                  <p:stCondLst>
                                    <p:cond delay="0"/>
                                  </p:stCondLst>
                                  <p:childTnLst>
                                    <p:animMotion origin="layout" path="M 0 0.02778 L 0 0 E" pathEditMode="relative" rAng="0" ptsTypes="AA">
                                      <p:cBhvr>
                                        <p:cTn id="101" dur="500" fill="hold"/>
                                        <p:tgtEl>
                                          <p:spTgt spid="20"/>
                                        </p:tgtEl>
                                        <p:attrNameLst>
                                          <p:attrName>ppt_x</p:attrName>
                                          <p:attrName>ppt_y</p:attrName>
                                        </p:attrNameLst>
                                      </p:cBhvr>
                                    </p:animMotion>
                                  </p:childTnLst>
                                </p:cTn>
                              </p:par>
                            </p:childTnLst>
                          </p:cTn>
                        </p:par>
                      </p:childTnLst>
                    </p:cTn>
                  </p:par>
                  <p:par>
                    <p:cTn id="102" fill="hold">
                      <p:stCondLst>
                        <p:cond delay="indefinite"/>
                      </p:stCondLst>
                      <p:childTnLst>
                        <p:par>
                          <p:cTn id="103" fill="hold">
                            <p:stCondLst>
                              <p:cond delay="0"/>
                            </p:stCondLst>
                            <p:childTnLst>
                              <p:par>
                                <p:cTn id="104" presetID="10" presetClass="entr" presetSubtype="0" accel="0" decel="100000" fill="hold" grpId="0" nodeType="click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00"/>
                                        <p:tgtEl>
                                          <p:spTgt spid="21"/>
                                        </p:tgtEl>
                                      </p:cBhvr>
                                    </p:animEffect>
                                  </p:childTnLst>
                                </p:cTn>
                              </p:par>
                              <p:par>
                                <p:cTn id="107" presetID="0" presetClass="path" presetSubtype="0" accel="0" decel="100000" fill="hold" grpId="1" nodeType="withEffect">
                                  <p:stCondLst>
                                    <p:cond delay="0"/>
                                  </p:stCondLst>
                                  <p:childTnLst>
                                    <p:animMotion origin="layout" path="M 0 0.02778 L 0 0 E" pathEditMode="relative" rAng="0" ptsTypes="AA">
                                      <p:cBhvr>
                                        <p:cTn id="108" dur="500" fill="hold"/>
                                        <p:tgtEl>
                                          <p:spTgt spid="21"/>
                                        </p:tgtEl>
                                        <p:attrNameLst>
                                          <p:attrName>ppt_x</p:attrName>
                                          <p:attrName>ppt_y</p:attrName>
                                        </p:attrNameLst>
                                      </p:cBhvr>
                                    </p:animMotion>
                                  </p:childTnLst>
                                </p:cTn>
                              </p:par>
                              <p:par>
                                <p:cTn id="109" presetID="10" presetClass="entr" presetSubtype="0" accel="0" decel="100000"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500"/>
                                        <p:tgtEl>
                                          <p:spTgt spid="22"/>
                                        </p:tgtEl>
                                      </p:cBhvr>
                                    </p:animEffect>
                                  </p:childTnLst>
                                </p:cTn>
                              </p:par>
                              <p:par>
                                <p:cTn id="112" presetID="0" presetClass="path" presetSubtype="0" accel="0" decel="100000" fill="hold" grpId="1" nodeType="withEffect">
                                  <p:stCondLst>
                                    <p:cond delay="0"/>
                                  </p:stCondLst>
                                  <p:childTnLst>
                                    <p:animMotion origin="layout" path="M 0 0.02778 L 0 0 E" pathEditMode="relative" rAng="0" ptsTypes="AA">
                                      <p:cBhvr>
                                        <p:cTn id="113" dur="500" fill="hold"/>
                                        <p:tgtEl>
                                          <p:spTgt spid="22"/>
                                        </p:tgtEl>
                                        <p:attrNameLst>
                                          <p:attrName>ppt_x</p:attrName>
                                          <p:attrName>ppt_y</p:attrName>
                                        </p:attrNameLst>
                                      </p:cBhvr>
                                    </p:animMotion>
                                  </p:childTnLst>
                                </p:cTn>
                              </p:par>
                            </p:childTnLst>
                          </p:cTn>
                        </p:par>
                      </p:childTnLst>
                    </p:cTn>
                  </p:par>
                  <p:par>
                    <p:cTn id="114" fill="hold">
                      <p:stCondLst>
                        <p:cond delay="indefinite"/>
                      </p:stCondLst>
                      <p:childTnLst>
                        <p:par>
                          <p:cTn id="115" fill="hold">
                            <p:stCondLst>
                              <p:cond delay="0"/>
                            </p:stCondLst>
                            <p:childTnLst>
                              <p:par>
                                <p:cTn id="116" presetID="10" presetClass="entr" presetSubtype="0" accel="0" decel="100000" fill="hold" grpId="0" nodeType="clickEffect">
                                  <p:stCondLst>
                                    <p:cond delay="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500"/>
                                        <p:tgtEl>
                                          <p:spTgt spid="23"/>
                                        </p:tgtEl>
                                      </p:cBhvr>
                                    </p:animEffect>
                                  </p:childTnLst>
                                </p:cTn>
                              </p:par>
                              <p:par>
                                <p:cTn id="119" presetID="0" presetClass="path" presetSubtype="0" accel="0" decel="100000" fill="hold" grpId="1" nodeType="withEffect">
                                  <p:stCondLst>
                                    <p:cond delay="0"/>
                                  </p:stCondLst>
                                  <p:childTnLst>
                                    <p:animMotion origin="layout" path="M 0 0.02778 L 0 0 E" pathEditMode="relative" rAng="0" ptsTypes="AA">
                                      <p:cBhvr>
                                        <p:cTn id="120" dur="500" fill="hold"/>
                                        <p:tgtEl>
                                          <p:spTgt spid="23"/>
                                        </p:tgtEl>
                                        <p:attrNameLst>
                                          <p:attrName>ppt_x</p:attrName>
                                          <p:attrName>ppt_y</p:attrName>
                                        </p:attrNameLst>
                                      </p:cBhvr>
                                    </p:animMotion>
                                  </p:childTnLst>
                                </p:cTn>
                              </p:par>
                              <p:par>
                                <p:cTn id="121" presetID="10" presetClass="entr" presetSubtype="0" accel="0" decel="100000" fill="hold" grpId="0" nodeType="withEffect">
                                  <p:stCondLst>
                                    <p:cond delay="0"/>
                                  </p:stCondLst>
                                  <p:childTnLst>
                                    <p:set>
                                      <p:cBhvr>
                                        <p:cTn id="122" dur="1" fill="hold">
                                          <p:stCondLst>
                                            <p:cond delay="0"/>
                                          </p:stCondLst>
                                        </p:cTn>
                                        <p:tgtEl>
                                          <p:spTgt spid="24"/>
                                        </p:tgtEl>
                                        <p:attrNameLst>
                                          <p:attrName>style.visibility</p:attrName>
                                        </p:attrNameLst>
                                      </p:cBhvr>
                                      <p:to>
                                        <p:strVal val="visible"/>
                                      </p:to>
                                    </p:set>
                                    <p:animEffect transition="in" filter="fade">
                                      <p:cBhvr>
                                        <p:cTn id="123" dur="500"/>
                                        <p:tgtEl>
                                          <p:spTgt spid="24"/>
                                        </p:tgtEl>
                                      </p:cBhvr>
                                    </p:animEffect>
                                  </p:childTnLst>
                                </p:cTn>
                              </p:par>
                              <p:par>
                                <p:cTn id="124" presetID="0" presetClass="path" presetSubtype="0" accel="0" decel="100000" fill="hold" grpId="1" nodeType="withEffect">
                                  <p:stCondLst>
                                    <p:cond delay="0"/>
                                  </p:stCondLst>
                                  <p:childTnLst>
                                    <p:animMotion origin="layout" path="M 0 0.02778 L 0 0 E" pathEditMode="relative" rAng="0" ptsTypes="AA">
                                      <p:cBhvr>
                                        <p:cTn id="125" dur="500" fill="hold"/>
                                        <p:tgtEl>
                                          <p:spTgt spid="24"/>
                                        </p:tgtEl>
                                        <p:attrNameLst>
                                          <p:attrName>ppt_x</p:attrName>
                                          <p:attrName>ppt_y</p:attrName>
                                        </p:attrNameLst>
                                      </p:cBhvr>
                                    </p:animMotion>
                                  </p:childTnLst>
                                </p:cTn>
                              </p:par>
                            </p:childTnLst>
                          </p:cTn>
                        </p:par>
                      </p:childTnLst>
                    </p:cTn>
                  </p:par>
                  <p:par>
                    <p:cTn id="126" fill="hold">
                      <p:stCondLst>
                        <p:cond delay="indefinite"/>
                      </p:stCondLst>
                      <p:childTnLst>
                        <p:par>
                          <p:cTn id="127" fill="hold">
                            <p:stCondLst>
                              <p:cond delay="0"/>
                            </p:stCondLst>
                            <p:childTnLst>
                              <p:par>
                                <p:cTn id="128" presetID="10" presetClass="entr" presetSubtype="0" accel="0" decel="100000" fill="hold" grpId="0" nodeType="clickEffect">
                                  <p:stCondLst>
                                    <p:cond delay="0"/>
                                  </p:stCondLst>
                                  <p:childTnLst>
                                    <p:set>
                                      <p:cBhvr>
                                        <p:cTn id="129" dur="1" fill="hold">
                                          <p:stCondLst>
                                            <p:cond delay="0"/>
                                          </p:stCondLst>
                                        </p:cTn>
                                        <p:tgtEl>
                                          <p:spTgt spid="25"/>
                                        </p:tgtEl>
                                        <p:attrNameLst>
                                          <p:attrName>style.visibility</p:attrName>
                                        </p:attrNameLst>
                                      </p:cBhvr>
                                      <p:to>
                                        <p:strVal val="visible"/>
                                      </p:to>
                                    </p:set>
                                    <p:animEffect transition="in" filter="fade">
                                      <p:cBhvr>
                                        <p:cTn id="130" dur="500"/>
                                        <p:tgtEl>
                                          <p:spTgt spid="25"/>
                                        </p:tgtEl>
                                      </p:cBhvr>
                                    </p:animEffect>
                                  </p:childTnLst>
                                </p:cTn>
                              </p:par>
                              <p:par>
                                <p:cTn id="131" presetID="0" presetClass="path" presetSubtype="0" accel="0" decel="100000" fill="hold" grpId="1" nodeType="withEffect">
                                  <p:stCondLst>
                                    <p:cond delay="0"/>
                                  </p:stCondLst>
                                  <p:childTnLst>
                                    <p:animMotion origin="layout" path="M 0 0.02778 L 0 0 E" pathEditMode="relative" rAng="0" ptsTypes="AA">
                                      <p:cBhvr>
                                        <p:cTn id="132" dur="500" fill="hold"/>
                                        <p:tgtEl>
                                          <p:spTgt spid="25"/>
                                        </p:tgtEl>
                                        <p:attrNameLst>
                                          <p:attrName>ppt_x</p:attrName>
                                          <p:attrName>ppt_y</p:attrName>
                                        </p:attrNameLst>
                                      </p:cBhvr>
                                    </p:animMotion>
                                  </p:childTnLst>
                                </p:cTn>
                              </p:par>
                              <p:par>
                                <p:cTn id="133" presetID="10" presetClass="entr" presetSubtype="0" accel="0" decel="100000" fill="hold" grpId="0" nodeType="withEffect">
                                  <p:stCondLst>
                                    <p:cond delay="0"/>
                                  </p:stCondLst>
                                  <p:childTnLst>
                                    <p:set>
                                      <p:cBhvr>
                                        <p:cTn id="134" dur="1" fill="hold">
                                          <p:stCondLst>
                                            <p:cond delay="0"/>
                                          </p:stCondLst>
                                        </p:cTn>
                                        <p:tgtEl>
                                          <p:spTgt spid="26"/>
                                        </p:tgtEl>
                                        <p:attrNameLst>
                                          <p:attrName>style.visibility</p:attrName>
                                        </p:attrNameLst>
                                      </p:cBhvr>
                                      <p:to>
                                        <p:strVal val="visible"/>
                                      </p:to>
                                    </p:set>
                                    <p:animEffect transition="in" filter="fade">
                                      <p:cBhvr>
                                        <p:cTn id="135" dur="500"/>
                                        <p:tgtEl>
                                          <p:spTgt spid="26"/>
                                        </p:tgtEl>
                                      </p:cBhvr>
                                    </p:animEffect>
                                  </p:childTnLst>
                                </p:cTn>
                              </p:par>
                              <p:par>
                                <p:cTn id="136" presetID="0" presetClass="path" presetSubtype="0" accel="0" decel="100000" fill="hold" grpId="1" nodeType="withEffect">
                                  <p:stCondLst>
                                    <p:cond delay="0"/>
                                  </p:stCondLst>
                                  <p:childTnLst>
                                    <p:animMotion origin="layout" path="M 0 0.02778 L 0 0 E" pathEditMode="relative" rAng="0" ptsTypes="AA">
                                      <p:cBhvr>
                                        <p:cTn id="137" dur="500" fill="hold"/>
                                        <p:tgtEl>
                                          <p:spTgt spid="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7" grpId="0" animBg="1"/>
      <p:bldP spid="7" grpId="1" animBg="1"/>
      <p:bldP spid="9" grpId="0" animBg="1"/>
      <p:bldP spid="9" grpId="1" animBg="1"/>
      <p:bldP spid="11" grpId="0" animBg="1"/>
      <p:bldP spid="11" grpId="1" animBg="1"/>
      <p:bldP spid="13" grpId="0" animBg="1"/>
      <p:bldP spid="13" grpId="1" animBg="1"/>
      <p:bldP spid="15" grpId="0" animBg="1"/>
      <p:bldP spid="15" grpId="1" animBg="1"/>
      <p:bldP spid="17" grpId="0" animBg="1"/>
      <p:bldP spid="17" grpId="1" animBg="1"/>
      <p:bldP spid="19" grpId="0" animBg="1"/>
      <p:bldP spid="19" grpId="1" animBg="1"/>
      <p:bldP spid="21" grpId="0" animBg="1"/>
      <p:bldP spid="21" grpId="1" animBg="1"/>
      <p:bldP spid="23" grpId="0" animBg="1"/>
      <p:bldP spid="23" grpId="1" animBg="1"/>
      <p:bldP spid="25" grpId="0" animBg="1"/>
      <p:bldP spid="25"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IDENTITÉ VISUELLE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De l’esquisse au logo final</a:t>
            </a:r>
            <a:endParaRPr lang="en-US" sz="3000" dirty="0"/>
          </a:p>
        </p:txBody>
      </p:sp>
      <p:pic>
        <p:nvPicPr>
          <p:cNvPr id="4" name="C1_esq" descr="Esquisse du logo">    </p:cNvPr>
          <p:cNvPicPr>
            <a:picLocks noChangeAspect="1"/>
          </p:cNvPicPr>
          <p:nvPr/>
        </p:nvPicPr>
        <p:blipFill>
          <a:blip r:embed="rId1"/>
          <a:stretch>
            <a:fillRect/>
          </a:stretch>
        </p:blipFill>
        <p:spPr>
          <a:xfrm>
            <a:off x="685800" y="2103261"/>
            <a:ext cx="4754880" cy="3108677"/>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486400"/>
            <a:ext cx="4754880" cy="274320"/>
          </a:xfrm>
          <a:prstGeom prst="rect">
            <a:avLst/>
          </a:prstGeom>
          <a:noFill/>
          <a:ln/>
        </p:spPr>
        <p:txBody>
          <a:bodyPr wrap="square" lIns="0" tIns="0" rIns="0" bIns="0" rtlCol="0" anchor="t"/>
          <a:lstStyle/>
          <a:p>
            <a:pPr algn="l" indent="0" marL="0">
              <a:buNone/>
            </a:pPr>
            <a:r>
              <a:rPr lang="en-US" sz="1100" dirty="0">
                <a:solidFill>
                  <a:schemeClr val="accent4"/>
                </a:solidFill>
              </a:rPr>
              <a:t>Esquisse : haltère, poing fermé, étoiles</a:t>
            </a:r>
            <a:endParaRPr lang="en-US" sz="1100" dirty="0"/>
          </a:p>
        </p:txBody>
      </p:sp>
      <p:pic>
        <p:nvPicPr>
          <p:cNvPr id="6" name="C2_arrow" descr="preencoded.png">    </p:cNvPr>
          <p:cNvPicPr>
            <a:picLocks noChangeAspect="1"/>
          </p:cNvPicPr>
          <p:nvPr/>
        </p:nvPicPr>
        <p:blipFill>
          <a:blip r:embed="rId2"/>
          <a:stretch>
            <a:fillRect/>
          </a:stretch>
        </p:blipFill>
        <p:spPr>
          <a:xfrm>
            <a:off x="5760720" y="3337560"/>
            <a:ext cx="640080" cy="640080"/>
          </a:xfrm>
          <a:prstGeom prst="rect">
            <a:avLst/>
          </a:prstGeom>
        </p:spPr>
      </p:pic>
      <p:pic>
        <p:nvPicPr>
          <p:cNvPr id="7" name="C2_logo" descr="Logo final American's Gym">    </p:cNvPr>
          <p:cNvPicPr>
            <a:picLocks noChangeAspect="1"/>
          </p:cNvPicPr>
          <p:nvPr/>
        </p:nvPicPr>
        <p:blipFill>
          <a:blip r:embed="rId3"/>
          <a:stretch>
            <a:fillRect/>
          </a:stretch>
        </p:blipFill>
        <p:spPr>
          <a:xfrm>
            <a:off x="6973902" y="2011680"/>
            <a:ext cx="4340197" cy="3291840"/>
          </a:xfrm>
          <a:prstGeom prst="rect">
            <a:avLst/>
          </a:prstGeom>
        </p:spPr>
      </p:pic>
      <p:sp>
        <p:nvSpPr>
          <p:cNvPr id="8" name="C2_cap"/>
          <p:cNvSpPr txBox="1"/>
          <p:nvPr/>
        </p:nvSpPr>
        <p:spPr>
          <a:xfrm>
            <a:off x="6766560" y="5486400"/>
            <a:ext cx="4754880" cy="274320"/>
          </a:xfrm>
          <a:prstGeom prst="rect">
            <a:avLst/>
          </a:prstGeom>
          <a:noFill/>
          <a:ln/>
        </p:spPr>
        <p:txBody>
          <a:bodyPr wrap="square" lIns="0" tIns="0" rIns="0" bIns="0" rtlCol="0" anchor="t"/>
          <a:lstStyle/>
          <a:p>
            <a:pPr algn="l" indent="0" marL="0">
              <a:buNone/>
            </a:pPr>
            <a:r>
              <a:rPr lang="en-US" sz="1100" dirty="0">
                <a:solidFill>
                  <a:schemeClr val="accent4"/>
                </a:solidFill>
              </a:rPr>
              <a:t>Logo final : une main tenant un haltère, surmontée d’étoiles</a:t>
            </a:r>
            <a:endParaRPr lang="en-US" sz="1100" dirty="0"/>
          </a:p>
        </p:txBody>
      </p:sp>
      <p:sp>
        <p:nvSpPr>
          <p:cNvPr id="9"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8" grpId="0" animBg="1"/>
      <p:bldP spid="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CHARTE GRAPHIQUE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logo hybride, quatre symboles</a:t>
            </a:r>
            <a:endParaRPr lang="en-US" sz="3000" dirty="0"/>
          </a:p>
        </p:txBody>
      </p:sp>
      <p:sp>
        <p:nvSpPr>
          <p:cNvPr id="4" name="C1_card0"/>
          <p:cNvSpPr/>
          <p:nvPr/>
        </p:nvSpPr>
        <p:spPr>
          <a:xfrm>
            <a:off x="685800" y="2103120"/>
            <a:ext cx="2499284" cy="3566160"/>
          </a:xfrm>
          <a:prstGeom prst="roundRect">
            <a:avLst>
              <a:gd name="adj" fmla="val 4390"/>
            </a:avLst>
          </a:prstGeom>
          <a:solidFill>
            <a:schemeClr val="bg2"/>
          </a:solidFill>
          <a:ln/>
        </p:spPr>
      </p:sp>
      <p:pic>
        <p:nvPicPr>
          <p:cNvPr id="5" name="C1_img0" descr="Force et détermination">    </p:cNvPr>
          <p:cNvPicPr>
            <a:picLocks noChangeAspect="1"/>
          </p:cNvPicPr>
          <p:nvPr/>
        </p:nvPicPr>
        <p:blipFill>
          <a:blip r:embed="rId1"/>
          <a:stretch>
            <a:fillRect/>
          </a:stretch>
        </p:blipFill>
        <p:spPr>
          <a:xfrm>
            <a:off x="960120" y="2715121"/>
            <a:ext cx="1950644" cy="1336318"/>
          </a:xfrm>
          <a:prstGeom prst="rect">
            <a:avLst/>
          </a:prstGeom>
        </p:spPr>
      </p:pic>
      <p:sp>
        <p:nvSpPr>
          <p:cNvPr id="6" name="C1_t0"/>
          <p:cNvSpPr txBox="1"/>
          <p:nvPr/>
        </p:nvSpPr>
        <p:spPr>
          <a:xfrm>
            <a:off x="822960"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Force et détermination</a:t>
            </a:r>
            <a:endParaRPr lang="en-US" sz="1400" dirty="0"/>
          </a:p>
        </p:txBody>
      </p:sp>
      <p:sp>
        <p:nvSpPr>
          <p:cNvPr id="7" name="C1_card1"/>
          <p:cNvSpPr/>
          <p:nvPr/>
        </p:nvSpPr>
        <p:spPr>
          <a:xfrm>
            <a:off x="3459404" y="2103120"/>
            <a:ext cx="2499284" cy="3566160"/>
          </a:xfrm>
          <a:prstGeom prst="roundRect">
            <a:avLst>
              <a:gd name="adj" fmla="val 4390"/>
            </a:avLst>
          </a:prstGeom>
          <a:solidFill>
            <a:schemeClr val="bg2"/>
          </a:solidFill>
          <a:ln/>
        </p:spPr>
      </p:sp>
      <p:pic>
        <p:nvPicPr>
          <p:cNvPr id="8" name="C1_img1" descr="Fierté américaine">    </p:cNvPr>
          <p:cNvPicPr>
            <a:picLocks noChangeAspect="1"/>
          </p:cNvPicPr>
          <p:nvPr/>
        </p:nvPicPr>
        <p:blipFill>
          <a:blip r:embed="rId2"/>
          <a:stretch>
            <a:fillRect/>
          </a:stretch>
        </p:blipFill>
        <p:spPr>
          <a:xfrm>
            <a:off x="3733724" y="2780081"/>
            <a:ext cx="1950644" cy="1206398"/>
          </a:xfrm>
          <a:prstGeom prst="rect">
            <a:avLst/>
          </a:prstGeom>
        </p:spPr>
      </p:pic>
      <p:sp>
        <p:nvSpPr>
          <p:cNvPr id="9" name="C1_t1"/>
          <p:cNvSpPr txBox="1"/>
          <p:nvPr/>
        </p:nvSpPr>
        <p:spPr>
          <a:xfrm>
            <a:off x="3596564"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Fierté américaine</a:t>
            </a:r>
            <a:endParaRPr lang="en-US" sz="1400" dirty="0"/>
          </a:p>
        </p:txBody>
      </p:sp>
      <p:sp>
        <p:nvSpPr>
          <p:cNvPr id="10" name="C1_card2"/>
          <p:cNvSpPr/>
          <p:nvPr/>
        </p:nvSpPr>
        <p:spPr>
          <a:xfrm>
            <a:off x="6233008" y="2103120"/>
            <a:ext cx="2499284" cy="3566160"/>
          </a:xfrm>
          <a:prstGeom prst="roundRect">
            <a:avLst>
              <a:gd name="adj" fmla="val 4390"/>
            </a:avLst>
          </a:prstGeom>
          <a:solidFill>
            <a:schemeClr val="bg2"/>
          </a:solidFill>
          <a:ln/>
        </p:spPr>
      </p:sp>
      <p:pic>
        <p:nvPicPr>
          <p:cNvPr id="11" name="C1_img2" descr="Identité de marque">    </p:cNvPr>
          <p:cNvPicPr>
            <a:picLocks noChangeAspect="1"/>
          </p:cNvPicPr>
          <p:nvPr/>
        </p:nvPicPr>
        <p:blipFill>
          <a:blip r:embed="rId3"/>
          <a:stretch>
            <a:fillRect/>
          </a:stretch>
        </p:blipFill>
        <p:spPr>
          <a:xfrm>
            <a:off x="6507328" y="2755058"/>
            <a:ext cx="1950644" cy="1256444"/>
          </a:xfrm>
          <a:prstGeom prst="rect">
            <a:avLst/>
          </a:prstGeom>
        </p:spPr>
      </p:pic>
      <p:sp>
        <p:nvSpPr>
          <p:cNvPr id="12" name="C1_t2"/>
          <p:cNvSpPr txBox="1"/>
          <p:nvPr/>
        </p:nvSpPr>
        <p:spPr>
          <a:xfrm>
            <a:off x="6370168"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Identité de marque</a:t>
            </a:r>
            <a:endParaRPr lang="en-US" sz="1400" dirty="0"/>
          </a:p>
        </p:txBody>
      </p:sp>
      <p:sp>
        <p:nvSpPr>
          <p:cNvPr id="13" name="C1_card3"/>
          <p:cNvSpPr/>
          <p:nvPr/>
        </p:nvSpPr>
        <p:spPr>
          <a:xfrm>
            <a:off x="9006611" y="2103120"/>
            <a:ext cx="2499284" cy="3566160"/>
          </a:xfrm>
          <a:prstGeom prst="roundRect">
            <a:avLst>
              <a:gd name="adj" fmla="val 4390"/>
            </a:avLst>
          </a:prstGeom>
          <a:solidFill>
            <a:schemeClr val="bg2"/>
          </a:solidFill>
          <a:ln/>
        </p:spPr>
      </p:sp>
      <p:pic>
        <p:nvPicPr>
          <p:cNvPr id="14" name="C1_img3" descr="Image cohérente">    </p:cNvPr>
          <p:cNvPicPr>
            <a:picLocks noChangeAspect="1"/>
          </p:cNvPicPr>
          <p:nvPr/>
        </p:nvPicPr>
        <p:blipFill>
          <a:blip r:embed="rId4"/>
          <a:stretch>
            <a:fillRect/>
          </a:stretch>
        </p:blipFill>
        <p:spPr>
          <a:xfrm>
            <a:off x="9280931" y="2757997"/>
            <a:ext cx="1950644" cy="1250566"/>
          </a:xfrm>
          <a:prstGeom prst="rect">
            <a:avLst/>
          </a:prstGeom>
        </p:spPr>
      </p:pic>
      <p:sp>
        <p:nvSpPr>
          <p:cNvPr id="15" name="C1_t3"/>
          <p:cNvSpPr txBox="1"/>
          <p:nvPr/>
        </p:nvSpPr>
        <p:spPr>
          <a:xfrm>
            <a:off x="9143771"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Image cohérente</a:t>
            </a:r>
            <a:endParaRPr lang="en-US" sz="1400" dirty="0"/>
          </a:p>
        </p:txBody>
      </p:sp>
      <p:sp>
        <p:nvSpPr>
          <p:cNvPr id="1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P spid="15" grpId="0" animBg="1"/>
      <p:bldP spid="1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TYPOGRAPHIE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Deux familles sans empattement</a:t>
            </a:r>
            <a:endParaRPr lang="en-US" sz="3000" dirty="0"/>
          </a:p>
        </p:txBody>
      </p:sp>
      <p:sp>
        <p:nvSpPr>
          <p:cNvPr id="4" name="C1_card"/>
          <p:cNvSpPr/>
          <p:nvPr/>
        </p:nvSpPr>
        <p:spPr>
          <a:xfrm>
            <a:off x="685800" y="2057400"/>
            <a:ext cx="5250028" cy="3657600"/>
          </a:xfrm>
          <a:prstGeom prst="roundRect">
            <a:avLst>
              <a:gd name="adj" fmla="val 3000"/>
            </a:avLst>
          </a:prstGeom>
          <a:solidFill>
            <a:schemeClr val="bg2"/>
          </a:solidFill>
          <a:ln/>
        </p:spPr>
      </p:sp>
      <p:sp>
        <p:nvSpPr>
          <p:cNvPr id="5" name="C1_aa"/>
          <p:cNvSpPr txBox="1"/>
          <p:nvPr/>
        </p:nvSpPr>
        <p:spPr>
          <a:xfrm>
            <a:off x="1143000" y="2331720"/>
            <a:ext cx="2743200" cy="1737360"/>
          </a:xfrm>
          <a:prstGeom prst="rect">
            <a:avLst/>
          </a:prstGeom>
          <a:noFill/>
          <a:ln/>
        </p:spPr>
        <p:txBody>
          <a:bodyPr wrap="square" lIns="0" tIns="0" rIns="0" bIns="0" rtlCol="0" anchor="t"/>
          <a:lstStyle/>
          <a:p>
            <a:pPr indent="0" marL="0">
              <a:buNone/>
            </a:pPr>
            <a:r>
              <a:rPr lang="en-US" sz="11000" dirty="0">
                <a:solidFill>
                  <a:schemeClr val="tx1"/>
                </a:solidFill>
                <a:latin typeface="Impact" pitchFamily="34" charset="0"/>
                <a:ea typeface="Impact" pitchFamily="34" charset="-122"/>
                <a:cs typeface="Impact" pitchFamily="34" charset="-120"/>
              </a:rPr>
              <a:t>Aa</a:t>
            </a:r>
            <a:endParaRPr lang="en-US" sz="11000" dirty="0"/>
          </a:p>
        </p:txBody>
      </p:sp>
      <p:sp>
        <p:nvSpPr>
          <p:cNvPr id="6" name="C1_lab"/>
          <p:cNvSpPr txBox="1"/>
          <p:nvPr/>
        </p:nvSpPr>
        <p:spPr>
          <a:xfrm>
            <a:off x="1143000" y="4343400"/>
            <a:ext cx="4335628"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LOGO</a:t>
            </a:r>
            <a:endParaRPr lang="en-US" sz="1100" dirty="0"/>
          </a:p>
        </p:txBody>
      </p:sp>
      <p:sp>
        <p:nvSpPr>
          <p:cNvPr id="7" name="C1_name"/>
          <p:cNvSpPr txBox="1"/>
          <p:nvPr/>
        </p:nvSpPr>
        <p:spPr>
          <a:xfrm>
            <a:off x="1143000" y="4709160"/>
            <a:ext cx="4335628" cy="457200"/>
          </a:xfrm>
          <a:prstGeom prst="rect">
            <a:avLst/>
          </a:prstGeom>
          <a:noFill/>
          <a:ln/>
        </p:spPr>
        <p:txBody>
          <a:bodyPr wrap="square" lIns="0" tIns="0" rIns="0" bIns="0" rtlCol="0" anchor="t"/>
          <a:lstStyle/>
          <a:p>
            <a:pPr indent="0" marL="0">
              <a:buNone/>
            </a:pPr>
            <a:r>
              <a:rPr lang="en-US" sz="1800" b="1" dirty="0">
                <a:solidFill>
                  <a:schemeClr val="tx1"/>
                </a:solidFill>
              </a:rPr>
              <a:t>Impact / College Bold (style approchant)</a:t>
            </a:r>
            <a:endParaRPr lang="en-US" sz="1800" dirty="0"/>
          </a:p>
        </p:txBody>
      </p:sp>
      <p:sp>
        <p:nvSpPr>
          <p:cNvPr id="8" name="C2_card"/>
          <p:cNvSpPr/>
          <p:nvPr/>
        </p:nvSpPr>
        <p:spPr>
          <a:xfrm>
            <a:off x="6255868" y="2057400"/>
            <a:ext cx="5250028" cy="3657600"/>
          </a:xfrm>
          <a:prstGeom prst="roundRect">
            <a:avLst>
              <a:gd name="adj" fmla="val 3000"/>
            </a:avLst>
          </a:prstGeom>
          <a:solidFill>
            <a:schemeClr val="bg2"/>
          </a:solidFill>
          <a:ln/>
        </p:spPr>
      </p:sp>
      <p:sp>
        <p:nvSpPr>
          <p:cNvPr id="9" name="C2_aa"/>
          <p:cNvSpPr txBox="1"/>
          <p:nvPr/>
        </p:nvSpPr>
        <p:spPr>
          <a:xfrm>
            <a:off x="6713068" y="2331720"/>
            <a:ext cx="2743200" cy="1737360"/>
          </a:xfrm>
          <a:prstGeom prst="rect">
            <a:avLst/>
          </a:prstGeom>
          <a:noFill/>
          <a:ln/>
        </p:spPr>
        <p:txBody>
          <a:bodyPr wrap="square" lIns="0" tIns="0" rIns="0" bIns="0" rtlCol="0" anchor="t"/>
          <a:lstStyle/>
          <a:p>
            <a:pPr indent="0" marL="0">
              <a:buNone/>
            </a:pPr>
            <a:r>
              <a:rPr lang="en-US" sz="11000" dirty="0">
                <a:solidFill>
                  <a:schemeClr val="tx1"/>
                </a:solidFill>
                <a:latin typeface="Poppins ExtraBold" pitchFamily="34" charset="0"/>
                <a:ea typeface="Poppins ExtraBold" pitchFamily="34" charset="-122"/>
                <a:cs typeface="Poppins ExtraBold" pitchFamily="34" charset="-120"/>
              </a:rPr>
              <a:t>Aa</a:t>
            </a:r>
            <a:endParaRPr lang="en-US" sz="11000" dirty="0"/>
          </a:p>
        </p:txBody>
      </p:sp>
      <p:sp>
        <p:nvSpPr>
          <p:cNvPr id="10" name="C2_lab"/>
          <p:cNvSpPr txBox="1"/>
          <p:nvPr/>
        </p:nvSpPr>
        <p:spPr>
          <a:xfrm>
            <a:off x="6713068" y="4343400"/>
            <a:ext cx="4335628"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SUPPORTS</a:t>
            </a:r>
            <a:endParaRPr lang="en-US" sz="1100" dirty="0"/>
          </a:p>
        </p:txBody>
      </p:sp>
      <p:sp>
        <p:nvSpPr>
          <p:cNvPr id="11" name="C2_name"/>
          <p:cNvSpPr txBox="1"/>
          <p:nvPr/>
        </p:nvSpPr>
        <p:spPr>
          <a:xfrm>
            <a:off x="6713068" y="4709160"/>
            <a:ext cx="4335628" cy="457200"/>
          </a:xfrm>
          <a:prstGeom prst="rect">
            <a:avLst/>
          </a:prstGeom>
          <a:noFill/>
          <a:ln/>
        </p:spPr>
        <p:txBody>
          <a:bodyPr wrap="square" lIns="0" tIns="0" rIns="0" bIns="0" rtlCol="0" anchor="t"/>
          <a:lstStyle/>
          <a:p>
            <a:pPr indent="0" marL="0">
              <a:buNone/>
            </a:pPr>
            <a:r>
              <a:rPr lang="en-US" sz="1800" b="1" dirty="0">
                <a:solidFill>
                  <a:schemeClr val="tx1"/>
                </a:solidFill>
              </a:rPr>
              <a:t>Poppins ExtraBold</a:t>
            </a:r>
            <a:endParaRPr lang="en-US" sz="18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9" grpId="0" animBg="1"/>
      <p:bldP spid="9" grpId="1" animBg="1"/>
      <p:bldP spid="10" grpId="0" animBg="1"/>
      <p:bldP spid="10" grpId="1" animBg="1"/>
      <p:bldP spid="11" grpId="0" animBg="1"/>
      <p:bldP spid="11"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COLORIMÉTRIE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palette inspirée du drapeau américain</a:t>
            </a:r>
            <a:endParaRPr lang="en-US" sz="3000" dirty="0"/>
          </a:p>
        </p:txBody>
      </p:sp>
      <p:sp>
        <p:nvSpPr>
          <p:cNvPr id="4" name="C1_sw0"/>
          <p:cNvSpPr/>
          <p:nvPr/>
        </p:nvSpPr>
        <p:spPr>
          <a:xfrm>
            <a:off x="685800" y="2057400"/>
            <a:ext cx="2499284" cy="2926080"/>
          </a:xfrm>
          <a:prstGeom prst="roundRect">
            <a:avLst>
              <a:gd name="adj" fmla="val 4390"/>
            </a:avLst>
          </a:prstGeom>
          <a:solidFill>
            <a:srgbClr val="1D3557"/>
          </a:solidFill>
          <a:ln/>
        </p:spPr>
      </p:sp>
      <p:sp>
        <p:nvSpPr>
          <p:cNvPr id="5" name="C1_swl0"/>
          <p:cNvSpPr txBox="1"/>
          <p:nvPr/>
        </p:nvSpPr>
        <p:spPr>
          <a:xfrm>
            <a:off x="960120" y="4434840"/>
            <a:ext cx="2042084" cy="365760"/>
          </a:xfrm>
          <a:prstGeom prst="rect">
            <a:avLst/>
          </a:prstGeom>
          <a:noFill/>
          <a:ln/>
        </p:spPr>
        <p:txBody>
          <a:bodyPr wrap="square" lIns="0" tIns="0" rIns="0" bIns="0" rtlCol="0" anchor="t"/>
          <a:lstStyle/>
          <a:p>
            <a:pPr indent="0" marL="0">
              <a:buNone/>
            </a:pPr>
            <a:r>
              <a:rPr lang="en-US" sz="1400" b="1" dirty="0">
                <a:solidFill>
                  <a:srgbClr val="FFFFFF"/>
                </a:solidFill>
              </a:rPr>
              <a:t>Bleu  </a:t>
            </a:r>
            <a:pPr indent="0" marL="0">
              <a:buNone/>
            </a:pPr>
            <a:r>
              <a:rPr lang="en-US" sz="1400" dirty="0">
                <a:solidFill>
                  <a:srgbClr val="FFFFFF"/>
                </a:solidFill>
              </a:rPr>
              <a:t>#1D3557</a:t>
            </a:r>
            <a:endParaRPr lang="en-US" sz="1400" dirty="0"/>
          </a:p>
        </p:txBody>
      </p:sp>
      <p:sp>
        <p:nvSpPr>
          <p:cNvPr id="6" name="C1_sw1"/>
          <p:cNvSpPr/>
          <p:nvPr/>
        </p:nvSpPr>
        <p:spPr>
          <a:xfrm>
            <a:off x="3459404" y="2057400"/>
            <a:ext cx="2499284" cy="2926080"/>
          </a:xfrm>
          <a:prstGeom prst="roundRect">
            <a:avLst>
              <a:gd name="adj" fmla="val 4390"/>
            </a:avLst>
          </a:prstGeom>
          <a:solidFill>
            <a:srgbClr val="E63946"/>
          </a:solidFill>
          <a:ln/>
        </p:spPr>
      </p:sp>
      <p:sp>
        <p:nvSpPr>
          <p:cNvPr id="7" name="C1_swl1"/>
          <p:cNvSpPr txBox="1"/>
          <p:nvPr/>
        </p:nvSpPr>
        <p:spPr>
          <a:xfrm>
            <a:off x="3733724" y="4434840"/>
            <a:ext cx="2042084" cy="365760"/>
          </a:xfrm>
          <a:prstGeom prst="rect">
            <a:avLst/>
          </a:prstGeom>
          <a:noFill/>
          <a:ln/>
        </p:spPr>
        <p:txBody>
          <a:bodyPr wrap="square" lIns="0" tIns="0" rIns="0" bIns="0" rtlCol="0" anchor="t"/>
          <a:lstStyle/>
          <a:p>
            <a:pPr indent="0" marL="0">
              <a:buNone/>
            </a:pPr>
            <a:r>
              <a:rPr lang="en-US" sz="1400" b="1" dirty="0">
                <a:solidFill>
                  <a:srgbClr val="FFFFFF"/>
                </a:solidFill>
              </a:rPr>
              <a:t>Rouge  </a:t>
            </a:r>
            <a:pPr indent="0" marL="0">
              <a:buNone/>
            </a:pPr>
            <a:r>
              <a:rPr lang="en-US" sz="1400" dirty="0">
                <a:solidFill>
                  <a:srgbClr val="FFFFFF"/>
                </a:solidFill>
              </a:rPr>
              <a:t>#E63946</a:t>
            </a:r>
            <a:endParaRPr lang="en-US" sz="1400" dirty="0"/>
          </a:p>
        </p:txBody>
      </p:sp>
      <p:sp>
        <p:nvSpPr>
          <p:cNvPr id="8" name="C1_sw2"/>
          <p:cNvSpPr/>
          <p:nvPr/>
        </p:nvSpPr>
        <p:spPr>
          <a:xfrm>
            <a:off x="6233008" y="2057400"/>
            <a:ext cx="2499284" cy="2926080"/>
          </a:xfrm>
          <a:prstGeom prst="roundRect">
            <a:avLst>
              <a:gd name="adj" fmla="val 4390"/>
            </a:avLst>
          </a:prstGeom>
          <a:solidFill>
            <a:srgbClr val="FFFFFF"/>
          </a:solidFill>
          <a:ln w="12700">
            <a:solidFill>
              <a:srgbClr val="D5DCE5"/>
            </a:solidFill>
            <a:prstDash val="solid"/>
          </a:ln>
        </p:spPr>
      </p:sp>
      <p:sp>
        <p:nvSpPr>
          <p:cNvPr id="9" name="C1_swl2"/>
          <p:cNvSpPr txBox="1"/>
          <p:nvPr/>
        </p:nvSpPr>
        <p:spPr>
          <a:xfrm>
            <a:off x="6507328" y="4434840"/>
            <a:ext cx="2042084" cy="365760"/>
          </a:xfrm>
          <a:prstGeom prst="rect">
            <a:avLst/>
          </a:prstGeom>
          <a:noFill/>
          <a:ln/>
        </p:spPr>
        <p:txBody>
          <a:bodyPr wrap="square" lIns="0" tIns="0" rIns="0" bIns="0" rtlCol="0" anchor="t"/>
          <a:lstStyle/>
          <a:p>
            <a:pPr indent="0" marL="0">
              <a:buNone/>
            </a:pPr>
            <a:r>
              <a:rPr lang="en-US" sz="1400" b="1" dirty="0">
                <a:solidFill>
                  <a:srgbClr val="1D3557"/>
                </a:solidFill>
              </a:rPr>
              <a:t>Blanc  </a:t>
            </a:r>
            <a:pPr indent="0" marL="0">
              <a:buNone/>
            </a:pPr>
            <a:r>
              <a:rPr lang="en-US" sz="1400" dirty="0">
                <a:solidFill>
                  <a:srgbClr val="1D3557"/>
                </a:solidFill>
              </a:rPr>
              <a:t>#FFFFFF</a:t>
            </a:r>
            <a:endParaRPr lang="en-US" sz="1400" dirty="0"/>
          </a:p>
        </p:txBody>
      </p:sp>
      <p:sp>
        <p:nvSpPr>
          <p:cNvPr id="10" name="C1_sw3"/>
          <p:cNvSpPr/>
          <p:nvPr/>
        </p:nvSpPr>
        <p:spPr>
          <a:xfrm>
            <a:off x="9006611" y="2057400"/>
            <a:ext cx="2499284" cy="2926080"/>
          </a:xfrm>
          <a:prstGeom prst="roundRect">
            <a:avLst>
              <a:gd name="adj" fmla="val 4390"/>
            </a:avLst>
          </a:prstGeom>
          <a:solidFill>
            <a:srgbClr val="A8DADC"/>
          </a:solidFill>
          <a:ln/>
        </p:spPr>
      </p:sp>
      <p:sp>
        <p:nvSpPr>
          <p:cNvPr id="11" name="C1_swl3"/>
          <p:cNvSpPr txBox="1"/>
          <p:nvPr/>
        </p:nvSpPr>
        <p:spPr>
          <a:xfrm>
            <a:off x="9280931" y="4434840"/>
            <a:ext cx="2042084" cy="365760"/>
          </a:xfrm>
          <a:prstGeom prst="rect">
            <a:avLst/>
          </a:prstGeom>
          <a:noFill/>
          <a:ln/>
        </p:spPr>
        <p:txBody>
          <a:bodyPr wrap="square" lIns="0" tIns="0" rIns="0" bIns="0" rtlCol="0" anchor="t"/>
          <a:lstStyle/>
          <a:p>
            <a:pPr indent="0" marL="0">
              <a:buNone/>
            </a:pPr>
            <a:r>
              <a:rPr lang="en-US" sz="1400" b="1" dirty="0">
                <a:solidFill>
                  <a:srgbClr val="1D3557"/>
                </a:solidFill>
              </a:rPr>
              <a:t>Gris métal  </a:t>
            </a:r>
            <a:pPr indent="0" marL="0">
              <a:buNone/>
            </a:pPr>
            <a:r>
              <a:rPr lang="en-US" sz="1400" dirty="0">
                <a:solidFill>
                  <a:srgbClr val="1D3557"/>
                </a:solidFill>
              </a:rPr>
              <a:t>#A8DADC</a:t>
            </a:r>
            <a:endParaRPr lang="en-US" sz="1400" dirty="0"/>
          </a:p>
        </p:txBody>
      </p:sp>
      <p:sp>
        <p:nvSpPr>
          <p:cNvPr id="12" name="C2_sens"/>
          <p:cNvSpPr txBox="1"/>
          <p:nvPr/>
        </p:nvSpPr>
        <p:spPr>
          <a:xfrm>
            <a:off x="685800" y="5303520"/>
            <a:ext cx="10820095" cy="411480"/>
          </a:xfrm>
          <a:prstGeom prst="rect">
            <a:avLst/>
          </a:prstGeom>
          <a:noFill/>
          <a:ln/>
        </p:spPr>
        <p:txBody>
          <a:bodyPr wrap="square" lIns="0" tIns="0" rIns="0" bIns="0" rtlCol="0" anchor="t"/>
          <a:lstStyle/>
          <a:p>
            <a:pPr indent="0" marL="0">
              <a:buNone/>
            </a:pPr>
            <a:r>
              <a:rPr lang="en-US" sz="1600" b="1" dirty="0">
                <a:solidFill>
                  <a:schemeClr val="tx1"/>
                </a:solidFill>
              </a:rPr>
              <a:t>Bleu </a:t>
            </a:r>
            <a:pPr indent="0" marL="0">
              <a:buNone/>
            </a:pPr>
            <a:r>
              <a:rPr lang="en-US" sz="1600" dirty="0">
                <a:solidFill>
                  <a:schemeClr val="tx2"/>
                </a:solidFill>
              </a:rPr>
              <a:t>confiance    </a:t>
            </a:r>
            <a:pPr indent="0" marL="0">
              <a:buNone/>
            </a:pPr>
            <a:r>
              <a:rPr lang="en-US" sz="1600" b="1" dirty="0">
                <a:solidFill>
                  <a:schemeClr val="accent1"/>
                </a:solidFill>
              </a:rPr>
              <a:t>Rouge </a:t>
            </a:r>
            <a:pPr indent="0" marL="0">
              <a:buNone/>
            </a:pPr>
            <a:r>
              <a:rPr lang="en-US" sz="1600" dirty="0">
                <a:solidFill>
                  <a:schemeClr val="tx2"/>
                </a:solidFill>
              </a:rPr>
              <a:t>énergie    </a:t>
            </a:r>
            <a:pPr indent="0" marL="0">
              <a:buNone/>
            </a:pPr>
            <a:r>
              <a:rPr lang="en-US" sz="1600" b="1" dirty="0">
                <a:solidFill>
                  <a:schemeClr val="tx1"/>
                </a:solidFill>
              </a:rPr>
              <a:t>Blanc </a:t>
            </a:r>
            <a:pPr indent="0" marL="0">
              <a:buNone/>
            </a:pPr>
            <a:r>
              <a:rPr lang="en-US" sz="1600" dirty="0">
                <a:solidFill>
                  <a:schemeClr val="tx2"/>
                </a:solidFill>
              </a:rPr>
              <a:t>clarté</a:t>
            </a:r>
            <a:endParaRPr lang="en-US" sz="1600" dirty="0"/>
          </a:p>
        </p:txBody>
      </p:sp>
      <p:sp>
        <p:nvSpPr>
          <p:cNvPr id="1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10" presetClass="entr" presetSubtype="0" accel="0" decel="10000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9" grpId="0" animBg="1"/>
      <p:bldP spid="9" grpId="1" animBg="1"/>
      <p:bldP spid="11" grpId="0" animBg="1"/>
      <p:bldP spid="11" grpId="1" animBg="1"/>
      <p:bldP spid="12" grpId="0" animBg="1"/>
      <p:bldP spid="1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RÈGLES D’UTILISATION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Ce qu’il ne faut pas faire</a:t>
            </a:r>
            <a:endParaRPr lang="en-US" sz="3000" dirty="0"/>
          </a:p>
        </p:txBody>
      </p:sp>
      <p:pic>
        <p:nvPicPr>
          <p:cNvPr id="4" name="C1_img" descr="Exemples d'usages interdits du logo">    </p:cNvPr>
          <p:cNvPicPr>
            <a:picLocks noChangeAspect="1"/>
          </p:cNvPicPr>
          <p:nvPr/>
        </p:nvPicPr>
        <p:blipFill>
          <a:blip r:embed="rId1"/>
          <a:stretch>
            <a:fillRect/>
          </a:stretch>
        </p:blipFill>
        <p:spPr>
          <a:xfrm>
            <a:off x="685800" y="2230625"/>
            <a:ext cx="5486400" cy="3036831"/>
          </a:xfrm>
          <a:prstGeom prst="rect">
            <a:avLst/>
          </a:prstGeom>
          <a:effectLst>
            <a:outerShdw sx="100000" sy="100000" kx="0" ky="0" algn="bl" rotWithShape="0" blurRad="177800" dist="50800" dir="5400000">
              <a:srgbClr val="1D3557">
                <a:alpha val="16000"/>
              </a:srgbClr>
            </a:outerShdw>
          </a:effectLst>
        </p:spPr>
      </p:pic>
      <p:pic>
        <p:nvPicPr>
          <p:cNvPr id="5" name="C2_x0" descr="preencoded.png">    </p:cNvPr>
          <p:cNvPicPr>
            <a:picLocks noChangeAspect="1"/>
          </p:cNvPicPr>
          <p:nvPr/>
        </p:nvPicPr>
        <p:blipFill>
          <a:blip r:embed="rId2"/>
          <a:stretch>
            <a:fillRect/>
          </a:stretch>
        </p:blipFill>
        <p:spPr>
          <a:xfrm>
            <a:off x="6675120" y="2148840"/>
            <a:ext cx="438912" cy="438912"/>
          </a:xfrm>
          <a:prstGeom prst="rect">
            <a:avLst/>
          </a:prstGeom>
        </p:spPr>
      </p:pic>
      <p:sp>
        <p:nvSpPr>
          <p:cNvPr id="6" name="C2_t0"/>
          <p:cNvSpPr txBox="1"/>
          <p:nvPr/>
        </p:nvSpPr>
        <p:spPr>
          <a:xfrm>
            <a:off x="7315200" y="2103120"/>
            <a:ext cx="4206240" cy="548640"/>
          </a:xfrm>
          <a:prstGeom prst="rect">
            <a:avLst/>
          </a:prstGeom>
          <a:noFill/>
          <a:ln/>
        </p:spPr>
        <p:txBody>
          <a:bodyPr wrap="square" lIns="0" tIns="0" rIns="0" bIns="0" rtlCol="0" anchor="ctr"/>
          <a:lstStyle/>
          <a:p>
            <a:pPr indent="0" marL="0">
              <a:buNone/>
            </a:pPr>
            <a:r>
              <a:rPr lang="en-US" sz="1700" dirty="0">
                <a:solidFill>
                  <a:schemeClr val="tx1"/>
                </a:solidFill>
              </a:rPr>
              <a:t>Déformer ou étirer le logo</a:t>
            </a:r>
            <a:endParaRPr lang="en-US" sz="1700" dirty="0"/>
          </a:p>
        </p:txBody>
      </p:sp>
      <p:pic>
        <p:nvPicPr>
          <p:cNvPr id="7" name="C2_x1" descr="preencoded.png">    </p:cNvPr>
          <p:cNvPicPr>
            <a:picLocks noChangeAspect="1"/>
          </p:cNvPicPr>
          <p:nvPr/>
        </p:nvPicPr>
        <p:blipFill>
          <a:blip r:embed="rId3"/>
          <a:stretch>
            <a:fillRect/>
          </a:stretch>
        </p:blipFill>
        <p:spPr>
          <a:xfrm>
            <a:off x="6675120" y="3017520"/>
            <a:ext cx="438912" cy="438912"/>
          </a:xfrm>
          <a:prstGeom prst="rect">
            <a:avLst/>
          </a:prstGeom>
        </p:spPr>
      </p:pic>
      <p:sp>
        <p:nvSpPr>
          <p:cNvPr id="8" name="C2_t1"/>
          <p:cNvSpPr txBox="1"/>
          <p:nvPr/>
        </p:nvSpPr>
        <p:spPr>
          <a:xfrm>
            <a:off x="7315200" y="2971800"/>
            <a:ext cx="4206240" cy="548640"/>
          </a:xfrm>
          <a:prstGeom prst="rect">
            <a:avLst/>
          </a:prstGeom>
          <a:noFill/>
          <a:ln/>
        </p:spPr>
        <p:txBody>
          <a:bodyPr wrap="square" lIns="0" tIns="0" rIns="0" bIns="0" rtlCol="0" anchor="ctr"/>
          <a:lstStyle/>
          <a:p>
            <a:pPr indent="0" marL="0">
              <a:buNone/>
            </a:pPr>
            <a:r>
              <a:rPr lang="en-US" sz="1700" dirty="0">
                <a:solidFill>
                  <a:schemeClr val="tx1"/>
                </a:solidFill>
              </a:rPr>
              <a:t>Changer les couleurs</a:t>
            </a:r>
            <a:endParaRPr lang="en-US" sz="1700" dirty="0"/>
          </a:p>
        </p:txBody>
      </p:sp>
      <p:pic>
        <p:nvPicPr>
          <p:cNvPr id="9" name="C2_x2" descr="preencoded.png">    </p:cNvPr>
          <p:cNvPicPr>
            <a:picLocks noChangeAspect="1"/>
          </p:cNvPicPr>
          <p:nvPr/>
        </p:nvPicPr>
        <p:blipFill>
          <a:blip r:embed="rId4"/>
          <a:stretch>
            <a:fillRect/>
          </a:stretch>
        </p:blipFill>
        <p:spPr>
          <a:xfrm>
            <a:off x="6675120" y="3886200"/>
            <a:ext cx="438912" cy="438912"/>
          </a:xfrm>
          <a:prstGeom prst="rect">
            <a:avLst/>
          </a:prstGeom>
        </p:spPr>
      </p:pic>
      <p:sp>
        <p:nvSpPr>
          <p:cNvPr id="10" name="C2_t2"/>
          <p:cNvSpPr txBox="1"/>
          <p:nvPr/>
        </p:nvSpPr>
        <p:spPr>
          <a:xfrm>
            <a:off x="7315200" y="3840480"/>
            <a:ext cx="4206240" cy="548640"/>
          </a:xfrm>
          <a:prstGeom prst="rect">
            <a:avLst/>
          </a:prstGeom>
          <a:noFill/>
          <a:ln/>
        </p:spPr>
        <p:txBody>
          <a:bodyPr wrap="square" lIns="0" tIns="0" rIns="0" bIns="0" rtlCol="0" anchor="ctr"/>
          <a:lstStyle/>
          <a:p>
            <a:pPr indent="0" marL="0">
              <a:buNone/>
            </a:pPr>
            <a:r>
              <a:rPr lang="en-US" sz="1700" dirty="0">
                <a:solidFill>
                  <a:schemeClr val="tx1"/>
                </a:solidFill>
              </a:rPr>
              <a:t>Ajouter des éléments graphiques</a:t>
            </a:r>
            <a:endParaRPr lang="en-US" sz="1700" dirty="0"/>
          </a:p>
        </p:txBody>
      </p:sp>
      <p:pic>
        <p:nvPicPr>
          <p:cNvPr id="11" name="C2_x3" descr="preencoded.png">    </p:cNvPr>
          <p:cNvPicPr>
            <a:picLocks noChangeAspect="1"/>
          </p:cNvPicPr>
          <p:nvPr/>
        </p:nvPicPr>
        <p:blipFill>
          <a:blip r:embed="rId5"/>
          <a:stretch>
            <a:fillRect/>
          </a:stretch>
        </p:blipFill>
        <p:spPr>
          <a:xfrm>
            <a:off x="6675120" y="4754880"/>
            <a:ext cx="438912" cy="438912"/>
          </a:xfrm>
          <a:prstGeom prst="rect">
            <a:avLst/>
          </a:prstGeom>
        </p:spPr>
      </p:pic>
      <p:sp>
        <p:nvSpPr>
          <p:cNvPr id="12" name="C2_t3"/>
          <p:cNvSpPr txBox="1"/>
          <p:nvPr/>
        </p:nvSpPr>
        <p:spPr>
          <a:xfrm>
            <a:off x="7315200" y="4709160"/>
            <a:ext cx="4206240" cy="548640"/>
          </a:xfrm>
          <a:prstGeom prst="rect">
            <a:avLst/>
          </a:prstGeom>
          <a:noFill/>
          <a:ln/>
        </p:spPr>
        <p:txBody>
          <a:bodyPr wrap="square" lIns="0" tIns="0" rIns="0" bIns="0" rtlCol="0" anchor="ctr"/>
          <a:lstStyle/>
          <a:p>
            <a:pPr indent="0" marL="0">
              <a:buNone/>
            </a:pPr>
            <a:r>
              <a:rPr lang="en-US" sz="1700" dirty="0">
                <a:solidFill>
                  <a:schemeClr val="tx1"/>
                </a:solidFill>
              </a:rPr>
              <a:t>Supprimer « GYM » ou les étoiles</a:t>
            </a:r>
            <a:endParaRPr lang="en-US" sz="1700" dirty="0"/>
          </a:p>
        </p:txBody>
      </p:sp>
      <p:sp>
        <p:nvSpPr>
          <p:cNvPr id="1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accel="0" decel="10000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0" presetClass="path" presetSubtype="0" accel="0" decel="100000" fill="hold" grpId="1" nodeType="withEffect">
                                  <p:stCondLst>
                                    <p:cond delay="0"/>
                                  </p:stCondLst>
                                  <p:childTnLst>
                                    <p:animMotion origin="layout" path="M 0 0.02778 L 0 0 E" pathEditMode="relative" rAng="0" ptsTypes="AA">
                                      <p:cBhvr>
                                        <p:cTn id="28" dur="500" fill="hold"/>
                                        <p:tgtEl>
                                          <p:spTgt spid="5"/>
                                        </p:tgtEl>
                                        <p:attrNameLst>
                                          <p:attrName>ppt_x</p:attrName>
                                          <p:attrName>ppt_y</p:attrName>
                                        </p:attrNameLst>
                                      </p:cBhvr>
                                    </p:animMotion>
                                  </p:childTnLst>
                                </p:cTn>
                              </p:par>
                              <p:par>
                                <p:cTn id="29" presetID="10" presetClass="entr" presetSubtype="0" accel="0" decel="10000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8" grpId="0" animBg="1"/>
      <p:bldP spid="8" grpId="1" animBg="1"/>
      <p:bldP spid="10" grpId="0" animBg="1"/>
      <p:bldP spid="10" grpId="1" animBg="1"/>
      <p:bldP spid="12" grpId="0" animBg="1"/>
      <p:bldP spid="1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DÉCLINAISONS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logo appliqué aux supports de marque</a:t>
            </a:r>
            <a:endParaRPr lang="en-US" sz="3000" dirty="0"/>
          </a:p>
        </p:txBody>
      </p:sp>
      <p:sp>
        <p:nvSpPr>
          <p:cNvPr id="4" name="C1_card0"/>
          <p:cNvSpPr/>
          <p:nvPr/>
        </p:nvSpPr>
        <p:spPr>
          <a:xfrm>
            <a:off x="685800" y="1874520"/>
            <a:ext cx="3393338" cy="1828800"/>
          </a:xfrm>
          <a:prstGeom prst="roundRect">
            <a:avLst>
              <a:gd name="adj" fmla="val 6000"/>
            </a:avLst>
          </a:prstGeom>
          <a:solidFill>
            <a:schemeClr val="bg2"/>
          </a:solidFill>
          <a:ln/>
        </p:spPr>
      </p:sp>
      <p:pic>
        <p:nvPicPr>
          <p:cNvPr id="5" name="C1_img0" descr="Carte de visite">    </p:cNvPr>
          <p:cNvPicPr>
            <a:picLocks noChangeAspect="1"/>
          </p:cNvPicPr>
          <p:nvPr/>
        </p:nvPicPr>
        <p:blipFill>
          <a:blip r:embed="rId1"/>
          <a:stretch>
            <a:fillRect/>
          </a:stretch>
        </p:blipFill>
        <p:spPr>
          <a:xfrm>
            <a:off x="1121460" y="2011680"/>
            <a:ext cx="2522018" cy="1554480"/>
          </a:xfrm>
          <a:prstGeom prst="rect">
            <a:avLst/>
          </a:prstGeom>
        </p:spPr>
      </p:pic>
      <p:sp>
        <p:nvSpPr>
          <p:cNvPr id="6" name="C1_cap0"/>
          <p:cNvSpPr txBox="1"/>
          <p:nvPr/>
        </p:nvSpPr>
        <p:spPr>
          <a:xfrm>
            <a:off x="685800" y="373075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Carte de visite</a:t>
            </a:r>
            <a:endParaRPr lang="en-US" sz="1100" dirty="0"/>
          </a:p>
        </p:txBody>
      </p:sp>
      <p:sp>
        <p:nvSpPr>
          <p:cNvPr id="7" name="C1_card1"/>
          <p:cNvSpPr/>
          <p:nvPr/>
        </p:nvSpPr>
        <p:spPr>
          <a:xfrm>
            <a:off x="4399178" y="1874520"/>
            <a:ext cx="3393338" cy="1828800"/>
          </a:xfrm>
          <a:prstGeom prst="roundRect">
            <a:avLst>
              <a:gd name="adj" fmla="val 6000"/>
            </a:avLst>
          </a:prstGeom>
          <a:solidFill>
            <a:schemeClr val="bg2"/>
          </a:solidFill>
          <a:ln/>
        </p:spPr>
      </p:sp>
      <p:pic>
        <p:nvPicPr>
          <p:cNvPr id="8" name="C1_img1" descr="T-shirt">    </p:cNvPr>
          <p:cNvPicPr>
            <a:picLocks noChangeAspect="1"/>
          </p:cNvPicPr>
          <p:nvPr/>
        </p:nvPicPr>
        <p:blipFill>
          <a:blip r:embed="rId2"/>
          <a:stretch>
            <a:fillRect/>
          </a:stretch>
        </p:blipFill>
        <p:spPr>
          <a:xfrm>
            <a:off x="5159280" y="2011680"/>
            <a:ext cx="1873135" cy="1554480"/>
          </a:xfrm>
          <a:prstGeom prst="rect">
            <a:avLst/>
          </a:prstGeom>
        </p:spPr>
      </p:pic>
      <p:sp>
        <p:nvSpPr>
          <p:cNvPr id="9" name="C1_cap1"/>
          <p:cNvSpPr txBox="1"/>
          <p:nvPr/>
        </p:nvSpPr>
        <p:spPr>
          <a:xfrm>
            <a:off x="4399178" y="373075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T-shirt</a:t>
            </a:r>
            <a:endParaRPr lang="en-US" sz="1100" dirty="0"/>
          </a:p>
        </p:txBody>
      </p:sp>
      <p:sp>
        <p:nvSpPr>
          <p:cNvPr id="10" name="C1_card2"/>
          <p:cNvSpPr/>
          <p:nvPr/>
        </p:nvSpPr>
        <p:spPr>
          <a:xfrm>
            <a:off x="8112557" y="1874520"/>
            <a:ext cx="3393338" cy="1828800"/>
          </a:xfrm>
          <a:prstGeom prst="roundRect">
            <a:avLst>
              <a:gd name="adj" fmla="val 6000"/>
            </a:avLst>
          </a:prstGeom>
          <a:solidFill>
            <a:schemeClr val="bg2"/>
          </a:solidFill>
          <a:ln/>
        </p:spPr>
      </p:sp>
      <p:pic>
        <p:nvPicPr>
          <p:cNvPr id="11" name="C1_img2" descr="Casquette">    </p:cNvPr>
          <p:cNvPicPr>
            <a:picLocks noChangeAspect="1"/>
          </p:cNvPicPr>
          <p:nvPr/>
        </p:nvPicPr>
        <p:blipFill>
          <a:blip r:embed="rId3"/>
          <a:stretch>
            <a:fillRect/>
          </a:stretch>
        </p:blipFill>
        <p:spPr>
          <a:xfrm>
            <a:off x="8984130" y="2011680"/>
            <a:ext cx="1650191" cy="1554480"/>
          </a:xfrm>
          <a:prstGeom prst="rect">
            <a:avLst/>
          </a:prstGeom>
        </p:spPr>
      </p:pic>
      <p:sp>
        <p:nvSpPr>
          <p:cNvPr id="12" name="C1_cap2"/>
          <p:cNvSpPr txBox="1"/>
          <p:nvPr/>
        </p:nvSpPr>
        <p:spPr>
          <a:xfrm>
            <a:off x="8112557" y="373075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Casquette</a:t>
            </a:r>
            <a:endParaRPr lang="en-US" sz="1100" dirty="0"/>
          </a:p>
        </p:txBody>
      </p:sp>
      <p:sp>
        <p:nvSpPr>
          <p:cNvPr id="13" name="C2_card3"/>
          <p:cNvSpPr/>
          <p:nvPr/>
        </p:nvSpPr>
        <p:spPr>
          <a:xfrm>
            <a:off x="685800" y="4114800"/>
            <a:ext cx="3393338" cy="1828800"/>
          </a:xfrm>
          <a:prstGeom prst="roundRect">
            <a:avLst>
              <a:gd name="adj" fmla="val 6000"/>
            </a:avLst>
          </a:prstGeom>
          <a:solidFill>
            <a:schemeClr val="bg2"/>
          </a:solidFill>
          <a:ln/>
        </p:spPr>
      </p:sp>
      <p:pic>
        <p:nvPicPr>
          <p:cNvPr id="14" name="C2_img3" descr="Sac de sport">    </p:cNvPr>
          <p:cNvPicPr>
            <a:picLocks noChangeAspect="1"/>
          </p:cNvPicPr>
          <p:nvPr/>
        </p:nvPicPr>
        <p:blipFill>
          <a:blip r:embed="rId4"/>
          <a:stretch>
            <a:fillRect/>
          </a:stretch>
        </p:blipFill>
        <p:spPr>
          <a:xfrm>
            <a:off x="1864309" y="4251960"/>
            <a:ext cx="1036320" cy="1554480"/>
          </a:xfrm>
          <a:prstGeom prst="rect">
            <a:avLst/>
          </a:prstGeom>
        </p:spPr>
      </p:pic>
      <p:sp>
        <p:nvSpPr>
          <p:cNvPr id="15" name="C2_cap3"/>
          <p:cNvSpPr txBox="1"/>
          <p:nvPr/>
        </p:nvSpPr>
        <p:spPr>
          <a:xfrm>
            <a:off x="685800" y="597103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Sac de sport</a:t>
            </a:r>
            <a:endParaRPr lang="en-US" sz="1100" dirty="0"/>
          </a:p>
        </p:txBody>
      </p:sp>
      <p:sp>
        <p:nvSpPr>
          <p:cNvPr id="16" name="C2_card4"/>
          <p:cNvSpPr/>
          <p:nvPr/>
        </p:nvSpPr>
        <p:spPr>
          <a:xfrm>
            <a:off x="4399178" y="4114800"/>
            <a:ext cx="3393338" cy="1828800"/>
          </a:xfrm>
          <a:prstGeom prst="roundRect">
            <a:avLst>
              <a:gd name="adj" fmla="val 6000"/>
            </a:avLst>
          </a:prstGeom>
          <a:solidFill>
            <a:schemeClr val="bg2"/>
          </a:solidFill>
          <a:ln/>
        </p:spPr>
      </p:sp>
      <p:pic>
        <p:nvPicPr>
          <p:cNvPr id="17" name="C2_img4" descr="Gourdes">    </p:cNvPr>
          <p:cNvPicPr>
            <a:picLocks noChangeAspect="1"/>
          </p:cNvPicPr>
          <p:nvPr/>
        </p:nvPicPr>
        <p:blipFill>
          <a:blip r:embed="rId5"/>
          <a:stretch>
            <a:fillRect/>
          </a:stretch>
        </p:blipFill>
        <p:spPr>
          <a:xfrm>
            <a:off x="5318608" y="4251960"/>
            <a:ext cx="1554480" cy="1554480"/>
          </a:xfrm>
          <a:prstGeom prst="rect">
            <a:avLst/>
          </a:prstGeom>
        </p:spPr>
      </p:pic>
      <p:sp>
        <p:nvSpPr>
          <p:cNvPr id="18" name="C2_cap4"/>
          <p:cNvSpPr txBox="1"/>
          <p:nvPr/>
        </p:nvSpPr>
        <p:spPr>
          <a:xfrm>
            <a:off x="4399178" y="597103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Gourdes</a:t>
            </a:r>
            <a:endParaRPr lang="en-US" sz="1100" dirty="0"/>
          </a:p>
        </p:txBody>
      </p:sp>
      <p:sp>
        <p:nvSpPr>
          <p:cNvPr id="19" name="C2_card5"/>
          <p:cNvSpPr/>
          <p:nvPr/>
        </p:nvSpPr>
        <p:spPr>
          <a:xfrm>
            <a:off x="8112557" y="4114800"/>
            <a:ext cx="3393338" cy="1828800"/>
          </a:xfrm>
          <a:prstGeom prst="roundRect">
            <a:avLst>
              <a:gd name="adj" fmla="val 6000"/>
            </a:avLst>
          </a:prstGeom>
          <a:solidFill>
            <a:schemeClr val="bg2"/>
          </a:solidFill>
          <a:ln/>
        </p:spPr>
      </p:sp>
      <p:pic>
        <p:nvPicPr>
          <p:cNvPr id="20" name="C2_img5" descr="Stylo">    </p:cNvPr>
          <p:cNvPicPr>
            <a:picLocks noChangeAspect="1"/>
          </p:cNvPicPr>
          <p:nvPr/>
        </p:nvPicPr>
        <p:blipFill>
          <a:blip r:embed="rId6"/>
          <a:stretch>
            <a:fillRect/>
          </a:stretch>
        </p:blipFill>
        <p:spPr>
          <a:xfrm>
            <a:off x="8417803" y="4251960"/>
            <a:ext cx="2782845" cy="1554480"/>
          </a:xfrm>
          <a:prstGeom prst="rect">
            <a:avLst/>
          </a:prstGeom>
        </p:spPr>
      </p:pic>
      <p:sp>
        <p:nvSpPr>
          <p:cNvPr id="21" name="C2_cap5"/>
          <p:cNvSpPr txBox="1"/>
          <p:nvPr/>
        </p:nvSpPr>
        <p:spPr>
          <a:xfrm>
            <a:off x="8112557" y="597103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Stylo</a:t>
            </a:r>
            <a:endParaRPr lang="en-US" sz="1100" dirty="0"/>
          </a:p>
        </p:txBody>
      </p:sp>
      <p:sp>
        <p:nvSpPr>
          <p:cNvPr id="2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childTnLst>
                          </p:cTn>
                        </p:par>
                      </p:childTnLst>
                    </p:cTn>
                  </p:par>
                  <p:par>
                    <p:cTn id="62" fill="hold">
                      <p:stCondLst>
                        <p:cond delay="indefinite"/>
                      </p:stCondLst>
                      <p:childTnLst>
                        <p:par>
                          <p:cTn id="63" fill="hold">
                            <p:stCondLst>
                              <p:cond delay="0"/>
                            </p:stCondLst>
                            <p:childTnLst>
                              <p:par>
                                <p:cTn id="64" presetID="10" presetClass="entr" presetSubtype="0" accel="0" decel="100000"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par>
                                <p:cTn id="84" presetID="10" presetClass="entr" presetSubtype="0" accel="0" decel="100000"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500"/>
                                        <p:tgtEl>
                                          <p:spTgt spid="17"/>
                                        </p:tgtEl>
                                      </p:cBhvr>
                                    </p:animEffect>
                                  </p:childTnLst>
                                </p:cTn>
                              </p:par>
                              <p:par>
                                <p:cTn id="87" presetID="0" presetClass="path" presetSubtype="0" accel="0" decel="100000" fill="hold" grpId="1" nodeType="withEffect">
                                  <p:stCondLst>
                                    <p:cond delay="0"/>
                                  </p:stCondLst>
                                  <p:childTnLst>
                                    <p:animMotion origin="layout" path="M 0 0.02778 L 0 0 E" pathEditMode="relative" rAng="0" ptsTypes="AA">
                                      <p:cBhvr>
                                        <p:cTn id="88" dur="500" fill="hold"/>
                                        <p:tgtEl>
                                          <p:spTgt spid="17"/>
                                        </p:tgtEl>
                                        <p:attrNameLst>
                                          <p:attrName>ppt_x</p:attrName>
                                          <p:attrName>ppt_y</p:attrName>
                                        </p:attrNameLst>
                                      </p:cBhvr>
                                    </p:animMotion>
                                  </p:childTnLst>
                                </p:cTn>
                              </p:par>
                              <p:par>
                                <p:cTn id="89" presetID="10" presetClass="entr" presetSubtype="0" accel="0" decel="10000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0" presetClass="path" presetSubtype="0" accel="0" decel="100000" fill="hold" grpId="1" nodeType="withEffect">
                                  <p:stCondLst>
                                    <p:cond delay="0"/>
                                  </p:stCondLst>
                                  <p:childTnLst>
                                    <p:animMotion origin="layout" path="M 0 0.02778 L 0 0 E" pathEditMode="relative" rAng="0" ptsTypes="AA">
                                      <p:cBhvr>
                                        <p:cTn id="93" dur="500" fill="hold"/>
                                        <p:tgtEl>
                                          <p:spTgt spid="18"/>
                                        </p:tgtEl>
                                        <p:attrNameLst>
                                          <p:attrName>ppt_x</p:attrName>
                                          <p:attrName>ppt_y</p:attrName>
                                        </p:attrNameLst>
                                      </p:cBhvr>
                                    </p:animMotion>
                                  </p:childTnLst>
                                </p:cTn>
                              </p:par>
                              <p:par>
                                <p:cTn id="94" presetID="10" presetClass="entr" presetSubtype="0" accel="0" decel="10000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500"/>
                                        <p:tgtEl>
                                          <p:spTgt spid="19"/>
                                        </p:tgtEl>
                                      </p:cBhvr>
                                    </p:animEffect>
                                  </p:childTnLst>
                                </p:cTn>
                              </p:par>
                              <p:par>
                                <p:cTn id="97" presetID="0" presetClass="path" presetSubtype="0" accel="0" decel="100000" fill="hold" grpId="1" nodeType="withEffect">
                                  <p:stCondLst>
                                    <p:cond delay="0"/>
                                  </p:stCondLst>
                                  <p:childTnLst>
                                    <p:animMotion origin="layout" path="M 0 0.02778 L 0 0 E" pathEditMode="relative" rAng="0" ptsTypes="AA">
                                      <p:cBhvr>
                                        <p:cTn id="98" dur="500" fill="hold"/>
                                        <p:tgtEl>
                                          <p:spTgt spid="19"/>
                                        </p:tgtEl>
                                        <p:attrNameLst>
                                          <p:attrName>ppt_x</p:attrName>
                                          <p:attrName>ppt_y</p:attrName>
                                        </p:attrNameLst>
                                      </p:cBhvr>
                                    </p:animMotion>
                                  </p:childTnLst>
                                </p:cTn>
                              </p:par>
                              <p:par>
                                <p:cTn id="99" presetID="10" presetClass="entr" presetSubtype="0" accel="0" decel="10000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00"/>
                                        <p:tgtEl>
                                          <p:spTgt spid="20"/>
                                        </p:tgtEl>
                                      </p:cBhvr>
                                    </p:animEffect>
                                  </p:childTnLst>
                                </p:cTn>
                              </p:par>
                              <p:par>
                                <p:cTn id="102" presetID="0" presetClass="path" presetSubtype="0" accel="0" decel="100000" fill="hold" grpId="1" nodeType="withEffect">
                                  <p:stCondLst>
                                    <p:cond delay="0"/>
                                  </p:stCondLst>
                                  <p:childTnLst>
                                    <p:animMotion origin="layout" path="M 0 0.02778 L 0 0 E" pathEditMode="relative" rAng="0" ptsTypes="AA">
                                      <p:cBhvr>
                                        <p:cTn id="103" dur="500" fill="hold"/>
                                        <p:tgtEl>
                                          <p:spTgt spid="20"/>
                                        </p:tgtEl>
                                        <p:attrNameLst>
                                          <p:attrName>ppt_x</p:attrName>
                                          <p:attrName>ppt_y</p:attrName>
                                        </p:attrNameLst>
                                      </p:cBhvr>
                                    </p:animMotion>
                                  </p:childTnLst>
                                </p:cTn>
                              </p:par>
                              <p:par>
                                <p:cTn id="104" presetID="10" presetClass="entr" presetSubtype="0" accel="0" decel="10000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00"/>
                                        <p:tgtEl>
                                          <p:spTgt spid="21"/>
                                        </p:tgtEl>
                                      </p:cBhvr>
                                    </p:animEffect>
                                  </p:childTnLst>
                                </p:cTn>
                              </p:par>
                              <p:par>
                                <p:cTn id="107" presetID="0" presetClass="path" presetSubtype="0" accel="0" decel="100000" fill="hold" grpId="1" nodeType="withEffect">
                                  <p:stCondLst>
                                    <p:cond delay="0"/>
                                  </p:stCondLst>
                                  <p:childTnLst>
                                    <p:animMotion origin="layout" path="M 0 0.02778 L 0 0 E" pathEditMode="relative" rAng="0" ptsTypes="AA">
                                      <p:cBhvr>
                                        <p:cTn id="108" dur="500" fill="hold"/>
                                        <p:tgtEl>
                                          <p:spTgt spid="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P spid="15" grpId="0" animBg="1"/>
      <p:bldP spid="15" grpId="1" animBg="1"/>
      <p:bldP spid="18" grpId="0" animBg="1"/>
      <p:bldP spid="18" grpId="1" animBg="1"/>
      <p:bldP spid="21" grpId="0" animBg="1"/>
      <p:bldP spid="21"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OUTILS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Logiciels et langages</a:t>
            </a:r>
            <a:endParaRPr lang="en-US" sz="3000" dirty="0"/>
          </a:p>
        </p:txBody>
      </p:sp>
      <p:sp>
        <p:nvSpPr>
          <p:cNvPr id="4" name="C1_card"/>
          <p:cNvSpPr/>
          <p:nvPr/>
        </p:nvSpPr>
        <p:spPr>
          <a:xfrm>
            <a:off x="685800" y="2057400"/>
            <a:ext cx="3393338" cy="3108960"/>
          </a:xfrm>
          <a:prstGeom prst="roundRect">
            <a:avLst>
              <a:gd name="adj" fmla="val 3529"/>
            </a:avLst>
          </a:prstGeom>
          <a:solidFill>
            <a:schemeClr val="bg2"/>
          </a:solidFill>
          <a:ln/>
        </p:spPr>
      </p:sp>
      <p:pic>
        <p:nvPicPr>
          <p:cNvPr id="5" name="C1_logo0" descr="/tmp/claude-0/-home-user-HANDY/6bbfc0f3-9363-58e6-a84d-0853f925f572/scratchpad/deck/assets/sw_ai.png">    </p:cNvPr>
          <p:cNvPicPr>
            <a:picLocks noChangeAspect="1"/>
          </p:cNvPicPr>
          <p:nvPr/>
        </p:nvPicPr>
        <p:blipFill>
          <a:blip r:embed="rId1"/>
          <a:stretch>
            <a:fillRect/>
          </a:stretch>
        </p:blipFill>
        <p:spPr>
          <a:xfrm>
            <a:off x="1051560" y="2423160"/>
            <a:ext cx="777240" cy="777240"/>
          </a:xfrm>
          <a:prstGeom prst="rect">
            <a:avLst/>
          </a:prstGeom>
        </p:spPr>
      </p:pic>
      <p:pic>
        <p:nvPicPr>
          <p:cNvPr id="6" name="C1_logo1" descr="/tmp/claude-0/-home-user-HANDY/6bbfc0f3-9363-58e6-a84d-0853f925f572/scratchpad/deck/assets/sw_ps.png">    </p:cNvPr>
          <p:cNvPicPr>
            <a:picLocks noChangeAspect="1"/>
          </p:cNvPicPr>
          <p:nvPr/>
        </p:nvPicPr>
        <p:blipFill>
          <a:blip r:embed="rId2"/>
          <a:stretch>
            <a:fillRect/>
          </a:stretch>
        </p:blipFill>
        <p:spPr>
          <a:xfrm>
            <a:off x="2011680" y="2423160"/>
            <a:ext cx="777240" cy="777240"/>
          </a:xfrm>
          <a:prstGeom prst="rect">
            <a:avLst/>
          </a:prstGeom>
        </p:spPr>
      </p:pic>
      <p:sp>
        <p:nvSpPr>
          <p:cNvPr id="7" name="C1_t"/>
          <p:cNvSpPr txBox="1"/>
          <p:nvPr/>
        </p:nvSpPr>
        <p:spPr>
          <a:xfrm>
            <a:off x="1051560" y="3566160"/>
            <a:ext cx="2661818" cy="457200"/>
          </a:xfrm>
          <a:prstGeom prst="rect">
            <a:avLst/>
          </a:prstGeom>
          <a:noFill/>
          <a:ln/>
        </p:spPr>
        <p:txBody>
          <a:bodyPr wrap="square" lIns="0" tIns="0" rIns="0" bIns="0" rtlCol="0" anchor="t"/>
          <a:lstStyle/>
          <a:p>
            <a:pPr indent="0" marL="0">
              <a:buNone/>
            </a:pPr>
            <a:r>
              <a:rPr lang="en-US" sz="1900" b="1" dirty="0">
                <a:solidFill>
                  <a:schemeClr val="tx1"/>
                </a:solidFill>
              </a:rPr>
              <a:t>Création graphique</a:t>
            </a:r>
            <a:endParaRPr lang="en-US" sz="1900" dirty="0"/>
          </a:p>
        </p:txBody>
      </p:sp>
      <p:sp>
        <p:nvSpPr>
          <p:cNvPr id="8" name="C1_d"/>
          <p:cNvSpPr txBox="1"/>
          <p:nvPr/>
        </p:nvSpPr>
        <p:spPr>
          <a:xfrm>
            <a:off x="1051560" y="4069080"/>
            <a:ext cx="2844698" cy="1097280"/>
          </a:xfrm>
          <a:prstGeom prst="rect">
            <a:avLst/>
          </a:prstGeom>
          <a:noFill/>
          <a:ln/>
        </p:spPr>
        <p:txBody>
          <a:bodyPr wrap="square" lIns="0" tIns="0" rIns="0" bIns="0" rtlCol="0" anchor="t"/>
          <a:lstStyle/>
          <a:p>
            <a:pPr indent="0" marL="0">
              <a:buNone/>
            </a:pPr>
            <a:r>
              <a:rPr lang="en-US" sz="1400" dirty="0">
                <a:solidFill>
                  <a:schemeClr val="tx2"/>
                </a:solidFill>
              </a:rPr>
              <a:t>Illustrator, Photoshop</a:t>
            </a:r>
            <a:endParaRPr lang="en-US" sz="1400" dirty="0"/>
          </a:p>
        </p:txBody>
      </p:sp>
      <p:sp>
        <p:nvSpPr>
          <p:cNvPr id="9" name="C2_card"/>
          <p:cNvSpPr/>
          <p:nvPr/>
        </p:nvSpPr>
        <p:spPr>
          <a:xfrm>
            <a:off x="4399178" y="2057400"/>
            <a:ext cx="3393338" cy="3108960"/>
          </a:xfrm>
          <a:prstGeom prst="roundRect">
            <a:avLst>
              <a:gd name="adj" fmla="val 3529"/>
            </a:avLst>
          </a:prstGeom>
          <a:solidFill>
            <a:schemeClr val="bg2"/>
          </a:solidFill>
          <a:ln/>
        </p:spPr>
      </p:sp>
      <p:pic>
        <p:nvPicPr>
          <p:cNvPr id="10" name="C2_logo0" descr="/tmp/claude-0/-home-user-HANDY/6bbfc0f3-9363-58e6-a84d-0853f925f572/scratchpad/deck/assets/sw_ae.png">    </p:cNvPr>
          <p:cNvPicPr>
            <a:picLocks noChangeAspect="1"/>
          </p:cNvPicPr>
          <p:nvPr/>
        </p:nvPicPr>
        <p:blipFill>
          <a:blip r:embed="rId3"/>
          <a:stretch>
            <a:fillRect/>
          </a:stretch>
        </p:blipFill>
        <p:spPr>
          <a:xfrm>
            <a:off x="4764938" y="2423160"/>
            <a:ext cx="777240" cy="777240"/>
          </a:xfrm>
          <a:prstGeom prst="rect">
            <a:avLst/>
          </a:prstGeom>
        </p:spPr>
      </p:pic>
      <p:pic>
        <p:nvPicPr>
          <p:cNvPr id="11" name="C2_logo1" descr="/tmp/claude-0/-home-user-HANDY/6bbfc0f3-9363-58e6-a84d-0853f925f572/scratchpad/deck/assets/sw_pr.png">    </p:cNvPr>
          <p:cNvPicPr>
            <a:picLocks noChangeAspect="1"/>
          </p:cNvPicPr>
          <p:nvPr/>
        </p:nvPicPr>
        <p:blipFill>
          <a:blip r:embed="rId4"/>
          <a:stretch>
            <a:fillRect/>
          </a:stretch>
        </p:blipFill>
        <p:spPr>
          <a:xfrm>
            <a:off x="5725058" y="2423160"/>
            <a:ext cx="777240" cy="777240"/>
          </a:xfrm>
          <a:prstGeom prst="rect">
            <a:avLst/>
          </a:prstGeom>
        </p:spPr>
      </p:pic>
      <p:sp>
        <p:nvSpPr>
          <p:cNvPr id="12" name="C2_t"/>
          <p:cNvSpPr txBox="1"/>
          <p:nvPr/>
        </p:nvSpPr>
        <p:spPr>
          <a:xfrm>
            <a:off x="4764938" y="3566160"/>
            <a:ext cx="2661818" cy="457200"/>
          </a:xfrm>
          <a:prstGeom prst="rect">
            <a:avLst/>
          </a:prstGeom>
          <a:noFill/>
          <a:ln/>
        </p:spPr>
        <p:txBody>
          <a:bodyPr wrap="square" lIns="0" tIns="0" rIns="0" bIns="0" rtlCol="0" anchor="t"/>
          <a:lstStyle/>
          <a:p>
            <a:pPr indent="0" marL="0">
              <a:buNone/>
            </a:pPr>
            <a:r>
              <a:rPr lang="en-US" sz="1900" b="1" dirty="0">
                <a:solidFill>
                  <a:schemeClr val="tx1"/>
                </a:solidFill>
              </a:rPr>
              <a:t>Animation et vidéo</a:t>
            </a:r>
            <a:endParaRPr lang="en-US" sz="1900" dirty="0"/>
          </a:p>
        </p:txBody>
      </p:sp>
      <p:sp>
        <p:nvSpPr>
          <p:cNvPr id="13" name="C2_d"/>
          <p:cNvSpPr txBox="1"/>
          <p:nvPr/>
        </p:nvSpPr>
        <p:spPr>
          <a:xfrm>
            <a:off x="4764938" y="4069080"/>
            <a:ext cx="2844698" cy="1097280"/>
          </a:xfrm>
          <a:prstGeom prst="rect">
            <a:avLst/>
          </a:prstGeom>
          <a:noFill/>
          <a:ln/>
        </p:spPr>
        <p:txBody>
          <a:bodyPr wrap="square" lIns="0" tIns="0" rIns="0" bIns="0" rtlCol="0" anchor="t"/>
          <a:lstStyle/>
          <a:p>
            <a:pPr indent="0" marL="0">
              <a:buNone/>
            </a:pPr>
            <a:r>
              <a:rPr lang="en-US" sz="1400" dirty="0">
                <a:solidFill>
                  <a:schemeClr val="tx2"/>
                </a:solidFill>
              </a:rPr>
              <a:t>After Effects, Premiere Pro, Blender</a:t>
            </a:r>
            <a:endParaRPr lang="en-US" sz="1400" dirty="0"/>
          </a:p>
        </p:txBody>
      </p:sp>
      <p:sp>
        <p:nvSpPr>
          <p:cNvPr id="14" name="C3_card"/>
          <p:cNvSpPr/>
          <p:nvPr/>
        </p:nvSpPr>
        <p:spPr>
          <a:xfrm>
            <a:off x="8112557" y="2057400"/>
            <a:ext cx="3393338" cy="3108960"/>
          </a:xfrm>
          <a:prstGeom prst="roundRect">
            <a:avLst>
              <a:gd name="adj" fmla="val 3529"/>
            </a:avLst>
          </a:prstGeom>
          <a:solidFill>
            <a:schemeClr val="bg2"/>
          </a:solidFill>
          <a:ln/>
        </p:spPr>
      </p:sp>
      <p:pic>
        <p:nvPicPr>
          <p:cNvPr id="15" name="C3_logo0" descr="/tmp/claude-0/-home-user-HANDY/6bbfc0f3-9363-58e6-a84d-0853f925f572/scratchpad/deck/assets/sw_dw.png">    </p:cNvPr>
          <p:cNvPicPr>
            <a:picLocks noChangeAspect="1"/>
          </p:cNvPicPr>
          <p:nvPr/>
        </p:nvPicPr>
        <p:blipFill>
          <a:blip r:embed="rId5"/>
          <a:stretch>
            <a:fillRect/>
          </a:stretch>
        </p:blipFill>
        <p:spPr>
          <a:xfrm>
            <a:off x="8478317" y="2423160"/>
            <a:ext cx="777240" cy="777240"/>
          </a:xfrm>
          <a:prstGeom prst="rect">
            <a:avLst/>
          </a:prstGeom>
        </p:spPr>
      </p:pic>
      <p:sp>
        <p:nvSpPr>
          <p:cNvPr id="16" name="C3_t"/>
          <p:cNvSpPr txBox="1"/>
          <p:nvPr/>
        </p:nvSpPr>
        <p:spPr>
          <a:xfrm>
            <a:off x="8478317" y="3566160"/>
            <a:ext cx="2661818" cy="457200"/>
          </a:xfrm>
          <a:prstGeom prst="rect">
            <a:avLst/>
          </a:prstGeom>
          <a:noFill/>
          <a:ln/>
        </p:spPr>
        <p:txBody>
          <a:bodyPr wrap="square" lIns="0" tIns="0" rIns="0" bIns="0" rtlCol="0" anchor="t"/>
          <a:lstStyle/>
          <a:p>
            <a:pPr indent="0" marL="0">
              <a:buNone/>
            </a:pPr>
            <a:r>
              <a:rPr lang="en-US" sz="1900" b="1" dirty="0">
                <a:solidFill>
                  <a:schemeClr val="tx1"/>
                </a:solidFill>
              </a:rPr>
              <a:t>Site web</a:t>
            </a:r>
            <a:endParaRPr lang="en-US" sz="1900" dirty="0"/>
          </a:p>
        </p:txBody>
      </p:sp>
      <p:sp>
        <p:nvSpPr>
          <p:cNvPr id="17" name="C3_d"/>
          <p:cNvSpPr txBox="1"/>
          <p:nvPr/>
        </p:nvSpPr>
        <p:spPr>
          <a:xfrm>
            <a:off x="8478317" y="4069080"/>
            <a:ext cx="2844698" cy="1097280"/>
          </a:xfrm>
          <a:prstGeom prst="rect">
            <a:avLst/>
          </a:prstGeom>
          <a:noFill/>
          <a:ln/>
        </p:spPr>
        <p:txBody>
          <a:bodyPr wrap="square" lIns="0" tIns="0" rIns="0" bIns="0" rtlCol="0" anchor="t"/>
          <a:lstStyle/>
          <a:p>
            <a:pPr indent="0" marL="0">
              <a:buNone/>
            </a:pPr>
            <a:r>
              <a:rPr lang="en-US" sz="1400" dirty="0">
                <a:solidFill>
                  <a:schemeClr val="tx2"/>
                </a:solidFill>
              </a:rPr>
              <a:t>Dreamweaver, HTML, CSS, JavaScript</a:t>
            </a:r>
            <a:endParaRPr lang="en-US" sz="1400" dirty="0"/>
          </a:p>
        </p:txBody>
      </p:sp>
      <p:sp>
        <p:nvSpPr>
          <p:cNvPr id="1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childTnLst>
                          </p:cTn>
                        </p:par>
                      </p:childTnLst>
                    </p:cTn>
                  </p:par>
                  <p:par>
                    <p:cTn id="42" fill="hold">
                      <p:stCondLst>
                        <p:cond delay="indefinite"/>
                      </p:stCondLst>
                      <p:childTnLst>
                        <p:par>
                          <p:cTn id="43" fill="hold">
                            <p:stCondLst>
                              <p:cond delay="0"/>
                            </p:stCondLst>
                            <p:childTnLst>
                              <p:par>
                                <p:cTn id="44" presetID="10" presetClass="entr" presetSubtype="0" accel="0" decel="10000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childTnLst>
                          </p:cTn>
                        </p:par>
                      </p:childTnLst>
                    </p:cTn>
                  </p:par>
                  <p:par>
                    <p:cTn id="69" fill="hold">
                      <p:stCondLst>
                        <p:cond delay="indefinite"/>
                      </p:stCondLst>
                      <p:childTnLst>
                        <p:par>
                          <p:cTn id="70" fill="hold">
                            <p:stCondLst>
                              <p:cond delay="0"/>
                            </p:stCondLst>
                            <p:childTnLst>
                              <p:par>
                                <p:cTn id="71" presetID="10" presetClass="entr" presetSubtype="0" accel="0" decel="100000" fill="hold" grpId="0"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4" presetID="0" presetClass="path" presetSubtype="0" accel="0" decel="100000" fill="hold" grpId="1" nodeType="withEffect">
                                  <p:stCondLst>
                                    <p:cond delay="0"/>
                                  </p:stCondLst>
                                  <p:childTnLst>
                                    <p:animMotion origin="layout" path="M 0 0.02778 L 0 0 E" pathEditMode="relative" rAng="0" ptsTypes="AA">
                                      <p:cBhvr>
                                        <p:cTn id="75" dur="500" fill="hold"/>
                                        <p:tgtEl>
                                          <p:spTgt spid="14"/>
                                        </p:tgtEl>
                                        <p:attrNameLst>
                                          <p:attrName>ppt_x</p:attrName>
                                          <p:attrName>ppt_y</p:attrName>
                                        </p:attrNameLst>
                                      </p:cBhvr>
                                    </p:animMotion>
                                  </p:childTnLst>
                                </p:cTn>
                              </p:par>
                              <p:par>
                                <p:cTn id="76" presetID="10" presetClass="entr" presetSubtype="0" accel="0" decel="10000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0" presetClass="path" presetSubtype="0" accel="0" decel="100000" fill="hold" grpId="1" nodeType="withEffect">
                                  <p:stCondLst>
                                    <p:cond delay="0"/>
                                  </p:stCondLst>
                                  <p:childTnLst>
                                    <p:animMotion origin="layout" path="M 0 0.02778 L 0 0 E" pathEditMode="relative" rAng="0" ptsTypes="AA">
                                      <p:cBhvr>
                                        <p:cTn id="80" dur="500" fill="hold"/>
                                        <p:tgtEl>
                                          <p:spTgt spid="15"/>
                                        </p:tgtEl>
                                        <p:attrNameLst>
                                          <p:attrName>ppt_x</p:attrName>
                                          <p:attrName>ppt_y</p:attrName>
                                        </p:attrNameLst>
                                      </p:cBhvr>
                                    </p:animMotion>
                                  </p:childTnLst>
                                </p:cTn>
                              </p:par>
                              <p:par>
                                <p:cTn id="81" presetID="10" presetClass="entr" presetSubtype="0" accel="0" decel="100000"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fade">
                                      <p:cBhvr>
                                        <p:cTn id="83" dur="500"/>
                                        <p:tgtEl>
                                          <p:spTgt spid="16"/>
                                        </p:tgtEl>
                                      </p:cBhvr>
                                    </p:animEffect>
                                  </p:childTnLst>
                                </p:cTn>
                              </p:par>
                              <p:par>
                                <p:cTn id="84" presetID="0" presetClass="path" presetSubtype="0" accel="0" decel="100000" fill="hold" grpId="1" nodeType="withEffect">
                                  <p:stCondLst>
                                    <p:cond delay="0"/>
                                  </p:stCondLst>
                                  <p:childTnLst>
                                    <p:animMotion origin="layout" path="M 0 0.02778 L 0 0 E" pathEditMode="relative" rAng="0" ptsTypes="AA">
                                      <p:cBhvr>
                                        <p:cTn id="85" dur="500" fill="hold"/>
                                        <p:tgtEl>
                                          <p:spTgt spid="16"/>
                                        </p:tgtEl>
                                        <p:attrNameLst>
                                          <p:attrName>ppt_x</p:attrName>
                                          <p:attrName>ppt_y</p:attrName>
                                        </p:attrNameLst>
                                      </p:cBhvr>
                                    </p:animMotion>
                                  </p:childTnLst>
                                </p:cTn>
                              </p:par>
                              <p:par>
                                <p:cTn id="86" presetID="10" presetClass="entr" presetSubtype="0" accel="0" decel="100000" fill="hold" grpId="0" nodeType="withEffect">
                                  <p:stCondLst>
                                    <p:cond delay="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500"/>
                                        <p:tgtEl>
                                          <p:spTgt spid="17"/>
                                        </p:tgtEl>
                                      </p:cBhvr>
                                    </p:animEffect>
                                  </p:childTnLst>
                                </p:cTn>
                              </p:par>
                              <p:par>
                                <p:cTn id="89" presetID="0" presetClass="path" presetSubtype="0" accel="0" decel="100000" fill="hold" grpId="1" nodeType="withEffect">
                                  <p:stCondLst>
                                    <p:cond delay="0"/>
                                  </p:stCondLst>
                                  <p:childTnLst>
                                    <p:animMotion origin="layout" path="M 0 0.02778 L 0 0 E" pathEditMode="relative" rAng="0" ptsTypes="AA">
                                      <p:cBhvr>
                                        <p:cTn id="90" dur="500" fill="hold"/>
                                        <p:tgtEl>
                                          <p:spTgt spid="1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8" grpId="0" animBg="1"/>
      <p:bldP spid="8" grpId="1" animBg="1"/>
      <p:bldP spid="12" grpId="0" animBg="1"/>
      <p:bldP spid="12" grpId="1" animBg="1"/>
      <p:bldP spid="13" grpId="0" animBg="1"/>
      <p:bldP spid="13" grpId="1" animBg="1"/>
      <p:bldP spid="16" grpId="0" animBg="1"/>
      <p:bldP spid="16" grpId="1" animBg="1"/>
      <p:bldP spid="17" grpId="0" animBg="1"/>
      <p:bldP spid="17"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COÛT DU PROJET</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Estimation budgétaire</a:t>
            </a:r>
            <a:endParaRPr lang="en-US" sz="3000" dirty="0"/>
          </a:p>
        </p:txBody>
      </p:sp>
      <p:sp>
        <p:nvSpPr>
          <p:cNvPr id="4" name="C1_card"/>
          <p:cNvSpPr/>
          <p:nvPr/>
        </p:nvSpPr>
        <p:spPr>
          <a:xfrm>
            <a:off x="685800" y="2057400"/>
            <a:ext cx="5669280" cy="3657600"/>
          </a:xfrm>
          <a:prstGeom prst="roundRect">
            <a:avLst>
              <a:gd name="adj" fmla="val 3000"/>
            </a:avLst>
          </a:prstGeom>
          <a:solidFill>
            <a:schemeClr val="tx1"/>
          </a:solidFill>
          <a:ln/>
        </p:spPr>
      </p:sp>
      <p:pic>
        <p:nvPicPr>
          <p:cNvPr id="5" name="C1_ico" descr="preencoded.png">    </p:cNvPr>
          <p:cNvPicPr>
            <a:picLocks noChangeAspect="1"/>
          </p:cNvPicPr>
          <p:nvPr/>
        </p:nvPicPr>
        <p:blipFill>
          <a:blip r:embed="rId1"/>
          <a:stretch>
            <a:fillRect/>
          </a:stretch>
        </p:blipFill>
        <p:spPr>
          <a:xfrm>
            <a:off x="1143000" y="2423160"/>
            <a:ext cx="685800" cy="685800"/>
          </a:xfrm>
          <a:prstGeom prst="rect">
            <a:avLst/>
          </a:prstGeom>
        </p:spPr>
      </p:pic>
      <p:sp>
        <p:nvSpPr>
          <p:cNvPr id="6" name="C1_num"/>
          <p:cNvSpPr txBox="1"/>
          <p:nvPr/>
        </p:nvSpPr>
        <p:spPr>
          <a:xfrm>
            <a:off x="1143000" y="3337560"/>
            <a:ext cx="4937760" cy="1005840"/>
          </a:xfrm>
          <a:prstGeom prst="rect">
            <a:avLst/>
          </a:prstGeom>
          <a:noFill/>
          <a:ln/>
        </p:spPr>
        <p:txBody>
          <a:bodyPr wrap="square" lIns="0" tIns="0" rIns="0" bIns="0" rtlCol="0" anchor="t"/>
          <a:lstStyle/>
          <a:p>
            <a:pPr indent="0" marL="0">
              <a:buNone/>
            </a:pPr>
            <a:r>
              <a:rPr lang="en-US" sz="5400" dirty="0">
                <a:solidFill>
                  <a:schemeClr val="bg1"/>
                </a:solidFill>
                <a:latin typeface="Poppins ExtraBold" pitchFamily="34" charset="0"/>
                <a:ea typeface="Poppins ExtraBold" pitchFamily="34" charset="-122"/>
                <a:cs typeface="Poppins ExtraBold" pitchFamily="34" charset="-120"/>
              </a:rPr>
              <a:t>4 800 000</a:t>
            </a:r>
            <a:endParaRPr lang="en-US" sz="5400" dirty="0"/>
          </a:p>
        </p:txBody>
      </p:sp>
      <p:sp>
        <p:nvSpPr>
          <p:cNvPr id="7" name="C1_lab"/>
          <p:cNvSpPr txBox="1"/>
          <p:nvPr/>
        </p:nvSpPr>
        <p:spPr>
          <a:xfrm>
            <a:off x="1143000" y="4434840"/>
            <a:ext cx="4937760" cy="457200"/>
          </a:xfrm>
          <a:prstGeom prst="rect">
            <a:avLst/>
          </a:prstGeom>
          <a:noFill/>
          <a:ln/>
        </p:spPr>
        <p:txBody>
          <a:bodyPr wrap="square" lIns="0" tIns="0" rIns="0" bIns="0" rtlCol="0" anchor="t"/>
          <a:lstStyle/>
          <a:p>
            <a:pPr indent="0" marL="0">
              <a:buNone/>
            </a:pPr>
            <a:r>
              <a:rPr lang="en-US" sz="1800" dirty="0">
                <a:solidFill>
                  <a:schemeClr val="accent2"/>
                </a:solidFill>
              </a:rPr>
              <a:t>FCFA, coût global estimé</a:t>
            </a:r>
            <a:endParaRPr lang="en-US" sz="1800" dirty="0"/>
          </a:p>
        </p:txBody>
      </p:sp>
      <p:pic>
        <p:nvPicPr>
          <p:cNvPr id="8" name="C2_ck0" descr="preencoded.png">    </p:cNvPr>
          <p:cNvPicPr>
            <a:picLocks noChangeAspect="1"/>
          </p:cNvPicPr>
          <p:nvPr/>
        </p:nvPicPr>
        <p:blipFill>
          <a:blip r:embed="rId2"/>
          <a:stretch>
            <a:fillRect/>
          </a:stretch>
        </p:blipFill>
        <p:spPr>
          <a:xfrm>
            <a:off x="6766560" y="2221992"/>
            <a:ext cx="411480" cy="411480"/>
          </a:xfrm>
          <a:prstGeom prst="rect">
            <a:avLst/>
          </a:prstGeom>
        </p:spPr>
      </p:pic>
      <p:sp>
        <p:nvSpPr>
          <p:cNvPr id="9" name="C2_t0"/>
          <p:cNvSpPr txBox="1"/>
          <p:nvPr/>
        </p:nvSpPr>
        <p:spPr>
          <a:xfrm>
            <a:off x="7360920" y="2148840"/>
            <a:ext cx="4160520" cy="548640"/>
          </a:xfrm>
          <a:prstGeom prst="rect">
            <a:avLst/>
          </a:prstGeom>
          <a:noFill/>
          <a:ln/>
        </p:spPr>
        <p:txBody>
          <a:bodyPr wrap="square" lIns="0" tIns="0" rIns="0" bIns="0" rtlCol="0" anchor="ctr"/>
          <a:lstStyle/>
          <a:p>
            <a:pPr indent="0" marL="0">
              <a:buNone/>
            </a:pPr>
            <a:r>
              <a:rPr lang="en-US" sz="1700" dirty="0">
                <a:solidFill>
                  <a:schemeClr val="tx1"/>
                </a:solidFill>
              </a:rPr>
              <a:t>Identité visuelle : logotype et charte</a:t>
            </a:r>
            <a:endParaRPr lang="en-US" sz="1700" dirty="0"/>
          </a:p>
        </p:txBody>
      </p:sp>
      <p:pic>
        <p:nvPicPr>
          <p:cNvPr id="10" name="C2_ck1" descr="preencoded.png">    </p:cNvPr>
          <p:cNvPicPr>
            <a:picLocks noChangeAspect="1"/>
          </p:cNvPicPr>
          <p:nvPr/>
        </p:nvPicPr>
        <p:blipFill>
          <a:blip r:embed="rId3"/>
          <a:stretch>
            <a:fillRect/>
          </a:stretch>
        </p:blipFill>
        <p:spPr>
          <a:xfrm>
            <a:off x="6766560" y="3118104"/>
            <a:ext cx="411480" cy="411480"/>
          </a:xfrm>
          <a:prstGeom prst="rect">
            <a:avLst/>
          </a:prstGeom>
        </p:spPr>
      </p:pic>
      <p:sp>
        <p:nvSpPr>
          <p:cNvPr id="11" name="C2_t1"/>
          <p:cNvSpPr txBox="1"/>
          <p:nvPr/>
        </p:nvSpPr>
        <p:spPr>
          <a:xfrm>
            <a:off x="7360920" y="3044952"/>
            <a:ext cx="4160520" cy="548640"/>
          </a:xfrm>
          <a:prstGeom prst="rect">
            <a:avLst/>
          </a:prstGeom>
          <a:noFill/>
          <a:ln/>
        </p:spPr>
        <p:txBody>
          <a:bodyPr wrap="square" lIns="0" tIns="0" rIns="0" bIns="0" rtlCol="0" anchor="ctr"/>
          <a:lstStyle/>
          <a:p>
            <a:pPr indent="0" marL="0">
              <a:buNone/>
            </a:pPr>
            <a:r>
              <a:rPr lang="en-US" sz="1700" dirty="0">
                <a:solidFill>
                  <a:schemeClr val="tx1"/>
                </a:solidFill>
              </a:rPr>
              <a:t>Maquettes et spots 2D, 3D</a:t>
            </a:r>
            <a:endParaRPr lang="en-US" sz="1700" dirty="0"/>
          </a:p>
        </p:txBody>
      </p:sp>
      <p:pic>
        <p:nvPicPr>
          <p:cNvPr id="12" name="C2_ck2" descr="preencoded.png">    </p:cNvPr>
          <p:cNvPicPr>
            <a:picLocks noChangeAspect="1"/>
          </p:cNvPicPr>
          <p:nvPr/>
        </p:nvPicPr>
        <p:blipFill>
          <a:blip r:embed="rId4"/>
          <a:stretch>
            <a:fillRect/>
          </a:stretch>
        </p:blipFill>
        <p:spPr>
          <a:xfrm>
            <a:off x="6766560" y="4014216"/>
            <a:ext cx="411480" cy="411480"/>
          </a:xfrm>
          <a:prstGeom prst="rect">
            <a:avLst/>
          </a:prstGeom>
        </p:spPr>
      </p:pic>
      <p:sp>
        <p:nvSpPr>
          <p:cNvPr id="13" name="C2_t2"/>
          <p:cNvSpPr txBox="1"/>
          <p:nvPr/>
        </p:nvSpPr>
        <p:spPr>
          <a:xfrm>
            <a:off x="7360920" y="3941064"/>
            <a:ext cx="4160520" cy="548640"/>
          </a:xfrm>
          <a:prstGeom prst="rect">
            <a:avLst/>
          </a:prstGeom>
          <a:noFill/>
          <a:ln/>
        </p:spPr>
        <p:txBody>
          <a:bodyPr wrap="square" lIns="0" tIns="0" rIns="0" bIns="0" rtlCol="0" anchor="ctr"/>
          <a:lstStyle/>
          <a:p>
            <a:pPr indent="0" marL="0">
              <a:buNone/>
            </a:pPr>
            <a:r>
              <a:rPr lang="en-US" sz="1700" dirty="0">
                <a:solidFill>
                  <a:schemeClr val="tx1"/>
                </a:solidFill>
              </a:rPr>
              <a:t>Supports imprimés et gadgets</a:t>
            </a:r>
            <a:endParaRPr lang="en-US" sz="1700" dirty="0"/>
          </a:p>
        </p:txBody>
      </p:sp>
      <p:pic>
        <p:nvPicPr>
          <p:cNvPr id="14" name="C2_ck3" descr="preencoded.png">    </p:cNvPr>
          <p:cNvPicPr>
            <a:picLocks noChangeAspect="1"/>
          </p:cNvPicPr>
          <p:nvPr/>
        </p:nvPicPr>
        <p:blipFill>
          <a:blip r:embed="rId5"/>
          <a:stretch>
            <a:fillRect/>
          </a:stretch>
        </p:blipFill>
        <p:spPr>
          <a:xfrm>
            <a:off x="6766560" y="4910328"/>
            <a:ext cx="411480" cy="411480"/>
          </a:xfrm>
          <a:prstGeom prst="rect">
            <a:avLst/>
          </a:prstGeom>
        </p:spPr>
      </p:pic>
      <p:sp>
        <p:nvSpPr>
          <p:cNvPr id="15" name="C2_t3"/>
          <p:cNvSpPr txBox="1"/>
          <p:nvPr/>
        </p:nvSpPr>
        <p:spPr>
          <a:xfrm>
            <a:off x="7360920" y="4837176"/>
            <a:ext cx="4160520" cy="548640"/>
          </a:xfrm>
          <a:prstGeom prst="rect">
            <a:avLst/>
          </a:prstGeom>
          <a:noFill/>
          <a:ln/>
        </p:spPr>
        <p:txBody>
          <a:bodyPr wrap="square" lIns="0" tIns="0" rIns="0" bIns="0" rtlCol="0" anchor="ctr"/>
          <a:lstStyle/>
          <a:p>
            <a:pPr indent="0" marL="0">
              <a:buNone/>
            </a:pPr>
            <a:r>
              <a:rPr lang="en-US" sz="1700" dirty="0">
                <a:solidFill>
                  <a:schemeClr val="tx1"/>
                </a:solidFill>
              </a:rPr>
              <a:t>Site web et hébergement</a:t>
            </a:r>
            <a:endParaRPr lang="en-US" sz="1700" dirty="0"/>
          </a:p>
        </p:txBody>
      </p:sp>
      <p:sp>
        <p:nvSpPr>
          <p:cNvPr id="1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7" grpId="0" animBg="1"/>
      <p:bldP spid="7" grpId="1" animBg="1"/>
      <p:bldP spid="9" grpId="0" animBg="1"/>
      <p:bldP spid="9" grpId="1" animBg="1"/>
      <p:bldP spid="11" grpId="0" animBg="1"/>
      <p:bldP spid="11" grpId="1" animBg="1"/>
      <p:bldP spid="13" grpId="0" animBg="1"/>
      <p:bldP spid="13" grpId="1" animBg="1"/>
      <p:bldP spid="15" grpId="0" animBg="1"/>
      <p:bldP spid="15"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04</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Réalisation des supports</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AFFICHE 1</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brassage Côte d’Ivoire – États-Unis</a:t>
            </a:r>
            <a:endParaRPr lang="en-US" sz="3000" dirty="0"/>
          </a:p>
        </p:txBody>
      </p:sp>
      <p:pic>
        <p:nvPicPr>
          <p:cNvPr id="4" name="C1_a" descr="Visuel final">    </p:cNvPr>
          <p:cNvPicPr>
            <a:picLocks noChangeAspect="1"/>
          </p:cNvPicPr>
          <p:nvPr/>
        </p:nvPicPr>
        <p:blipFill>
          <a:blip r:embed="rId1"/>
          <a:stretch>
            <a:fillRect/>
          </a:stretch>
        </p:blipFill>
        <p:spPr>
          <a:xfrm>
            <a:off x="685800" y="2052371"/>
            <a:ext cx="5227168" cy="3484778"/>
          </a:xfrm>
          <a:prstGeom prst="rect">
            <a:avLst/>
          </a:prstGeom>
          <a:effectLst>
            <a:outerShdw sx="100000" sy="100000" kx="0" ky="0" algn="bl" rotWithShape="0" blurRad="177800" dist="50800" dir="5400000">
              <a:srgbClr val="1D3557">
                <a:alpha val="16000"/>
              </a:srgbClr>
            </a:outerShdw>
          </a:effectLst>
        </p:spPr>
      </p:pic>
      <p:sp>
        <p:nvSpPr>
          <p:cNvPr id="5" name="C1_ca"/>
          <p:cNvSpPr txBox="1"/>
          <p:nvPr/>
        </p:nvSpPr>
        <p:spPr>
          <a:xfrm>
            <a:off x="685800" y="5646877"/>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Visuel final</a:t>
            </a:r>
            <a:endParaRPr lang="en-US" sz="1100" dirty="0"/>
          </a:p>
        </p:txBody>
      </p:sp>
      <p:pic>
        <p:nvPicPr>
          <p:cNvPr id="6" name="C2_b" descr="Mise en situation">    </p:cNvPr>
          <p:cNvPicPr>
            <a:picLocks noChangeAspect="1"/>
          </p:cNvPicPr>
          <p:nvPr/>
        </p:nvPicPr>
        <p:blipFill>
          <a:blip r:embed="rId2"/>
          <a:stretch>
            <a:fillRect/>
          </a:stretch>
        </p:blipFill>
        <p:spPr>
          <a:xfrm>
            <a:off x="6278728" y="2053460"/>
            <a:ext cx="5227168" cy="3482600"/>
          </a:xfrm>
          <a:prstGeom prst="rect">
            <a:avLst/>
          </a:prstGeom>
          <a:effectLst>
            <a:outerShdw sx="100000" sy="100000" kx="0" ky="0" algn="bl" rotWithShape="0" blurRad="177800" dist="50800" dir="5400000">
              <a:srgbClr val="1D3557">
                <a:alpha val="16000"/>
              </a:srgbClr>
            </a:outerShdw>
          </a:effectLst>
        </p:spPr>
      </p:pic>
      <p:sp>
        <p:nvSpPr>
          <p:cNvPr id="7" name="C2_cb"/>
          <p:cNvSpPr txBox="1"/>
          <p:nvPr/>
        </p:nvSpPr>
        <p:spPr>
          <a:xfrm>
            <a:off x="6278728" y="5645788"/>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AFFICHE 2</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message persuasif et mémorable</a:t>
            </a:r>
            <a:endParaRPr lang="en-US" sz="3000" dirty="0"/>
          </a:p>
        </p:txBody>
      </p:sp>
      <p:pic>
        <p:nvPicPr>
          <p:cNvPr id="4" name="C1_a" descr="Visuel final">    </p:cNvPr>
          <p:cNvPicPr>
            <a:picLocks noChangeAspect="1"/>
          </p:cNvPicPr>
          <p:nvPr/>
        </p:nvPicPr>
        <p:blipFill>
          <a:blip r:embed="rId1"/>
          <a:stretch>
            <a:fillRect/>
          </a:stretch>
        </p:blipFill>
        <p:spPr>
          <a:xfrm>
            <a:off x="685800" y="2052371"/>
            <a:ext cx="5227168" cy="3484778"/>
          </a:xfrm>
          <a:prstGeom prst="rect">
            <a:avLst/>
          </a:prstGeom>
          <a:effectLst>
            <a:outerShdw sx="100000" sy="100000" kx="0" ky="0" algn="bl" rotWithShape="0" blurRad="177800" dist="50800" dir="5400000">
              <a:srgbClr val="1D3557">
                <a:alpha val="16000"/>
              </a:srgbClr>
            </a:outerShdw>
          </a:effectLst>
        </p:spPr>
      </p:pic>
      <p:sp>
        <p:nvSpPr>
          <p:cNvPr id="5" name="C1_ca"/>
          <p:cNvSpPr txBox="1"/>
          <p:nvPr/>
        </p:nvSpPr>
        <p:spPr>
          <a:xfrm>
            <a:off x="685800" y="5646877"/>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Visuel final</a:t>
            </a:r>
            <a:endParaRPr lang="en-US" sz="1100" dirty="0"/>
          </a:p>
        </p:txBody>
      </p:sp>
      <p:pic>
        <p:nvPicPr>
          <p:cNvPr id="6" name="C2_b" descr="Mise en situation">    </p:cNvPr>
          <p:cNvPicPr>
            <a:picLocks noChangeAspect="1"/>
          </p:cNvPicPr>
          <p:nvPr/>
        </p:nvPicPr>
        <p:blipFill>
          <a:blip r:embed="rId2"/>
          <a:stretch>
            <a:fillRect/>
          </a:stretch>
        </p:blipFill>
        <p:spPr>
          <a:xfrm>
            <a:off x="6278728" y="2047880"/>
            <a:ext cx="5227168" cy="3493760"/>
          </a:xfrm>
          <a:prstGeom prst="rect">
            <a:avLst/>
          </a:prstGeom>
          <a:effectLst>
            <a:outerShdw sx="100000" sy="100000" kx="0" ky="0" algn="bl" rotWithShape="0" blurRad="177800" dist="50800" dir="5400000">
              <a:srgbClr val="1D3557">
                <a:alpha val="16000"/>
              </a:srgbClr>
            </a:outerShdw>
          </a:effectLst>
        </p:spPr>
      </p:pic>
      <p:sp>
        <p:nvSpPr>
          <p:cNvPr id="7" name="C2_cb"/>
          <p:cNvSpPr txBox="1"/>
          <p:nvPr/>
        </p:nvSpPr>
        <p:spPr>
          <a:xfrm>
            <a:off x="6278728" y="5651368"/>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FLYER</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tarifs en un coup d’œil</a:t>
            </a:r>
            <a:endParaRPr lang="en-US" sz="3000" dirty="0"/>
          </a:p>
        </p:txBody>
      </p:sp>
      <p:pic>
        <p:nvPicPr>
          <p:cNvPr id="4" name="C1_a" descr="Flyer final">    </p:cNvPr>
          <p:cNvPicPr>
            <a:picLocks noChangeAspect="1"/>
          </p:cNvPicPr>
          <p:nvPr/>
        </p:nvPicPr>
        <p:blipFill>
          <a:blip r:embed="rId1"/>
          <a:stretch>
            <a:fillRect/>
          </a:stretch>
        </p:blipFill>
        <p:spPr>
          <a:xfrm>
            <a:off x="685800" y="1943829"/>
            <a:ext cx="5227168" cy="3701863"/>
          </a:xfrm>
          <a:prstGeom prst="rect">
            <a:avLst/>
          </a:prstGeom>
          <a:effectLst>
            <a:outerShdw sx="100000" sy="100000" kx="0" ky="0" algn="bl" rotWithShape="0" blurRad="177800" dist="50800" dir="5400000">
              <a:srgbClr val="1D3557">
                <a:alpha val="16000"/>
              </a:srgbClr>
            </a:outerShdw>
          </a:effectLst>
        </p:spPr>
      </p:pic>
      <p:sp>
        <p:nvSpPr>
          <p:cNvPr id="5" name="C1_ca"/>
          <p:cNvSpPr txBox="1"/>
          <p:nvPr/>
        </p:nvSpPr>
        <p:spPr>
          <a:xfrm>
            <a:off x="685800" y="5755419"/>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Flyer final</a:t>
            </a:r>
            <a:endParaRPr lang="en-US" sz="1100" dirty="0"/>
          </a:p>
        </p:txBody>
      </p:sp>
      <p:pic>
        <p:nvPicPr>
          <p:cNvPr id="6" name="C2_b" descr="Mise en situation">    </p:cNvPr>
          <p:cNvPicPr>
            <a:picLocks noChangeAspect="1"/>
          </p:cNvPicPr>
          <p:nvPr/>
        </p:nvPicPr>
        <p:blipFill>
          <a:blip r:embed="rId2"/>
          <a:stretch>
            <a:fillRect/>
          </a:stretch>
        </p:blipFill>
        <p:spPr>
          <a:xfrm>
            <a:off x="6278728" y="1948369"/>
            <a:ext cx="5227168" cy="3692782"/>
          </a:xfrm>
          <a:prstGeom prst="rect">
            <a:avLst/>
          </a:prstGeom>
          <a:effectLst>
            <a:outerShdw sx="100000" sy="100000" kx="0" ky="0" algn="bl" rotWithShape="0" blurRad="177800" dist="50800" dir="5400000">
              <a:srgbClr val="1D3557">
                <a:alpha val="16000"/>
              </a:srgbClr>
            </a:outerShdw>
          </a:effectLst>
        </p:spPr>
      </p:pic>
      <p:sp>
        <p:nvSpPr>
          <p:cNvPr id="7" name="C2_cb"/>
          <p:cNvSpPr txBox="1"/>
          <p:nvPr/>
        </p:nvSpPr>
        <p:spPr>
          <a:xfrm>
            <a:off x="6278728" y="5750879"/>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DÉPLIANT</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dépliant trois volets</a:t>
            </a:r>
            <a:endParaRPr lang="en-US" sz="3000" dirty="0"/>
          </a:p>
        </p:txBody>
      </p:sp>
      <p:pic>
        <p:nvPicPr>
          <p:cNvPr id="4" name="C1_mock" descr="Mise en situation du dépliant">    </p:cNvPr>
          <p:cNvPicPr>
            <a:picLocks noChangeAspect="1"/>
          </p:cNvPicPr>
          <p:nvPr/>
        </p:nvPicPr>
        <p:blipFill>
          <a:blip r:embed="rId1"/>
          <a:stretch>
            <a:fillRect/>
          </a:stretch>
        </p:blipFill>
        <p:spPr>
          <a:xfrm>
            <a:off x="685800" y="1874520"/>
            <a:ext cx="5181600" cy="388620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870448"/>
            <a:ext cx="5181600"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pic>
        <p:nvPicPr>
          <p:cNvPr id="6" name="C2_ext" descr="Dépliant, face extérieure">    </p:cNvPr>
          <p:cNvPicPr>
            <a:picLocks noChangeAspect="1"/>
          </p:cNvPicPr>
          <p:nvPr/>
        </p:nvPicPr>
        <p:blipFill>
          <a:blip r:embed="rId2"/>
          <a:stretch>
            <a:fillRect/>
          </a:stretch>
        </p:blipFill>
        <p:spPr>
          <a:xfrm>
            <a:off x="7086600" y="1874520"/>
            <a:ext cx="2565690" cy="1828800"/>
          </a:xfrm>
          <a:prstGeom prst="rect">
            <a:avLst/>
          </a:prstGeom>
          <a:effectLst>
            <a:outerShdw sx="100000" sy="100000" kx="0" ky="0" algn="bl" rotWithShape="0" blurRad="177800" dist="50800" dir="5400000">
              <a:srgbClr val="1D3557">
                <a:alpha val="16000"/>
              </a:srgbClr>
            </a:outerShdw>
          </a:effectLst>
        </p:spPr>
      </p:pic>
      <p:sp>
        <p:nvSpPr>
          <p:cNvPr id="7" name="C2_cap1"/>
          <p:cNvSpPr txBox="1"/>
          <p:nvPr/>
        </p:nvSpPr>
        <p:spPr>
          <a:xfrm>
            <a:off x="7086600" y="3776472"/>
            <a:ext cx="2565690" cy="274320"/>
          </a:xfrm>
          <a:prstGeom prst="rect">
            <a:avLst/>
          </a:prstGeom>
          <a:noFill/>
          <a:ln/>
        </p:spPr>
        <p:txBody>
          <a:bodyPr wrap="square" lIns="0" tIns="0" rIns="0" bIns="0" rtlCol="0" anchor="t"/>
          <a:lstStyle/>
          <a:p>
            <a:pPr algn="l" indent="0" marL="0">
              <a:buNone/>
            </a:pPr>
            <a:r>
              <a:rPr lang="en-US" sz="1100" dirty="0">
                <a:solidFill>
                  <a:schemeClr val="accent4"/>
                </a:solidFill>
              </a:rPr>
              <a:t>Face extérieure</a:t>
            </a:r>
            <a:endParaRPr lang="en-US" sz="1100" dirty="0"/>
          </a:p>
        </p:txBody>
      </p:sp>
      <p:pic>
        <p:nvPicPr>
          <p:cNvPr id="8" name="C3_int" descr="Dépliant, face intérieure">    </p:cNvPr>
          <p:cNvPicPr>
            <a:picLocks noChangeAspect="1"/>
          </p:cNvPicPr>
          <p:nvPr/>
        </p:nvPicPr>
        <p:blipFill>
          <a:blip r:embed="rId3"/>
          <a:stretch>
            <a:fillRect/>
          </a:stretch>
        </p:blipFill>
        <p:spPr>
          <a:xfrm>
            <a:off x="7086600" y="4069080"/>
            <a:ext cx="2373263" cy="1691640"/>
          </a:xfrm>
          <a:prstGeom prst="rect">
            <a:avLst/>
          </a:prstGeom>
          <a:effectLst>
            <a:outerShdw sx="100000" sy="100000" kx="0" ky="0" algn="bl" rotWithShape="0" blurRad="177800" dist="50800" dir="5400000">
              <a:srgbClr val="1D3557">
                <a:alpha val="16000"/>
              </a:srgbClr>
            </a:outerShdw>
          </a:effectLst>
        </p:spPr>
      </p:pic>
      <p:sp>
        <p:nvSpPr>
          <p:cNvPr id="9" name="C3_cap2"/>
          <p:cNvSpPr txBox="1"/>
          <p:nvPr/>
        </p:nvSpPr>
        <p:spPr>
          <a:xfrm>
            <a:off x="7086600" y="5833872"/>
            <a:ext cx="2373263" cy="274320"/>
          </a:xfrm>
          <a:prstGeom prst="rect">
            <a:avLst/>
          </a:prstGeom>
          <a:noFill/>
          <a:ln/>
        </p:spPr>
        <p:txBody>
          <a:bodyPr wrap="square" lIns="0" tIns="0" rIns="0" bIns="0" rtlCol="0" anchor="t"/>
          <a:lstStyle/>
          <a:p>
            <a:pPr algn="l" indent="0" marL="0">
              <a:buNone/>
            </a:pPr>
            <a:r>
              <a:rPr lang="en-US" sz="1100" dirty="0">
                <a:solidFill>
                  <a:schemeClr val="accent4"/>
                </a:solidFill>
              </a:rPr>
              <a:t>Face intérieure</a:t>
            </a:r>
            <a:endParaRPr lang="en-US" sz="1100" dirty="0"/>
          </a:p>
        </p:txBody>
      </p:sp>
      <p:sp>
        <p:nvSpPr>
          <p:cNvPr id="1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0" decel="10000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0" presetClass="path" presetSubtype="0" accel="0" decel="100000" fill="hold" grpId="1" nodeType="withEffect">
                                  <p:stCondLst>
                                    <p:cond delay="0"/>
                                  </p:stCondLst>
                                  <p:childTnLst>
                                    <p:animMotion origin="layout" path="M 0 0.02778 L 0 0 E" pathEditMode="relative" rAng="0" ptsTypes="AA">
                                      <p:cBhvr>
                                        <p:cTn id="45" dur="500" fill="hold"/>
                                        <p:tgtEl>
                                          <p:spTgt spid="8"/>
                                        </p:tgtEl>
                                        <p:attrNameLst>
                                          <p:attrName>ppt_x</p:attrName>
                                          <p:attrName>ppt_y</p:attrName>
                                        </p:attrNameLst>
                                      </p:cBhvr>
                                    </p:animMotion>
                                  </p:childTnLst>
                                </p:cTn>
                              </p:par>
                              <p:par>
                                <p:cTn id="46" presetID="10" presetClass="entr" presetSubtype="0" accel="0" decel="10000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0" presetClass="path" presetSubtype="0" accel="0" decel="100000" fill="hold" grpId="1" nodeType="withEffect">
                                  <p:stCondLst>
                                    <p:cond delay="0"/>
                                  </p:stCondLst>
                                  <p:childTnLst>
                                    <p:animMotion origin="layout" path="M 0 0.02778 L 0 0 E" pathEditMode="relative" rAng="0" ptsTypes="AA">
                                      <p:cBhvr>
                                        <p:cTn id="50" dur="5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9" grpId="0" animBg="1"/>
      <p:bldP spid="9"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KAKÉMONO</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lecture verticale et hiérarchisée</a:t>
            </a:r>
            <a:endParaRPr lang="en-US" sz="3000" dirty="0"/>
          </a:p>
        </p:txBody>
      </p:sp>
      <p:pic>
        <p:nvPicPr>
          <p:cNvPr id="4" name="C1_k" descr="Kakémono final">    </p:cNvPr>
          <p:cNvPicPr>
            <a:picLocks noChangeAspect="1"/>
          </p:cNvPicPr>
          <p:nvPr/>
        </p:nvPicPr>
        <p:blipFill>
          <a:blip r:embed="rId1"/>
          <a:stretch>
            <a:fillRect/>
          </a:stretch>
        </p:blipFill>
        <p:spPr>
          <a:xfrm>
            <a:off x="685800" y="1783080"/>
            <a:ext cx="1869516" cy="406908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943600"/>
            <a:ext cx="2377440" cy="274320"/>
          </a:xfrm>
          <a:prstGeom prst="rect">
            <a:avLst/>
          </a:prstGeom>
          <a:noFill/>
          <a:ln/>
        </p:spPr>
        <p:txBody>
          <a:bodyPr wrap="square" lIns="0" tIns="0" rIns="0" bIns="0" rtlCol="0" anchor="t"/>
          <a:lstStyle/>
          <a:p>
            <a:pPr algn="l" indent="0" marL="0">
              <a:buNone/>
            </a:pPr>
            <a:r>
              <a:rPr lang="en-US" sz="1100" dirty="0">
                <a:solidFill>
                  <a:schemeClr val="accent4"/>
                </a:solidFill>
              </a:rPr>
              <a:t>Kakémono final</a:t>
            </a:r>
            <a:endParaRPr lang="en-US" sz="1100" dirty="0"/>
          </a:p>
        </p:txBody>
      </p:sp>
      <p:pic>
        <p:nvPicPr>
          <p:cNvPr id="6" name="C2_k" descr="Mise en situation du kakémono">    </p:cNvPr>
          <p:cNvPicPr>
            <a:picLocks noChangeAspect="1"/>
          </p:cNvPicPr>
          <p:nvPr/>
        </p:nvPicPr>
        <p:blipFill>
          <a:blip r:embed="rId2"/>
          <a:stretch>
            <a:fillRect/>
          </a:stretch>
        </p:blipFill>
        <p:spPr>
          <a:xfrm>
            <a:off x="3246120" y="1783080"/>
            <a:ext cx="2958673" cy="4069080"/>
          </a:xfrm>
          <a:prstGeom prst="rect">
            <a:avLst/>
          </a:prstGeom>
          <a:effectLst>
            <a:outerShdw sx="100000" sy="100000" kx="0" ky="0" algn="bl" rotWithShape="0" blurRad="177800" dist="50800" dir="5400000">
              <a:srgbClr val="1D3557">
                <a:alpha val="16000"/>
              </a:srgbClr>
            </a:outerShdw>
          </a:effectLst>
        </p:spPr>
      </p:pic>
      <p:sp>
        <p:nvSpPr>
          <p:cNvPr id="7" name="C2_cap"/>
          <p:cNvSpPr txBox="1"/>
          <p:nvPr/>
        </p:nvSpPr>
        <p:spPr>
          <a:xfrm>
            <a:off x="3246120" y="5943600"/>
            <a:ext cx="2958673"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C3_l0"/>
          <p:cNvSpPr txBox="1"/>
          <p:nvPr/>
        </p:nvSpPr>
        <p:spPr>
          <a:xfrm>
            <a:off x="6766560" y="2011680"/>
            <a:ext cx="4754880"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FORMAT</a:t>
            </a:r>
            <a:endParaRPr lang="en-US" sz="1100" dirty="0"/>
          </a:p>
        </p:txBody>
      </p:sp>
      <p:sp>
        <p:nvSpPr>
          <p:cNvPr id="9" name="C3_v0"/>
          <p:cNvSpPr txBox="1"/>
          <p:nvPr/>
        </p:nvSpPr>
        <p:spPr>
          <a:xfrm>
            <a:off x="6766560" y="2359152"/>
            <a:ext cx="4754880" cy="731520"/>
          </a:xfrm>
          <a:prstGeom prst="rect">
            <a:avLst/>
          </a:prstGeom>
          <a:noFill/>
          <a:ln/>
        </p:spPr>
        <p:txBody>
          <a:bodyPr wrap="square" lIns="0" tIns="0" rIns="0" bIns="0" rtlCol="0" anchor="t"/>
          <a:lstStyle/>
          <a:p>
            <a:pPr indent="0" marL="0">
              <a:buNone/>
            </a:pPr>
            <a:r>
              <a:rPr lang="en-US" sz="1700" dirty="0">
                <a:solidFill>
                  <a:schemeClr val="tx1"/>
                </a:solidFill>
              </a:rPr>
              <a:t>85 × 200 cm</a:t>
            </a:r>
            <a:endParaRPr lang="en-US" sz="1700" dirty="0"/>
          </a:p>
        </p:txBody>
      </p:sp>
      <p:sp>
        <p:nvSpPr>
          <p:cNvPr id="10" name="C3_l1"/>
          <p:cNvSpPr txBox="1"/>
          <p:nvPr/>
        </p:nvSpPr>
        <p:spPr>
          <a:xfrm>
            <a:off x="6766560" y="3200400"/>
            <a:ext cx="4754880"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USAGE</a:t>
            </a:r>
            <a:endParaRPr lang="en-US" sz="1100" dirty="0"/>
          </a:p>
        </p:txBody>
      </p:sp>
      <p:sp>
        <p:nvSpPr>
          <p:cNvPr id="11" name="C3_v1"/>
          <p:cNvSpPr txBox="1"/>
          <p:nvPr/>
        </p:nvSpPr>
        <p:spPr>
          <a:xfrm>
            <a:off x="6766560" y="3547872"/>
            <a:ext cx="4754880" cy="731520"/>
          </a:xfrm>
          <a:prstGeom prst="rect">
            <a:avLst/>
          </a:prstGeom>
          <a:noFill/>
          <a:ln/>
        </p:spPr>
        <p:txBody>
          <a:bodyPr wrap="square" lIns="0" tIns="0" rIns="0" bIns="0" rtlCol="0" anchor="t"/>
          <a:lstStyle/>
          <a:p>
            <a:pPr indent="0" marL="0">
              <a:buNone/>
            </a:pPr>
            <a:r>
              <a:rPr lang="en-US" sz="1700" dirty="0">
                <a:solidFill>
                  <a:schemeClr val="tx1"/>
                </a:solidFill>
              </a:rPr>
              <a:t>Accueil, événements sportifs</a:t>
            </a:r>
            <a:endParaRPr lang="en-US" sz="17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0" decel="10000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0" presetClass="path" presetSubtype="0" accel="0" decel="100000" fill="hold" grpId="1" nodeType="withEffect">
                                  <p:stCondLst>
                                    <p:cond delay="0"/>
                                  </p:stCondLst>
                                  <p:childTnLst>
                                    <p:animMotion origin="layout" path="M 0 0.02778 L 0 0 E" pathEditMode="relative" rAng="0" ptsTypes="AA">
                                      <p:cBhvr>
                                        <p:cTn id="45" dur="500" fill="hold"/>
                                        <p:tgtEl>
                                          <p:spTgt spid="8"/>
                                        </p:tgtEl>
                                        <p:attrNameLst>
                                          <p:attrName>ppt_x</p:attrName>
                                          <p:attrName>ppt_y</p:attrName>
                                        </p:attrNameLst>
                                      </p:cBhvr>
                                    </p:animMotion>
                                  </p:childTnLst>
                                </p:cTn>
                              </p:par>
                              <p:par>
                                <p:cTn id="46" presetID="10" presetClass="entr" presetSubtype="0" accel="0" decel="10000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0" presetClass="path" presetSubtype="0" accel="0" decel="100000" fill="hold" grpId="1" nodeType="withEffect">
                                  <p:stCondLst>
                                    <p:cond delay="0"/>
                                  </p:stCondLst>
                                  <p:childTnLst>
                                    <p:animMotion origin="layout" path="M 0 0.02778 L 0 0 E" pathEditMode="relative" rAng="0" ptsTypes="AA">
                                      <p:cBhvr>
                                        <p:cTn id="50" dur="500" fill="hold"/>
                                        <p:tgtEl>
                                          <p:spTgt spid="9"/>
                                        </p:tgtEl>
                                        <p:attrNameLst>
                                          <p:attrName>ppt_x</p:attrName>
                                          <p:attrName>ppt_y</p:attrName>
                                        </p:attrNameLst>
                                      </p:cBhvr>
                                    </p:animMotion>
                                  </p:childTnLst>
                                </p:cTn>
                              </p:par>
                              <p:par>
                                <p:cTn id="51" presetID="10" presetClass="entr" presetSubtype="0" accel="0" decel="10000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0" presetClass="path" presetSubtype="0" accel="0" decel="100000" fill="hold" grpId="1" nodeType="withEffect">
                                  <p:stCondLst>
                                    <p:cond delay="0"/>
                                  </p:stCondLst>
                                  <p:childTnLst>
                                    <p:animMotion origin="layout" path="M 0 0.02778 L 0 0 E" pathEditMode="relative" rAng="0" ptsTypes="AA">
                                      <p:cBhvr>
                                        <p:cTn id="55" dur="500" fill="hold"/>
                                        <p:tgtEl>
                                          <p:spTgt spid="10"/>
                                        </p:tgtEl>
                                        <p:attrNameLst>
                                          <p:attrName>ppt_x</p:attrName>
                                          <p:attrName>ppt_y</p:attrName>
                                        </p:attrNameLst>
                                      </p:cBhvr>
                                    </p:animMotion>
                                  </p:childTnLst>
                                </p:cTn>
                              </p:par>
                              <p:par>
                                <p:cTn id="56" presetID="10" presetClass="entr" presetSubtype="0" accel="0" decel="10000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0" presetClass="path" presetSubtype="0" accel="0" decel="100000" fill="hold" grpId="1" nodeType="withEffect">
                                  <p:stCondLst>
                                    <p:cond delay="0"/>
                                  </p:stCondLst>
                                  <p:childTnLst>
                                    <p:animMotion origin="layout" path="M 0 0.02778 L 0 0 E" pathEditMode="relative" rAng="0" ptsTypes="AA">
                                      <p:cBhvr>
                                        <p:cTn id="60"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SUPPORTS DIGITAUX</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Des visuels pour les réseaux sociaux</a:t>
            </a:r>
            <a:endParaRPr lang="en-US" sz="3000" dirty="0"/>
          </a:p>
        </p:txBody>
      </p:sp>
      <p:pic>
        <p:nvPicPr>
          <p:cNvPr id="4" name="C1_img" descr="Visuel réseaux sociaux">    </p:cNvPr>
          <p:cNvPicPr>
            <a:picLocks noChangeAspect="1"/>
          </p:cNvPicPr>
          <p:nvPr/>
        </p:nvPicPr>
        <p:blipFill>
          <a:blip r:embed="rId1"/>
          <a:stretch>
            <a:fillRect/>
          </a:stretch>
        </p:blipFill>
        <p:spPr>
          <a:xfrm>
            <a:off x="685800" y="1874520"/>
            <a:ext cx="5487458" cy="388620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870448"/>
            <a:ext cx="5487458" cy="274320"/>
          </a:xfrm>
          <a:prstGeom prst="rect">
            <a:avLst/>
          </a:prstGeom>
          <a:noFill/>
          <a:ln/>
        </p:spPr>
        <p:txBody>
          <a:bodyPr wrap="square" lIns="0" tIns="0" rIns="0" bIns="0" rtlCol="0" anchor="t"/>
          <a:lstStyle/>
          <a:p>
            <a:pPr algn="l" indent="0" marL="0">
              <a:buNone/>
            </a:pPr>
            <a:r>
              <a:rPr lang="en-US" sz="1100" dirty="0">
                <a:solidFill>
                  <a:schemeClr val="accent4"/>
                </a:solidFill>
              </a:rPr>
              <a:t>Affiche réseaux sociaux</a:t>
            </a:r>
            <a:endParaRPr lang="en-US" sz="1100" dirty="0"/>
          </a:p>
        </p:txBody>
      </p:sp>
      <p:sp>
        <p:nvSpPr>
          <p:cNvPr id="6" name="C2_d0_disc"/>
          <p:cNvSpPr/>
          <p:nvPr/>
        </p:nvSpPr>
        <p:spPr>
          <a:xfrm>
            <a:off x="7223760" y="2103120"/>
            <a:ext cx="685800" cy="685800"/>
          </a:xfrm>
          <a:prstGeom prst="ellipse">
            <a:avLst/>
          </a:prstGeom>
          <a:solidFill>
            <a:schemeClr val="bg2"/>
          </a:solidFill>
          <a:ln/>
        </p:spPr>
      </p:sp>
      <p:pic>
        <p:nvPicPr>
          <p:cNvPr id="7" name="C2_d0_ico" descr="preencoded.png">    </p:cNvPr>
          <p:cNvPicPr>
            <a:picLocks noChangeAspect="1"/>
          </p:cNvPicPr>
          <p:nvPr/>
        </p:nvPicPr>
        <p:blipFill>
          <a:blip r:embed="rId2"/>
          <a:stretch>
            <a:fillRect/>
          </a:stretch>
        </p:blipFill>
        <p:spPr>
          <a:xfrm>
            <a:off x="7395210" y="2274570"/>
            <a:ext cx="342900" cy="342900"/>
          </a:xfrm>
          <a:prstGeom prst="rect">
            <a:avLst/>
          </a:prstGeom>
        </p:spPr>
      </p:pic>
      <p:sp>
        <p:nvSpPr>
          <p:cNvPr id="8" name="C2_t0"/>
          <p:cNvSpPr txBox="1"/>
          <p:nvPr/>
        </p:nvSpPr>
        <p:spPr>
          <a:xfrm>
            <a:off x="8138160" y="2148840"/>
            <a:ext cx="3383280" cy="640080"/>
          </a:xfrm>
          <a:prstGeom prst="rect">
            <a:avLst/>
          </a:prstGeom>
          <a:noFill/>
          <a:ln/>
        </p:spPr>
        <p:txBody>
          <a:bodyPr wrap="square" lIns="0" tIns="0" rIns="0" bIns="0" rtlCol="0" anchor="ctr"/>
          <a:lstStyle/>
          <a:p>
            <a:pPr indent="0" marL="0">
              <a:buNone/>
            </a:pPr>
            <a:r>
              <a:rPr lang="en-US" sz="1700" dirty="0">
                <a:solidFill>
                  <a:schemeClr val="tx1"/>
                </a:solidFill>
              </a:rPr>
              <a:t>Facebook, Instagram, TikTok</a:t>
            </a:r>
            <a:endParaRPr lang="en-US" sz="1700" dirty="0"/>
          </a:p>
        </p:txBody>
      </p:sp>
      <p:sp>
        <p:nvSpPr>
          <p:cNvPr id="9" name="C2_d1_disc"/>
          <p:cNvSpPr/>
          <p:nvPr/>
        </p:nvSpPr>
        <p:spPr>
          <a:xfrm>
            <a:off x="7223760" y="3291840"/>
            <a:ext cx="685800" cy="685800"/>
          </a:xfrm>
          <a:prstGeom prst="ellipse">
            <a:avLst/>
          </a:prstGeom>
          <a:solidFill>
            <a:schemeClr val="bg2"/>
          </a:solidFill>
          <a:ln/>
        </p:spPr>
      </p:sp>
      <p:pic>
        <p:nvPicPr>
          <p:cNvPr id="10" name="C2_d1_ico" descr="preencoded.png">    </p:cNvPr>
          <p:cNvPicPr>
            <a:picLocks noChangeAspect="1"/>
          </p:cNvPicPr>
          <p:nvPr/>
        </p:nvPicPr>
        <p:blipFill>
          <a:blip r:embed="rId3"/>
          <a:stretch>
            <a:fillRect/>
          </a:stretch>
        </p:blipFill>
        <p:spPr>
          <a:xfrm>
            <a:off x="7395210" y="3463290"/>
            <a:ext cx="342900" cy="342900"/>
          </a:xfrm>
          <a:prstGeom prst="rect">
            <a:avLst/>
          </a:prstGeom>
        </p:spPr>
      </p:pic>
      <p:sp>
        <p:nvSpPr>
          <p:cNvPr id="11" name="C2_t1"/>
          <p:cNvSpPr txBox="1"/>
          <p:nvPr/>
        </p:nvSpPr>
        <p:spPr>
          <a:xfrm>
            <a:off x="8138160" y="3337560"/>
            <a:ext cx="3383280" cy="640080"/>
          </a:xfrm>
          <a:prstGeom prst="rect">
            <a:avLst/>
          </a:prstGeom>
          <a:noFill/>
          <a:ln/>
        </p:spPr>
        <p:txBody>
          <a:bodyPr wrap="square" lIns="0" tIns="0" rIns="0" bIns="0" rtlCol="0" anchor="ctr"/>
          <a:lstStyle/>
          <a:p>
            <a:pPr indent="0" marL="0">
              <a:buNone/>
            </a:pPr>
            <a:r>
              <a:rPr lang="en-US" sz="1700" dirty="0">
                <a:solidFill>
                  <a:schemeClr val="tx1"/>
                </a:solidFill>
              </a:rPr>
              <a:t>Format carré 1080 × 1080 pixels</a:t>
            </a:r>
            <a:endParaRPr lang="en-US" sz="1700" dirty="0"/>
          </a:p>
        </p:txBody>
      </p:sp>
      <p:sp>
        <p:nvSpPr>
          <p:cNvPr id="12" name="C2_d2_disc"/>
          <p:cNvSpPr/>
          <p:nvPr/>
        </p:nvSpPr>
        <p:spPr>
          <a:xfrm>
            <a:off x="7223760" y="4480560"/>
            <a:ext cx="685800" cy="685800"/>
          </a:xfrm>
          <a:prstGeom prst="ellipse">
            <a:avLst/>
          </a:prstGeom>
          <a:solidFill>
            <a:schemeClr val="bg2"/>
          </a:solidFill>
          <a:ln/>
        </p:spPr>
      </p:sp>
      <p:pic>
        <p:nvPicPr>
          <p:cNvPr id="13" name="C2_d2_ico" descr="preencoded.png">    </p:cNvPr>
          <p:cNvPicPr>
            <a:picLocks noChangeAspect="1"/>
          </p:cNvPicPr>
          <p:nvPr/>
        </p:nvPicPr>
        <p:blipFill>
          <a:blip r:embed="rId4"/>
          <a:stretch>
            <a:fillRect/>
          </a:stretch>
        </p:blipFill>
        <p:spPr>
          <a:xfrm>
            <a:off x="7395210" y="4652010"/>
            <a:ext cx="342900" cy="342900"/>
          </a:xfrm>
          <a:prstGeom prst="rect">
            <a:avLst/>
          </a:prstGeom>
        </p:spPr>
      </p:pic>
      <p:sp>
        <p:nvSpPr>
          <p:cNvPr id="14" name="C2_t2"/>
          <p:cNvSpPr txBox="1"/>
          <p:nvPr/>
        </p:nvSpPr>
        <p:spPr>
          <a:xfrm>
            <a:off x="8138160" y="4526280"/>
            <a:ext cx="3383280" cy="640080"/>
          </a:xfrm>
          <a:prstGeom prst="rect">
            <a:avLst/>
          </a:prstGeom>
          <a:noFill/>
          <a:ln/>
        </p:spPr>
        <p:txBody>
          <a:bodyPr wrap="square" lIns="0" tIns="0" rIns="0" bIns="0" rtlCol="0" anchor="ctr"/>
          <a:lstStyle/>
          <a:p>
            <a:pPr indent="0" marL="0">
              <a:buNone/>
            </a:pPr>
            <a:r>
              <a:rPr lang="en-US" sz="1700" dirty="0">
                <a:solidFill>
                  <a:schemeClr val="tx1"/>
                </a:solidFill>
              </a:rPr>
              <a:t>Continuité avec les supports imprimés</a:t>
            </a:r>
            <a:endParaRPr lang="en-US" sz="1700" dirty="0"/>
          </a:p>
        </p:txBody>
      </p:sp>
      <p:sp>
        <p:nvSpPr>
          <p:cNvPr id="1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8" grpId="0" animBg="1"/>
      <p:bldP spid="8" grpId="1" animBg="1"/>
      <p:bldP spid="11" grpId="0" animBg="1"/>
      <p:bldP spid="11" grpId="1" animBg="1"/>
      <p:bldP spid="14" grpId="0" animBg="1"/>
      <p:bldP spid="1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ANIMATION DU LOGO</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logo prend vie</a:t>
            </a:r>
            <a:endParaRPr lang="en-US" sz="3000" dirty="0"/>
          </a:p>
        </p:txBody>
      </p:sp>
      <p:pic>
        <p:nvPicPr>
          <p:cNvPr id="4" name="C2_poster" descr="Image extraite de la vidéo">    </p:cNvPr>
          <p:cNvPicPr>
            <a:picLocks noChangeAspect="1"/>
          </p:cNvPicPr>
          <p:nvPr/>
        </p:nvPicPr>
        <p:blipFill>
          <a:blip r:embed="rId1"/>
          <a:stretch>
            <a:fillRect/>
          </a:stretch>
        </p:blipFill>
        <p:spPr>
          <a:xfrm>
            <a:off x="685800" y="1920240"/>
            <a:ext cx="6949440" cy="3909060"/>
          </a:xfrm>
          <a:prstGeom prst="rect">
            <a:avLst/>
          </a:prstGeom>
          <a:effectLst>
            <a:outerShdw sx="100000" sy="100000" kx="0" ky="0" algn="bl" rotWithShape="0" blurRad="177800" dist="50800" dir="5400000">
              <a:srgbClr val="1D3557">
                <a:alpha val="16000"/>
              </a:srgbClr>
            </a:outerShdw>
          </a:effectLst>
        </p:spPr>
      </p:pic>
      <p:sp>
        <p:nvSpPr>
          <p:cNvPr id="5" name="C2_cap"/>
          <p:cNvSpPr txBox="1"/>
          <p:nvPr/>
        </p:nvSpPr>
        <p:spPr>
          <a:xfrm>
            <a:off x="685800" y="5939028"/>
            <a:ext cx="6949440" cy="274320"/>
          </a:xfrm>
          <a:prstGeom prst="rect">
            <a:avLst/>
          </a:prstGeom>
          <a:noFill/>
          <a:ln/>
        </p:spPr>
        <p:txBody>
          <a:bodyPr wrap="square" lIns="0" tIns="0" rIns="0" bIns="0" rtlCol="0" anchor="t"/>
          <a:lstStyle/>
          <a:p>
            <a:pPr algn="l" indent="0" marL="0">
              <a:buNone/>
            </a:pPr>
            <a:r>
              <a:rPr lang="en-US" sz="1100" dirty="0">
                <a:solidFill>
                  <a:schemeClr val="accent4"/>
                </a:solidFill>
              </a:rPr>
              <a:t>Vidéo fournie séparément : anim_logo.mp4</a:t>
            </a:r>
            <a:endParaRPr lang="en-US" sz="1100" dirty="0"/>
          </a:p>
        </p:txBody>
      </p:sp>
      <p:sp>
        <p:nvSpPr>
          <p:cNvPr id="6" name="C1_l0"/>
          <p:cNvSpPr txBox="1"/>
          <p:nvPr/>
        </p:nvSpPr>
        <p:spPr>
          <a:xfrm>
            <a:off x="8229600" y="2011680"/>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LOGICIEL</a:t>
            </a:r>
            <a:endParaRPr lang="en-US" sz="1100" dirty="0"/>
          </a:p>
        </p:txBody>
      </p:sp>
      <p:sp>
        <p:nvSpPr>
          <p:cNvPr id="7" name="C1_v0"/>
          <p:cNvSpPr txBox="1"/>
          <p:nvPr/>
        </p:nvSpPr>
        <p:spPr>
          <a:xfrm>
            <a:off x="8229600" y="2322576"/>
            <a:ext cx="3291840" cy="548640"/>
          </a:xfrm>
          <a:prstGeom prst="rect">
            <a:avLst/>
          </a:prstGeom>
          <a:noFill/>
          <a:ln/>
        </p:spPr>
        <p:txBody>
          <a:bodyPr wrap="square" lIns="0" tIns="0" rIns="0" bIns="0" rtlCol="0" anchor="t"/>
          <a:lstStyle/>
          <a:p>
            <a:pPr indent="0" marL="0">
              <a:buNone/>
            </a:pPr>
            <a:r>
              <a:rPr lang="en-US" sz="1700" dirty="0">
                <a:solidFill>
                  <a:schemeClr val="tx1"/>
                </a:solidFill>
              </a:rPr>
              <a:t>Adobe After Effects</a:t>
            </a:r>
            <a:endParaRPr lang="en-US" sz="1700" dirty="0"/>
          </a:p>
        </p:txBody>
      </p:sp>
      <p:sp>
        <p:nvSpPr>
          <p:cNvPr id="8" name="C1_l1"/>
          <p:cNvSpPr txBox="1"/>
          <p:nvPr/>
        </p:nvSpPr>
        <p:spPr>
          <a:xfrm>
            <a:off x="8229600" y="2999232"/>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TECHNIQUE</a:t>
            </a:r>
            <a:endParaRPr lang="en-US" sz="1100" dirty="0"/>
          </a:p>
        </p:txBody>
      </p:sp>
      <p:sp>
        <p:nvSpPr>
          <p:cNvPr id="9" name="C1_v1"/>
          <p:cNvSpPr txBox="1"/>
          <p:nvPr/>
        </p:nvSpPr>
        <p:spPr>
          <a:xfrm>
            <a:off x="8229600" y="3310128"/>
            <a:ext cx="3291840" cy="548640"/>
          </a:xfrm>
          <a:prstGeom prst="rect">
            <a:avLst/>
          </a:prstGeom>
          <a:noFill/>
          <a:ln/>
        </p:spPr>
        <p:txBody>
          <a:bodyPr wrap="square" lIns="0" tIns="0" rIns="0" bIns="0" rtlCol="0" anchor="t"/>
          <a:lstStyle/>
          <a:p>
            <a:pPr indent="0" marL="0">
              <a:buNone/>
            </a:pPr>
            <a:r>
              <a:rPr lang="en-US" sz="1700" dirty="0">
                <a:solidFill>
                  <a:schemeClr val="tx1"/>
                </a:solidFill>
              </a:rPr>
              <a:t>Animation des éléments textuels</a:t>
            </a:r>
            <a:endParaRPr lang="en-US" sz="1700" dirty="0"/>
          </a:p>
        </p:txBody>
      </p:sp>
      <p:sp>
        <p:nvSpPr>
          <p:cNvPr id="10" name="C1_l2"/>
          <p:cNvSpPr txBox="1"/>
          <p:nvPr/>
        </p:nvSpPr>
        <p:spPr>
          <a:xfrm>
            <a:off x="8229600" y="3986784"/>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EXPORT</a:t>
            </a:r>
            <a:endParaRPr lang="en-US" sz="1100" dirty="0"/>
          </a:p>
        </p:txBody>
      </p:sp>
      <p:sp>
        <p:nvSpPr>
          <p:cNvPr id="11" name="C1_v2"/>
          <p:cNvSpPr txBox="1"/>
          <p:nvPr/>
        </p:nvSpPr>
        <p:spPr>
          <a:xfrm>
            <a:off x="8229600" y="4297680"/>
            <a:ext cx="3291840" cy="548640"/>
          </a:xfrm>
          <a:prstGeom prst="rect">
            <a:avLst/>
          </a:prstGeom>
          <a:noFill/>
          <a:ln/>
        </p:spPr>
        <p:txBody>
          <a:bodyPr wrap="square" lIns="0" tIns="0" rIns="0" bIns="0" rtlCol="0" anchor="t"/>
          <a:lstStyle/>
          <a:p>
            <a:pPr indent="0" marL="0">
              <a:buNone/>
            </a:pPr>
            <a:r>
              <a:rPr lang="en-US" sz="1700" dirty="0">
                <a:solidFill>
                  <a:schemeClr val="tx1"/>
                </a:solidFill>
              </a:rPr>
              <a:t>Format MP4</a:t>
            </a:r>
            <a:endParaRPr lang="en-US" sz="17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6"/>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7"/>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8"/>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9"/>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10"/>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11"/>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0" decel="10000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4"/>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500"/>
                                        <p:tgtEl>
                                          <p:spTgt spid="5"/>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5" grpId="0" animBg="1"/>
      <p:bldP spid="5"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SPOT 2D</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spot animé en motion design</a:t>
            </a:r>
            <a:endParaRPr lang="en-US" sz="3000" dirty="0"/>
          </a:p>
        </p:txBody>
      </p:sp>
      <p:pic>
        <p:nvPicPr>
          <p:cNvPr id="4" name="C2_poster" descr="Image extraite de la vidéo">    </p:cNvPr>
          <p:cNvPicPr>
            <a:picLocks noChangeAspect="1"/>
          </p:cNvPicPr>
          <p:nvPr/>
        </p:nvPicPr>
        <p:blipFill>
          <a:blip r:embed="rId1"/>
          <a:stretch>
            <a:fillRect/>
          </a:stretch>
        </p:blipFill>
        <p:spPr>
          <a:xfrm>
            <a:off x="685800" y="1920240"/>
            <a:ext cx="6949440" cy="3909060"/>
          </a:xfrm>
          <a:prstGeom prst="rect">
            <a:avLst/>
          </a:prstGeom>
          <a:effectLst>
            <a:outerShdw sx="100000" sy="100000" kx="0" ky="0" algn="bl" rotWithShape="0" blurRad="177800" dist="50800" dir="5400000">
              <a:srgbClr val="1D3557">
                <a:alpha val="16000"/>
              </a:srgbClr>
            </a:outerShdw>
          </a:effectLst>
        </p:spPr>
      </p:pic>
      <p:sp>
        <p:nvSpPr>
          <p:cNvPr id="5" name="C2_cap"/>
          <p:cNvSpPr txBox="1"/>
          <p:nvPr/>
        </p:nvSpPr>
        <p:spPr>
          <a:xfrm>
            <a:off x="685800" y="5939028"/>
            <a:ext cx="6949440" cy="274320"/>
          </a:xfrm>
          <a:prstGeom prst="rect">
            <a:avLst/>
          </a:prstGeom>
          <a:noFill/>
          <a:ln/>
        </p:spPr>
        <p:txBody>
          <a:bodyPr wrap="square" lIns="0" tIns="0" rIns="0" bIns="0" rtlCol="0" anchor="t"/>
          <a:lstStyle/>
          <a:p>
            <a:pPr algn="l" indent="0" marL="0">
              <a:buNone/>
            </a:pPr>
            <a:r>
              <a:rPr lang="en-US" sz="1100" dirty="0">
                <a:solidFill>
                  <a:schemeClr val="accent4"/>
                </a:solidFill>
              </a:rPr>
              <a:t>Vidéo fournie séparément : spot2d.mp4</a:t>
            </a:r>
            <a:endParaRPr lang="en-US" sz="1100" dirty="0"/>
          </a:p>
        </p:txBody>
      </p:sp>
      <p:sp>
        <p:nvSpPr>
          <p:cNvPr id="6" name="C1_l0"/>
          <p:cNvSpPr txBox="1"/>
          <p:nvPr/>
        </p:nvSpPr>
        <p:spPr>
          <a:xfrm>
            <a:off x="8229600" y="2011680"/>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TYPE</a:t>
            </a:r>
            <a:endParaRPr lang="en-US" sz="1100" dirty="0"/>
          </a:p>
        </p:txBody>
      </p:sp>
      <p:sp>
        <p:nvSpPr>
          <p:cNvPr id="7" name="C1_v0"/>
          <p:cNvSpPr txBox="1"/>
          <p:nvPr/>
        </p:nvSpPr>
        <p:spPr>
          <a:xfrm>
            <a:off x="8229600" y="2322576"/>
            <a:ext cx="3291840" cy="548640"/>
          </a:xfrm>
          <a:prstGeom prst="rect">
            <a:avLst/>
          </a:prstGeom>
          <a:noFill/>
          <a:ln/>
        </p:spPr>
        <p:txBody>
          <a:bodyPr wrap="square" lIns="0" tIns="0" rIns="0" bIns="0" rtlCol="0" anchor="t"/>
          <a:lstStyle/>
          <a:p>
            <a:pPr indent="0" marL="0">
              <a:buNone/>
            </a:pPr>
            <a:r>
              <a:rPr lang="en-US" sz="1700" dirty="0">
                <a:solidFill>
                  <a:schemeClr val="tx1"/>
                </a:solidFill>
              </a:rPr>
              <a:t>Animation 2D</a:t>
            </a:r>
            <a:endParaRPr lang="en-US" sz="1700" dirty="0"/>
          </a:p>
        </p:txBody>
      </p:sp>
      <p:sp>
        <p:nvSpPr>
          <p:cNvPr id="8" name="C1_l1"/>
          <p:cNvSpPr txBox="1"/>
          <p:nvPr/>
        </p:nvSpPr>
        <p:spPr>
          <a:xfrm>
            <a:off x="8229600" y="2999232"/>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FORMAT</a:t>
            </a:r>
            <a:endParaRPr lang="en-US" sz="1100" dirty="0"/>
          </a:p>
        </p:txBody>
      </p:sp>
      <p:sp>
        <p:nvSpPr>
          <p:cNvPr id="9" name="C1_v1"/>
          <p:cNvSpPr txBox="1"/>
          <p:nvPr/>
        </p:nvSpPr>
        <p:spPr>
          <a:xfrm>
            <a:off x="8229600" y="3310128"/>
            <a:ext cx="3291840" cy="548640"/>
          </a:xfrm>
          <a:prstGeom prst="rect">
            <a:avLst/>
          </a:prstGeom>
          <a:noFill/>
          <a:ln/>
        </p:spPr>
        <p:txBody>
          <a:bodyPr wrap="square" lIns="0" tIns="0" rIns="0" bIns="0" rtlCol="0" anchor="t"/>
          <a:lstStyle/>
          <a:p>
            <a:pPr indent="0" marL="0">
              <a:buNone/>
            </a:pPr>
            <a:r>
              <a:rPr lang="en-US" sz="1700" dirty="0">
                <a:solidFill>
                  <a:schemeClr val="tx1"/>
                </a:solidFill>
              </a:rPr>
              <a:t>1920 × 1080 pixels</a:t>
            </a:r>
            <a:endParaRPr lang="en-US" sz="1700" dirty="0"/>
          </a:p>
        </p:txBody>
      </p:sp>
      <p:sp>
        <p:nvSpPr>
          <p:cNvPr id="10" name="C1_l2"/>
          <p:cNvSpPr txBox="1"/>
          <p:nvPr/>
        </p:nvSpPr>
        <p:spPr>
          <a:xfrm>
            <a:off x="8229600" y="3986784"/>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RÉALISATION ET MONTAGE</a:t>
            </a:r>
            <a:endParaRPr lang="en-US" sz="1100" dirty="0"/>
          </a:p>
        </p:txBody>
      </p:sp>
      <p:sp>
        <p:nvSpPr>
          <p:cNvPr id="11" name="C1_v2"/>
          <p:cNvSpPr txBox="1"/>
          <p:nvPr/>
        </p:nvSpPr>
        <p:spPr>
          <a:xfrm>
            <a:off x="8229600" y="4297680"/>
            <a:ext cx="3291840" cy="548640"/>
          </a:xfrm>
          <a:prstGeom prst="rect">
            <a:avLst/>
          </a:prstGeom>
          <a:noFill/>
          <a:ln/>
        </p:spPr>
        <p:txBody>
          <a:bodyPr wrap="square" lIns="0" tIns="0" rIns="0" bIns="0" rtlCol="0" anchor="t"/>
          <a:lstStyle/>
          <a:p>
            <a:pPr indent="0" marL="0">
              <a:buNone/>
            </a:pPr>
            <a:r>
              <a:rPr lang="en-US" sz="1700" dirty="0">
                <a:solidFill>
                  <a:schemeClr val="tx1"/>
                </a:solidFill>
              </a:rPr>
              <a:t>CAMARA BINTOU</a:t>
            </a:r>
            <a:endParaRPr lang="en-US" sz="17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6"/>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7"/>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8"/>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9"/>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10"/>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11"/>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0" decel="10000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4"/>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500"/>
                                        <p:tgtEl>
                                          <p:spTgt spid="5"/>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5" grpId="0" animBg="1"/>
      <p:bldP spid="5"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SPOT 3D</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locaux modélisés en 3D</a:t>
            </a:r>
            <a:endParaRPr lang="en-US" sz="3000" dirty="0"/>
          </a:p>
        </p:txBody>
      </p:sp>
      <p:pic>
        <p:nvPicPr>
          <p:cNvPr id="4" name="C1_img" descr="Modélisation 3D du bâtiment American's Gym">    </p:cNvPr>
          <p:cNvPicPr>
            <a:picLocks noChangeAspect="1"/>
          </p:cNvPicPr>
          <p:nvPr/>
        </p:nvPicPr>
        <p:blipFill>
          <a:blip r:embed="rId1"/>
          <a:stretch>
            <a:fillRect/>
          </a:stretch>
        </p:blipFill>
        <p:spPr>
          <a:xfrm>
            <a:off x="685800" y="1880785"/>
            <a:ext cx="6949440" cy="3873669"/>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864183"/>
            <a:ext cx="6949440" cy="274320"/>
          </a:xfrm>
          <a:prstGeom prst="rect">
            <a:avLst/>
          </a:prstGeom>
          <a:noFill/>
          <a:ln/>
        </p:spPr>
        <p:txBody>
          <a:bodyPr wrap="square" lIns="0" tIns="0" rIns="0" bIns="0" rtlCol="0" anchor="t"/>
          <a:lstStyle/>
          <a:p>
            <a:pPr algn="l" indent="0" marL="0">
              <a:buNone/>
            </a:pPr>
            <a:r>
              <a:rPr lang="en-US" sz="1100" dirty="0">
                <a:solidFill>
                  <a:schemeClr val="accent4"/>
                </a:solidFill>
              </a:rPr>
              <a:t>Modélisation du bâtiment d’American’s Gym</a:t>
            </a:r>
            <a:endParaRPr lang="en-US" sz="1100" dirty="0"/>
          </a:p>
        </p:txBody>
      </p:sp>
      <p:sp>
        <p:nvSpPr>
          <p:cNvPr id="6" name="C2_l0"/>
          <p:cNvSpPr txBox="1"/>
          <p:nvPr/>
        </p:nvSpPr>
        <p:spPr>
          <a:xfrm>
            <a:off x="8229600" y="2011680"/>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DURÉE</a:t>
            </a:r>
            <a:endParaRPr lang="en-US" sz="1100" dirty="0"/>
          </a:p>
        </p:txBody>
      </p:sp>
      <p:sp>
        <p:nvSpPr>
          <p:cNvPr id="7" name="C2_v0"/>
          <p:cNvSpPr txBox="1"/>
          <p:nvPr/>
        </p:nvSpPr>
        <p:spPr>
          <a:xfrm>
            <a:off x="8229600" y="2322576"/>
            <a:ext cx="3291840" cy="548640"/>
          </a:xfrm>
          <a:prstGeom prst="rect">
            <a:avLst/>
          </a:prstGeom>
          <a:noFill/>
          <a:ln/>
        </p:spPr>
        <p:txBody>
          <a:bodyPr wrap="square" lIns="0" tIns="0" rIns="0" bIns="0" rtlCol="0" anchor="t"/>
          <a:lstStyle/>
          <a:p>
            <a:pPr indent="0" marL="0">
              <a:buNone/>
            </a:pPr>
            <a:r>
              <a:rPr lang="en-US" sz="1700" dirty="0">
                <a:solidFill>
                  <a:schemeClr val="tx1"/>
                </a:solidFill>
              </a:rPr>
              <a:t>30 secondes</a:t>
            </a:r>
            <a:endParaRPr lang="en-US" sz="1700" dirty="0"/>
          </a:p>
        </p:txBody>
      </p:sp>
      <p:sp>
        <p:nvSpPr>
          <p:cNvPr id="8" name="C2_l1"/>
          <p:cNvSpPr txBox="1"/>
          <p:nvPr/>
        </p:nvSpPr>
        <p:spPr>
          <a:xfrm>
            <a:off x="8229600" y="2999232"/>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OUTILS</a:t>
            </a:r>
            <a:endParaRPr lang="en-US" sz="1100" dirty="0"/>
          </a:p>
        </p:txBody>
      </p:sp>
      <p:sp>
        <p:nvSpPr>
          <p:cNvPr id="9" name="C2_v1"/>
          <p:cNvSpPr txBox="1"/>
          <p:nvPr/>
        </p:nvSpPr>
        <p:spPr>
          <a:xfrm>
            <a:off x="8229600" y="3310128"/>
            <a:ext cx="3291840" cy="548640"/>
          </a:xfrm>
          <a:prstGeom prst="rect">
            <a:avLst/>
          </a:prstGeom>
          <a:noFill/>
          <a:ln/>
        </p:spPr>
        <p:txBody>
          <a:bodyPr wrap="square" lIns="0" tIns="0" rIns="0" bIns="0" rtlCol="0" anchor="t"/>
          <a:lstStyle/>
          <a:p>
            <a:pPr indent="0" marL="0">
              <a:buNone/>
            </a:pPr>
            <a:r>
              <a:rPr lang="en-US" sz="1700" dirty="0">
                <a:solidFill>
                  <a:schemeClr val="tx1"/>
                </a:solidFill>
              </a:rPr>
              <a:t>Blender, Premiere Pro, Twinmotion</a:t>
            </a:r>
            <a:endParaRPr lang="en-US" sz="1700" dirty="0"/>
          </a:p>
        </p:txBody>
      </p:sp>
      <p:sp>
        <p:nvSpPr>
          <p:cNvPr id="1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SITE WEB</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site vitrine, cœur de l’écosystème numérique</a:t>
            </a:r>
            <a:endParaRPr lang="en-US" sz="3000" dirty="0"/>
          </a:p>
        </p:txBody>
      </p:sp>
      <p:sp>
        <p:nvSpPr>
          <p:cNvPr id="4" name="C1_root"/>
          <p:cNvSpPr/>
          <p:nvPr/>
        </p:nvSpPr>
        <p:spPr>
          <a:xfrm>
            <a:off x="4907128" y="2103120"/>
            <a:ext cx="2377440" cy="777240"/>
          </a:xfrm>
          <a:prstGeom prst="roundRect">
            <a:avLst>
              <a:gd name="adj" fmla="val 11765"/>
            </a:avLst>
          </a:prstGeom>
          <a:solidFill>
            <a:schemeClr val="tx1"/>
          </a:solidFill>
          <a:ln/>
        </p:spPr>
      </p:sp>
      <p:sp>
        <p:nvSpPr>
          <p:cNvPr id="5" name="C1_roott"/>
          <p:cNvSpPr txBox="1"/>
          <p:nvPr/>
        </p:nvSpPr>
        <p:spPr>
          <a:xfrm>
            <a:off x="4907128" y="2103120"/>
            <a:ext cx="2377440" cy="777240"/>
          </a:xfrm>
          <a:prstGeom prst="rect">
            <a:avLst/>
          </a:prstGeom>
          <a:noFill/>
          <a:ln/>
        </p:spPr>
        <p:txBody>
          <a:bodyPr wrap="square" lIns="0" tIns="0" rIns="0" bIns="0" rtlCol="0" anchor="ctr"/>
          <a:lstStyle/>
          <a:p>
            <a:pPr algn="ctr" indent="0" marL="0">
              <a:buNone/>
            </a:pPr>
            <a:r>
              <a:rPr lang="en-US" sz="1800" b="1" dirty="0">
                <a:solidFill>
                  <a:schemeClr val="bg1"/>
                </a:solidFill>
              </a:rPr>
              <a:t>Accueil</a:t>
            </a:r>
            <a:endParaRPr lang="en-US" sz="1800" dirty="0"/>
          </a:p>
        </p:txBody>
      </p:sp>
      <p:sp>
        <p:nvSpPr>
          <p:cNvPr id="6" name="C2_v"/>
          <p:cNvSpPr/>
          <p:nvPr/>
        </p:nvSpPr>
        <p:spPr>
          <a:xfrm>
            <a:off x="6095848" y="2880360"/>
            <a:ext cx="0" cy="502920"/>
          </a:xfrm>
          <a:prstGeom prst="line">
            <a:avLst/>
          </a:prstGeom>
          <a:noFill/>
          <a:ln w="25400">
            <a:solidFill>
              <a:srgbClr val="A8DADC"/>
            </a:solidFill>
            <a:prstDash val="solid"/>
          </a:ln>
        </p:spPr>
      </p:sp>
      <p:sp>
        <p:nvSpPr>
          <p:cNvPr id="7" name="C2_h"/>
          <p:cNvSpPr/>
          <p:nvPr/>
        </p:nvSpPr>
        <p:spPr>
          <a:xfrm>
            <a:off x="1676370" y="3383280"/>
            <a:ext cx="8838956" cy="0"/>
          </a:xfrm>
          <a:prstGeom prst="line">
            <a:avLst/>
          </a:prstGeom>
          <a:noFill/>
          <a:ln w="25400">
            <a:solidFill>
              <a:srgbClr val="A8DADC"/>
            </a:solidFill>
            <a:prstDash val="solid"/>
          </a:ln>
        </p:spPr>
      </p:sp>
      <p:sp>
        <p:nvSpPr>
          <p:cNvPr id="8" name="C2_l0"/>
          <p:cNvSpPr/>
          <p:nvPr/>
        </p:nvSpPr>
        <p:spPr>
          <a:xfrm>
            <a:off x="1676370" y="3383280"/>
            <a:ext cx="0" cy="457200"/>
          </a:xfrm>
          <a:prstGeom prst="line">
            <a:avLst/>
          </a:prstGeom>
          <a:noFill/>
          <a:ln w="25400">
            <a:solidFill>
              <a:srgbClr val="A8DADC"/>
            </a:solidFill>
            <a:prstDash val="solid"/>
          </a:ln>
        </p:spPr>
      </p:sp>
      <p:sp>
        <p:nvSpPr>
          <p:cNvPr id="9" name="C2_c0"/>
          <p:cNvSpPr/>
          <p:nvPr/>
        </p:nvSpPr>
        <p:spPr>
          <a:xfrm>
            <a:off x="685800" y="3840480"/>
            <a:ext cx="1981139" cy="1097280"/>
          </a:xfrm>
          <a:prstGeom prst="roundRect">
            <a:avLst>
              <a:gd name="adj" fmla="val 10000"/>
            </a:avLst>
          </a:prstGeom>
          <a:solidFill>
            <a:schemeClr val="bg2"/>
          </a:solidFill>
          <a:ln/>
        </p:spPr>
      </p:sp>
      <p:sp>
        <p:nvSpPr>
          <p:cNvPr id="10" name="C2_t0"/>
          <p:cNvSpPr txBox="1"/>
          <p:nvPr/>
        </p:nvSpPr>
        <p:spPr>
          <a:xfrm>
            <a:off x="777240"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À propos</a:t>
            </a:r>
            <a:endParaRPr lang="en-US" sz="1500" dirty="0"/>
          </a:p>
        </p:txBody>
      </p:sp>
      <p:sp>
        <p:nvSpPr>
          <p:cNvPr id="11" name="C2_l1"/>
          <p:cNvSpPr/>
          <p:nvPr/>
        </p:nvSpPr>
        <p:spPr>
          <a:xfrm>
            <a:off x="3886109" y="3383280"/>
            <a:ext cx="0" cy="457200"/>
          </a:xfrm>
          <a:prstGeom prst="line">
            <a:avLst/>
          </a:prstGeom>
          <a:noFill/>
          <a:ln w="25400">
            <a:solidFill>
              <a:srgbClr val="A8DADC"/>
            </a:solidFill>
            <a:prstDash val="solid"/>
          </a:ln>
        </p:spPr>
      </p:sp>
      <p:sp>
        <p:nvSpPr>
          <p:cNvPr id="12" name="C2_c1"/>
          <p:cNvSpPr/>
          <p:nvPr/>
        </p:nvSpPr>
        <p:spPr>
          <a:xfrm>
            <a:off x="2895539" y="3840480"/>
            <a:ext cx="1981139" cy="1097280"/>
          </a:xfrm>
          <a:prstGeom prst="roundRect">
            <a:avLst>
              <a:gd name="adj" fmla="val 10000"/>
            </a:avLst>
          </a:prstGeom>
          <a:solidFill>
            <a:schemeClr val="bg2"/>
          </a:solidFill>
          <a:ln/>
        </p:spPr>
      </p:sp>
      <p:sp>
        <p:nvSpPr>
          <p:cNvPr id="13" name="C2_t1"/>
          <p:cNvSpPr txBox="1"/>
          <p:nvPr/>
        </p:nvSpPr>
        <p:spPr>
          <a:xfrm>
            <a:off x="2986979"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Nos équipements</a:t>
            </a:r>
            <a:endParaRPr lang="en-US" sz="1500" dirty="0"/>
          </a:p>
        </p:txBody>
      </p:sp>
      <p:sp>
        <p:nvSpPr>
          <p:cNvPr id="14" name="C2_l2"/>
          <p:cNvSpPr/>
          <p:nvPr/>
        </p:nvSpPr>
        <p:spPr>
          <a:xfrm>
            <a:off x="6095848" y="3383280"/>
            <a:ext cx="0" cy="457200"/>
          </a:xfrm>
          <a:prstGeom prst="line">
            <a:avLst/>
          </a:prstGeom>
          <a:noFill/>
          <a:ln w="25400">
            <a:solidFill>
              <a:srgbClr val="A8DADC"/>
            </a:solidFill>
            <a:prstDash val="solid"/>
          </a:ln>
        </p:spPr>
      </p:sp>
      <p:sp>
        <p:nvSpPr>
          <p:cNvPr id="15" name="C2_c2"/>
          <p:cNvSpPr/>
          <p:nvPr/>
        </p:nvSpPr>
        <p:spPr>
          <a:xfrm>
            <a:off x="5105278" y="3840480"/>
            <a:ext cx="1981139" cy="1097280"/>
          </a:xfrm>
          <a:prstGeom prst="roundRect">
            <a:avLst>
              <a:gd name="adj" fmla="val 10000"/>
            </a:avLst>
          </a:prstGeom>
          <a:solidFill>
            <a:schemeClr val="bg2"/>
          </a:solidFill>
          <a:ln/>
        </p:spPr>
      </p:sp>
      <p:sp>
        <p:nvSpPr>
          <p:cNvPr id="16" name="C2_t2"/>
          <p:cNvSpPr txBox="1"/>
          <p:nvPr/>
        </p:nvSpPr>
        <p:spPr>
          <a:xfrm>
            <a:off x="5196718"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Boutique</a:t>
            </a:r>
            <a:endParaRPr lang="en-US" sz="1500" dirty="0"/>
          </a:p>
        </p:txBody>
      </p:sp>
      <p:sp>
        <p:nvSpPr>
          <p:cNvPr id="17" name="C2_l3"/>
          <p:cNvSpPr/>
          <p:nvPr/>
        </p:nvSpPr>
        <p:spPr>
          <a:xfrm>
            <a:off x="8305587" y="3383280"/>
            <a:ext cx="0" cy="457200"/>
          </a:xfrm>
          <a:prstGeom prst="line">
            <a:avLst/>
          </a:prstGeom>
          <a:noFill/>
          <a:ln w="25400">
            <a:solidFill>
              <a:srgbClr val="A8DADC"/>
            </a:solidFill>
            <a:prstDash val="solid"/>
          </a:ln>
        </p:spPr>
      </p:sp>
      <p:sp>
        <p:nvSpPr>
          <p:cNvPr id="18" name="C2_c3"/>
          <p:cNvSpPr/>
          <p:nvPr/>
        </p:nvSpPr>
        <p:spPr>
          <a:xfrm>
            <a:off x="7315017" y="3840480"/>
            <a:ext cx="1981139" cy="1097280"/>
          </a:xfrm>
          <a:prstGeom prst="roundRect">
            <a:avLst>
              <a:gd name="adj" fmla="val 10000"/>
            </a:avLst>
          </a:prstGeom>
          <a:solidFill>
            <a:schemeClr val="bg2"/>
          </a:solidFill>
          <a:ln/>
        </p:spPr>
      </p:sp>
      <p:sp>
        <p:nvSpPr>
          <p:cNvPr id="19" name="C2_t3"/>
          <p:cNvSpPr txBox="1"/>
          <p:nvPr/>
        </p:nvSpPr>
        <p:spPr>
          <a:xfrm>
            <a:off x="7406457"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Tarifs et abonnements</a:t>
            </a:r>
            <a:endParaRPr lang="en-US" sz="1500" dirty="0"/>
          </a:p>
        </p:txBody>
      </p:sp>
      <p:sp>
        <p:nvSpPr>
          <p:cNvPr id="20" name="C2_l4"/>
          <p:cNvSpPr/>
          <p:nvPr/>
        </p:nvSpPr>
        <p:spPr>
          <a:xfrm>
            <a:off x="10515326" y="3383280"/>
            <a:ext cx="0" cy="457200"/>
          </a:xfrm>
          <a:prstGeom prst="line">
            <a:avLst/>
          </a:prstGeom>
          <a:noFill/>
          <a:ln w="25400">
            <a:solidFill>
              <a:srgbClr val="A8DADC"/>
            </a:solidFill>
            <a:prstDash val="solid"/>
          </a:ln>
        </p:spPr>
      </p:sp>
      <p:sp>
        <p:nvSpPr>
          <p:cNvPr id="21" name="C2_c4"/>
          <p:cNvSpPr/>
          <p:nvPr/>
        </p:nvSpPr>
        <p:spPr>
          <a:xfrm>
            <a:off x="9524756" y="3840480"/>
            <a:ext cx="1981139" cy="1097280"/>
          </a:xfrm>
          <a:prstGeom prst="roundRect">
            <a:avLst>
              <a:gd name="adj" fmla="val 10000"/>
            </a:avLst>
          </a:prstGeom>
          <a:solidFill>
            <a:schemeClr val="bg2"/>
          </a:solidFill>
          <a:ln/>
        </p:spPr>
      </p:sp>
      <p:sp>
        <p:nvSpPr>
          <p:cNvPr id="22" name="C2_t4"/>
          <p:cNvSpPr txBox="1"/>
          <p:nvPr/>
        </p:nvSpPr>
        <p:spPr>
          <a:xfrm>
            <a:off x="9616196"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Contacts</a:t>
            </a:r>
            <a:endParaRPr lang="en-US" sz="1500" dirty="0"/>
          </a:p>
        </p:txBody>
      </p:sp>
      <p:sp>
        <p:nvSpPr>
          <p:cNvPr id="2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par>
                                <p:cTn id="84" presetID="10" presetClass="entr" presetSubtype="0" accel="0" decel="100000"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500"/>
                                        <p:tgtEl>
                                          <p:spTgt spid="17"/>
                                        </p:tgtEl>
                                      </p:cBhvr>
                                    </p:animEffect>
                                  </p:childTnLst>
                                </p:cTn>
                              </p:par>
                              <p:par>
                                <p:cTn id="87" presetID="0" presetClass="path" presetSubtype="0" accel="0" decel="100000" fill="hold" grpId="1" nodeType="withEffect">
                                  <p:stCondLst>
                                    <p:cond delay="0"/>
                                  </p:stCondLst>
                                  <p:childTnLst>
                                    <p:animMotion origin="layout" path="M 0 0.02778 L 0 0 E" pathEditMode="relative" rAng="0" ptsTypes="AA">
                                      <p:cBhvr>
                                        <p:cTn id="88" dur="500" fill="hold"/>
                                        <p:tgtEl>
                                          <p:spTgt spid="17"/>
                                        </p:tgtEl>
                                        <p:attrNameLst>
                                          <p:attrName>ppt_x</p:attrName>
                                          <p:attrName>ppt_y</p:attrName>
                                        </p:attrNameLst>
                                      </p:cBhvr>
                                    </p:animMotion>
                                  </p:childTnLst>
                                </p:cTn>
                              </p:par>
                              <p:par>
                                <p:cTn id="89" presetID="10" presetClass="entr" presetSubtype="0" accel="0" decel="10000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0" presetClass="path" presetSubtype="0" accel="0" decel="100000" fill="hold" grpId="1" nodeType="withEffect">
                                  <p:stCondLst>
                                    <p:cond delay="0"/>
                                  </p:stCondLst>
                                  <p:childTnLst>
                                    <p:animMotion origin="layout" path="M 0 0.02778 L 0 0 E" pathEditMode="relative" rAng="0" ptsTypes="AA">
                                      <p:cBhvr>
                                        <p:cTn id="93" dur="500" fill="hold"/>
                                        <p:tgtEl>
                                          <p:spTgt spid="18"/>
                                        </p:tgtEl>
                                        <p:attrNameLst>
                                          <p:attrName>ppt_x</p:attrName>
                                          <p:attrName>ppt_y</p:attrName>
                                        </p:attrNameLst>
                                      </p:cBhvr>
                                    </p:animMotion>
                                  </p:childTnLst>
                                </p:cTn>
                              </p:par>
                              <p:par>
                                <p:cTn id="94" presetID="10" presetClass="entr" presetSubtype="0" accel="0" decel="10000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500"/>
                                        <p:tgtEl>
                                          <p:spTgt spid="19"/>
                                        </p:tgtEl>
                                      </p:cBhvr>
                                    </p:animEffect>
                                  </p:childTnLst>
                                </p:cTn>
                              </p:par>
                              <p:par>
                                <p:cTn id="97" presetID="0" presetClass="path" presetSubtype="0" accel="0" decel="100000" fill="hold" grpId="1" nodeType="withEffect">
                                  <p:stCondLst>
                                    <p:cond delay="0"/>
                                  </p:stCondLst>
                                  <p:childTnLst>
                                    <p:animMotion origin="layout" path="M 0 0.02778 L 0 0 E" pathEditMode="relative" rAng="0" ptsTypes="AA">
                                      <p:cBhvr>
                                        <p:cTn id="98" dur="500" fill="hold"/>
                                        <p:tgtEl>
                                          <p:spTgt spid="19"/>
                                        </p:tgtEl>
                                        <p:attrNameLst>
                                          <p:attrName>ppt_x</p:attrName>
                                          <p:attrName>ppt_y</p:attrName>
                                        </p:attrNameLst>
                                      </p:cBhvr>
                                    </p:animMotion>
                                  </p:childTnLst>
                                </p:cTn>
                              </p:par>
                              <p:par>
                                <p:cTn id="99" presetID="10" presetClass="entr" presetSubtype="0" accel="0" decel="10000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00"/>
                                        <p:tgtEl>
                                          <p:spTgt spid="20"/>
                                        </p:tgtEl>
                                      </p:cBhvr>
                                    </p:animEffect>
                                  </p:childTnLst>
                                </p:cTn>
                              </p:par>
                              <p:par>
                                <p:cTn id="102" presetID="0" presetClass="path" presetSubtype="0" accel="0" decel="100000" fill="hold" grpId="1" nodeType="withEffect">
                                  <p:stCondLst>
                                    <p:cond delay="0"/>
                                  </p:stCondLst>
                                  <p:childTnLst>
                                    <p:animMotion origin="layout" path="M 0 0.02778 L 0 0 E" pathEditMode="relative" rAng="0" ptsTypes="AA">
                                      <p:cBhvr>
                                        <p:cTn id="103" dur="500" fill="hold"/>
                                        <p:tgtEl>
                                          <p:spTgt spid="20"/>
                                        </p:tgtEl>
                                        <p:attrNameLst>
                                          <p:attrName>ppt_x</p:attrName>
                                          <p:attrName>ppt_y</p:attrName>
                                        </p:attrNameLst>
                                      </p:cBhvr>
                                    </p:animMotion>
                                  </p:childTnLst>
                                </p:cTn>
                              </p:par>
                              <p:par>
                                <p:cTn id="104" presetID="10" presetClass="entr" presetSubtype="0" accel="0" decel="10000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00"/>
                                        <p:tgtEl>
                                          <p:spTgt spid="21"/>
                                        </p:tgtEl>
                                      </p:cBhvr>
                                    </p:animEffect>
                                  </p:childTnLst>
                                </p:cTn>
                              </p:par>
                              <p:par>
                                <p:cTn id="107" presetID="0" presetClass="path" presetSubtype="0" accel="0" decel="100000" fill="hold" grpId="1" nodeType="withEffect">
                                  <p:stCondLst>
                                    <p:cond delay="0"/>
                                  </p:stCondLst>
                                  <p:childTnLst>
                                    <p:animMotion origin="layout" path="M 0 0.02778 L 0 0 E" pathEditMode="relative" rAng="0" ptsTypes="AA">
                                      <p:cBhvr>
                                        <p:cTn id="108" dur="500" fill="hold"/>
                                        <p:tgtEl>
                                          <p:spTgt spid="21"/>
                                        </p:tgtEl>
                                        <p:attrNameLst>
                                          <p:attrName>ppt_x</p:attrName>
                                          <p:attrName>ppt_y</p:attrName>
                                        </p:attrNameLst>
                                      </p:cBhvr>
                                    </p:animMotion>
                                  </p:childTnLst>
                                </p:cTn>
                              </p:par>
                              <p:par>
                                <p:cTn id="109" presetID="10" presetClass="entr" presetSubtype="0" accel="0" decel="100000"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500"/>
                                        <p:tgtEl>
                                          <p:spTgt spid="22"/>
                                        </p:tgtEl>
                                      </p:cBhvr>
                                    </p:animEffect>
                                  </p:childTnLst>
                                </p:cTn>
                              </p:par>
                              <p:par>
                                <p:cTn id="112" presetID="0" presetClass="path" presetSubtype="0" accel="0" decel="100000" fill="hold" grpId="1" nodeType="withEffect">
                                  <p:stCondLst>
                                    <p:cond delay="0"/>
                                  </p:stCondLst>
                                  <p:childTnLst>
                                    <p:animMotion origin="layout" path="M 0 0.02778 L 0 0 E" pathEditMode="relative" rAng="0" ptsTypes="AA">
                                      <p:cBhvr>
                                        <p:cTn id="113" dur="500" fill="hold"/>
                                        <p:tgtEl>
                                          <p:spTgt spid="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10" grpId="0" animBg="1"/>
      <p:bldP spid="10" grpId="1" animBg="1"/>
      <p:bldP spid="13" grpId="0" animBg="1"/>
      <p:bldP spid="13" grpId="1" animBg="1"/>
      <p:bldP spid="16" grpId="0" animBg="1"/>
      <p:bldP spid="16" grpId="1" animBg="1"/>
      <p:bldP spid="19" grpId="0" animBg="1"/>
      <p:bldP spid="19" grpId="1" animBg="1"/>
      <p:bldP spid="22" grpId="0" animBg="1"/>
      <p:bldP spid="22"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SITE WEB</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La page d’accueil</a:t>
            </a:r>
            <a:endParaRPr lang="en-US" sz="3000" dirty="0"/>
          </a:p>
        </p:txBody>
      </p:sp>
      <p:pic>
        <p:nvPicPr>
          <p:cNvPr id="4" name="C1_img" descr="Page d'accueil du site American's Gym">    </p:cNvPr>
          <p:cNvPicPr>
            <a:picLocks noChangeAspect="1"/>
          </p:cNvPicPr>
          <p:nvPr/>
        </p:nvPicPr>
        <p:blipFill>
          <a:blip r:embed="rId1"/>
          <a:stretch>
            <a:fillRect/>
          </a:stretch>
        </p:blipFill>
        <p:spPr>
          <a:xfrm>
            <a:off x="1493313" y="1828800"/>
            <a:ext cx="9205069" cy="393192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1493313" y="5870448"/>
            <a:ext cx="9205069" cy="274320"/>
          </a:xfrm>
          <a:prstGeom prst="rect">
            <a:avLst/>
          </a:prstGeom>
          <a:noFill/>
          <a:ln/>
        </p:spPr>
        <p:txBody>
          <a:bodyPr wrap="square" lIns="0" tIns="0" rIns="0" bIns="0" rtlCol="0" anchor="t"/>
          <a:lstStyle/>
          <a:p>
            <a:pPr algn="l" indent="0" marL="0">
              <a:buNone/>
            </a:pPr>
            <a:r>
              <a:rPr lang="en-US" sz="1100" dirty="0">
                <a:solidFill>
                  <a:schemeClr val="accent4"/>
                </a:solidFill>
              </a:rPr>
              <a:t>Page « Accueil »</a:t>
            </a:r>
            <a:endParaRPr lang="en-US" sz="1100" dirty="0"/>
          </a:p>
        </p:txBody>
      </p:sp>
      <p:sp>
        <p:nvSpPr>
          <p:cNvPr id="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SITE WEB</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pages du site</a:t>
            </a:r>
            <a:endParaRPr lang="en-US" sz="3000" dirty="0"/>
          </a:p>
        </p:txBody>
      </p:sp>
      <p:pic>
        <p:nvPicPr>
          <p:cNvPr id="4" name="C1_img0" descr="Page À propos">    </p:cNvPr>
          <p:cNvPicPr>
            <a:picLocks noChangeAspect="1"/>
          </p:cNvPicPr>
          <p:nvPr/>
        </p:nvPicPr>
        <p:blipFill>
          <a:blip r:embed="rId1"/>
          <a:stretch>
            <a:fillRect/>
          </a:stretch>
        </p:blipFill>
        <p:spPr>
          <a:xfrm>
            <a:off x="1440516" y="1783080"/>
            <a:ext cx="3717736" cy="1783080"/>
          </a:xfrm>
          <a:prstGeom prst="rect">
            <a:avLst/>
          </a:prstGeom>
          <a:effectLst>
            <a:outerShdw sx="100000" sy="100000" kx="0" ky="0" algn="bl" rotWithShape="0" blurRad="177800" dist="50800" dir="5400000">
              <a:srgbClr val="1D3557">
                <a:alpha val="16000"/>
              </a:srgbClr>
            </a:outerShdw>
          </a:effectLst>
        </p:spPr>
      </p:pic>
      <p:sp>
        <p:nvSpPr>
          <p:cNvPr id="5" name="C1_cap0"/>
          <p:cNvSpPr txBox="1"/>
          <p:nvPr/>
        </p:nvSpPr>
        <p:spPr>
          <a:xfrm>
            <a:off x="1440516" y="3639312"/>
            <a:ext cx="3717736" cy="274320"/>
          </a:xfrm>
          <a:prstGeom prst="rect">
            <a:avLst/>
          </a:prstGeom>
          <a:noFill/>
          <a:ln/>
        </p:spPr>
        <p:txBody>
          <a:bodyPr wrap="square" lIns="0" tIns="0" rIns="0" bIns="0" rtlCol="0" anchor="t"/>
          <a:lstStyle/>
          <a:p>
            <a:pPr algn="l" indent="0" marL="0">
              <a:buNone/>
            </a:pPr>
            <a:r>
              <a:rPr lang="en-US" sz="1100" dirty="0">
                <a:solidFill>
                  <a:schemeClr val="accent4"/>
                </a:solidFill>
              </a:rPr>
              <a:t>À propos</a:t>
            </a:r>
            <a:endParaRPr lang="en-US" sz="1100" dirty="0"/>
          </a:p>
        </p:txBody>
      </p:sp>
      <p:pic>
        <p:nvPicPr>
          <p:cNvPr id="6" name="C1_img1" descr="Page Nos équipements">    </p:cNvPr>
          <p:cNvPicPr>
            <a:picLocks noChangeAspect="1"/>
          </p:cNvPicPr>
          <p:nvPr/>
        </p:nvPicPr>
        <p:blipFill>
          <a:blip r:embed="rId2"/>
          <a:stretch>
            <a:fillRect/>
          </a:stretch>
        </p:blipFill>
        <p:spPr>
          <a:xfrm>
            <a:off x="7022136" y="1783080"/>
            <a:ext cx="3740351" cy="1783080"/>
          </a:xfrm>
          <a:prstGeom prst="rect">
            <a:avLst/>
          </a:prstGeom>
          <a:effectLst>
            <a:outerShdw sx="100000" sy="100000" kx="0" ky="0" algn="bl" rotWithShape="0" blurRad="177800" dist="50800" dir="5400000">
              <a:srgbClr val="1D3557">
                <a:alpha val="16000"/>
              </a:srgbClr>
            </a:outerShdw>
          </a:effectLst>
        </p:spPr>
      </p:pic>
      <p:sp>
        <p:nvSpPr>
          <p:cNvPr id="7" name="C1_cap1"/>
          <p:cNvSpPr txBox="1"/>
          <p:nvPr/>
        </p:nvSpPr>
        <p:spPr>
          <a:xfrm>
            <a:off x="7022136" y="3639312"/>
            <a:ext cx="3740351" cy="274320"/>
          </a:xfrm>
          <a:prstGeom prst="rect">
            <a:avLst/>
          </a:prstGeom>
          <a:noFill/>
          <a:ln/>
        </p:spPr>
        <p:txBody>
          <a:bodyPr wrap="square" lIns="0" tIns="0" rIns="0" bIns="0" rtlCol="0" anchor="t"/>
          <a:lstStyle/>
          <a:p>
            <a:pPr algn="l" indent="0" marL="0">
              <a:buNone/>
            </a:pPr>
            <a:r>
              <a:rPr lang="en-US" sz="1100" dirty="0">
                <a:solidFill>
                  <a:schemeClr val="accent4"/>
                </a:solidFill>
              </a:rPr>
              <a:t>Nos équipements</a:t>
            </a:r>
            <a:endParaRPr lang="en-US" sz="1100" dirty="0"/>
          </a:p>
        </p:txBody>
      </p:sp>
      <p:pic>
        <p:nvPicPr>
          <p:cNvPr id="8" name="C2_img2" descr="Page Boutique">    </p:cNvPr>
          <p:cNvPicPr>
            <a:picLocks noChangeAspect="1"/>
          </p:cNvPicPr>
          <p:nvPr/>
        </p:nvPicPr>
        <p:blipFill>
          <a:blip r:embed="rId3"/>
          <a:stretch>
            <a:fillRect/>
          </a:stretch>
        </p:blipFill>
        <p:spPr>
          <a:xfrm>
            <a:off x="1427462" y="4023360"/>
            <a:ext cx="3743845" cy="1783080"/>
          </a:xfrm>
          <a:prstGeom prst="rect">
            <a:avLst/>
          </a:prstGeom>
          <a:effectLst>
            <a:outerShdw sx="100000" sy="100000" kx="0" ky="0" algn="bl" rotWithShape="0" blurRad="177800" dist="50800" dir="5400000">
              <a:srgbClr val="1D3557">
                <a:alpha val="16000"/>
              </a:srgbClr>
            </a:outerShdw>
          </a:effectLst>
        </p:spPr>
      </p:pic>
      <p:sp>
        <p:nvSpPr>
          <p:cNvPr id="9" name="C2_cap2"/>
          <p:cNvSpPr txBox="1"/>
          <p:nvPr/>
        </p:nvSpPr>
        <p:spPr>
          <a:xfrm>
            <a:off x="1427462" y="5879592"/>
            <a:ext cx="3743845" cy="274320"/>
          </a:xfrm>
          <a:prstGeom prst="rect">
            <a:avLst/>
          </a:prstGeom>
          <a:noFill/>
          <a:ln/>
        </p:spPr>
        <p:txBody>
          <a:bodyPr wrap="square" lIns="0" tIns="0" rIns="0" bIns="0" rtlCol="0" anchor="t"/>
          <a:lstStyle/>
          <a:p>
            <a:pPr algn="l" indent="0" marL="0">
              <a:buNone/>
            </a:pPr>
            <a:r>
              <a:rPr lang="en-US" sz="1100" dirty="0">
                <a:solidFill>
                  <a:schemeClr val="accent4"/>
                </a:solidFill>
              </a:rPr>
              <a:t>Boutique</a:t>
            </a:r>
            <a:endParaRPr lang="en-US" sz="1100" dirty="0"/>
          </a:p>
        </p:txBody>
      </p:sp>
      <p:pic>
        <p:nvPicPr>
          <p:cNvPr id="10" name="C2_img3" descr="Page Tarifs et abonnements">    </p:cNvPr>
          <p:cNvPicPr>
            <a:picLocks noChangeAspect="1"/>
          </p:cNvPicPr>
          <p:nvPr/>
        </p:nvPicPr>
        <p:blipFill>
          <a:blip r:embed="rId4"/>
          <a:stretch>
            <a:fillRect/>
          </a:stretch>
        </p:blipFill>
        <p:spPr>
          <a:xfrm>
            <a:off x="7032320" y="4023360"/>
            <a:ext cx="3719982" cy="1783080"/>
          </a:xfrm>
          <a:prstGeom prst="rect">
            <a:avLst/>
          </a:prstGeom>
          <a:effectLst>
            <a:outerShdw sx="100000" sy="100000" kx="0" ky="0" algn="bl" rotWithShape="0" blurRad="177800" dist="50800" dir="5400000">
              <a:srgbClr val="1D3557">
                <a:alpha val="16000"/>
              </a:srgbClr>
            </a:outerShdw>
          </a:effectLst>
        </p:spPr>
      </p:pic>
      <p:sp>
        <p:nvSpPr>
          <p:cNvPr id="11" name="C2_cap3"/>
          <p:cNvSpPr txBox="1"/>
          <p:nvPr/>
        </p:nvSpPr>
        <p:spPr>
          <a:xfrm>
            <a:off x="7032320" y="5879592"/>
            <a:ext cx="3719982" cy="274320"/>
          </a:xfrm>
          <a:prstGeom prst="rect">
            <a:avLst/>
          </a:prstGeom>
          <a:noFill/>
          <a:ln/>
        </p:spPr>
        <p:txBody>
          <a:bodyPr wrap="square" lIns="0" tIns="0" rIns="0" bIns="0" rtlCol="0" anchor="t"/>
          <a:lstStyle/>
          <a:p>
            <a:pPr algn="l" indent="0" marL="0">
              <a:buNone/>
            </a:pPr>
            <a:r>
              <a:rPr lang="en-US" sz="1100" dirty="0">
                <a:solidFill>
                  <a:schemeClr val="accent4"/>
                </a:solidFill>
              </a:rPr>
              <a:t>Tarifs et abonnements</a:t>
            </a:r>
            <a:endParaRPr lang="en-US" sz="11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9" grpId="0" animBg="1"/>
      <p:bldP spid="9" grpId="1" animBg="1"/>
      <p:bldP spid="11" grpId="0" animBg="1"/>
      <p:bldP spid="11"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05</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Conclusion</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05  ·  CONCLUSION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réponse concrète à la problématique</a:t>
            </a:r>
            <a:endParaRPr lang="en-US" sz="3000" dirty="0"/>
          </a:p>
        </p:txBody>
      </p:sp>
      <p:sp>
        <p:nvSpPr>
          <p:cNvPr id="4" name="C1_i_disc"/>
          <p:cNvSpPr/>
          <p:nvPr/>
        </p:nvSpPr>
        <p:spPr>
          <a:xfrm>
            <a:off x="685800" y="2011680"/>
            <a:ext cx="777240" cy="777240"/>
          </a:xfrm>
          <a:prstGeom prst="ellipse">
            <a:avLst/>
          </a:prstGeom>
          <a:solidFill>
            <a:schemeClr val="tx1"/>
          </a:solidFill>
          <a:ln/>
        </p:spPr>
      </p:sp>
      <p:pic>
        <p:nvPicPr>
          <p:cNvPr id="5" name="C1_i_ico" descr="preencoded.png">    </p:cNvPr>
          <p:cNvPicPr>
            <a:picLocks noChangeAspect="1"/>
          </p:cNvPicPr>
          <p:nvPr/>
        </p:nvPicPr>
        <p:blipFill>
          <a:blip r:embed="rId1"/>
          <a:stretch>
            <a:fillRect/>
          </a:stretch>
        </p:blipFill>
        <p:spPr>
          <a:xfrm>
            <a:off x="880110" y="2205990"/>
            <a:ext cx="388620" cy="388620"/>
          </a:xfrm>
          <a:prstGeom prst="rect">
            <a:avLst/>
          </a:prstGeom>
        </p:spPr>
      </p:pic>
      <p:sp>
        <p:nvSpPr>
          <p:cNvPr id="6" name="C1_t"/>
          <p:cNvSpPr txBox="1"/>
          <p:nvPr/>
        </p:nvSpPr>
        <p:spPr>
          <a:xfrm>
            <a:off x="1783080" y="2057400"/>
            <a:ext cx="9692640" cy="685800"/>
          </a:xfrm>
          <a:prstGeom prst="rect">
            <a:avLst/>
          </a:prstGeom>
          <a:noFill/>
          <a:ln/>
        </p:spPr>
        <p:txBody>
          <a:bodyPr wrap="square" lIns="0" tIns="0" rIns="0" bIns="0" rtlCol="0" anchor="ctr"/>
          <a:lstStyle/>
          <a:p>
            <a:pPr indent="0" marL="0">
              <a:buNone/>
            </a:pPr>
            <a:r>
              <a:rPr lang="en-US" sz="1900" b="1" dirty="0">
                <a:solidFill>
                  <a:schemeClr val="tx1"/>
                </a:solidFill>
              </a:rPr>
              <a:t>Une identité visuelle cohérente</a:t>
            </a:r>
            <a:endParaRPr lang="en-US" sz="1900" dirty="0"/>
          </a:p>
        </p:txBody>
      </p:sp>
      <p:sp>
        <p:nvSpPr>
          <p:cNvPr id="7" name="C2_i_disc"/>
          <p:cNvSpPr/>
          <p:nvPr/>
        </p:nvSpPr>
        <p:spPr>
          <a:xfrm>
            <a:off x="685800" y="3200400"/>
            <a:ext cx="777240" cy="777240"/>
          </a:xfrm>
          <a:prstGeom prst="ellipse">
            <a:avLst/>
          </a:prstGeom>
          <a:solidFill>
            <a:schemeClr val="tx1"/>
          </a:solidFill>
          <a:ln/>
        </p:spPr>
      </p:sp>
      <p:pic>
        <p:nvPicPr>
          <p:cNvPr id="8" name="C2_i_ico" descr="preencoded.png">    </p:cNvPr>
          <p:cNvPicPr>
            <a:picLocks noChangeAspect="1"/>
          </p:cNvPicPr>
          <p:nvPr/>
        </p:nvPicPr>
        <p:blipFill>
          <a:blip r:embed="rId2"/>
          <a:stretch>
            <a:fillRect/>
          </a:stretch>
        </p:blipFill>
        <p:spPr>
          <a:xfrm>
            <a:off x="880110" y="3394710"/>
            <a:ext cx="388620" cy="388620"/>
          </a:xfrm>
          <a:prstGeom prst="rect">
            <a:avLst/>
          </a:prstGeom>
        </p:spPr>
      </p:pic>
      <p:sp>
        <p:nvSpPr>
          <p:cNvPr id="9" name="C2_t"/>
          <p:cNvSpPr txBox="1"/>
          <p:nvPr/>
        </p:nvSpPr>
        <p:spPr>
          <a:xfrm>
            <a:off x="1783080" y="3246120"/>
            <a:ext cx="9692640" cy="685800"/>
          </a:xfrm>
          <a:prstGeom prst="rect">
            <a:avLst/>
          </a:prstGeom>
          <a:noFill/>
          <a:ln/>
        </p:spPr>
        <p:txBody>
          <a:bodyPr wrap="square" lIns="0" tIns="0" rIns="0" bIns="0" rtlCol="0" anchor="ctr"/>
          <a:lstStyle/>
          <a:p>
            <a:pPr indent="0" marL="0">
              <a:buNone/>
            </a:pPr>
            <a:r>
              <a:rPr lang="en-US" sz="1900" b="1" dirty="0">
                <a:solidFill>
                  <a:schemeClr val="tx1"/>
                </a:solidFill>
              </a:rPr>
              <a:t>Des supports imprimés, audiovisuels et numériques complémentaires</a:t>
            </a:r>
            <a:endParaRPr lang="en-US" sz="1900" dirty="0"/>
          </a:p>
        </p:txBody>
      </p:sp>
      <p:sp>
        <p:nvSpPr>
          <p:cNvPr id="10" name="C3_i_disc"/>
          <p:cNvSpPr/>
          <p:nvPr/>
        </p:nvSpPr>
        <p:spPr>
          <a:xfrm>
            <a:off x="685800" y="4389120"/>
            <a:ext cx="777240" cy="777240"/>
          </a:xfrm>
          <a:prstGeom prst="ellipse">
            <a:avLst/>
          </a:prstGeom>
          <a:solidFill>
            <a:schemeClr val="accent1"/>
          </a:solidFill>
          <a:ln/>
        </p:spPr>
      </p:sp>
      <p:pic>
        <p:nvPicPr>
          <p:cNvPr id="11" name="C3_i_ico" descr="preencoded.png">    </p:cNvPr>
          <p:cNvPicPr>
            <a:picLocks noChangeAspect="1"/>
          </p:cNvPicPr>
          <p:nvPr/>
        </p:nvPicPr>
        <p:blipFill>
          <a:blip r:embed="rId3"/>
          <a:stretch>
            <a:fillRect/>
          </a:stretch>
        </p:blipFill>
        <p:spPr>
          <a:xfrm>
            <a:off x="880110" y="4583430"/>
            <a:ext cx="388620" cy="388620"/>
          </a:xfrm>
          <a:prstGeom prst="rect">
            <a:avLst/>
          </a:prstGeom>
        </p:spPr>
      </p:pic>
      <p:sp>
        <p:nvSpPr>
          <p:cNvPr id="12" name="C3_t"/>
          <p:cNvSpPr txBox="1"/>
          <p:nvPr/>
        </p:nvSpPr>
        <p:spPr>
          <a:xfrm>
            <a:off x="1783080" y="4434840"/>
            <a:ext cx="9692640" cy="685800"/>
          </a:xfrm>
          <a:prstGeom prst="rect">
            <a:avLst/>
          </a:prstGeom>
          <a:noFill/>
          <a:ln/>
        </p:spPr>
        <p:txBody>
          <a:bodyPr wrap="square" lIns="0" tIns="0" rIns="0" bIns="0" rtlCol="0" anchor="ctr"/>
          <a:lstStyle/>
          <a:p>
            <a:pPr indent="0" marL="0">
              <a:buNone/>
            </a:pPr>
            <a:r>
              <a:rPr lang="en-US" sz="1900" b="1" dirty="0">
                <a:solidFill>
                  <a:schemeClr val="tx1"/>
                </a:solidFill>
              </a:rPr>
              <a:t>Une image plus professionnelle de la structure</a:t>
            </a:r>
            <a:endParaRPr lang="en-US" sz="1900" dirty="0"/>
          </a:p>
        </p:txBody>
      </p:sp>
      <p:sp>
        <p:nvSpPr>
          <p:cNvPr id="1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0" decel="10000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accel="0" decel="10000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0" presetClass="path" presetSubtype="0" accel="0" decel="100000" fill="hold" grpId="1" nodeType="withEffect">
                                  <p:stCondLst>
                                    <p:cond delay="0"/>
                                  </p:stCondLst>
                                  <p:childTnLst>
                                    <p:animMotion origin="layout" path="M 0 0.02778 L 0 0 E" pathEditMode="relative" rAng="0" ptsTypes="AA">
                                      <p:cBhvr>
                                        <p:cTn id="55" dur="500" fill="hold"/>
                                        <p:tgtEl>
                                          <p:spTgt spid="10"/>
                                        </p:tgtEl>
                                        <p:attrNameLst>
                                          <p:attrName>ppt_x</p:attrName>
                                          <p:attrName>ppt_y</p:attrName>
                                        </p:attrNameLst>
                                      </p:cBhvr>
                                    </p:animMotion>
                                  </p:childTnLst>
                                </p:cTn>
                              </p:par>
                              <p:par>
                                <p:cTn id="56" presetID="10" presetClass="entr" presetSubtype="0" accel="0" decel="10000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0" presetClass="path" presetSubtype="0" accel="0" decel="100000" fill="hold" grpId="1" nodeType="withEffect">
                                  <p:stCondLst>
                                    <p:cond delay="0"/>
                                  </p:stCondLst>
                                  <p:childTnLst>
                                    <p:animMotion origin="layout" path="M 0 0.02778 L 0 0 E" pathEditMode="relative" rAng="0" ptsTypes="AA">
                                      <p:cBhvr>
                                        <p:cTn id="60" dur="500" fill="hold"/>
                                        <p:tgtEl>
                                          <p:spTgt spid="11"/>
                                        </p:tgtEl>
                                        <p:attrNameLst>
                                          <p:attrName>ppt_x</p:attrName>
                                          <p:attrName>ppt_y</p:attrName>
                                        </p:attrNameLst>
                                      </p:cBhvr>
                                    </p:animMotion>
                                  </p:childTnLst>
                                </p:cTn>
                              </p:par>
                              <p:par>
                                <p:cTn id="61" presetID="10" presetClass="entr" presetSubtype="0" accel="0" decel="10000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0" presetClass="path" presetSubtype="0" accel="0" decel="100000" fill="hold" grpId="1" nodeType="withEffect">
                                  <p:stCondLst>
                                    <p:cond delay="0"/>
                                  </p:stCondLst>
                                  <p:childTnLst>
                                    <p:animMotion origin="layout" path="M 0 0.02778 L 0 0 E" pathEditMode="relative" rAng="0" ptsTypes="AA">
                                      <p:cBhvr>
                                        <p:cTn id="65" dur="5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05  ·  RECOMMANDATIONS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Pour une communication durable</a:t>
            </a:r>
            <a:endParaRPr lang="en-US" sz="3000" dirty="0"/>
          </a:p>
        </p:txBody>
      </p:sp>
      <p:sp>
        <p:nvSpPr>
          <p:cNvPr id="4" name="C1_card"/>
          <p:cNvSpPr/>
          <p:nvPr/>
        </p:nvSpPr>
        <p:spPr>
          <a:xfrm>
            <a:off x="685800" y="2103120"/>
            <a:ext cx="3393338" cy="3566160"/>
          </a:xfrm>
          <a:prstGeom prst="roundRect">
            <a:avLst>
              <a:gd name="adj" fmla="val 3234"/>
            </a:avLst>
          </a:prstGeom>
          <a:solidFill>
            <a:schemeClr val="bg2"/>
          </a:solidFill>
          <a:ln/>
        </p:spPr>
      </p:sp>
      <p:sp>
        <p:nvSpPr>
          <p:cNvPr id="5" name="C1_i_disc"/>
          <p:cNvSpPr/>
          <p:nvPr/>
        </p:nvSpPr>
        <p:spPr>
          <a:xfrm>
            <a:off x="1051560" y="2468880"/>
            <a:ext cx="914400" cy="914400"/>
          </a:xfrm>
          <a:prstGeom prst="ellipse">
            <a:avLst/>
          </a:prstGeom>
          <a:solidFill>
            <a:schemeClr val="tx1"/>
          </a:solidFill>
          <a:ln/>
        </p:spPr>
      </p:sp>
      <p:pic>
        <p:nvPicPr>
          <p:cNvPr id="6" name="C1_i_ico" descr="preencoded.png">    </p:cNvPr>
          <p:cNvPicPr>
            <a:picLocks noChangeAspect="1"/>
          </p:cNvPicPr>
          <p:nvPr/>
        </p:nvPicPr>
        <p:blipFill>
          <a:blip r:embed="rId1"/>
          <a:stretch>
            <a:fillRect/>
          </a:stretch>
        </p:blipFill>
        <p:spPr>
          <a:xfrm>
            <a:off x="1280160" y="2697480"/>
            <a:ext cx="457200" cy="457200"/>
          </a:xfrm>
          <a:prstGeom prst="rect">
            <a:avLst/>
          </a:prstGeom>
        </p:spPr>
      </p:pic>
      <p:sp>
        <p:nvSpPr>
          <p:cNvPr id="7" name="C1_t"/>
          <p:cNvSpPr txBox="1"/>
          <p:nvPr/>
        </p:nvSpPr>
        <p:spPr>
          <a:xfrm>
            <a:off x="960120" y="3703320"/>
            <a:ext cx="2844698" cy="1463040"/>
          </a:xfrm>
          <a:prstGeom prst="rect">
            <a:avLst/>
          </a:prstGeom>
          <a:noFill/>
          <a:ln/>
        </p:spPr>
        <p:txBody>
          <a:bodyPr wrap="square" lIns="0" tIns="0" rIns="0" bIns="0" rtlCol="0" anchor="t"/>
          <a:lstStyle/>
          <a:p>
            <a:pPr indent="0" marL="0">
              <a:buNone/>
            </a:pPr>
            <a:r>
              <a:rPr lang="en-US" sz="1600" b="1" dirty="0">
                <a:solidFill>
                  <a:schemeClr val="tx1"/>
                </a:solidFill>
              </a:rPr>
              <a:t>Adopter une stratégie cohérente et durable</a:t>
            </a:r>
            <a:endParaRPr lang="en-US" sz="1600" dirty="0"/>
          </a:p>
        </p:txBody>
      </p:sp>
      <p:sp>
        <p:nvSpPr>
          <p:cNvPr id="8" name="C2_card"/>
          <p:cNvSpPr/>
          <p:nvPr/>
        </p:nvSpPr>
        <p:spPr>
          <a:xfrm>
            <a:off x="4399178" y="2103120"/>
            <a:ext cx="3393338" cy="3566160"/>
          </a:xfrm>
          <a:prstGeom prst="roundRect">
            <a:avLst>
              <a:gd name="adj" fmla="val 3234"/>
            </a:avLst>
          </a:prstGeom>
          <a:solidFill>
            <a:schemeClr val="bg2"/>
          </a:solidFill>
          <a:ln/>
        </p:spPr>
      </p:sp>
      <p:sp>
        <p:nvSpPr>
          <p:cNvPr id="9" name="C2_i_disc"/>
          <p:cNvSpPr/>
          <p:nvPr/>
        </p:nvSpPr>
        <p:spPr>
          <a:xfrm>
            <a:off x="4764938" y="2468880"/>
            <a:ext cx="914400" cy="914400"/>
          </a:xfrm>
          <a:prstGeom prst="ellipse">
            <a:avLst/>
          </a:prstGeom>
          <a:solidFill>
            <a:schemeClr val="tx1"/>
          </a:solidFill>
          <a:ln/>
        </p:spPr>
      </p:sp>
      <p:pic>
        <p:nvPicPr>
          <p:cNvPr id="10" name="C2_i_ico" descr="preencoded.png">    </p:cNvPr>
          <p:cNvPicPr>
            <a:picLocks noChangeAspect="1"/>
          </p:cNvPicPr>
          <p:nvPr/>
        </p:nvPicPr>
        <p:blipFill>
          <a:blip r:embed="rId2"/>
          <a:stretch>
            <a:fillRect/>
          </a:stretch>
        </p:blipFill>
        <p:spPr>
          <a:xfrm>
            <a:off x="4993538" y="2697480"/>
            <a:ext cx="457200" cy="457200"/>
          </a:xfrm>
          <a:prstGeom prst="rect">
            <a:avLst/>
          </a:prstGeom>
        </p:spPr>
      </p:pic>
      <p:sp>
        <p:nvSpPr>
          <p:cNvPr id="11" name="C2_t"/>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600" b="1" dirty="0">
                <a:solidFill>
                  <a:schemeClr val="tx1"/>
                </a:solidFill>
              </a:rPr>
              <a:t>Actualiser régulièrement les contenus</a:t>
            </a:r>
            <a:endParaRPr lang="en-US" sz="1600" dirty="0"/>
          </a:p>
        </p:txBody>
      </p:sp>
      <p:sp>
        <p:nvSpPr>
          <p:cNvPr id="12" name="C3_card"/>
          <p:cNvSpPr/>
          <p:nvPr/>
        </p:nvSpPr>
        <p:spPr>
          <a:xfrm>
            <a:off x="8112557" y="2103120"/>
            <a:ext cx="3393338" cy="3566160"/>
          </a:xfrm>
          <a:prstGeom prst="roundRect">
            <a:avLst>
              <a:gd name="adj" fmla="val 3234"/>
            </a:avLst>
          </a:prstGeom>
          <a:solidFill>
            <a:schemeClr val="bg2"/>
          </a:solidFill>
          <a:ln/>
        </p:spPr>
      </p:sp>
      <p:sp>
        <p:nvSpPr>
          <p:cNvPr id="13" name="C3_i_disc"/>
          <p:cNvSpPr/>
          <p:nvPr/>
        </p:nvSpPr>
        <p:spPr>
          <a:xfrm>
            <a:off x="8478317" y="2468880"/>
            <a:ext cx="914400" cy="914400"/>
          </a:xfrm>
          <a:prstGeom prst="ellipse">
            <a:avLst/>
          </a:prstGeom>
          <a:solidFill>
            <a:schemeClr val="tx1"/>
          </a:solidFill>
          <a:ln/>
        </p:spPr>
      </p:sp>
      <p:pic>
        <p:nvPicPr>
          <p:cNvPr id="14" name="C3_i_ico" descr="preencoded.png">    </p:cNvPr>
          <p:cNvPicPr>
            <a:picLocks noChangeAspect="1"/>
          </p:cNvPicPr>
          <p:nvPr/>
        </p:nvPicPr>
        <p:blipFill>
          <a:blip r:embed="rId3"/>
          <a:stretch>
            <a:fillRect/>
          </a:stretch>
        </p:blipFill>
        <p:spPr>
          <a:xfrm>
            <a:off x="8706917" y="2697480"/>
            <a:ext cx="457200" cy="457200"/>
          </a:xfrm>
          <a:prstGeom prst="rect">
            <a:avLst/>
          </a:prstGeom>
        </p:spPr>
      </p:pic>
      <p:sp>
        <p:nvSpPr>
          <p:cNvPr id="15" name="C3_t"/>
          <p:cNvSpPr txBox="1"/>
          <p:nvPr/>
        </p:nvSpPr>
        <p:spPr>
          <a:xfrm>
            <a:off x="8386877" y="3703320"/>
            <a:ext cx="2844698" cy="1463040"/>
          </a:xfrm>
          <a:prstGeom prst="rect">
            <a:avLst/>
          </a:prstGeom>
          <a:noFill/>
          <a:ln/>
        </p:spPr>
        <p:txBody>
          <a:bodyPr wrap="square" lIns="0" tIns="0" rIns="0" bIns="0" rtlCol="0" anchor="t"/>
          <a:lstStyle/>
          <a:p>
            <a:pPr indent="0" marL="0">
              <a:buNone/>
            </a:pPr>
            <a:r>
              <a:rPr lang="en-US" sz="1600" b="1" dirty="0">
                <a:solidFill>
                  <a:schemeClr val="tx1"/>
                </a:solidFill>
              </a:rPr>
              <a:t>Mesurer : interactions, inscriptions, adhérents</a:t>
            </a:r>
            <a:endParaRPr lang="en-US" sz="1600" dirty="0"/>
          </a:p>
        </p:txBody>
      </p:sp>
      <p:sp>
        <p:nvSpPr>
          <p:cNvPr id="1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0" presetClass="entr" presetSubtype="0" accel="0" decel="10000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0" presetClass="path" presetSubtype="0" accel="0" decel="100000" fill="hold" grpId="1" nodeType="withEffect">
                                  <p:stCondLst>
                                    <p:cond delay="0"/>
                                  </p:stCondLst>
                                  <p:childTnLst>
                                    <p:animMotion origin="layout" path="M 0 0.02778 L 0 0 E" pathEditMode="relative" rAng="0" ptsTypes="AA">
                                      <p:cBhvr>
                                        <p:cTn id="65" dur="500" fill="hold"/>
                                        <p:tgtEl>
                                          <p:spTgt spid="12"/>
                                        </p:tgtEl>
                                        <p:attrNameLst>
                                          <p:attrName>ppt_x</p:attrName>
                                          <p:attrName>ppt_y</p:attrName>
                                        </p:attrNameLst>
                                      </p:cBhvr>
                                    </p:animMotion>
                                  </p:childTnLst>
                                </p:cTn>
                              </p:par>
                              <p:par>
                                <p:cTn id="66" presetID="10" presetClass="entr" presetSubtype="0" accel="0" decel="10000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par>
                                <p:cTn id="69" presetID="0" presetClass="path" presetSubtype="0" accel="0" decel="100000" fill="hold" grpId="1" nodeType="withEffect">
                                  <p:stCondLst>
                                    <p:cond delay="0"/>
                                  </p:stCondLst>
                                  <p:childTnLst>
                                    <p:animMotion origin="layout" path="M 0 0.02778 L 0 0 E" pathEditMode="relative" rAng="0" ptsTypes="AA">
                                      <p:cBhvr>
                                        <p:cTn id="70" dur="500" fill="hold"/>
                                        <p:tgtEl>
                                          <p:spTgt spid="13"/>
                                        </p:tgtEl>
                                        <p:attrNameLst>
                                          <p:attrName>ppt_x</p:attrName>
                                          <p:attrName>ppt_y</p:attrName>
                                        </p:attrNameLst>
                                      </p:cBhvr>
                                    </p:animMotion>
                                  </p:childTnLst>
                                </p:cTn>
                              </p:par>
                              <p:par>
                                <p:cTn id="71" presetID="10" presetClass="entr" presetSubtype="0" accel="0" decel="10000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4" presetID="0" presetClass="path" presetSubtype="0" accel="0" decel="100000" fill="hold" grpId="1" nodeType="withEffect">
                                  <p:stCondLst>
                                    <p:cond delay="0"/>
                                  </p:stCondLst>
                                  <p:childTnLst>
                                    <p:animMotion origin="layout" path="M 0 0.02778 L 0 0 E" pathEditMode="relative" rAng="0" ptsTypes="AA">
                                      <p:cBhvr>
                                        <p:cTn id="75" dur="500" fill="hold"/>
                                        <p:tgtEl>
                                          <p:spTgt spid="14"/>
                                        </p:tgtEl>
                                        <p:attrNameLst>
                                          <p:attrName>ppt_x</p:attrName>
                                          <p:attrName>ppt_y</p:attrName>
                                        </p:attrNameLst>
                                      </p:cBhvr>
                                    </p:animMotion>
                                  </p:childTnLst>
                                </p:cTn>
                              </p:par>
                              <p:par>
                                <p:cTn id="76" presetID="10" presetClass="entr" presetSubtype="0" accel="0" decel="10000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0" presetClass="path" presetSubtype="0" accel="0" decel="100000" fill="hold" grpId="1" nodeType="withEffect">
                                  <p:stCondLst>
                                    <p:cond delay="0"/>
                                  </p:stCondLst>
                                  <p:childTnLst>
                                    <p:animMotion origin="layout" path="M 0 0.02778 L 0 0 E" pathEditMode="relative" rAng="0" ptsTypes="AA">
                                      <p:cBhvr>
                                        <p:cTn id="80" dur="5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11" grpId="0" animBg="1"/>
      <p:bldP spid="11" grpId="1" animBg="1"/>
      <p:bldP spid="15" grpId="0" animBg="1"/>
      <p:bldP spid="15"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85800" y="11430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2"/>
                </a:solidFill>
              </a:rPr>
              <a:t>FIN DE LA PRÉSENTATION</a:t>
            </a:r>
            <a:endParaRPr lang="en-US" sz="1100" dirty="0"/>
          </a:p>
        </p:txBody>
      </p:sp>
      <p:sp>
        <p:nvSpPr>
          <p:cNvPr id="3" name="Text 0"/>
          <p:cNvSpPr/>
          <p:nvPr>
            <p:ph idx="101" type="title" hasCustomPrompt="1"/>
          </p:nvPr>
        </p:nvSpPr>
        <p:spPr>
          <a:xfrm>
            <a:off x="685800" y="1645920"/>
            <a:ext cx="9692640" cy="3566160"/>
          </a:xfrm>
          <a:prstGeom prst="rect">
            <a:avLst/>
          </a:prstGeom>
          <a:noFill/>
          <a:ln/>
        </p:spPr>
        <p:txBody>
          <a:bodyPr wrap="square" lIns="0" tIns="0" rIns="0" bIns="0" rtlCol="0" anchor="t"/>
          <a:lstStyle/>
          <a:p>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Merci de votre attention</a:t>
            </a:r>
            <a:endParaRPr lang="en-US" sz="3000" dirty="0"/>
          </a:p>
        </p:txBody>
      </p:sp>
      <p:pic>
        <p:nvPicPr>
          <p:cNvPr id="4" name="C1_logo" descr="Logo American's Gym">    </p:cNvPr>
          <p:cNvPicPr>
            <a:picLocks noChangeAspect="1"/>
          </p:cNvPicPr>
          <p:nvPr/>
        </p:nvPicPr>
        <p:blipFill>
          <a:blip r:embed="rId1"/>
          <a:stretch>
            <a:fillRect/>
          </a:stretch>
        </p:blipFill>
        <p:spPr>
          <a:xfrm>
            <a:off x="8138160" y="2100249"/>
            <a:ext cx="3383280" cy="2566063"/>
          </a:xfrm>
          <a:prstGeom prst="rect">
            <a:avLst/>
          </a:prstGeom>
        </p:spPr>
      </p:pic>
      <p:sp>
        <p:nvSpPr>
          <p:cNvPr id="5" name="C1_nom"/>
          <p:cNvSpPr txBox="1"/>
          <p:nvPr/>
        </p:nvSpPr>
        <p:spPr>
          <a:xfrm>
            <a:off x="685800" y="3017520"/>
            <a:ext cx="6858000" cy="411480"/>
          </a:xfrm>
          <a:prstGeom prst="rect">
            <a:avLst/>
          </a:prstGeom>
          <a:noFill/>
          <a:ln/>
        </p:spPr>
        <p:txBody>
          <a:bodyPr wrap="square" lIns="0" tIns="0" rIns="0" bIns="0" rtlCol="0" anchor="t"/>
          <a:lstStyle/>
          <a:p>
            <a:pPr indent="0" marL="0">
              <a:buNone/>
            </a:pPr>
            <a:r>
              <a:rPr lang="en-US" sz="1800" b="1" dirty="0">
                <a:solidFill>
                  <a:schemeClr val="bg1"/>
                </a:solidFill>
              </a:rPr>
              <a:t>CAMARA BINTOU ÉPSE HOZAN</a:t>
            </a:r>
            <a:endParaRPr lang="en-US" sz="1800" dirty="0"/>
          </a:p>
        </p:txBody>
      </p:sp>
      <p:sp>
        <p:nvSpPr>
          <p:cNvPr id="6" name="C1_sub"/>
          <p:cNvSpPr txBox="1"/>
          <p:nvPr/>
        </p:nvSpPr>
        <p:spPr>
          <a:xfrm>
            <a:off x="685800" y="3474720"/>
            <a:ext cx="7315200" cy="365760"/>
          </a:xfrm>
          <a:prstGeom prst="rect">
            <a:avLst/>
          </a:prstGeom>
          <a:noFill/>
          <a:ln/>
        </p:spPr>
        <p:txBody>
          <a:bodyPr wrap="square" lIns="0" tIns="0" rIns="0" bIns="0" rtlCol="0" anchor="t"/>
          <a:lstStyle/>
          <a:p>
            <a:pPr indent="0" marL="0">
              <a:buNone/>
            </a:pPr>
            <a:r>
              <a:rPr lang="en-US" sz="1200" dirty="0">
                <a:solidFill>
                  <a:schemeClr val="accent2"/>
                </a:solidFill>
              </a:rPr>
              <a:t>Licence professionnelle Arts et Images Numériques  ·  ISTC Polytechnique  ·  2025-2026</a:t>
            </a:r>
            <a:endParaRPr lang="en-US" sz="1200" dirty="0"/>
          </a:p>
        </p:txBody>
      </p:sp>
      <p:sp>
        <p:nvSpPr>
          <p:cNvPr id="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Lst>
  </p:timing>
</p:sld>
</file>

<file path=ppt/theme/theme1.xml><?xml version="1.0" encoding="utf-8"?>
<a:theme xmlns:a="http://schemas.openxmlformats.org/drawingml/2006/main" name="American's Gym">
  <a:themeElements>
    <a:clrScheme name="American's Gym">
      <a:dk1>
        <a:srgbClr val="1D3557"/>
      </a:dk1>
      <a:lt1>
        <a:srgbClr val="FFFFFF"/>
      </a:lt1>
      <a:dk2>
        <a:srgbClr val="2B3A4F"/>
      </a:dk2>
      <a:lt2>
        <a:srgbClr val="EEF2F6"/>
      </a:lt2>
      <a:accent1>
        <a:srgbClr val="E63946"/>
      </a:accent1>
      <a:accent2>
        <a:srgbClr val="A8DADC"/>
      </a:accent2>
      <a:accent3>
        <a:srgbClr val="1D3557"/>
      </a:accent3>
      <a:accent4>
        <a:srgbClr val="6B7A90"/>
      </a:accent4>
      <a:accent5>
        <a:srgbClr val="142640"/>
      </a:accent5>
      <a:accent6>
        <a:srgbClr val="F7D7DA"/>
      </a:accent6>
      <a:hlink>
        <a:srgbClr val="E63946"/>
      </a:hlink>
      <a:folHlink>
        <a:srgbClr val="1D3557"/>
      </a:folHlink>
    </a:clrScheme>
    <a:fontScheme name="American's Gym">
      <a:majorFont>
        <a:latin typeface="Poppins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ISTC Polytechnique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 Supports de communication American's Gym</dc:title>
  <dc:subject>PptxGenJS Presentation</dc:subject>
  <dc:creator>CAMARA BINTOU ÉPSE HOZAN</dc:creator>
  <cp:lastModifiedBy>CAMARA BINTOU ÉPSE HOZAN</cp:lastModifiedBy>
  <cp:revision>1</cp:revision>
  <dcterms:created xsi:type="dcterms:W3CDTF">2026-10-24T10:30:46Z</dcterms:created>
  <dcterms:modified xsi:type="dcterms:W3CDTF">2026-10-24T10:30:46Z</dcterms:modified>
</cp:coreProperties>
</file>