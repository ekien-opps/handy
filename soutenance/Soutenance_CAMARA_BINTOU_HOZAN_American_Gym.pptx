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51d7e28b-42e1-0418-cd18-1af271b4055a}">
          <p14:sldIdLst>
            <p14:sldId id="256"/>
            <p14:sldId id="257"/>
          </p14:sldIdLst>
        </p14:section>
        <p14:section name="Introduction" id="{b1ccd0ee-3961-f7f9-1c0f-99dd14e917ce}">
          <p14:sldIdLst>
            <p14:sldId id="258"/>
            <p14:sldId id="259"/>
            <p14:sldId id="260"/>
            <p14:sldId id="261"/>
            <p14:sldId id="262"/>
            <p14:sldId id="263"/>
          </p14:sldIdLst>
        </p14:section>
        <p14:section name="Cadre d'étude" id="{4cb9c902-a4a1-d979-38cc-6976c0efa765}">
          <p14:sldIdLst>
            <p14:sldId id="264"/>
            <p14:sldId id="265"/>
            <p14:sldId id="266"/>
            <p14:sldId id="267"/>
            <p14:sldId id="268"/>
            <p14:sldId id="269"/>
            <p14:sldId id="270"/>
            <p14:sldId id="271"/>
          </p14:sldIdLst>
        </p14:section>
        <p14:section name="Étude technique" id="{79db995b-3ec0-603e-2f68-9ac0dc763dc2}">
          <p14:sldIdLst>
            <p14:sldId id="272"/>
            <p14:sldId id="273"/>
            <p14:sldId id="274"/>
            <p14:sldId id="275"/>
            <p14:sldId id="276"/>
            <p14:sldId id="277"/>
            <p14:sldId id="278"/>
            <p14:sldId id="279"/>
            <p14:sldId id="280"/>
            <p14:sldId id="281"/>
            <p14:sldId id="282"/>
            <p14:sldId id="283"/>
            <p14:sldId id="284"/>
            <p14:sldId id="285"/>
            <p14:sldId id="286"/>
          </p14:sldIdLst>
        </p14:section>
        <p14:section name="Réalisation des supports" id="{6278cc7d-b390-1c19-3dec-5335ccb4635d}">
          <p14:sldIdLst>
            <p14:sldId id="287"/>
            <p14:sldId id="288"/>
            <p14:sldId id="289"/>
            <p14:sldId id="290"/>
            <p14:sldId id="291"/>
            <p14:sldId id="292"/>
            <p14:sldId id="293"/>
            <p14:sldId id="294"/>
            <p14:sldId id="295"/>
            <p14:sldId id="296"/>
            <p14:sldId id="297"/>
            <p14:sldId id="298"/>
            <p14:sldId id="299"/>
          </p14:sldIdLst>
        </p14:section>
        <p14:section name="Conclusion" id="{191106fb-39be-e906-acc5-251412c00bb7}">
          <p14:sldIdLst>
            <p14:sldId id="300"/>
            <p14:sldId id="301"/>
            <p14:sldId id="302"/>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Monsieur le Président du jury, honorables membres du jury, chers invités, bonjour.
Je suis CAMARA BINTOU épouse HOZAN, étudiante en Licence professionnelle Arts et Images Numériques à l'ISTC Polytechnique, promotion 2023-2026. J'ai l'honneur de vous présenter mon mémoire, réalisé sous la direction de M. CHAFICK ADJIBADÉ et sous la supervision du Professeur TOA AGNINI Jules Évariste, Professeur Titulaire d'Université.
Il porte sur la conception et la réalisation de supports de communication pour la promotion de la structure de sport « American's Gym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Notre présentation s'articule autour de cinq temps : l'introduction et la problématique, le cadre d'étude, l'étude technique, la réalisation des supports, puis la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Commençons par le contexte de notre étude et la problématique qui en découle.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un environnement marqué par une concurrence de plus en plus forte, la communication constitue aujourd'hui un levier stratégique indispensable au développement et à la pérennité des entreprises. Le secteur du sport et du fitness n'échappe pas à cette réalité : avec l'essor des salles de sport et des agences spécialisées dans les activités sportives, il devient essentiel de se démarquer par des actions de communication efficaces, cohérentes et innovantes.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dans ce cadre que s'inscrit notre thème : « Conception et réalisation de supports de communication pour la promotion de la structure de sport American's Gym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un environnement fortement concurrentiel, les structures de sport doivent développer une communication performante pour accroître leur visibilité, attirer de nouveaux adhérents et fidéliser leur clientèle. American's Gym ne fait pas exception : malgré la diversité de ses activités et la qualité de ses prestations, la structure souffre d'une visibilité limitée, faute de supports de communication professionnels et harmonisés.
D'où notre question centrale : comment la conception et la réalisation de supports de communication imprimés et numériques peuvent-elles contribuer à améliorer la visibilité, renforcer l'image de marque et promouvoir efficacement les activités d'American's Gym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répondre à cette interrogation, notre étude poursuit quatre objectifs : concevoir une identité visuelle cohérente adaptée à American's Gym ; réaliser des supports imprimés répondant aux besoins de communication de la structure ; produire des contenus audiovisuels en 2D et en 3D destinés à la promotion des activités ; et développer un site web moderne pour présenter les services et renforcer la présence numérique de la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L'hypothèse retenue est que la mise en œuvre d'une stratégie de communication fondée sur des supports graphiques et numériques professionnels permettra d'améliorer significativement la notoriété d'American's Gym, de renforcer son image de marque et d'accroître sa capacité à attirer et fidéliser sa clientèle.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Abordons à présent le cadre d'étude : la structure American's Gym et l'analyse de sa communication existante.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American's Gym Dokui est un club de fitness, de musculation et de sports de combat situé à Abidjan, dans le quartier d'Abobo Dokui. Son concept repose sur un brassage entre le savoir-faire américain et l'hospitalité ivoirienne : la salle est équipée de machines de musculation et de cardio-training de dernière génération importées des États-Unis. Elle propose la musculation et le fitness, la boxe, le taekwondo, ainsi que des séances dédiées aux femmes voilées.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gouvernance repose sur une structure claire. À la direction : le PDG, Djakaria KONATÉ, épaulé par un Vice-Président, DEMBÉLÉ Lassana, et un Manager Général, Alassane KONATÉ. Le pôle administratif réunit un Trésorier et Manager adjoint, Moussa TRAORÉ, une Secrétaire Générale, Djeneba KONATÉ, et une Secrétaire adjointe, Mariam KONATÉ. Le staff technique compte des coachs sportifs, des coachs de boxe et de taekwondo, et une coach dédiée aux cours pour femmes voilées.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American's Gym ambitionne de devenir la salle de sport de référence en Côte d'Ivoire, en combinant l'excellence des technologies américaines avec les valeurs d'accueil, de proximité et de convivialité ivoiriennes, et d'ouvrir d'autres salles dans d'autres communes. Elle fonde son action sur l'excellence, l'innovation, la discipline, la performance, le respect, le professionnalisme, le bien-être, la santé et l'esprit d'équipe.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digital, American's Gym dispose d'une page Facebook active d'environ 1 300 abonnés, principalement consacrée aux vidéos d'ambiance et aux fiches produits, et d'un compte TikTok de plus de 5 400 abonnés générant environ 27 900 mentions « J'aime », axé sur le coaching en direct et la démonstration d'exercices. La structure dispose aussi d'une boutique en ligne sur Shopify pour la vente de produits.
[À VÉRIFIER : le mémoire indique « 5 4140 abonnés » et « Spotify » ; la capture TikTok affiche 5 414.]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L'analyse de l'existant fait apparaître plusieurs faiblesses. D'abord l'identité visuelle : la mention « DOKUI » a été ajoutée sous le ruban sans respecter les proportions, avec une typographie bâton standard. Ensuite, les affiches de promotion des produits utilisent des codes vert fluo ou marron, déconnectés de l'identité de la marque. Sur le web, la boutique renvoie vers une URL Shopify non personnalisée, et l'identifiant TikTok @amricains.gym.dok contient une faute. Enfin, la ligne éditoriale mélange musculation et publicités pour des thés minceur ou des gels douche, avec des vidéos brutes non montées.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faiblesses ont des conséquences directes. Une baisse de la crédibilité de la marque, car un lien non personnalisé ou des fautes dans les identifiants officiels sont associés à un manque de sérieux. Une perte d'efficacité publicitaire, les prospects pour les abonnements étant noyés parmi des publications de produits de beauté. Une mauvaise visibilité et un manque de supports. Enfin, un déficit d'image face à une concurrence qui se professionnalise rapidement à Abidjan, qui empêche de justifier des tarifs d'abonnement premium.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y remédier, nous proposons deux familles de solutions. Côté imprimé : uniformiser la signalétique extérieure avec le logo officiel, créer des welcome packs et des cartes de membre aux couleurs de la charte, et un packaging de marque propre « American's Gym Nutrition ». Côté digital : acheter un nom de domaine personnalisé lié à Shopify, corriger l'identifiant TikTok en @americans.gym.dokui, créer des gabarits réutilisables pour les publications, et isoler les produits dans un compte secondaire « American's Nutrition » ou une story à la 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Passons à l'étude technique : le cahier des charges, l'identité visuelle et la conception des supports.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L'objectif principal du projet est de concevoir et de réaliser un ensemble de supports de communication imprimés et numériques destinés à renforcer la visibilité et la notoriété d'American's Gym Dokui. Les supports s'adressent aux clients actuels, pour les fidéliser ; aux clients potentiels — jeunes, adultes, travailleurs, étudiants ; aux partenaires potentiels — entreprises, marques de nutrition, assurances, établissements scolaires ; aux professionnels de l'industrie — coachs, préparateurs, fédérations, nutritionnistes ; et au grand public. La langue principale est le français, avec quelques expressions en anglais pour rappeler l'identité américaine.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logo retenu représente une main tenant un haltère, surmontée d'étoiles et accompagnée du nom « American's Gym ». Le poing et l'haltère font référence à la force brute, à la musculation et à la détermination. Les étoiles renvoient à la fierté américaine, à l'histoire et à la tradition. Le ruban « American's » établit une identité de marque forte et exclusive, et l'ensemble forme un logo hybride qui intègre tous ces éléments pour créer une image puissante et cohérente.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palette du logo s'inspire du drapeau américain : bleu marine, rouge vif et blanc, complétés par un gris métal pour les reliefs de l'haltère. Le bleu symbolise la confiance, la rigueur, le professionnalisme et la discipline requise pour l'entraînement. Le rouge incarne l'énergie, le courage, la passion et la performance. Le blanc représente la clarté, la propreté des installations et l'accessibilité à tous. Les couleurs sont définies en CMJN pour l'impression et en RVB pour le numérique.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famille typographique retenue est une police sans empattement, moderne, lisible et adaptée aux supports imprimés comme numériques. Pour le logo, le style approchant est Impact ou College Bold, en gras pour renforcer l'impact visuel et traduire la puissance de la marque. Pour les supports de communication, la police d'accompagnement est Poppins ExtraBold, les textes secondaires utilisant des graisses régulières. Le logotype compte 13 caractères sur deux lignes : AMERICAN'S, 10 caractères, et GYM, 3 caractères.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logo est destiné à être utilisé sur différents supports : la carte de visite, le t-shirt, la casquette, le sac de sport, les bouteilles d'eau et le stylo.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préserver la cohérence de l'identité, quatre interdits sont fixés : ne pas déformer ou étirer le logo ; ne pas changer ses couleurs ; ne pas ajouter d'éléments graphiques supplémentaires ; et ne pas supprimer le texte GYM et les étoiles autour.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supports imprimés comprennent deux affiches au format 4 m × 3 m, avec logo, accroche, slogan, contacts et image ; un flyer au format A5 présentant les tarifs ; un dépliant trois volets de six pages présentant les installations, les tarifs, les compléments alimentaires et l'accès ; et un kakémono de 85 × 200 cm pour l'accueil et les événements.
[À VÉRIFIER : le flyer est indiqué A4 en conception et A5 en réalisation ; le dépliant « 84 cm / 29,7 cm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slogan de campagne est : « American's Gym, l'excellence du fitness au cœur de votre bien-être ». Il est repris sur l'ensemble des supports et en signature des spots. Il est accompagné de deux accroches : « Votre bien-être, notre priorité ! » et « Chaque séance est un pas de plus vers votre bien-être ».
[À VÉRIFIER : le mémoire écrit « au service de votre bien-être » dans la conception des affiches et « au cœur de votre bien-être » dans les spots et sur les visuels.]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spot animatique 2D présente de manière dynamique les activités et les services d'American's Gym Dokui, en motion design : une onde cardiaque se transforme en barre de musculation, les équipements s'animent, puis une scène de groupe illustre la convivialité avant l'apparition du logo et du slogan. Le spot 3D propose une immersion dans la salle modélisée en 3D, en trois séquences : l'ambiance, l'action et la signature. Les deux spots sont en 1920 × 1080 pixels ; réalisation et montage : CAMARA BINTOU.
[À VÉRIFIER : la fiche technique du spot 2D indique 25 secondes, la section « Durée » 30 secondes ; le fichier vidéo dure 26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vitrine est pensé comme le point central de l'écosystème numérique : il vise à crédibiliser la structure, à présenter l'espace sportif et à permettre la commande de compléments alimentaires. Depuis la page d'accueil, le menu de navigation conduit à cinq rubriques : À propos, Nos équipements, Boutique, Tarifs et abonnements, et Contacts.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est structuré en HTML, mis en forme en CSS — couleurs, typographies, espacements, animations et adaptation aux écrans — et rendu interactif grâce à JavaScript : menus dynamiques, animations, formulaires et réservations. La base de données a été modélisée avec la méthode MERISE, retenue pour sa capacité à garantir la cohérence des données. Le passage du MCD au MLD aboutit à trois tables : t_admin, t_devis et t_utilisateur.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création, nous avons utilisé Adobe Illustrator pour le logo et les supports vectoriels, Adobe Photoshop pour la retouche et les visuels, Adobe After Effects pour le motion design, Adobe Premiere Pro pour le montage des spots et Adobe Dreamweaver comme environnement de développement du site. Pour le spot 3D, la modélisation a été réalisée sous Blender, le montage et le bruitage sous Premiere Pro et le rendu final avec Twinmotion.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réalisation du projet s'est étalée sur huit semaines. Semaines 1 et 2 : analyse du besoin, recherches créatives et validation de la charte graphique. Semaines 3 et 4 : conception et réalisation des supports print — affiches, dépliants, kakémonos, gadgets — et de la maquette 3D. Semaines 5 et 6 : post-production des spots 2D et 3D. Semaines 7 et 8 : réalisation des interfaces du site vitrine, intégration des contenus, tests et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coût global de réalisation du projet est estimé à 4 800 000 FCFA. Il couvre la conception du logotype et de la charte graphique, les maquettes 2D et 3D, les supports imprimés et les gadgets, le synopsis et la post-production des spots, ainsi que les interfaces du site web et l'hébergement.
[À CORRIGER AVANT LA SOUTENANCE : dans le tableau 2 du mémoire, la somme des totaux partiels donne 4 300 000 FCFA, et non 4 800 000 FCFA.]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Voici à présent les supports réalisés, en commençant par les supports imprimés.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première affiche met en avant l'identité particulière de la salle, caractérisée par le brassage entre la Côte d'Ivoire et les États-Unis. Elle porte le logo officiel, l'accroche « American's Gym, votre bien-être, notre priorité ! », le slogan de campagne et les contacts : 07 88 48 18 72, Facebook, Instagram et TikTok. Ici, en situation sur un panneau en bordure de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deuxième affiche vise un effet persuasif et mémorable, avec le logo, une accroche, le slogan de campagne et les contacts. La voici en situation, en grand format.
[À VÉRIFIER : le mémoire donne pour accroche « Chaque séance est un pas de plus vers votre bien-être », alors que l'affiche porte « Plus fort chaque jour, mieux dans votre peau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flyer s'inscrit dans une démarche de communication commerciale : il présente de manière synthétique les services, les tarifs et les avantages d'American's Gym Dokui. Il est conçu pour être consulté en version imprimée comme sur les réseaux sociaux.
[À VÉRIFIER : le titre du flyer affiche « AMERICAN'S GYMS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dépliant, réalisé sous Adobe Illustrator, présente la structure en détail sur trois volets et six pages : la couverture avec le logo, un visuel et le slogan ; les installations et les tarifs ; le catalogue des compléments alimentaires ; et au dos, le plan d'accès, les contacts et les horaires.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dépliant en situation. Son contenu s'organise ainsi : volet 1, la couverture ; volets 2 et 3, les installations et les tarifs d'abonnement ; volets 4 et 5, les compléments alimentaires ; volet 6, le plan d'accès à Abobo Dokui, les contacts et les horaires d'ouverture.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kakémono est destiné aux espaces d'accueil, aux événements sportifs et aux opérations promotionnelles. Sa composition repose sur une lecture verticale et hiérarchisée : le logo, l'accroche « votre bien-être, notre priorité ! », le slogan, les coordonnées et un appel à l'action : « Rejoignez la communauté American's Gym Dokui ». Il a été réalisé sous Photoshop, au format 85 × 200 cm, en 300 pixels par pouce et en CMJN.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visuels digitaux sont destinés à Facebook, Instagram et TikTok. Ils ont été conçus sous Photoshop, avec l'objectif de créer une continuité visuelle entre les supports imprimés et numériques, pour une identification rapide de la marque American's Gym Dokui.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L'animation du logo a été réalisée sous Adobe After Effects : les éléments textuels du logo sont animés en position, opacité et rotation grâce aux images-clés, puis la séquence est exportée au format MP4.
[Lancer la vidéo — environ 12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spot 2D, réalisé sous After Effects, enchaîne quatre séquences : une onde cardiaque qui devient barre de musculation, les équipements qui s'animent, une scène de groupe autour d'un coach, puis le logo et le slogan.
[Lancer la vidéo — environ 26 secondes]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spot 3D propose une immersion dans le bâtiment d'American's Gym modélisé sous Blender, monté sous Premiere Pro, en trois séquences : l'ambiance, l'action et la signature.
[Lancer la vidéo — environ 30 secondes]
[À VÉRIFIER : version finale de la vidéo 3D (le rendu Twinmotion du mémoire diffère de cette vidéo).]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en arrivons au site web vitrine. La page d'accueil présente brièvement l'ensemble des éléments de l'entreprise et donne accès au menu de navigation.
[Option : basculer sur le site en direct, puis revenir à la présentation.]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autres pages : « À propos » présente l'histoire, la vision et les valeurs ; « Nos équipements » montre les installations et machines de pointe ; « Boutique » propose les compléments ; « Tarifs » présente la grille Pass journée, mensuel et annuel ; et « Contacts » réunit le formulaire, la carte et les coordonnées.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Pour conclure.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terme de cette étude, l'analyse de l'existant a mis en évidence la nécessité de renforcer la cohérence de l'identité visuelle et de mieux structurer la présence de la salle. Nous avons conçu des supports complémentaires : affiches, flyer, dépliant, kakémono, visuels pour les réseaux sociaux, productions 2D et 3D et un site web. Toutefois, ces supports ne suffisent pas seuls : les résultats dépendront de la qualité de la diffusion, de la régularité des publications et de l'adaptation des messages. Nous recommandons donc à American's Gym une stratégie de communication cohérente, durable et évaluée.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sera nécessaire d'évaluer les effets des supports après leur mise en œuvre, à partir d'indicateurs tels que les interactions numériques, les demandes d'inscription et l'évolution du nombre d'adhérents. La communication apparaîtra alors non seulement comme un outil de présentation, mais aussi comme un levier d'accompagnement du développement de la structure.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vous remercie pour votre attention et reste à votre disposition pour répondre à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ECTION-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OUVERTURE-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TURE-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rtlCol="0"/>
          <a:lstStyle>
            <a:lvl1pPr algn="l" indent="0" marL="0">
              <a:buNone/>
              <a:defRPr lang="en-US" sz="2800" b="1" dirty="0">
                <a:solidFill>
                  <a:srgbClr val="012F99"/>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8229600" cy="502920"/>
          </a:xfrm>
          <a:prstGeom prst="rect">
            <a:avLst/>
          </a:prstGeom>
          <a:noFill/>
          <a:ln/>
        </p:spPr>
        <p:txBody>
          <a:bodyPr wrap="square" rtlCol="0"/>
          <a:lstStyle>
            <a:lvl1pPr algn="l" indent="0" marL="0">
              <a:buNone/>
              <a:defRPr lang="en-US" sz="1600" b="1" spc="400" kern="0" dirty="0">
                <a:solidFill>
                  <a:srgbClr val="FFFFFF"/>
                </a:solidFill>
              </a:defRPr>
            </a:lvl1pPr>
          </a:lstStyle>
          <a:p>
            <a:pPr algn="l" indent="0" marL="0">
              <a:buNone/>
            </a:pPr>
            <a:endParaRPr lang="en-US" sz="1600" dirty="0"/>
          </a:p>
        </p:txBody>
      </p:sp>
      <p:sp>
        <p:nvSpPr>
          <p:cNvPr id="3" name="Text 0"/>
          <p:cNvSpPr/>
          <p:nvPr>
            <p:ph idx="101" type="title" hasCustomPrompt="1"/>
          </p:nvPr>
        </p:nvSpPr>
        <p:spPr>
          <a:xfrm>
            <a:off x="822960" y="2926080"/>
            <a:ext cx="9601200" cy="1188720"/>
          </a:xfrm>
          <a:prstGeom prst="rect">
            <a:avLst/>
          </a:prstGeom>
          <a:noFill/>
          <a:ln/>
        </p:spPr>
        <p:txBody>
          <a:bodyPr wrap="square" rtlCol="0"/>
          <a:lstStyle>
            <a:lvl1pPr algn="l" indent="0" marL="0">
              <a:buNone/>
              <a:defRPr lang="en-US" sz="4800" b="1" dirty="0">
                <a:solidFill>
                  <a:srgbClr val="FFFFFF"/>
                </a:solidFill>
              </a:defRPr>
            </a:lvl1pPr>
          </a:lstStyle>
          <a:p>
            <a:pPr algn="l"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OUVER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600200"/>
            <a:ext cx="7086600" cy="2011680"/>
          </a:xfrm>
          <a:prstGeom prst="rect">
            <a:avLst/>
          </a:prstGeom>
          <a:noFill/>
          <a:ln/>
        </p:spPr>
        <p:txBody>
          <a:bodyPr wrap="square" rtlCol="0"/>
          <a:lstStyle>
            <a:lvl1pPr algn="l" indent="0" marL="0">
              <a:buNone/>
              <a:defRPr lang="en-US" sz="2800" b="1" dirty="0">
                <a:solidFill>
                  <a:srgbClr val="FFFFFF"/>
                </a:solidFill>
              </a:defRPr>
            </a:lvl1pPr>
          </a:lstStyle>
          <a:p>
            <a:pPr algn="l"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TUR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931920"/>
            <a:ext cx="11091672" cy="822960"/>
          </a:xfrm>
          <a:prstGeom prst="rect">
            <a:avLst/>
          </a:prstGeom>
          <a:noFill/>
          <a:ln/>
        </p:spPr>
        <p:txBody>
          <a:bodyPr wrap="square" rtlCol="0"/>
          <a:lstStyle>
            <a:lvl1pPr algn="ctr" indent="0" marL="0">
              <a:buNone/>
              <a:defRPr lang="en-US" sz="4000" b="1" dirty="0">
                <a:solidFill>
                  <a:srgbClr val="FFFFFF"/>
                </a:solidFill>
              </a:defRPr>
            </a:lvl1pPr>
          </a:lstStyle>
          <a:p>
            <a:pPr algn="ctr" indent="0" marL="0">
              <a:buNone/>
            </a:pPr>
            <a:endParaRPr lang="en-US" sz="4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2.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image" Target="../media/image-22-2.jpg"/><Relationship Id="rId3" Type="http://schemas.openxmlformats.org/officeDocument/2006/relationships/image" Target="../media/image-22-3.png"/><Relationship Id="rId4" Type="http://schemas.openxmlformats.org/officeDocument/2006/relationships/image" Target="../media/image-22-4.jpg"/><Relationship Id="rId5" Type="http://schemas.openxmlformats.org/officeDocument/2006/relationships/image" Target="../media/image-22-5.jpg"/><Relationship Id="rId6" Type="http://schemas.openxmlformats.org/officeDocument/2006/relationships/image" Target="../media/image-22-6.pn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2.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image" Target="../media/image-26-2.png"/><Relationship Id="rId3" Type="http://schemas.openxmlformats.org/officeDocument/2006/relationships/slideLayout" Target="../slideLayouts/slideLayout2.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jpg"/><Relationship Id="rId3" Type="http://schemas.openxmlformats.org/officeDocument/2006/relationships/slideLayout" Target="../slideLayouts/slideLayout2.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2.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image" Target="../media/image-35-2.jpg"/><Relationship Id="rId3" Type="http://schemas.openxmlformats.org/officeDocument/2006/relationships/slideLayout" Target="../slideLayouts/slideLayout2.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2.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image" Target="../media/image-38-2.jp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video" Target="../media/media-40-1.mp4"/><Relationship Id="rId2" Type="http://schemas.microsoft.com/office/2007/relationships/media" Target="../media/media-40-1.mp4"/><Relationship Id="rId3" Type="http://schemas.openxmlformats.org/officeDocument/2006/relationships/image" Target="../media/image-40-3.png"/><Relationship Id="rId4" Type="http://schemas.openxmlformats.org/officeDocument/2006/relationships/slideLayout" Target="../slideLayouts/slideLayout2.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video" Target="../media/media-41-1.mp4"/><Relationship Id="rId2" Type="http://schemas.microsoft.com/office/2007/relationships/media" Target="../media/media-41-1.mp4"/><Relationship Id="rId3" Type="http://schemas.openxmlformats.org/officeDocument/2006/relationships/image" Target="../media/image-41-3.png"/><Relationship Id="rId4" Type="http://schemas.openxmlformats.org/officeDocument/2006/relationships/slideLayout" Target="../slideLayouts/slideLayout2.xml"/><Relationship Id="rId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video" Target="../media/media-42-1.mp4"/><Relationship Id="rId2" Type="http://schemas.microsoft.com/office/2007/relationships/media" Target="../media/media-42-1.mp4"/><Relationship Id="rId3" Type="http://schemas.openxmlformats.org/officeDocument/2006/relationships/image" Target="../media/image-42-3.png"/><Relationship Id="rId4" Type="http://schemas.openxmlformats.org/officeDocument/2006/relationships/slideLayout" Target="../slideLayouts/slideLayout2.xml"/><Relationship Id="rId5"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slideLayout" Target="../slideLayouts/slideLayout2.xml"/><Relationship Id="rId7"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slideLayout" Target="../slideLayouts/slideLayout2.xml"/><Relationship Id="rId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2.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5.xml"/><Relationship Id="rId3"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_istc" descr="/tmp/claude-0/-home-user-HANDY/4ddfdd3d-c678-5164-8991-be3c6152a069/scratchpad/assets/istc.png">    </p:cNvPr>
          <p:cNvPicPr>
            <a:picLocks noChangeAspect="1"/>
          </p:cNvPicPr>
          <p:nvPr/>
        </p:nvPicPr>
        <p:blipFill>
          <a:blip r:embed="rId1"/>
          <a:stretch>
            <a:fillRect/>
          </a:stretch>
        </p:blipFill>
        <p:spPr>
          <a:xfrm>
            <a:off x="563196" y="274320"/>
            <a:ext cx="1616808" cy="1143000"/>
          </a:xfrm>
          <a:prstGeom prst="rect">
            <a:avLst/>
          </a:prstGeom>
        </p:spPr>
      </p:pic>
      <p:sp>
        <p:nvSpPr>
          <p:cNvPr id="3" name="carte_logo"/>
          <p:cNvSpPr/>
          <p:nvPr/>
        </p:nvSpPr>
        <p:spPr>
          <a:xfrm>
            <a:off x="8001000" y="1188720"/>
            <a:ext cx="3639312" cy="3639312"/>
          </a:xfrm>
          <a:prstGeom prst="roundRect">
            <a:avLst>
              <a:gd name="adj" fmla="val 3015"/>
            </a:avLst>
          </a:prstGeom>
          <a:solidFill>
            <a:schemeClr val="bg1"/>
          </a:solidFill>
          <a:ln w="12700">
            <a:solidFill>
              <a:schemeClr val="bg1"/>
            </a:solidFill>
            <a:prstDash val="solid"/>
          </a:ln>
        </p:spPr>
      </p:sp>
      <p:pic>
        <p:nvPicPr>
          <p:cNvPr id="4" name="logo_ag" descr="/tmp/claude-0/-home-user-HANDY/4ddfdd3d-c678-5164-8991-be3c6152a069/scratchpad/assets/logo.png">    </p:cNvPr>
          <p:cNvPicPr>
            <a:picLocks noChangeAspect="1"/>
          </p:cNvPicPr>
          <p:nvPr/>
        </p:nvPicPr>
        <p:blipFill>
          <a:blip r:embed="rId2"/>
          <a:stretch>
            <a:fillRect/>
          </a:stretch>
        </p:blipFill>
        <p:spPr>
          <a:xfrm>
            <a:off x="8275320" y="1463040"/>
            <a:ext cx="3090672" cy="3090672"/>
          </a:xfrm>
          <a:prstGeom prst="rect">
            <a:avLst/>
          </a:prstGeom>
        </p:spPr>
      </p:pic>
      <p:sp>
        <p:nvSpPr>
          <p:cNvPr id="5" name="Text 0"/>
          <p:cNvSpPr/>
          <p:nvPr>
            <p:ph idx="100" type="title" hasCustomPrompt="1"/>
          </p:nvPr>
        </p:nvSpPr>
        <p:spPr>
          <a:xfrm>
            <a:off x="548640" y="1600200"/>
            <a:ext cx="7086600" cy="2011680"/>
          </a:xfrm>
          <a:prstGeom prst="rect">
            <a:avLst/>
          </a:prstGeom>
          <a:noFill/>
          <a:ln/>
        </p:spPr>
        <p:txBody>
          <a:bodyPr wrap="square" lIns="0" tIns="0" rIns="0" bIns="0" rtlCol="0" anchor="t"/>
          <a:lstStyle/>
          <a:p>
            <a:pPr algn="l" indent="0" marL="0">
              <a:buNone/>
            </a:pPr>
            <a:r>
              <a:rPr lang="en-US" sz="2800" b="1" dirty="0">
                <a:solidFill>
                  <a:srgbClr val="FFFFFF"/>
                </a:solidFill>
              </a:rPr>
              <a:t>Conception et réalisation de supports de communication pour la promotion de la structure de sport « American's Gym »</a:t>
            </a:r>
            <a:endParaRPr lang="en-US" sz="2800" dirty="0"/>
          </a:p>
        </p:txBody>
      </p:sp>
      <p:sp>
        <p:nvSpPr>
          <p:cNvPr id="6" name="t_sous_titre"/>
          <p:cNvSpPr txBox="1"/>
          <p:nvPr/>
        </p:nvSpPr>
        <p:spPr>
          <a:xfrm>
            <a:off x="548640" y="3886200"/>
            <a:ext cx="7086600" cy="365760"/>
          </a:xfrm>
          <a:prstGeom prst="rect">
            <a:avLst/>
          </a:prstGeom>
          <a:noFill/>
          <a:ln/>
        </p:spPr>
        <p:txBody>
          <a:bodyPr wrap="square" lIns="0" tIns="0" rIns="0" bIns="0" rtlCol="0" anchor="t"/>
          <a:lstStyle/>
          <a:p>
            <a:pPr indent="0" marL="0">
              <a:buNone/>
            </a:pPr>
            <a:r>
              <a:rPr lang="en-US" sz="1400" dirty="0">
                <a:solidFill>
                  <a:schemeClr val="bg1"/>
                </a:solidFill>
              </a:rPr>
              <a:t>Licence professionnelle Arts et Images Numériques · 2025-2026</a:t>
            </a:r>
            <a:endParaRPr lang="en-US" sz="1400" dirty="0"/>
          </a:p>
        </p:txBody>
      </p:sp>
      <p:sp>
        <p:nvSpPr>
          <p:cNvPr id="7" name="c1_nom0"/>
          <p:cNvSpPr txBox="1"/>
          <p:nvPr/>
        </p:nvSpPr>
        <p:spPr>
          <a:xfrm>
            <a:off x="548640" y="5257800"/>
            <a:ext cx="3611880" cy="685800"/>
          </a:xfrm>
          <a:prstGeom prst="rect">
            <a:avLst/>
          </a:prstGeom>
          <a:noFill/>
          <a:ln/>
        </p:spPr>
        <p:txBody>
          <a:bodyPr wrap="square" lIns="0" tIns="0" rIns="0" bIns="0" rtlCol="0" anchor="t"/>
          <a:lstStyle/>
          <a:p>
            <a:pPr indent="0" marL="0">
              <a:spcAft>
                <a:spcPts val="200"/>
              </a:spcAft>
              <a:buNone/>
            </a:pPr>
            <a:r>
              <a:rPr lang="en-US" sz="1100" dirty="0">
                <a:solidFill>
                  <a:schemeClr val="bg1">
                    <a:alpha val="80000"/>
                  </a:schemeClr>
                </a:solidFill>
              </a:rPr>
              <a:t>Présentée par</a:t>
            </a:r>
            <a:endParaRPr lang="en-US" sz="1600" dirty="0"/>
          </a:p>
          <a:p>
            <a:pPr indent="0" marL="0">
              <a:spcAft>
                <a:spcPts val="200"/>
              </a:spcAft>
              <a:buNone/>
            </a:pPr>
            <a:r>
              <a:rPr lang="en-US" sz="1300" b="1" dirty="0">
                <a:solidFill>
                  <a:schemeClr val="bg1"/>
                </a:solidFill>
              </a:rPr>
              <a:t>CAMARA BINTOU ÉPSE HOZAN</a:t>
            </a:r>
            <a:endParaRPr lang="en-US" sz="1600" dirty="0"/>
          </a:p>
        </p:txBody>
      </p:sp>
      <p:sp>
        <p:nvSpPr>
          <p:cNvPr id="8" name="c1_nom1"/>
          <p:cNvSpPr txBox="1"/>
          <p:nvPr/>
        </p:nvSpPr>
        <p:spPr>
          <a:xfrm>
            <a:off x="4297680" y="5257800"/>
            <a:ext cx="3611880" cy="685800"/>
          </a:xfrm>
          <a:prstGeom prst="rect">
            <a:avLst/>
          </a:prstGeom>
          <a:noFill/>
          <a:ln/>
        </p:spPr>
        <p:txBody>
          <a:bodyPr wrap="square" lIns="0" tIns="0" rIns="0" bIns="0" rtlCol="0" anchor="t"/>
          <a:lstStyle/>
          <a:p>
            <a:pPr indent="0" marL="0">
              <a:spcAft>
                <a:spcPts val="200"/>
              </a:spcAft>
              <a:buNone/>
            </a:pPr>
            <a:r>
              <a:rPr lang="en-US" sz="1100" dirty="0">
                <a:solidFill>
                  <a:schemeClr val="bg1">
                    <a:alpha val="80000"/>
                  </a:schemeClr>
                </a:solidFill>
              </a:rPr>
              <a:t>Directeur de mémoire</a:t>
            </a:r>
            <a:endParaRPr lang="en-US" sz="1600" dirty="0"/>
          </a:p>
          <a:p>
            <a:pPr indent="0" marL="0">
              <a:spcAft>
                <a:spcPts val="200"/>
              </a:spcAft>
              <a:buNone/>
            </a:pPr>
            <a:r>
              <a:rPr lang="en-US" sz="1300" b="1" dirty="0">
                <a:solidFill>
                  <a:schemeClr val="bg1"/>
                </a:solidFill>
              </a:rPr>
              <a:t>M. CHAFICK ADJIBADÉ</a:t>
            </a:r>
            <a:endParaRPr lang="en-US" sz="1600" dirty="0"/>
          </a:p>
        </p:txBody>
      </p:sp>
      <p:sp>
        <p:nvSpPr>
          <p:cNvPr id="9" name="c1_nom2"/>
          <p:cNvSpPr txBox="1"/>
          <p:nvPr/>
        </p:nvSpPr>
        <p:spPr>
          <a:xfrm>
            <a:off x="8046720" y="5257800"/>
            <a:ext cx="3611880" cy="685800"/>
          </a:xfrm>
          <a:prstGeom prst="rect">
            <a:avLst/>
          </a:prstGeom>
          <a:noFill/>
          <a:ln/>
        </p:spPr>
        <p:txBody>
          <a:bodyPr wrap="square" lIns="0" tIns="0" rIns="0" bIns="0" rtlCol="0" anchor="t"/>
          <a:lstStyle/>
          <a:p>
            <a:pPr indent="0" marL="0">
              <a:spcAft>
                <a:spcPts val="200"/>
              </a:spcAft>
              <a:buNone/>
            </a:pPr>
            <a:r>
              <a:rPr lang="en-US" sz="1100" dirty="0">
                <a:solidFill>
                  <a:schemeClr val="bg1">
                    <a:alpha val="80000"/>
                  </a:schemeClr>
                </a:solidFill>
              </a:rPr>
              <a:t>Superviseur</a:t>
            </a:r>
            <a:endParaRPr lang="en-US" sz="1600" dirty="0"/>
          </a:p>
          <a:p>
            <a:pPr indent="0" marL="0">
              <a:spcAft>
                <a:spcPts val="200"/>
              </a:spcAft>
              <a:buNone/>
            </a:pPr>
            <a:r>
              <a:rPr lang="en-US" sz="1300" b="1" dirty="0">
                <a:solidFill>
                  <a:schemeClr val="bg1"/>
                </a:solidFill>
              </a:rPr>
              <a:t>Prof. TOA AGNINI JULES ÉVARISTE</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anim calcmode="lin" valueType="num">
                                      <p:cBhvr>
                                        <p:cTn id="8" dur="500" decel="100000" fill="hold"/>
                                        <p:tgtEl>
                                          <p:spTgt spid="5"/>
                                        </p:tgtEl>
                                        <p:attrNameLst>
                                          <p:attrName>ppt_x</p:attrName>
                                        </p:attrNameLst>
                                      </p:cBhvr>
                                      <p:tavLst>
                                        <p:tav tm="0">
                                          <p:val>
                                            <p:strVal val="#ppt_x"/>
                                          </p:val>
                                        </p:tav>
                                        <p:tav tm="100000">
                                          <p:val>
                                            <p:strVal val="#ppt_x"/>
                                          </p:val>
                                        </p:tav>
                                      </p:tavLst>
                                    </p:anim>
                                    <p:anim calcmode="lin" valueType="num">
                                      <p:cBhvr>
                                        <p:cTn id="9" dur="500" decel="100000" fill="hold"/>
                                        <p:tgtEl>
                                          <p:spTgt spid="5"/>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anim calcmode="lin" valueType="num">
                                      <p:cBhvr>
                                        <p:cTn id="13" dur="500" decel="100000" fill="hold"/>
                                        <p:tgtEl>
                                          <p:spTgt spid="6"/>
                                        </p:tgtEl>
                                        <p:attrNameLst>
                                          <p:attrName>ppt_x</p:attrName>
                                        </p:attrNameLst>
                                      </p:cBhvr>
                                      <p:tavLst>
                                        <p:tav tm="0">
                                          <p:val>
                                            <p:strVal val="#ppt_x"/>
                                          </p:val>
                                        </p:tav>
                                        <p:tav tm="100000">
                                          <p:val>
                                            <p:strVal val="#ppt_x"/>
                                          </p:val>
                                        </p:tav>
                                      </p:tavLst>
                                    </p:anim>
                                    <p:anim calcmode="lin" valueType="num">
                                      <p:cBhvr>
                                        <p:cTn id="14"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anim calcmode="lin" valueType="num">
                                      <p:cBhvr>
                                        <p:cTn id="20" dur="500" decel="100000" fill="hold"/>
                                        <p:tgtEl>
                                          <p:spTgt spid="7"/>
                                        </p:tgtEl>
                                        <p:attrNameLst>
                                          <p:attrName>ppt_x</p:attrName>
                                        </p:attrNameLst>
                                      </p:cBhvr>
                                      <p:tavLst>
                                        <p:tav tm="0">
                                          <p:val>
                                            <p:strVal val="#ppt_x"/>
                                          </p:val>
                                        </p:tav>
                                        <p:tav tm="100000">
                                          <p:val>
                                            <p:strVal val="#ppt_x"/>
                                          </p:val>
                                        </p:tav>
                                      </p:tavLst>
                                    </p:anim>
                                    <p:anim calcmode="lin" valueType="num">
                                      <p:cBhvr>
                                        <p:cTn id="21" dur="500" decel="100000" fill="hold"/>
                                        <p:tgtEl>
                                          <p:spTgt spid="7"/>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anim calcmode="lin" valueType="num">
                                      <p:cBhvr>
                                        <p:cTn id="25" dur="500" decel="100000" fill="hold"/>
                                        <p:tgtEl>
                                          <p:spTgt spid="8"/>
                                        </p:tgtEl>
                                        <p:attrNameLst>
                                          <p:attrName>ppt_x</p:attrName>
                                        </p:attrNameLst>
                                      </p:cBhvr>
                                      <p:tavLst>
                                        <p:tav tm="0">
                                          <p:val>
                                            <p:strVal val="#ppt_x"/>
                                          </p:val>
                                        </p:tav>
                                        <p:tav tm="100000">
                                          <p:val>
                                            <p:strVal val="#ppt_x"/>
                                          </p:val>
                                        </p:tav>
                                      </p:tavLst>
                                    </p:anim>
                                    <p:anim calcmode="lin" valueType="num">
                                      <p:cBhvr>
                                        <p:cTn id="26" dur="500" decel="100000" fill="hold"/>
                                        <p:tgtEl>
                                          <p:spTgt spid="8"/>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anim calcmode="lin" valueType="num">
                                      <p:cBhvr>
                                        <p:cTn id="30" dur="500" decel="100000" fill="hold"/>
                                        <p:tgtEl>
                                          <p:spTgt spid="9"/>
                                        </p:tgtEl>
                                        <p:attrNameLst>
                                          <p:attrName>ppt_x</p:attrName>
                                        </p:attrNameLst>
                                      </p:cBhvr>
                                      <p:tavLst>
                                        <p:tav tm="0">
                                          <p:val>
                                            <p:strVal val="#ppt_x"/>
                                          </p:val>
                                        </p:tav>
                                        <p:tav tm="100000">
                                          <p:val>
                                            <p:strVal val="#ppt_x"/>
                                          </p:val>
                                        </p:tav>
                                      </p:tavLst>
                                    </p:anim>
                                    <p:anim calcmode="lin" valueType="num">
                                      <p:cBhvr>
                                        <p:cTn id="31" dur="500" decel="100000" fill="hold"/>
                                        <p:tgtEl>
                                          <p:spTgt spid="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Plan de présentation</a:t>
            </a:r>
            <a:endParaRPr lang="en-US" sz="2800" dirty="0"/>
          </a:p>
        </p:txBody>
      </p:sp>
      <p:sp>
        <p:nvSpPr>
          <p:cNvPr id="4" name="c1_card0"/>
          <p:cNvSpPr/>
          <p:nvPr/>
        </p:nvSpPr>
        <p:spPr>
          <a:xfrm>
            <a:off x="548640" y="2148840"/>
            <a:ext cx="2075688" cy="2468880"/>
          </a:xfrm>
          <a:prstGeom prst="roundRect">
            <a:avLst>
              <a:gd name="adj" fmla="val 5286"/>
            </a:avLst>
          </a:prstGeom>
          <a:solidFill>
            <a:schemeClr val="bg2"/>
          </a:solidFill>
          <a:ln w="12700">
            <a:solidFill>
              <a:schemeClr val="bg2"/>
            </a:solidFill>
            <a:prstDash val="solid"/>
          </a:ln>
        </p:spPr>
      </p:sp>
      <p:sp>
        <p:nvSpPr>
          <p:cNvPr id="5" name="c1_num0"/>
          <p:cNvSpPr txBox="1"/>
          <p:nvPr/>
        </p:nvSpPr>
        <p:spPr>
          <a:xfrm>
            <a:off x="822960" y="2468880"/>
            <a:ext cx="1463040" cy="685800"/>
          </a:xfrm>
          <a:prstGeom prst="rect">
            <a:avLst/>
          </a:prstGeom>
          <a:noFill/>
          <a:ln/>
        </p:spPr>
        <p:txBody>
          <a:bodyPr wrap="square" lIns="0" tIns="0" rIns="0" bIns="0" rtlCol="0" anchor="t"/>
          <a:lstStyle/>
          <a:p>
            <a:pPr indent="0" marL="0">
              <a:buNone/>
            </a:pPr>
            <a:r>
              <a:rPr lang="en-US" sz="3600" b="1" dirty="0">
                <a:solidFill>
                  <a:schemeClr val="accent1"/>
                </a:solidFill>
              </a:rPr>
              <a:t>01</a:t>
            </a:r>
            <a:endParaRPr lang="en-US" sz="3600" dirty="0"/>
          </a:p>
        </p:txBody>
      </p:sp>
      <p:sp>
        <p:nvSpPr>
          <p:cNvPr id="6" name="c1_lab0"/>
          <p:cNvSpPr txBox="1"/>
          <p:nvPr/>
        </p:nvSpPr>
        <p:spPr>
          <a:xfrm>
            <a:off x="822960" y="3383280"/>
            <a:ext cx="1618488" cy="914400"/>
          </a:xfrm>
          <a:prstGeom prst="rect">
            <a:avLst/>
          </a:prstGeom>
          <a:noFill/>
          <a:ln/>
        </p:spPr>
        <p:txBody>
          <a:bodyPr wrap="square" lIns="0" tIns="0" rIns="0" bIns="0" rtlCol="0" anchor="t"/>
          <a:lstStyle/>
          <a:p>
            <a:pPr indent="0" marL="0">
              <a:buNone/>
            </a:pPr>
            <a:r>
              <a:rPr lang="en-US" sz="1700" b="1" dirty="0">
                <a:solidFill>
                  <a:schemeClr val="tx1"/>
                </a:solidFill>
              </a:rPr>
              <a:t>Introduction</a:t>
            </a:r>
            <a:endParaRPr lang="en-US" sz="1700" dirty="0"/>
          </a:p>
        </p:txBody>
      </p:sp>
      <p:sp>
        <p:nvSpPr>
          <p:cNvPr id="7" name="c1_card1"/>
          <p:cNvSpPr/>
          <p:nvPr/>
        </p:nvSpPr>
        <p:spPr>
          <a:xfrm>
            <a:off x="2807208" y="2148840"/>
            <a:ext cx="2075688" cy="2468880"/>
          </a:xfrm>
          <a:prstGeom prst="roundRect">
            <a:avLst>
              <a:gd name="adj" fmla="val 5286"/>
            </a:avLst>
          </a:prstGeom>
          <a:solidFill>
            <a:schemeClr val="bg2"/>
          </a:solidFill>
          <a:ln w="12700">
            <a:solidFill>
              <a:schemeClr val="bg2"/>
            </a:solidFill>
            <a:prstDash val="solid"/>
          </a:ln>
        </p:spPr>
      </p:sp>
      <p:sp>
        <p:nvSpPr>
          <p:cNvPr id="8" name="c1_num1"/>
          <p:cNvSpPr txBox="1"/>
          <p:nvPr/>
        </p:nvSpPr>
        <p:spPr>
          <a:xfrm>
            <a:off x="3081528" y="2468880"/>
            <a:ext cx="1463040" cy="685800"/>
          </a:xfrm>
          <a:prstGeom prst="rect">
            <a:avLst/>
          </a:prstGeom>
          <a:noFill/>
          <a:ln/>
        </p:spPr>
        <p:txBody>
          <a:bodyPr wrap="square" lIns="0" tIns="0" rIns="0" bIns="0" rtlCol="0" anchor="t"/>
          <a:lstStyle/>
          <a:p>
            <a:pPr indent="0" marL="0">
              <a:buNone/>
            </a:pPr>
            <a:r>
              <a:rPr lang="en-US" sz="3600" b="1" dirty="0">
                <a:solidFill>
                  <a:schemeClr val="accent1"/>
                </a:solidFill>
              </a:rPr>
              <a:t>02</a:t>
            </a:r>
            <a:endParaRPr lang="en-US" sz="3600" dirty="0"/>
          </a:p>
        </p:txBody>
      </p:sp>
      <p:sp>
        <p:nvSpPr>
          <p:cNvPr id="9" name="c1_lab1"/>
          <p:cNvSpPr txBox="1"/>
          <p:nvPr/>
        </p:nvSpPr>
        <p:spPr>
          <a:xfrm>
            <a:off x="3081528" y="3383280"/>
            <a:ext cx="1618488" cy="914400"/>
          </a:xfrm>
          <a:prstGeom prst="rect">
            <a:avLst/>
          </a:prstGeom>
          <a:noFill/>
          <a:ln/>
        </p:spPr>
        <p:txBody>
          <a:bodyPr wrap="square" lIns="0" tIns="0" rIns="0" bIns="0" rtlCol="0" anchor="t"/>
          <a:lstStyle/>
          <a:p>
            <a:pPr indent="0" marL="0">
              <a:buNone/>
            </a:pPr>
            <a:r>
              <a:rPr lang="en-US" sz="1700" b="1" dirty="0">
                <a:solidFill>
                  <a:schemeClr val="tx1"/>
                </a:solidFill>
              </a:rPr>
              <a:t>Cadre d'étude</a:t>
            </a:r>
            <a:endParaRPr lang="en-US" sz="1700" dirty="0"/>
          </a:p>
        </p:txBody>
      </p:sp>
      <p:sp>
        <p:nvSpPr>
          <p:cNvPr id="10" name="c1_card2"/>
          <p:cNvSpPr/>
          <p:nvPr/>
        </p:nvSpPr>
        <p:spPr>
          <a:xfrm>
            <a:off x="5065776" y="2148840"/>
            <a:ext cx="2075688" cy="2468880"/>
          </a:xfrm>
          <a:prstGeom prst="roundRect">
            <a:avLst>
              <a:gd name="adj" fmla="val 5286"/>
            </a:avLst>
          </a:prstGeom>
          <a:solidFill>
            <a:schemeClr val="bg2"/>
          </a:solidFill>
          <a:ln w="12700">
            <a:solidFill>
              <a:schemeClr val="bg2"/>
            </a:solidFill>
            <a:prstDash val="solid"/>
          </a:ln>
        </p:spPr>
      </p:sp>
      <p:sp>
        <p:nvSpPr>
          <p:cNvPr id="11" name="c1_num2"/>
          <p:cNvSpPr txBox="1"/>
          <p:nvPr/>
        </p:nvSpPr>
        <p:spPr>
          <a:xfrm>
            <a:off x="5340096" y="2468880"/>
            <a:ext cx="1463040" cy="685800"/>
          </a:xfrm>
          <a:prstGeom prst="rect">
            <a:avLst/>
          </a:prstGeom>
          <a:noFill/>
          <a:ln/>
        </p:spPr>
        <p:txBody>
          <a:bodyPr wrap="square" lIns="0" tIns="0" rIns="0" bIns="0" rtlCol="0" anchor="t"/>
          <a:lstStyle/>
          <a:p>
            <a:pPr indent="0" marL="0">
              <a:buNone/>
            </a:pPr>
            <a:r>
              <a:rPr lang="en-US" sz="3600" b="1" dirty="0">
                <a:solidFill>
                  <a:schemeClr val="accent1"/>
                </a:solidFill>
              </a:rPr>
              <a:t>03</a:t>
            </a:r>
            <a:endParaRPr lang="en-US" sz="3600" dirty="0"/>
          </a:p>
        </p:txBody>
      </p:sp>
      <p:sp>
        <p:nvSpPr>
          <p:cNvPr id="12" name="c1_lab2"/>
          <p:cNvSpPr txBox="1"/>
          <p:nvPr/>
        </p:nvSpPr>
        <p:spPr>
          <a:xfrm>
            <a:off x="5340096" y="3383280"/>
            <a:ext cx="1618488" cy="914400"/>
          </a:xfrm>
          <a:prstGeom prst="rect">
            <a:avLst/>
          </a:prstGeom>
          <a:noFill/>
          <a:ln/>
        </p:spPr>
        <p:txBody>
          <a:bodyPr wrap="square" lIns="0" tIns="0" rIns="0" bIns="0" rtlCol="0" anchor="t"/>
          <a:lstStyle/>
          <a:p>
            <a:pPr indent="0" marL="0">
              <a:buNone/>
            </a:pPr>
            <a:r>
              <a:rPr lang="en-US" sz="1700" b="1" dirty="0">
                <a:solidFill>
                  <a:schemeClr val="tx1"/>
                </a:solidFill>
              </a:rPr>
              <a:t>Étude technique</a:t>
            </a:r>
            <a:endParaRPr lang="en-US" sz="1700" dirty="0"/>
          </a:p>
        </p:txBody>
      </p:sp>
      <p:sp>
        <p:nvSpPr>
          <p:cNvPr id="13" name="c1_card3"/>
          <p:cNvSpPr/>
          <p:nvPr/>
        </p:nvSpPr>
        <p:spPr>
          <a:xfrm>
            <a:off x="7324344" y="2148840"/>
            <a:ext cx="2075688" cy="2468880"/>
          </a:xfrm>
          <a:prstGeom prst="roundRect">
            <a:avLst>
              <a:gd name="adj" fmla="val 5286"/>
            </a:avLst>
          </a:prstGeom>
          <a:solidFill>
            <a:schemeClr val="bg2"/>
          </a:solidFill>
          <a:ln w="12700">
            <a:solidFill>
              <a:schemeClr val="bg2"/>
            </a:solidFill>
            <a:prstDash val="solid"/>
          </a:ln>
        </p:spPr>
      </p:sp>
      <p:sp>
        <p:nvSpPr>
          <p:cNvPr id="14" name="c1_num3"/>
          <p:cNvSpPr txBox="1"/>
          <p:nvPr/>
        </p:nvSpPr>
        <p:spPr>
          <a:xfrm>
            <a:off x="7598664" y="2468880"/>
            <a:ext cx="1463040" cy="685800"/>
          </a:xfrm>
          <a:prstGeom prst="rect">
            <a:avLst/>
          </a:prstGeom>
          <a:noFill/>
          <a:ln/>
        </p:spPr>
        <p:txBody>
          <a:bodyPr wrap="square" lIns="0" tIns="0" rIns="0" bIns="0" rtlCol="0" anchor="t"/>
          <a:lstStyle/>
          <a:p>
            <a:pPr indent="0" marL="0">
              <a:buNone/>
            </a:pPr>
            <a:r>
              <a:rPr lang="en-US" sz="3600" b="1" dirty="0">
                <a:solidFill>
                  <a:schemeClr val="accent1"/>
                </a:solidFill>
              </a:rPr>
              <a:t>04</a:t>
            </a:r>
            <a:endParaRPr lang="en-US" sz="3600" dirty="0"/>
          </a:p>
        </p:txBody>
      </p:sp>
      <p:sp>
        <p:nvSpPr>
          <p:cNvPr id="15" name="c1_lab3"/>
          <p:cNvSpPr txBox="1"/>
          <p:nvPr/>
        </p:nvSpPr>
        <p:spPr>
          <a:xfrm>
            <a:off x="7598664" y="3383280"/>
            <a:ext cx="1618488" cy="914400"/>
          </a:xfrm>
          <a:prstGeom prst="rect">
            <a:avLst/>
          </a:prstGeom>
          <a:noFill/>
          <a:ln/>
        </p:spPr>
        <p:txBody>
          <a:bodyPr wrap="square" lIns="0" tIns="0" rIns="0" bIns="0" rtlCol="0" anchor="t"/>
          <a:lstStyle/>
          <a:p>
            <a:pPr indent="0" marL="0">
              <a:buNone/>
            </a:pPr>
            <a:r>
              <a:rPr lang="en-US" sz="1700" b="1" dirty="0">
                <a:solidFill>
                  <a:schemeClr val="tx1"/>
                </a:solidFill>
              </a:rPr>
              <a:t>Réalisation des supports</a:t>
            </a:r>
            <a:endParaRPr lang="en-US" sz="1700" dirty="0"/>
          </a:p>
        </p:txBody>
      </p:sp>
      <p:sp>
        <p:nvSpPr>
          <p:cNvPr id="16" name="c1_card4"/>
          <p:cNvSpPr/>
          <p:nvPr/>
        </p:nvSpPr>
        <p:spPr>
          <a:xfrm>
            <a:off x="9582912" y="2148840"/>
            <a:ext cx="2075688" cy="2468880"/>
          </a:xfrm>
          <a:prstGeom prst="roundRect">
            <a:avLst>
              <a:gd name="adj" fmla="val 5286"/>
            </a:avLst>
          </a:prstGeom>
          <a:solidFill>
            <a:schemeClr val="bg2"/>
          </a:solidFill>
          <a:ln w="12700">
            <a:solidFill>
              <a:schemeClr val="bg2"/>
            </a:solidFill>
            <a:prstDash val="solid"/>
          </a:ln>
        </p:spPr>
      </p:sp>
      <p:sp>
        <p:nvSpPr>
          <p:cNvPr id="17" name="c1_num4"/>
          <p:cNvSpPr txBox="1"/>
          <p:nvPr/>
        </p:nvSpPr>
        <p:spPr>
          <a:xfrm>
            <a:off x="9857232" y="2468880"/>
            <a:ext cx="1463040" cy="685800"/>
          </a:xfrm>
          <a:prstGeom prst="rect">
            <a:avLst/>
          </a:prstGeom>
          <a:noFill/>
          <a:ln/>
        </p:spPr>
        <p:txBody>
          <a:bodyPr wrap="square" lIns="0" tIns="0" rIns="0" bIns="0" rtlCol="0" anchor="t"/>
          <a:lstStyle/>
          <a:p>
            <a:pPr indent="0" marL="0">
              <a:buNone/>
            </a:pPr>
            <a:r>
              <a:rPr lang="en-US" sz="3600" b="1" dirty="0">
                <a:solidFill>
                  <a:schemeClr val="accent1"/>
                </a:solidFill>
              </a:rPr>
              <a:t>05</a:t>
            </a:r>
            <a:endParaRPr lang="en-US" sz="3600" dirty="0"/>
          </a:p>
        </p:txBody>
      </p:sp>
      <p:sp>
        <p:nvSpPr>
          <p:cNvPr id="18" name="c1_lab4"/>
          <p:cNvSpPr txBox="1"/>
          <p:nvPr/>
        </p:nvSpPr>
        <p:spPr>
          <a:xfrm>
            <a:off x="9857232" y="3383280"/>
            <a:ext cx="1618488" cy="914400"/>
          </a:xfrm>
          <a:prstGeom prst="rect">
            <a:avLst/>
          </a:prstGeom>
          <a:noFill/>
          <a:ln/>
        </p:spPr>
        <p:txBody>
          <a:bodyPr wrap="square" lIns="0" tIns="0" rIns="0" bIns="0" rtlCol="0" anchor="t"/>
          <a:lstStyle/>
          <a:p>
            <a:pPr indent="0" marL="0">
              <a:buNone/>
            </a:pPr>
            <a:r>
              <a:rPr lang="en-US" sz="1700" b="1" dirty="0">
                <a:solidFill>
                  <a:schemeClr val="tx1"/>
                </a:solidFill>
              </a:rPr>
              <a:t>Conclusion</a:t>
            </a:r>
            <a:endParaRPr lang="en-US" sz="17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0278"/>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decel="100000" fill="hold"/>
                                        <p:tgtEl>
                                          <p:spTgt spid="10"/>
                                        </p:tgtEl>
                                        <p:attrNameLst>
                                          <p:attrName>ppt_x</p:attrName>
                                        </p:attrNameLst>
                                      </p:cBhvr>
                                      <p:tavLst>
                                        <p:tav tm="0">
                                          <p:val>
                                            <p:strVal val="#ppt_x"/>
                                          </p:val>
                                        </p:tav>
                                        <p:tav tm="100000">
                                          <p:val>
                                            <p:strVal val="#ppt_x"/>
                                          </p:val>
                                        </p:tav>
                                      </p:tavLst>
                                    </p:anim>
                                    <p:anim calcmode="lin" valueType="num">
                                      <p:cBhvr>
                                        <p:cTn id="46" dur="500" decel="100000" fill="hold"/>
                                        <p:tgtEl>
                                          <p:spTgt spid="10"/>
                                        </p:tgtEl>
                                        <p:attrNameLst>
                                          <p:attrName>ppt_y</p:attrName>
                                        </p:attrNameLst>
                                      </p:cBhvr>
                                      <p:tavLst>
                                        <p:tav tm="0">
                                          <p:val>
                                            <p:strVal val="#ppt_y+0.027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0278"/>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p:cTn id="55" dur="500" decel="100000" fill="hold"/>
                                        <p:tgtEl>
                                          <p:spTgt spid="12"/>
                                        </p:tgtEl>
                                        <p:attrNameLst>
                                          <p:attrName>ppt_x</p:attrName>
                                        </p:attrNameLst>
                                      </p:cBhvr>
                                      <p:tavLst>
                                        <p:tav tm="0">
                                          <p:val>
                                            <p:strVal val="#ppt_x"/>
                                          </p:val>
                                        </p:tav>
                                        <p:tav tm="100000">
                                          <p:val>
                                            <p:strVal val="#ppt_x"/>
                                          </p:val>
                                        </p:tav>
                                      </p:tavLst>
                                    </p:anim>
                                    <p:anim calcmode="lin" valueType="num">
                                      <p:cBhvr>
                                        <p:cTn id="56" dur="500" decel="100000" fill="hold"/>
                                        <p:tgtEl>
                                          <p:spTgt spid="12"/>
                                        </p:tgtEl>
                                        <p:attrNameLst>
                                          <p:attrName>ppt_y</p:attrName>
                                        </p:attrNameLst>
                                      </p:cBhvr>
                                      <p:tavLst>
                                        <p:tav tm="0">
                                          <p:val>
                                            <p:strVal val="#ppt_y+0.027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0278"/>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decel="100000" fill="hold"/>
                                        <p:tgtEl>
                                          <p:spTgt spid="14"/>
                                        </p:tgtEl>
                                        <p:attrNameLst>
                                          <p:attrName>ppt_x</p:attrName>
                                        </p:attrNameLst>
                                      </p:cBhvr>
                                      <p:tavLst>
                                        <p:tav tm="0">
                                          <p:val>
                                            <p:strVal val="#ppt_x"/>
                                          </p:val>
                                        </p:tav>
                                        <p:tav tm="100000">
                                          <p:val>
                                            <p:strVal val="#ppt_x"/>
                                          </p:val>
                                        </p:tav>
                                      </p:tavLst>
                                    </p:anim>
                                    <p:anim calcmode="lin" valueType="num">
                                      <p:cBhvr>
                                        <p:cTn id="66" dur="500" decel="100000" fill="hold"/>
                                        <p:tgtEl>
                                          <p:spTgt spid="14"/>
                                        </p:tgtEl>
                                        <p:attrNameLst>
                                          <p:attrName>ppt_y</p:attrName>
                                        </p:attrNameLst>
                                      </p:cBhvr>
                                      <p:tavLst>
                                        <p:tav tm="0">
                                          <p:val>
                                            <p:strVal val="#ppt_y+0.0278"/>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anim calcmode="lin" valueType="num">
                                      <p:cBhvr>
                                        <p:cTn id="70" dur="500" decel="100000" fill="hold"/>
                                        <p:tgtEl>
                                          <p:spTgt spid="15"/>
                                        </p:tgtEl>
                                        <p:attrNameLst>
                                          <p:attrName>ppt_x</p:attrName>
                                        </p:attrNameLst>
                                      </p:cBhvr>
                                      <p:tavLst>
                                        <p:tav tm="0">
                                          <p:val>
                                            <p:strVal val="#ppt_x"/>
                                          </p:val>
                                        </p:tav>
                                        <p:tav tm="100000">
                                          <p:val>
                                            <p:strVal val="#ppt_x"/>
                                          </p:val>
                                        </p:tav>
                                      </p:tavLst>
                                    </p:anim>
                                    <p:anim calcmode="lin" valueType="num">
                                      <p:cBhvr>
                                        <p:cTn id="71" dur="500" decel="100000" fill="hold"/>
                                        <p:tgtEl>
                                          <p:spTgt spid="15"/>
                                        </p:tgtEl>
                                        <p:attrNameLst>
                                          <p:attrName>ppt_y</p:attrName>
                                        </p:attrNameLst>
                                      </p:cBhvr>
                                      <p:tavLst>
                                        <p:tav tm="0">
                                          <p:val>
                                            <p:strVal val="#ppt_y+0.0278"/>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anim calcmode="lin" valueType="num">
                                      <p:cBhvr>
                                        <p:cTn id="75" dur="500" decel="100000" fill="hold"/>
                                        <p:tgtEl>
                                          <p:spTgt spid="16"/>
                                        </p:tgtEl>
                                        <p:attrNameLst>
                                          <p:attrName>ppt_x</p:attrName>
                                        </p:attrNameLst>
                                      </p:cBhvr>
                                      <p:tavLst>
                                        <p:tav tm="0">
                                          <p:val>
                                            <p:strVal val="#ppt_x"/>
                                          </p:val>
                                        </p:tav>
                                        <p:tav tm="100000">
                                          <p:val>
                                            <p:strVal val="#ppt_x"/>
                                          </p:val>
                                        </p:tav>
                                      </p:tavLst>
                                    </p:anim>
                                    <p:anim calcmode="lin" valueType="num">
                                      <p:cBhvr>
                                        <p:cTn id="76" dur="500" decel="100000" fill="hold"/>
                                        <p:tgtEl>
                                          <p:spTgt spid="16"/>
                                        </p:tgtEl>
                                        <p:attrNameLst>
                                          <p:attrName>ppt_y</p:attrName>
                                        </p:attrNameLst>
                                      </p:cBhvr>
                                      <p:tavLst>
                                        <p:tav tm="0">
                                          <p:val>
                                            <p:strVal val="#ppt_y+0.027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500"/>
                                        <p:tgtEl>
                                          <p:spTgt spid="17"/>
                                        </p:tgtEl>
                                      </p:cBhvr>
                                    </p:animEffect>
                                    <p:anim calcmode="lin" valueType="num">
                                      <p:cBhvr>
                                        <p:cTn id="80" dur="500" decel="100000" fill="hold"/>
                                        <p:tgtEl>
                                          <p:spTgt spid="17"/>
                                        </p:tgtEl>
                                        <p:attrNameLst>
                                          <p:attrName>ppt_x</p:attrName>
                                        </p:attrNameLst>
                                      </p:cBhvr>
                                      <p:tavLst>
                                        <p:tav tm="0">
                                          <p:val>
                                            <p:strVal val="#ppt_x"/>
                                          </p:val>
                                        </p:tav>
                                        <p:tav tm="100000">
                                          <p:val>
                                            <p:strVal val="#ppt_x"/>
                                          </p:val>
                                        </p:tav>
                                      </p:tavLst>
                                    </p:anim>
                                    <p:anim calcmode="lin" valueType="num">
                                      <p:cBhvr>
                                        <p:cTn id="81" dur="500" decel="100000" fill="hold"/>
                                        <p:tgtEl>
                                          <p:spTgt spid="17"/>
                                        </p:tgtEl>
                                        <p:attrNameLst>
                                          <p:attrName>ppt_y</p:attrName>
                                        </p:attrNameLst>
                                      </p:cBhvr>
                                      <p:tavLst>
                                        <p:tav tm="0">
                                          <p:val>
                                            <p:strVal val="#ppt_y+0.0278"/>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500"/>
                                        <p:tgtEl>
                                          <p:spTgt spid="18"/>
                                        </p:tgtEl>
                                      </p:cBhvr>
                                    </p:animEffect>
                                    <p:anim calcmode="lin" valueType="num">
                                      <p:cBhvr>
                                        <p:cTn id="85" dur="500" decel="100000" fill="hold"/>
                                        <p:tgtEl>
                                          <p:spTgt spid="18"/>
                                        </p:tgtEl>
                                        <p:attrNameLst>
                                          <p:attrName>ppt_x</p:attrName>
                                        </p:attrNameLst>
                                      </p:cBhvr>
                                      <p:tavLst>
                                        <p:tav tm="0">
                                          <p:val>
                                            <p:strVal val="#ppt_x"/>
                                          </p:val>
                                        </p:tav>
                                        <p:tav tm="100000">
                                          <p:val>
                                            <p:strVal val="#ppt_x"/>
                                          </p:val>
                                        </p:tav>
                                      </p:tavLst>
                                    </p:anim>
                                    <p:anim calcmode="lin" valueType="num">
                                      <p:cBhvr>
                                        <p:cTn id="86" dur="500" decel="100000" fill="hold"/>
                                        <p:tgtEl>
                                          <p:spTgt spid="18"/>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8229600" cy="502920"/>
          </a:xfrm>
          <a:prstGeom prst="rect">
            <a:avLst/>
          </a:prstGeom>
          <a:noFill/>
          <a:ln/>
        </p:spPr>
        <p:txBody>
          <a:bodyPr wrap="square" lIns="0" tIns="0" rIns="0" bIns="0" rtlCol="0" anchor="b"/>
          <a:lstStyle/>
          <a:p>
            <a:pPr algn="l" indent="0" marL="0">
              <a:buNone/>
            </a:pPr>
            <a:r>
              <a:rPr lang="en-US" sz="1600" b="1" spc="400" kern="0" dirty="0">
                <a:solidFill>
                  <a:srgbClr val="FFFFFF"/>
                </a:solidFill>
              </a:rPr>
              <a:t>01</a:t>
            </a:r>
            <a:endParaRPr lang="en-US" sz="1600" dirty="0"/>
          </a:p>
        </p:txBody>
      </p:sp>
      <p:sp>
        <p:nvSpPr>
          <p:cNvPr id="3" name="Text 0"/>
          <p:cNvSpPr/>
          <p:nvPr>
            <p:ph idx="101" type="title" hasCustomPrompt="1"/>
          </p:nvPr>
        </p:nvSpPr>
        <p:spPr>
          <a:xfrm>
            <a:off x="822960" y="2926080"/>
            <a:ext cx="9601200" cy="1188720"/>
          </a:xfrm>
          <a:prstGeom prst="rect">
            <a:avLst/>
          </a:prstGeom>
          <a:noFill/>
          <a:ln/>
        </p:spPr>
        <p:txBody>
          <a:bodyPr wrap="square" lIns="0" tIns="0" rIns="0" bIns="0" rtlCol="0" anchor="t"/>
          <a:lstStyle/>
          <a:p>
            <a:pPr algn="l" indent="0" marL="0">
              <a:buNone/>
            </a:pPr>
            <a:r>
              <a:rPr lang="en-US" sz="4800" b="1" dirty="0">
                <a:solidFill>
                  <a:srgbClr val="FFFFFF"/>
                </a:solidFill>
              </a:rPr>
              <a:t>Introduction</a:t>
            </a:r>
            <a:endParaRPr lang="en-US" sz="4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decel="100000" fill="hold"/>
                                        <p:tgtEl>
                                          <p:spTgt spid="3"/>
                                        </p:tgtEl>
                                        <p:attrNameLst>
                                          <p:attrName>ppt_x</p:attrName>
                                        </p:attrNameLst>
                                      </p:cBhvr>
                                      <p:tavLst>
                                        <p:tav tm="0">
                                          <p:val>
                                            <p:strVal val="#ppt_x"/>
                                          </p:val>
                                        </p:tav>
                                        <p:tav tm="100000">
                                          <p:val>
                                            <p:strVal val="#ppt_x"/>
                                          </p:val>
                                        </p:tav>
                                      </p:tavLst>
                                    </p:anim>
                                    <p:anim calcmode="lin" valueType="num">
                                      <p:cBhvr>
                                        <p:cTn id="14"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Une concurrence de plus en plus forte</a:t>
            </a:r>
            <a:endParaRPr lang="en-US" sz="2800" dirty="0"/>
          </a:p>
        </p:txBody>
      </p:sp>
      <p:sp>
        <p:nvSpPr>
          <p:cNvPr id="4" name="c1_card"/>
          <p:cNvSpPr/>
          <p:nvPr/>
        </p:nvSpPr>
        <p:spPr>
          <a:xfrm>
            <a:off x="548640" y="1691640"/>
            <a:ext cx="3502152" cy="3611880"/>
          </a:xfrm>
          <a:prstGeom prst="roundRect">
            <a:avLst>
              <a:gd name="adj" fmla="val 3133"/>
            </a:avLst>
          </a:prstGeom>
          <a:solidFill>
            <a:schemeClr val="bg2"/>
          </a:solidFill>
          <a:ln w="12700">
            <a:solidFill>
              <a:schemeClr val="bg2"/>
            </a:solidFill>
            <a:prstDash val="solid"/>
          </a:ln>
        </p:spPr>
      </p:sp>
      <p:sp>
        <p:nvSpPr>
          <p:cNvPr id="5" name="c1_ic"/>
          <p:cNvSpPr/>
          <p:nvPr/>
        </p:nvSpPr>
        <p:spPr>
          <a:xfrm>
            <a:off x="914400" y="2103120"/>
            <a:ext cx="868680" cy="868680"/>
          </a:xfrm>
          <a:prstGeom prst="ellipse">
            <a:avLst/>
          </a:prstGeom>
          <a:solidFill>
            <a:schemeClr val="bg1"/>
          </a:solidFill>
          <a:ln w="12700">
            <a:solidFill>
              <a:schemeClr val="bg1"/>
            </a:solidFill>
            <a:prstDash val="solid"/>
          </a:ln>
        </p:spPr>
      </p:sp>
      <p:pic>
        <p:nvPicPr>
          <p:cNvPr id="6" name="c1_ici" descr="preencoded.png">    </p:cNvPr>
          <p:cNvPicPr>
            <a:picLocks noChangeAspect="1"/>
          </p:cNvPicPr>
          <p:nvPr/>
        </p:nvPicPr>
        <p:blipFill>
          <a:blip r:embed="rId1"/>
          <a:stretch>
            <a:fillRect/>
          </a:stretch>
        </p:blipFill>
        <p:spPr>
          <a:xfrm>
            <a:off x="1131570" y="2320290"/>
            <a:ext cx="434340" cy="434340"/>
          </a:xfrm>
          <a:prstGeom prst="rect">
            <a:avLst/>
          </a:prstGeom>
        </p:spPr>
      </p:pic>
      <p:sp>
        <p:nvSpPr>
          <p:cNvPr id="7" name="c1_txt"/>
          <p:cNvSpPr txBox="1"/>
          <p:nvPr/>
        </p:nvSpPr>
        <p:spPr>
          <a:xfrm>
            <a:off x="914400" y="3246120"/>
            <a:ext cx="2770632" cy="1737360"/>
          </a:xfrm>
          <a:prstGeom prst="rect">
            <a:avLst/>
          </a:prstGeom>
          <a:noFill/>
          <a:ln/>
        </p:spPr>
        <p:txBody>
          <a:bodyPr wrap="square" lIns="0" tIns="0" rIns="0" bIns="0" rtlCol="0" anchor="t"/>
          <a:lstStyle/>
          <a:p>
            <a:pPr indent="0" marL="0">
              <a:buNone/>
            </a:pPr>
            <a:r>
              <a:rPr lang="en-US" sz="1800" b="1" dirty="0">
                <a:solidFill>
                  <a:schemeClr val="tx1"/>
                </a:solidFill>
              </a:rPr>
              <a:t>La communication, un levier stratégique indispensable</a:t>
            </a:r>
            <a:endParaRPr lang="en-US" sz="1800" dirty="0"/>
          </a:p>
        </p:txBody>
      </p:sp>
      <p:sp>
        <p:nvSpPr>
          <p:cNvPr id="8" name="c2_card"/>
          <p:cNvSpPr/>
          <p:nvPr/>
        </p:nvSpPr>
        <p:spPr>
          <a:xfrm>
            <a:off x="4325112" y="1691640"/>
            <a:ext cx="3502152" cy="3611880"/>
          </a:xfrm>
          <a:prstGeom prst="roundRect">
            <a:avLst>
              <a:gd name="adj" fmla="val 3133"/>
            </a:avLst>
          </a:prstGeom>
          <a:solidFill>
            <a:schemeClr val="bg2"/>
          </a:solidFill>
          <a:ln w="12700">
            <a:solidFill>
              <a:schemeClr val="bg2"/>
            </a:solidFill>
            <a:prstDash val="solid"/>
          </a:ln>
        </p:spPr>
      </p:sp>
      <p:sp>
        <p:nvSpPr>
          <p:cNvPr id="9" name="c2_ic"/>
          <p:cNvSpPr/>
          <p:nvPr/>
        </p:nvSpPr>
        <p:spPr>
          <a:xfrm>
            <a:off x="4690872" y="2103120"/>
            <a:ext cx="868680" cy="868680"/>
          </a:xfrm>
          <a:prstGeom prst="ellipse">
            <a:avLst/>
          </a:prstGeom>
          <a:solidFill>
            <a:schemeClr val="bg1"/>
          </a:solidFill>
          <a:ln w="12700">
            <a:solidFill>
              <a:schemeClr val="bg1"/>
            </a:solidFill>
            <a:prstDash val="solid"/>
          </a:ln>
        </p:spPr>
      </p:sp>
      <p:pic>
        <p:nvPicPr>
          <p:cNvPr id="10" name="c2_ici" descr="preencoded.png">    </p:cNvPr>
          <p:cNvPicPr>
            <a:picLocks noChangeAspect="1"/>
          </p:cNvPicPr>
          <p:nvPr/>
        </p:nvPicPr>
        <p:blipFill>
          <a:blip r:embed="rId2"/>
          <a:stretch>
            <a:fillRect/>
          </a:stretch>
        </p:blipFill>
        <p:spPr>
          <a:xfrm>
            <a:off x="4908042" y="2320290"/>
            <a:ext cx="434340" cy="434340"/>
          </a:xfrm>
          <a:prstGeom prst="rect">
            <a:avLst/>
          </a:prstGeom>
        </p:spPr>
      </p:pic>
      <p:sp>
        <p:nvSpPr>
          <p:cNvPr id="11" name="c2_txt"/>
          <p:cNvSpPr txBox="1"/>
          <p:nvPr/>
        </p:nvSpPr>
        <p:spPr>
          <a:xfrm>
            <a:off x="4690872" y="3246120"/>
            <a:ext cx="2770632" cy="1737360"/>
          </a:xfrm>
          <a:prstGeom prst="rect">
            <a:avLst/>
          </a:prstGeom>
          <a:noFill/>
          <a:ln/>
        </p:spPr>
        <p:txBody>
          <a:bodyPr wrap="square" lIns="0" tIns="0" rIns="0" bIns="0" rtlCol="0" anchor="t"/>
          <a:lstStyle/>
          <a:p>
            <a:pPr indent="0" marL="0">
              <a:buNone/>
            </a:pPr>
            <a:r>
              <a:rPr lang="en-US" sz="1800" b="1" dirty="0">
                <a:solidFill>
                  <a:schemeClr val="tx1"/>
                </a:solidFill>
              </a:rPr>
              <a:t>L'essor des salles de sport et des agences sportives</a:t>
            </a:r>
            <a:endParaRPr lang="en-US" sz="1800" dirty="0"/>
          </a:p>
        </p:txBody>
      </p:sp>
      <p:sp>
        <p:nvSpPr>
          <p:cNvPr id="12" name="c3_card"/>
          <p:cNvSpPr/>
          <p:nvPr/>
        </p:nvSpPr>
        <p:spPr>
          <a:xfrm>
            <a:off x="8101584" y="1691640"/>
            <a:ext cx="3502152" cy="3611880"/>
          </a:xfrm>
          <a:prstGeom prst="roundRect">
            <a:avLst>
              <a:gd name="adj" fmla="val 3133"/>
            </a:avLst>
          </a:prstGeom>
          <a:solidFill>
            <a:schemeClr val="bg2"/>
          </a:solidFill>
          <a:ln w="12700">
            <a:solidFill>
              <a:schemeClr val="bg2"/>
            </a:solidFill>
            <a:prstDash val="solid"/>
          </a:ln>
        </p:spPr>
      </p:sp>
      <p:sp>
        <p:nvSpPr>
          <p:cNvPr id="13" name="c3_ic"/>
          <p:cNvSpPr/>
          <p:nvPr/>
        </p:nvSpPr>
        <p:spPr>
          <a:xfrm>
            <a:off x="8467344" y="2103120"/>
            <a:ext cx="868680" cy="868680"/>
          </a:xfrm>
          <a:prstGeom prst="ellipse">
            <a:avLst/>
          </a:prstGeom>
          <a:solidFill>
            <a:schemeClr val="bg1"/>
          </a:solidFill>
          <a:ln w="12700">
            <a:solidFill>
              <a:schemeClr val="bg1"/>
            </a:solidFill>
            <a:prstDash val="solid"/>
          </a:ln>
        </p:spPr>
      </p:sp>
      <p:pic>
        <p:nvPicPr>
          <p:cNvPr id="14" name="c3_ici" descr="preencoded.png">    </p:cNvPr>
          <p:cNvPicPr>
            <a:picLocks noChangeAspect="1"/>
          </p:cNvPicPr>
          <p:nvPr/>
        </p:nvPicPr>
        <p:blipFill>
          <a:blip r:embed="rId3"/>
          <a:stretch>
            <a:fillRect/>
          </a:stretch>
        </p:blipFill>
        <p:spPr>
          <a:xfrm>
            <a:off x="8684514" y="2320290"/>
            <a:ext cx="434340" cy="434340"/>
          </a:xfrm>
          <a:prstGeom prst="rect">
            <a:avLst/>
          </a:prstGeom>
        </p:spPr>
      </p:pic>
      <p:sp>
        <p:nvSpPr>
          <p:cNvPr id="15" name="c3_txt"/>
          <p:cNvSpPr txBox="1"/>
          <p:nvPr/>
        </p:nvSpPr>
        <p:spPr>
          <a:xfrm>
            <a:off x="8467344" y="3246120"/>
            <a:ext cx="2770632" cy="1737360"/>
          </a:xfrm>
          <a:prstGeom prst="rect">
            <a:avLst/>
          </a:prstGeom>
          <a:noFill/>
          <a:ln/>
        </p:spPr>
        <p:txBody>
          <a:bodyPr wrap="square" lIns="0" tIns="0" rIns="0" bIns="0" rtlCol="0" anchor="t"/>
          <a:lstStyle/>
          <a:p>
            <a:pPr indent="0" marL="0">
              <a:buNone/>
            </a:pPr>
            <a:r>
              <a:rPr lang="en-US" sz="1800" b="1" dirty="0">
                <a:solidFill>
                  <a:schemeClr val="tx1"/>
                </a:solidFill>
              </a:rPr>
              <a:t>Se démarquer par une communication efficace, cohérente et innovante</a:t>
            </a:r>
            <a:endParaRPr lang="en-US" sz="18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anim calcmode="lin" valueType="num">
                                      <p:cBhvr>
                                        <p:cTn id="59" dur="500" decel="100000" fill="hold"/>
                                        <p:tgtEl>
                                          <p:spTgt spid="12"/>
                                        </p:tgtEl>
                                        <p:attrNameLst>
                                          <p:attrName>ppt_x</p:attrName>
                                        </p:attrNameLst>
                                      </p:cBhvr>
                                      <p:tavLst>
                                        <p:tav tm="0">
                                          <p:val>
                                            <p:strVal val="#ppt_x"/>
                                          </p:val>
                                        </p:tav>
                                        <p:tav tm="100000">
                                          <p:val>
                                            <p:strVal val="#ppt_x"/>
                                          </p:val>
                                        </p:tav>
                                      </p:tavLst>
                                    </p:anim>
                                    <p:anim calcmode="lin" valueType="num">
                                      <p:cBhvr>
                                        <p:cTn id="60" dur="500" decel="100000" fill="hold"/>
                                        <p:tgtEl>
                                          <p:spTgt spid="12"/>
                                        </p:tgtEl>
                                        <p:attrNameLst>
                                          <p:attrName>ppt_y</p:attrName>
                                        </p:attrNameLst>
                                      </p:cBhvr>
                                      <p:tavLst>
                                        <p:tav tm="0">
                                          <p:val>
                                            <p:strVal val="#ppt_y+0.0278"/>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anim calcmode="lin" valueType="num">
                                      <p:cBhvr>
                                        <p:cTn id="64" dur="500" decel="100000" fill="hold"/>
                                        <p:tgtEl>
                                          <p:spTgt spid="13"/>
                                        </p:tgtEl>
                                        <p:attrNameLst>
                                          <p:attrName>ppt_x</p:attrName>
                                        </p:attrNameLst>
                                      </p:cBhvr>
                                      <p:tavLst>
                                        <p:tav tm="0">
                                          <p:val>
                                            <p:strVal val="#ppt_x"/>
                                          </p:val>
                                        </p:tav>
                                        <p:tav tm="100000">
                                          <p:val>
                                            <p:strVal val="#ppt_x"/>
                                          </p:val>
                                        </p:tav>
                                      </p:tavLst>
                                    </p:anim>
                                    <p:anim calcmode="lin" valueType="num">
                                      <p:cBhvr>
                                        <p:cTn id="65" dur="500" decel="100000" fill="hold"/>
                                        <p:tgtEl>
                                          <p:spTgt spid="13"/>
                                        </p:tgtEl>
                                        <p:attrNameLst>
                                          <p:attrName>ppt_y</p:attrName>
                                        </p:attrNameLst>
                                      </p:cBhvr>
                                      <p:tavLst>
                                        <p:tav tm="0">
                                          <p:val>
                                            <p:strVal val="#ppt_y+0.0278"/>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anim calcmode="lin" valueType="num">
                                      <p:cBhvr>
                                        <p:cTn id="69" dur="500" decel="100000" fill="hold"/>
                                        <p:tgtEl>
                                          <p:spTgt spid="14"/>
                                        </p:tgtEl>
                                        <p:attrNameLst>
                                          <p:attrName>ppt_x</p:attrName>
                                        </p:attrNameLst>
                                      </p:cBhvr>
                                      <p:tavLst>
                                        <p:tav tm="0">
                                          <p:val>
                                            <p:strVal val="#ppt_x"/>
                                          </p:val>
                                        </p:tav>
                                        <p:tav tm="100000">
                                          <p:val>
                                            <p:strVal val="#ppt_x"/>
                                          </p:val>
                                        </p:tav>
                                      </p:tavLst>
                                    </p:anim>
                                    <p:anim calcmode="lin" valueType="num">
                                      <p:cBhvr>
                                        <p:cTn id="70" dur="500" decel="100000" fill="hold"/>
                                        <p:tgtEl>
                                          <p:spTgt spid="14"/>
                                        </p:tgtEl>
                                        <p:attrNameLst>
                                          <p:attrName>ppt_y</p:attrName>
                                        </p:attrNameLst>
                                      </p:cBhvr>
                                      <p:tavLst>
                                        <p:tav tm="0">
                                          <p:val>
                                            <p:strVal val="#ppt_y+0.027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anim calcmode="lin" valueType="num">
                                      <p:cBhvr>
                                        <p:cTn id="74" dur="500" decel="100000" fill="hold"/>
                                        <p:tgtEl>
                                          <p:spTgt spid="15"/>
                                        </p:tgtEl>
                                        <p:attrNameLst>
                                          <p:attrName>ppt_x</p:attrName>
                                        </p:attrNameLst>
                                      </p:cBhvr>
                                      <p:tavLst>
                                        <p:tav tm="0">
                                          <p:val>
                                            <p:strVal val="#ppt_x"/>
                                          </p:val>
                                        </p:tav>
                                        <p:tav tm="100000">
                                          <p:val>
                                            <p:strVal val="#ppt_x"/>
                                          </p:val>
                                        </p:tav>
                                      </p:tavLst>
                                    </p:anim>
                                    <p:anim calcmode="lin" valueType="num">
                                      <p:cBhvr>
                                        <p:cTn id="75" dur="500" decel="100000" fill="hold"/>
                                        <p:tgtEl>
                                          <p:spTgt spid="1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7" grpId="0"/>
      <p:bldP spid="8" grpId="0" animBg="1"/>
      <p:bldP spid="9" grpId="0" animBg="1"/>
      <p:bldP spid="11" grpId="0"/>
      <p:bldP spid="12" grpId="0" animBg="1"/>
      <p:bldP spid="13" grpId="0" animBg="1"/>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Thème de l'étude</a:t>
            </a:r>
            <a:endParaRPr lang="en-US" sz="2800" dirty="0"/>
          </a:p>
        </p:txBody>
      </p:sp>
      <p:sp>
        <p:nvSpPr>
          <p:cNvPr id="4" name="c1_card"/>
          <p:cNvSpPr/>
          <p:nvPr/>
        </p:nvSpPr>
        <p:spPr>
          <a:xfrm>
            <a:off x="548640" y="1600200"/>
            <a:ext cx="11091672" cy="4160520"/>
          </a:xfrm>
          <a:prstGeom prst="roundRect">
            <a:avLst>
              <a:gd name="adj" fmla="val 2637"/>
            </a:avLst>
          </a:prstGeom>
          <a:solidFill>
            <a:schemeClr val="bg2"/>
          </a:solidFill>
          <a:ln w="12700">
            <a:solidFill>
              <a:schemeClr val="bg2"/>
            </a:solidFill>
            <a:prstDash val="solid"/>
          </a:ln>
        </p:spPr>
      </p:sp>
      <p:sp>
        <p:nvSpPr>
          <p:cNvPr id="5" name="c1_theme"/>
          <p:cNvSpPr txBox="1"/>
          <p:nvPr/>
        </p:nvSpPr>
        <p:spPr>
          <a:xfrm>
            <a:off x="1280160" y="1920240"/>
            <a:ext cx="9628632" cy="3520440"/>
          </a:xfrm>
          <a:prstGeom prst="rect">
            <a:avLst/>
          </a:prstGeom>
          <a:noFill/>
          <a:ln/>
        </p:spPr>
        <p:txBody>
          <a:bodyPr wrap="square" lIns="0" tIns="0" rIns="0" bIns="0" rtlCol="0" anchor="ctr"/>
          <a:lstStyle/>
          <a:p>
            <a:pPr algn="ctr" indent="0" marL="0">
              <a:buNone/>
            </a:pPr>
            <a:r>
              <a:rPr lang="en-US" sz="3000" b="1" dirty="0">
                <a:solidFill>
                  <a:schemeClr val="tx2"/>
                </a:solidFill>
              </a:rPr>
              <a:t>« Conception et réalisation de supports de communication pour la promotion de la structure de sport American's Gym »</a:t>
            </a:r>
            <a:endParaRPr lang="en-US" sz="30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Problématique</a:t>
            </a:r>
            <a:endParaRPr lang="en-US" sz="2800" dirty="0"/>
          </a:p>
        </p:txBody>
      </p:sp>
      <p:sp>
        <p:nvSpPr>
          <p:cNvPr id="4" name="c1_card"/>
          <p:cNvSpPr/>
          <p:nvPr/>
        </p:nvSpPr>
        <p:spPr>
          <a:xfrm>
            <a:off x="548640" y="1600200"/>
            <a:ext cx="11091672" cy="4160520"/>
          </a:xfrm>
          <a:prstGeom prst="roundRect">
            <a:avLst>
              <a:gd name="adj" fmla="val 2637"/>
            </a:avLst>
          </a:prstGeom>
          <a:solidFill>
            <a:schemeClr val="bg2"/>
          </a:solidFill>
          <a:ln w="12700">
            <a:solidFill>
              <a:schemeClr val="bg2"/>
            </a:solidFill>
            <a:prstDash val="solid"/>
          </a:ln>
        </p:spPr>
      </p:sp>
      <p:sp>
        <p:nvSpPr>
          <p:cNvPr id="5" name="c1_rond"/>
          <p:cNvSpPr/>
          <p:nvPr/>
        </p:nvSpPr>
        <p:spPr>
          <a:xfrm>
            <a:off x="1051560" y="3063240"/>
            <a:ext cx="1234440" cy="1234440"/>
          </a:xfrm>
          <a:prstGeom prst="ellipse">
            <a:avLst/>
          </a:prstGeom>
          <a:solidFill>
            <a:schemeClr val="accent1"/>
          </a:solidFill>
          <a:ln w="12700">
            <a:solidFill>
              <a:schemeClr val="accent1"/>
            </a:solidFill>
            <a:prstDash val="solid"/>
          </a:ln>
        </p:spPr>
      </p:sp>
      <p:sp>
        <p:nvSpPr>
          <p:cNvPr id="6" name="c1_q"/>
          <p:cNvSpPr txBox="1"/>
          <p:nvPr/>
        </p:nvSpPr>
        <p:spPr>
          <a:xfrm>
            <a:off x="1051560" y="3063240"/>
            <a:ext cx="1234440" cy="1234440"/>
          </a:xfrm>
          <a:prstGeom prst="rect">
            <a:avLst/>
          </a:prstGeom>
          <a:noFill/>
          <a:ln/>
        </p:spPr>
        <p:txBody>
          <a:bodyPr wrap="square" lIns="0" tIns="0" rIns="0" bIns="0" rtlCol="0" anchor="ctr"/>
          <a:lstStyle/>
          <a:p>
            <a:pPr algn="ctr" indent="0" marL="0">
              <a:buNone/>
            </a:pPr>
            <a:r>
              <a:rPr lang="en-US" sz="4800" b="1" dirty="0">
                <a:solidFill>
                  <a:schemeClr val="bg1"/>
                </a:solidFill>
              </a:rPr>
              <a:t>?</a:t>
            </a:r>
            <a:endParaRPr lang="en-US" sz="4800" dirty="0"/>
          </a:p>
        </p:txBody>
      </p:sp>
      <p:sp>
        <p:nvSpPr>
          <p:cNvPr id="7" name="c1_txt"/>
          <p:cNvSpPr txBox="1"/>
          <p:nvPr/>
        </p:nvSpPr>
        <p:spPr>
          <a:xfrm>
            <a:off x="2743200" y="1874520"/>
            <a:ext cx="8412480" cy="3611880"/>
          </a:xfrm>
          <a:prstGeom prst="rect">
            <a:avLst/>
          </a:prstGeom>
          <a:noFill/>
          <a:ln/>
        </p:spPr>
        <p:txBody>
          <a:bodyPr wrap="square" lIns="0" tIns="0" rIns="0" bIns="0" rtlCol="0" anchor="ctr"/>
          <a:lstStyle/>
          <a:p>
            <a:pPr indent="0" marL="0">
              <a:buNone/>
            </a:pPr>
            <a:r>
              <a:rPr lang="en-US" sz="2200" dirty="0">
                <a:solidFill>
                  <a:schemeClr val="tx1"/>
                </a:solidFill>
              </a:rPr>
              <a:t>Comment la conception et la réalisation de supports de communication imprimés et numériques peuvent-elles contribuer à améliorer la visibilité, renforcer l'image de marque et promouvoir efficacement les activités d'American's Gym ?</a:t>
            </a:r>
            <a:endParaRPr lang="en-US" sz="22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Quatre objectifs</a:t>
            </a:r>
            <a:endParaRPr lang="en-US" sz="2800" dirty="0"/>
          </a:p>
        </p:txBody>
      </p:sp>
      <p:sp>
        <p:nvSpPr>
          <p:cNvPr id="4" name="c1_card"/>
          <p:cNvSpPr/>
          <p:nvPr/>
        </p:nvSpPr>
        <p:spPr>
          <a:xfrm>
            <a:off x="548640" y="1691640"/>
            <a:ext cx="2606040" cy="3611880"/>
          </a:xfrm>
          <a:prstGeom prst="roundRect">
            <a:avLst>
              <a:gd name="adj" fmla="val 4211"/>
            </a:avLst>
          </a:prstGeom>
          <a:solidFill>
            <a:schemeClr val="bg2"/>
          </a:solidFill>
          <a:ln w="12700">
            <a:solidFill>
              <a:schemeClr val="bg2"/>
            </a:solidFill>
            <a:prstDash val="solid"/>
          </a:ln>
        </p:spPr>
      </p:sp>
      <p:sp>
        <p:nvSpPr>
          <p:cNvPr id="5" name="c1_n"/>
          <p:cNvSpPr txBox="1"/>
          <p:nvPr/>
        </p:nvSpPr>
        <p:spPr>
          <a:xfrm>
            <a:off x="868680" y="205740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01</a:t>
            </a:r>
            <a:endParaRPr lang="en-US" sz="1600" dirty="0"/>
          </a:p>
        </p:txBody>
      </p:sp>
      <p:sp>
        <p:nvSpPr>
          <p:cNvPr id="6" name="c1_ic"/>
          <p:cNvSpPr/>
          <p:nvPr/>
        </p:nvSpPr>
        <p:spPr>
          <a:xfrm>
            <a:off x="868680" y="2606040"/>
            <a:ext cx="868680" cy="868680"/>
          </a:xfrm>
          <a:prstGeom prst="ellipse">
            <a:avLst/>
          </a:prstGeom>
          <a:solidFill>
            <a:schemeClr val="bg1"/>
          </a:solidFill>
          <a:ln w="12700">
            <a:solidFill>
              <a:schemeClr val="bg1"/>
            </a:solidFill>
            <a:prstDash val="solid"/>
          </a:ln>
        </p:spPr>
      </p:sp>
      <p:pic>
        <p:nvPicPr>
          <p:cNvPr id="7" name="c1_ici" descr="preencoded.png">    </p:cNvPr>
          <p:cNvPicPr>
            <a:picLocks noChangeAspect="1"/>
          </p:cNvPicPr>
          <p:nvPr/>
        </p:nvPicPr>
        <p:blipFill>
          <a:blip r:embed="rId1"/>
          <a:stretch>
            <a:fillRect/>
          </a:stretch>
        </p:blipFill>
        <p:spPr>
          <a:xfrm>
            <a:off x="1085850" y="2823210"/>
            <a:ext cx="434340" cy="434340"/>
          </a:xfrm>
          <a:prstGeom prst="rect">
            <a:avLst/>
          </a:prstGeom>
        </p:spPr>
      </p:pic>
      <p:sp>
        <p:nvSpPr>
          <p:cNvPr id="8" name="c1_t"/>
          <p:cNvSpPr txBox="1"/>
          <p:nvPr/>
        </p:nvSpPr>
        <p:spPr>
          <a:xfrm>
            <a:off x="868680" y="3703320"/>
            <a:ext cx="1965960" cy="1280160"/>
          </a:xfrm>
          <a:prstGeom prst="rect">
            <a:avLst/>
          </a:prstGeom>
          <a:noFill/>
          <a:ln/>
        </p:spPr>
        <p:txBody>
          <a:bodyPr wrap="square" lIns="0" tIns="0" rIns="0" bIns="0" rtlCol="0" anchor="t"/>
          <a:lstStyle/>
          <a:p>
            <a:pPr indent="0" marL="0">
              <a:buNone/>
            </a:pPr>
            <a:r>
              <a:rPr lang="en-US" sz="1800" b="1" dirty="0">
                <a:solidFill>
                  <a:schemeClr val="tx1"/>
                </a:solidFill>
              </a:rPr>
              <a:t>Concevoir une identité visuelle cohérente</a:t>
            </a:r>
            <a:endParaRPr lang="en-US" sz="1800" dirty="0"/>
          </a:p>
        </p:txBody>
      </p:sp>
      <p:sp>
        <p:nvSpPr>
          <p:cNvPr id="9" name="c2_card"/>
          <p:cNvSpPr/>
          <p:nvPr/>
        </p:nvSpPr>
        <p:spPr>
          <a:xfrm>
            <a:off x="3383280" y="1691640"/>
            <a:ext cx="2606040" cy="3611880"/>
          </a:xfrm>
          <a:prstGeom prst="roundRect">
            <a:avLst>
              <a:gd name="adj" fmla="val 4211"/>
            </a:avLst>
          </a:prstGeom>
          <a:solidFill>
            <a:schemeClr val="bg2"/>
          </a:solidFill>
          <a:ln w="12700">
            <a:solidFill>
              <a:schemeClr val="bg2"/>
            </a:solidFill>
            <a:prstDash val="solid"/>
          </a:ln>
        </p:spPr>
      </p:sp>
      <p:sp>
        <p:nvSpPr>
          <p:cNvPr id="10" name="c2_n"/>
          <p:cNvSpPr txBox="1"/>
          <p:nvPr/>
        </p:nvSpPr>
        <p:spPr>
          <a:xfrm>
            <a:off x="3703320" y="205740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02</a:t>
            </a:r>
            <a:endParaRPr lang="en-US" sz="1600" dirty="0"/>
          </a:p>
        </p:txBody>
      </p:sp>
      <p:sp>
        <p:nvSpPr>
          <p:cNvPr id="11" name="c2_ic"/>
          <p:cNvSpPr/>
          <p:nvPr/>
        </p:nvSpPr>
        <p:spPr>
          <a:xfrm>
            <a:off x="3703320" y="2606040"/>
            <a:ext cx="868680" cy="868680"/>
          </a:xfrm>
          <a:prstGeom prst="ellipse">
            <a:avLst/>
          </a:prstGeom>
          <a:solidFill>
            <a:schemeClr val="bg1"/>
          </a:solidFill>
          <a:ln w="12700">
            <a:solidFill>
              <a:schemeClr val="bg1"/>
            </a:solidFill>
            <a:prstDash val="solid"/>
          </a:ln>
        </p:spPr>
      </p:sp>
      <p:pic>
        <p:nvPicPr>
          <p:cNvPr id="12" name="c2_ici" descr="preencoded.png">    </p:cNvPr>
          <p:cNvPicPr>
            <a:picLocks noChangeAspect="1"/>
          </p:cNvPicPr>
          <p:nvPr/>
        </p:nvPicPr>
        <p:blipFill>
          <a:blip r:embed="rId2"/>
          <a:stretch>
            <a:fillRect/>
          </a:stretch>
        </p:blipFill>
        <p:spPr>
          <a:xfrm>
            <a:off x="3920490" y="2823210"/>
            <a:ext cx="434340" cy="434340"/>
          </a:xfrm>
          <a:prstGeom prst="rect">
            <a:avLst/>
          </a:prstGeom>
        </p:spPr>
      </p:pic>
      <p:sp>
        <p:nvSpPr>
          <p:cNvPr id="13" name="c2_t"/>
          <p:cNvSpPr txBox="1"/>
          <p:nvPr/>
        </p:nvSpPr>
        <p:spPr>
          <a:xfrm>
            <a:off x="3703320" y="3703320"/>
            <a:ext cx="1965960" cy="1280160"/>
          </a:xfrm>
          <a:prstGeom prst="rect">
            <a:avLst/>
          </a:prstGeom>
          <a:noFill/>
          <a:ln/>
        </p:spPr>
        <p:txBody>
          <a:bodyPr wrap="square" lIns="0" tIns="0" rIns="0" bIns="0" rtlCol="0" anchor="t"/>
          <a:lstStyle/>
          <a:p>
            <a:pPr indent="0" marL="0">
              <a:buNone/>
            </a:pPr>
            <a:r>
              <a:rPr lang="en-US" sz="1800" b="1" dirty="0">
                <a:solidFill>
                  <a:schemeClr val="tx1"/>
                </a:solidFill>
              </a:rPr>
              <a:t>Réaliser des supports imprimés</a:t>
            </a:r>
            <a:endParaRPr lang="en-US" sz="1800" dirty="0"/>
          </a:p>
        </p:txBody>
      </p:sp>
      <p:sp>
        <p:nvSpPr>
          <p:cNvPr id="14" name="c3_card"/>
          <p:cNvSpPr/>
          <p:nvPr/>
        </p:nvSpPr>
        <p:spPr>
          <a:xfrm>
            <a:off x="6217920" y="1691640"/>
            <a:ext cx="2606040" cy="3611880"/>
          </a:xfrm>
          <a:prstGeom prst="roundRect">
            <a:avLst>
              <a:gd name="adj" fmla="val 4211"/>
            </a:avLst>
          </a:prstGeom>
          <a:solidFill>
            <a:schemeClr val="bg2"/>
          </a:solidFill>
          <a:ln w="12700">
            <a:solidFill>
              <a:schemeClr val="bg2"/>
            </a:solidFill>
            <a:prstDash val="solid"/>
          </a:ln>
        </p:spPr>
      </p:sp>
      <p:sp>
        <p:nvSpPr>
          <p:cNvPr id="15" name="c3_n"/>
          <p:cNvSpPr txBox="1"/>
          <p:nvPr/>
        </p:nvSpPr>
        <p:spPr>
          <a:xfrm>
            <a:off x="6537960" y="205740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03</a:t>
            </a:r>
            <a:endParaRPr lang="en-US" sz="1600" dirty="0"/>
          </a:p>
        </p:txBody>
      </p:sp>
      <p:sp>
        <p:nvSpPr>
          <p:cNvPr id="16" name="c3_ic"/>
          <p:cNvSpPr/>
          <p:nvPr/>
        </p:nvSpPr>
        <p:spPr>
          <a:xfrm>
            <a:off x="6537960" y="2606040"/>
            <a:ext cx="868680" cy="868680"/>
          </a:xfrm>
          <a:prstGeom prst="ellipse">
            <a:avLst/>
          </a:prstGeom>
          <a:solidFill>
            <a:schemeClr val="bg1"/>
          </a:solidFill>
          <a:ln w="12700">
            <a:solidFill>
              <a:schemeClr val="bg1"/>
            </a:solidFill>
            <a:prstDash val="solid"/>
          </a:ln>
        </p:spPr>
      </p:sp>
      <p:pic>
        <p:nvPicPr>
          <p:cNvPr id="17" name="c3_ici" descr="preencoded.png">    </p:cNvPr>
          <p:cNvPicPr>
            <a:picLocks noChangeAspect="1"/>
          </p:cNvPicPr>
          <p:nvPr/>
        </p:nvPicPr>
        <p:blipFill>
          <a:blip r:embed="rId3"/>
          <a:stretch>
            <a:fillRect/>
          </a:stretch>
        </p:blipFill>
        <p:spPr>
          <a:xfrm>
            <a:off x="6755130" y="2823210"/>
            <a:ext cx="434340" cy="434340"/>
          </a:xfrm>
          <a:prstGeom prst="rect">
            <a:avLst/>
          </a:prstGeom>
        </p:spPr>
      </p:pic>
      <p:sp>
        <p:nvSpPr>
          <p:cNvPr id="18" name="c3_t"/>
          <p:cNvSpPr txBox="1"/>
          <p:nvPr/>
        </p:nvSpPr>
        <p:spPr>
          <a:xfrm>
            <a:off x="6537960" y="3703320"/>
            <a:ext cx="1965960" cy="1280160"/>
          </a:xfrm>
          <a:prstGeom prst="rect">
            <a:avLst/>
          </a:prstGeom>
          <a:noFill/>
          <a:ln/>
        </p:spPr>
        <p:txBody>
          <a:bodyPr wrap="square" lIns="0" tIns="0" rIns="0" bIns="0" rtlCol="0" anchor="t"/>
          <a:lstStyle/>
          <a:p>
            <a:pPr indent="0" marL="0">
              <a:buNone/>
            </a:pPr>
            <a:r>
              <a:rPr lang="en-US" sz="1800" b="1" dirty="0">
                <a:solidFill>
                  <a:schemeClr val="tx1"/>
                </a:solidFill>
              </a:rPr>
              <a:t>Produire des contenus 2D et 3D</a:t>
            </a:r>
            <a:endParaRPr lang="en-US" sz="1800" dirty="0"/>
          </a:p>
        </p:txBody>
      </p:sp>
      <p:sp>
        <p:nvSpPr>
          <p:cNvPr id="19" name="c4_card"/>
          <p:cNvSpPr/>
          <p:nvPr/>
        </p:nvSpPr>
        <p:spPr>
          <a:xfrm>
            <a:off x="9052560" y="1691640"/>
            <a:ext cx="2606040" cy="3611880"/>
          </a:xfrm>
          <a:prstGeom prst="roundRect">
            <a:avLst>
              <a:gd name="adj" fmla="val 4211"/>
            </a:avLst>
          </a:prstGeom>
          <a:solidFill>
            <a:schemeClr val="bg2"/>
          </a:solidFill>
          <a:ln w="12700">
            <a:solidFill>
              <a:schemeClr val="bg2"/>
            </a:solidFill>
            <a:prstDash val="solid"/>
          </a:ln>
        </p:spPr>
      </p:sp>
      <p:sp>
        <p:nvSpPr>
          <p:cNvPr id="20" name="c4_n"/>
          <p:cNvSpPr txBox="1"/>
          <p:nvPr/>
        </p:nvSpPr>
        <p:spPr>
          <a:xfrm>
            <a:off x="9372600" y="2057400"/>
            <a:ext cx="914400" cy="457200"/>
          </a:xfrm>
          <a:prstGeom prst="rect">
            <a:avLst/>
          </a:prstGeom>
          <a:noFill/>
          <a:ln/>
        </p:spPr>
        <p:txBody>
          <a:bodyPr wrap="square" lIns="0" tIns="0" rIns="0" bIns="0" rtlCol="0" anchor="t"/>
          <a:lstStyle/>
          <a:p>
            <a:pPr indent="0" marL="0">
              <a:buNone/>
            </a:pPr>
            <a:r>
              <a:rPr lang="en-US" sz="1600" b="1" dirty="0">
                <a:solidFill>
                  <a:schemeClr val="accent1"/>
                </a:solidFill>
              </a:rPr>
              <a:t>04</a:t>
            </a:r>
            <a:endParaRPr lang="en-US" sz="1600" dirty="0"/>
          </a:p>
        </p:txBody>
      </p:sp>
      <p:sp>
        <p:nvSpPr>
          <p:cNvPr id="21" name="c4_ic"/>
          <p:cNvSpPr/>
          <p:nvPr/>
        </p:nvSpPr>
        <p:spPr>
          <a:xfrm>
            <a:off x="9372600" y="2606040"/>
            <a:ext cx="868680" cy="868680"/>
          </a:xfrm>
          <a:prstGeom prst="ellipse">
            <a:avLst/>
          </a:prstGeom>
          <a:solidFill>
            <a:schemeClr val="bg1"/>
          </a:solidFill>
          <a:ln w="12700">
            <a:solidFill>
              <a:schemeClr val="bg1"/>
            </a:solidFill>
            <a:prstDash val="solid"/>
          </a:ln>
        </p:spPr>
      </p:sp>
      <p:pic>
        <p:nvPicPr>
          <p:cNvPr id="22" name="c4_ici" descr="preencoded.png">    </p:cNvPr>
          <p:cNvPicPr>
            <a:picLocks noChangeAspect="1"/>
          </p:cNvPicPr>
          <p:nvPr/>
        </p:nvPicPr>
        <p:blipFill>
          <a:blip r:embed="rId4"/>
          <a:stretch>
            <a:fillRect/>
          </a:stretch>
        </p:blipFill>
        <p:spPr>
          <a:xfrm>
            <a:off x="9589770" y="2823210"/>
            <a:ext cx="434340" cy="434340"/>
          </a:xfrm>
          <a:prstGeom prst="rect">
            <a:avLst/>
          </a:prstGeom>
        </p:spPr>
      </p:pic>
      <p:sp>
        <p:nvSpPr>
          <p:cNvPr id="23" name="c4_t"/>
          <p:cNvSpPr txBox="1"/>
          <p:nvPr/>
        </p:nvSpPr>
        <p:spPr>
          <a:xfrm>
            <a:off x="9372600" y="3703320"/>
            <a:ext cx="1965960" cy="1280160"/>
          </a:xfrm>
          <a:prstGeom prst="rect">
            <a:avLst/>
          </a:prstGeom>
          <a:noFill/>
          <a:ln/>
        </p:spPr>
        <p:txBody>
          <a:bodyPr wrap="square" lIns="0" tIns="0" rIns="0" bIns="0" rtlCol="0" anchor="t"/>
          <a:lstStyle/>
          <a:p>
            <a:pPr indent="0" marL="0">
              <a:buNone/>
            </a:pPr>
            <a:r>
              <a:rPr lang="en-US" sz="1800" b="1" dirty="0">
                <a:solidFill>
                  <a:schemeClr val="tx1"/>
                </a:solidFill>
              </a:rPr>
              <a:t>Développer un site web moderne</a:t>
            </a:r>
            <a:endParaRPr lang="en-US" sz="18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anim calcmode="lin" valueType="num">
                                      <p:cBhvr>
                                        <p:cTn id="69" dur="500" decel="100000" fill="hold"/>
                                        <p:tgtEl>
                                          <p:spTgt spid="14"/>
                                        </p:tgtEl>
                                        <p:attrNameLst>
                                          <p:attrName>ppt_x</p:attrName>
                                        </p:attrNameLst>
                                      </p:cBhvr>
                                      <p:tavLst>
                                        <p:tav tm="0">
                                          <p:val>
                                            <p:strVal val="#ppt_x"/>
                                          </p:val>
                                        </p:tav>
                                        <p:tav tm="100000">
                                          <p:val>
                                            <p:strVal val="#ppt_x"/>
                                          </p:val>
                                        </p:tav>
                                      </p:tavLst>
                                    </p:anim>
                                    <p:anim calcmode="lin" valueType="num">
                                      <p:cBhvr>
                                        <p:cTn id="70" dur="500" decel="100000" fill="hold"/>
                                        <p:tgtEl>
                                          <p:spTgt spid="14"/>
                                        </p:tgtEl>
                                        <p:attrNameLst>
                                          <p:attrName>ppt_y</p:attrName>
                                        </p:attrNameLst>
                                      </p:cBhvr>
                                      <p:tavLst>
                                        <p:tav tm="0">
                                          <p:val>
                                            <p:strVal val="#ppt_y+0.027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anim calcmode="lin" valueType="num">
                                      <p:cBhvr>
                                        <p:cTn id="74" dur="500" decel="100000" fill="hold"/>
                                        <p:tgtEl>
                                          <p:spTgt spid="15"/>
                                        </p:tgtEl>
                                        <p:attrNameLst>
                                          <p:attrName>ppt_x</p:attrName>
                                        </p:attrNameLst>
                                      </p:cBhvr>
                                      <p:tavLst>
                                        <p:tav tm="0">
                                          <p:val>
                                            <p:strVal val="#ppt_x"/>
                                          </p:val>
                                        </p:tav>
                                        <p:tav tm="100000">
                                          <p:val>
                                            <p:strVal val="#ppt_x"/>
                                          </p:val>
                                        </p:tav>
                                      </p:tavLst>
                                    </p:anim>
                                    <p:anim calcmode="lin" valueType="num">
                                      <p:cBhvr>
                                        <p:cTn id="75" dur="500" decel="100000" fill="hold"/>
                                        <p:tgtEl>
                                          <p:spTgt spid="15"/>
                                        </p:tgtEl>
                                        <p:attrNameLst>
                                          <p:attrName>ppt_y</p:attrName>
                                        </p:attrNameLst>
                                      </p:cBhvr>
                                      <p:tavLst>
                                        <p:tav tm="0">
                                          <p:val>
                                            <p:strVal val="#ppt_y+0.0278"/>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anim calcmode="lin" valueType="num">
                                      <p:cBhvr>
                                        <p:cTn id="79" dur="500" decel="100000" fill="hold"/>
                                        <p:tgtEl>
                                          <p:spTgt spid="16"/>
                                        </p:tgtEl>
                                        <p:attrNameLst>
                                          <p:attrName>ppt_x</p:attrName>
                                        </p:attrNameLst>
                                      </p:cBhvr>
                                      <p:tavLst>
                                        <p:tav tm="0">
                                          <p:val>
                                            <p:strVal val="#ppt_x"/>
                                          </p:val>
                                        </p:tav>
                                        <p:tav tm="100000">
                                          <p:val>
                                            <p:strVal val="#ppt_x"/>
                                          </p:val>
                                        </p:tav>
                                      </p:tavLst>
                                    </p:anim>
                                    <p:anim calcmode="lin" valueType="num">
                                      <p:cBhvr>
                                        <p:cTn id="80" dur="500" decel="100000" fill="hold"/>
                                        <p:tgtEl>
                                          <p:spTgt spid="16"/>
                                        </p:tgtEl>
                                        <p:attrNameLst>
                                          <p:attrName>ppt_y</p:attrName>
                                        </p:attrNameLst>
                                      </p:cBhvr>
                                      <p:tavLst>
                                        <p:tav tm="0">
                                          <p:val>
                                            <p:strVal val="#ppt_y+0.0278"/>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500"/>
                                        <p:tgtEl>
                                          <p:spTgt spid="17"/>
                                        </p:tgtEl>
                                      </p:cBhvr>
                                    </p:animEffect>
                                    <p:anim calcmode="lin" valueType="num">
                                      <p:cBhvr>
                                        <p:cTn id="84" dur="500" decel="100000" fill="hold"/>
                                        <p:tgtEl>
                                          <p:spTgt spid="17"/>
                                        </p:tgtEl>
                                        <p:attrNameLst>
                                          <p:attrName>ppt_x</p:attrName>
                                        </p:attrNameLst>
                                      </p:cBhvr>
                                      <p:tavLst>
                                        <p:tav tm="0">
                                          <p:val>
                                            <p:strVal val="#ppt_x"/>
                                          </p:val>
                                        </p:tav>
                                        <p:tav tm="100000">
                                          <p:val>
                                            <p:strVal val="#ppt_x"/>
                                          </p:val>
                                        </p:tav>
                                      </p:tavLst>
                                    </p:anim>
                                    <p:anim calcmode="lin" valueType="num">
                                      <p:cBhvr>
                                        <p:cTn id="85" dur="500" decel="100000" fill="hold"/>
                                        <p:tgtEl>
                                          <p:spTgt spid="17"/>
                                        </p:tgtEl>
                                        <p:attrNameLst>
                                          <p:attrName>ppt_y</p:attrName>
                                        </p:attrNameLst>
                                      </p:cBhvr>
                                      <p:tavLst>
                                        <p:tav tm="0">
                                          <p:val>
                                            <p:strVal val="#ppt_y+0.0278"/>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500"/>
                                        <p:tgtEl>
                                          <p:spTgt spid="18"/>
                                        </p:tgtEl>
                                      </p:cBhvr>
                                    </p:animEffect>
                                    <p:anim calcmode="lin" valueType="num">
                                      <p:cBhvr>
                                        <p:cTn id="89" dur="500" decel="100000" fill="hold"/>
                                        <p:tgtEl>
                                          <p:spTgt spid="18"/>
                                        </p:tgtEl>
                                        <p:attrNameLst>
                                          <p:attrName>ppt_x</p:attrName>
                                        </p:attrNameLst>
                                      </p:cBhvr>
                                      <p:tavLst>
                                        <p:tav tm="0">
                                          <p:val>
                                            <p:strVal val="#ppt_x"/>
                                          </p:val>
                                        </p:tav>
                                        <p:tav tm="100000">
                                          <p:val>
                                            <p:strVal val="#ppt_x"/>
                                          </p:val>
                                        </p:tav>
                                      </p:tavLst>
                                    </p:anim>
                                    <p:anim calcmode="lin" valueType="num">
                                      <p:cBhvr>
                                        <p:cTn id="90" dur="500" decel="100000" fill="hold"/>
                                        <p:tgtEl>
                                          <p:spTgt spid="18"/>
                                        </p:tgtEl>
                                        <p:attrNameLst>
                                          <p:attrName>ppt_y</p:attrName>
                                        </p:attrNameLst>
                                      </p:cBhvr>
                                      <p:tavLst>
                                        <p:tav tm="0">
                                          <p:val>
                                            <p:strVal val="#ppt_y+0.0278"/>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500"/>
                                        <p:tgtEl>
                                          <p:spTgt spid="19"/>
                                        </p:tgtEl>
                                      </p:cBhvr>
                                    </p:animEffect>
                                    <p:anim calcmode="lin" valueType="num">
                                      <p:cBhvr>
                                        <p:cTn id="96" dur="500" decel="100000" fill="hold"/>
                                        <p:tgtEl>
                                          <p:spTgt spid="19"/>
                                        </p:tgtEl>
                                        <p:attrNameLst>
                                          <p:attrName>ppt_x</p:attrName>
                                        </p:attrNameLst>
                                      </p:cBhvr>
                                      <p:tavLst>
                                        <p:tav tm="0">
                                          <p:val>
                                            <p:strVal val="#ppt_x"/>
                                          </p:val>
                                        </p:tav>
                                        <p:tav tm="100000">
                                          <p:val>
                                            <p:strVal val="#ppt_x"/>
                                          </p:val>
                                        </p:tav>
                                      </p:tavLst>
                                    </p:anim>
                                    <p:anim calcmode="lin" valueType="num">
                                      <p:cBhvr>
                                        <p:cTn id="97" dur="500" decel="100000" fill="hold"/>
                                        <p:tgtEl>
                                          <p:spTgt spid="19"/>
                                        </p:tgtEl>
                                        <p:attrNameLst>
                                          <p:attrName>ppt_y</p:attrName>
                                        </p:attrNameLst>
                                      </p:cBhvr>
                                      <p:tavLst>
                                        <p:tav tm="0">
                                          <p:val>
                                            <p:strVal val="#ppt_y+0.0278"/>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fade">
                                      <p:cBhvr>
                                        <p:cTn id="100" dur="500"/>
                                        <p:tgtEl>
                                          <p:spTgt spid="20"/>
                                        </p:tgtEl>
                                      </p:cBhvr>
                                    </p:animEffect>
                                    <p:anim calcmode="lin" valueType="num">
                                      <p:cBhvr>
                                        <p:cTn id="101" dur="500" decel="100000" fill="hold"/>
                                        <p:tgtEl>
                                          <p:spTgt spid="20"/>
                                        </p:tgtEl>
                                        <p:attrNameLst>
                                          <p:attrName>ppt_x</p:attrName>
                                        </p:attrNameLst>
                                      </p:cBhvr>
                                      <p:tavLst>
                                        <p:tav tm="0">
                                          <p:val>
                                            <p:strVal val="#ppt_x"/>
                                          </p:val>
                                        </p:tav>
                                        <p:tav tm="100000">
                                          <p:val>
                                            <p:strVal val="#ppt_x"/>
                                          </p:val>
                                        </p:tav>
                                      </p:tavLst>
                                    </p:anim>
                                    <p:anim calcmode="lin" valueType="num">
                                      <p:cBhvr>
                                        <p:cTn id="102" dur="500" decel="100000" fill="hold"/>
                                        <p:tgtEl>
                                          <p:spTgt spid="20"/>
                                        </p:tgtEl>
                                        <p:attrNameLst>
                                          <p:attrName>ppt_y</p:attrName>
                                        </p:attrNameLst>
                                      </p:cBhvr>
                                      <p:tavLst>
                                        <p:tav tm="0">
                                          <p:val>
                                            <p:strVal val="#ppt_y+0.0278"/>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1"/>
                                        </p:tgtEl>
                                        <p:attrNameLst>
                                          <p:attrName>style.visibility</p:attrName>
                                        </p:attrNameLst>
                                      </p:cBhvr>
                                      <p:to>
                                        <p:strVal val="visible"/>
                                      </p:to>
                                    </p:set>
                                    <p:animEffect transition="in" filter="fade">
                                      <p:cBhvr>
                                        <p:cTn id="105" dur="500"/>
                                        <p:tgtEl>
                                          <p:spTgt spid="21"/>
                                        </p:tgtEl>
                                      </p:cBhvr>
                                    </p:animEffect>
                                    <p:anim calcmode="lin" valueType="num">
                                      <p:cBhvr>
                                        <p:cTn id="106" dur="500" decel="100000" fill="hold"/>
                                        <p:tgtEl>
                                          <p:spTgt spid="21"/>
                                        </p:tgtEl>
                                        <p:attrNameLst>
                                          <p:attrName>ppt_x</p:attrName>
                                        </p:attrNameLst>
                                      </p:cBhvr>
                                      <p:tavLst>
                                        <p:tav tm="0">
                                          <p:val>
                                            <p:strVal val="#ppt_x"/>
                                          </p:val>
                                        </p:tav>
                                        <p:tav tm="100000">
                                          <p:val>
                                            <p:strVal val="#ppt_x"/>
                                          </p:val>
                                        </p:tav>
                                      </p:tavLst>
                                    </p:anim>
                                    <p:anim calcmode="lin" valueType="num">
                                      <p:cBhvr>
                                        <p:cTn id="107" dur="500" decel="100000" fill="hold"/>
                                        <p:tgtEl>
                                          <p:spTgt spid="21"/>
                                        </p:tgtEl>
                                        <p:attrNameLst>
                                          <p:attrName>ppt_y</p:attrName>
                                        </p:attrNameLst>
                                      </p:cBhvr>
                                      <p:tavLst>
                                        <p:tav tm="0">
                                          <p:val>
                                            <p:strVal val="#ppt_y+0.0278"/>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fade">
                                      <p:cBhvr>
                                        <p:cTn id="110" dur="500"/>
                                        <p:tgtEl>
                                          <p:spTgt spid="22"/>
                                        </p:tgtEl>
                                      </p:cBhvr>
                                    </p:animEffect>
                                    <p:anim calcmode="lin" valueType="num">
                                      <p:cBhvr>
                                        <p:cTn id="111" dur="500" decel="100000" fill="hold"/>
                                        <p:tgtEl>
                                          <p:spTgt spid="22"/>
                                        </p:tgtEl>
                                        <p:attrNameLst>
                                          <p:attrName>ppt_x</p:attrName>
                                        </p:attrNameLst>
                                      </p:cBhvr>
                                      <p:tavLst>
                                        <p:tav tm="0">
                                          <p:val>
                                            <p:strVal val="#ppt_x"/>
                                          </p:val>
                                        </p:tav>
                                        <p:tav tm="100000">
                                          <p:val>
                                            <p:strVal val="#ppt_x"/>
                                          </p:val>
                                        </p:tav>
                                      </p:tavLst>
                                    </p:anim>
                                    <p:anim calcmode="lin" valueType="num">
                                      <p:cBhvr>
                                        <p:cTn id="112" dur="500" decel="100000" fill="hold"/>
                                        <p:tgtEl>
                                          <p:spTgt spid="22"/>
                                        </p:tgtEl>
                                        <p:attrNameLst>
                                          <p:attrName>ppt_y</p:attrName>
                                        </p:attrNameLst>
                                      </p:cBhvr>
                                      <p:tavLst>
                                        <p:tav tm="0">
                                          <p:val>
                                            <p:strVal val="#ppt_y+0.0278"/>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500"/>
                                        <p:tgtEl>
                                          <p:spTgt spid="23"/>
                                        </p:tgtEl>
                                      </p:cBhvr>
                                    </p:animEffect>
                                    <p:anim calcmode="lin" valueType="num">
                                      <p:cBhvr>
                                        <p:cTn id="116" dur="500" decel="100000" fill="hold"/>
                                        <p:tgtEl>
                                          <p:spTgt spid="23"/>
                                        </p:tgtEl>
                                        <p:attrNameLst>
                                          <p:attrName>ppt_x</p:attrName>
                                        </p:attrNameLst>
                                      </p:cBhvr>
                                      <p:tavLst>
                                        <p:tav tm="0">
                                          <p:val>
                                            <p:strVal val="#ppt_x"/>
                                          </p:val>
                                        </p:tav>
                                        <p:tav tm="100000">
                                          <p:val>
                                            <p:strVal val="#ppt_x"/>
                                          </p:val>
                                        </p:tav>
                                      </p:tavLst>
                                    </p:anim>
                                    <p:anim calcmode="lin" valueType="num">
                                      <p:cBhvr>
                                        <p:cTn id="117" dur="500" decel="100000" fill="hold"/>
                                        <p:tgtEl>
                                          <p:spTgt spid="2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animBg="1"/>
      <p:bldP spid="8" grpId="0"/>
      <p:bldP spid="9" grpId="0" animBg="1"/>
      <p:bldP spid="10" grpId="0"/>
      <p:bldP spid="11" grpId="0" animBg="1"/>
      <p:bldP spid="13" grpId="0"/>
      <p:bldP spid="14" grpId="0" animBg="1"/>
      <p:bldP spid="15" grpId="0"/>
      <p:bldP spid="16" grpId="0" animBg="1"/>
      <p:bldP spid="18" grpId="0"/>
      <p:bldP spid="19" grpId="0" animBg="1"/>
      <p:bldP spid="20" grpId="0"/>
      <p:bldP spid="21" grpId="0" animBg="1"/>
      <p:bldP spid="23" grpId="0"/>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Hypothèse</a:t>
            </a:r>
            <a:endParaRPr lang="en-US" sz="2800" dirty="0"/>
          </a:p>
        </p:txBody>
      </p:sp>
      <p:sp>
        <p:nvSpPr>
          <p:cNvPr id="4" name="c1_bloc"/>
          <p:cNvSpPr/>
          <p:nvPr/>
        </p:nvSpPr>
        <p:spPr>
          <a:xfrm>
            <a:off x="548640" y="1600200"/>
            <a:ext cx="2194560" cy="4160520"/>
          </a:xfrm>
          <a:prstGeom prst="roundRect">
            <a:avLst>
              <a:gd name="adj" fmla="val 5000"/>
            </a:avLst>
          </a:prstGeom>
          <a:solidFill>
            <a:schemeClr val="tx2"/>
          </a:solidFill>
          <a:ln w="12700">
            <a:solidFill>
              <a:schemeClr val="tx2"/>
            </a:solidFill>
            <a:prstDash val="solid"/>
          </a:ln>
        </p:spPr>
      </p:sp>
      <p:pic>
        <p:nvPicPr>
          <p:cNvPr id="5" name="c1_ic" descr="preencoded.png">    </p:cNvPr>
          <p:cNvPicPr>
            <a:picLocks noChangeAspect="1"/>
          </p:cNvPicPr>
          <p:nvPr/>
        </p:nvPicPr>
        <p:blipFill>
          <a:blip r:embed="rId1"/>
          <a:stretch>
            <a:fillRect/>
          </a:stretch>
        </p:blipFill>
        <p:spPr>
          <a:xfrm>
            <a:off x="1143000" y="3172968"/>
            <a:ext cx="1005840" cy="1005840"/>
          </a:xfrm>
          <a:prstGeom prst="rect">
            <a:avLst/>
          </a:prstGeom>
        </p:spPr>
      </p:pic>
      <p:sp>
        <p:nvSpPr>
          <p:cNvPr id="6" name="c1_txt"/>
          <p:cNvSpPr txBox="1"/>
          <p:nvPr/>
        </p:nvSpPr>
        <p:spPr>
          <a:xfrm>
            <a:off x="3200400" y="1600200"/>
            <a:ext cx="8439912" cy="4160520"/>
          </a:xfrm>
          <a:prstGeom prst="rect">
            <a:avLst/>
          </a:prstGeom>
          <a:noFill/>
          <a:ln/>
        </p:spPr>
        <p:txBody>
          <a:bodyPr wrap="square" lIns="0" tIns="0" rIns="0" bIns="0" rtlCol="0" anchor="ctr"/>
          <a:lstStyle/>
          <a:p>
            <a:pPr indent="0" marL="0">
              <a:buNone/>
            </a:pPr>
            <a:r>
              <a:rPr lang="en-US" sz="2100" dirty="0">
                <a:solidFill>
                  <a:schemeClr val="tx1"/>
                </a:solidFill>
              </a:rPr>
              <a:t>La mise en œuvre d'une stratégie de communication fondée sur des supports graphiques et numériques professionnels permettra d'améliorer significativement la notoriété d'American's Gym, de renforcer son image de marque et d'accroître sa capacité à attirer et fidéliser sa clientèle.</a:t>
            </a:r>
            <a:endParaRPr lang="en-US" sz="21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8229600" cy="502920"/>
          </a:xfrm>
          <a:prstGeom prst="rect">
            <a:avLst/>
          </a:prstGeom>
          <a:noFill/>
          <a:ln/>
        </p:spPr>
        <p:txBody>
          <a:bodyPr wrap="square" lIns="0" tIns="0" rIns="0" bIns="0" rtlCol="0" anchor="b"/>
          <a:lstStyle/>
          <a:p>
            <a:pPr algn="l" indent="0" marL="0">
              <a:buNone/>
            </a:pPr>
            <a:r>
              <a:rPr lang="en-US" sz="1600" b="1" spc="400" kern="0" dirty="0">
                <a:solidFill>
                  <a:srgbClr val="FFFFFF"/>
                </a:solidFill>
              </a:rPr>
              <a:t>02 · PREMIÈRE PARTIE</a:t>
            </a:r>
            <a:endParaRPr lang="en-US" sz="1600" dirty="0"/>
          </a:p>
        </p:txBody>
      </p:sp>
      <p:sp>
        <p:nvSpPr>
          <p:cNvPr id="3" name="Text 0"/>
          <p:cNvSpPr/>
          <p:nvPr>
            <p:ph idx="101" type="title" hasCustomPrompt="1"/>
          </p:nvPr>
        </p:nvSpPr>
        <p:spPr>
          <a:xfrm>
            <a:off x="822960" y="2926080"/>
            <a:ext cx="9601200" cy="1188720"/>
          </a:xfrm>
          <a:prstGeom prst="rect">
            <a:avLst/>
          </a:prstGeom>
          <a:noFill/>
          <a:ln/>
        </p:spPr>
        <p:txBody>
          <a:bodyPr wrap="square" lIns="0" tIns="0" rIns="0" bIns="0" rtlCol="0" anchor="t"/>
          <a:lstStyle/>
          <a:p>
            <a:pPr algn="l" indent="0" marL="0">
              <a:buNone/>
            </a:pPr>
            <a:r>
              <a:rPr lang="en-US" sz="4800" b="1" dirty="0">
                <a:solidFill>
                  <a:srgbClr val="FFFFFF"/>
                </a:solidFill>
              </a:rPr>
              <a:t>Cadre d'étude</a:t>
            </a:r>
            <a:endParaRPr lang="en-US" sz="4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decel="100000" fill="hold"/>
                                        <p:tgtEl>
                                          <p:spTgt spid="3"/>
                                        </p:tgtEl>
                                        <p:attrNameLst>
                                          <p:attrName>ppt_x</p:attrName>
                                        </p:attrNameLst>
                                      </p:cBhvr>
                                      <p:tavLst>
                                        <p:tav tm="0">
                                          <p:val>
                                            <p:strVal val="#ppt_x"/>
                                          </p:val>
                                        </p:tav>
                                        <p:tav tm="100000">
                                          <p:val>
                                            <p:strVal val="#ppt_x"/>
                                          </p:val>
                                        </p:tav>
                                      </p:tavLst>
                                    </p:anim>
                                    <p:anim calcmode="lin" valueType="num">
                                      <p:cBhvr>
                                        <p:cTn id="14"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American's Gym en bref</a:t>
            </a:r>
            <a:endParaRPr lang="en-US" sz="2800" dirty="0"/>
          </a:p>
        </p:txBody>
      </p:sp>
      <p:sp>
        <p:nvSpPr>
          <p:cNvPr id="4" name="c1_bg"/>
          <p:cNvSpPr/>
          <p:nvPr/>
        </p:nvSpPr>
        <p:spPr>
          <a:xfrm>
            <a:off x="548640" y="1828800"/>
            <a:ext cx="6309360" cy="749808"/>
          </a:xfrm>
          <a:prstGeom prst="roundRect">
            <a:avLst>
              <a:gd name="adj" fmla="val 14634"/>
            </a:avLst>
          </a:prstGeom>
          <a:solidFill>
            <a:schemeClr val="bg2"/>
          </a:solidFill>
          <a:ln w="12700">
            <a:solidFill>
              <a:schemeClr val="bg2"/>
            </a:solidFill>
            <a:prstDash val="solid"/>
          </a:ln>
        </p:spPr>
      </p:sp>
      <p:sp>
        <p:nvSpPr>
          <p:cNvPr id="5" name="c1_k"/>
          <p:cNvSpPr txBox="1"/>
          <p:nvPr/>
        </p:nvSpPr>
        <p:spPr>
          <a:xfrm>
            <a:off x="822960" y="1828800"/>
            <a:ext cx="1737360" cy="749808"/>
          </a:xfrm>
          <a:prstGeom prst="rect">
            <a:avLst/>
          </a:prstGeom>
          <a:noFill/>
          <a:ln/>
        </p:spPr>
        <p:txBody>
          <a:bodyPr wrap="square" lIns="0" tIns="0" rIns="0" bIns="0" rtlCol="0" anchor="ctr"/>
          <a:lstStyle/>
          <a:p>
            <a:pPr indent="0" marL="0">
              <a:buNone/>
            </a:pPr>
            <a:r>
              <a:rPr lang="en-US" sz="1200" b="1" spc="100" kern="0" dirty="0">
                <a:solidFill>
                  <a:schemeClr val="accent1"/>
                </a:solidFill>
              </a:rPr>
              <a:t>LIEU</a:t>
            </a:r>
            <a:endParaRPr lang="en-US" sz="1200" dirty="0"/>
          </a:p>
        </p:txBody>
      </p:sp>
      <p:sp>
        <p:nvSpPr>
          <p:cNvPr id="6" name="c1_v"/>
          <p:cNvSpPr txBox="1"/>
          <p:nvPr/>
        </p:nvSpPr>
        <p:spPr>
          <a:xfrm>
            <a:off x="2606040" y="1828800"/>
            <a:ext cx="4114800" cy="749808"/>
          </a:xfrm>
          <a:prstGeom prst="rect">
            <a:avLst/>
          </a:prstGeom>
          <a:noFill/>
          <a:ln/>
        </p:spPr>
        <p:txBody>
          <a:bodyPr wrap="square" lIns="0" tIns="0" rIns="0" bIns="0" rtlCol="0" anchor="ctr"/>
          <a:lstStyle/>
          <a:p>
            <a:pPr indent="0" marL="0">
              <a:buNone/>
            </a:pPr>
            <a:r>
              <a:rPr lang="en-US" sz="1600" dirty="0">
                <a:solidFill>
                  <a:schemeClr val="tx1"/>
                </a:solidFill>
              </a:rPr>
              <a:t>Abobo-Dokui, Abidjan</a:t>
            </a:r>
            <a:endParaRPr lang="en-US" sz="1600" dirty="0"/>
          </a:p>
        </p:txBody>
      </p:sp>
      <p:sp>
        <p:nvSpPr>
          <p:cNvPr id="7" name="c2_bg"/>
          <p:cNvSpPr/>
          <p:nvPr/>
        </p:nvSpPr>
        <p:spPr>
          <a:xfrm>
            <a:off x="548640" y="2816352"/>
            <a:ext cx="6309360" cy="749808"/>
          </a:xfrm>
          <a:prstGeom prst="roundRect">
            <a:avLst>
              <a:gd name="adj" fmla="val 14634"/>
            </a:avLst>
          </a:prstGeom>
          <a:solidFill>
            <a:schemeClr val="bg2"/>
          </a:solidFill>
          <a:ln w="12700">
            <a:solidFill>
              <a:schemeClr val="bg2"/>
            </a:solidFill>
            <a:prstDash val="solid"/>
          </a:ln>
        </p:spPr>
      </p:sp>
      <p:sp>
        <p:nvSpPr>
          <p:cNvPr id="8" name="c2_k"/>
          <p:cNvSpPr txBox="1"/>
          <p:nvPr/>
        </p:nvSpPr>
        <p:spPr>
          <a:xfrm>
            <a:off x="822960" y="2816352"/>
            <a:ext cx="1737360" cy="749808"/>
          </a:xfrm>
          <a:prstGeom prst="rect">
            <a:avLst/>
          </a:prstGeom>
          <a:noFill/>
          <a:ln/>
        </p:spPr>
        <p:txBody>
          <a:bodyPr wrap="square" lIns="0" tIns="0" rIns="0" bIns="0" rtlCol="0" anchor="ctr"/>
          <a:lstStyle/>
          <a:p>
            <a:pPr indent="0" marL="0">
              <a:buNone/>
            </a:pPr>
            <a:r>
              <a:rPr lang="en-US" sz="1200" b="1" spc="100" kern="0" dirty="0">
                <a:solidFill>
                  <a:schemeClr val="accent1"/>
                </a:solidFill>
              </a:rPr>
              <a:t>CONCEPT</a:t>
            </a:r>
            <a:endParaRPr lang="en-US" sz="1200" dirty="0"/>
          </a:p>
        </p:txBody>
      </p:sp>
      <p:sp>
        <p:nvSpPr>
          <p:cNvPr id="9" name="c2_v"/>
          <p:cNvSpPr txBox="1"/>
          <p:nvPr/>
        </p:nvSpPr>
        <p:spPr>
          <a:xfrm>
            <a:off x="2606040" y="2816352"/>
            <a:ext cx="4114800" cy="749808"/>
          </a:xfrm>
          <a:prstGeom prst="rect">
            <a:avLst/>
          </a:prstGeom>
          <a:noFill/>
          <a:ln/>
        </p:spPr>
        <p:txBody>
          <a:bodyPr wrap="square" lIns="0" tIns="0" rIns="0" bIns="0" rtlCol="0" anchor="ctr"/>
          <a:lstStyle/>
          <a:p>
            <a:pPr indent="0" marL="0">
              <a:buNone/>
            </a:pPr>
            <a:r>
              <a:rPr lang="en-US" sz="1600" dirty="0">
                <a:solidFill>
                  <a:schemeClr val="tx1"/>
                </a:solidFill>
              </a:rPr>
              <a:t>Brassage États-Unis – Côte d'Ivoire</a:t>
            </a:r>
            <a:endParaRPr lang="en-US" sz="1600" dirty="0"/>
          </a:p>
        </p:txBody>
      </p:sp>
      <p:sp>
        <p:nvSpPr>
          <p:cNvPr id="10" name="c3_bg"/>
          <p:cNvSpPr/>
          <p:nvPr/>
        </p:nvSpPr>
        <p:spPr>
          <a:xfrm>
            <a:off x="548640" y="3803904"/>
            <a:ext cx="6309360" cy="749808"/>
          </a:xfrm>
          <a:prstGeom prst="roundRect">
            <a:avLst>
              <a:gd name="adj" fmla="val 14634"/>
            </a:avLst>
          </a:prstGeom>
          <a:solidFill>
            <a:schemeClr val="bg2"/>
          </a:solidFill>
          <a:ln w="12700">
            <a:solidFill>
              <a:schemeClr val="bg2"/>
            </a:solidFill>
            <a:prstDash val="solid"/>
          </a:ln>
        </p:spPr>
      </p:sp>
      <p:sp>
        <p:nvSpPr>
          <p:cNvPr id="11" name="c3_k"/>
          <p:cNvSpPr txBox="1"/>
          <p:nvPr/>
        </p:nvSpPr>
        <p:spPr>
          <a:xfrm>
            <a:off x="822960" y="3803904"/>
            <a:ext cx="1737360" cy="749808"/>
          </a:xfrm>
          <a:prstGeom prst="rect">
            <a:avLst/>
          </a:prstGeom>
          <a:noFill/>
          <a:ln/>
        </p:spPr>
        <p:txBody>
          <a:bodyPr wrap="square" lIns="0" tIns="0" rIns="0" bIns="0" rtlCol="0" anchor="ctr"/>
          <a:lstStyle/>
          <a:p>
            <a:pPr indent="0" marL="0">
              <a:buNone/>
            </a:pPr>
            <a:r>
              <a:rPr lang="en-US" sz="1200" b="1" spc="100" kern="0" dirty="0">
                <a:solidFill>
                  <a:schemeClr val="accent1"/>
                </a:solidFill>
              </a:rPr>
              <a:t>ÉQUIPEMENTS</a:t>
            </a:r>
            <a:endParaRPr lang="en-US" sz="1200" dirty="0"/>
          </a:p>
        </p:txBody>
      </p:sp>
      <p:sp>
        <p:nvSpPr>
          <p:cNvPr id="12" name="c3_v"/>
          <p:cNvSpPr txBox="1"/>
          <p:nvPr/>
        </p:nvSpPr>
        <p:spPr>
          <a:xfrm>
            <a:off x="2606040" y="3803904"/>
            <a:ext cx="4114800" cy="749808"/>
          </a:xfrm>
          <a:prstGeom prst="rect">
            <a:avLst/>
          </a:prstGeom>
          <a:noFill/>
          <a:ln/>
        </p:spPr>
        <p:txBody>
          <a:bodyPr wrap="square" lIns="0" tIns="0" rIns="0" bIns="0" rtlCol="0" anchor="ctr"/>
          <a:lstStyle/>
          <a:p>
            <a:pPr indent="0" marL="0">
              <a:buNone/>
            </a:pPr>
            <a:r>
              <a:rPr lang="en-US" sz="1600" dirty="0">
                <a:solidFill>
                  <a:schemeClr val="tx1"/>
                </a:solidFill>
              </a:rPr>
              <a:t>Dernière génération, importés des USA</a:t>
            </a:r>
            <a:endParaRPr lang="en-US" sz="1600" dirty="0"/>
          </a:p>
        </p:txBody>
      </p:sp>
      <p:sp>
        <p:nvSpPr>
          <p:cNvPr id="13" name="c4_bg"/>
          <p:cNvSpPr/>
          <p:nvPr/>
        </p:nvSpPr>
        <p:spPr>
          <a:xfrm>
            <a:off x="548640" y="4791456"/>
            <a:ext cx="6309360" cy="749808"/>
          </a:xfrm>
          <a:prstGeom prst="roundRect">
            <a:avLst>
              <a:gd name="adj" fmla="val 14634"/>
            </a:avLst>
          </a:prstGeom>
          <a:solidFill>
            <a:schemeClr val="bg2"/>
          </a:solidFill>
          <a:ln w="12700">
            <a:solidFill>
              <a:schemeClr val="bg2"/>
            </a:solidFill>
            <a:prstDash val="solid"/>
          </a:ln>
        </p:spPr>
      </p:sp>
      <p:sp>
        <p:nvSpPr>
          <p:cNvPr id="14" name="c4_k"/>
          <p:cNvSpPr txBox="1"/>
          <p:nvPr/>
        </p:nvSpPr>
        <p:spPr>
          <a:xfrm>
            <a:off x="822960" y="4791456"/>
            <a:ext cx="1737360" cy="749808"/>
          </a:xfrm>
          <a:prstGeom prst="rect">
            <a:avLst/>
          </a:prstGeom>
          <a:noFill/>
          <a:ln/>
        </p:spPr>
        <p:txBody>
          <a:bodyPr wrap="square" lIns="0" tIns="0" rIns="0" bIns="0" rtlCol="0" anchor="ctr"/>
          <a:lstStyle/>
          <a:p>
            <a:pPr indent="0" marL="0">
              <a:buNone/>
            </a:pPr>
            <a:r>
              <a:rPr lang="en-US" sz="1200" b="1" spc="100" kern="0" dirty="0">
                <a:solidFill>
                  <a:schemeClr val="accent1"/>
                </a:solidFill>
              </a:rPr>
              <a:t>DISCIPLINES</a:t>
            </a:r>
            <a:endParaRPr lang="en-US" sz="1200" dirty="0"/>
          </a:p>
        </p:txBody>
      </p:sp>
      <p:sp>
        <p:nvSpPr>
          <p:cNvPr id="15" name="c4_v"/>
          <p:cNvSpPr txBox="1"/>
          <p:nvPr/>
        </p:nvSpPr>
        <p:spPr>
          <a:xfrm>
            <a:off x="2606040" y="4791456"/>
            <a:ext cx="4114800" cy="749808"/>
          </a:xfrm>
          <a:prstGeom prst="rect">
            <a:avLst/>
          </a:prstGeom>
          <a:noFill/>
          <a:ln/>
        </p:spPr>
        <p:txBody>
          <a:bodyPr wrap="square" lIns="0" tIns="0" rIns="0" bIns="0" rtlCol="0" anchor="ctr"/>
          <a:lstStyle/>
          <a:p>
            <a:pPr indent="0" marL="0">
              <a:buNone/>
            </a:pPr>
            <a:r>
              <a:rPr lang="en-US" sz="1600" dirty="0">
                <a:solidFill>
                  <a:schemeClr val="tx1"/>
                </a:solidFill>
              </a:rPr>
              <a:t>Musculation, fitness, boxe, taekwondo</a:t>
            </a:r>
            <a:endParaRPr lang="en-US" sz="1600" dirty="0"/>
          </a:p>
        </p:txBody>
      </p:sp>
      <p:pic>
        <p:nvPicPr>
          <p:cNvPr id="16" name="c5_img" descr="/tmp/claude-0/-home-user-HANDY/4ddfdd3d-c678-5164-8991-be3c6152a069/scratchpad/assets/batiment3d.png">    </p:cNvPr>
          <p:cNvPicPr>
            <a:picLocks noChangeAspect="1"/>
          </p:cNvPicPr>
          <p:nvPr/>
        </p:nvPicPr>
        <p:blipFill>
          <a:blip r:embed="rId1"/>
          <a:stretch>
            <a:fillRect/>
          </a:stretch>
        </p:blipFill>
        <p:spPr>
          <a:xfrm>
            <a:off x="7223760" y="2454123"/>
            <a:ext cx="4416552" cy="2461819"/>
          </a:xfrm>
          <a:prstGeom prst="rect">
            <a:avLst/>
          </a:prstGeom>
          <a:effectLst>
            <a:outerShdw sx="100000" sy="100000" kx="0" ky="0" algn="bl" rotWithShape="0" blurRad="127000" dist="25400" dir="5400000">
              <a:srgbClr val="000000">
                <a:alpha val="16000"/>
              </a:srgbClr>
            </a:outerShdw>
          </a:effectLst>
        </p:spPr>
      </p:pic>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anim calcmode="lin" valueType="num">
                                      <p:cBhvr>
                                        <p:cTn id="49" dur="500" decel="100000" fill="hold"/>
                                        <p:tgtEl>
                                          <p:spTgt spid="10"/>
                                        </p:tgtEl>
                                        <p:attrNameLst>
                                          <p:attrName>ppt_x</p:attrName>
                                        </p:attrNameLst>
                                      </p:cBhvr>
                                      <p:tavLst>
                                        <p:tav tm="0">
                                          <p:val>
                                            <p:strVal val="#ppt_x"/>
                                          </p:val>
                                        </p:tav>
                                        <p:tav tm="100000">
                                          <p:val>
                                            <p:strVal val="#ppt_x"/>
                                          </p:val>
                                        </p:tav>
                                      </p:tavLst>
                                    </p:anim>
                                    <p:anim calcmode="lin" valueType="num">
                                      <p:cBhvr>
                                        <p:cTn id="50" dur="500" decel="100000" fill="hold"/>
                                        <p:tgtEl>
                                          <p:spTgt spid="10"/>
                                        </p:tgtEl>
                                        <p:attrNameLst>
                                          <p:attrName>ppt_y</p:attrName>
                                        </p:attrNameLst>
                                      </p:cBhvr>
                                      <p:tavLst>
                                        <p:tav tm="0">
                                          <p:val>
                                            <p:strVal val="#ppt_y+0.027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anim calcmode="lin" valueType="num">
                                      <p:cBhvr>
                                        <p:cTn id="54" dur="500" decel="100000" fill="hold"/>
                                        <p:tgtEl>
                                          <p:spTgt spid="11"/>
                                        </p:tgtEl>
                                        <p:attrNameLst>
                                          <p:attrName>ppt_x</p:attrName>
                                        </p:attrNameLst>
                                      </p:cBhvr>
                                      <p:tavLst>
                                        <p:tav tm="0">
                                          <p:val>
                                            <p:strVal val="#ppt_x"/>
                                          </p:val>
                                        </p:tav>
                                        <p:tav tm="100000">
                                          <p:val>
                                            <p:strVal val="#ppt_x"/>
                                          </p:val>
                                        </p:tav>
                                      </p:tavLst>
                                    </p:anim>
                                    <p:anim calcmode="lin" valueType="num">
                                      <p:cBhvr>
                                        <p:cTn id="55" dur="500" decel="100000" fill="hold"/>
                                        <p:tgtEl>
                                          <p:spTgt spid="11"/>
                                        </p:tgtEl>
                                        <p:attrNameLst>
                                          <p:attrName>ppt_y</p:attrName>
                                        </p:attrNameLst>
                                      </p:cBhvr>
                                      <p:tavLst>
                                        <p:tav tm="0">
                                          <p:val>
                                            <p:strVal val="#ppt_y+0.0278"/>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anim calcmode="lin" valueType="num">
                                      <p:cBhvr>
                                        <p:cTn id="59" dur="500" decel="100000" fill="hold"/>
                                        <p:tgtEl>
                                          <p:spTgt spid="12"/>
                                        </p:tgtEl>
                                        <p:attrNameLst>
                                          <p:attrName>ppt_x</p:attrName>
                                        </p:attrNameLst>
                                      </p:cBhvr>
                                      <p:tavLst>
                                        <p:tav tm="0">
                                          <p:val>
                                            <p:strVal val="#ppt_x"/>
                                          </p:val>
                                        </p:tav>
                                        <p:tav tm="100000">
                                          <p:val>
                                            <p:strVal val="#ppt_x"/>
                                          </p:val>
                                        </p:tav>
                                      </p:tavLst>
                                    </p:anim>
                                    <p:anim calcmode="lin" valueType="num">
                                      <p:cBhvr>
                                        <p:cTn id="60" dur="500" decel="100000" fill="hold"/>
                                        <p:tgtEl>
                                          <p:spTgt spid="12"/>
                                        </p:tgtEl>
                                        <p:attrNameLst>
                                          <p:attrName>ppt_y</p:attrName>
                                        </p:attrNameLst>
                                      </p:cBhvr>
                                      <p:tavLst>
                                        <p:tav tm="0">
                                          <p:val>
                                            <p:strVal val="#ppt_y+0.0278"/>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anim calcmode="lin" valueType="num">
                                      <p:cBhvr>
                                        <p:cTn id="66" dur="500" decel="100000" fill="hold"/>
                                        <p:tgtEl>
                                          <p:spTgt spid="13"/>
                                        </p:tgtEl>
                                        <p:attrNameLst>
                                          <p:attrName>ppt_x</p:attrName>
                                        </p:attrNameLst>
                                      </p:cBhvr>
                                      <p:tavLst>
                                        <p:tav tm="0">
                                          <p:val>
                                            <p:strVal val="#ppt_x"/>
                                          </p:val>
                                        </p:tav>
                                        <p:tav tm="100000">
                                          <p:val>
                                            <p:strVal val="#ppt_x"/>
                                          </p:val>
                                        </p:tav>
                                      </p:tavLst>
                                    </p:anim>
                                    <p:anim calcmode="lin" valueType="num">
                                      <p:cBhvr>
                                        <p:cTn id="67" dur="500" decel="100000" fill="hold"/>
                                        <p:tgtEl>
                                          <p:spTgt spid="13"/>
                                        </p:tgtEl>
                                        <p:attrNameLst>
                                          <p:attrName>ppt_y</p:attrName>
                                        </p:attrNameLst>
                                      </p:cBhvr>
                                      <p:tavLst>
                                        <p:tav tm="0">
                                          <p:val>
                                            <p:strVal val="#ppt_y+0.0278"/>
                                          </p:val>
                                        </p:tav>
                                        <p:tav tm="100000">
                                          <p:val>
                                            <p:strVal val="#ppt_y"/>
                                          </p:val>
                                        </p:tav>
                                      </p:tavLst>
                                    </p:anim>
                                  </p:childTnLst>
                                </p:cTn>
                              </p:par>
                              <p:par>
                                <p:cTn id="68" presetID="42" presetClass="entr" presetSubtype="0" fill="hold" grpId="0" nodeType="with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anim calcmode="lin" valueType="num">
                                      <p:cBhvr>
                                        <p:cTn id="71" dur="500" decel="100000" fill="hold"/>
                                        <p:tgtEl>
                                          <p:spTgt spid="14"/>
                                        </p:tgtEl>
                                        <p:attrNameLst>
                                          <p:attrName>ppt_x</p:attrName>
                                        </p:attrNameLst>
                                      </p:cBhvr>
                                      <p:tavLst>
                                        <p:tav tm="0">
                                          <p:val>
                                            <p:strVal val="#ppt_x"/>
                                          </p:val>
                                        </p:tav>
                                        <p:tav tm="100000">
                                          <p:val>
                                            <p:strVal val="#ppt_x"/>
                                          </p:val>
                                        </p:tav>
                                      </p:tavLst>
                                    </p:anim>
                                    <p:anim calcmode="lin" valueType="num">
                                      <p:cBhvr>
                                        <p:cTn id="72" dur="500" decel="100000" fill="hold"/>
                                        <p:tgtEl>
                                          <p:spTgt spid="14"/>
                                        </p:tgtEl>
                                        <p:attrNameLst>
                                          <p:attrName>ppt_y</p:attrName>
                                        </p:attrNameLst>
                                      </p:cBhvr>
                                      <p:tavLst>
                                        <p:tav tm="0">
                                          <p:val>
                                            <p:strVal val="#ppt_y+0.0278"/>
                                          </p:val>
                                        </p:tav>
                                        <p:tav tm="100000">
                                          <p:val>
                                            <p:strVal val="#ppt_y"/>
                                          </p:val>
                                        </p:tav>
                                      </p:tavLst>
                                    </p:anim>
                                  </p:childTnLst>
                                </p:cTn>
                              </p:par>
                              <p:par>
                                <p:cTn id="73" presetID="42" presetClass="entr" presetSubtype="0" fill="hold" grpId="0" nodeType="withEffect">
                                  <p:stCondLst>
                                    <p:cond delay="0"/>
                                  </p:stCondLst>
                                  <p:childTnLst>
                                    <p:set>
                                      <p:cBhvr>
                                        <p:cTn id="74" dur="1" fill="hold">
                                          <p:stCondLst>
                                            <p:cond delay="0"/>
                                          </p:stCondLst>
                                        </p:cTn>
                                        <p:tgtEl>
                                          <p:spTgt spid="15"/>
                                        </p:tgtEl>
                                        <p:attrNameLst>
                                          <p:attrName>style.visibility</p:attrName>
                                        </p:attrNameLst>
                                      </p:cBhvr>
                                      <p:to>
                                        <p:strVal val="visible"/>
                                      </p:to>
                                    </p:set>
                                    <p:animEffect transition="in" filter="fade">
                                      <p:cBhvr>
                                        <p:cTn id="75" dur="500"/>
                                        <p:tgtEl>
                                          <p:spTgt spid="15"/>
                                        </p:tgtEl>
                                      </p:cBhvr>
                                    </p:animEffect>
                                    <p:anim calcmode="lin" valueType="num">
                                      <p:cBhvr>
                                        <p:cTn id="76" dur="500" decel="100000" fill="hold"/>
                                        <p:tgtEl>
                                          <p:spTgt spid="15"/>
                                        </p:tgtEl>
                                        <p:attrNameLst>
                                          <p:attrName>ppt_x</p:attrName>
                                        </p:attrNameLst>
                                      </p:cBhvr>
                                      <p:tavLst>
                                        <p:tav tm="0">
                                          <p:val>
                                            <p:strVal val="#ppt_x"/>
                                          </p:val>
                                        </p:tav>
                                        <p:tav tm="100000">
                                          <p:val>
                                            <p:strVal val="#ppt_x"/>
                                          </p:val>
                                        </p:tav>
                                      </p:tavLst>
                                    </p:anim>
                                    <p:anim calcmode="lin" valueType="num">
                                      <p:cBhvr>
                                        <p:cTn id="77" dur="500" decel="100000" fill="hold"/>
                                        <p:tgtEl>
                                          <p:spTgt spid="15"/>
                                        </p:tgtEl>
                                        <p:attrNameLst>
                                          <p:attrName>ppt_y</p:attrName>
                                        </p:attrNameLst>
                                      </p:cBhvr>
                                      <p:tavLst>
                                        <p:tav tm="0">
                                          <p:val>
                                            <p:strVal val="#ppt_y+0.0278"/>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500"/>
                                        <p:tgtEl>
                                          <p:spTgt spid="16"/>
                                        </p:tgtEl>
                                      </p:cBhvr>
                                    </p:animEffect>
                                    <p:anim calcmode="lin" valueType="num">
                                      <p:cBhvr>
                                        <p:cTn id="83" dur="500" decel="100000" fill="hold"/>
                                        <p:tgtEl>
                                          <p:spTgt spid="16"/>
                                        </p:tgtEl>
                                        <p:attrNameLst>
                                          <p:attrName>ppt_x</p:attrName>
                                        </p:attrNameLst>
                                      </p:cBhvr>
                                      <p:tavLst>
                                        <p:tav tm="0">
                                          <p:val>
                                            <p:strVal val="#ppt_x"/>
                                          </p:val>
                                        </p:tav>
                                        <p:tav tm="100000">
                                          <p:val>
                                            <p:strVal val="#ppt_x"/>
                                          </p:val>
                                        </p:tav>
                                      </p:tavLst>
                                    </p:anim>
                                    <p:anim calcmode="lin" valueType="num">
                                      <p:cBhvr>
                                        <p:cTn id="84" dur="500" decel="100000" fill="hold"/>
                                        <p:tgtEl>
                                          <p:spTgt spid="1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animBg="1"/>
      <p:bldP spid="8" grpId="0"/>
      <p:bldP spid="9" grpId="0"/>
      <p:bldP spid="10" grpId="0" animBg="1"/>
      <p:bldP spid="11" grpId="0"/>
      <p:bldP spid="12" grpId="0"/>
      <p:bldP spid="13" grpId="0" animBg="1"/>
      <p:bldP spid="14" grpId="0"/>
      <p:bldP spid="15" grpId="0"/>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Une organisation structurée</a:t>
            </a:r>
            <a:endParaRPr lang="en-US" sz="2800" dirty="0"/>
          </a:p>
        </p:txBody>
      </p:sp>
      <p:pic>
        <p:nvPicPr>
          <p:cNvPr id="4" name="c1_img" descr="/tmp/claude-0/-home-user-HANDY/4ddfdd3d-c678-5164-8991-be3c6152a069/scratchpad/assets/equipe.png">    </p:cNvPr>
          <p:cNvPicPr>
            <a:picLocks noChangeAspect="1"/>
          </p:cNvPicPr>
          <p:nvPr/>
        </p:nvPicPr>
        <p:blipFill>
          <a:blip r:embed="rId1"/>
          <a:stretch>
            <a:fillRect/>
          </a:stretch>
        </p:blipFill>
        <p:spPr>
          <a:xfrm>
            <a:off x="556889" y="1463040"/>
            <a:ext cx="3458222" cy="4617720"/>
          </a:xfrm>
          <a:prstGeom prst="rect">
            <a:avLst/>
          </a:prstGeom>
          <a:effectLst>
            <a:outerShdw sx="100000" sy="100000" kx="0" ky="0" algn="bl" rotWithShape="0" blurRad="127000" dist="25400" dir="5400000">
              <a:srgbClr val="000000">
                <a:alpha val="16000"/>
              </a:srgbClr>
            </a:outerShdw>
          </a:effectLst>
        </p:spPr>
      </p:pic>
      <p:sp>
        <p:nvSpPr>
          <p:cNvPr id="5" name="c1_ic0"/>
          <p:cNvSpPr/>
          <p:nvPr/>
        </p:nvSpPr>
        <p:spPr>
          <a:xfrm>
            <a:off x="4526280" y="1691640"/>
            <a:ext cx="640080" cy="640080"/>
          </a:xfrm>
          <a:prstGeom prst="ellipse">
            <a:avLst/>
          </a:prstGeom>
          <a:solidFill>
            <a:schemeClr val="bg2"/>
          </a:solidFill>
          <a:ln w="12700">
            <a:solidFill>
              <a:schemeClr val="bg2"/>
            </a:solidFill>
            <a:prstDash val="solid"/>
          </a:ln>
        </p:spPr>
      </p:sp>
      <p:pic>
        <p:nvPicPr>
          <p:cNvPr id="6" name="c1_ic0i" descr="preencoded.png">    </p:cNvPr>
          <p:cNvPicPr>
            <a:picLocks noChangeAspect="1"/>
          </p:cNvPicPr>
          <p:nvPr/>
        </p:nvPicPr>
        <p:blipFill>
          <a:blip r:embed="rId2"/>
          <a:stretch>
            <a:fillRect/>
          </a:stretch>
        </p:blipFill>
        <p:spPr>
          <a:xfrm>
            <a:off x="4686300" y="1851660"/>
            <a:ext cx="320040" cy="320040"/>
          </a:xfrm>
          <a:prstGeom prst="rect">
            <a:avLst/>
          </a:prstGeom>
        </p:spPr>
      </p:pic>
      <p:sp>
        <p:nvSpPr>
          <p:cNvPr id="7" name="c1_t0"/>
          <p:cNvSpPr txBox="1"/>
          <p:nvPr/>
        </p:nvSpPr>
        <p:spPr>
          <a:xfrm>
            <a:off x="5394960" y="1691640"/>
            <a:ext cx="6217920" cy="640080"/>
          </a:xfrm>
          <a:prstGeom prst="rect">
            <a:avLst/>
          </a:prstGeom>
          <a:noFill/>
          <a:ln/>
        </p:spPr>
        <p:txBody>
          <a:bodyPr wrap="square" lIns="0" tIns="0" rIns="0" bIns="0" rtlCol="0" anchor="ctr"/>
          <a:lstStyle/>
          <a:p>
            <a:pPr indent="0" marL="0">
              <a:buNone/>
            </a:pPr>
            <a:r>
              <a:rPr lang="en-US" sz="1700" b="1" dirty="0">
                <a:solidFill>
                  <a:schemeClr val="tx2"/>
                </a:solidFill>
              </a:rPr>
              <a:t>PDG : </a:t>
            </a:r>
            <a:pPr indent="0" marL="0">
              <a:buNone/>
            </a:pPr>
            <a:r>
              <a:rPr lang="en-US" sz="1700" dirty="0">
                <a:solidFill>
                  <a:schemeClr val="tx1"/>
                </a:solidFill>
              </a:rPr>
              <a:t>Djakaria KONATÉ</a:t>
            </a:r>
            <a:endParaRPr lang="en-US" sz="1700" dirty="0"/>
          </a:p>
        </p:txBody>
      </p:sp>
      <p:sp>
        <p:nvSpPr>
          <p:cNvPr id="8" name="c1_ic1"/>
          <p:cNvSpPr/>
          <p:nvPr/>
        </p:nvSpPr>
        <p:spPr>
          <a:xfrm>
            <a:off x="4526280" y="2560320"/>
            <a:ext cx="640080" cy="640080"/>
          </a:xfrm>
          <a:prstGeom prst="ellipse">
            <a:avLst/>
          </a:prstGeom>
          <a:solidFill>
            <a:schemeClr val="bg2"/>
          </a:solidFill>
          <a:ln w="12700">
            <a:solidFill>
              <a:schemeClr val="bg2"/>
            </a:solidFill>
            <a:prstDash val="solid"/>
          </a:ln>
        </p:spPr>
      </p:sp>
      <p:pic>
        <p:nvPicPr>
          <p:cNvPr id="9" name="c1_ic1i" descr="preencoded.png">    </p:cNvPr>
          <p:cNvPicPr>
            <a:picLocks noChangeAspect="1"/>
          </p:cNvPicPr>
          <p:nvPr/>
        </p:nvPicPr>
        <p:blipFill>
          <a:blip r:embed="rId3"/>
          <a:stretch>
            <a:fillRect/>
          </a:stretch>
        </p:blipFill>
        <p:spPr>
          <a:xfrm>
            <a:off x="4686300" y="2720340"/>
            <a:ext cx="320040" cy="320040"/>
          </a:xfrm>
          <a:prstGeom prst="rect">
            <a:avLst/>
          </a:prstGeom>
        </p:spPr>
      </p:pic>
      <p:sp>
        <p:nvSpPr>
          <p:cNvPr id="10" name="c1_t1"/>
          <p:cNvSpPr txBox="1"/>
          <p:nvPr/>
        </p:nvSpPr>
        <p:spPr>
          <a:xfrm>
            <a:off x="5394960" y="2560320"/>
            <a:ext cx="6217920" cy="640080"/>
          </a:xfrm>
          <a:prstGeom prst="rect">
            <a:avLst/>
          </a:prstGeom>
          <a:noFill/>
          <a:ln/>
        </p:spPr>
        <p:txBody>
          <a:bodyPr wrap="square" lIns="0" tIns="0" rIns="0" bIns="0" rtlCol="0" anchor="ctr"/>
          <a:lstStyle/>
          <a:p>
            <a:pPr indent="0" marL="0">
              <a:buNone/>
            </a:pPr>
            <a:r>
              <a:rPr lang="en-US" sz="1700" b="1" dirty="0">
                <a:solidFill>
                  <a:schemeClr val="tx2"/>
                </a:solidFill>
              </a:rPr>
              <a:t>Vice-Président : </a:t>
            </a:r>
            <a:pPr indent="0" marL="0">
              <a:buNone/>
            </a:pPr>
            <a:r>
              <a:rPr lang="en-US" sz="1700" dirty="0">
                <a:solidFill>
                  <a:schemeClr val="tx1"/>
                </a:solidFill>
              </a:rPr>
              <a:t>DEMBÉLÉ Lassana</a:t>
            </a:r>
            <a:endParaRPr lang="en-US" sz="1700" dirty="0"/>
          </a:p>
        </p:txBody>
      </p:sp>
      <p:sp>
        <p:nvSpPr>
          <p:cNvPr id="11" name="c1_ic2"/>
          <p:cNvSpPr/>
          <p:nvPr/>
        </p:nvSpPr>
        <p:spPr>
          <a:xfrm>
            <a:off x="4526280" y="3429000"/>
            <a:ext cx="640080" cy="640080"/>
          </a:xfrm>
          <a:prstGeom prst="ellipse">
            <a:avLst/>
          </a:prstGeom>
          <a:solidFill>
            <a:schemeClr val="bg2"/>
          </a:solidFill>
          <a:ln w="12700">
            <a:solidFill>
              <a:schemeClr val="bg2"/>
            </a:solidFill>
            <a:prstDash val="solid"/>
          </a:ln>
        </p:spPr>
      </p:sp>
      <p:pic>
        <p:nvPicPr>
          <p:cNvPr id="12" name="c1_ic2i" descr="preencoded.png">    </p:cNvPr>
          <p:cNvPicPr>
            <a:picLocks noChangeAspect="1"/>
          </p:cNvPicPr>
          <p:nvPr/>
        </p:nvPicPr>
        <p:blipFill>
          <a:blip r:embed="rId4"/>
          <a:stretch>
            <a:fillRect/>
          </a:stretch>
        </p:blipFill>
        <p:spPr>
          <a:xfrm>
            <a:off x="4686300" y="3589020"/>
            <a:ext cx="320040" cy="320040"/>
          </a:xfrm>
          <a:prstGeom prst="rect">
            <a:avLst/>
          </a:prstGeom>
        </p:spPr>
      </p:pic>
      <p:sp>
        <p:nvSpPr>
          <p:cNvPr id="13" name="c1_t2"/>
          <p:cNvSpPr txBox="1"/>
          <p:nvPr/>
        </p:nvSpPr>
        <p:spPr>
          <a:xfrm>
            <a:off x="5394960" y="3429000"/>
            <a:ext cx="6217920" cy="640080"/>
          </a:xfrm>
          <a:prstGeom prst="rect">
            <a:avLst/>
          </a:prstGeom>
          <a:noFill/>
          <a:ln/>
        </p:spPr>
        <p:txBody>
          <a:bodyPr wrap="square" lIns="0" tIns="0" rIns="0" bIns="0" rtlCol="0" anchor="ctr"/>
          <a:lstStyle/>
          <a:p>
            <a:pPr indent="0" marL="0">
              <a:buNone/>
            </a:pPr>
            <a:r>
              <a:rPr lang="en-US" sz="1700" b="1" dirty="0">
                <a:solidFill>
                  <a:schemeClr val="tx2"/>
                </a:solidFill>
              </a:rPr>
              <a:t>Manager Général : </a:t>
            </a:r>
            <a:pPr indent="0" marL="0">
              <a:buNone/>
            </a:pPr>
            <a:r>
              <a:rPr lang="en-US" sz="1700" dirty="0">
                <a:solidFill>
                  <a:schemeClr val="tx1"/>
                </a:solidFill>
              </a:rPr>
              <a:t>Alassane KONATÉ</a:t>
            </a:r>
            <a:endParaRPr lang="en-US" sz="1700" dirty="0"/>
          </a:p>
        </p:txBody>
      </p:sp>
      <p:sp>
        <p:nvSpPr>
          <p:cNvPr id="14" name="c2_ic3"/>
          <p:cNvSpPr/>
          <p:nvPr/>
        </p:nvSpPr>
        <p:spPr>
          <a:xfrm>
            <a:off x="4526280" y="4297680"/>
            <a:ext cx="640080" cy="640080"/>
          </a:xfrm>
          <a:prstGeom prst="ellipse">
            <a:avLst/>
          </a:prstGeom>
          <a:solidFill>
            <a:schemeClr val="bg2"/>
          </a:solidFill>
          <a:ln w="12700">
            <a:solidFill>
              <a:schemeClr val="bg2"/>
            </a:solidFill>
            <a:prstDash val="solid"/>
          </a:ln>
        </p:spPr>
      </p:sp>
      <p:pic>
        <p:nvPicPr>
          <p:cNvPr id="15" name="c2_ic3i" descr="preencoded.png">    </p:cNvPr>
          <p:cNvPicPr>
            <a:picLocks noChangeAspect="1"/>
          </p:cNvPicPr>
          <p:nvPr/>
        </p:nvPicPr>
        <p:blipFill>
          <a:blip r:embed="rId5"/>
          <a:stretch>
            <a:fillRect/>
          </a:stretch>
        </p:blipFill>
        <p:spPr>
          <a:xfrm>
            <a:off x="4686300" y="4457700"/>
            <a:ext cx="320040" cy="320040"/>
          </a:xfrm>
          <a:prstGeom prst="rect">
            <a:avLst/>
          </a:prstGeom>
        </p:spPr>
      </p:pic>
      <p:sp>
        <p:nvSpPr>
          <p:cNvPr id="16" name="c2_t3"/>
          <p:cNvSpPr txBox="1"/>
          <p:nvPr/>
        </p:nvSpPr>
        <p:spPr>
          <a:xfrm>
            <a:off x="5394960" y="4297680"/>
            <a:ext cx="6217920" cy="640080"/>
          </a:xfrm>
          <a:prstGeom prst="rect">
            <a:avLst/>
          </a:prstGeom>
          <a:noFill/>
          <a:ln/>
        </p:spPr>
        <p:txBody>
          <a:bodyPr wrap="square" lIns="0" tIns="0" rIns="0" bIns="0" rtlCol="0" anchor="ctr"/>
          <a:lstStyle/>
          <a:p>
            <a:pPr indent="0" marL="0">
              <a:buNone/>
            </a:pPr>
            <a:r>
              <a:rPr lang="en-US" sz="1700" b="1" dirty="0">
                <a:solidFill>
                  <a:schemeClr val="tx2"/>
                </a:solidFill>
              </a:rPr>
              <a:t>Administration : </a:t>
            </a:r>
            <a:pPr indent="0" marL="0">
              <a:buNone/>
            </a:pPr>
            <a:r>
              <a:rPr lang="en-US" sz="1700" dirty="0">
                <a:solidFill>
                  <a:schemeClr val="tx1"/>
                </a:solidFill>
              </a:rPr>
              <a:t>trésorerie et secrétariat général</a:t>
            </a:r>
            <a:endParaRPr lang="en-US" sz="1700" dirty="0"/>
          </a:p>
        </p:txBody>
      </p:sp>
      <p:sp>
        <p:nvSpPr>
          <p:cNvPr id="17" name="c3_ic4"/>
          <p:cNvSpPr/>
          <p:nvPr/>
        </p:nvSpPr>
        <p:spPr>
          <a:xfrm>
            <a:off x="4526280" y="5166360"/>
            <a:ext cx="640080" cy="640080"/>
          </a:xfrm>
          <a:prstGeom prst="ellipse">
            <a:avLst/>
          </a:prstGeom>
          <a:solidFill>
            <a:schemeClr val="bg2"/>
          </a:solidFill>
          <a:ln w="12700">
            <a:solidFill>
              <a:schemeClr val="bg2"/>
            </a:solidFill>
            <a:prstDash val="solid"/>
          </a:ln>
        </p:spPr>
      </p:sp>
      <p:pic>
        <p:nvPicPr>
          <p:cNvPr id="18" name="c3_ic4i" descr="preencoded.png">    </p:cNvPr>
          <p:cNvPicPr>
            <a:picLocks noChangeAspect="1"/>
          </p:cNvPicPr>
          <p:nvPr/>
        </p:nvPicPr>
        <p:blipFill>
          <a:blip r:embed="rId6"/>
          <a:stretch>
            <a:fillRect/>
          </a:stretch>
        </p:blipFill>
        <p:spPr>
          <a:xfrm>
            <a:off x="4686300" y="5326380"/>
            <a:ext cx="320040" cy="320040"/>
          </a:xfrm>
          <a:prstGeom prst="rect">
            <a:avLst/>
          </a:prstGeom>
        </p:spPr>
      </p:pic>
      <p:sp>
        <p:nvSpPr>
          <p:cNvPr id="19" name="c3_t4"/>
          <p:cNvSpPr txBox="1"/>
          <p:nvPr/>
        </p:nvSpPr>
        <p:spPr>
          <a:xfrm>
            <a:off x="5394960" y="5166360"/>
            <a:ext cx="6217920" cy="640080"/>
          </a:xfrm>
          <a:prstGeom prst="rect">
            <a:avLst/>
          </a:prstGeom>
          <a:noFill/>
          <a:ln/>
        </p:spPr>
        <p:txBody>
          <a:bodyPr wrap="square" lIns="0" tIns="0" rIns="0" bIns="0" rtlCol="0" anchor="ctr"/>
          <a:lstStyle/>
          <a:p>
            <a:pPr indent="0" marL="0">
              <a:buNone/>
            </a:pPr>
            <a:r>
              <a:rPr lang="en-US" sz="1700" b="1" dirty="0">
                <a:solidFill>
                  <a:schemeClr val="tx2"/>
                </a:solidFill>
              </a:rPr>
              <a:t>Staff technique : </a:t>
            </a:r>
            <a:pPr indent="0" marL="0">
              <a:buNone/>
            </a:pPr>
            <a:r>
              <a:rPr lang="en-US" sz="1700" dirty="0">
                <a:solidFill>
                  <a:schemeClr val="tx1"/>
                </a:solidFill>
              </a:rPr>
              <a:t>coachs sport, boxe, taekwondo</a:t>
            </a:r>
            <a:endParaRPr lang="en-US" sz="17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0278"/>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decel="100000" fill="hold"/>
                                        <p:tgtEl>
                                          <p:spTgt spid="10"/>
                                        </p:tgtEl>
                                        <p:attrNameLst>
                                          <p:attrName>ppt_x</p:attrName>
                                        </p:attrNameLst>
                                      </p:cBhvr>
                                      <p:tavLst>
                                        <p:tav tm="0">
                                          <p:val>
                                            <p:strVal val="#ppt_x"/>
                                          </p:val>
                                        </p:tav>
                                        <p:tav tm="100000">
                                          <p:val>
                                            <p:strVal val="#ppt_x"/>
                                          </p:val>
                                        </p:tav>
                                      </p:tavLst>
                                    </p:anim>
                                    <p:anim calcmode="lin" valueType="num">
                                      <p:cBhvr>
                                        <p:cTn id="46" dur="500" decel="100000" fill="hold"/>
                                        <p:tgtEl>
                                          <p:spTgt spid="10"/>
                                        </p:tgtEl>
                                        <p:attrNameLst>
                                          <p:attrName>ppt_y</p:attrName>
                                        </p:attrNameLst>
                                      </p:cBhvr>
                                      <p:tavLst>
                                        <p:tav tm="0">
                                          <p:val>
                                            <p:strVal val="#ppt_y+0.027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0278"/>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p:cTn id="55" dur="500" decel="100000" fill="hold"/>
                                        <p:tgtEl>
                                          <p:spTgt spid="12"/>
                                        </p:tgtEl>
                                        <p:attrNameLst>
                                          <p:attrName>ppt_x</p:attrName>
                                        </p:attrNameLst>
                                      </p:cBhvr>
                                      <p:tavLst>
                                        <p:tav tm="0">
                                          <p:val>
                                            <p:strVal val="#ppt_x"/>
                                          </p:val>
                                        </p:tav>
                                        <p:tav tm="100000">
                                          <p:val>
                                            <p:strVal val="#ppt_x"/>
                                          </p:val>
                                        </p:tav>
                                      </p:tavLst>
                                    </p:anim>
                                    <p:anim calcmode="lin" valueType="num">
                                      <p:cBhvr>
                                        <p:cTn id="56" dur="500" decel="100000" fill="hold"/>
                                        <p:tgtEl>
                                          <p:spTgt spid="12"/>
                                        </p:tgtEl>
                                        <p:attrNameLst>
                                          <p:attrName>ppt_y</p:attrName>
                                        </p:attrNameLst>
                                      </p:cBhvr>
                                      <p:tavLst>
                                        <p:tav tm="0">
                                          <p:val>
                                            <p:strVal val="#ppt_y+0.027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grpId="0" nodeType="click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027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0278"/>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anim calcmode="lin" valueType="num">
                                      <p:cBhvr>
                                        <p:cTn id="77" dur="500" decel="100000" fill="hold"/>
                                        <p:tgtEl>
                                          <p:spTgt spid="16"/>
                                        </p:tgtEl>
                                        <p:attrNameLst>
                                          <p:attrName>ppt_x</p:attrName>
                                        </p:attrNameLst>
                                      </p:cBhvr>
                                      <p:tavLst>
                                        <p:tav tm="0">
                                          <p:val>
                                            <p:strVal val="#ppt_x"/>
                                          </p:val>
                                        </p:tav>
                                        <p:tav tm="100000">
                                          <p:val>
                                            <p:strVal val="#ppt_x"/>
                                          </p:val>
                                        </p:tav>
                                      </p:tavLst>
                                    </p:anim>
                                    <p:anim calcmode="lin" valueType="num">
                                      <p:cBhvr>
                                        <p:cTn id="78" dur="500" decel="100000" fill="hold"/>
                                        <p:tgtEl>
                                          <p:spTgt spid="16"/>
                                        </p:tgtEl>
                                        <p:attrNameLst>
                                          <p:attrName>ppt_y</p:attrName>
                                        </p:attrNameLst>
                                      </p:cBhvr>
                                      <p:tavLst>
                                        <p:tav tm="0">
                                          <p:val>
                                            <p:strVal val="#ppt_y+0.0278"/>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500"/>
                                        <p:tgtEl>
                                          <p:spTgt spid="17"/>
                                        </p:tgtEl>
                                      </p:cBhvr>
                                    </p:animEffect>
                                    <p:anim calcmode="lin" valueType="num">
                                      <p:cBhvr>
                                        <p:cTn id="84" dur="500" decel="100000" fill="hold"/>
                                        <p:tgtEl>
                                          <p:spTgt spid="17"/>
                                        </p:tgtEl>
                                        <p:attrNameLst>
                                          <p:attrName>ppt_x</p:attrName>
                                        </p:attrNameLst>
                                      </p:cBhvr>
                                      <p:tavLst>
                                        <p:tav tm="0">
                                          <p:val>
                                            <p:strVal val="#ppt_x"/>
                                          </p:val>
                                        </p:tav>
                                        <p:tav tm="100000">
                                          <p:val>
                                            <p:strVal val="#ppt_x"/>
                                          </p:val>
                                        </p:tav>
                                      </p:tavLst>
                                    </p:anim>
                                    <p:anim calcmode="lin" valueType="num">
                                      <p:cBhvr>
                                        <p:cTn id="85" dur="500" decel="100000" fill="hold"/>
                                        <p:tgtEl>
                                          <p:spTgt spid="17"/>
                                        </p:tgtEl>
                                        <p:attrNameLst>
                                          <p:attrName>ppt_y</p:attrName>
                                        </p:attrNameLst>
                                      </p:cBhvr>
                                      <p:tavLst>
                                        <p:tav tm="0">
                                          <p:val>
                                            <p:strVal val="#ppt_y+0.0278"/>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500"/>
                                        <p:tgtEl>
                                          <p:spTgt spid="18"/>
                                        </p:tgtEl>
                                      </p:cBhvr>
                                    </p:animEffect>
                                    <p:anim calcmode="lin" valueType="num">
                                      <p:cBhvr>
                                        <p:cTn id="89" dur="500" decel="100000" fill="hold"/>
                                        <p:tgtEl>
                                          <p:spTgt spid="18"/>
                                        </p:tgtEl>
                                        <p:attrNameLst>
                                          <p:attrName>ppt_x</p:attrName>
                                        </p:attrNameLst>
                                      </p:cBhvr>
                                      <p:tavLst>
                                        <p:tav tm="0">
                                          <p:val>
                                            <p:strVal val="#ppt_x"/>
                                          </p:val>
                                        </p:tav>
                                        <p:tav tm="100000">
                                          <p:val>
                                            <p:strVal val="#ppt_x"/>
                                          </p:val>
                                        </p:tav>
                                      </p:tavLst>
                                    </p:anim>
                                    <p:anim calcmode="lin" valueType="num">
                                      <p:cBhvr>
                                        <p:cTn id="90" dur="500" decel="100000" fill="hold"/>
                                        <p:tgtEl>
                                          <p:spTgt spid="18"/>
                                        </p:tgtEl>
                                        <p:attrNameLst>
                                          <p:attrName>ppt_y</p:attrName>
                                        </p:attrNameLst>
                                      </p:cBhvr>
                                      <p:tavLst>
                                        <p:tav tm="0">
                                          <p:val>
                                            <p:strVal val="#ppt_y+0.0278"/>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19"/>
                                        </p:tgtEl>
                                        <p:attrNameLst>
                                          <p:attrName>style.visibility</p:attrName>
                                        </p:attrNameLst>
                                      </p:cBhvr>
                                      <p:to>
                                        <p:strVal val="visible"/>
                                      </p:to>
                                    </p:set>
                                    <p:animEffect transition="in" filter="fade">
                                      <p:cBhvr>
                                        <p:cTn id="93" dur="500"/>
                                        <p:tgtEl>
                                          <p:spTgt spid="19"/>
                                        </p:tgtEl>
                                      </p:cBhvr>
                                    </p:animEffect>
                                    <p:anim calcmode="lin" valueType="num">
                                      <p:cBhvr>
                                        <p:cTn id="94" dur="500" decel="100000" fill="hold"/>
                                        <p:tgtEl>
                                          <p:spTgt spid="19"/>
                                        </p:tgtEl>
                                        <p:attrNameLst>
                                          <p:attrName>ppt_x</p:attrName>
                                        </p:attrNameLst>
                                      </p:cBhvr>
                                      <p:tavLst>
                                        <p:tav tm="0">
                                          <p:val>
                                            <p:strVal val="#ppt_x"/>
                                          </p:val>
                                        </p:tav>
                                        <p:tav tm="100000">
                                          <p:val>
                                            <p:strVal val="#ppt_x"/>
                                          </p:val>
                                        </p:tav>
                                      </p:tavLst>
                                    </p:anim>
                                    <p:anim calcmode="lin" valueType="num">
                                      <p:cBhvr>
                                        <p:cTn id="95" dur="500" decel="100000" fill="hold"/>
                                        <p:tgtEl>
                                          <p:spTgt spid="1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7" grpId="0"/>
      <p:bldP spid="8" grpId="0" animBg="1"/>
      <p:bldP spid="10" grpId="0"/>
      <p:bldP spid="11" grpId="0" animBg="1"/>
      <p:bldP spid="13" grpId="0"/>
      <p:bldP spid="14" grpId="0" animBg="1"/>
      <p:bldP spid="16" grpId="0"/>
      <p:bldP spid="17" grpId="0" animBg="1"/>
      <p:bldP spid="19" grpId="0"/>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Vision et valeurs</a:t>
            </a:r>
            <a:endParaRPr lang="en-US" sz="2800" dirty="0"/>
          </a:p>
        </p:txBody>
      </p:sp>
      <p:sp>
        <p:nvSpPr>
          <p:cNvPr id="4" name="c1_bg"/>
          <p:cNvSpPr/>
          <p:nvPr/>
        </p:nvSpPr>
        <p:spPr>
          <a:xfrm>
            <a:off x="548640" y="1554480"/>
            <a:ext cx="11091672" cy="1691640"/>
          </a:xfrm>
          <a:prstGeom prst="roundRect">
            <a:avLst>
              <a:gd name="adj" fmla="val 6486"/>
            </a:avLst>
          </a:prstGeom>
          <a:solidFill>
            <a:schemeClr val="bg2"/>
          </a:solidFill>
          <a:ln w="12700">
            <a:solidFill>
              <a:schemeClr val="bg2"/>
            </a:solidFill>
            <a:prstDash val="solid"/>
          </a:ln>
        </p:spPr>
      </p:sp>
      <p:sp>
        <p:nvSpPr>
          <p:cNvPr id="5" name="c1_k"/>
          <p:cNvSpPr txBox="1"/>
          <p:nvPr/>
        </p:nvSpPr>
        <p:spPr>
          <a:xfrm>
            <a:off x="914400" y="1783080"/>
            <a:ext cx="2743200" cy="320040"/>
          </a:xfrm>
          <a:prstGeom prst="rect">
            <a:avLst/>
          </a:prstGeom>
          <a:noFill/>
          <a:ln/>
        </p:spPr>
        <p:txBody>
          <a:bodyPr wrap="square" lIns="0" tIns="0" rIns="0" bIns="0" rtlCol="0" anchor="t"/>
          <a:lstStyle/>
          <a:p>
            <a:pPr indent="0" marL="0">
              <a:buNone/>
            </a:pPr>
            <a:r>
              <a:rPr lang="en-US" sz="1200" b="1" spc="200" kern="0" dirty="0">
                <a:solidFill>
                  <a:schemeClr val="accent1"/>
                </a:solidFill>
              </a:rPr>
              <a:t>VISION</a:t>
            </a:r>
            <a:endParaRPr lang="en-US" sz="1200" dirty="0"/>
          </a:p>
        </p:txBody>
      </p:sp>
      <p:sp>
        <p:nvSpPr>
          <p:cNvPr id="6" name="c1_v"/>
          <p:cNvSpPr txBox="1"/>
          <p:nvPr/>
        </p:nvSpPr>
        <p:spPr>
          <a:xfrm>
            <a:off x="914400" y="2148840"/>
            <a:ext cx="10332720" cy="868680"/>
          </a:xfrm>
          <a:prstGeom prst="rect">
            <a:avLst/>
          </a:prstGeom>
          <a:noFill/>
          <a:ln/>
        </p:spPr>
        <p:txBody>
          <a:bodyPr wrap="square" lIns="0" tIns="0" rIns="0" bIns="0" rtlCol="0" anchor="t"/>
          <a:lstStyle/>
          <a:p>
            <a:pPr indent="0" marL="0">
              <a:buNone/>
            </a:pPr>
            <a:r>
              <a:rPr lang="en-US" sz="1900" b="1" dirty="0">
                <a:solidFill>
                  <a:schemeClr val="tx1"/>
                </a:solidFill>
              </a:rPr>
              <a:t>Devenir la salle de sport de référence en Côte d'Ivoire, en alliant technologies américaines et convivialité ivoirienne</a:t>
            </a:r>
            <a:endParaRPr lang="en-US" sz="1900" dirty="0"/>
          </a:p>
        </p:txBody>
      </p:sp>
      <p:sp>
        <p:nvSpPr>
          <p:cNvPr id="7" name="c2_v0"/>
          <p:cNvSpPr/>
          <p:nvPr/>
        </p:nvSpPr>
        <p:spPr>
          <a:xfrm>
            <a:off x="548640" y="3657600"/>
            <a:ext cx="2606040" cy="731520"/>
          </a:xfrm>
          <a:prstGeom prst="roundRect">
            <a:avLst>
              <a:gd name="adj" fmla="val 50000"/>
            </a:avLst>
          </a:prstGeom>
          <a:solidFill>
            <a:schemeClr val="bg1"/>
          </a:solidFill>
          <a:ln w="15875">
            <a:solidFill>
              <a:schemeClr val="tx2"/>
            </a:solidFill>
            <a:prstDash val="solid"/>
          </a:ln>
        </p:spPr>
      </p:sp>
      <p:sp>
        <p:nvSpPr>
          <p:cNvPr id="8" name="c2_vt0"/>
          <p:cNvSpPr txBox="1"/>
          <p:nvPr/>
        </p:nvSpPr>
        <p:spPr>
          <a:xfrm>
            <a:off x="548640" y="3657600"/>
            <a:ext cx="2606040" cy="731520"/>
          </a:xfrm>
          <a:prstGeom prst="rect">
            <a:avLst/>
          </a:prstGeom>
          <a:noFill/>
          <a:ln/>
        </p:spPr>
        <p:txBody>
          <a:bodyPr wrap="square" lIns="0" tIns="0" rIns="0" bIns="0" rtlCol="0" anchor="ctr"/>
          <a:lstStyle/>
          <a:p>
            <a:pPr algn="ctr" indent="0" marL="0">
              <a:buNone/>
            </a:pPr>
            <a:r>
              <a:rPr lang="en-US" sz="1500" b="1" dirty="0">
                <a:solidFill>
                  <a:schemeClr val="tx2"/>
                </a:solidFill>
              </a:rPr>
              <a:t>Excellence</a:t>
            </a:r>
            <a:endParaRPr lang="en-US" sz="1500" dirty="0"/>
          </a:p>
        </p:txBody>
      </p:sp>
      <p:sp>
        <p:nvSpPr>
          <p:cNvPr id="9" name="c2_v1"/>
          <p:cNvSpPr/>
          <p:nvPr/>
        </p:nvSpPr>
        <p:spPr>
          <a:xfrm>
            <a:off x="3383280" y="3657600"/>
            <a:ext cx="2606040" cy="731520"/>
          </a:xfrm>
          <a:prstGeom prst="roundRect">
            <a:avLst>
              <a:gd name="adj" fmla="val 50000"/>
            </a:avLst>
          </a:prstGeom>
          <a:solidFill>
            <a:schemeClr val="bg1"/>
          </a:solidFill>
          <a:ln w="15875">
            <a:solidFill>
              <a:schemeClr val="tx2"/>
            </a:solidFill>
            <a:prstDash val="solid"/>
          </a:ln>
        </p:spPr>
      </p:sp>
      <p:sp>
        <p:nvSpPr>
          <p:cNvPr id="10" name="c2_vt1"/>
          <p:cNvSpPr txBox="1"/>
          <p:nvPr/>
        </p:nvSpPr>
        <p:spPr>
          <a:xfrm>
            <a:off x="3383280" y="3657600"/>
            <a:ext cx="2606040" cy="731520"/>
          </a:xfrm>
          <a:prstGeom prst="rect">
            <a:avLst/>
          </a:prstGeom>
          <a:noFill/>
          <a:ln/>
        </p:spPr>
        <p:txBody>
          <a:bodyPr wrap="square" lIns="0" tIns="0" rIns="0" bIns="0" rtlCol="0" anchor="ctr"/>
          <a:lstStyle/>
          <a:p>
            <a:pPr algn="ctr" indent="0" marL="0">
              <a:buNone/>
            </a:pPr>
            <a:r>
              <a:rPr lang="en-US" sz="1500" b="1" dirty="0">
                <a:solidFill>
                  <a:schemeClr val="tx2"/>
                </a:solidFill>
              </a:rPr>
              <a:t>Innovation</a:t>
            </a:r>
            <a:endParaRPr lang="en-US" sz="1500" dirty="0"/>
          </a:p>
        </p:txBody>
      </p:sp>
      <p:sp>
        <p:nvSpPr>
          <p:cNvPr id="11" name="c2_v2"/>
          <p:cNvSpPr/>
          <p:nvPr/>
        </p:nvSpPr>
        <p:spPr>
          <a:xfrm>
            <a:off x="6217920" y="3657600"/>
            <a:ext cx="2606040" cy="731520"/>
          </a:xfrm>
          <a:prstGeom prst="roundRect">
            <a:avLst>
              <a:gd name="adj" fmla="val 50000"/>
            </a:avLst>
          </a:prstGeom>
          <a:solidFill>
            <a:schemeClr val="bg1"/>
          </a:solidFill>
          <a:ln w="15875">
            <a:solidFill>
              <a:schemeClr val="tx2"/>
            </a:solidFill>
            <a:prstDash val="solid"/>
          </a:ln>
        </p:spPr>
      </p:sp>
      <p:sp>
        <p:nvSpPr>
          <p:cNvPr id="12" name="c2_vt2"/>
          <p:cNvSpPr txBox="1"/>
          <p:nvPr/>
        </p:nvSpPr>
        <p:spPr>
          <a:xfrm>
            <a:off x="6217920" y="3657600"/>
            <a:ext cx="2606040" cy="731520"/>
          </a:xfrm>
          <a:prstGeom prst="rect">
            <a:avLst/>
          </a:prstGeom>
          <a:noFill/>
          <a:ln/>
        </p:spPr>
        <p:txBody>
          <a:bodyPr wrap="square" lIns="0" tIns="0" rIns="0" bIns="0" rtlCol="0" anchor="ctr"/>
          <a:lstStyle/>
          <a:p>
            <a:pPr algn="ctr" indent="0" marL="0">
              <a:buNone/>
            </a:pPr>
            <a:r>
              <a:rPr lang="en-US" sz="1500" b="1" dirty="0">
                <a:solidFill>
                  <a:schemeClr val="tx2"/>
                </a:solidFill>
              </a:rPr>
              <a:t>Discipline</a:t>
            </a:r>
            <a:endParaRPr lang="en-US" sz="1500" dirty="0"/>
          </a:p>
        </p:txBody>
      </p:sp>
      <p:sp>
        <p:nvSpPr>
          <p:cNvPr id="13" name="c2_v3"/>
          <p:cNvSpPr/>
          <p:nvPr/>
        </p:nvSpPr>
        <p:spPr>
          <a:xfrm>
            <a:off x="9052560" y="3657600"/>
            <a:ext cx="2606040" cy="731520"/>
          </a:xfrm>
          <a:prstGeom prst="roundRect">
            <a:avLst>
              <a:gd name="adj" fmla="val 50000"/>
            </a:avLst>
          </a:prstGeom>
          <a:solidFill>
            <a:schemeClr val="bg1"/>
          </a:solidFill>
          <a:ln w="15875">
            <a:solidFill>
              <a:schemeClr val="tx2"/>
            </a:solidFill>
            <a:prstDash val="solid"/>
          </a:ln>
        </p:spPr>
      </p:sp>
      <p:sp>
        <p:nvSpPr>
          <p:cNvPr id="14" name="c2_vt3"/>
          <p:cNvSpPr txBox="1"/>
          <p:nvPr/>
        </p:nvSpPr>
        <p:spPr>
          <a:xfrm>
            <a:off x="9052560" y="3657600"/>
            <a:ext cx="2606040" cy="731520"/>
          </a:xfrm>
          <a:prstGeom prst="rect">
            <a:avLst/>
          </a:prstGeom>
          <a:noFill/>
          <a:ln/>
        </p:spPr>
        <p:txBody>
          <a:bodyPr wrap="square" lIns="0" tIns="0" rIns="0" bIns="0" rtlCol="0" anchor="ctr"/>
          <a:lstStyle/>
          <a:p>
            <a:pPr algn="ctr" indent="0" marL="0">
              <a:buNone/>
            </a:pPr>
            <a:r>
              <a:rPr lang="en-US" sz="1500" b="1" dirty="0">
                <a:solidFill>
                  <a:schemeClr val="tx2"/>
                </a:solidFill>
              </a:rPr>
              <a:t>Performance</a:t>
            </a:r>
            <a:endParaRPr lang="en-US" sz="1500" dirty="0"/>
          </a:p>
        </p:txBody>
      </p:sp>
      <p:sp>
        <p:nvSpPr>
          <p:cNvPr id="15" name="c2_v4"/>
          <p:cNvSpPr/>
          <p:nvPr/>
        </p:nvSpPr>
        <p:spPr>
          <a:xfrm>
            <a:off x="548640" y="4663440"/>
            <a:ext cx="2606040" cy="731520"/>
          </a:xfrm>
          <a:prstGeom prst="roundRect">
            <a:avLst>
              <a:gd name="adj" fmla="val 50000"/>
            </a:avLst>
          </a:prstGeom>
          <a:solidFill>
            <a:schemeClr val="bg1"/>
          </a:solidFill>
          <a:ln w="15875">
            <a:solidFill>
              <a:schemeClr val="tx2"/>
            </a:solidFill>
            <a:prstDash val="solid"/>
          </a:ln>
        </p:spPr>
      </p:sp>
      <p:sp>
        <p:nvSpPr>
          <p:cNvPr id="16" name="c2_vt4"/>
          <p:cNvSpPr txBox="1"/>
          <p:nvPr/>
        </p:nvSpPr>
        <p:spPr>
          <a:xfrm>
            <a:off x="548640" y="4663440"/>
            <a:ext cx="2606040" cy="731520"/>
          </a:xfrm>
          <a:prstGeom prst="rect">
            <a:avLst/>
          </a:prstGeom>
          <a:noFill/>
          <a:ln/>
        </p:spPr>
        <p:txBody>
          <a:bodyPr wrap="square" lIns="0" tIns="0" rIns="0" bIns="0" rtlCol="0" anchor="ctr"/>
          <a:lstStyle/>
          <a:p>
            <a:pPr algn="ctr" indent="0" marL="0">
              <a:buNone/>
            </a:pPr>
            <a:r>
              <a:rPr lang="en-US" sz="1500" b="1" dirty="0">
                <a:solidFill>
                  <a:schemeClr val="tx2"/>
                </a:solidFill>
              </a:rPr>
              <a:t>Respect</a:t>
            </a:r>
            <a:endParaRPr lang="en-US" sz="1500" dirty="0"/>
          </a:p>
        </p:txBody>
      </p:sp>
      <p:sp>
        <p:nvSpPr>
          <p:cNvPr id="17" name="c2_v5"/>
          <p:cNvSpPr/>
          <p:nvPr/>
        </p:nvSpPr>
        <p:spPr>
          <a:xfrm>
            <a:off x="3383280" y="4663440"/>
            <a:ext cx="2606040" cy="731520"/>
          </a:xfrm>
          <a:prstGeom prst="roundRect">
            <a:avLst>
              <a:gd name="adj" fmla="val 50000"/>
            </a:avLst>
          </a:prstGeom>
          <a:solidFill>
            <a:schemeClr val="bg1"/>
          </a:solidFill>
          <a:ln w="15875">
            <a:solidFill>
              <a:schemeClr val="tx2"/>
            </a:solidFill>
            <a:prstDash val="solid"/>
          </a:ln>
        </p:spPr>
      </p:sp>
      <p:sp>
        <p:nvSpPr>
          <p:cNvPr id="18" name="c2_vt5"/>
          <p:cNvSpPr txBox="1"/>
          <p:nvPr/>
        </p:nvSpPr>
        <p:spPr>
          <a:xfrm>
            <a:off x="3383280" y="4663440"/>
            <a:ext cx="2606040" cy="731520"/>
          </a:xfrm>
          <a:prstGeom prst="rect">
            <a:avLst/>
          </a:prstGeom>
          <a:noFill/>
          <a:ln/>
        </p:spPr>
        <p:txBody>
          <a:bodyPr wrap="square" lIns="0" tIns="0" rIns="0" bIns="0" rtlCol="0" anchor="ctr"/>
          <a:lstStyle/>
          <a:p>
            <a:pPr algn="ctr" indent="0" marL="0">
              <a:buNone/>
            </a:pPr>
            <a:r>
              <a:rPr lang="en-US" sz="1500" b="1" dirty="0">
                <a:solidFill>
                  <a:schemeClr val="tx2"/>
                </a:solidFill>
              </a:rPr>
              <a:t>Professionnalisme</a:t>
            </a:r>
            <a:endParaRPr lang="en-US" sz="1500" dirty="0"/>
          </a:p>
        </p:txBody>
      </p:sp>
      <p:sp>
        <p:nvSpPr>
          <p:cNvPr id="19" name="c2_v6"/>
          <p:cNvSpPr/>
          <p:nvPr/>
        </p:nvSpPr>
        <p:spPr>
          <a:xfrm>
            <a:off x="6217920" y="4663440"/>
            <a:ext cx="2606040" cy="731520"/>
          </a:xfrm>
          <a:prstGeom prst="roundRect">
            <a:avLst>
              <a:gd name="adj" fmla="val 50000"/>
            </a:avLst>
          </a:prstGeom>
          <a:solidFill>
            <a:schemeClr val="bg1"/>
          </a:solidFill>
          <a:ln w="15875">
            <a:solidFill>
              <a:schemeClr val="tx2"/>
            </a:solidFill>
            <a:prstDash val="solid"/>
          </a:ln>
        </p:spPr>
      </p:sp>
      <p:sp>
        <p:nvSpPr>
          <p:cNvPr id="20" name="c2_vt6"/>
          <p:cNvSpPr txBox="1"/>
          <p:nvPr/>
        </p:nvSpPr>
        <p:spPr>
          <a:xfrm>
            <a:off x="6217920" y="4663440"/>
            <a:ext cx="2606040" cy="731520"/>
          </a:xfrm>
          <a:prstGeom prst="rect">
            <a:avLst/>
          </a:prstGeom>
          <a:noFill/>
          <a:ln/>
        </p:spPr>
        <p:txBody>
          <a:bodyPr wrap="square" lIns="0" tIns="0" rIns="0" bIns="0" rtlCol="0" anchor="ctr"/>
          <a:lstStyle/>
          <a:p>
            <a:pPr algn="ctr" indent="0" marL="0">
              <a:buNone/>
            </a:pPr>
            <a:r>
              <a:rPr lang="en-US" sz="1500" b="1" dirty="0">
                <a:solidFill>
                  <a:schemeClr val="tx2"/>
                </a:solidFill>
              </a:rPr>
              <a:t>Bien-être</a:t>
            </a:r>
            <a:endParaRPr lang="en-US" sz="1500" dirty="0"/>
          </a:p>
        </p:txBody>
      </p:sp>
      <p:sp>
        <p:nvSpPr>
          <p:cNvPr id="21" name="c2_v7"/>
          <p:cNvSpPr/>
          <p:nvPr/>
        </p:nvSpPr>
        <p:spPr>
          <a:xfrm>
            <a:off x="9052560" y="4663440"/>
            <a:ext cx="2606040" cy="731520"/>
          </a:xfrm>
          <a:prstGeom prst="roundRect">
            <a:avLst>
              <a:gd name="adj" fmla="val 50000"/>
            </a:avLst>
          </a:prstGeom>
          <a:solidFill>
            <a:schemeClr val="bg1"/>
          </a:solidFill>
          <a:ln w="15875">
            <a:solidFill>
              <a:schemeClr val="tx2"/>
            </a:solidFill>
            <a:prstDash val="solid"/>
          </a:ln>
        </p:spPr>
      </p:sp>
      <p:sp>
        <p:nvSpPr>
          <p:cNvPr id="22" name="c2_vt7"/>
          <p:cNvSpPr txBox="1"/>
          <p:nvPr/>
        </p:nvSpPr>
        <p:spPr>
          <a:xfrm>
            <a:off x="9052560" y="4663440"/>
            <a:ext cx="2606040" cy="731520"/>
          </a:xfrm>
          <a:prstGeom prst="rect">
            <a:avLst/>
          </a:prstGeom>
          <a:noFill/>
          <a:ln/>
        </p:spPr>
        <p:txBody>
          <a:bodyPr wrap="square" lIns="0" tIns="0" rIns="0" bIns="0" rtlCol="0" anchor="ctr"/>
          <a:lstStyle/>
          <a:p>
            <a:pPr algn="ctr" indent="0" marL="0">
              <a:buNone/>
            </a:pPr>
            <a:r>
              <a:rPr lang="en-US" sz="1500" b="1" dirty="0">
                <a:solidFill>
                  <a:schemeClr val="tx2"/>
                </a:solidFill>
              </a:rPr>
              <a:t>Santé et esprit d'équipe</a:t>
            </a:r>
            <a:endParaRPr lang="en-US" sz="15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027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0278"/>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anim calcmode="lin" valueType="num">
                                      <p:cBhvr>
                                        <p:cTn id="77" dur="500" decel="100000" fill="hold"/>
                                        <p:tgtEl>
                                          <p:spTgt spid="16"/>
                                        </p:tgtEl>
                                        <p:attrNameLst>
                                          <p:attrName>ppt_x</p:attrName>
                                        </p:attrNameLst>
                                      </p:cBhvr>
                                      <p:tavLst>
                                        <p:tav tm="0">
                                          <p:val>
                                            <p:strVal val="#ppt_x"/>
                                          </p:val>
                                        </p:tav>
                                        <p:tav tm="100000">
                                          <p:val>
                                            <p:strVal val="#ppt_x"/>
                                          </p:val>
                                        </p:tav>
                                      </p:tavLst>
                                    </p:anim>
                                    <p:anim calcmode="lin" valueType="num">
                                      <p:cBhvr>
                                        <p:cTn id="78" dur="500" decel="100000" fill="hold"/>
                                        <p:tgtEl>
                                          <p:spTgt spid="16"/>
                                        </p:tgtEl>
                                        <p:attrNameLst>
                                          <p:attrName>ppt_y</p:attrName>
                                        </p:attrNameLst>
                                      </p:cBhvr>
                                      <p:tavLst>
                                        <p:tav tm="0">
                                          <p:val>
                                            <p:strVal val="#ppt_y+0.0278"/>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anim calcmode="lin" valueType="num">
                                      <p:cBhvr>
                                        <p:cTn id="82" dur="500" decel="100000" fill="hold"/>
                                        <p:tgtEl>
                                          <p:spTgt spid="17"/>
                                        </p:tgtEl>
                                        <p:attrNameLst>
                                          <p:attrName>ppt_x</p:attrName>
                                        </p:attrNameLst>
                                      </p:cBhvr>
                                      <p:tavLst>
                                        <p:tav tm="0">
                                          <p:val>
                                            <p:strVal val="#ppt_x"/>
                                          </p:val>
                                        </p:tav>
                                        <p:tav tm="100000">
                                          <p:val>
                                            <p:strVal val="#ppt_x"/>
                                          </p:val>
                                        </p:tav>
                                      </p:tavLst>
                                    </p:anim>
                                    <p:anim calcmode="lin" valueType="num">
                                      <p:cBhvr>
                                        <p:cTn id="83" dur="500" decel="100000" fill="hold"/>
                                        <p:tgtEl>
                                          <p:spTgt spid="17"/>
                                        </p:tgtEl>
                                        <p:attrNameLst>
                                          <p:attrName>ppt_y</p:attrName>
                                        </p:attrNameLst>
                                      </p:cBhvr>
                                      <p:tavLst>
                                        <p:tav tm="0">
                                          <p:val>
                                            <p:strVal val="#ppt_y+0.0278"/>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500"/>
                                        <p:tgtEl>
                                          <p:spTgt spid="18"/>
                                        </p:tgtEl>
                                      </p:cBhvr>
                                    </p:animEffect>
                                    <p:anim calcmode="lin" valueType="num">
                                      <p:cBhvr>
                                        <p:cTn id="87" dur="500" decel="100000" fill="hold"/>
                                        <p:tgtEl>
                                          <p:spTgt spid="18"/>
                                        </p:tgtEl>
                                        <p:attrNameLst>
                                          <p:attrName>ppt_x</p:attrName>
                                        </p:attrNameLst>
                                      </p:cBhvr>
                                      <p:tavLst>
                                        <p:tav tm="0">
                                          <p:val>
                                            <p:strVal val="#ppt_x"/>
                                          </p:val>
                                        </p:tav>
                                        <p:tav tm="100000">
                                          <p:val>
                                            <p:strVal val="#ppt_x"/>
                                          </p:val>
                                        </p:tav>
                                      </p:tavLst>
                                    </p:anim>
                                    <p:anim calcmode="lin" valueType="num">
                                      <p:cBhvr>
                                        <p:cTn id="88" dur="500" decel="100000" fill="hold"/>
                                        <p:tgtEl>
                                          <p:spTgt spid="18"/>
                                        </p:tgtEl>
                                        <p:attrNameLst>
                                          <p:attrName>ppt_y</p:attrName>
                                        </p:attrNameLst>
                                      </p:cBhvr>
                                      <p:tavLst>
                                        <p:tav tm="0">
                                          <p:val>
                                            <p:strVal val="#ppt_y+0.0278"/>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500"/>
                                        <p:tgtEl>
                                          <p:spTgt spid="19"/>
                                        </p:tgtEl>
                                      </p:cBhvr>
                                    </p:animEffect>
                                    <p:anim calcmode="lin" valueType="num">
                                      <p:cBhvr>
                                        <p:cTn id="92" dur="500" decel="100000" fill="hold"/>
                                        <p:tgtEl>
                                          <p:spTgt spid="19"/>
                                        </p:tgtEl>
                                        <p:attrNameLst>
                                          <p:attrName>ppt_x</p:attrName>
                                        </p:attrNameLst>
                                      </p:cBhvr>
                                      <p:tavLst>
                                        <p:tav tm="0">
                                          <p:val>
                                            <p:strVal val="#ppt_x"/>
                                          </p:val>
                                        </p:tav>
                                        <p:tav tm="100000">
                                          <p:val>
                                            <p:strVal val="#ppt_x"/>
                                          </p:val>
                                        </p:tav>
                                      </p:tavLst>
                                    </p:anim>
                                    <p:anim calcmode="lin" valueType="num">
                                      <p:cBhvr>
                                        <p:cTn id="93" dur="500" decel="100000" fill="hold"/>
                                        <p:tgtEl>
                                          <p:spTgt spid="19"/>
                                        </p:tgtEl>
                                        <p:attrNameLst>
                                          <p:attrName>ppt_y</p:attrName>
                                        </p:attrNameLst>
                                      </p:cBhvr>
                                      <p:tavLst>
                                        <p:tav tm="0">
                                          <p:val>
                                            <p:strVal val="#ppt_y+0.0278"/>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anim calcmode="lin" valueType="num">
                                      <p:cBhvr>
                                        <p:cTn id="97" dur="500" decel="100000" fill="hold"/>
                                        <p:tgtEl>
                                          <p:spTgt spid="20"/>
                                        </p:tgtEl>
                                        <p:attrNameLst>
                                          <p:attrName>ppt_x</p:attrName>
                                        </p:attrNameLst>
                                      </p:cBhvr>
                                      <p:tavLst>
                                        <p:tav tm="0">
                                          <p:val>
                                            <p:strVal val="#ppt_x"/>
                                          </p:val>
                                        </p:tav>
                                        <p:tav tm="100000">
                                          <p:val>
                                            <p:strVal val="#ppt_x"/>
                                          </p:val>
                                        </p:tav>
                                      </p:tavLst>
                                    </p:anim>
                                    <p:anim calcmode="lin" valueType="num">
                                      <p:cBhvr>
                                        <p:cTn id="98" dur="500" decel="100000" fill="hold"/>
                                        <p:tgtEl>
                                          <p:spTgt spid="20"/>
                                        </p:tgtEl>
                                        <p:attrNameLst>
                                          <p:attrName>ppt_y</p:attrName>
                                        </p:attrNameLst>
                                      </p:cBhvr>
                                      <p:tavLst>
                                        <p:tav tm="0">
                                          <p:val>
                                            <p:strVal val="#ppt_y+0.0278"/>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anim calcmode="lin" valueType="num">
                                      <p:cBhvr>
                                        <p:cTn id="102" dur="500" decel="100000" fill="hold"/>
                                        <p:tgtEl>
                                          <p:spTgt spid="21"/>
                                        </p:tgtEl>
                                        <p:attrNameLst>
                                          <p:attrName>ppt_x</p:attrName>
                                        </p:attrNameLst>
                                      </p:cBhvr>
                                      <p:tavLst>
                                        <p:tav tm="0">
                                          <p:val>
                                            <p:strVal val="#ppt_x"/>
                                          </p:val>
                                        </p:tav>
                                        <p:tav tm="100000">
                                          <p:val>
                                            <p:strVal val="#ppt_x"/>
                                          </p:val>
                                        </p:tav>
                                      </p:tavLst>
                                    </p:anim>
                                    <p:anim calcmode="lin" valueType="num">
                                      <p:cBhvr>
                                        <p:cTn id="103" dur="500" decel="100000" fill="hold"/>
                                        <p:tgtEl>
                                          <p:spTgt spid="21"/>
                                        </p:tgtEl>
                                        <p:attrNameLst>
                                          <p:attrName>ppt_y</p:attrName>
                                        </p:attrNameLst>
                                      </p:cBhvr>
                                      <p:tavLst>
                                        <p:tav tm="0">
                                          <p:val>
                                            <p:strVal val="#ppt_y+0.0278"/>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500"/>
                                        <p:tgtEl>
                                          <p:spTgt spid="22"/>
                                        </p:tgtEl>
                                      </p:cBhvr>
                                    </p:animEffect>
                                    <p:anim calcmode="lin" valueType="num">
                                      <p:cBhvr>
                                        <p:cTn id="107" dur="500" decel="100000" fill="hold"/>
                                        <p:tgtEl>
                                          <p:spTgt spid="22"/>
                                        </p:tgtEl>
                                        <p:attrNameLst>
                                          <p:attrName>ppt_x</p:attrName>
                                        </p:attrNameLst>
                                      </p:cBhvr>
                                      <p:tavLst>
                                        <p:tav tm="0">
                                          <p:val>
                                            <p:strVal val="#ppt_x"/>
                                          </p:val>
                                        </p:tav>
                                        <p:tav tm="100000">
                                          <p:val>
                                            <p:strVal val="#ppt_x"/>
                                          </p:val>
                                        </p:tav>
                                      </p:tavLst>
                                    </p:anim>
                                    <p:anim calcmode="lin" valueType="num">
                                      <p:cBhvr>
                                        <p:cTn id="108" dur="500" decel="100000" fill="hold"/>
                                        <p:tgtEl>
                                          <p:spTgt spid="22"/>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animBg="1"/>
      <p:bldP spid="8" grpId="0"/>
      <p:bldP spid="9" grpId="0" animBg="1"/>
      <p:bldP spid="10" grpId="0"/>
      <p:bldP spid="11" grpId="0" animBg="1"/>
      <p:bldP spid="12" grpId="0"/>
      <p:bldP spid="13" grpId="0" animBg="1"/>
      <p:bldP spid="14" grpId="0"/>
      <p:bldP spid="15" grpId="0" animBg="1"/>
      <p:bldP spid="16" grpId="0"/>
      <p:bldP spid="17" grpId="0" animBg="1"/>
      <p:bldP spid="18" grpId="0"/>
      <p:bldP spid="19" grpId="0" animBg="1"/>
      <p:bldP spid="20" grpId="0"/>
      <p:bldP spid="21" grpId="0" animBg="1"/>
      <p:bldP spid="22" grpId="0"/>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Une présence numérique déjà active</a:t>
            </a:r>
            <a:endParaRPr lang="en-US" sz="2800" dirty="0"/>
          </a:p>
        </p:txBody>
      </p:sp>
      <p:sp>
        <p:nvSpPr>
          <p:cNvPr id="4" name="c1_n0"/>
          <p:cNvSpPr txBox="1"/>
          <p:nvPr/>
        </p:nvSpPr>
        <p:spPr>
          <a:xfrm>
            <a:off x="548640" y="1783080"/>
            <a:ext cx="2514600" cy="822960"/>
          </a:xfrm>
          <a:prstGeom prst="rect">
            <a:avLst/>
          </a:prstGeom>
          <a:noFill/>
          <a:ln/>
        </p:spPr>
        <p:txBody>
          <a:bodyPr wrap="square" lIns="0" tIns="0" rIns="0" bIns="0" rtlCol="0" anchor="ctr"/>
          <a:lstStyle/>
          <a:p>
            <a:pPr indent="0" marL="0">
              <a:buNone/>
            </a:pPr>
            <a:r>
              <a:rPr lang="en-US" sz="4000" b="1" dirty="0">
                <a:solidFill>
                  <a:schemeClr val="accent1"/>
                </a:solidFill>
              </a:rPr>
              <a:t>≈ 1 300</a:t>
            </a:r>
            <a:endParaRPr lang="en-US" sz="4000" dirty="0"/>
          </a:p>
        </p:txBody>
      </p:sp>
      <p:sp>
        <p:nvSpPr>
          <p:cNvPr id="5" name="c1_l0"/>
          <p:cNvSpPr txBox="1"/>
          <p:nvPr/>
        </p:nvSpPr>
        <p:spPr>
          <a:xfrm>
            <a:off x="3154680" y="1783080"/>
            <a:ext cx="2103120" cy="822960"/>
          </a:xfrm>
          <a:prstGeom prst="rect">
            <a:avLst/>
          </a:prstGeom>
          <a:noFill/>
          <a:ln/>
        </p:spPr>
        <p:txBody>
          <a:bodyPr wrap="square" lIns="0" tIns="0" rIns="0" bIns="0" rtlCol="0" anchor="ctr"/>
          <a:lstStyle/>
          <a:p>
            <a:pPr indent="0" marL="0">
              <a:buNone/>
            </a:pPr>
            <a:r>
              <a:rPr lang="en-US" sz="1500" dirty="0">
                <a:solidFill>
                  <a:schemeClr val="tx1"/>
                </a:solidFill>
              </a:rPr>
              <a:t>abonnés Facebook</a:t>
            </a:r>
            <a:endParaRPr lang="en-US" sz="1500" dirty="0"/>
          </a:p>
        </p:txBody>
      </p:sp>
      <p:sp>
        <p:nvSpPr>
          <p:cNvPr id="6" name="c1_n1"/>
          <p:cNvSpPr txBox="1"/>
          <p:nvPr/>
        </p:nvSpPr>
        <p:spPr>
          <a:xfrm>
            <a:off x="548640" y="3154680"/>
            <a:ext cx="2514600" cy="822960"/>
          </a:xfrm>
          <a:prstGeom prst="rect">
            <a:avLst/>
          </a:prstGeom>
          <a:noFill/>
          <a:ln/>
        </p:spPr>
        <p:txBody>
          <a:bodyPr wrap="square" lIns="0" tIns="0" rIns="0" bIns="0" rtlCol="0" anchor="ctr"/>
          <a:lstStyle/>
          <a:p>
            <a:pPr indent="0" marL="0">
              <a:buNone/>
            </a:pPr>
            <a:r>
              <a:rPr lang="en-US" sz="4000" b="1" dirty="0">
                <a:solidFill>
                  <a:schemeClr val="accent1"/>
                </a:solidFill>
              </a:rPr>
              <a:t>5 414</a:t>
            </a:r>
            <a:endParaRPr lang="en-US" sz="4000" dirty="0"/>
          </a:p>
        </p:txBody>
      </p:sp>
      <p:sp>
        <p:nvSpPr>
          <p:cNvPr id="7" name="c1_l1"/>
          <p:cNvSpPr txBox="1"/>
          <p:nvPr/>
        </p:nvSpPr>
        <p:spPr>
          <a:xfrm>
            <a:off x="3154680" y="3154680"/>
            <a:ext cx="2103120" cy="822960"/>
          </a:xfrm>
          <a:prstGeom prst="rect">
            <a:avLst/>
          </a:prstGeom>
          <a:noFill/>
          <a:ln/>
        </p:spPr>
        <p:txBody>
          <a:bodyPr wrap="square" lIns="0" tIns="0" rIns="0" bIns="0" rtlCol="0" anchor="ctr"/>
          <a:lstStyle/>
          <a:p>
            <a:pPr indent="0" marL="0">
              <a:buNone/>
            </a:pPr>
            <a:r>
              <a:rPr lang="en-US" sz="1500" dirty="0">
                <a:solidFill>
                  <a:schemeClr val="tx1"/>
                </a:solidFill>
              </a:rPr>
              <a:t>abonnés TikTok</a:t>
            </a:r>
            <a:endParaRPr lang="en-US" sz="1500" dirty="0"/>
          </a:p>
        </p:txBody>
      </p:sp>
      <p:sp>
        <p:nvSpPr>
          <p:cNvPr id="8" name="c1_n2"/>
          <p:cNvSpPr txBox="1"/>
          <p:nvPr/>
        </p:nvSpPr>
        <p:spPr>
          <a:xfrm>
            <a:off x="548640" y="4526280"/>
            <a:ext cx="2514600" cy="822960"/>
          </a:xfrm>
          <a:prstGeom prst="rect">
            <a:avLst/>
          </a:prstGeom>
          <a:noFill/>
          <a:ln/>
        </p:spPr>
        <p:txBody>
          <a:bodyPr wrap="square" lIns="0" tIns="0" rIns="0" bIns="0" rtlCol="0" anchor="ctr"/>
          <a:lstStyle/>
          <a:p>
            <a:pPr indent="0" marL="0">
              <a:buNone/>
            </a:pPr>
            <a:r>
              <a:rPr lang="en-US" sz="4000" b="1" dirty="0">
                <a:solidFill>
                  <a:schemeClr val="accent1"/>
                </a:solidFill>
              </a:rPr>
              <a:t>27 900</a:t>
            </a:r>
            <a:endParaRPr lang="en-US" sz="4000" dirty="0"/>
          </a:p>
        </p:txBody>
      </p:sp>
      <p:sp>
        <p:nvSpPr>
          <p:cNvPr id="9" name="c1_l2"/>
          <p:cNvSpPr txBox="1"/>
          <p:nvPr/>
        </p:nvSpPr>
        <p:spPr>
          <a:xfrm>
            <a:off x="3154680" y="4526280"/>
            <a:ext cx="2103120" cy="822960"/>
          </a:xfrm>
          <a:prstGeom prst="rect">
            <a:avLst/>
          </a:prstGeom>
          <a:noFill/>
          <a:ln/>
        </p:spPr>
        <p:txBody>
          <a:bodyPr wrap="square" lIns="0" tIns="0" rIns="0" bIns="0" rtlCol="0" anchor="ctr"/>
          <a:lstStyle/>
          <a:p>
            <a:pPr indent="0" marL="0">
              <a:buNone/>
            </a:pPr>
            <a:r>
              <a:rPr lang="en-US" sz="1500" dirty="0">
                <a:solidFill>
                  <a:schemeClr val="tx1"/>
                </a:solidFill>
              </a:rPr>
              <a:t>mentions « J'aime » TikTok</a:t>
            </a:r>
            <a:endParaRPr lang="en-US" sz="1500" dirty="0"/>
          </a:p>
        </p:txBody>
      </p:sp>
      <p:pic>
        <p:nvPicPr>
          <p:cNvPr id="10" name="c2_tk" descr="/tmp/claude-0/-home-user-HANDY/4ddfdd3d-c678-5164-8991-be3c6152a069/scratchpad/assets/tiktok.png">    </p:cNvPr>
          <p:cNvPicPr>
            <a:picLocks noChangeAspect="1"/>
          </p:cNvPicPr>
          <p:nvPr/>
        </p:nvPicPr>
        <p:blipFill>
          <a:blip r:embed="rId1"/>
          <a:stretch>
            <a:fillRect/>
          </a:stretch>
        </p:blipFill>
        <p:spPr>
          <a:xfrm>
            <a:off x="5623560" y="1937681"/>
            <a:ext cx="2926080" cy="3668437"/>
          </a:xfrm>
          <a:prstGeom prst="rect">
            <a:avLst/>
          </a:prstGeom>
          <a:effectLst>
            <a:outerShdw sx="100000" sy="100000" kx="0" ky="0" algn="bl" rotWithShape="0" blurRad="127000" dist="25400" dir="5400000">
              <a:srgbClr val="000000">
                <a:alpha val="16000"/>
              </a:srgbClr>
            </a:outerShdw>
          </a:effectLst>
        </p:spPr>
      </p:pic>
      <p:pic>
        <p:nvPicPr>
          <p:cNvPr id="11" name="c2_fb" descr="/tmp/claude-0/-home-user-HANDY/4ddfdd3d-c678-5164-8991-be3c6152a069/scratchpad/assets/facebook.png">    </p:cNvPr>
          <p:cNvPicPr>
            <a:picLocks noChangeAspect="1"/>
          </p:cNvPicPr>
          <p:nvPr/>
        </p:nvPicPr>
        <p:blipFill>
          <a:blip r:embed="rId2"/>
          <a:stretch>
            <a:fillRect/>
          </a:stretch>
        </p:blipFill>
        <p:spPr>
          <a:xfrm>
            <a:off x="8714232" y="1932263"/>
            <a:ext cx="2926080" cy="3679275"/>
          </a:xfrm>
          <a:prstGeom prst="rect">
            <a:avLst/>
          </a:prstGeom>
          <a:effectLst>
            <a:outerShdw sx="100000" sy="100000" kx="0" ky="0" algn="bl" rotWithShape="0" blurRad="127000" dist="25400" dir="5400000">
              <a:srgbClr val="000000">
                <a:alpha val="16000"/>
              </a:srgbClr>
            </a:outerShdw>
          </a:effectLst>
        </p:spPr>
      </p:pic>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0278"/>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p:bldP spid="7" grpId="0"/>
      <p:bldP spid="8" grpId="0"/>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Critique de l'existant</a:t>
            </a:r>
            <a:endParaRPr lang="en-US" sz="2800" dirty="0"/>
          </a:p>
        </p:txBody>
      </p:sp>
      <p:sp>
        <p:nvSpPr>
          <p:cNvPr id="4" name="c1_bg"/>
          <p:cNvSpPr/>
          <p:nvPr/>
        </p:nvSpPr>
        <p:spPr>
          <a:xfrm>
            <a:off x="548640" y="1645920"/>
            <a:ext cx="5440680" cy="1920240"/>
          </a:xfrm>
          <a:prstGeom prst="roundRect">
            <a:avLst>
              <a:gd name="adj" fmla="val 5714"/>
            </a:avLst>
          </a:prstGeom>
          <a:solidFill>
            <a:schemeClr val="bg2"/>
          </a:solidFill>
          <a:ln w="12700">
            <a:solidFill>
              <a:schemeClr val="bg2"/>
            </a:solidFill>
            <a:prstDash val="solid"/>
          </a:ln>
        </p:spPr>
      </p:sp>
      <p:sp>
        <p:nvSpPr>
          <p:cNvPr id="5" name="c1_ic"/>
          <p:cNvSpPr/>
          <p:nvPr/>
        </p:nvSpPr>
        <p:spPr>
          <a:xfrm>
            <a:off x="914400" y="2194560"/>
            <a:ext cx="822960" cy="822960"/>
          </a:xfrm>
          <a:prstGeom prst="ellipse">
            <a:avLst/>
          </a:prstGeom>
          <a:solidFill>
            <a:schemeClr val="bg1"/>
          </a:solidFill>
          <a:ln w="12700">
            <a:solidFill>
              <a:schemeClr val="bg1"/>
            </a:solidFill>
            <a:prstDash val="solid"/>
          </a:ln>
        </p:spPr>
      </p:sp>
      <p:pic>
        <p:nvPicPr>
          <p:cNvPr id="6" name="c1_ici" descr="preencoded.png">    </p:cNvPr>
          <p:cNvPicPr>
            <a:picLocks noChangeAspect="1"/>
          </p:cNvPicPr>
          <p:nvPr/>
        </p:nvPicPr>
        <p:blipFill>
          <a:blip r:embed="rId1"/>
          <a:stretch>
            <a:fillRect/>
          </a:stretch>
        </p:blipFill>
        <p:spPr>
          <a:xfrm>
            <a:off x="1120140" y="2400300"/>
            <a:ext cx="411480" cy="411480"/>
          </a:xfrm>
          <a:prstGeom prst="rect">
            <a:avLst/>
          </a:prstGeom>
        </p:spPr>
      </p:pic>
      <p:sp>
        <p:nvSpPr>
          <p:cNvPr id="7" name="c1_h"/>
          <p:cNvSpPr txBox="1"/>
          <p:nvPr/>
        </p:nvSpPr>
        <p:spPr>
          <a:xfrm>
            <a:off x="2011680" y="2103120"/>
            <a:ext cx="3749040" cy="457200"/>
          </a:xfrm>
          <a:prstGeom prst="rect">
            <a:avLst/>
          </a:prstGeom>
          <a:noFill/>
          <a:ln/>
        </p:spPr>
        <p:txBody>
          <a:bodyPr wrap="square" lIns="0" tIns="0" rIns="0" bIns="0" rtlCol="0" anchor="t"/>
          <a:lstStyle/>
          <a:p>
            <a:pPr indent="0" marL="0">
              <a:buNone/>
            </a:pPr>
            <a:r>
              <a:rPr lang="en-US" sz="1800" b="1" dirty="0">
                <a:solidFill>
                  <a:schemeClr val="tx1"/>
                </a:solidFill>
              </a:rPr>
              <a:t>Logo décliné hors charte</a:t>
            </a:r>
            <a:endParaRPr lang="en-US" sz="1800" dirty="0"/>
          </a:p>
        </p:txBody>
      </p:sp>
      <p:sp>
        <p:nvSpPr>
          <p:cNvPr id="8" name="c1_d"/>
          <p:cNvSpPr txBox="1"/>
          <p:nvPr/>
        </p:nvSpPr>
        <p:spPr>
          <a:xfrm>
            <a:off x="2011680" y="2606040"/>
            <a:ext cx="3749040" cy="457200"/>
          </a:xfrm>
          <a:prstGeom prst="rect">
            <a:avLst/>
          </a:prstGeom>
          <a:noFill/>
          <a:ln/>
        </p:spPr>
        <p:txBody>
          <a:bodyPr wrap="square" lIns="0" tIns="0" rIns="0" bIns="0" rtlCol="0" anchor="t"/>
          <a:lstStyle/>
          <a:p>
            <a:pPr indent="0" marL="0">
              <a:buNone/>
            </a:pPr>
            <a:r>
              <a:rPr lang="en-US" sz="1500" dirty="0">
                <a:solidFill>
                  <a:schemeClr val="accent4"/>
                </a:solidFill>
              </a:rPr>
              <a:t>Mention « DOKUI » ajoutée sous le ruban</a:t>
            </a:r>
            <a:endParaRPr lang="en-US" sz="1500" dirty="0"/>
          </a:p>
        </p:txBody>
      </p:sp>
      <p:sp>
        <p:nvSpPr>
          <p:cNvPr id="9" name="c2_bg"/>
          <p:cNvSpPr/>
          <p:nvPr/>
        </p:nvSpPr>
        <p:spPr>
          <a:xfrm>
            <a:off x="6199632" y="1645920"/>
            <a:ext cx="5440680" cy="1920240"/>
          </a:xfrm>
          <a:prstGeom prst="roundRect">
            <a:avLst>
              <a:gd name="adj" fmla="val 5714"/>
            </a:avLst>
          </a:prstGeom>
          <a:solidFill>
            <a:schemeClr val="bg2"/>
          </a:solidFill>
          <a:ln w="12700">
            <a:solidFill>
              <a:schemeClr val="bg2"/>
            </a:solidFill>
            <a:prstDash val="solid"/>
          </a:ln>
        </p:spPr>
      </p:sp>
      <p:sp>
        <p:nvSpPr>
          <p:cNvPr id="10" name="c2_ic"/>
          <p:cNvSpPr/>
          <p:nvPr/>
        </p:nvSpPr>
        <p:spPr>
          <a:xfrm>
            <a:off x="6565392" y="2194560"/>
            <a:ext cx="822960" cy="822960"/>
          </a:xfrm>
          <a:prstGeom prst="ellipse">
            <a:avLst/>
          </a:prstGeom>
          <a:solidFill>
            <a:schemeClr val="bg1"/>
          </a:solidFill>
          <a:ln w="12700">
            <a:solidFill>
              <a:schemeClr val="bg1"/>
            </a:solidFill>
            <a:prstDash val="solid"/>
          </a:ln>
        </p:spPr>
      </p:sp>
      <p:pic>
        <p:nvPicPr>
          <p:cNvPr id="11" name="c2_ici" descr="preencoded.png">    </p:cNvPr>
          <p:cNvPicPr>
            <a:picLocks noChangeAspect="1"/>
          </p:cNvPicPr>
          <p:nvPr/>
        </p:nvPicPr>
        <p:blipFill>
          <a:blip r:embed="rId2"/>
          <a:stretch>
            <a:fillRect/>
          </a:stretch>
        </p:blipFill>
        <p:spPr>
          <a:xfrm>
            <a:off x="6771132" y="2400300"/>
            <a:ext cx="411480" cy="411480"/>
          </a:xfrm>
          <a:prstGeom prst="rect">
            <a:avLst/>
          </a:prstGeom>
        </p:spPr>
      </p:pic>
      <p:sp>
        <p:nvSpPr>
          <p:cNvPr id="12" name="c2_h"/>
          <p:cNvSpPr txBox="1"/>
          <p:nvPr/>
        </p:nvSpPr>
        <p:spPr>
          <a:xfrm>
            <a:off x="7662672" y="2103120"/>
            <a:ext cx="3749040" cy="457200"/>
          </a:xfrm>
          <a:prstGeom prst="rect">
            <a:avLst/>
          </a:prstGeom>
          <a:noFill/>
          <a:ln/>
        </p:spPr>
        <p:txBody>
          <a:bodyPr wrap="square" lIns="0" tIns="0" rIns="0" bIns="0" rtlCol="0" anchor="t"/>
          <a:lstStyle/>
          <a:p>
            <a:pPr indent="0" marL="0">
              <a:buNone/>
            </a:pPr>
            <a:r>
              <a:rPr lang="en-US" sz="1800" b="1" dirty="0">
                <a:solidFill>
                  <a:schemeClr val="tx1"/>
                </a:solidFill>
              </a:rPr>
              <a:t>Visuels hors charte</a:t>
            </a:r>
            <a:endParaRPr lang="en-US" sz="1800" dirty="0"/>
          </a:p>
        </p:txBody>
      </p:sp>
      <p:sp>
        <p:nvSpPr>
          <p:cNvPr id="13" name="c2_d"/>
          <p:cNvSpPr txBox="1"/>
          <p:nvPr/>
        </p:nvSpPr>
        <p:spPr>
          <a:xfrm>
            <a:off x="7662672" y="2606040"/>
            <a:ext cx="3749040" cy="457200"/>
          </a:xfrm>
          <a:prstGeom prst="rect">
            <a:avLst/>
          </a:prstGeom>
          <a:noFill/>
          <a:ln/>
        </p:spPr>
        <p:txBody>
          <a:bodyPr wrap="square" lIns="0" tIns="0" rIns="0" bIns="0" rtlCol="0" anchor="t"/>
          <a:lstStyle/>
          <a:p>
            <a:pPr indent="0" marL="0">
              <a:buNone/>
            </a:pPr>
            <a:r>
              <a:rPr lang="en-US" sz="1500" dirty="0">
                <a:solidFill>
                  <a:schemeClr val="accent4"/>
                </a:solidFill>
              </a:rPr>
              <a:t>Codes vert fluo ou marron</a:t>
            </a:r>
            <a:endParaRPr lang="en-US" sz="1500" dirty="0"/>
          </a:p>
        </p:txBody>
      </p:sp>
      <p:sp>
        <p:nvSpPr>
          <p:cNvPr id="14" name="c3_bg"/>
          <p:cNvSpPr/>
          <p:nvPr/>
        </p:nvSpPr>
        <p:spPr>
          <a:xfrm>
            <a:off x="548640" y="3840480"/>
            <a:ext cx="5440680" cy="1920240"/>
          </a:xfrm>
          <a:prstGeom prst="roundRect">
            <a:avLst>
              <a:gd name="adj" fmla="val 5714"/>
            </a:avLst>
          </a:prstGeom>
          <a:solidFill>
            <a:schemeClr val="bg2"/>
          </a:solidFill>
          <a:ln w="12700">
            <a:solidFill>
              <a:schemeClr val="bg2"/>
            </a:solidFill>
            <a:prstDash val="solid"/>
          </a:ln>
        </p:spPr>
      </p:sp>
      <p:sp>
        <p:nvSpPr>
          <p:cNvPr id="15" name="c3_ic"/>
          <p:cNvSpPr/>
          <p:nvPr/>
        </p:nvSpPr>
        <p:spPr>
          <a:xfrm>
            <a:off x="914400" y="4389120"/>
            <a:ext cx="822960" cy="822960"/>
          </a:xfrm>
          <a:prstGeom prst="ellipse">
            <a:avLst/>
          </a:prstGeom>
          <a:solidFill>
            <a:schemeClr val="bg1"/>
          </a:solidFill>
          <a:ln w="12700">
            <a:solidFill>
              <a:schemeClr val="bg1"/>
            </a:solidFill>
            <a:prstDash val="solid"/>
          </a:ln>
        </p:spPr>
      </p:sp>
      <p:pic>
        <p:nvPicPr>
          <p:cNvPr id="16" name="c3_ici" descr="preencoded.png">    </p:cNvPr>
          <p:cNvPicPr>
            <a:picLocks noChangeAspect="1"/>
          </p:cNvPicPr>
          <p:nvPr/>
        </p:nvPicPr>
        <p:blipFill>
          <a:blip r:embed="rId3"/>
          <a:stretch>
            <a:fillRect/>
          </a:stretch>
        </p:blipFill>
        <p:spPr>
          <a:xfrm>
            <a:off x="1120140" y="4594860"/>
            <a:ext cx="411480" cy="411480"/>
          </a:xfrm>
          <a:prstGeom prst="rect">
            <a:avLst/>
          </a:prstGeom>
        </p:spPr>
      </p:pic>
      <p:sp>
        <p:nvSpPr>
          <p:cNvPr id="17" name="c3_h"/>
          <p:cNvSpPr txBox="1"/>
          <p:nvPr/>
        </p:nvSpPr>
        <p:spPr>
          <a:xfrm>
            <a:off x="2011680" y="4297680"/>
            <a:ext cx="3749040" cy="457200"/>
          </a:xfrm>
          <a:prstGeom prst="rect">
            <a:avLst/>
          </a:prstGeom>
          <a:noFill/>
          <a:ln/>
        </p:spPr>
        <p:txBody>
          <a:bodyPr wrap="square" lIns="0" tIns="0" rIns="0" bIns="0" rtlCol="0" anchor="t"/>
          <a:lstStyle/>
          <a:p>
            <a:pPr indent="0" marL="0">
              <a:buNone/>
            </a:pPr>
            <a:r>
              <a:rPr lang="en-US" sz="1800" b="1" dirty="0">
                <a:solidFill>
                  <a:schemeClr val="tx1"/>
                </a:solidFill>
              </a:rPr>
              <a:t>URL non personnalisée</a:t>
            </a:r>
            <a:endParaRPr lang="en-US" sz="1800" dirty="0"/>
          </a:p>
        </p:txBody>
      </p:sp>
      <p:sp>
        <p:nvSpPr>
          <p:cNvPr id="18" name="c3_d"/>
          <p:cNvSpPr txBox="1"/>
          <p:nvPr/>
        </p:nvSpPr>
        <p:spPr>
          <a:xfrm>
            <a:off x="2011680" y="4800600"/>
            <a:ext cx="3749040" cy="457200"/>
          </a:xfrm>
          <a:prstGeom prst="rect">
            <a:avLst/>
          </a:prstGeom>
          <a:noFill/>
          <a:ln/>
        </p:spPr>
        <p:txBody>
          <a:bodyPr wrap="square" lIns="0" tIns="0" rIns="0" bIns="0" rtlCol="0" anchor="t"/>
          <a:lstStyle/>
          <a:p>
            <a:pPr indent="0" marL="0">
              <a:buNone/>
            </a:pPr>
            <a:r>
              <a:rPr lang="en-US" sz="1500" dirty="0">
                <a:solidFill>
                  <a:schemeClr val="accent4"/>
                </a:solidFill>
              </a:rPr>
              <a:t>Lien Shopify sans nom de domaine</a:t>
            </a:r>
            <a:endParaRPr lang="en-US" sz="1500" dirty="0"/>
          </a:p>
        </p:txBody>
      </p:sp>
      <p:sp>
        <p:nvSpPr>
          <p:cNvPr id="19" name="c4_bg"/>
          <p:cNvSpPr/>
          <p:nvPr/>
        </p:nvSpPr>
        <p:spPr>
          <a:xfrm>
            <a:off x="6199632" y="3840480"/>
            <a:ext cx="5440680" cy="1920240"/>
          </a:xfrm>
          <a:prstGeom prst="roundRect">
            <a:avLst>
              <a:gd name="adj" fmla="val 5714"/>
            </a:avLst>
          </a:prstGeom>
          <a:solidFill>
            <a:schemeClr val="bg2"/>
          </a:solidFill>
          <a:ln w="12700">
            <a:solidFill>
              <a:schemeClr val="bg2"/>
            </a:solidFill>
            <a:prstDash val="solid"/>
          </a:ln>
        </p:spPr>
      </p:sp>
      <p:sp>
        <p:nvSpPr>
          <p:cNvPr id="20" name="c4_ic"/>
          <p:cNvSpPr/>
          <p:nvPr/>
        </p:nvSpPr>
        <p:spPr>
          <a:xfrm>
            <a:off x="6565392" y="4389120"/>
            <a:ext cx="822960" cy="822960"/>
          </a:xfrm>
          <a:prstGeom prst="ellipse">
            <a:avLst/>
          </a:prstGeom>
          <a:solidFill>
            <a:schemeClr val="bg1"/>
          </a:solidFill>
          <a:ln w="12700">
            <a:solidFill>
              <a:schemeClr val="bg1"/>
            </a:solidFill>
            <a:prstDash val="solid"/>
          </a:ln>
        </p:spPr>
      </p:sp>
      <p:pic>
        <p:nvPicPr>
          <p:cNvPr id="21" name="c4_ici" descr="preencoded.png">    </p:cNvPr>
          <p:cNvPicPr>
            <a:picLocks noChangeAspect="1"/>
          </p:cNvPicPr>
          <p:nvPr/>
        </p:nvPicPr>
        <p:blipFill>
          <a:blip r:embed="rId4"/>
          <a:stretch>
            <a:fillRect/>
          </a:stretch>
        </p:blipFill>
        <p:spPr>
          <a:xfrm>
            <a:off x="6771132" y="4594860"/>
            <a:ext cx="411480" cy="411480"/>
          </a:xfrm>
          <a:prstGeom prst="rect">
            <a:avLst/>
          </a:prstGeom>
        </p:spPr>
      </p:pic>
      <p:sp>
        <p:nvSpPr>
          <p:cNvPr id="22" name="c4_h"/>
          <p:cNvSpPr txBox="1"/>
          <p:nvPr/>
        </p:nvSpPr>
        <p:spPr>
          <a:xfrm>
            <a:off x="7662672" y="4297680"/>
            <a:ext cx="3749040" cy="457200"/>
          </a:xfrm>
          <a:prstGeom prst="rect">
            <a:avLst/>
          </a:prstGeom>
          <a:noFill/>
          <a:ln/>
        </p:spPr>
        <p:txBody>
          <a:bodyPr wrap="square" lIns="0" tIns="0" rIns="0" bIns="0" rtlCol="0" anchor="t"/>
          <a:lstStyle/>
          <a:p>
            <a:pPr indent="0" marL="0">
              <a:buNone/>
            </a:pPr>
            <a:r>
              <a:rPr lang="en-US" sz="1800" b="1" dirty="0">
                <a:solidFill>
                  <a:schemeClr val="tx1"/>
                </a:solidFill>
              </a:rPr>
              <a:t>Ligne éditoriale confuse</a:t>
            </a:r>
            <a:endParaRPr lang="en-US" sz="1800" dirty="0"/>
          </a:p>
        </p:txBody>
      </p:sp>
      <p:sp>
        <p:nvSpPr>
          <p:cNvPr id="23" name="c4_d"/>
          <p:cNvSpPr txBox="1"/>
          <p:nvPr/>
        </p:nvSpPr>
        <p:spPr>
          <a:xfrm>
            <a:off x="7662672" y="4800600"/>
            <a:ext cx="3749040" cy="457200"/>
          </a:xfrm>
          <a:prstGeom prst="rect">
            <a:avLst/>
          </a:prstGeom>
          <a:noFill/>
          <a:ln/>
        </p:spPr>
        <p:txBody>
          <a:bodyPr wrap="square" lIns="0" tIns="0" rIns="0" bIns="0" rtlCol="0" anchor="t"/>
          <a:lstStyle/>
          <a:p>
            <a:pPr indent="0" marL="0">
              <a:buNone/>
            </a:pPr>
            <a:r>
              <a:rPr lang="en-US" sz="1500" dirty="0">
                <a:solidFill>
                  <a:schemeClr val="accent4"/>
                </a:solidFill>
              </a:rPr>
              <a:t>Sport et cosmétiques mélangés</a:t>
            </a:r>
            <a:endParaRPr lang="en-US" sz="15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anim calcmode="lin" valueType="num">
                                      <p:cBhvr>
                                        <p:cTn id="69" dur="500" decel="100000" fill="hold"/>
                                        <p:tgtEl>
                                          <p:spTgt spid="14"/>
                                        </p:tgtEl>
                                        <p:attrNameLst>
                                          <p:attrName>ppt_x</p:attrName>
                                        </p:attrNameLst>
                                      </p:cBhvr>
                                      <p:tavLst>
                                        <p:tav tm="0">
                                          <p:val>
                                            <p:strVal val="#ppt_x"/>
                                          </p:val>
                                        </p:tav>
                                        <p:tav tm="100000">
                                          <p:val>
                                            <p:strVal val="#ppt_x"/>
                                          </p:val>
                                        </p:tav>
                                      </p:tavLst>
                                    </p:anim>
                                    <p:anim calcmode="lin" valueType="num">
                                      <p:cBhvr>
                                        <p:cTn id="70" dur="500" decel="100000" fill="hold"/>
                                        <p:tgtEl>
                                          <p:spTgt spid="14"/>
                                        </p:tgtEl>
                                        <p:attrNameLst>
                                          <p:attrName>ppt_y</p:attrName>
                                        </p:attrNameLst>
                                      </p:cBhvr>
                                      <p:tavLst>
                                        <p:tav tm="0">
                                          <p:val>
                                            <p:strVal val="#ppt_y+0.027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anim calcmode="lin" valueType="num">
                                      <p:cBhvr>
                                        <p:cTn id="74" dur="500" decel="100000" fill="hold"/>
                                        <p:tgtEl>
                                          <p:spTgt spid="15"/>
                                        </p:tgtEl>
                                        <p:attrNameLst>
                                          <p:attrName>ppt_x</p:attrName>
                                        </p:attrNameLst>
                                      </p:cBhvr>
                                      <p:tavLst>
                                        <p:tav tm="0">
                                          <p:val>
                                            <p:strVal val="#ppt_x"/>
                                          </p:val>
                                        </p:tav>
                                        <p:tav tm="100000">
                                          <p:val>
                                            <p:strVal val="#ppt_x"/>
                                          </p:val>
                                        </p:tav>
                                      </p:tavLst>
                                    </p:anim>
                                    <p:anim calcmode="lin" valueType="num">
                                      <p:cBhvr>
                                        <p:cTn id="75" dur="500" decel="100000" fill="hold"/>
                                        <p:tgtEl>
                                          <p:spTgt spid="15"/>
                                        </p:tgtEl>
                                        <p:attrNameLst>
                                          <p:attrName>ppt_y</p:attrName>
                                        </p:attrNameLst>
                                      </p:cBhvr>
                                      <p:tavLst>
                                        <p:tav tm="0">
                                          <p:val>
                                            <p:strVal val="#ppt_y+0.0278"/>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anim calcmode="lin" valueType="num">
                                      <p:cBhvr>
                                        <p:cTn id="79" dur="500" decel="100000" fill="hold"/>
                                        <p:tgtEl>
                                          <p:spTgt spid="16"/>
                                        </p:tgtEl>
                                        <p:attrNameLst>
                                          <p:attrName>ppt_x</p:attrName>
                                        </p:attrNameLst>
                                      </p:cBhvr>
                                      <p:tavLst>
                                        <p:tav tm="0">
                                          <p:val>
                                            <p:strVal val="#ppt_x"/>
                                          </p:val>
                                        </p:tav>
                                        <p:tav tm="100000">
                                          <p:val>
                                            <p:strVal val="#ppt_x"/>
                                          </p:val>
                                        </p:tav>
                                      </p:tavLst>
                                    </p:anim>
                                    <p:anim calcmode="lin" valueType="num">
                                      <p:cBhvr>
                                        <p:cTn id="80" dur="500" decel="100000" fill="hold"/>
                                        <p:tgtEl>
                                          <p:spTgt spid="16"/>
                                        </p:tgtEl>
                                        <p:attrNameLst>
                                          <p:attrName>ppt_y</p:attrName>
                                        </p:attrNameLst>
                                      </p:cBhvr>
                                      <p:tavLst>
                                        <p:tav tm="0">
                                          <p:val>
                                            <p:strVal val="#ppt_y+0.0278"/>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500"/>
                                        <p:tgtEl>
                                          <p:spTgt spid="17"/>
                                        </p:tgtEl>
                                      </p:cBhvr>
                                    </p:animEffect>
                                    <p:anim calcmode="lin" valueType="num">
                                      <p:cBhvr>
                                        <p:cTn id="84" dur="500" decel="100000" fill="hold"/>
                                        <p:tgtEl>
                                          <p:spTgt spid="17"/>
                                        </p:tgtEl>
                                        <p:attrNameLst>
                                          <p:attrName>ppt_x</p:attrName>
                                        </p:attrNameLst>
                                      </p:cBhvr>
                                      <p:tavLst>
                                        <p:tav tm="0">
                                          <p:val>
                                            <p:strVal val="#ppt_x"/>
                                          </p:val>
                                        </p:tav>
                                        <p:tav tm="100000">
                                          <p:val>
                                            <p:strVal val="#ppt_x"/>
                                          </p:val>
                                        </p:tav>
                                      </p:tavLst>
                                    </p:anim>
                                    <p:anim calcmode="lin" valueType="num">
                                      <p:cBhvr>
                                        <p:cTn id="85" dur="500" decel="100000" fill="hold"/>
                                        <p:tgtEl>
                                          <p:spTgt spid="17"/>
                                        </p:tgtEl>
                                        <p:attrNameLst>
                                          <p:attrName>ppt_y</p:attrName>
                                        </p:attrNameLst>
                                      </p:cBhvr>
                                      <p:tavLst>
                                        <p:tav tm="0">
                                          <p:val>
                                            <p:strVal val="#ppt_y+0.0278"/>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500"/>
                                        <p:tgtEl>
                                          <p:spTgt spid="18"/>
                                        </p:tgtEl>
                                      </p:cBhvr>
                                    </p:animEffect>
                                    <p:anim calcmode="lin" valueType="num">
                                      <p:cBhvr>
                                        <p:cTn id="89" dur="500" decel="100000" fill="hold"/>
                                        <p:tgtEl>
                                          <p:spTgt spid="18"/>
                                        </p:tgtEl>
                                        <p:attrNameLst>
                                          <p:attrName>ppt_x</p:attrName>
                                        </p:attrNameLst>
                                      </p:cBhvr>
                                      <p:tavLst>
                                        <p:tav tm="0">
                                          <p:val>
                                            <p:strVal val="#ppt_x"/>
                                          </p:val>
                                        </p:tav>
                                        <p:tav tm="100000">
                                          <p:val>
                                            <p:strVal val="#ppt_x"/>
                                          </p:val>
                                        </p:tav>
                                      </p:tavLst>
                                    </p:anim>
                                    <p:anim calcmode="lin" valueType="num">
                                      <p:cBhvr>
                                        <p:cTn id="90" dur="500" decel="100000" fill="hold"/>
                                        <p:tgtEl>
                                          <p:spTgt spid="18"/>
                                        </p:tgtEl>
                                        <p:attrNameLst>
                                          <p:attrName>ppt_y</p:attrName>
                                        </p:attrNameLst>
                                      </p:cBhvr>
                                      <p:tavLst>
                                        <p:tav tm="0">
                                          <p:val>
                                            <p:strVal val="#ppt_y+0.0278"/>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500"/>
                                        <p:tgtEl>
                                          <p:spTgt spid="19"/>
                                        </p:tgtEl>
                                      </p:cBhvr>
                                    </p:animEffect>
                                    <p:anim calcmode="lin" valueType="num">
                                      <p:cBhvr>
                                        <p:cTn id="96" dur="500" decel="100000" fill="hold"/>
                                        <p:tgtEl>
                                          <p:spTgt spid="19"/>
                                        </p:tgtEl>
                                        <p:attrNameLst>
                                          <p:attrName>ppt_x</p:attrName>
                                        </p:attrNameLst>
                                      </p:cBhvr>
                                      <p:tavLst>
                                        <p:tav tm="0">
                                          <p:val>
                                            <p:strVal val="#ppt_x"/>
                                          </p:val>
                                        </p:tav>
                                        <p:tav tm="100000">
                                          <p:val>
                                            <p:strVal val="#ppt_x"/>
                                          </p:val>
                                        </p:tav>
                                      </p:tavLst>
                                    </p:anim>
                                    <p:anim calcmode="lin" valueType="num">
                                      <p:cBhvr>
                                        <p:cTn id="97" dur="500" decel="100000" fill="hold"/>
                                        <p:tgtEl>
                                          <p:spTgt spid="19"/>
                                        </p:tgtEl>
                                        <p:attrNameLst>
                                          <p:attrName>ppt_y</p:attrName>
                                        </p:attrNameLst>
                                      </p:cBhvr>
                                      <p:tavLst>
                                        <p:tav tm="0">
                                          <p:val>
                                            <p:strVal val="#ppt_y+0.0278"/>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fade">
                                      <p:cBhvr>
                                        <p:cTn id="100" dur="500"/>
                                        <p:tgtEl>
                                          <p:spTgt spid="20"/>
                                        </p:tgtEl>
                                      </p:cBhvr>
                                    </p:animEffect>
                                    <p:anim calcmode="lin" valueType="num">
                                      <p:cBhvr>
                                        <p:cTn id="101" dur="500" decel="100000" fill="hold"/>
                                        <p:tgtEl>
                                          <p:spTgt spid="20"/>
                                        </p:tgtEl>
                                        <p:attrNameLst>
                                          <p:attrName>ppt_x</p:attrName>
                                        </p:attrNameLst>
                                      </p:cBhvr>
                                      <p:tavLst>
                                        <p:tav tm="0">
                                          <p:val>
                                            <p:strVal val="#ppt_x"/>
                                          </p:val>
                                        </p:tav>
                                        <p:tav tm="100000">
                                          <p:val>
                                            <p:strVal val="#ppt_x"/>
                                          </p:val>
                                        </p:tav>
                                      </p:tavLst>
                                    </p:anim>
                                    <p:anim calcmode="lin" valueType="num">
                                      <p:cBhvr>
                                        <p:cTn id="102" dur="500" decel="100000" fill="hold"/>
                                        <p:tgtEl>
                                          <p:spTgt spid="20"/>
                                        </p:tgtEl>
                                        <p:attrNameLst>
                                          <p:attrName>ppt_y</p:attrName>
                                        </p:attrNameLst>
                                      </p:cBhvr>
                                      <p:tavLst>
                                        <p:tav tm="0">
                                          <p:val>
                                            <p:strVal val="#ppt_y+0.0278"/>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1"/>
                                        </p:tgtEl>
                                        <p:attrNameLst>
                                          <p:attrName>style.visibility</p:attrName>
                                        </p:attrNameLst>
                                      </p:cBhvr>
                                      <p:to>
                                        <p:strVal val="visible"/>
                                      </p:to>
                                    </p:set>
                                    <p:animEffect transition="in" filter="fade">
                                      <p:cBhvr>
                                        <p:cTn id="105" dur="500"/>
                                        <p:tgtEl>
                                          <p:spTgt spid="21"/>
                                        </p:tgtEl>
                                      </p:cBhvr>
                                    </p:animEffect>
                                    <p:anim calcmode="lin" valueType="num">
                                      <p:cBhvr>
                                        <p:cTn id="106" dur="500" decel="100000" fill="hold"/>
                                        <p:tgtEl>
                                          <p:spTgt spid="21"/>
                                        </p:tgtEl>
                                        <p:attrNameLst>
                                          <p:attrName>ppt_x</p:attrName>
                                        </p:attrNameLst>
                                      </p:cBhvr>
                                      <p:tavLst>
                                        <p:tav tm="0">
                                          <p:val>
                                            <p:strVal val="#ppt_x"/>
                                          </p:val>
                                        </p:tav>
                                        <p:tav tm="100000">
                                          <p:val>
                                            <p:strVal val="#ppt_x"/>
                                          </p:val>
                                        </p:tav>
                                      </p:tavLst>
                                    </p:anim>
                                    <p:anim calcmode="lin" valueType="num">
                                      <p:cBhvr>
                                        <p:cTn id="107" dur="500" decel="100000" fill="hold"/>
                                        <p:tgtEl>
                                          <p:spTgt spid="21"/>
                                        </p:tgtEl>
                                        <p:attrNameLst>
                                          <p:attrName>ppt_y</p:attrName>
                                        </p:attrNameLst>
                                      </p:cBhvr>
                                      <p:tavLst>
                                        <p:tav tm="0">
                                          <p:val>
                                            <p:strVal val="#ppt_y+0.0278"/>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fade">
                                      <p:cBhvr>
                                        <p:cTn id="110" dur="500"/>
                                        <p:tgtEl>
                                          <p:spTgt spid="22"/>
                                        </p:tgtEl>
                                      </p:cBhvr>
                                    </p:animEffect>
                                    <p:anim calcmode="lin" valueType="num">
                                      <p:cBhvr>
                                        <p:cTn id="111" dur="500" decel="100000" fill="hold"/>
                                        <p:tgtEl>
                                          <p:spTgt spid="22"/>
                                        </p:tgtEl>
                                        <p:attrNameLst>
                                          <p:attrName>ppt_x</p:attrName>
                                        </p:attrNameLst>
                                      </p:cBhvr>
                                      <p:tavLst>
                                        <p:tav tm="0">
                                          <p:val>
                                            <p:strVal val="#ppt_x"/>
                                          </p:val>
                                        </p:tav>
                                        <p:tav tm="100000">
                                          <p:val>
                                            <p:strVal val="#ppt_x"/>
                                          </p:val>
                                        </p:tav>
                                      </p:tavLst>
                                    </p:anim>
                                    <p:anim calcmode="lin" valueType="num">
                                      <p:cBhvr>
                                        <p:cTn id="112" dur="500" decel="100000" fill="hold"/>
                                        <p:tgtEl>
                                          <p:spTgt spid="22"/>
                                        </p:tgtEl>
                                        <p:attrNameLst>
                                          <p:attrName>ppt_y</p:attrName>
                                        </p:attrNameLst>
                                      </p:cBhvr>
                                      <p:tavLst>
                                        <p:tav tm="0">
                                          <p:val>
                                            <p:strVal val="#ppt_y+0.0278"/>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500"/>
                                        <p:tgtEl>
                                          <p:spTgt spid="23"/>
                                        </p:tgtEl>
                                      </p:cBhvr>
                                    </p:animEffect>
                                    <p:anim calcmode="lin" valueType="num">
                                      <p:cBhvr>
                                        <p:cTn id="116" dur="500" decel="100000" fill="hold"/>
                                        <p:tgtEl>
                                          <p:spTgt spid="23"/>
                                        </p:tgtEl>
                                        <p:attrNameLst>
                                          <p:attrName>ppt_x</p:attrName>
                                        </p:attrNameLst>
                                      </p:cBhvr>
                                      <p:tavLst>
                                        <p:tav tm="0">
                                          <p:val>
                                            <p:strVal val="#ppt_x"/>
                                          </p:val>
                                        </p:tav>
                                        <p:tav tm="100000">
                                          <p:val>
                                            <p:strVal val="#ppt_x"/>
                                          </p:val>
                                        </p:tav>
                                      </p:tavLst>
                                    </p:anim>
                                    <p:anim calcmode="lin" valueType="num">
                                      <p:cBhvr>
                                        <p:cTn id="117" dur="500" decel="100000" fill="hold"/>
                                        <p:tgtEl>
                                          <p:spTgt spid="2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7" grpId="0"/>
      <p:bldP spid="8" grpId="0"/>
      <p:bldP spid="9" grpId="0" animBg="1"/>
      <p:bldP spid="10" grpId="0" animBg="1"/>
      <p:bldP spid="12" grpId="0"/>
      <p:bldP spid="13" grpId="0"/>
      <p:bldP spid="14" grpId="0" animBg="1"/>
      <p:bldP spid="15" grpId="0" animBg="1"/>
      <p:bldP spid="17" grpId="0"/>
      <p:bldP spid="18" grpId="0"/>
      <p:bldP spid="19" grpId="0" animBg="1"/>
      <p:bldP spid="20" grpId="0" animBg="1"/>
      <p:bldP spid="22" grpId="0"/>
      <p:bldP spid="23" grpId="0"/>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Conséquences pour la marque</a:t>
            </a:r>
            <a:endParaRPr lang="en-US" sz="2800" dirty="0"/>
          </a:p>
        </p:txBody>
      </p:sp>
      <p:sp>
        <p:nvSpPr>
          <p:cNvPr id="4" name="c1_bg"/>
          <p:cNvSpPr/>
          <p:nvPr/>
        </p:nvSpPr>
        <p:spPr>
          <a:xfrm>
            <a:off x="548640" y="1600200"/>
            <a:ext cx="11091672" cy="896112"/>
          </a:xfrm>
          <a:prstGeom prst="roundRect">
            <a:avLst>
              <a:gd name="adj" fmla="val 12245"/>
            </a:avLst>
          </a:prstGeom>
          <a:solidFill>
            <a:schemeClr val="bg2"/>
          </a:solidFill>
          <a:ln w="12700">
            <a:solidFill>
              <a:schemeClr val="bg2"/>
            </a:solidFill>
            <a:prstDash val="solid"/>
          </a:ln>
        </p:spPr>
      </p:sp>
      <p:sp>
        <p:nvSpPr>
          <p:cNvPr id="5" name="c1_ic"/>
          <p:cNvSpPr/>
          <p:nvPr/>
        </p:nvSpPr>
        <p:spPr>
          <a:xfrm>
            <a:off x="822960" y="1755648"/>
            <a:ext cx="585216" cy="585216"/>
          </a:xfrm>
          <a:prstGeom prst="ellipse">
            <a:avLst/>
          </a:prstGeom>
          <a:solidFill>
            <a:schemeClr val="bg1"/>
          </a:solidFill>
          <a:ln w="12700">
            <a:solidFill>
              <a:schemeClr val="bg1"/>
            </a:solidFill>
            <a:prstDash val="solid"/>
          </a:ln>
        </p:spPr>
      </p:sp>
      <p:pic>
        <p:nvPicPr>
          <p:cNvPr id="6" name="c1_ici" descr="preencoded.png">    </p:cNvPr>
          <p:cNvPicPr>
            <a:picLocks noChangeAspect="1"/>
          </p:cNvPicPr>
          <p:nvPr/>
        </p:nvPicPr>
        <p:blipFill>
          <a:blip r:embed="rId1"/>
          <a:stretch>
            <a:fillRect/>
          </a:stretch>
        </p:blipFill>
        <p:spPr>
          <a:xfrm>
            <a:off x="969264" y="1901952"/>
            <a:ext cx="292608" cy="292608"/>
          </a:xfrm>
          <a:prstGeom prst="rect">
            <a:avLst/>
          </a:prstGeom>
        </p:spPr>
      </p:pic>
      <p:sp>
        <p:nvSpPr>
          <p:cNvPr id="7" name="c1_h"/>
          <p:cNvSpPr txBox="1"/>
          <p:nvPr/>
        </p:nvSpPr>
        <p:spPr>
          <a:xfrm>
            <a:off x="1691640" y="1600200"/>
            <a:ext cx="3931920" cy="896112"/>
          </a:xfrm>
          <a:prstGeom prst="rect">
            <a:avLst/>
          </a:prstGeom>
          <a:noFill/>
          <a:ln/>
        </p:spPr>
        <p:txBody>
          <a:bodyPr wrap="square" lIns="0" tIns="0" rIns="0" bIns="0" rtlCol="0" anchor="ctr"/>
          <a:lstStyle/>
          <a:p>
            <a:pPr indent="0" marL="0">
              <a:buNone/>
            </a:pPr>
            <a:r>
              <a:rPr lang="en-US" sz="1700" b="1" dirty="0">
                <a:solidFill>
                  <a:schemeClr val="tx1"/>
                </a:solidFill>
              </a:rPr>
              <a:t>Baisse de la crédibilité</a:t>
            </a:r>
            <a:endParaRPr lang="en-US" sz="1700" dirty="0"/>
          </a:p>
        </p:txBody>
      </p:sp>
      <p:sp>
        <p:nvSpPr>
          <p:cNvPr id="8" name="c1_d"/>
          <p:cNvSpPr txBox="1"/>
          <p:nvPr/>
        </p:nvSpPr>
        <p:spPr>
          <a:xfrm>
            <a:off x="5715000" y="1600200"/>
            <a:ext cx="5669280" cy="896112"/>
          </a:xfrm>
          <a:prstGeom prst="rect">
            <a:avLst/>
          </a:prstGeom>
          <a:noFill/>
          <a:ln/>
        </p:spPr>
        <p:txBody>
          <a:bodyPr wrap="square" lIns="0" tIns="0" rIns="0" bIns="0" rtlCol="0" anchor="ctr"/>
          <a:lstStyle/>
          <a:p>
            <a:pPr indent="0" marL="0">
              <a:buNone/>
            </a:pPr>
            <a:r>
              <a:rPr lang="en-US" sz="1500" dirty="0">
                <a:solidFill>
                  <a:schemeClr val="accent4"/>
                </a:solidFill>
              </a:rPr>
              <a:t>Lien non personnalisé, fautes dans les identifiants</a:t>
            </a:r>
            <a:endParaRPr lang="en-US" sz="1500" dirty="0"/>
          </a:p>
        </p:txBody>
      </p:sp>
      <p:sp>
        <p:nvSpPr>
          <p:cNvPr id="9" name="c2_bg"/>
          <p:cNvSpPr/>
          <p:nvPr/>
        </p:nvSpPr>
        <p:spPr>
          <a:xfrm>
            <a:off x="548640" y="2679192"/>
            <a:ext cx="11091672" cy="896112"/>
          </a:xfrm>
          <a:prstGeom prst="roundRect">
            <a:avLst>
              <a:gd name="adj" fmla="val 12245"/>
            </a:avLst>
          </a:prstGeom>
          <a:solidFill>
            <a:schemeClr val="bg2"/>
          </a:solidFill>
          <a:ln w="12700">
            <a:solidFill>
              <a:schemeClr val="bg2"/>
            </a:solidFill>
            <a:prstDash val="solid"/>
          </a:ln>
        </p:spPr>
      </p:sp>
      <p:sp>
        <p:nvSpPr>
          <p:cNvPr id="10" name="c2_ic"/>
          <p:cNvSpPr/>
          <p:nvPr/>
        </p:nvSpPr>
        <p:spPr>
          <a:xfrm>
            <a:off x="822960" y="2834640"/>
            <a:ext cx="585216" cy="585216"/>
          </a:xfrm>
          <a:prstGeom prst="ellipse">
            <a:avLst/>
          </a:prstGeom>
          <a:solidFill>
            <a:schemeClr val="bg1"/>
          </a:solidFill>
          <a:ln w="12700">
            <a:solidFill>
              <a:schemeClr val="bg1"/>
            </a:solidFill>
            <a:prstDash val="solid"/>
          </a:ln>
        </p:spPr>
      </p:sp>
      <p:pic>
        <p:nvPicPr>
          <p:cNvPr id="11" name="c2_ici" descr="preencoded.png">    </p:cNvPr>
          <p:cNvPicPr>
            <a:picLocks noChangeAspect="1"/>
          </p:cNvPicPr>
          <p:nvPr/>
        </p:nvPicPr>
        <p:blipFill>
          <a:blip r:embed="rId2"/>
          <a:stretch>
            <a:fillRect/>
          </a:stretch>
        </p:blipFill>
        <p:spPr>
          <a:xfrm>
            <a:off x="969264" y="2980944"/>
            <a:ext cx="292608" cy="292608"/>
          </a:xfrm>
          <a:prstGeom prst="rect">
            <a:avLst/>
          </a:prstGeom>
        </p:spPr>
      </p:pic>
      <p:sp>
        <p:nvSpPr>
          <p:cNvPr id="12" name="c2_h"/>
          <p:cNvSpPr txBox="1"/>
          <p:nvPr/>
        </p:nvSpPr>
        <p:spPr>
          <a:xfrm>
            <a:off x="1691640" y="2679192"/>
            <a:ext cx="3931920" cy="896112"/>
          </a:xfrm>
          <a:prstGeom prst="rect">
            <a:avLst/>
          </a:prstGeom>
          <a:noFill/>
          <a:ln/>
        </p:spPr>
        <p:txBody>
          <a:bodyPr wrap="square" lIns="0" tIns="0" rIns="0" bIns="0" rtlCol="0" anchor="ctr"/>
          <a:lstStyle/>
          <a:p>
            <a:pPr indent="0" marL="0">
              <a:buNone/>
            </a:pPr>
            <a:r>
              <a:rPr lang="en-US" sz="1700" b="1" dirty="0">
                <a:solidFill>
                  <a:schemeClr val="tx1"/>
                </a:solidFill>
              </a:rPr>
              <a:t>Perte d'efficacité publicitaire</a:t>
            </a:r>
            <a:endParaRPr lang="en-US" sz="1700" dirty="0"/>
          </a:p>
        </p:txBody>
      </p:sp>
      <p:sp>
        <p:nvSpPr>
          <p:cNvPr id="13" name="c2_d"/>
          <p:cNvSpPr txBox="1"/>
          <p:nvPr/>
        </p:nvSpPr>
        <p:spPr>
          <a:xfrm>
            <a:off x="5715000" y="2679192"/>
            <a:ext cx="5669280" cy="896112"/>
          </a:xfrm>
          <a:prstGeom prst="rect">
            <a:avLst/>
          </a:prstGeom>
          <a:noFill/>
          <a:ln/>
        </p:spPr>
        <p:txBody>
          <a:bodyPr wrap="square" lIns="0" tIns="0" rIns="0" bIns="0" rtlCol="0" anchor="ctr"/>
          <a:lstStyle/>
          <a:p>
            <a:pPr indent="0" marL="0">
              <a:buNone/>
            </a:pPr>
            <a:r>
              <a:rPr lang="en-US" sz="1500" dirty="0">
                <a:solidFill>
                  <a:schemeClr val="accent4"/>
                </a:solidFill>
              </a:rPr>
              <a:t>Abonnements noyés parmi les produits de beauté</a:t>
            </a:r>
            <a:endParaRPr lang="en-US" sz="1500" dirty="0"/>
          </a:p>
        </p:txBody>
      </p:sp>
      <p:sp>
        <p:nvSpPr>
          <p:cNvPr id="14" name="c3_bg"/>
          <p:cNvSpPr/>
          <p:nvPr/>
        </p:nvSpPr>
        <p:spPr>
          <a:xfrm>
            <a:off x="548640" y="3758184"/>
            <a:ext cx="11091672" cy="896112"/>
          </a:xfrm>
          <a:prstGeom prst="roundRect">
            <a:avLst>
              <a:gd name="adj" fmla="val 12245"/>
            </a:avLst>
          </a:prstGeom>
          <a:solidFill>
            <a:schemeClr val="bg2"/>
          </a:solidFill>
          <a:ln w="12700">
            <a:solidFill>
              <a:schemeClr val="bg2"/>
            </a:solidFill>
            <a:prstDash val="solid"/>
          </a:ln>
        </p:spPr>
      </p:sp>
      <p:sp>
        <p:nvSpPr>
          <p:cNvPr id="15" name="c3_ic"/>
          <p:cNvSpPr/>
          <p:nvPr/>
        </p:nvSpPr>
        <p:spPr>
          <a:xfrm>
            <a:off x="822960" y="3913632"/>
            <a:ext cx="585216" cy="585216"/>
          </a:xfrm>
          <a:prstGeom prst="ellipse">
            <a:avLst/>
          </a:prstGeom>
          <a:solidFill>
            <a:schemeClr val="bg1"/>
          </a:solidFill>
          <a:ln w="12700">
            <a:solidFill>
              <a:schemeClr val="bg1"/>
            </a:solidFill>
            <a:prstDash val="solid"/>
          </a:ln>
        </p:spPr>
      </p:sp>
      <p:pic>
        <p:nvPicPr>
          <p:cNvPr id="16" name="c3_ici" descr="preencoded.png">    </p:cNvPr>
          <p:cNvPicPr>
            <a:picLocks noChangeAspect="1"/>
          </p:cNvPicPr>
          <p:nvPr/>
        </p:nvPicPr>
        <p:blipFill>
          <a:blip r:embed="rId3"/>
          <a:stretch>
            <a:fillRect/>
          </a:stretch>
        </p:blipFill>
        <p:spPr>
          <a:xfrm>
            <a:off x="969264" y="4059936"/>
            <a:ext cx="292608" cy="292608"/>
          </a:xfrm>
          <a:prstGeom prst="rect">
            <a:avLst/>
          </a:prstGeom>
        </p:spPr>
      </p:pic>
      <p:sp>
        <p:nvSpPr>
          <p:cNvPr id="17" name="c3_h"/>
          <p:cNvSpPr txBox="1"/>
          <p:nvPr/>
        </p:nvSpPr>
        <p:spPr>
          <a:xfrm>
            <a:off x="1691640" y="3758184"/>
            <a:ext cx="3931920" cy="896112"/>
          </a:xfrm>
          <a:prstGeom prst="rect">
            <a:avLst/>
          </a:prstGeom>
          <a:noFill/>
          <a:ln/>
        </p:spPr>
        <p:txBody>
          <a:bodyPr wrap="square" lIns="0" tIns="0" rIns="0" bIns="0" rtlCol="0" anchor="ctr"/>
          <a:lstStyle/>
          <a:p>
            <a:pPr indent="0" marL="0">
              <a:buNone/>
            </a:pPr>
            <a:r>
              <a:rPr lang="en-US" sz="1700" b="1" dirty="0">
                <a:solidFill>
                  <a:schemeClr val="tx1"/>
                </a:solidFill>
              </a:rPr>
              <a:t>Mauvaise visibilité</a:t>
            </a:r>
            <a:endParaRPr lang="en-US" sz="1700" dirty="0"/>
          </a:p>
        </p:txBody>
      </p:sp>
      <p:sp>
        <p:nvSpPr>
          <p:cNvPr id="18" name="c3_d"/>
          <p:cNvSpPr txBox="1"/>
          <p:nvPr/>
        </p:nvSpPr>
        <p:spPr>
          <a:xfrm>
            <a:off x="5715000" y="3758184"/>
            <a:ext cx="5669280" cy="896112"/>
          </a:xfrm>
          <a:prstGeom prst="rect">
            <a:avLst/>
          </a:prstGeom>
          <a:noFill/>
          <a:ln/>
        </p:spPr>
        <p:txBody>
          <a:bodyPr wrap="square" lIns="0" tIns="0" rIns="0" bIns="0" rtlCol="0" anchor="ctr"/>
          <a:lstStyle/>
          <a:p>
            <a:pPr indent="0" marL="0">
              <a:buNone/>
            </a:pPr>
            <a:r>
              <a:rPr lang="en-US" sz="1500" dirty="0">
                <a:solidFill>
                  <a:schemeClr val="accent4"/>
                </a:solidFill>
              </a:rPr>
              <a:t>Manque de supports de communication</a:t>
            </a:r>
            <a:endParaRPr lang="en-US" sz="1500" dirty="0"/>
          </a:p>
        </p:txBody>
      </p:sp>
      <p:sp>
        <p:nvSpPr>
          <p:cNvPr id="19" name="c4_bg"/>
          <p:cNvSpPr/>
          <p:nvPr/>
        </p:nvSpPr>
        <p:spPr>
          <a:xfrm>
            <a:off x="548640" y="4837176"/>
            <a:ext cx="11091672" cy="896112"/>
          </a:xfrm>
          <a:prstGeom prst="roundRect">
            <a:avLst>
              <a:gd name="adj" fmla="val 12245"/>
            </a:avLst>
          </a:prstGeom>
          <a:solidFill>
            <a:schemeClr val="bg2"/>
          </a:solidFill>
          <a:ln w="12700">
            <a:solidFill>
              <a:schemeClr val="bg2"/>
            </a:solidFill>
            <a:prstDash val="solid"/>
          </a:ln>
        </p:spPr>
      </p:sp>
      <p:sp>
        <p:nvSpPr>
          <p:cNvPr id="20" name="c4_ic"/>
          <p:cNvSpPr/>
          <p:nvPr/>
        </p:nvSpPr>
        <p:spPr>
          <a:xfrm>
            <a:off x="822960" y="4992624"/>
            <a:ext cx="585216" cy="585216"/>
          </a:xfrm>
          <a:prstGeom prst="ellipse">
            <a:avLst/>
          </a:prstGeom>
          <a:solidFill>
            <a:schemeClr val="bg1"/>
          </a:solidFill>
          <a:ln w="12700">
            <a:solidFill>
              <a:schemeClr val="bg1"/>
            </a:solidFill>
            <a:prstDash val="solid"/>
          </a:ln>
        </p:spPr>
      </p:sp>
      <p:pic>
        <p:nvPicPr>
          <p:cNvPr id="21" name="c4_ici" descr="preencoded.png">    </p:cNvPr>
          <p:cNvPicPr>
            <a:picLocks noChangeAspect="1"/>
          </p:cNvPicPr>
          <p:nvPr/>
        </p:nvPicPr>
        <p:blipFill>
          <a:blip r:embed="rId4"/>
          <a:stretch>
            <a:fillRect/>
          </a:stretch>
        </p:blipFill>
        <p:spPr>
          <a:xfrm>
            <a:off x="969264" y="5138928"/>
            <a:ext cx="292608" cy="292608"/>
          </a:xfrm>
          <a:prstGeom prst="rect">
            <a:avLst/>
          </a:prstGeom>
        </p:spPr>
      </p:pic>
      <p:sp>
        <p:nvSpPr>
          <p:cNvPr id="22" name="c4_h"/>
          <p:cNvSpPr txBox="1"/>
          <p:nvPr/>
        </p:nvSpPr>
        <p:spPr>
          <a:xfrm>
            <a:off x="1691640" y="4837176"/>
            <a:ext cx="3931920" cy="896112"/>
          </a:xfrm>
          <a:prstGeom prst="rect">
            <a:avLst/>
          </a:prstGeom>
          <a:noFill/>
          <a:ln/>
        </p:spPr>
        <p:txBody>
          <a:bodyPr wrap="square" lIns="0" tIns="0" rIns="0" bIns="0" rtlCol="0" anchor="ctr"/>
          <a:lstStyle/>
          <a:p>
            <a:pPr indent="0" marL="0">
              <a:buNone/>
            </a:pPr>
            <a:r>
              <a:rPr lang="en-US" sz="1700" b="1" dirty="0">
                <a:solidFill>
                  <a:schemeClr val="tx1"/>
                </a:solidFill>
              </a:rPr>
              <a:t>Déficit d'image</a:t>
            </a:r>
            <a:endParaRPr lang="en-US" sz="1700" dirty="0"/>
          </a:p>
        </p:txBody>
      </p:sp>
      <p:sp>
        <p:nvSpPr>
          <p:cNvPr id="23" name="c4_d"/>
          <p:cNvSpPr txBox="1"/>
          <p:nvPr/>
        </p:nvSpPr>
        <p:spPr>
          <a:xfrm>
            <a:off x="5715000" y="4837176"/>
            <a:ext cx="5669280" cy="896112"/>
          </a:xfrm>
          <a:prstGeom prst="rect">
            <a:avLst/>
          </a:prstGeom>
          <a:noFill/>
          <a:ln/>
        </p:spPr>
        <p:txBody>
          <a:bodyPr wrap="square" lIns="0" tIns="0" rIns="0" bIns="0" rtlCol="0" anchor="ctr"/>
          <a:lstStyle/>
          <a:p>
            <a:pPr indent="0" marL="0">
              <a:buNone/>
            </a:pPr>
            <a:r>
              <a:rPr lang="en-US" sz="1500" dirty="0">
                <a:solidFill>
                  <a:schemeClr val="accent4"/>
                </a:solidFill>
              </a:rPr>
              <a:t>Tarifs premium difficiles à justifier face à la concurrence</a:t>
            </a:r>
            <a:endParaRPr lang="en-US" sz="15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anim calcmode="lin" valueType="num">
                                      <p:cBhvr>
                                        <p:cTn id="69" dur="500" decel="100000" fill="hold"/>
                                        <p:tgtEl>
                                          <p:spTgt spid="14"/>
                                        </p:tgtEl>
                                        <p:attrNameLst>
                                          <p:attrName>ppt_x</p:attrName>
                                        </p:attrNameLst>
                                      </p:cBhvr>
                                      <p:tavLst>
                                        <p:tav tm="0">
                                          <p:val>
                                            <p:strVal val="#ppt_x"/>
                                          </p:val>
                                        </p:tav>
                                        <p:tav tm="100000">
                                          <p:val>
                                            <p:strVal val="#ppt_x"/>
                                          </p:val>
                                        </p:tav>
                                      </p:tavLst>
                                    </p:anim>
                                    <p:anim calcmode="lin" valueType="num">
                                      <p:cBhvr>
                                        <p:cTn id="70" dur="500" decel="100000" fill="hold"/>
                                        <p:tgtEl>
                                          <p:spTgt spid="14"/>
                                        </p:tgtEl>
                                        <p:attrNameLst>
                                          <p:attrName>ppt_y</p:attrName>
                                        </p:attrNameLst>
                                      </p:cBhvr>
                                      <p:tavLst>
                                        <p:tav tm="0">
                                          <p:val>
                                            <p:strVal val="#ppt_y+0.027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anim calcmode="lin" valueType="num">
                                      <p:cBhvr>
                                        <p:cTn id="74" dur="500" decel="100000" fill="hold"/>
                                        <p:tgtEl>
                                          <p:spTgt spid="15"/>
                                        </p:tgtEl>
                                        <p:attrNameLst>
                                          <p:attrName>ppt_x</p:attrName>
                                        </p:attrNameLst>
                                      </p:cBhvr>
                                      <p:tavLst>
                                        <p:tav tm="0">
                                          <p:val>
                                            <p:strVal val="#ppt_x"/>
                                          </p:val>
                                        </p:tav>
                                        <p:tav tm="100000">
                                          <p:val>
                                            <p:strVal val="#ppt_x"/>
                                          </p:val>
                                        </p:tav>
                                      </p:tavLst>
                                    </p:anim>
                                    <p:anim calcmode="lin" valueType="num">
                                      <p:cBhvr>
                                        <p:cTn id="75" dur="500" decel="100000" fill="hold"/>
                                        <p:tgtEl>
                                          <p:spTgt spid="15"/>
                                        </p:tgtEl>
                                        <p:attrNameLst>
                                          <p:attrName>ppt_y</p:attrName>
                                        </p:attrNameLst>
                                      </p:cBhvr>
                                      <p:tavLst>
                                        <p:tav tm="0">
                                          <p:val>
                                            <p:strVal val="#ppt_y+0.0278"/>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anim calcmode="lin" valueType="num">
                                      <p:cBhvr>
                                        <p:cTn id="79" dur="500" decel="100000" fill="hold"/>
                                        <p:tgtEl>
                                          <p:spTgt spid="16"/>
                                        </p:tgtEl>
                                        <p:attrNameLst>
                                          <p:attrName>ppt_x</p:attrName>
                                        </p:attrNameLst>
                                      </p:cBhvr>
                                      <p:tavLst>
                                        <p:tav tm="0">
                                          <p:val>
                                            <p:strVal val="#ppt_x"/>
                                          </p:val>
                                        </p:tav>
                                        <p:tav tm="100000">
                                          <p:val>
                                            <p:strVal val="#ppt_x"/>
                                          </p:val>
                                        </p:tav>
                                      </p:tavLst>
                                    </p:anim>
                                    <p:anim calcmode="lin" valueType="num">
                                      <p:cBhvr>
                                        <p:cTn id="80" dur="500" decel="100000" fill="hold"/>
                                        <p:tgtEl>
                                          <p:spTgt spid="16"/>
                                        </p:tgtEl>
                                        <p:attrNameLst>
                                          <p:attrName>ppt_y</p:attrName>
                                        </p:attrNameLst>
                                      </p:cBhvr>
                                      <p:tavLst>
                                        <p:tav tm="0">
                                          <p:val>
                                            <p:strVal val="#ppt_y+0.0278"/>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500"/>
                                        <p:tgtEl>
                                          <p:spTgt spid="17"/>
                                        </p:tgtEl>
                                      </p:cBhvr>
                                    </p:animEffect>
                                    <p:anim calcmode="lin" valueType="num">
                                      <p:cBhvr>
                                        <p:cTn id="84" dur="500" decel="100000" fill="hold"/>
                                        <p:tgtEl>
                                          <p:spTgt spid="17"/>
                                        </p:tgtEl>
                                        <p:attrNameLst>
                                          <p:attrName>ppt_x</p:attrName>
                                        </p:attrNameLst>
                                      </p:cBhvr>
                                      <p:tavLst>
                                        <p:tav tm="0">
                                          <p:val>
                                            <p:strVal val="#ppt_x"/>
                                          </p:val>
                                        </p:tav>
                                        <p:tav tm="100000">
                                          <p:val>
                                            <p:strVal val="#ppt_x"/>
                                          </p:val>
                                        </p:tav>
                                      </p:tavLst>
                                    </p:anim>
                                    <p:anim calcmode="lin" valueType="num">
                                      <p:cBhvr>
                                        <p:cTn id="85" dur="500" decel="100000" fill="hold"/>
                                        <p:tgtEl>
                                          <p:spTgt spid="17"/>
                                        </p:tgtEl>
                                        <p:attrNameLst>
                                          <p:attrName>ppt_y</p:attrName>
                                        </p:attrNameLst>
                                      </p:cBhvr>
                                      <p:tavLst>
                                        <p:tav tm="0">
                                          <p:val>
                                            <p:strVal val="#ppt_y+0.0278"/>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500"/>
                                        <p:tgtEl>
                                          <p:spTgt spid="18"/>
                                        </p:tgtEl>
                                      </p:cBhvr>
                                    </p:animEffect>
                                    <p:anim calcmode="lin" valueType="num">
                                      <p:cBhvr>
                                        <p:cTn id="89" dur="500" decel="100000" fill="hold"/>
                                        <p:tgtEl>
                                          <p:spTgt spid="18"/>
                                        </p:tgtEl>
                                        <p:attrNameLst>
                                          <p:attrName>ppt_x</p:attrName>
                                        </p:attrNameLst>
                                      </p:cBhvr>
                                      <p:tavLst>
                                        <p:tav tm="0">
                                          <p:val>
                                            <p:strVal val="#ppt_x"/>
                                          </p:val>
                                        </p:tav>
                                        <p:tav tm="100000">
                                          <p:val>
                                            <p:strVal val="#ppt_x"/>
                                          </p:val>
                                        </p:tav>
                                      </p:tavLst>
                                    </p:anim>
                                    <p:anim calcmode="lin" valueType="num">
                                      <p:cBhvr>
                                        <p:cTn id="90" dur="500" decel="100000" fill="hold"/>
                                        <p:tgtEl>
                                          <p:spTgt spid="18"/>
                                        </p:tgtEl>
                                        <p:attrNameLst>
                                          <p:attrName>ppt_y</p:attrName>
                                        </p:attrNameLst>
                                      </p:cBhvr>
                                      <p:tavLst>
                                        <p:tav tm="0">
                                          <p:val>
                                            <p:strVal val="#ppt_y+0.0278"/>
                                          </p:val>
                                        </p:tav>
                                        <p:tav tm="100000">
                                          <p:val>
                                            <p:strVal val="#ppt_y"/>
                                          </p:val>
                                        </p:tav>
                                      </p:tavLst>
                                    </p:anim>
                                  </p:childTnLst>
                                </p:cTn>
                              </p:par>
                            </p:childTnLst>
                          </p:cTn>
                        </p:par>
                      </p:childTnLst>
                    </p:cTn>
                  </p:par>
                  <p:par>
                    <p:cTn id="91" fill="hold">
                      <p:stCondLst>
                        <p:cond delay="indefinite"/>
                      </p:stCondLst>
                      <p:childTnLst>
                        <p:par>
                          <p:cTn id="92" fill="hold">
                            <p:stCondLst>
                              <p:cond delay="0"/>
                            </p:stCondLst>
                            <p:childTnLst>
                              <p:par>
                                <p:cTn id="93" presetID="42" presetClass="entr" presetSubtype="0" fill="hold" grpId="0" nodeType="click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500"/>
                                        <p:tgtEl>
                                          <p:spTgt spid="19"/>
                                        </p:tgtEl>
                                      </p:cBhvr>
                                    </p:animEffect>
                                    <p:anim calcmode="lin" valueType="num">
                                      <p:cBhvr>
                                        <p:cTn id="96" dur="500" decel="100000" fill="hold"/>
                                        <p:tgtEl>
                                          <p:spTgt spid="19"/>
                                        </p:tgtEl>
                                        <p:attrNameLst>
                                          <p:attrName>ppt_x</p:attrName>
                                        </p:attrNameLst>
                                      </p:cBhvr>
                                      <p:tavLst>
                                        <p:tav tm="0">
                                          <p:val>
                                            <p:strVal val="#ppt_x"/>
                                          </p:val>
                                        </p:tav>
                                        <p:tav tm="100000">
                                          <p:val>
                                            <p:strVal val="#ppt_x"/>
                                          </p:val>
                                        </p:tav>
                                      </p:tavLst>
                                    </p:anim>
                                    <p:anim calcmode="lin" valueType="num">
                                      <p:cBhvr>
                                        <p:cTn id="97" dur="500" decel="100000" fill="hold"/>
                                        <p:tgtEl>
                                          <p:spTgt spid="19"/>
                                        </p:tgtEl>
                                        <p:attrNameLst>
                                          <p:attrName>ppt_y</p:attrName>
                                        </p:attrNameLst>
                                      </p:cBhvr>
                                      <p:tavLst>
                                        <p:tav tm="0">
                                          <p:val>
                                            <p:strVal val="#ppt_y+0.0278"/>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fade">
                                      <p:cBhvr>
                                        <p:cTn id="100" dur="500"/>
                                        <p:tgtEl>
                                          <p:spTgt spid="20"/>
                                        </p:tgtEl>
                                      </p:cBhvr>
                                    </p:animEffect>
                                    <p:anim calcmode="lin" valueType="num">
                                      <p:cBhvr>
                                        <p:cTn id="101" dur="500" decel="100000" fill="hold"/>
                                        <p:tgtEl>
                                          <p:spTgt spid="20"/>
                                        </p:tgtEl>
                                        <p:attrNameLst>
                                          <p:attrName>ppt_x</p:attrName>
                                        </p:attrNameLst>
                                      </p:cBhvr>
                                      <p:tavLst>
                                        <p:tav tm="0">
                                          <p:val>
                                            <p:strVal val="#ppt_x"/>
                                          </p:val>
                                        </p:tav>
                                        <p:tav tm="100000">
                                          <p:val>
                                            <p:strVal val="#ppt_x"/>
                                          </p:val>
                                        </p:tav>
                                      </p:tavLst>
                                    </p:anim>
                                    <p:anim calcmode="lin" valueType="num">
                                      <p:cBhvr>
                                        <p:cTn id="102" dur="500" decel="100000" fill="hold"/>
                                        <p:tgtEl>
                                          <p:spTgt spid="20"/>
                                        </p:tgtEl>
                                        <p:attrNameLst>
                                          <p:attrName>ppt_y</p:attrName>
                                        </p:attrNameLst>
                                      </p:cBhvr>
                                      <p:tavLst>
                                        <p:tav tm="0">
                                          <p:val>
                                            <p:strVal val="#ppt_y+0.0278"/>
                                          </p:val>
                                        </p:tav>
                                        <p:tav tm="100000">
                                          <p:val>
                                            <p:strVal val="#ppt_y"/>
                                          </p:val>
                                        </p:tav>
                                      </p:tavLst>
                                    </p:anim>
                                  </p:childTnLst>
                                </p:cTn>
                              </p:par>
                              <p:par>
                                <p:cTn id="103" presetID="42" presetClass="entr" presetSubtype="0" fill="hold" grpId="0" nodeType="withEffect">
                                  <p:stCondLst>
                                    <p:cond delay="0"/>
                                  </p:stCondLst>
                                  <p:childTnLst>
                                    <p:set>
                                      <p:cBhvr>
                                        <p:cTn id="104" dur="1" fill="hold">
                                          <p:stCondLst>
                                            <p:cond delay="0"/>
                                          </p:stCondLst>
                                        </p:cTn>
                                        <p:tgtEl>
                                          <p:spTgt spid="21"/>
                                        </p:tgtEl>
                                        <p:attrNameLst>
                                          <p:attrName>style.visibility</p:attrName>
                                        </p:attrNameLst>
                                      </p:cBhvr>
                                      <p:to>
                                        <p:strVal val="visible"/>
                                      </p:to>
                                    </p:set>
                                    <p:animEffect transition="in" filter="fade">
                                      <p:cBhvr>
                                        <p:cTn id="105" dur="500"/>
                                        <p:tgtEl>
                                          <p:spTgt spid="21"/>
                                        </p:tgtEl>
                                      </p:cBhvr>
                                    </p:animEffect>
                                    <p:anim calcmode="lin" valueType="num">
                                      <p:cBhvr>
                                        <p:cTn id="106" dur="500" decel="100000" fill="hold"/>
                                        <p:tgtEl>
                                          <p:spTgt spid="21"/>
                                        </p:tgtEl>
                                        <p:attrNameLst>
                                          <p:attrName>ppt_x</p:attrName>
                                        </p:attrNameLst>
                                      </p:cBhvr>
                                      <p:tavLst>
                                        <p:tav tm="0">
                                          <p:val>
                                            <p:strVal val="#ppt_x"/>
                                          </p:val>
                                        </p:tav>
                                        <p:tav tm="100000">
                                          <p:val>
                                            <p:strVal val="#ppt_x"/>
                                          </p:val>
                                        </p:tav>
                                      </p:tavLst>
                                    </p:anim>
                                    <p:anim calcmode="lin" valueType="num">
                                      <p:cBhvr>
                                        <p:cTn id="107" dur="500" decel="100000" fill="hold"/>
                                        <p:tgtEl>
                                          <p:spTgt spid="21"/>
                                        </p:tgtEl>
                                        <p:attrNameLst>
                                          <p:attrName>ppt_y</p:attrName>
                                        </p:attrNameLst>
                                      </p:cBhvr>
                                      <p:tavLst>
                                        <p:tav tm="0">
                                          <p:val>
                                            <p:strVal val="#ppt_y+0.0278"/>
                                          </p:val>
                                        </p:tav>
                                        <p:tav tm="100000">
                                          <p:val>
                                            <p:strVal val="#ppt_y"/>
                                          </p:val>
                                        </p:tav>
                                      </p:tavLst>
                                    </p:anim>
                                  </p:childTnLst>
                                </p:cTn>
                              </p:par>
                              <p:par>
                                <p:cTn id="108" presetID="42" presetClass="entr" presetSubtype="0" fill="hold" grpId="0" nodeType="withEffect">
                                  <p:stCondLst>
                                    <p:cond delay="0"/>
                                  </p:stCondLst>
                                  <p:childTnLst>
                                    <p:set>
                                      <p:cBhvr>
                                        <p:cTn id="109" dur="1" fill="hold">
                                          <p:stCondLst>
                                            <p:cond delay="0"/>
                                          </p:stCondLst>
                                        </p:cTn>
                                        <p:tgtEl>
                                          <p:spTgt spid="22"/>
                                        </p:tgtEl>
                                        <p:attrNameLst>
                                          <p:attrName>style.visibility</p:attrName>
                                        </p:attrNameLst>
                                      </p:cBhvr>
                                      <p:to>
                                        <p:strVal val="visible"/>
                                      </p:to>
                                    </p:set>
                                    <p:animEffect transition="in" filter="fade">
                                      <p:cBhvr>
                                        <p:cTn id="110" dur="500"/>
                                        <p:tgtEl>
                                          <p:spTgt spid="22"/>
                                        </p:tgtEl>
                                      </p:cBhvr>
                                    </p:animEffect>
                                    <p:anim calcmode="lin" valueType="num">
                                      <p:cBhvr>
                                        <p:cTn id="111" dur="500" decel="100000" fill="hold"/>
                                        <p:tgtEl>
                                          <p:spTgt spid="22"/>
                                        </p:tgtEl>
                                        <p:attrNameLst>
                                          <p:attrName>ppt_x</p:attrName>
                                        </p:attrNameLst>
                                      </p:cBhvr>
                                      <p:tavLst>
                                        <p:tav tm="0">
                                          <p:val>
                                            <p:strVal val="#ppt_x"/>
                                          </p:val>
                                        </p:tav>
                                        <p:tav tm="100000">
                                          <p:val>
                                            <p:strVal val="#ppt_x"/>
                                          </p:val>
                                        </p:tav>
                                      </p:tavLst>
                                    </p:anim>
                                    <p:anim calcmode="lin" valueType="num">
                                      <p:cBhvr>
                                        <p:cTn id="112" dur="500" decel="100000" fill="hold"/>
                                        <p:tgtEl>
                                          <p:spTgt spid="22"/>
                                        </p:tgtEl>
                                        <p:attrNameLst>
                                          <p:attrName>ppt_y</p:attrName>
                                        </p:attrNameLst>
                                      </p:cBhvr>
                                      <p:tavLst>
                                        <p:tav tm="0">
                                          <p:val>
                                            <p:strVal val="#ppt_y+0.0278"/>
                                          </p:val>
                                        </p:tav>
                                        <p:tav tm="100000">
                                          <p:val>
                                            <p:strVal val="#ppt_y"/>
                                          </p:val>
                                        </p:tav>
                                      </p:tavLst>
                                    </p:anim>
                                  </p:childTnLst>
                                </p:cTn>
                              </p:par>
                              <p:par>
                                <p:cTn id="113" presetID="42" presetClass="entr" presetSubtype="0" fill="hold" grpId="0" nodeType="withEffect">
                                  <p:stCondLst>
                                    <p:cond delay="0"/>
                                  </p:stCondLst>
                                  <p:childTnLst>
                                    <p:set>
                                      <p:cBhvr>
                                        <p:cTn id="114" dur="1" fill="hold">
                                          <p:stCondLst>
                                            <p:cond delay="0"/>
                                          </p:stCondLst>
                                        </p:cTn>
                                        <p:tgtEl>
                                          <p:spTgt spid="23"/>
                                        </p:tgtEl>
                                        <p:attrNameLst>
                                          <p:attrName>style.visibility</p:attrName>
                                        </p:attrNameLst>
                                      </p:cBhvr>
                                      <p:to>
                                        <p:strVal val="visible"/>
                                      </p:to>
                                    </p:set>
                                    <p:animEffect transition="in" filter="fade">
                                      <p:cBhvr>
                                        <p:cTn id="115" dur="500"/>
                                        <p:tgtEl>
                                          <p:spTgt spid="23"/>
                                        </p:tgtEl>
                                      </p:cBhvr>
                                    </p:animEffect>
                                    <p:anim calcmode="lin" valueType="num">
                                      <p:cBhvr>
                                        <p:cTn id="116" dur="500" decel="100000" fill="hold"/>
                                        <p:tgtEl>
                                          <p:spTgt spid="23"/>
                                        </p:tgtEl>
                                        <p:attrNameLst>
                                          <p:attrName>ppt_x</p:attrName>
                                        </p:attrNameLst>
                                      </p:cBhvr>
                                      <p:tavLst>
                                        <p:tav tm="0">
                                          <p:val>
                                            <p:strVal val="#ppt_x"/>
                                          </p:val>
                                        </p:tav>
                                        <p:tav tm="100000">
                                          <p:val>
                                            <p:strVal val="#ppt_x"/>
                                          </p:val>
                                        </p:tav>
                                      </p:tavLst>
                                    </p:anim>
                                    <p:anim calcmode="lin" valueType="num">
                                      <p:cBhvr>
                                        <p:cTn id="117" dur="500" decel="100000" fill="hold"/>
                                        <p:tgtEl>
                                          <p:spTgt spid="2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7" grpId="0"/>
      <p:bldP spid="8" grpId="0"/>
      <p:bldP spid="9" grpId="0" animBg="1"/>
      <p:bldP spid="10" grpId="0" animBg="1"/>
      <p:bldP spid="12" grpId="0"/>
      <p:bldP spid="13" grpId="0"/>
      <p:bldP spid="14" grpId="0" animBg="1"/>
      <p:bldP spid="15" grpId="0" animBg="1"/>
      <p:bldP spid="17" grpId="0"/>
      <p:bldP spid="18" grpId="0"/>
      <p:bldP spid="19" grpId="0" animBg="1"/>
      <p:bldP spid="20" grpId="0" animBg="1"/>
      <p:bldP spid="22" grpId="0"/>
      <p:bldP spid="23" grpId="0"/>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Solutions proposées</a:t>
            </a:r>
            <a:endParaRPr lang="en-US" sz="2800" dirty="0"/>
          </a:p>
        </p:txBody>
      </p:sp>
      <p:sp>
        <p:nvSpPr>
          <p:cNvPr id="4" name="c1_bg"/>
          <p:cNvSpPr/>
          <p:nvPr/>
        </p:nvSpPr>
        <p:spPr>
          <a:xfrm>
            <a:off x="548640" y="1554480"/>
            <a:ext cx="5440680" cy="4343400"/>
          </a:xfrm>
          <a:prstGeom prst="roundRect">
            <a:avLst>
              <a:gd name="adj" fmla="val 2526"/>
            </a:avLst>
          </a:prstGeom>
          <a:solidFill>
            <a:schemeClr val="bg2"/>
          </a:solidFill>
          <a:ln w="12700">
            <a:solidFill>
              <a:schemeClr val="bg2"/>
            </a:solidFill>
            <a:prstDash val="solid"/>
          </a:ln>
        </p:spPr>
      </p:sp>
      <p:sp>
        <p:nvSpPr>
          <p:cNvPr id="5" name="c1_ic"/>
          <p:cNvSpPr/>
          <p:nvPr/>
        </p:nvSpPr>
        <p:spPr>
          <a:xfrm>
            <a:off x="914400" y="1874520"/>
            <a:ext cx="640080" cy="640080"/>
          </a:xfrm>
          <a:prstGeom prst="ellipse">
            <a:avLst/>
          </a:prstGeom>
          <a:solidFill>
            <a:schemeClr val="bg1"/>
          </a:solidFill>
          <a:ln w="12700">
            <a:solidFill>
              <a:schemeClr val="bg1"/>
            </a:solidFill>
            <a:prstDash val="solid"/>
          </a:ln>
        </p:spPr>
      </p:sp>
      <p:pic>
        <p:nvPicPr>
          <p:cNvPr id="6" name="c1_ici" descr="preencoded.png">    </p:cNvPr>
          <p:cNvPicPr>
            <a:picLocks noChangeAspect="1"/>
          </p:cNvPicPr>
          <p:nvPr/>
        </p:nvPicPr>
        <p:blipFill>
          <a:blip r:embed="rId1"/>
          <a:stretch>
            <a:fillRect/>
          </a:stretch>
        </p:blipFill>
        <p:spPr>
          <a:xfrm>
            <a:off x="1074420" y="2034540"/>
            <a:ext cx="320040" cy="320040"/>
          </a:xfrm>
          <a:prstGeom prst="rect">
            <a:avLst/>
          </a:prstGeom>
        </p:spPr>
      </p:pic>
      <p:sp>
        <p:nvSpPr>
          <p:cNvPr id="7" name="c1_h"/>
          <p:cNvSpPr txBox="1"/>
          <p:nvPr/>
        </p:nvSpPr>
        <p:spPr>
          <a:xfrm>
            <a:off x="1737360" y="1874520"/>
            <a:ext cx="3931920" cy="640080"/>
          </a:xfrm>
          <a:prstGeom prst="rect">
            <a:avLst/>
          </a:prstGeom>
          <a:noFill/>
          <a:ln/>
        </p:spPr>
        <p:txBody>
          <a:bodyPr wrap="square" lIns="0" tIns="0" rIns="0" bIns="0" rtlCol="0" anchor="ctr"/>
          <a:lstStyle/>
          <a:p>
            <a:pPr indent="0" marL="0">
              <a:buNone/>
            </a:pPr>
            <a:r>
              <a:rPr lang="en-US" sz="1900" b="1" dirty="0">
                <a:solidFill>
                  <a:schemeClr val="tx2"/>
                </a:solidFill>
              </a:rPr>
              <a:t>Supports imprimés</a:t>
            </a:r>
            <a:endParaRPr lang="en-US" sz="1900" dirty="0"/>
          </a:p>
        </p:txBody>
      </p:sp>
      <p:sp>
        <p:nvSpPr>
          <p:cNvPr id="8" name="c1_l"/>
          <p:cNvSpPr txBox="1"/>
          <p:nvPr/>
        </p:nvSpPr>
        <p:spPr>
          <a:xfrm>
            <a:off x="960120" y="2834640"/>
            <a:ext cx="4800600" cy="2834640"/>
          </a:xfrm>
          <a:prstGeom prst="rect">
            <a:avLst/>
          </a:prstGeom>
          <a:noFill/>
          <a:ln/>
        </p:spPr>
        <p:txBody>
          <a:bodyPr wrap="square" lIns="0" tIns="0" rIns="0" bIns="0" rtlCol="0" anchor="t"/>
          <a:lstStyle/>
          <a:p>
            <a:pPr marL="228600" indent="-228600">
              <a:spcAft>
                <a:spcPts val="1600"/>
              </a:spcAft>
              <a:buSzPct val="100000"/>
              <a:buChar char="•"/>
            </a:pPr>
            <a:r>
              <a:rPr lang="en-US" sz="1600" dirty="0">
                <a:solidFill>
                  <a:schemeClr val="tx1"/>
                </a:solidFill>
              </a:rPr>
              <a:t>Signalétique extérieure uniformisée</a:t>
            </a:r>
            <a:endParaRPr lang="en-US" sz="1600" dirty="0"/>
          </a:p>
          <a:p>
            <a:pPr marL="228600" indent="-228600">
              <a:spcAft>
                <a:spcPts val="1600"/>
              </a:spcAft>
              <a:buSzPct val="100000"/>
              <a:buChar char="•"/>
            </a:pPr>
            <a:r>
              <a:rPr lang="en-US" sz="1600" dirty="0">
                <a:solidFill>
                  <a:schemeClr val="tx1"/>
                </a:solidFill>
              </a:rPr>
              <a:t>Welcome packs et cartes de membre</a:t>
            </a:r>
            <a:endParaRPr lang="en-US" sz="1600" dirty="0"/>
          </a:p>
          <a:p>
            <a:pPr marL="228600" indent="-228600">
              <a:spcAft>
                <a:spcPts val="1600"/>
              </a:spcAft>
              <a:buSzPct val="100000"/>
              <a:buChar char="•"/>
            </a:pPr>
            <a:r>
              <a:rPr lang="en-US" sz="1600" dirty="0">
                <a:solidFill>
                  <a:schemeClr val="tx1"/>
                </a:solidFill>
              </a:rPr>
              <a:t>Packaging « American's Gym Nutrition »</a:t>
            </a:r>
            <a:endParaRPr lang="en-US" sz="1600" dirty="0"/>
          </a:p>
        </p:txBody>
      </p:sp>
      <p:sp>
        <p:nvSpPr>
          <p:cNvPr id="9" name="c2_bg"/>
          <p:cNvSpPr/>
          <p:nvPr/>
        </p:nvSpPr>
        <p:spPr>
          <a:xfrm>
            <a:off x="6199632" y="1554480"/>
            <a:ext cx="5440680" cy="4343400"/>
          </a:xfrm>
          <a:prstGeom prst="roundRect">
            <a:avLst>
              <a:gd name="adj" fmla="val 2526"/>
            </a:avLst>
          </a:prstGeom>
          <a:solidFill>
            <a:schemeClr val="bg2"/>
          </a:solidFill>
          <a:ln w="12700">
            <a:solidFill>
              <a:schemeClr val="bg2"/>
            </a:solidFill>
            <a:prstDash val="solid"/>
          </a:ln>
        </p:spPr>
      </p:sp>
      <p:sp>
        <p:nvSpPr>
          <p:cNvPr id="10" name="c2_ic"/>
          <p:cNvSpPr/>
          <p:nvPr/>
        </p:nvSpPr>
        <p:spPr>
          <a:xfrm>
            <a:off x="6565392" y="1874520"/>
            <a:ext cx="640080" cy="640080"/>
          </a:xfrm>
          <a:prstGeom prst="ellipse">
            <a:avLst/>
          </a:prstGeom>
          <a:solidFill>
            <a:schemeClr val="bg1"/>
          </a:solidFill>
          <a:ln w="12700">
            <a:solidFill>
              <a:schemeClr val="bg1"/>
            </a:solidFill>
            <a:prstDash val="solid"/>
          </a:ln>
        </p:spPr>
      </p:sp>
      <p:pic>
        <p:nvPicPr>
          <p:cNvPr id="11" name="c2_ici" descr="preencoded.png">    </p:cNvPr>
          <p:cNvPicPr>
            <a:picLocks noChangeAspect="1"/>
          </p:cNvPicPr>
          <p:nvPr/>
        </p:nvPicPr>
        <p:blipFill>
          <a:blip r:embed="rId2"/>
          <a:stretch>
            <a:fillRect/>
          </a:stretch>
        </p:blipFill>
        <p:spPr>
          <a:xfrm>
            <a:off x="6725412" y="2034540"/>
            <a:ext cx="320040" cy="320040"/>
          </a:xfrm>
          <a:prstGeom prst="rect">
            <a:avLst/>
          </a:prstGeom>
        </p:spPr>
      </p:pic>
      <p:sp>
        <p:nvSpPr>
          <p:cNvPr id="12" name="c2_h"/>
          <p:cNvSpPr txBox="1"/>
          <p:nvPr/>
        </p:nvSpPr>
        <p:spPr>
          <a:xfrm>
            <a:off x="7388352" y="1874520"/>
            <a:ext cx="3931920" cy="640080"/>
          </a:xfrm>
          <a:prstGeom prst="rect">
            <a:avLst/>
          </a:prstGeom>
          <a:noFill/>
          <a:ln/>
        </p:spPr>
        <p:txBody>
          <a:bodyPr wrap="square" lIns="0" tIns="0" rIns="0" bIns="0" rtlCol="0" anchor="ctr"/>
          <a:lstStyle/>
          <a:p>
            <a:pPr indent="0" marL="0">
              <a:buNone/>
            </a:pPr>
            <a:r>
              <a:rPr lang="en-US" sz="1900" b="1" dirty="0">
                <a:solidFill>
                  <a:schemeClr val="tx2"/>
                </a:solidFill>
              </a:rPr>
              <a:t>Supports digitaux</a:t>
            </a:r>
            <a:endParaRPr lang="en-US" sz="1900" dirty="0"/>
          </a:p>
        </p:txBody>
      </p:sp>
      <p:sp>
        <p:nvSpPr>
          <p:cNvPr id="13" name="c2_l"/>
          <p:cNvSpPr txBox="1"/>
          <p:nvPr/>
        </p:nvSpPr>
        <p:spPr>
          <a:xfrm>
            <a:off x="6611112" y="2834640"/>
            <a:ext cx="4800600" cy="2834640"/>
          </a:xfrm>
          <a:prstGeom prst="rect">
            <a:avLst/>
          </a:prstGeom>
          <a:noFill/>
          <a:ln/>
        </p:spPr>
        <p:txBody>
          <a:bodyPr wrap="square" lIns="0" tIns="0" rIns="0" bIns="0" rtlCol="0" anchor="t"/>
          <a:lstStyle/>
          <a:p>
            <a:pPr marL="228600" indent="-228600">
              <a:spcAft>
                <a:spcPts val="1600"/>
              </a:spcAft>
              <a:buSzPct val="100000"/>
              <a:buChar char="•"/>
            </a:pPr>
            <a:r>
              <a:rPr lang="en-US" sz="1600" dirty="0">
                <a:solidFill>
                  <a:schemeClr val="tx1"/>
                </a:solidFill>
              </a:rPr>
              <a:t>Nom de domaine personnalisé</a:t>
            </a:r>
            <a:endParaRPr lang="en-US" sz="1600" dirty="0"/>
          </a:p>
          <a:p>
            <a:pPr marL="228600" indent="-228600">
              <a:spcAft>
                <a:spcPts val="1600"/>
              </a:spcAft>
              <a:buSzPct val="100000"/>
              <a:buChar char="•"/>
            </a:pPr>
            <a:r>
              <a:rPr lang="en-US" sz="1600" dirty="0">
                <a:solidFill>
                  <a:schemeClr val="tx1"/>
                </a:solidFill>
              </a:rPr>
              <a:t>Identifiant TikTok @americans.gym.dokui</a:t>
            </a:r>
            <a:endParaRPr lang="en-US" sz="1600" dirty="0"/>
          </a:p>
          <a:p>
            <a:pPr marL="228600" indent="-228600">
              <a:spcAft>
                <a:spcPts val="1600"/>
              </a:spcAft>
              <a:buSzPct val="100000"/>
              <a:buChar char="•"/>
            </a:pPr>
            <a:r>
              <a:rPr lang="en-US" sz="1600" dirty="0">
                <a:solidFill>
                  <a:schemeClr val="tx1"/>
                </a:solidFill>
              </a:rPr>
              <a:t>Gabarits de publications réutilisables</a:t>
            </a:r>
            <a:endParaRPr lang="en-US" sz="1600" dirty="0"/>
          </a:p>
          <a:p>
            <a:pPr marL="228600" indent="-228600">
              <a:spcAft>
                <a:spcPts val="1600"/>
              </a:spcAft>
              <a:buSzPct val="100000"/>
              <a:buChar char="•"/>
            </a:pPr>
            <a:r>
              <a:rPr lang="en-US" sz="1600" dirty="0">
                <a:solidFill>
                  <a:schemeClr val="tx1"/>
                </a:solidFill>
              </a:rPr>
              <a:t>Compte « American's Nutrition » dédié</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7" grpId="0"/>
      <p:bldP spid="8" grpId="0"/>
      <p:bldP spid="9" grpId="0" animBg="1"/>
      <p:bldP spid="10" grpId="0" animBg="1"/>
      <p:bldP spid="12" grpId="0"/>
      <p:bldP spid="13" grpId="0"/>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8229600" cy="502920"/>
          </a:xfrm>
          <a:prstGeom prst="rect">
            <a:avLst/>
          </a:prstGeom>
          <a:noFill/>
          <a:ln/>
        </p:spPr>
        <p:txBody>
          <a:bodyPr wrap="square" lIns="0" tIns="0" rIns="0" bIns="0" rtlCol="0" anchor="b"/>
          <a:lstStyle/>
          <a:p>
            <a:pPr algn="l" indent="0" marL="0">
              <a:buNone/>
            </a:pPr>
            <a:r>
              <a:rPr lang="en-US" sz="1600" b="1" spc="400" kern="0" dirty="0">
                <a:solidFill>
                  <a:srgbClr val="FFFFFF"/>
                </a:solidFill>
              </a:rPr>
              <a:t>03 · DEUXIÈME PARTIE</a:t>
            </a:r>
            <a:endParaRPr lang="en-US" sz="1600" dirty="0"/>
          </a:p>
        </p:txBody>
      </p:sp>
      <p:sp>
        <p:nvSpPr>
          <p:cNvPr id="3" name="Text 0"/>
          <p:cNvSpPr/>
          <p:nvPr>
            <p:ph idx="101" type="title" hasCustomPrompt="1"/>
          </p:nvPr>
        </p:nvSpPr>
        <p:spPr>
          <a:xfrm>
            <a:off x="822960" y="2926080"/>
            <a:ext cx="9601200" cy="1188720"/>
          </a:xfrm>
          <a:prstGeom prst="rect">
            <a:avLst/>
          </a:prstGeom>
          <a:noFill/>
          <a:ln/>
        </p:spPr>
        <p:txBody>
          <a:bodyPr wrap="square" lIns="0" tIns="0" rIns="0" bIns="0" rtlCol="0" anchor="t"/>
          <a:lstStyle/>
          <a:p>
            <a:pPr algn="l" indent="0" marL="0">
              <a:buNone/>
            </a:pPr>
            <a:r>
              <a:rPr lang="en-US" sz="4800" b="1" dirty="0">
                <a:solidFill>
                  <a:srgbClr val="FFFFFF"/>
                </a:solidFill>
              </a:rPr>
              <a:t>Étude technique</a:t>
            </a:r>
            <a:endParaRPr lang="en-US" sz="4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decel="100000" fill="hold"/>
                                        <p:tgtEl>
                                          <p:spTgt spid="3"/>
                                        </p:tgtEl>
                                        <p:attrNameLst>
                                          <p:attrName>ppt_x</p:attrName>
                                        </p:attrNameLst>
                                      </p:cBhvr>
                                      <p:tavLst>
                                        <p:tav tm="0">
                                          <p:val>
                                            <p:strVal val="#ppt_x"/>
                                          </p:val>
                                        </p:tav>
                                        <p:tav tm="100000">
                                          <p:val>
                                            <p:strVal val="#ppt_x"/>
                                          </p:val>
                                        </p:tav>
                                      </p:tavLst>
                                    </p:anim>
                                    <p:anim calcmode="lin" valueType="num">
                                      <p:cBhvr>
                                        <p:cTn id="14"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Objectif du cahier des charges</a:t>
            </a:r>
            <a:endParaRPr lang="en-US" sz="2800" dirty="0"/>
          </a:p>
        </p:txBody>
      </p:sp>
      <p:sp>
        <p:nvSpPr>
          <p:cNvPr id="4" name="c1_obj"/>
          <p:cNvSpPr txBox="1"/>
          <p:nvPr/>
        </p:nvSpPr>
        <p:spPr>
          <a:xfrm>
            <a:off x="548640" y="1600200"/>
            <a:ext cx="10607040" cy="1097280"/>
          </a:xfrm>
          <a:prstGeom prst="rect">
            <a:avLst/>
          </a:prstGeom>
          <a:noFill/>
          <a:ln/>
        </p:spPr>
        <p:txBody>
          <a:bodyPr wrap="square" lIns="0" tIns="0" rIns="0" bIns="0" rtlCol="0" anchor="t"/>
          <a:lstStyle/>
          <a:p>
            <a:pPr indent="0" marL="0">
              <a:buNone/>
            </a:pPr>
            <a:r>
              <a:rPr lang="en-US" sz="2200" b="1" dirty="0">
                <a:solidFill>
                  <a:schemeClr val="tx1"/>
                </a:solidFill>
              </a:rPr>
              <a:t>Concevoir et réaliser des supports imprimés et numériques pour renforcer la visibilité et la notoriété d'American's Gym Dokui</a:t>
            </a:r>
            <a:endParaRPr lang="en-US" sz="2200" dirty="0"/>
          </a:p>
        </p:txBody>
      </p:sp>
      <p:sp>
        <p:nvSpPr>
          <p:cNvPr id="5" name="c2_k"/>
          <p:cNvSpPr txBox="1"/>
          <p:nvPr/>
        </p:nvSpPr>
        <p:spPr>
          <a:xfrm>
            <a:off x="548640" y="3246120"/>
            <a:ext cx="2743200" cy="365760"/>
          </a:xfrm>
          <a:prstGeom prst="rect">
            <a:avLst/>
          </a:prstGeom>
          <a:noFill/>
          <a:ln/>
        </p:spPr>
        <p:txBody>
          <a:bodyPr wrap="square" lIns="0" tIns="0" rIns="0" bIns="0" rtlCol="0" anchor="t"/>
          <a:lstStyle/>
          <a:p>
            <a:pPr indent="0" marL="0">
              <a:buNone/>
            </a:pPr>
            <a:r>
              <a:rPr lang="en-US" sz="1200" b="1" spc="200" kern="0" dirty="0">
                <a:solidFill>
                  <a:schemeClr val="accent1"/>
                </a:solidFill>
              </a:rPr>
              <a:t>CIBLES</a:t>
            </a:r>
            <a:endParaRPr lang="en-US" sz="1200" dirty="0"/>
          </a:p>
        </p:txBody>
      </p:sp>
      <p:sp>
        <p:nvSpPr>
          <p:cNvPr id="6" name="c2_b0"/>
          <p:cNvSpPr/>
          <p:nvPr/>
        </p:nvSpPr>
        <p:spPr>
          <a:xfrm>
            <a:off x="548640" y="3703320"/>
            <a:ext cx="2075688" cy="1600200"/>
          </a:xfrm>
          <a:prstGeom prst="roundRect">
            <a:avLst>
              <a:gd name="adj" fmla="val 6857"/>
            </a:avLst>
          </a:prstGeom>
          <a:solidFill>
            <a:schemeClr val="bg2"/>
          </a:solidFill>
          <a:ln w="12700">
            <a:solidFill>
              <a:schemeClr val="bg2"/>
            </a:solidFill>
            <a:prstDash val="solid"/>
          </a:ln>
        </p:spPr>
      </p:sp>
      <p:sp>
        <p:nvSpPr>
          <p:cNvPr id="7" name="c2_ic0"/>
          <p:cNvSpPr/>
          <p:nvPr/>
        </p:nvSpPr>
        <p:spPr>
          <a:xfrm>
            <a:off x="777240" y="3931920"/>
            <a:ext cx="548640" cy="548640"/>
          </a:xfrm>
          <a:prstGeom prst="ellipse">
            <a:avLst/>
          </a:prstGeom>
          <a:solidFill>
            <a:schemeClr val="bg1"/>
          </a:solidFill>
          <a:ln w="12700">
            <a:solidFill>
              <a:schemeClr val="bg1"/>
            </a:solidFill>
            <a:prstDash val="solid"/>
          </a:ln>
        </p:spPr>
      </p:sp>
      <p:pic>
        <p:nvPicPr>
          <p:cNvPr id="8" name="c2_ic0i" descr="preencoded.png">    </p:cNvPr>
          <p:cNvPicPr>
            <a:picLocks noChangeAspect="1"/>
          </p:cNvPicPr>
          <p:nvPr/>
        </p:nvPicPr>
        <p:blipFill>
          <a:blip r:embed="rId1"/>
          <a:stretch>
            <a:fillRect/>
          </a:stretch>
        </p:blipFill>
        <p:spPr>
          <a:xfrm>
            <a:off x="914400" y="4069080"/>
            <a:ext cx="274320" cy="274320"/>
          </a:xfrm>
          <a:prstGeom prst="rect">
            <a:avLst/>
          </a:prstGeom>
        </p:spPr>
      </p:pic>
      <p:sp>
        <p:nvSpPr>
          <p:cNvPr id="9" name="c2_t0"/>
          <p:cNvSpPr txBox="1"/>
          <p:nvPr/>
        </p:nvSpPr>
        <p:spPr>
          <a:xfrm>
            <a:off x="777240" y="4572000"/>
            <a:ext cx="1691640" cy="640080"/>
          </a:xfrm>
          <a:prstGeom prst="rect">
            <a:avLst/>
          </a:prstGeom>
          <a:noFill/>
          <a:ln/>
        </p:spPr>
        <p:txBody>
          <a:bodyPr wrap="square" lIns="0" tIns="0" rIns="0" bIns="0" rtlCol="0" anchor="t"/>
          <a:lstStyle/>
          <a:p>
            <a:pPr indent="0" marL="0">
              <a:buNone/>
            </a:pPr>
            <a:r>
              <a:rPr lang="en-US" sz="1400" b="1" dirty="0">
                <a:solidFill>
                  <a:schemeClr val="tx1"/>
                </a:solidFill>
              </a:rPr>
              <a:t>Clients actuels</a:t>
            </a:r>
            <a:endParaRPr lang="en-US" sz="1400" dirty="0"/>
          </a:p>
        </p:txBody>
      </p:sp>
      <p:sp>
        <p:nvSpPr>
          <p:cNvPr id="10" name="c2_b1"/>
          <p:cNvSpPr/>
          <p:nvPr/>
        </p:nvSpPr>
        <p:spPr>
          <a:xfrm>
            <a:off x="2807208" y="3703320"/>
            <a:ext cx="2075688" cy="1600200"/>
          </a:xfrm>
          <a:prstGeom prst="roundRect">
            <a:avLst>
              <a:gd name="adj" fmla="val 6857"/>
            </a:avLst>
          </a:prstGeom>
          <a:solidFill>
            <a:schemeClr val="bg2"/>
          </a:solidFill>
          <a:ln w="12700">
            <a:solidFill>
              <a:schemeClr val="bg2"/>
            </a:solidFill>
            <a:prstDash val="solid"/>
          </a:ln>
        </p:spPr>
      </p:sp>
      <p:sp>
        <p:nvSpPr>
          <p:cNvPr id="11" name="c2_ic1"/>
          <p:cNvSpPr/>
          <p:nvPr/>
        </p:nvSpPr>
        <p:spPr>
          <a:xfrm>
            <a:off x="3035808" y="3931920"/>
            <a:ext cx="548640" cy="548640"/>
          </a:xfrm>
          <a:prstGeom prst="ellipse">
            <a:avLst/>
          </a:prstGeom>
          <a:solidFill>
            <a:schemeClr val="bg1"/>
          </a:solidFill>
          <a:ln w="12700">
            <a:solidFill>
              <a:schemeClr val="bg1"/>
            </a:solidFill>
            <a:prstDash val="solid"/>
          </a:ln>
        </p:spPr>
      </p:sp>
      <p:pic>
        <p:nvPicPr>
          <p:cNvPr id="12" name="c2_ic1i" descr="preencoded.png">    </p:cNvPr>
          <p:cNvPicPr>
            <a:picLocks noChangeAspect="1"/>
          </p:cNvPicPr>
          <p:nvPr/>
        </p:nvPicPr>
        <p:blipFill>
          <a:blip r:embed="rId2"/>
          <a:stretch>
            <a:fillRect/>
          </a:stretch>
        </p:blipFill>
        <p:spPr>
          <a:xfrm>
            <a:off x="3172968" y="4069080"/>
            <a:ext cx="274320" cy="274320"/>
          </a:xfrm>
          <a:prstGeom prst="rect">
            <a:avLst/>
          </a:prstGeom>
        </p:spPr>
      </p:pic>
      <p:sp>
        <p:nvSpPr>
          <p:cNvPr id="13" name="c2_t1"/>
          <p:cNvSpPr txBox="1"/>
          <p:nvPr/>
        </p:nvSpPr>
        <p:spPr>
          <a:xfrm>
            <a:off x="3035808" y="4572000"/>
            <a:ext cx="1691640" cy="640080"/>
          </a:xfrm>
          <a:prstGeom prst="rect">
            <a:avLst/>
          </a:prstGeom>
          <a:noFill/>
          <a:ln/>
        </p:spPr>
        <p:txBody>
          <a:bodyPr wrap="square" lIns="0" tIns="0" rIns="0" bIns="0" rtlCol="0" anchor="t"/>
          <a:lstStyle/>
          <a:p>
            <a:pPr indent="0" marL="0">
              <a:buNone/>
            </a:pPr>
            <a:r>
              <a:rPr lang="en-US" sz="1400" b="1" dirty="0">
                <a:solidFill>
                  <a:schemeClr val="tx1"/>
                </a:solidFill>
              </a:rPr>
              <a:t>Clients potentiels</a:t>
            </a:r>
            <a:endParaRPr lang="en-US" sz="1400" dirty="0"/>
          </a:p>
        </p:txBody>
      </p:sp>
      <p:sp>
        <p:nvSpPr>
          <p:cNvPr id="14" name="c2_b2"/>
          <p:cNvSpPr/>
          <p:nvPr/>
        </p:nvSpPr>
        <p:spPr>
          <a:xfrm>
            <a:off x="5065776" y="3703320"/>
            <a:ext cx="2075688" cy="1600200"/>
          </a:xfrm>
          <a:prstGeom prst="roundRect">
            <a:avLst>
              <a:gd name="adj" fmla="val 6857"/>
            </a:avLst>
          </a:prstGeom>
          <a:solidFill>
            <a:schemeClr val="bg2"/>
          </a:solidFill>
          <a:ln w="12700">
            <a:solidFill>
              <a:schemeClr val="bg2"/>
            </a:solidFill>
            <a:prstDash val="solid"/>
          </a:ln>
        </p:spPr>
      </p:sp>
      <p:sp>
        <p:nvSpPr>
          <p:cNvPr id="15" name="c2_ic2"/>
          <p:cNvSpPr/>
          <p:nvPr/>
        </p:nvSpPr>
        <p:spPr>
          <a:xfrm>
            <a:off x="5294376" y="3931920"/>
            <a:ext cx="548640" cy="548640"/>
          </a:xfrm>
          <a:prstGeom prst="ellipse">
            <a:avLst/>
          </a:prstGeom>
          <a:solidFill>
            <a:schemeClr val="bg1"/>
          </a:solidFill>
          <a:ln w="12700">
            <a:solidFill>
              <a:schemeClr val="bg1"/>
            </a:solidFill>
            <a:prstDash val="solid"/>
          </a:ln>
        </p:spPr>
      </p:sp>
      <p:pic>
        <p:nvPicPr>
          <p:cNvPr id="16" name="c2_ic2i" descr="preencoded.png">    </p:cNvPr>
          <p:cNvPicPr>
            <a:picLocks noChangeAspect="1"/>
          </p:cNvPicPr>
          <p:nvPr/>
        </p:nvPicPr>
        <p:blipFill>
          <a:blip r:embed="rId3"/>
          <a:stretch>
            <a:fillRect/>
          </a:stretch>
        </p:blipFill>
        <p:spPr>
          <a:xfrm>
            <a:off x="5431536" y="4069080"/>
            <a:ext cx="274320" cy="274320"/>
          </a:xfrm>
          <a:prstGeom prst="rect">
            <a:avLst/>
          </a:prstGeom>
        </p:spPr>
      </p:pic>
      <p:sp>
        <p:nvSpPr>
          <p:cNvPr id="17" name="c2_t2"/>
          <p:cNvSpPr txBox="1"/>
          <p:nvPr/>
        </p:nvSpPr>
        <p:spPr>
          <a:xfrm>
            <a:off x="5294376" y="4572000"/>
            <a:ext cx="1691640" cy="640080"/>
          </a:xfrm>
          <a:prstGeom prst="rect">
            <a:avLst/>
          </a:prstGeom>
          <a:noFill/>
          <a:ln/>
        </p:spPr>
        <p:txBody>
          <a:bodyPr wrap="square" lIns="0" tIns="0" rIns="0" bIns="0" rtlCol="0" anchor="t"/>
          <a:lstStyle/>
          <a:p>
            <a:pPr indent="0" marL="0">
              <a:buNone/>
            </a:pPr>
            <a:r>
              <a:rPr lang="en-US" sz="1400" b="1" dirty="0">
                <a:solidFill>
                  <a:schemeClr val="tx1"/>
                </a:solidFill>
              </a:rPr>
              <a:t>Partenaires potentiels</a:t>
            </a:r>
            <a:endParaRPr lang="en-US" sz="1400" dirty="0"/>
          </a:p>
        </p:txBody>
      </p:sp>
      <p:sp>
        <p:nvSpPr>
          <p:cNvPr id="18" name="c2_b3"/>
          <p:cNvSpPr/>
          <p:nvPr/>
        </p:nvSpPr>
        <p:spPr>
          <a:xfrm>
            <a:off x="7324344" y="3703320"/>
            <a:ext cx="2075688" cy="1600200"/>
          </a:xfrm>
          <a:prstGeom prst="roundRect">
            <a:avLst>
              <a:gd name="adj" fmla="val 6857"/>
            </a:avLst>
          </a:prstGeom>
          <a:solidFill>
            <a:schemeClr val="bg2"/>
          </a:solidFill>
          <a:ln w="12700">
            <a:solidFill>
              <a:schemeClr val="bg2"/>
            </a:solidFill>
            <a:prstDash val="solid"/>
          </a:ln>
        </p:spPr>
      </p:sp>
      <p:sp>
        <p:nvSpPr>
          <p:cNvPr id="19" name="c2_ic3"/>
          <p:cNvSpPr/>
          <p:nvPr/>
        </p:nvSpPr>
        <p:spPr>
          <a:xfrm>
            <a:off x="7552944" y="3931920"/>
            <a:ext cx="548640" cy="548640"/>
          </a:xfrm>
          <a:prstGeom prst="ellipse">
            <a:avLst/>
          </a:prstGeom>
          <a:solidFill>
            <a:schemeClr val="bg1"/>
          </a:solidFill>
          <a:ln w="12700">
            <a:solidFill>
              <a:schemeClr val="bg1"/>
            </a:solidFill>
            <a:prstDash val="solid"/>
          </a:ln>
        </p:spPr>
      </p:sp>
      <p:pic>
        <p:nvPicPr>
          <p:cNvPr id="20" name="c2_ic3i" descr="preencoded.png">    </p:cNvPr>
          <p:cNvPicPr>
            <a:picLocks noChangeAspect="1"/>
          </p:cNvPicPr>
          <p:nvPr/>
        </p:nvPicPr>
        <p:blipFill>
          <a:blip r:embed="rId4"/>
          <a:stretch>
            <a:fillRect/>
          </a:stretch>
        </p:blipFill>
        <p:spPr>
          <a:xfrm>
            <a:off x="7690104" y="4069080"/>
            <a:ext cx="274320" cy="274320"/>
          </a:xfrm>
          <a:prstGeom prst="rect">
            <a:avLst/>
          </a:prstGeom>
        </p:spPr>
      </p:pic>
      <p:sp>
        <p:nvSpPr>
          <p:cNvPr id="21" name="c2_t3"/>
          <p:cNvSpPr txBox="1"/>
          <p:nvPr/>
        </p:nvSpPr>
        <p:spPr>
          <a:xfrm>
            <a:off x="7552944" y="4572000"/>
            <a:ext cx="1691640" cy="640080"/>
          </a:xfrm>
          <a:prstGeom prst="rect">
            <a:avLst/>
          </a:prstGeom>
          <a:noFill/>
          <a:ln/>
        </p:spPr>
        <p:txBody>
          <a:bodyPr wrap="square" lIns="0" tIns="0" rIns="0" bIns="0" rtlCol="0" anchor="t"/>
          <a:lstStyle/>
          <a:p>
            <a:pPr indent="0" marL="0">
              <a:buNone/>
            </a:pPr>
            <a:r>
              <a:rPr lang="en-US" sz="1400" b="1" dirty="0">
                <a:solidFill>
                  <a:schemeClr val="tx1"/>
                </a:solidFill>
              </a:rPr>
              <a:t>Professionnels de l'industrie</a:t>
            </a:r>
            <a:endParaRPr lang="en-US" sz="1400" dirty="0"/>
          </a:p>
        </p:txBody>
      </p:sp>
      <p:sp>
        <p:nvSpPr>
          <p:cNvPr id="22" name="c2_b4"/>
          <p:cNvSpPr/>
          <p:nvPr/>
        </p:nvSpPr>
        <p:spPr>
          <a:xfrm>
            <a:off x="9582912" y="3703320"/>
            <a:ext cx="2075688" cy="1600200"/>
          </a:xfrm>
          <a:prstGeom prst="roundRect">
            <a:avLst>
              <a:gd name="adj" fmla="val 6857"/>
            </a:avLst>
          </a:prstGeom>
          <a:solidFill>
            <a:schemeClr val="bg2"/>
          </a:solidFill>
          <a:ln w="12700">
            <a:solidFill>
              <a:schemeClr val="bg2"/>
            </a:solidFill>
            <a:prstDash val="solid"/>
          </a:ln>
        </p:spPr>
      </p:sp>
      <p:sp>
        <p:nvSpPr>
          <p:cNvPr id="23" name="c2_ic4"/>
          <p:cNvSpPr/>
          <p:nvPr/>
        </p:nvSpPr>
        <p:spPr>
          <a:xfrm>
            <a:off x="9811512" y="3931920"/>
            <a:ext cx="548640" cy="548640"/>
          </a:xfrm>
          <a:prstGeom prst="ellipse">
            <a:avLst/>
          </a:prstGeom>
          <a:solidFill>
            <a:schemeClr val="bg1"/>
          </a:solidFill>
          <a:ln w="12700">
            <a:solidFill>
              <a:schemeClr val="bg1"/>
            </a:solidFill>
            <a:prstDash val="solid"/>
          </a:ln>
        </p:spPr>
      </p:sp>
      <p:pic>
        <p:nvPicPr>
          <p:cNvPr id="24" name="c2_ic4i" descr="preencoded.png">    </p:cNvPr>
          <p:cNvPicPr>
            <a:picLocks noChangeAspect="1"/>
          </p:cNvPicPr>
          <p:nvPr/>
        </p:nvPicPr>
        <p:blipFill>
          <a:blip r:embed="rId5"/>
          <a:stretch>
            <a:fillRect/>
          </a:stretch>
        </p:blipFill>
        <p:spPr>
          <a:xfrm>
            <a:off x="9948672" y="4069080"/>
            <a:ext cx="274320" cy="274320"/>
          </a:xfrm>
          <a:prstGeom prst="rect">
            <a:avLst/>
          </a:prstGeom>
        </p:spPr>
      </p:pic>
      <p:sp>
        <p:nvSpPr>
          <p:cNvPr id="25" name="c2_t4"/>
          <p:cNvSpPr txBox="1"/>
          <p:nvPr/>
        </p:nvSpPr>
        <p:spPr>
          <a:xfrm>
            <a:off x="9811512" y="4572000"/>
            <a:ext cx="1691640" cy="640080"/>
          </a:xfrm>
          <a:prstGeom prst="rect">
            <a:avLst/>
          </a:prstGeom>
          <a:noFill/>
          <a:ln/>
        </p:spPr>
        <p:txBody>
          <a:bodyPr wrap="square" lIns="0" tIns="0" rIns="0" bIns="0" rtlCol="0" anchor="t"/>
          <a:lstStyle/>
          <a:p>
            <a:pPr indent="0" marL="0">
              <a:buNone/>
            </a:pPr>
            <a:r>
              <a:rPr lang="en-US" sz="1400" b="1" dirty="0">
                <a:solidFill>
                  <a:schemeClr val="tx1"/>
                </a:solidFill>
              </a:rPr>
              <a:t>Grand public</a:t>
            </a:r>
            <a:endParaRPr lang="en-US" sz="14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decel="100000" fill="hold"/>
                                        <p:tgtEl>
                                          <p:spTgt spid="5"/>
                                        </p:tgtEl>
                                        <p:attrNameLst>
                                          <p:attrName>ppt_x</p:attrName>
                                        </p:attrNameLst>
                                      </p:cBhvr>
                                      <p:tavLst>
                                        <p:tav tm="0">
                                          <p:val>
                                            <p:strVal val="#ppt_x"/>
                                          </p:val>
                                        </p:tav>
                                        <p:tav tm="100000">
                                          <p:val>
                                            <p:strVal val="#ppt_x"/>
                                          </p:val>
                                        </p:tav>
                                      </p:tavLst>
                                    </p:anim>
                                    <p:anim calcmode="lin" valueType="num">
                                      <p:cBhvr>
                                        <p:cTn id="23" dur="500" decel="100000" fill="hold"/>
                                        <p:tgtEl>
                                          <p:spTgt spid="5"/>
                                        </p:tgtEl>
                                        <p:attrNameLst>
                                          <p:attrName>ppt_y</p:attrName>
                                        </p:attrNameLst>
                                      </p:cBhvr>
                                      <p:tavLst>
                                        <p:tav tm="0">
                                          <p:val>
                                            <p:strVal val="#ppt_y+0.0278"/>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027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0278"/>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anim calcmode="lin" valueType="num">
                                      <p:cBhvr>
                                        <p:cTn id="77" dur="500" decel="100000" fill="hold"/>
                                        <p:tgtEl>
                                          <p:spTgt spid="16"/>
                                        </p:tgtEl>
                                        <p:attrNameLst>
                                          <p:attrName>ppt_x</p:attrName>
                                        </p:attrNameLst>
                                      </p:cBhvr>
                                      <p:tavLst>
                                        <p:tav tm="0">
                                          <p:val>
                                            <p:strVal val="#ppt_x"/>
                                          </p:val>
                                        </p:tav>
                                        <p:tav tm="100000">
                                          <p:val>
                                            <p:strVal val="#ppt_x"/>
                                          </p:val>
                                        </p:tav>
                                      </p:tavLst>
                                    </p:anim>
                                    <p:anim calcmode="lin" valueType="num">
                                      <p:cBhvr>
                                        <p:cTn id="78" dur="500" decel="100000" fill="hold"/>
                                        <p:tgtEl>
                                          <p:spTgt spid="16"/>
                                        </p:tgtEl>
                                        <p:attrNameLst>
                                          <p:attrName>ppt_y</p:attrName>
                                        </p:attrNameLst>
                                      </p:cBhvr>
                                      <p:tavLst>
                                        <p:tav tm="0">
                                          <p:val>
                                            <p:strVal val="#ppt_y+0.0278"/>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anim calcmode="lin" valueType="num">
                                      <p:cBhvr>
                                        <p:cTn id="82" dur="500" decel="100000" fill="hold"/>
                                        <p:tgtEl>
                                          <p:spTgt spid="17"/>
                                        </p:tgtEl>
                                        <p:attrNameLst>
                                          <p:attrName>ppt_x</p:attrName>
                                        </p:attrNameLst>
                                      </p:cBhvr>
                                      <p:tavLst>
                                        <p:tav tm="0">
                                          <p:val>
                                            <p:strVal val="#ppt_x"/>
                                          </p:val>
                                        </p:tav>
                                        <p:tav tm="100000">
                                          <p:val>
                                            <p:strVal val="#ppt_x"/>
                                          </p:val>
                                        </p:tav>
                                      </p:tavLst>
                                    </p:anim>
                                    <p:anim calcmode="lin" valueType="num">
                                      <p:cBhvr>
                                        <p:cTn id="83" dur="500" decel="100000" fill="hold"/>
                                        <p:tgtEl>
                                          <p:spTgt spid="17"/>
                                        </p:tgtEl>
                                        <p:attrNameLst>
                                          <p:attrName>ppt_y</p:attrName>
                                        </p:attrNameLst>
                                      </p:cBhvr>
                                      <p:tavLst>
                                        <p:tav tm="0">
                                          <p:val>
                                            <p:strVal val="#ppt_y+0.0278"/>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500"/>
                                        <p:tgtEl>
                                          <p:spTgt spid="18"/>
                                        </p:tgtEl>
                                      </p:cBhvr>
                                    </p:animEffect>
                                    <p:anim calcmode="lin" valueType="num">
                                      <p:cBhvr>
                                        <p:cTn id="87" dur="500" decel="100000" fill="hold"/>
                                        <p:tgtEl>
                                          <p:spTgt spid="18"/>
                                        </p:tgtEl>
                                        <p:attrNameLst>
                                          <p:attrName>ppt_x</p:attrName>
                                        </p:attrNameLst>
                                      </p:cBhvr>
                                      <p:tavLst>
                                        <p:tav tm="0">
                                          <p:val>
                                            <p:strVal val="#ppt_x"/>
                                          </p:val>
                                        </p:tav>
                                        <p:tav tm="100000">
                                          <p:val>
                                            <p:strVal val="#ppt_x"/>
                                          </p:val>
                                        </p:tav>
                                      </p:tavLst>
                                    </p:anim>
                                    <p:anim calcmode="lin" valueType="num">
                                      <p:cBhvr>
                                        <p:cTn id="88" dur="500" decel="100000" fill="hold"/>
                                        <p:tgtEl>
                                          <p:spTgt spid="18"/>
                                        </p:tgtEl>
                                        <p:attrNameLst>
                                          <p:attrName>ppt_y</p:attrName>
                                        </p:attrNameLst>
                                      </p:cBhvr>
                                      <p:tavLst>
                                        <p:tav tm="0">
                                          <p:val>
                                            <p:strVal val="#ppt_y+0.0278"/>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500"/>
                                        <p:tgtEl>
                                          <p:spTgt spid="19"/>
                                        </p:tgtEl>
                                      </p:cBhvr>
                                    </p:animEffect>
                                    <p:anim calcmode="lin" valueType="num">
                                      <p:cBhvr>
                                        <p:cTn id="92" dur="500" decel="100000" fill="hold"/>
                                        <p:tgtEl>
                                          <p:spTgt spid="19"/>
                                        </p:tgtEl>
                                        <p:attrNameLst>
                                          <p:attrName>ppt_x</p:attrName>
                                        </p:attrNameLst>
                                      </p:cBhvr>
                                      <p:tavLst>
                                        <p:tav tm="0">
                                          <p:val>
                                            <p:strVal val="#ppt_x"/>
                                          </p:val>
                                        </p:tav>
                                        <p:tav tm="100000">
                                          <p:val>
                                            <p:strVal val="#ppt_x"/>
                                          </p:val>
                                        </p:tav>
                                      </p:tavLst>
                                    </p:anim>
                                    <p:anim calcmode="lin" valueType="num">
                                      <p:cBhvr>
                                        <p:cTn id="93" dur="500" decel="100000" fill="hold"/>
                                        <p:tgtEl>
                                          <p:spTgt spid="19"/>
                                        </p:tgtEl>
                                        <p:attrNameLst>
                                          <p:attrName>ppt_y</p:attrName>
                                        </p:attrNameLst>
                                      </p:cBhvr>
                                      <p:tavLst>
                                        <p:tav tm="0">
                                          <p:val>
                                            <p:strVal val="#ppt_y+0.0278"/>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anim calcmode="lin" valueType="num">
                                      <p:cBhvr>
                                        <p:cTn id="97" dur="500" decel="100000" fill="hold"/>
                                        <p:tgtEl>
                                          <p:spTgt spid="20"/>
                                        </p:tgtEl>
                                        <p:attrNameLst>
                                          <p:attrName>ppt_x</p:attrName>
                                        </p:attrNameLst>
                                      </p:cBhvr>
                                      <p:tavLst>
                                        <p:tav tm="0">
                                          <p:val>
                                            <p:strVal val="#ppt_x"/>
                                          </p:val>
                                        </p:tav>
                                        <p:tav tm="100000">
                                          <p:val>
                                            <p:strVal val="#ppt_x"/>
                                          </p:val>
                                        </p:tav>
                                      </p:tavLst>
                                    </p:anim>
                                    <p:anim calcmode="lin" valueType="num">
                                      <p:cBhvr>
                                        <p:cTn id="98" dur="500" decel="100000" fill="hold"/>
                                        <p:tgtEl>
                                          <p:spTgt spid="20"/>
                                        </p:tgtEl>
                                        <p:attrNameLst>
                                          <p:attrName>ppt_y</p:attrName>
                                        </p:attrNameLst>
                                      </p:cBhvr>
                                      <p:tavLst>
                                        <p:tav tm="0">
                                          <p:val>
                                            <p:strVal val="#ppt_y+0.0278"/>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anim calcmode="lin" valueType="num">
                                      <p:cBhvr>
                                        <p:cTn id="102" dur="500" decel="100000" fill="hold"/>
                                        <p:tgtEl>
                                          <p:spTgt spid="21"/>
                                        </p:tgtEl>
                                        <p:attrNameLst>
                                          <p:attrName>ppt_x</p:attrName>
                                        </p:attrNameLst>
                                      </p:cBhvr>
                                      <p:tavLst>
                                        <p:tav tm="0">
                                          <p:val>
                                            <p:strVal val="#ppt_x"/>
                                          </p:val>
                                        </p:tav>
                                        <p:tav tm="100000">
                                          <p:val>
                                            <p:strVal val="#ppt_x"/>
                                          </p:val>
                                        </p:tav>
                                      </p:tavLst>
                                    </p:anim>
                                    <p:anim calcmode="lin" valueType="num">
                                      <p:cBhvr>
                                        <p:cTn id="103" dur="500" decel="100000" fill="hold"/>
                                        <p:tgtEl>
                                          <p:spTgt spid="21"/>
                                        </p:tgtEl>
                                        <p:attrNameLst>
                                          <p:attrName>ppt_y</p:attrName>
                                        </p:attrNameLst>
                                      </p:cBhvr>
                                      <p:tavLst>
                                        <p:tav tm="0">
                                          <p:val>
                                            <p:strVal val="#ppt_y+0.0278"/>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500"/>
                                        <p:tgtEl>
                                          <p:spTgt spid="22"/>
                                        </p:tgtEl>
                                      </p:cBhvr>
                                    </p:animEffect>
                                    <p:anim calcmode="lin" valueType="num">
                                      <p:cBhvr>
                                        <p:cTn id="107" dur="500" decel="100000" fill="hold"/>
                                        <p:tgtEl>
                                          <p:spTgt spid="22"/>
                                        </p:tgtEl>
                                        <p:attrNameLst>
                                          <p:attrName>ppt_x</p:attrName>
                                        </p:attrNameLst>
                                      </p:cBhvr>
                                      <p:tavLst>
                                        <p:tav tm="0">
                                          <p:val>
                                            <p:strVal val="#ppt_x"/>
                                          </p:val>
                                        </p:tav>
                                        <p:tav tm="100000">
                                          <p:val>
                                            <p:strVal val="#ppt_x"/>
                                          </p:val>
                                        </p:tav>
                                      </p:tavLst>
                                    </p:anim>
                                    <p:anim calcmode="lin" valueType="num">
                                      <p:cBhvr>
                                        <p:cTn id="108" dur="500" decel="100000" fill="hold"/>
                                        <p:tgtEl>
                                          <p:spTgt spid="22"/>
                                        </p:tgtEl>
                                        <p:attrNameLst>
                                          <p:attrName>ppt_y</p:attrName>
                                        </p:attrNameLst>
                                      </p:cBhvr>
                                      <p:tavLst>
                                        <p:tav tm="0">
                                          <p:val>
                                            <p:strVal val="#ppt_y+0.0278"/>
                                          </p:val>
                                        </p:tav>
                                        <p:tav tm="100000">
                                          <p:val>
                                            <p:strVal val="#ppt_y"/>
                                          </p:val>
                                        </p:tav>
                                      </p:tavLst>
                                    </p:anim>
                                  </p:childTnLst>
                                </p:cTn>
                              </p:par>
                              <p:par>
                                <p:cTn id="109" presetID="42" presetClass="entr" presetSubtype="0" fill="hold" grpId="0" nodeType="withEffect">
                                  <p:stCondLst>
                                    <p:cond delay="0"/>
                                  </p:stCondLst>
                                  <p:childTnLst>
                                    <p:set>
                                      <p:cBhvr>
                                        <p:cTn id="110" dur="1" fill="hold">
                                          <p:stCondLst>
                                            <p:cond delay="0"/>
                                          </p:stCondLst>
                                        </p:cTn>
                                        <p:tgtEl>
                                          <p:spTgt spid="23"/>
                                        </p:tgtEl>
                                        <p:attrNameLst>
                                          <p:attrName>style.visibility</p:attrName>
                                        </p:attrNameLst>
                                      </p:cBhvr>
                                      <p:to>
                                        <p:strVal val="visible"/>
                                      </p:to>
                                    </p:set>
                                    <p:animEffect transition="in" filter="fade">
                                      <p:cBhvr>
                                        <p:cTn id="111" dur="500"/>
                                        <p:tgtEl>
                                          <p:spTgt spid="23"/>
                                        </p:tgtEl>
                                      </p:cBhvr>
                                    </p:animEffect>
                                    <p:anim calcmode="lin" valueType="num">
                                      <p:cBhvr>
                                        <p:cTn id="112" dur="500" decel="100000" fill="hold"/>
                                        <p:tgtEl>
                                          <p:spTgt spid="23"/>
                                        </p:tgtEl>
                                        <p:attrNameLst>
                                          <p:attrName>ppt_x</p:attrName>
                                        </p:attrNameLst>
                                      </p:cBhvr>
                                      <p:tavLst>
                                        <p:tav tm="0">
                                          <p:val>
                                            <p:strVal val="#ppt_x"/>
                                          </p:val>
                                        </p:tav>
                                        <p:tav tm="100000">
                                          <p:val>
                                            <p:strVal val="#ppt_x"/>
                                          </p:val>
                                        </p:tav>
                                      </p:tavLst>
                                    </p:anim>
                                    <p:anim calcmode="lin" valueType="num">
                                      <p:cBhvr>
                                        <p:cTn id="113" dur="500" decel="100000" fill="hold"/>
                                        <p:tgtEl>
                                          <p:spTgt spid="23"/>
                                        </p:tgtEl>
                                        <p:attrNameLst>
                                          <p:attrName>ppt_y</p:attrName>
                                        </p:attrNameLst>
                                      </p:cBhvr>
                                      <p:tavLst>
                                        <p:tav tm="0">
                                          <p:val>
                                            <p:strVal val="#ppt_y+0.0278"/>
                                          </p:val>
                                        </p:tav>
                                        <p:tav tm="100000">
                                          <p:val>
                                            <p:strVal val="#ppt_y"/>
                                          </p:val>
                                        </p:tav>
                                      </p:tavLst>
                                    </p:anim>
                                  </p:childTnLst>
                                </p:cTn>
                              </p:par>
                              <p:par>
                                <p:cTn id="114" presetID="42" presetClass="entr" presetSubtype="0" fill="hold" grpId="0" nodeType="withEffect">
                                  <p:stCondLst>
                                    <p:cond delay="0"/>
                                  </p:stCondLst>
                                  <p:childTnLst>
                                    <p:set>
                                      <p:cBhvr>
                                        <p:cTn id="115" dur="1" fill="hold">
                                          <p:stCondLst>
                                            <p:cond delay="0"/>
                                          </p:stCondLst>
                                        </p:cTn>
                                        <p:tgtEl>
                                          <p:spTgt spid="24"/>
                                        </p:tgtEl>
                                        <p:attrNameLst>
                                          <p:attrName>style.visibility</p:attrName>
                                        </p:attrNameLst>
                                      </p:cBhvr>
                                      <p:to>
                                        <p:strVal val="visible"/>
                                      </p:to>
                                    </p:set>
                                    <p:animEffect transition="in" filter="fade">
                                      <p:cBhvr>
                                        <p:cTn id="116" dur="500"/>
                                        <p:tgtEl>
                                          <p:spTgt spid="24"/>
                                        </p:tgtEl>
                                      </p:cBhvr>
                                    </p:animEffect>
                                    <p:anim calcmode="lin" valueType="num">
                                      <p:cBhvr>
                                        <p:cTn id="117" dur="500" decel="100000" fill="hold"/>
                                        <p:tgtEl>
                                          <p:spTgt spid="24"/>
                                        </p:tgtEl>
                                        <p:attrNameLst>
                                          <p:attrName>ppt_x</p:attrName>
                                        </p:attrNameLst>
                                      </p:cBhvr>
                                      <p:tavLst>
                                        <p:tav tm="0">
                                          <p:val>
                                            <p:strVal val="#ppt_x"/>
                                          </p:val>
                                        </p:tav>
                                        <p:tav tm="100000">
                                          <p:val>
                                            <p:strVal val="#ppt_x"/>
                                          </p:val>
                                        </p:tav>
                                      </p:tavLst>
                                    </p:anim>
                                    <p:anim calcmode="lin" valueType="num">
                                      <p:cBhvr>
                                        <p:cTn id="118" dur="500" decel="100000" fill="hold"/>
                                        <p:tgtEl>
                                          <p:spTgt spid="24"/>
                                        </p:tgtEl>
                                        <p:attrNameLst>
                                          <p:attrName>ppt_y</p:attrName>
                                        </p:attrNameLst>
                                      </p:cBhvr>
                                      <p:tavLst>
                                        <p:tav tm="0">
                                          <p:val>
                                            <p:strVal val="#ppt_y+0.0278"/>
                                          </p:val>
                                        </p:tav>
                                        <p:tav tm="100000">
                                          <p:val>
                                            <p:strVal val="#ppt_y"/>
                                          </p:val>
                                        </p:tav>
                                      </p:tavLst>
                                    </p:anim>
                                  </p:childTnLst>
                                </p:cTn>
                              </p:par>
                              <p:par>
                                <p:cTn id="119" presetID="42" presetClass="entr" presetSubtype="0" fill="hold" grpId="0" nodeType="withEffect">
                                  <p:stCondLst>
                                    <p:cond delay="0"/>
                                  </p:stCondLst>
                                  <p:childTnLst>
                                    <p:set>
                                      <p:cBhvr>
                                        <p:cTn id="120" dur="1" fill="hold">
                                          <p:stCondLst>
                                            <p:cond delay="0"/>
                                          </p:stCondLst>
                                        </p:cTn>
                                        <p:tgtEl>
                                          <p:spTgt spid="25"/>
                                        </p:tgtEl>
                                        <p:attrNameLst>
                                          <p:attrName>style.visibility</p:attrName>
                                        </p:attrNameLst>
                                      </p:cBhvr>
                                      <p:to>
                                        <p:strVal val="visible"/>
                                      </p:to>
                                    </p:set>
                                    <p:animEffect transition="in" filter="fade">
                                      <p:cBhvr>
                                        <p:cTn id="121" dur="500"/>
                                        <p:tgtEl>
                                          <p:spTgt spid="25"/>
                                        </p:tgtEl>
                                      </p:cBhvr>
                                    </p:animEffect>
                                    <p:anim calcmode="lin" valueType="num">
                                      <p:cBhvr>
                                        <p:cTn id="122" dur="500" decel="100000" fill="hold"/>
                                        <p:tgtEl>
                                          <p:spTgt spid="25"/>
                                        </p:tgtEl>
                                        <p:attrNameLst>
                                          <p:attrName>ppt_x</p:attrName>
                                        </p:attrNameLst>
                                      </p:cBhvr>
                                      <p:tavLst>
                                        <p:tav tm="0">
                                          <p:val>
                                            <p:strVal val="#ppt_x"/>
                                          </p:val>
                                        </p:tav>
                                        <p:tav tm="100000">
                                          <p:val>
                                            <p:strVal val="#ppt_x"/>
                                          </p:val>
                                        </p:tav>
                                      </p:tavLst>
                                    </p:anim>
                                    <p:anim calcmode="lin" valueType="num">
                                      <p:cBhvr>
                                        <p:cTn id="123" dur="500" decel="100000" fill="hold"/>
                                        <p:tgtEl>
                                          <p:spTgt spid="2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p:bldP spid="6" grpId="0" animBg="1"/>
      <p:bldP spid="7" grpId="0" animBg="1"/>
      <p:bldP spid="9" grpId="0"/>
      <p:bldP spid="10" grpId="0" animBg="1"/>
      <p:bldP spid="11" grpId="0" animBg="1"/>
      <p:bldP spid="13" grpId="0"/>
      <p:bldP spid="14" grpId="0" animBg="1"/>
      <p:bldP spid="15" grpId="0" animBg="1"/>
      <p:bldP spid="17" grpId="0"/>
      <p:bldP spid="18" grpId="0" animBg="1"/>
      <p:bldP spid="19" grpId="0" animBg="1"/>
      <p:bldP spid="21" grpId="0"/>
      <p:bldP spid="22" grpId="0" animBg="1"/>
      <p:bldP spid="23" grpId="0" animBg="1"/>
      <p:bldP spid="25" grpId="0"/>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Un logo hybride, quatre symboles</a:t>
            </a:r>
            <a:endParaRPr lang="en-US" sz="2800" dirty="0"/>
          </a:p>
        </p:txBody>
      </p:sp>
      <p:sp>
        <p:nvSpPr>
          <p:cNvPr id="4" name="c1_bg"/>
          <p:cNvSpPr/>
          <p:nvPr/>
        </p:nvSpPr>
        <p:spPr>
          <a:xfrm>
            <a:off x="4041648" y="1554480"/>
            <a:ext cx="4114800" cy="4343400"/>
          </a:xfrm>
          <a:prstGeom prst="roundRect">
            <a:avLst>
              <a:gd name="adj" fmla="val 2667"/>
            </a:avLst>
          </a:prstGeom>
          <a:solidFill>
            <a:schemeClr val="bg2"/>
          </a:solidFill>
          <a:ln w="12700">
            <a:solidFill>
              <a:schemeClr val="bg2"/>
            </a:solidFill>
            <a:prstDash val="solid"/>
          </a:ln>
        </p:spPr>
      </p:sp>
      <p:pic>
        <p:nvPicPr>
          <p:cNvPr id="5" name="c1_logo" descr="/tmp/claude-0/-home-user-HANDY/4ddfdd3d-c678-5164-8991-be3c6152a069/scratchpad/assets/logo.png">    </p:cNvPr>
          <p:cNvPicPr>
            <a:picLocks noChangeAspect="1"/>
          </p:cNvPicPr>
          <p:nvPr/>
        </p:nvPicPr>
        <p:blipFill>
          <a:blip r:embed="rId1"/>
          <a:stretch>
            <a:fillRect/>
          </a:stretch>
        </p:blipFill>
        <p:spPr>
          <a:xfrm>
            <a:off x="4270248" y="1897380"/>
            <a:ext cx="3657600" cy="3657600"/>
          </a:xfrm>
          <a:prstGeom prst="rect">
            <a:avLst/>
          </a:prstGeom>
        </p:spPr>
      </p:pic>
      <p:sp>
        <p:nvSpPr>
          <p:cNvPr id="6" name="c2_t0"/>
          <p:cNvSpPr txBox="1"/>
          <p:nvPr/>
        </p:nvSpPr>
        <p:spPr>
          <a:xfrm>
            <a:off x="548640" y="2057400"/>
            <a:ext cx="3108960" cy="1005840"/>
          </a:xfrm>
          <a:prstGeom prst="rect">
            <a:avLst/>
          </a:prstGeom>
          <a:noFill/>
          <a:ln/>
        </p:spPr>
        <p:txBody>
          <a:bodyPr wrap="square" lIns="0" tIns="0" rIns="0" bIns="0" rtlCol="0" anchor="t"/>
          <a:lstStyle/>
          <a:p>
            <a:pPr algn="l" indent="0" marL="0">
              <a:spcAft>
                <a:spcPts val="400"/>
              </a:spcAft>
              <a:buNone/>
            </a:pPr>
            <a:r>
              <a:rPr lang="en-US" sz="1800" b="1" dirty="0">
                <a:solidFill>
                  <a:schemeClr val="tx2"/>
                </a:solidFill>
              </a:rPr>
              <a:t>Poing et haltère</a:t>
            </a:r>
            <a:endParaRPr lang="en-US" sz="1600" dirty="0"/>
          </a:p>
          <a:p>
            <a:pPr algn="l" indent="0" marL="0">
              <a:spcAft>
                <a:spcPts val="400"/>
              </a:spcAft>
              <a:buNone/>
            </a:pPr>
            <a:r>
              <a:rPr lang="en-US" sz="1500" dirty="0">
                <a:solidFill>
                  <a:schemeClr val="tx1"/>
                </a:solidFill>
              </a:rPr>
              <a:t>Force et détermination</a:t>
            </a:r>
            <a:endParaRPr lang="en-US" sz="1600" dirty="0"/>
          </a:p>
        </p:txBody>
      </p:sp>
      <p:sp>
        <p:nvSpPr>
          <p:cNvPr id="7" name="c3_t1"/>
          <p:cNvSpPr txBox="1"/>
          <p:nvPr/>
        </p:nvSpPr>
        <p:spPr>
          <a:xfrm>
            <a:off x="8531352" y="2057400"/>
            <a:ext cx="3108960" cy="1005840"/>
          </a:xfrm>
          <a:prstGeom prst="rect">
            <a:avLst/>
          </a:prstGeom>
          <a:noFill/>
          <a:ln/>
        </p:spPr>
        <p:txBody>
          <a:bodyPr wrap="square" lIns="0" tIns="0" rIns="0" bIns="0" rtlCol="0" anchor="t"/>
          <a:lstStyle/>
          <a:p>
            <a:pPr algn="l" indent="0" marL="0">
              <a:spcAft>
                <a:spcPts val="400"/>
              </a:spcAft>
              <a:buNone/>
            </a:pPr>
            <a:r>
              <a:rPr lang="en-US" sz="1800" b="1" dirty="0">
                <a:solidFill>
                  <a:schemeClr val="tx2"/>
                </a:solidFill>
              </a:rPr>
              <a:t>Étoiles</a:t>
            </a:r>
            <a:endParaRPr lang="en-US" sz="1600" dirty="0"/>
          </a:p>
          <a:p>
            <a:pPr algn="l" indent="0" marL="0">
              <a:spcAft>
                <a:spcPts val="400"/>
              </a:spcAft>
              <a:buNone/>
            </a:pPr>
            <a:r>
              <a:rPr lang="en-US" sz="1500" dirty="0">
                <a:solidFill>
                  <a:schemeClr val="tx1"/>
                </a:solidFill>
              </a:rPr>
              <a:t>Fierté américaine</a:t>
            </a:r>
            <a:endParaRPr lang="en-US" sz="1600" dirty="0"/>
          </a:p>
        </p:txBody>
      </p:sp>
      <p:sp>
        <p:nvSpPr>
          <p:cNvPr id="8" name="c4_t2"/>
          <p:cNvSpPr txBox="1"/>
          <p:nvPr/>
        </p:nvSpPr>
        <p:spPr>
          <a:xfrm>
            <a:off x="548640" y="4160520"/>
            <a:ext cx="3108960" cy="1005840"/>
          </a:xfrm>
          <a:prstGeom prst="rect">
            <a:avLst/>
          </a:prstGeom>
          <a:noFill/>
          <a:ln/>
        </p:spPr>
        <p:txBody>
          <a:bodyPr wrap="square" lIns="0" tIns="0" rIns="0" bIns="0" rtlCol="0" anchor="t"/>
          <a:lstStyle/>
          <a:p>
            <a:pPr algn="l" indent="0" marL="0">
              <a:spcAft>
                <a:spcPts val="400"/>
              </a:spcAft>
              <a:buNone/>
            </a:pPr>
            <a:r>
              <a:rPr lang="en-US" sz="1800" b="1" dirty="0">
                <a:solidFill>
                  <a:schemeClr val="tx2"/>
                </a:solidFill>
              </a:rPr>
              <a:t>Ruban « American's »</a:t>
            </a:r>
            <a:endParaRPr lang="en-US" sz="1600" dirty="0"/>
          </a:p>
          <a:p>
            <a:pPr algn="l" indent="0" marL="0">
              <a:spcAft>
                <a:spcPts val="400"/>
              </a:spcAft>
              <a:buNone/>
            </a:pPr>
            <a:r>
              <a:rPr lang="en-US" sz="1500" dirty="0">
                <a:solidFill>
                  <a:schemeClr val="tx1"/>
                </a:solidFill>
              </a:rPr>
              <a:t>Identité de marque forte</a:t>
            </a:r>
            <a:endParaRPr lang="en-US" sz="1600" dirty="0"/>
          </a:p>
        </p:txBody>
      </p:sp>
      <p:sp>
        <p:nvSpPr>
          <p:cNvPr id="9" name="c5_t3"/>
          <p:cNvSpPr txBox="1"/>
          <p:nvPr/>
        </p:nvSpPr>
        <p:spPr>
          <a:xfrm>
            <a:off x="8531352" y="4160520"/>
            <a:ext cx="3108960" cy="1005840"/>
          </a:xfrm>
          <a:prstGeom prst="rect">
            <a:avLst/>
          </a:prstGeom>
          <a:noFill/>
          <a:ln/>
        </p:spPr>
        <p:txBody>
          <a:bodyPr wrap="square" lIns="0" tIns="0" rIns="0" bIns="0" rtlCol="0" anchor="t"/>
          <a:lstStyle/>
          <a:p>
            <a:pPr algn="l" indent="0" marL="0">
              <a:spcAft>
                <a:spcPts val="400"/>
              </a:spcAft>
              <a:buNone/>
            </a:pPr>
            <a:r>
              <a:rPr lang="en-US" sz="1800" b="1" dirty="0">
                <a:solidFill>
                  <a:schemeClr val="tx2"/>
                </a:solidFill>
              </a:rPr>
              <a:t>Logo complet</a:t>
            </a:r>
            <a:endParaRPr lang="en-US" sz="1600" dirty="0"/>
          </a:p>
          <a:p>
            <a:pPr algn="l" indent="0" marL="0">
              <a:spcAft>
                <a:spcPts val="400"/>
              </a:spcAft>
              <a:buNone/>
            </a:pPr>
            <a:r>
              <a:rPr lang="en-US" sz="1500" dirty="0">
                <a:solidFill>
                  <a:schemeClr val="tx1"/>
                </a:solidFill>
              </a:rPr>
              <a:t>Image puissante et cohérente</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19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anim calcmode="lin" valueType="num">
                                      <p:cBhvr>
                                        <p:cTn id="34" dur="500" decel="100000" fill="hold"/>
                                        <p:tgtEl>
                                          <p:spTgt spid="7"/>
                                        </p:tgtEl>
                                        <p:attrNameLst>
                                          <p:attrName>ppt_x</p:attrName>
                                        </p:attrNameLst>
                                      </p:cBhvr>
                                      <p:tavLst>
                                        <p:tav tm="0">
                                          <p:val>
                                            <p:strVal val="#ppt_x"/>
                                          </p:val>
                                        </p:tav>
                                        <p:tav tm="100000">
                                          <p:val>
                                            <p:strVal val="#ppt_x"/>
                                          </p:val>
                                        </p:tav>
                                      </p:tavLst>
                                    </p:anim>
                                    <p:anim calcmode="lin" valueType="num">
                                      <p:cBhvr>
                                        <p:cTn id="35"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500"/>
                                        <p:tgtEl>
                                          <p:spTgt spid="8"/>
                                        </p:tgtEl>
                                      </p:cBhvr>
                                    </p:animEffect>
                                    <p:anim calcmode="lin" valueType="num">
                                      <p:cBhvr>
                                        <p:cTn id="41" dur="500" decel="100000" fill="hold"/>
                                        <p:tgtEl>
                                          <p:spTgt spid="8"/>
                                        </p:tgtEl>
                                        <p:attrNameLst>
                                          <p:attrName>ppt_x</p:attrName>
                                        </p:attrNameLst>
                                      </p:cBhvr>
                                      <p:tavLst>
                                        <p:tav tm="0">
                                          <p:val>
                                            <p:strVal val="#ppt_x"/>
                                          </p:val>
                                        </p:tav>
                                        <p:tav tm="100000">
                                          <p:val>
                                            <p:strVal val="#ppt_x"/>
                                          </p:val>
                                        </p:tav>
                                      </p:tavLst>
                                    </p:anim>
                                    <p:anim calcmode="lin" valueType="num">
                                      <p:cBhvr>
                                        <p:cTn id="42"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fade">
                                      <p:cBhvr>
                                        <p:cTn id="47" dur="500"/>
                                        <p:tgtEl>
                                          <p:spTgt spid="9"/>
                                        </p:tgtEl>
                                      </p:cBhvr>
                                    </p:animEffect>
                                    <p:anim calcmode="lin" valueType="num">
                                      <p:cBhvr>
                                        <p:cTn id="48" dur="500" decel="100000" fill="hold"/>
                                        <p:tgtEl>
                                          <p:spTgt spid="9"/>
                                        </p:tgtEl>
                                        <p:attrNameLst>
                                          <p:attrName>ppt_x</p:attrName>
                                        </p:attrNameLst>
                                      </p:cBhvr>
                                      <p:tavLst>
                                        <p:tav tm="0">
                                          <p:val>
                                            <p:strVal val="#ppt_x"/>
                                          </p:val>
                                        </p:tav>
                                        <p:tav tm="100000">
                                          <p:val>
                                            <p:strVal val="#ppt_x"/>
                                          </p:val>
                                        </p:tav>
                                      </p:tavLst>
                                    </p:anim>
                                    <p:anim calcmode="lin" valueType="num">
                                      <p:cBhvr>
                                        <p:cTn id="49" dur="500" decel="100000" fill="hold"/>
                                        <p:tgtEl>
                                          <p:spTgt spid="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p:bldP spid="7" grpId="0"/>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Couleurs de la charte graphique</a:t>
            </a:r>
            <a:endParaRPr lang="en-US" sz="2800" dirty="0"/>
          </a:p>
        </p:txBody>
      </p:sp>
      <p:sp>
        <p:nvSpPr>
          <p:cNvPr id="4" name="c1_sw"/>
          <p:cNvSpPr/>
          <p:nvPr/>
        </p:nvSpPr>
        <p:spPr>
          <a:xfrm>
            <a:off x="548640" y="1600200"/>
            <a:ext cx="2606040" cy="1737360"/>
          </a:xfrm>
          <a:prstGeom prst="roundRect">
            <a:avLst>
              <a:gd name="adj" fmla="val 6316"/>
            </a:avLst>
          </a:prstGeom>
          <a:solidFill>
            <a:srgbClr val="1D3557"/>
          </a:solidFill>
          <a:ln w="12700">
            <a:solidFill>
              <a:srgbClr val="1D3557"/>
            </a:solidFill>
            <a:prstDash val="solid"/>
          </a:ln>
        </p:spPr>
      </p:sp>
      <p:sp>
        <p:nvSpPr>
          <p:cNvPr id="5" name="c1_n"/>
          <p:cNvSpPr txBox="1"/>
          <p:nvPr/>
        </p:nvSpPr>
        <p:spPr>
          <a:xfrm>
            <a:off x="548640" y="3566160"/>
            <a:ext cx="2606040" cy="411480"/>
          </a:xfrm>
          <a:prstGeom prst="rect">
            <a:avLst/>
          </a:prstGeom>
          <a:noFill/>
          <a:ln/>
        </p:spPr>
        <p:txBody>
          <a:bodyPr wrap="square" lIns="0" tIns="0" rIns="0" bIns="0" rtlCol="0" anchor="t"/>
          <a:lstStyle/>
          <a:p>
            <a:pPr indent="0" marL="0">
              <a:buNone/>
            </a:pPr>
            <a:r>
              <a:rPr lang="en-US" sz="1800" b="1" dirty="0">
                <a:solidFill>
                  <a:schemeClr val="tx1"/>
                </a:solidFill>
              </a:rPr>
              <a:t>Bleu</a:t>
            </a:r>
            <a:endParaRPr lang="en-US" sz="1800" dirty="0"/>
          </a:p>
        </p:txBody>
      </p:sp>
      <p:sp>
        <p:nvSpPr>
          <p:cNvPr id="6" name="c1_c"/>
          <p:cNvSpPr txBox="1"/>
          <p:nvPr/>
        </p:nvSpPr>
        <p:spPr>
          <a:xfrm>
            <a:off x="548640" y="3977640"/>
            <a:ext cx="2606040" cy="365760"/>
          </a:xfrm>
          <a:prstGeom prst="rect">
            <a:avLst/>
          </a:prstGeom>
          <a:noFill/>
          <a:ln/>
        </p:spPr>
        <p:txBody>
          <a:bodyPr wrap="square" lIns="0" tIns="0" rIns="0" bIns="0" rtlCol="0" anchor="t"/>
          <a:lstStyle/>
          <a:p>
            <a:pPr indent="0" marL="0">
              <a:buNone/>
            </a:pPr>
            <a:r>
              <a:rPr lang="en-US" sz="1400" dirty="0">
                <a:solidFill>
                  <a:schemeClr val="accent4"/>
                </a:solidFill>
              </a:rPr>
              <a:t>#1D3557</a:t>
            </a:r>
            <a:endParaRPr lang="en-US" sz="1400" dirty="0"/>
          </a:p>
        </p:txBody>
      </p:sp>
      <p:sp>
        <p:nvSpPr>
          <p:cNvPr id="7" name="c1_m"/>
          <p:cNvSpPr txBox="1"/>
          <p:nvPr/>
        </p:nvSpPr>
        <p:spPr>
          <a:xfrm>
            <a:off x="548640" y="4480560"/>
            <a:ext cx="2514600" cy="822960"/>
          </a:xfrm>
          <a:prstGeom prst="rect">
            <a:avLst/>
          </a:prstGeom>
          <a:noFill/>
          <a:ln/>
        </p:spPr>
        <p:txBody>
          <a:bodyPr wrap="square" lIns="0" tIns="0" rIns="0" bIns="0" rtlCol="0" anchor="t"/>
          <a:lstStyle/>
          <a:p>
            <a:pPr indent="0" marL="0">
              <a:buNone/>
            </a:pPr>
            <a:r>
              <a:rPr lang="en-US" sz="1500" dirty="0">
                <a:solidFill>
                  <a:schemeClr val="tx1"/>
                </a:solidFill>
              </a:rPr>
              <a:t>Confiance, rigueur, discipline</a:t>
            </a:r>
            <a:endParaRPr lang="en-US" sz="1500" dirty="0"/>
          </a:p>
        </p:txBody>
      </p:sp>
      <p:sp>
        <p:nvSpPr>
          <p:cNvPr id="8" name="c2_sw"/>
          <p:cNvSpPr/>
          <p:nvPr/>
        </p:nvSpPr>
        <p:spPr>
          <a:xfrm>
            <a:off x="3383280" y="1600200"/>
            <a:ext cx="2606040" cy="1737360"/>
          </a:xfrm>
          <a:prstGeom prst="roundRect">
            <a:avLst>
              <a:gd name="adj" fmla="val 6316"/>
            </a:avLst>
          </a:prstGeom>
          <a:solidFill>
            <a:srgbClr val="E63946"/>
          </a:solidFill>
          <a:ln w="12700">
            <a:solidFill>
              <a:srgbClr val="E63946"/>
            </a:solidFill>
            <a:prstDash val="solid"/>
          </a:ln>
        </p:spPr>
      </p:sp>
      <p:sp>
        <p:nvSpPr>
          <p:cNvPr id="9" name="c2_n"/>
          <p:cNvSpPr txBox="1"/>
          <p:nvPr/>
        </p:nvSpPr>
        <p:spPr>
          <a:xfrm>
            <a:off x="3383280" y="3566160"/>
            <a:ext cx="2606040" cy="411480"/>
          </a:xfrm>
          <a:prstGeom prst="rect">
            <a:avLst/>
          </a:prstGeom>
          <a:noFill/>
          <a:ln/>
        </p:spPr>
        <p:txBody>
          <a:bodyPr wrap="square" lIns="0" tIns="0" rIns="0" bIns="0" rtlCol="0" anchor="t"/>
          <a:lstStyle/>
          <a:p>
            <a:pPr indent="0" marL="0">
              <a:buNone/>
            </a:pPr>
            <a:r>
              <a:rPr lang="en-US" sz="1800" b="1" dirty="0">
                <a:solidFill>
                  <a:schemeClr val="tx1"/>
                </a:solidFill>
              </a:rPr>
              <a:t>Rouge</a:t>
            </a:r>
            <a:endParaRPr lang="en-US" sz="1800" dirty="0"/>
          </a:p>
        </p:txBody>
      </p:sp>
      <p:sp>
        <p:nvSpPr>
          <p:cNvPr id="10" name="c2_c"/>
          <p:cNvSpPr txBox="1"/>
          <p:nvPr/>
        </p:nvSpPr>
        <p:spPr>
          <a:xfrm>
            <a:off x="3383280" y="3977640"/>
            <a:ext cx="2606040" cy="365760"/>
          </a:xfrm>
          <a:prstGeom prst="rect">
            <a:avLst/>
          </a:prstGeom>
          <a:noFill/>
          <a:ln/>
        </p:spPr>
        <p:txBody>
          <a:bodyPr wrap="square" lIns="0" tIns="0" rIns="0" bIns="0" rtlCol="0" anchor="t"/>
          <a:lstStyle/>
          <a:p>
            <a:pPr indent="0" marL="0">
              <a:buNone/>
            </a:pPr>
            <a:r>
              <a:rPr lang="en-US" sz="1400" dirty="0">
                <a:solidFill>
                  <a:schemeClr val="accent4"/>
                </a:solidFill>
              </a:rPr>
              <a:t>#E63946</a:t>
            </a:r>
            <a:endParaRPr lang="en-US" sz="1400" dirty="0"/>
          </a:p>
        </p:txBody>
      </p:sp>
      <p:sp>
        <p:nvSpPr>
          <p:cNvPr id="11" name="c2_m"/>
          <p:cNvSpPr txBox="1"/>
          <p:nvPr/>
        </p:nvSpPr>
        <p:spPr>
          <a:xfrm>
            <a:off x="3383280" y="4480560"/>
            <a:ext cx="2514600" cy="822960"/>
          </a:xfrm>
          <a:prstGeom prst="rect">
            <a:avLst/>
          </a:prstGeom>
          <a:noFill/>
          <a:ln/>
        </p:spPr>
        <p:txBody>
          <a:bodyPr wrap="square" lIns="0" tIns="0" rIns="0" bIns="0" rtlCol="0" anchor="t"/>
          <a:lstStyle/>
          <a:p>
            <a:pPr indent="0" marL="0">
              <a:buNone/>
            </a:pPr>
            <a:r>
              <a:rPr lang="en-US" sz="1500" dirty="0">
                <a:solidFill>
                  <a:schemeClr val="tx1"/>
                </a:solidFill>
              </a:rPr>
              <a:t>Énergie, courage, performance</a:t>
            </a:r>
            <a:endParaRPr lang="en-US" sz="1500" dirty="0"/>
          </a:p>
        </p:txBody>
      </p:sp>
      <p:sp>
        <p:nvSpPr>
          <p:cNvPr id="12" name="c3_sw"/>
          <p:cNvSpPr/>
          <p:nvPr/>
        </p:nvSpPr>
        <p:spPr>
          <a:xfrm>
            <a:off x="6217920" y="1600200"/>
            <a:ext cx="2606040" cy="1737360"/>
          </a:xfrm>
          <a:prstGeom prst="roundRect">
            <a:avLst>
              <a:gd name="adj" fmla="val 6316"/>
            </a:avLst>
          </a:prstGeom>
          <a:solidFill>
            <a:srgbClr val="FFFFFF"/>
          </a:solidFill>
          <a:ln w="12700">
            <a:solidFill>
              <a:srgbClr val="D9DEE8"/>
            </a:solidFill>
            <a:prstDash val="solid"/>
          </a:ln>
        </p:spPr>
      </p:sp>
      <p:sp>
        <p:nvSpPr>
          <p:cNvPr id="13" name="c3_n"/>
          <p:cNvSpPr txBox="1"/>
          <p:nvPr/>
        </p:nvSpPr>
        <p:spPr>
          <a:xfrm>
            <a:off x="6217920" y="3566160"/>
            <a:ext cx="2606040" cy="411480"/>
          </a:xfrm>
          <a:prstGeom prst="rect">
            <a:avLst/>
          </a:prstGeom>
          <a:noFill/>
          <a:ln/>
        </p:spPr>
        <p:txBody>
          <a:bodyPr wrap="square" lIns="0" tIns="0" rIns="0" bIns="0" rtlCol="0" anchor="t"/>
          <a:lstStyle/>
          <a:p>
            <a:pPr indent="0" marL="0">
              <a:buNone/>
            </a:pPr>
            <a:r>
              <a:rPr lang="en-US" sz="1800" b="1" dirty="0">
                <a:solidFill>
                  <a:schemeClr val="tx1"/>
                </a:solidFill>
              </a:rPr>
              <a:t>Blanc</a:t>
            </a:r>
            <a:endParaRPr lang="en-US" sz="1800" dirty="0"/>
          </a:p>
        </p:txBody>
      </p:sp>
      <p:sp>
        <p:nvSpPr>
          <p:cNvPr id="14" name="c3_c"/>
          <p:cNvSpPr txBox="1"/>
          <p:nvPr/>
        </p:nvSpPr>
        <p:spPr>
          <a:xfrm>
            <a:off x="6217920" y="3977640"/>
            <a:ext cx="2606040" cy="365760"/>
          </a:xfrm>
          <a:prstGeom prst="rect">
            <a:avLst/>
          </a:prstGeom>
          <a:noFill/>
          <a:ln/>
        </p:spPr>
        <p:txBody>
          <a:bodyPr wrap="square" lIns="0" tIns="0" rIns="0" bIns="0" rtlCol="0" anchor="t"/>
          <a:lstStyle/>
          <a:p>
            <a:pPr indent="0" marL="0">
              <a:buNone/>
            </a:pPr>
            <a:r>
              <a:rPr lang="en-US" sz="1400" dirty="0">
                <a:solidFill>
                  <a:schemeClr val="accent4"/>
                </a:solidFill>
              </a:rPr>
              <a:t>#FFFFFF</a:t>
            </a:r>
            <a:endParaRPr lang="en-US" sz="1400" dirty="0"/>
          </a:p>
        </p:txBody>
      </p:sp>
      <p:sp>
        <p:nvSpPr>
          <p:cNvPr id="15" name="c3_m"/>
          <p:cNvSpPr txBox="1"/>
          <p:nvPr/>
        </p:nvSpPr>
        <p:spPr>
          <a:xfrm>
            <a:off x="6217920" y="4480560"/>
            <a:ext cx="2514600" cy="822960"/>
          </a:xfrm>
          <a:prstGeom prst="rect">
            <a:avLst/>
          </a:prstGeom>
          <a:noFill/>
          <a:ln/>
        </p:spPr>
        <p:txBody>
          <a:bodyPr wrap="square" lIns="0" tIns="0" rIns="0" bIns="0" rtlCol="0" anchor="t"/>
          <a:lstStyle/>
          <a:p>
            <a:pPr indent="0" marL="0">
              <a:buNone/>
            </a:pPr>
            <a:r>
              <a:rPr lang="en-US" sz="1500" dirty="0">
                <a:solidFill>
                  <a:schemeClr val="tx1"/>
                </a:solidFill>
              </a:rPr>
              <a:t>Clarté, propreté, accessibilité</a:t>
            </a:r>
            <a:endParaRPr lang="en-US" sz="1500" dirty="0"/>
          </a:p>
        </p:txBody>
      </p:sp>
      <p:sp>
        <p:nvSpPr>
          <p:cNvPr id="16" name="c4_sw"/>
          <p:cNvSpPr/>
          <p:nvPr/>
        </p:nvSpPr>
        <p:spPr>
          <a:xfrm>
            <a:off x="9052560" y="1600200"/>
            <a:ext cx="2606040" cy="1737360"/>
          </a:xfrm>
          <a:prstGeom prst="roundRect">
            <a:avLst>
              <a:gd name="adj" fmla="val 6316"/>
            </a:avLst>
          </a:prstGeom>
          <a:solidFill>
            <a:srgbClr val="A8DADC"/>
          </a:solidFill>
          <a:ln w="12700">
            <a:solidFill>
              <a:srgbClr val="A8DADC"/>
            </a:solidFill>
            <a:prstDash val="solid"/>
          </a:ln>
        </p:spPr>
      </p:sp>
      <p:sp>
        <p:nvSpPr>
          <p:cNvPr id="17" name="c4_n"/>
          <p:cNvSpPr txBox="1"/>
          <p:nvPr/>
        </p:nvSpPr>
        <p:spPr>
          <a:xfrm>
            <a:off x="9052560" y="3566160"/>
            <a:ext cx="2606040" cy="411480"/>
          </a:xfrm>
          <a:prstGeom prst="rect">
            <a:avLst/>
          </a:prstGeom>
          <a:noFill/>
          <a:ln/>
        </p:spPr>
        <p:txBody>
          <a:bodyPr wrap="square" lIns="0" tIns="0" rIns="0" bIns="0" rtlCol="0" anchor="t"/>
          <a:lstStyle/>
          <a:p>
            <a:pPr indent="0" marL="0">
              <a:buNone/>
            </a:pPr>
            <a:r>
              <a:rPr lang="en-US" sz="1800" b="1" dirty="0">
                <a:solidFill>
                  <a:schemeClr val="tx1"/>
                </a:solidFill>
              </a:rPr>
              <a:t>Gris métal</a:t>
            </a:r>
            <a:endParaRPr lang="en-US" sz="1800" dirty="0"/>
          </a:p>
        </p:txBody>
      </p:sp>
      <p:sp>
        <p:nvSpPr>
          <p:cNvPr id="18" name="c4_c"/>
          <p:cNvSpPr txBox="1"/>
          <p:nvPr/>
        </p:nvSpPr>
        <p:spPr>
          <a:xfrm>
            <a:off x="9052560" y="3977640"/>
            <a:ext cx="2606040" cy="365760"/>
          </a:xfrm>
          <a:prstGeom prst="rect">
            <a:avLst/>
          </a:prstGeom>
          <a:noFill/>
          <a:ln/>
        </p:spPr>
        <p:txBody>
          <a:bodyPr wrap="square" lIns="0" tIns="0" rIns="0" bIns="0" rtlCol="0" anchor="t"/>
          <a:lstStyle/>
          <a:p>
            <a:pPr indent="0" marL="0">
              <a:buNone/>
            </a:pPr>
            <a:r>
              <a:rPr lang="en-US" sz="1400" dirty="0">
                <a:solidFill>
                  <a:schemeClr val="accent4"/>
                </a:solidFill>
              </a:rPr>
              <a:t>#A8DADC</a:t>
            </a:r>
            <a:endParaRPr lang="en-US" sz="1400" dirty="0"/>
          </a:p>
        </p:txBody>
      </p:sp>
      <p:sp>
        <p:nvSpPr>
          <p:cNvPr id="19" name="c4_m"/>
          <p:cNvSpPr txBox="1"/>
          <p:nvPr/>
        </p:nvSpPr>
        <p:spPr>
          <a:xfrm>
            <a:off x="9052560" y="4480560"/>
            <a:ext cx="2514600" cy="822960"/>
          </a:xfrm>
          <a:prstGeom prst="rect">
            <a:avLst/>
          </a:prstGeom>
          <a:noFill/>
          <a:ln/>
        </p:spPr>
        <p:txBody>
          <a:bodyPr wrap="square" lIns="0" tIns="0" rIns="0" bIns="0" rtlCol="0" anchor="t"/>
          <a:lstStyle/>
          <a:p>
            <a:pPr indent="0" marL="0">
              <a:buNone/>
            </a:pPr>
            <a:r>
              <a:rPr lang="en-US" sz="1500" dirty="0">
                <a:solidFill>
                  <a:schemeClr val="tx1"/>
                </a:solidFill>
              </a:rPr>
              <a:t>Reliefs métalliques de l'haltère</a:t>
            </a:r>
            <a:endParaRPr lang="en-US" sz="15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anim calcmode="lin" valueType="num">
                                      <p:cBhvr>
                                        <p:cTn id="59" dur="500" decel="100000" fill="hold"/>
                                        <p:tgtEl>
                                          <p:spTgt spid="12"/>
                                        </p:tgtEl>
                                        <p:attrNameLst>
                                          <p:attrName>ppt_x</p:attrName>
                                        </p:attrNameLst>
                                      </p:cBhvr>
                                      <p:tavLst>
                                        <p:tav tm="0">
                                          <p:val>
                                            <p:strVal val="#ppt_x"/>
                                          </p:val>
                                        </p:tav>
                                        <p:tav tm="100000">
                                          <p:val>
                                            <p:strVal val="#ppt_x"/>
                                          </p:val>
                                        </p:tav>
                                      </p:tavLst>
                                    </p:anim>
                                    <p:anim calcmode="lin" valueType="num">
                                      <p:cBhvr>
                                        <p:cTn id="60" dur="500" decel="100000" fill="hold"/>
                                        <p:tgtEl>
                                          <p:spTgt spid="12"/>
                                        </p:tgtEl>
                                        <p:attrNameLst>
                                          <p:attrName>ppt_y</p:attrName>
                                        </p:attrNameLst>
                                      </p:cBhvr>
                                      <p:tavLst>
                                        <p:tav tm="0">
                                          <p:val>
                                            <p:strVal val="#ppt_y+0.0278"/>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anim calcmode="lin" valueType="num">
                                      <p:cBhvr>
                                        <p:cTn id="64" dur="500" decel="100000" fill="hold"/>
                                        <p:tgtEl>
                                          <p:spTgt spid="13"/>
                                        </p:tgtEl>
                                        <p:attrNameLst>
                                          <p:attrName>ppt_x</p:attrName>
                                        </p:attrNameLst>
                                      </p:cBhvr>
                                      <p:tavLst>
                                        <p:tav tm="0">
                                          <p:val>
                                            <p:strVal val="#ppt_x"/>
                                          </p:val>
                                        </p:tav>
                                        <p:tav tm="100000">
                                          <p:val>
                                            <p:strVal val="#ppt_x"/>
                                          </p:val>
                                        </p:tav>
                                      </p:tavLst>
                                    </p:anim>
                                    <p:anim calcmode="lin" valueType="num">
                                      <p:cBhvr>
                                        <p:cTn id="65" dur="500" decel="100000" fill="hold"/>
                                        <p:tgtEl>
                                          <p:spTgt spid="13"/>
                                        </p:tgtEl>
                                        <p:attrNameLst>
                                          <p:attrName>ppt_y</p:attrName>
                                        </p:attrNameLst>
                                      </p:cBhvr>
                                      <p:tavLst>
                                        <p:tav tm="0">
                                          <p:val>
                                            <p:strVal val="#ppt_y+0.0278"/>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anim calcmode="lin" valueType="num">
                                      <p:cBhvr>
                                        <p:cTn id="69" dur="500" decel="100000" fill="hold"/>
                                        <p:tgtEl>
                                          <p:spTgt spid="14"/>
                                        </p:tgtEl>
                                        <p:attrNameLst>
                                          <p:attrName>ppt_x</p:attrName>
                                        </p:attrNameLst>
                                      </p:cBhvr>
                                      <p:tavLst>
                                        <p:tav tm="0">
                                          <p:val>
                                            <p:strVal val="#ppt_x"/>
                                          </p:val>
                                        </p:tav>
                                        <p:tav tm="100000">
                                          <p:val>
                                            <p:strVal val="#ppt_x"/>
                                          </p:val>
                                        </p:tav>
                                      </p:tavLst>
                                    </p:anim>
                                    <p:anim calcmode="lin" valueType="num">
                                      <p:cBhvr>
                                        <p:cTn id="70" dur="500" decel="100000" fill="hold"/>
                                        <p:tgtEl>
                                          <p:spTgt spid="14"/>
                                        </p:tgtEl>
                                        <p:attrNameLst>
                                          <p:attrName>ppt_y</p:attrName>
                                        </p:attrNameLst>
                                      </p:cBhvr>
                                      <p:tavLst>
                                        <p:tav tm="0">
                                          <p:val>
                                            <p:strVal val="#ppt_y+0.027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anim calcmode="lin" valueType="num">
                                      <p:cBhvr>
                                        <p:cTn id="74" dur="500" decel="100000" fill="hold"/>
                                        <p:tgtEl>
                                          <p:spTgt spid="15"/>
                                        </p:tgtEl>
                                        <p:attrNameLst>
                                          <p:attrName>ppt_x</p:attrName>
                                        </p:attrNameLst>
                                      </p:cBhvr>
                                      <p:tavLst>
                                        <p:tav tm="0">
                                          <p:val>
                                            <p:strVal val="#ppt_x"/>
                                          </p:val>
                                        </p:tav>
                                        <p:tav tm="100000">
                                          <p:val>
                                            <p:strVal val="#ppt_x"/>
                                          </p:val>
                                        </p:tav>
                                      </p:tavLst>
                                    </p:anim>
                                    <p:anim calcmode="lin" valueType="num">
                                      <p:cBhvr>
                                        <p:cTn id="75" dur="500" decel="100000" fill="hold"/>
                                        <p:tgtEl>
                                          <p:spTgt spid="15"/>
                                        </p:tgtEl>
                                        <p:attrNameLst>
                                          <p:attrName>ppt_y</p:attrName>
                                        </p:attrNameLst>
                                      </p:cBhvr>
                                      <p:tavLst>
                                        <p:tav tm="0">
                                          <p:val>
                                            <p:strVal val="#ppt_y+0.0278"/>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42" presetClass="entr" presetSubtype="0"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500"/>
                                        <p:tgtEl>
                                          <p:spTgt spid="16"/>
                                        </p:tgtEl>
                                      </p:cBhvr>
                                    </p:animEffect>
                                    <p:anim calcmode="lin" valueType="num">
                                      <p:cBhvr>
                                        <p:cTn id="81" dur="500" decel="100000" fill="hold"/>
                                        <p:tgtEl>
                                          <p:spTgt spid="16"/>
                                        </p:tgtEl>
                                        <p:attrNameLst>
                                          <p:attrName>ppt_x</p:attrName>
                                        </p:attrNameLst>
                                      </p:cBhvr>
                                      <p:tavLst>
                                        <p:tav tm="0">
                                          <p:val>
                                            <p:strVal val="#ppt_x"/>
                                          </p:val>
                                        </p:tav>
                                        <p:tav tm="100000">
                                          <p:val>
                                            <p:strVal val="#ppt_x"/>
                                          </p:val>
                                        </p:tav>
                                      </p:tavLst>
                                    </p:anim>
                                    <p:anim calcmode="lin" valueType="num">
                                      <p:cBhvr>
                                        <p:cTn id="82" dur="500" decel="100000" fill="hold"/>
                                        <p:tgtEl>
                                          <p:spTgt spid="16"/>
                                        </p:tgtEl>
                                        <p:attrNameLst>
                                          <p:attrName>ppt_y</p:attrName>
                                        </p:attrNameLst>
                                      </p:cBhvr>
                                      <p:tavLst>
                                        <p:tav tm="0">
                                          <p:val>
                                            <p:strVal val="#ppt_y+0.0278"/>
                                          </p:val>
                                        </p:tav>
                                        <p:tav tm="100000">
                                          <p:val>
                                            <p:strVal val="#ppt_y"/>
                                          </p:val>
                                        </p:tav>
                                      </p:tavLst>
                                    </p:anim>
                                  </p:childTnLst>
                                </p:cTn>
                              </p:par>
                              <p:par>
                                <p:cTn id="83" presetID="42" presetClass="entr" presetSubtype="0" fill="hold" grpId="0"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500"/>
                                        <p:tgtEl>
                                          <p:spTgt spid="17"/>
                                        </p:tgtEl>
                                      </p:cBhvr>
                                    </p:animEffect>
                                    <p:anim calcmode="lin" valueType="num">
                                      <p:cBhvr>
                                        <p:cTn id="86" dur="500" decel="100000" fill="hold"/>
                                        <p:tgtEl>
                                          <p:spTgt spid="17"/>
                                        </p:tgtEl>
                                        <p:attrNameLst>
                                          <p:attrName>ppt_x</p:attrName>
                                        </p:attrNameLst>
                                      </p:cBhvr>
                                      <p:tavLst>
                                        <p:tav tm="0">
                                          <p:val>
                                            <p:strVal val="#ppt_x"/>
                                          </p:val>
                                        </p:tav>
                                        <p:tav tm="100000">
                                          <p:val>
                                            <p:strVal val="#ppt_x"/>
                                          </p:val>
                                        </p:tav>
                                      </p:tavLst>
                                    </p:anim>
                                    <p:anim calcmode="lin" valueType="num">
                                      <p:cBhvr>
                                        <p:cTn id="87" dur="500" decel="100000" fill="hold"/>
                                        <p:tgtEl>
                                          <p:spTgt spid="17"/>
                                        </p:tgtEl>
                                        <p:attrNameLst>
                                          <p:attrName>ppt_y</p:attrName>
                                        </p:attrNameLst>
                                      </p:cBhvr>
                                      <p:tavLst>
                                        <p:tav tm="0">
                                          <p:val>
                                            <p:strVal val="#ppt_y+0.0278"/>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500"/>
                                        <p:tgtEl>
                                          <p:spTgt spid="18"/>
                                        </p:tgtEl>
                                      </p:cBhvr>
                                    </p:animEffect>
                                    <p:anim calcmode="lin" valueType="num">
                                      <p:cBhvr>
                                        <p:cTn id="91" dur="500" decel="100000" fill="hold"/>
                                        <p:tgtEl>
                                          <p:spTgt spid="18"/>
                                        </p:tgtEl>
                                        <p:attrNameLst>
                                          <p:attrName>ppt_x</p:attrName>
                                        </p:attrNameLst>
                                      </p:cBhvr>
                                      <p:tavLst>
                                        <p:tav tm="0">
                                          <p:val>
                                            <p:strVal val="#ppt_x"/>
                                          </p:val>
                                        </p:tav>
                                        <p:tav tm="100000">
                                          <p:val>
                                            <p:strVal val="#ppt_x"/>
                                          </p:val>
                                        </p:tav>
                                      </p:tavLst>
                                    </p:anim>
                                    <p:anim calcmode="lin" valueType="num">
                                      <p:cBhvr>
                                        <p:cTn id="92" dur="500" decel="100000" fill="hold"/>
                                        <p:tgtEl>
                                          <p:spTgt spid="18"/>
                                        </p:tgtEl>
                                        <p:attrNameLst>
                                          <p:attrName>ppt_y</p:attrName>
                                        </p:attrNameLst>
                                      </p:cBhvr>
                                      <p:tavLst>
                                        <p:tav tm="0">
                                          <p:val>
                                            <p:strVal val="#ppt_y+0.0278"/>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500"/>
                                        <p:tgtEl>
                                          <p:spTgt spid="19"/>
                                        </p:tgtEl>
                                      </p:cBhvr>
                                    </p:animEffect>
                                    <p:anim calcmode="lin" valueType="num">
                                      <p:cBhvr>
                                        <p:cTn id="96" dur="500" decel="100000" fill="hold"/>
                                        <p:tgtEl>
                                          <p:spTgt spid="19"/>
                                        </p:tgtEl>
                                        <p:attrNameLst>
                                          <p:attrName>ppt_x</p:attrName>
                                        </p:attrNameLst>
                                      </p:cBhvr>
                                      <p:tavLst>
                                        <p:tav tm="0">
                                          <p:val>
                                            <p:strVal val="#ppt_x"/>
                                          </p:val>
                                        </p:tav>
                                        <p:tav tm="100000">
                                          <p:val>
                                            <p:strVal val="#ppt_x"/>
                                          </p:val>
                                        </p:tav>
                                      </p:tavLst>
                                    </p:anim>
                                    <p:anim calcmode="lin" valueType="num">
                                      <p:cBhvr>
                                        <p:cTn id="97" dur="500" decel="100000" fill="hold"/>
                                        <p:tgtEl>
                                          <p:spTgt spid="1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p:bldP spid="8" grpId="0" animBg="1"/>
      <p:bldP spid="9" grpId="0"/>
      <p:bldP spid="10" grpId="0"/>
      <p:bldP spid="11" grpId="0"/>
      <p:bldP spid="12" grpId="0" animBg="1"/>
      <p:bldP spid="13" grpId="0"/>
      <p:bldP spid="14" grpId="0"/>
      <p:bldP spid="15" grpId="0"/>
      <p:bldP spid="16" grpId="0" animBg="1"/>
      <p:bldP spid="17" grpId="0"/>
      <p:bldP spid="18" grpId="0"/>
      <p:bldP spid="19" grpId="0"/>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Typographie</a:t>
            </a:r>
            <a:endParaRPr lang="en-US" sz="2800" dirty="0"/>
          </a:p>
        </p:txBody>
      </p:sp>
      <p:sp>
        <p:nvSpPr>
          <p:cNvPr id="4" name="c1_bg"/>
          <p:cNvSpPr/>
          <p:nvPr/>
        </p:nvSpPr>
        <p:spPr>
          <a:xfrm>
            <a:off x="548640" y="1554480"/>
            <a:ext cx="5440680" cy="4343400"/>
          </a:xfrm>
          <a:prstGeom prst="roundRect">
            <a:avLst>
              <a:gd name="adj" fmla="val 2526"/>
            </a:avLst>
          </a:prstGeom>
          <a:solidFill>
            <a:schemeClr val="bg2"/>
          </a:solidFill>
          <a:ln w="12700">
            <a:solidFill>
              <a:schemeClr val="bg2"/>
            </a:solidFill>
            <a:prstDash val="solid"/>
          </a:ln>
        </p:spPr>
      </p:sp>
      <p:sp>
        <p:nvSpPr>
          <p:cNvPr id="5" name="c1_aa"/>
          <p:cNvSpPr txBox="1"/>
          <p:nvPr/>
        </p:nvSpPr>
        <p:spPr>
          <a:xfrm>
            <a:off x="1005840" y="1783080"/>
            <a:ext cx="3657600" cy="1737360"/>
          </a:xfrm>
          <a:prstGeom prst="rect">
            <a:avLst/>
          </a:prstGeom>
          <a:noFill/>
          <a:ln/>
        </p:spPr>
        <p:txBody>
          <a:bodyPr wrap="square" lIns="0" tIns="0" rIns="0" bIns="0" rtlCol="0" anchor="ctr"/>
          <a:lstStyle/>
          <a:p>
            <a:pPr indent="0" marL="0">
              <a:buNone/>
            </a:pPr>
            <a:r>
              <a:rPr lang="en-US" sz="9600" b="1" dirty="0">
                <a:solidFill>
                  <a:schemeClr val="tx2"/>
                </a:solidFill>
                <a:latin typeface="Impact" pitchFamily="34" charset="0"/>
                <a:ea typeface="Impact" pitchFamily="34" charset="-122"/>
                <a:cs typeface="Impact" pitchFamily="34" charset="-120"/>
              </a:rPr>
              <a:t>Aa</a:t>
            </a:r>
            <a:endParaRPr lang="en-US" sz="9600" dirty="0"/>
          </a:p>
        </p:txBody>
      </p:sp>
      <p:sp>
        <p:nvSpPr>
          <p:cNvPr id="6" name="c1_k"/>
          <p:cNvSpPr txBox="1"/>
          <p:nvPr/>
        </p:nvSpPr>
        <p:spPr>
          <a:xfrm>
            <a:off x="1005840" y="3794760"/>
            <a:ext cx="4572000" cy="365760"/>
          </a:xfrm>
          <a:prstGeom prst="rect">
            <a:avLst/>
          </a:prstGeom>
          <a:noFill/>
          <a:ln/>
        </p:spPr>
        <p:txBody>
          <a:bodyPr wrap="square" lIns="0" tIns="0" rIns="0" bIns="0" rtlCol="0" anchor="t"/>
          <a:lstStyle/>
          <a:p>
            <a:pPr indent="0" marL="0">
              <a:buNone/>
            </a:pPr>
            <a:r>
              <a:rPr lang="en-US" sz="1200" b="1" spc="200" kern="0" dirty="0">
                <a:solidFill>
                  <a:schemeClr val="accent1"/>
                </a:solidFill>
              </a:rPr>
              <a:t>LOGOTYPE</a:t>
            </a:r>
            <a:endParaRPr lang="en-US" sz="1200" dirty="0"/>
          </a:p>
        </p:txBody>
      </p:sp>
      <p:sp>
        <p:nvSpPr>
          <p:cNvPr id="7" name="c1_n"/>
          <p:cNvSpPr txBox="1"/>
          <p:nvPr/>
        </p:nvSpPr>
        <p:spPr>
          <a:xfrm>
            <a:off x="1005840" y="4206240"/>
            <a:ext cx="4572000" cy="457200"/>
          </a:xfrm>
          <a:prstGeom prst="rect">
            <a:avLst/>
          </a:prstGeom>
          <a:noFill/>
          <a:ln/>
        </p:spPr>
        <p:txBody>
          <a:bodyPr wrap="square" lIns="0" tIns="0" rIns="0" bIns="0" rtlCol="0" anchor="t"/>
          <a:lstStyle/>
          <a:p>
            <a:pPr indent="0" marL="0">
              <a:buNone/>
            </a:pPr>
            <a:r>
              <a:rPr lang="en-US" sz="2000" b="1" dirty="0">
                <a:solidFill>
                  <a:schemeClr val="tx1"/>
                </a:solidFill>
              </a:rPr>
              <a:t>Impact · College Bold</a:t>
            </a:r>
            <a:endParaRPr lang="en-US" sz="2000" dirty="0"/>
          </a:p>
        </p:txBody>
      </p:sp>
      <p:sp>
        <p:nvSpPr>
          <p:cNvPr id="8" name="c1_d"/>
          <p:cNvSpPr txBox="1"/>
          <p:nvPr/>
        </p:nvSpPr>
        <p:spPr>
          <a:xfrm>
            <a:off x="1005840" y="4754880"/>
            <a:ext cx="4663440" cy="411480"/>
          </a:xfrm>
          <a:prstGeom prst="rect">
            <a:avLst/>
          </a:prstGeom>
          <a:noFill/>
          <a:ln/>
        </p:spPr>
        <p:txBody>
          <a:bodyPr wrap="square" lIns="0" tIns="0" rIns="0" bIns="0" rtlCol="0" anchor="t"/>
          <a:lstStyle/>
          <a:p>
            <a:pPr indent="0" marL="0">
              <a:buNone/>
            </a:pPr>
            <a:r>
              <a:rPr lang="en-US" sz="1500" dirty="0">
                <a:solidFill>
                  <a:schemeClr val="accent4"/>
                </a:solidFill>
              </a:rPr>
              <a:t>Style approchant, en gras</a:t>
            </a:r>
            <a:endParaRPr lang="en-US" sz="1500" dirty="0"/>
          </a:p>
        </p:txBody>
      </p:sp>
      <p:sp>
        <p:nvSpPr>
          <p:cNvPr id="9" name="c2_bg"/>
          <p:cNvSpPr/>
          <p:nvPr/>
        </p:nvSpPr>
        <p:spPr>
          <a:xfrm>
            <a:off x="6199632" y="1554480"/>
            <a:ext cx="5440680" cy="4343400"/>
          </a:xfrm>
          <a:prstGeom prst="roundRect">
            <a:avLst>
              <a:gd name="adj" fmla="val 2526"/>
            </a:avLst>
          </a:prstGeom>
          <a:solidFill>
            <a:schemeClr val="bg2"/>
          </a:solidFill>
          <a:ln w="12700">
            <a:solidFill>
              <a:schemeClr val="bg2"/>
            </a:solidFill>
            <a:prstDash val="solid"/>
          </a:ln>
        </p:spPr>
      </p:sp>
      <p:sp>
        <p:nvSpPr>
          <p:cNvPr id="10" name="c2_aa"/>
          <p:cNvSpPr txBox="1"/>
          <p:nvPr/>
        </p:nvSpPr>
        <p:spPr>
          <a:xfrm>
            <a:off x="6656832" y="1783080"/>
            <a:ext cx="3657600" cy="1737360"/>
          </a:xfrm>
          <a:prstGeom prst="rect">
            <a:avLst/>
          </a:prstGeom>
          <a:noFill/>
          <a:ln/>
        </p:spPr>
        <p:txBody>
          <a:bodyPr wrap="square" lIns="0" tIns="0" rIns="0" bIns="0" rtlCol="0" anchor="ctr"/>
          <a:lstStyle/>
          <a:p>
            <a:pPr indent="0" marL="0">
              <a:buNone/>
            </a:pPr>
            <a:r>
              <a:rPr lang="en-US" sz="9600" b="1" dirty="0">
                <a:solidFill>
                  <a:schemeClr val="tx2"/>
                </a:solidFill>
                <a:latin typeface="Poppins" pitchFamily="34" charset="0"/>
                <a:ea typeface="Poppins" pitchFamily="34" charset="-122"/>
                <a:cs typeface="Poppins" pitchFamily="34" charset="-120"/>
              </a:rPr>
              <a:t>Aa</a:t>
            </a:r>
            <a:endParaRPr lang="en-US" sz="9600" dirty="0"/>
          </a:p>
        </p:txBody>
      </p:sp>
      <p:sp>
        <p:nvSpPr>
          <p:cNvPr id="11" name="c2_k"/>
          <p:cNvSpPr txBox="1"/>
          <p:nvPr/>
        </p:nvSpPr>
        <p:spPr>
          <a:xfrm>
            <a:off x="6656832" y="3794760"/>
            <a:ext cx="4572000" cy="365760"/>
          </a:xfrm>
          <a:prstGeom prst="rect">
            <a:avLst/>
          </a:prstGeom>
          <a:noFill/>
          <a:ln/>
        </p:spPr>
        <p:txBody>
          <a:bodyPr wrap="square" lIns="0" tIns="0" rIns="0" bIns="0" rtlCol="0" anchor="t"/>
          <a:lstStyle/>
          <a:p>
            <a:pPr indent="0" marL="0">
              <a:buNone/>
            </a:pPr>
            <a:r>
              <a:rPr lang="en-US" sz="1200" b="1" spc="200" kern="0" dirty="0">
                <a:solidFill>
                  <a:schemeClr val="accent1"/>
                </a:solidFill>
              </a:rPr>
              <a:t>SUPPORTS DE COMMUNICATION</a:t>
            </a:r>
            <a:endParaRPr lang="en-US" sz="1200" dirty="0"/>
          </a:p>
        </p:txBody>
      </p:sp>
      <p:sp>
        <p:nvSpPr>
          <p:cNvPr id="12" name="c2_n"/>
          <p:cNvSpPr txBox="1"/>
          <p:nvPr/>
        </p:nvSpPr>
        <p:spPr>
          <a:xfrm>
            <a:off x="6656832" y="4206240"/>
            <a:ext cx="4572000" cy="457200"/>
          </a:xfrm>
          <a:prstGeom prst="rect">
            <a:avLst/>
          </a:prstGeom>
          <a:noFill/>
          <a:ln/>
        </p:spPr>
        <p:txBody>
          <a:bodyPr wrap="square" lIns="0" tIns="0" rIns="0" bIns="0" rtlCol="0" anchor="t"/>
          <a:lstStyle/>
          <a:p>
            <a:pPr indent="0" marL="0">
              <a:buNone/>
            </a:pPr>
            <a:r>
              <a:rPr lang="en-US" sz="2000" b="1" dirty="0">
                <a:solidFill>
                  <a:schemeClr val="tx1"/>
                </a:solidFill>
              </a:rPr>
              <a:t>Poppins ExtraBold</a:t>
            </a:r>
            <a:endParaRPr lang="en-US" sz="2000" dirty="0"/>
          </a:p>
        </p:txBody>
      </p:sp>
      <p:sp>
        <p:nvSpPr>
          <p:cNvPr id="13" name="c2_d"/>
          <p:cNvSpPr txBox="1"/>
          <p:nvPr/>
        </p:nvSpPr>
        <p:spPr>
          <a:xfrm>
            <a:off x="6656832" y="4754880"/>
            <a:ext cx="4663440" cy="411480"/>
          </a:xfrm>
          <a:prstGeom prst="rect">
            <a:avLst/>
          </a:prstGeom>
          <a:noFill/>
          <a:ln/>
        </p:spPr>
        <p:txBody>
          <a:bodyPr wrap="square" lIns="0" tIns="0" rIns="0" bIns="0" rtlCol="0" anchor="t"/>
          <a:lstStyle/>
          <a:p>
            <a:pPr indent="0" marL="0">
              <a:buNone/>
            </a:pPr>
            <a:r>
              <a:rPr lang="en-US" sz="1500" dirty="0">
                <a:solidFill>
                  <a:schemeClr val="accent4"/>
                </a:solidFill>
              </a:rPr>
              <a:t>Textes secondaires en graisse régulière</a:t>
            </a:r>
            <a:endParaRPr lang="en-US" sz="15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p:bldP spid="8" grpId="0"/>
      <p:bldP spid="9" grpId="0" animBg="1"/>
      <p:bldP spid="10" grpId="0"/>
      <p:bldP spid="11" grpId="0"/>
      <p:bldP spid="12" grpId="0"/>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Le logo décliné sur six supports</a:t>
            </a:r>
            <a:endParaRPr lang="en-US" sz="2800" dirty="0"/>
          </a:p>
        </p:txBody>
      </p:sp>
      <p:sp>
        <p:nvSpPr>
          <p:cNvPr id="4" name="c1_bg0"/>
          <p:cNvSpPr/>
          <p:nvPr/>
        </p:nvSpPr>
        <p:spPr>
          <a:xfrm>
            <a:off x="548640" y="1463040"/>
            <a:ext cx="3502152" cy="1783080"/>
          </a:xfrm>
          <a:prstGeom prst="roundRect">
            <a:avLst>
              <a:gd name="adj" fmla="val 6154"/>
            </a:avLst>
          </a:prstGeom>
          <a:solidFill>
            <a:schemeClr val="bg1"/>
          </a:solidFill>
          <a:ln w="12700">
            <a:solidFill>
              <a:schemeClr val="accent5"/>
            </a:solidFill>
            <a:prstDash val="solid"/>
          </a:ln>
        </p:spPr>
      </p:sp>
      <p:pic>
        <p:nvPicPr>
          <p:cNvPr id="5" name="c1_im0" descr="/tmp/claude-0/-home-user-HANDY/4ddfdd3d-c678-5164-8991-be3c6152a069/scratchpad/assets/carte.jpg">    </p:cNvPr>
          <p:cNvPicPr>
            <a:picLocks noChangeAspect="1"/>
          </p:cNvPicPr>
          <p:nvPr/>
        </p:nvPicPr>
        <p:blipFill>
          <a:blip r:embed="rId1"/>
          <a:stretch>
            <a:fillRect/>
          </a:stretch>
        </p:blipFill>
        <p:spPr>
          <a:xfrm>
            <a:off x="1031289" y="1572768"/>
            <a:ext cx="2536853" cy="1563624"/>
          </a:xfrm>
          <a:prstGeom prst="rect">
            <a:avLst/>
          </a:prstGeom>
        </p:spPr>
      </p:pic>
      <p:sp>
        <p:nvSpPr>
          <p:cNvPr id="6" name="c1_cap0"/>
          <p:cNvSpPr txBox="1"/>
          <p:nvPr/>
        </p:nvSpPr>
        <p:spPr>
          <a:xfrm>
            <a:off x="548640" y="3310128"/>
            <a:ext cx="3502152" cy="320040"/>
          </a:xfrm>
          <a:prstGeom prst="rect">
            <a:avLst/>
          </a:prstGeom>
          <a:noFill/>
          <a:ln/>
        </p:spPr>
        <p:txBody>
          <a:bodyPr wrap="square" lIns="0" tIns="0" rIns="0" bIns="0" rtlCol="0" anchor="t"/>
          <a:lstStyle/>
          <a:p>
            <a:pPr indent="0" marL="0">
              <a:buNone/>
            </a:pPr>
            <a:r>
              <a:rPr lang="en-US" sz="1400" b="1" dirty="0">
                <a:solidFill>
                  <a:schemeClr val="tx1"/>
                </a:solidFill>
              </a:rPr>
              <a:t>Carte de visite</a:t>
            </a:r>
            <a:endParaRPr lang="en-US" sz="1400" dirty="0"/>
          </a:p>
        </p:txBody>
      </p:sp>
      <p:sp>
        <p:nvSpPr>
          <p:cNvPr id="7" name="c1_bg1"/>
          <p:cNvSpPr/>
          <p:nvPr/>
        </p:nvSpPr>
        <p:spPr>
          <a:xfrm>
            <a:off x="4343400" y="1463040"/>
            <a:ext cx="3502152" cy="1783080"/>
          </a:xfrm>
          <a:prstGeom prst="roundRect">
            <a:avLst>
              <a:gd name="adj" fmla="val 6154"/>
            </a:avLst>
          </a:prstGeom>
          <a:solidFill>
            <a:schemeClr val="bg1"/>
          </a:solidFill>
          <a:ln w="12700">
            <a:solidFill>
              <a:schemeClr val="accent5"/>
            </a:solidFill>
            <a:prstDash val="solid"/>
          </a:ln>
        </p:spPr>
      </p:sp>
      <p:pic>
        <p:nvPicPr>
          <p:cNvPr id="8" name="c1_im1" descr="/tmp/claude-0/-home-user-HANDY/4ddfdd3d-c678-5164-8991-be3c6152a069/scratchpad/assets/tshirt.jpg">    </p:cNvPr>
          <p:cNvPicPr>
            <a:picLocks noChangeAspect="1"/>
          </p:cNvPicPr>
          <p:nvPr/>
        </p:nvPicPr>
        <p:blipFill>
          <a:blip r:embed="rId2"/>
          <a:stretch>
            <a:fillRect/>
          </a:stretch>
        </p:blipFill>
        <p:spPr>
          <a:xfrm>
            <a:off x="5469026" y="1572768"/>
            <a:ext cx="1250899" cy="1563624"/>
          </a:xfrm>
          <a:prstGeom prst="rect">
            <a:avLst/>
          </a:prstGeom>
        </p:spPr>
      </p:pic>
      <p:sp>
        <p:nvSpPr>
          <p:cNvPr id="9" name="c1_cap1"/>
          <p:cNvSpPr txBox="1"/>
          <p:nvPr/>
        </p:nvSpPr>
        <p:spPr>
          <a:xfrm>
            <a:off x="4343400" y="3310128"/>
            <a:ext cx="3502152" cy="320040"/>
          </a:xfrm>
          <a:prstGeom prst="rect">
            <a:avLst/>
          </a:prstGeom>
          <a:noFill/>
          <a:ln/>
        </p:spPr>
        <p:txBody>
          <a:bodyPr wrap="square" lIns="0" tIns="0" rIns="0" bIns="0" rtlCol="0" anchor="t"/>
          <a:lstStyle/>
          <a:p>
            <a:pPr indent="0" marL="0">
              <a:buNone/>
            </a:pPr>
            <a:r>
              <a:rPr lang="en-US" sz="1400" b="1" dirty="0">
                <a:solidFill>
                  <a:schemeClr val="tx1"/>
                </a:solidFill>
              </a:rPr>
              <a:t>T-shirt</a:t>
            </a:r>
            <a:endParaRPr lang="en-US" sz="1400" dirty="0"/>
          </a:p>
        </p:txBody>
      </p:sp>
      <p:sp>
        <p:nvSpPr>
          <p:cNvPr id="10" name="c1_bg2"/>
          <p:cNvSpPr/>
          <p:nvPr/>
        </p:nvSpPr>
        <p:spPr>
          <a:xfrm>
            <a:off x="8138160" y="1463040"/>
            <a:ext cx="3502152" cy="1783080"/>
          </a:xfrm>
          <a:prstGeom prst="roundRect">
            <a:avLst>
              <a:gd name="adj" fmla="val 6154"/>
            </a:avLst>
          </a:prstGeom>
          <a:solidFill>
            <a:schemeClr val="bg1"/>
          </a:solidFill>
          <a:ln w="12700">
            <a:solidFill>
              <a:schemeClr val="accent5"/>
            </a:solidFill>
            <a:prstDash val="solid"/>
          </a:ln>
        </p:spPr>
      </p:sp>
      <p:pic>
        <p:nvPicPr>
          <p:cNvPr id="11" name="c1_im2" descr="/tmp/claude-0/-home-user-HANDY/4ddfdd3d-c678-5164-8991-be3c6152a069/scratchpad/assets/casquette.png">    </p:cNvPr>
          <p:cNvPicPr>
            <a:picLocks noChangeAspect="1"/>
          </p:cNvPicPr>
          <p:nvPr/>
        </p:nvPicPr>
        <p:blipFill>
          <a:blip r:embed="rId3"/>
          <a:stretch>
            <a:fillRect/>
          </a:stretch>
        </p:blipFill>
        <p:spPr>
          <a:xfrm>
            <a:off x="9059287" y="1572768"/>
            <a:ext cx="1659898" cy="1563624"/>
          </a:xfrm>
          <a:prstGeom prst="rect">
            <a:avLst/>
          </a:prstGeom>
        </p:spPr>
      </p:pic>
      <p:sp>
        <p:nvSpPr>
          <p:cNvPr id="12" name="c1_cap2"/>
          <p:cNvSpPr txBox="1"/>
          <p:nvPr/>
        </p:nvSpPr>
        <p:spPr>
          <a:xfrm>
            <a:off x="8138160" y="3310128"/>
            <a:ext cx="3502152" cy="320040"/>
          </a:xfrm>
          <a:prstGeom prst="rect">
            <a:avLst/>
          </a:prstGeom>
          <a:noFill/>
          <a:ln/>
        </p:spPr>
        <p:txBody>
          <a:bodyPr wrap="square" lIns="0" tIns="0" rIns="0" bIns="0" rtlCol="0" anchor="t"/>
          <a:lstStyle/>
          <a:p>
            <a:pPr indent="0" marL="0">
              <a:buNone/>
            </a:pPr>
            <a:r>
              <a:rPr lang="en-US" sz="1400" b="1" dirty="0">
                <a:solidFill>
                  <a:schemeClr val="tx1"/>
                </a:solidFill>
              </a:rPr>
              <a:t>Casquette</a:t>
            </a:r>
            <a:endParaRPr lang="en-US" sz="1400" dirty="0"/>
          </a:p>
        </p:txBody>
      </p:sp>
      <p:sp>
        <p:nvSpPr>
          <p:cNvPr id="13" name="c2_bg3"/>
          <p:cNvSpPr/>
          <p:nvPr/>
        </p:nvSpPr>
        <p:spPr>
          <a:xfrm>
            <a:off x="548640" y="3794760"/>
            <a:ext cx="3502152" cy="1783080"/>
          </a:xfrm>
          <a:prstGeom prst="roundRect">
            <a:avLst>
              <a:gd name="adj" fmla="val 6154"/>
            </a:avLst>
          </a:prstGeom>
          <a:solidFill>
            <a:schemeClr val="bg1"/>
          </a:solidFill>
          <a:ln w="12700">
            <a:solidFill>
              <a:schemeClr val="accent5"/>
            </a:solidFill>
            <a:prstDash val="solid"/>
          </a:ln>
        </p:spPr>
      </p:sp>
      <p:pic>
        <p:nvPicPr>
          <p:cNvPr id="14" name="c2_im3" descr="/tmp/claude-0/-home-user-HANDY/4ddfdd3d-c678-5164-8991-be3c6152a069/scratchpad/assets/sac.jpg">    </p:cNvPr>
          <p:cNvPicPr>
            <a:picLocks noChangeAspect="1"/>
          </p:cNvPicPr>
          <p:nvPr/>
        </p:nvPicPr>
        <p:blipFill>
          <a:blip r:embed="rId4"/>
          <a:stretch>
            <a:fillRect/>
          </a:stretch>
        </p:blipFill>
        <p:spPr>
          <a:xfrm>
            <a:off x="1778508" y="3904488"/>
            <a:ext cx="1042416" cy="1563624"/>
          </a:xfrm>
          <a:prstGeom prst="rect">
            <a:avLst/>
          </a:prstGeom>
        </p:spPr>
      </p:pic>
      <p:sp>
        <p:nvSpPr>
          <p:cNvPr id="15" name="c2_cap3"/>
          <p:cNvSpPr txBox="1"/>
          <p:nvPr/>
        </p:nvSpPr>
        <p:spPr>
          <a:xfrm>
            <a:off x="548640" y="5641848"/>
            <a:ext cx="3502152" cy="320040"/>
          </a:xfrm>
          <a:prstGeom prst="rect">
            <a:avLst/>
          </a:prstGeom>
          <a:noFill/>
          <a:ln/>
        </p:spPr>
        <p:txBody>
          <a:bodyPr wrap="square" lIns="0" tIns="0" rIns="0" bIns="0" rtlCol="0" anchor="t"/>
          <a:lstStyle/>
          <a:p>
            <a:pPr indent="0" marL="0">
              <a:buNone/>
            </a:pPr>
            <a:r>
              <a:rPr lang="en-US" sz="1400" b="1" dirty="0">
                <a:solidFill>
                  <a:schemeClr val="tx1"/>
                </a:solidFill>
              </a:rPr>
              <a:t>Sac de sport</a:t>
            </a:r>
            <a:endParaRPr lang="en-US" sz="1400" dirty="0"/>
          </a:p>
        </p:txBody>
      </p:sp>
      <p:sp>
        <p:nvSpPr>
          <p:cNvPr id="16" name="c2_bg4"/>
          <p:cNvSpPr/>
          <p:nvPr/>
        </p:nvSpPr>
        <p:spPr>
          <a:xfrm>
            <a:off x="4343400" y="3794760"/>
            <a:ext cx="3502152" cy="1783080"/>
          </a:xfrm>
          <a:prstGeom prst="roundRect">
            <a:avLst>
              <a:gd name="adj" fmla="val 6154"/>
            </a:avLst>
          </a:prstGeom>
          <a:solidFill>
            <a:schemeClr val="bg1"/>
          </a:solidFill>
          <a:ln w="12700">
            <a:solidFill>
              <a:schemeClr val="accent5"/>
            </a:solidFill>
            <a:prstDash val="solid"/>
          </a:ln>
        </p:spPr>
      </p:sp>
      <p:pic>
        <p:nvPicPr>
          <p:cNvPr id="17" name="c2_im4" descr="/tmp/claude-0/-home-user-HANDY/4ddfdd3d-c678-5164-8991-be3c6152a069/scratchpad/assets/gourdes.jpg">    </p:cNvPr>
          <p:cNvPicPr>
            <a:picLocks noChangeAspect="1"/>
          </p:cNvPicPr>
          <p:nvPr/>
        </p:nvPicPr>
        <p:blipFill>
          <a:blip r:embed="rId5"/>
          <a:stretch>
            <a:fillRect/>
          </a:stretch>
        </p:blipFill>
        <p:spPr>
          <a:xfrm>
            <a:off x="5312664" y="3904488"/>
            <a:ext cx="1563624" cy="1563624"/>
          </a:xfrm>
          <a:prstGeom prst="rect">
            <a:avLst/>
          </a:prstGeom>
        </p:spPr>
      </p:pic>
      <p:sp>
        <p:nvSpPr>
          <p:cNvPr id="18" name="c2_cap4"/>
          <p:cNvSpPr txBox="1"/>
          <p:nvPr/>
        </p:nvSpPr>
        <p:spPr>
          <a:xfrm>
            <a:off x="4343400" y="5641848"/>
            <a:ext cx="3502152" cy="320040"/>
          </a:xfrm>
          <a:prstGeom prst="rect">
            <a:avLst/>
          </a:prstGeom>
          <a:noFill/>
          <a:ln/>
        </p:spPr>
        <p:txBody>
          <a:bodyPr wrap="square" lIns="0" tIns="0" rIns="0" bIns="0" rtlCol="0" anchor="t"/>
          <a:lstStyle/>
          <a:p>
            <a:pPr indent="0" marL="0">
              <a:buNone/>
            </a:pPr>
            <a:r>
              <a:rPr lang="en-US" sz="1400" b="1" dirty="0">
                <a:solidFill>
                  <a:schemeClr val="tx1"/>
                </a:solidFill>
              </a:rPr>
              <a:t>Bouteilles d'eau</a:t>
            </a:r>
            <a:endParaRPr lang="en-US" sz="1400" dirty="0"/>
          </a:p>
        </p:txBody>
      </p:sp>
      <p:sp>
        <p:nvSpPr>
          <p:cNvPr id="19" name="c2_bg5"/>
          <p:cNvSpPr/>
          <p:nvPr/>
        </p:nvSpPr>
        <p:spPr>
          <a:xfrm>
            <a:off x="8138160" y="3794760"/>
            <a:ext cx="3502152" cy="1783080"/>
          </a:xfrm>
          <a:prstGeom prst="roundRect">
            <a:avLst>
              <a:gd name="adj" fmla="val 6154"/>
            </a:avLst>
          </a:prstGeom>
          <a:solidFill>
            <a:schemeClr val="bg1"/>
          </a:solidFill>
          <a:ln w="12700">
            <a:solidFill>
              <a:schemeClr val="accent5"/>
            </a:solidFill>
            <a:prstDash val="solid"/>
          </a:ln>
        </p:spPr>
      </p:sp>
      <p:pic>
        <p:nvPicPr>
          <p:cNvPr id="20" name="c2_im5" descr="/tmp/claude-0/-home-user-HANDY/4ddfdd3d-c678-5164-8991-be3c6152a069/scratchpad/assets/stylo.png">    </p:cNvPr>
          <p:cNvPicPr>
            <a:picLocks noChangeAspect="1"/>
          </p:cNvPicPr>
          <p:nvPr/>
        </p:nvPicPr>
        <p:blipFill>
          <a:blip r:embed="rId6"/>
          <a:stretch>
            <a:fillRect/>
          </a:stretch>
        </p:blipFill>
        <p:spPr>
          <a:xfrm>
            <a:off x="8489629" y="3904488"/>
            <a:ext cx="2799215" cy="1563624"/>
          </a:xfrm>
          <a:prstGeom prst="rect">
            <a:avLst/>
          </a:prstGeom>
        </p:spPr>
      </p:pic>
      <p:sp>
        <p:nvSpPr>
          <p:cNvPr id="21" name="c2_cap5"/>
          <p:cNvSpPr txBox="1"/>
          <p:nvPr/>
        </p:nvSpPr>
        <p:spPr>
          <a:xfrm>
            <a:off x="8138160" y="5641848"/>
            <a:ext cx="3502152" cy="320040"/>
          </a:xfrm>
          <a:prstGeom prst="rect">
            <a:avLst/>
          </a:prstGeom>
          <a:noFill/>
          <a:ln/>
        </p:spPr>
        <p:txBody>
          <a:bodyPr wrap="square" lIns="0" tIns="0" rIns="0" bIns="0" rtlCol="0" anchor="t"/>
          <a:lstStyle/>
          <a:p>
            <a:pPr indent="0" marL="0">
              <a:buNone/>
            </a:pPr>
            <a:r>
              <a:rPr lang="en-US" sz="1400" b="1" dirty="0">
                <a:solidFill>
                  <a:schemeClr val="tx1"/>
                </a:solidFill>
              </a:rPr>
              <a:t>Stylo</a:t>
            </a:r>
            <a:endParaRPr lang="en-US" sz="14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0278"/>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decel="100000" fill="hold"/>
                                        <p:tgtEl>
                                          <p:spTgt spid="10"/>
                                        </p:tgtEl>
                                        <p:attrNameLst>
                                          <p:attrName>ppt_x</p:attrName>
                                        </p:attrNameLst>
                                      </p:cBhvr>
                                      <p:tavLst>
                                        <p:tav tm="0">
                                          <p:val>
                                            <p:strVal val="#ppt_x"/>
                                          </p:val>
                                        </p:tav>
                                        <p:tav tm="100000">
                                          <p:val>
                                            <p:strVal val="#ppt_x"/>
                                          </p:val>
                                        </p:tav>
                                      </p:tavLst>
                                    </p:anim>
                                    <p:anim calcmode="lin" valueType="num">
                                      <p:cBhvr>
                                        <p:cTn id="46" dur="500" decel="100000" fill="hold"/>
                                        <p:tgtEl>
                                          <p:spTgt spid="10"/>
                                        </p:tgtEl>
                                        <p:attrNameLst>
                                          <p:attrName>ppt_y</p:attrName>
                                        </p:attrNameLst>
                                      </p:cBhvr>
                                      <p:tavLst>
                                        <p:tav tm="0">
                                          <p:val>
                                            <p:strVal val="#ppt_y+0.027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0278"/>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p:cTn id="55" dur="500" decel="100000" fill="hold"/>
                                        <p:tgtEl>
                                          <p:spTgt spid="12"/>
                                        </p:tgtEl>
                                        <p:attrNameLst>
                                          <p:attrName>ppt_x</p:attrName>
                                        </p:attrNameLst>
                                      </p:cBhvr>
                                      <p:tavLst>
                                        <p:tav tm="0">
                                          <p:val>
                                            <p:strVal val="#ppt_x"/>
                                          </p:val>
                                        </p:tav>
                                        <p:tav tm="100000">
                                          <p:val>
                                            <p:strVal val="#ppt_x"/>
                                          </p:val>
                                        </p:tav>
                                      </p:tavLst>
                                    </p:anim>
                                    <p:anim calcmode="lin" valueType="num">
                                      <p:cBhvr>
                                        <p:cTn id="56" dur="500" decel="100000" fill="hold"/>
                                        <p:tgtEl>
                                          <p:spTgt spid="12"/>
                                        </p:tgtEl>
                                        <p:attrNameLst>
                                          <p:attrName>ppt_y</p:attrName>
                                        </p:attrNameLst>
                                      </p:cBhvr>
                                      <p:tavLst>
                                        <p:tav tm="0">
                                          <p:val>
                                            <p:strVal val="#ppt_y+0.0278"/>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027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0278"/>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anim calcmode="lin" valueType="num">
                                      <p:cBhvr>
                                        <p:cTn id="77" dur="500" decel="100000" fill="hold"/>
                                        <p:tgtEl>
                                          <p:spTgt spid="16"/>
                                        </p:tgtEl>
                                        <p:attrNameLst>
                                          <p:attrName>ppt_x</p:attrName>
                                        </p:attrNameLst>
                                      </p:cBhvr>
                                      <p:tavLst>
                                        <p:tav tm="0">
                                          <p:val>
                                            <p:strVal val="#ppt_x"/>
                                          </p:val>
                                        </p:tav>
                                        <p:tav tm="100000">
                                          <p:val>
                                            <p:strVal val="#ppt_x"/>
                                          </p:val>
                                        </p:tav>
                                      </p:tavLst>
                                    </p:anim>
                                    <p:anim calcmode="lin" valueType="num">
                                      <p:cBhvr>
                                        <p:cTn id="78" dur="500" decel="100000" fill="hold"/>
                                        <p:tgtEl>
                                          <p:spTgt spid="16"/>
                                        </p:tgtEl>
                                        <p:attrNameLst>
                                          <p:attrName>ppt_y</p:attrName>
                                        </p:attrNameLst>
                                      </p:cBhvr>
                                      <p:tavLst>
                                        <p:tav tm="0">
                                          <p:val>
                                            <p:strVal val="#ppt_y+0.0278"/>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anim calcmode="lin" valueType="num">
                                      <p:cBhvr>
                                        <p:cTn id="82" dur="500" decel="100000" fill="hold"/>
                                        <p:tgtEl>
                                          <p:spTgt spid="17"/>
                                        </p:tgtEl>
                                        <p:attrNameLst>
                                          <p:attrName>ppt_x</p:attrName>
                                        </p:attrNameLst>
                                      </p:cBhvr>
                                      <p:tavLst>
                                        <p:tav tm="0">
                                          <p:val>
                                            <p:strVal val="#ppt_x"/>
                                          </p:val>
                                        </p:tav>
                                        <p:tav tm="100000">
                                          <p:val>
                                            <p:strVal val="#ppt_x"/>
                                          </p:val>
                                        </p:tav>
                                      </p:tavLst>
                                    </p:anim>
                                    <p:anim calcmode="lin" valueType="num">
                                      <p:cBhvr>
                                        <p:cTn id="83" dur="500" decel="100000" fill="hold"/>
                                        <p:tgtEl>
                                          <p:spTgt spid="17"/>
                                        </p:tgtEl>
                                        <p:attrNameLst>
                                          <p:attrName>ppt_y</p:attrName>
                                        </p:attrNameLst>
                                      </p:cBhvr>
                                      <p:tavLst>
                                        <p:tav tm="0">
                                          <p:val>
                                            <p:strVal val="#ppt_y+0.0278"/>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500"/>
                                        <p:tgtEl>
                                          <p:spTgt spid="18"/>
                                        </p:tgtEl>
                                      </p:cBhvr>
                                    </p:animEffect>
                                    <p:anim calcmode="lin" valueType="num">
                                      <p:cBhvr>
                                        <p:cTn id="87" dur="500" decel="100000" fill="hold"/>
                                        <p:tgtEl>
                                          <p:spTgt spid="18"/>
                                        </p:tgtEl>
                                        <p:attrNameLst>
                                          <p:attrName>ppt_x</p:attrName>
                                        </p:attrNameLst>
                                      </p:cBhvr>
                                      <p:tavLst>
                                        <p:tav tm="0">
                                          <p:val>
                                            <p:strVal val="#ppt_x"/>
                                          </p:val>
                                        </p:tav>
                                        <p:tav tm="100000">
                                          <p:val>
                                            <p:strVal val="#ppt_x"/>
                                          </p:val>
                                        </p:tav>
                                      </p:tavLst>
                                    </p:anim>
                                    <p:anim calcmode="lin" valueType="num">
                                      <p:cBhvr>
                                        <p:cTn id="88" dur="500" decel="100000" fill="hold"/>
                                        <p:tgtEl>
                                          <p:spTgt spid="18"/>
                                        </p:tgtEl>
                                        <p:attrNameLst>
                                          <p:attrName>ppt_y</p:attrName>
                                        </p:attrNameLst>
                                      </p:cBhvr>
                                      <p:tavLst>
                                        <p:tav tm="0">
                                          <p:val>
                                            <p:strVal val="#ppt_y+0.0278"/>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500"/>
                                        <p:tgtEl>
                                          <p:spTgt spid="19"/>
                                        </p:tgtEl>
                                      </p:cBhvr>
                                    </p:animEffect>
                                    <p:anim calcmode="lin" valueType="num">
                                      <p:cBhvr>
                                        <p:cTn id="92" dur="500" decel="100000" fill="hold"/>
                                        <p:tgtEl>
                                          <p:spTgt spid="19"/>
                                        </p:tgtEl>
                                        <p:attrNameLst>
                                          <p:attrName>ppt_x</p:attrName>
                                        </p:attrNameLst>
                                      </p:cBhvr>
                                      <p:tavLst>
                                        <p:tav tm="0">
                                          <p:val>
                                            <p:strVal val="#ppt_x"/>
                                          </p:val>
                                        </p:tav>
                                        <p:tav tm="100000">
                                          <p:val>
                                            <p:strVal val="#ppt_x"/>
                                          </p:val>
                                        </p:tav>
                                      </p:tavLst>
                                    </p:anim>
                                    <p:anim calcmode="lin" valueType="num">
                                      <p:cBhvr>
                                        <p:cTn id="93" dur="500" decel="100000" fill="hold"/>
                                        <p:tgtEl>
                                          <p:spTgt spid="19"/>
                                        </p:tgtEl>
                                        <p:attrNameLst>
                                          <p:attrName>ppt_y</p:attrName>
                                        </p:attrNameLst>
                                      </p:cBhvr>
                                      <p:tavLst>
                                        <p:tav tm="0">
                                          <p:val>
                                            <p:strVal val="#ppt_y+0.0278"/>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anim calcmode="lin" valueType="num">
                                      <p:cBhvr>
                                        <p:cTn id="97" dur="500" decel="100000" fill="hold"/>
                                        <p:tgtEl>
                                          <p:spTgt spid="20"/>
                                        </p:tgtEl>
                                        <p:attrNameLst>
                                          <p:attrName>ppt_x</p:attrName>
                                        </p:attrNameLst>
                                      </p:cBhvr>
                                      <p:tavLst>
                                        <p:tav tm="0">
                                          <p:val>
                                            <p:strVal val="#ppt_x"/>
                                          </p:val>
                                        </p:tav>
                                        <p:tav tm="100000">
                                          <p:val>
                                            <p:strVal val="#ppt_x"/>
                                          </p:val>
                                        </p:tav>
                                      </p:tavLst>
                                    </p:anim>
                                    <p:anim calcmode="lin" valueType="num">
                                      <p:cBhvr>
                                        <p:cTn id="98" dur="500" decel="100000" fill="hold"/>
                                        <p:tgtEl>
                                          <p:spTgt spid="20"/>
                                        </p:tgtEl>
                                        <p:attrNameLst>
                                          <p:attrName>ppt_y</p:attrName>
                                        </p:attrNameLst>
                                      </p:cBhvr>
                                      <p:tavLst>
                                        <p:tav tm="0">
                                          <p:val>
                                            <p:strVal val="#ppt_y+0.0278"/>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anim calcmode="lin" valueType="num">
                                      <p:cBhvr>
                                        <p:cTn id="102" dur="500" decel="100000" fill="hold"/>
                                        <p:tgtEl>
                                          <p:spTgt spid="21"/>
                                        </p:tgtEl>
                                        <p:attrNameLst>
                                          <p:attrName>ppt_x</p:attrName>
                                        </p:attrNameLst>
                                      </p:cBhvr>
                                      <p:tavLst>
                                        <p:tav tm="0">
                                          <p:val>
                                            <p:strVal val="#ppt_x"/>
                                          </p:val>
                                        </p:tav>
                                        <p:tav tm="100000">
                                          <p:val>
                                            <p:strVal val="#ppt_x"/>
                                          </p:val>
                                        </p:tav>
                                      </p:tavLst>
                                    </p:anim>
                                    <p:anim calcmode="lin" valueType="num">
                                      <p:cBhvr>
                                        <p:cTn id="103" dur="500" decel="100000" fill="hold"/>
                                        <p:tgtEl>
                                          <p:spTgt spid="21"/>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p:bldP spid="7" grpId="0" animBg="1"/>
      <p:bldP spid="9" grpId="0"/>
      <p:bldP spid="10" grpId="0" animBg="1"/>
      <p:bldP spid="12" grpId="0"/>
      <p:bldP spid="13" grpId="0" animBg="1"/>
      <p:bldP spid="15" grpId="0"/>
      <p:bldP spid="16" grpId="0" animBg="1"/>
      <p:bldP spid="18" grpId="0"/>
      <p:bldP spid="19" grpId="0" animBg="1"/>
      <p:bldP spid="21" grpId="0"/>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Quatre interdits</a:t>
            </a:r>
            <a:endParaRPr lang="en-US" sz="2800" dirty="0"/>
          </a:p>
        </p:txBody>
      </p:sp>
      <p:pic>
        <p:nvPicPr>
          <p:cNvPr id="4" name="c1_img" descr="/tmp/claude-0/-home-user-HANDY/4ddfdd3d-c678-5164-8991-be3c6152a069/scratchpad/assets/interdits.jpg">    </p:cNvPr>
          <p:cNvPicPr>
            <a:picLocks noChangeAspect="1"/>
          </p:cNvPicPr>
          <p:nvPr/>
        </p:nvPicPr>
        <p:blipFill>
          <a:blip r:embed="rId1"/>
          <a:stretch>
            <a:fillRect/>
          </a:stretch>
        </p:blipFill>
        <p:spPr>
          <a:xfrm>
            <a:off x="548640" y="1789176"/>
            <a:ext cx="5669280" cy="3874008"/>
          </a:xfrm>
          <a:prstGeom prst="rect">
            <a:avLst/>
          </a:prstGeom>
        </p:spPr>
      </p:pic>
      <p:sp>
        <p:nvSpPr>
          <p:cNvPr id="5" name="c2_ic"/>
          <p:cNvSpPr/>
          <p:nvPr/>
        </p:nvSpPr>
        <p:spPr>
          <a:xfrm>
            <a:off x="6629400" y="1828800"/>
            <a:ext cx="566928" cy="566928"/>
          </a:xfrm>
          <a:prstGeom prst="ellipse">
            <a:avLst/>
          </a:prstGeom>
          <a:solidFill>
            <a:schemeClr val="bg2"/>
          </a:solidFill>
          <a:ln w="12700">
            <a:solidFill>
              <a:schemeClr val="bg2"/>
            </a:solidFill>
            <a:prstDash val="solid"/>
          </a:ln>
        </p:spPr>
      </p:sp>
      <p:pic>
        <p:nvPicPr>
          <p:cNvPr id="6" name="c2_ici" descr="preencoded.png">    </p:cNvPr>
          <p:cNvPicPr>
            <a:picLocks noChangeAspect="1"/>
          </p:cNvPicPr>
          <p:nvPr/>
        </p:nvPicPr>
        <p:blipFill>
          <a:blip r:embed="rId2"/>
          <a:stretch>
            <a:fillRect/>
          </a:stretch>
        </p:blipFill>
        <p:spPr>
          <a:xfrm>
            <a:off x="6771132" y="1970532"/>
            <a:ext cx="283464" cy="283464"/>
          </a:xfrm>
          <a:prstGeom prst="rect">
            <a:avLst/>
          </a:prstGeom>
        </p:spPr>
      </p:pic>
      <p:sp>
        <p:nvSpPr>
          <p:cNvPr id="7" name="c2_t"/>
          <p:cNvSpPr txBox="1"/>
          <p:nvPr/>
        </p:nvSpPr>
        <p:spPr>
          <a:xfrm>
            <a:off x="7406640" y="1828800"/>
            <a:ext cx="4233672" cy="566928"/>
          </a:xfrm>
          <a:prstGeom prst="rect">
            <a:avLst/>
          </a:prstGeom>
          <a:noFill/>
          <a:ln/>
        </p:spPr>
        <p:txBody>
          <a:bodyPr wrap="square" lIns="0" tIns="0" rIns="0" bIns="0" rtlCol="0" anchor="ctr"/>
          <a:lstStyle/>
          <a:p>
            <a:pPr indent="0" marL="0">
              <a:buNone/>
            </a:pPr>
            <a:r>
              <a:rPr lang="en-US" sz="1600" dirty="0">
                <a:solidFill>
                  <a:schemeClr val="tx1"/>
                </a:solidFill>
              </a:rPr>
              <a:t>Ne pas déformer ou étirer le logo</a:t>
            </a:r>
            <a:endParaRPr lang="en-US" sz="1600" dirty="0"/>
          </a:p>
        </p:txBody>
      </p:sp>
      <p:sp>
        <p:nvSpPr>
          <p:cNvPr id="8" name="c3_ic"/>
          <p:cNvSpPr/>
          <p:nvPr/>
        </p:nvSpPr>
        <p:spPr>
          <a:xfrm>
            <a:off x="6629400" y="2788920"/>
            <a:ext cx="566928" cy="566928"/>
          </a:xfrm>
          <a:prstGeom prst="ellipse">
            <a:avLst/>
          </a:prstGeom>
          <a:solidFill>
            <a:schemeClr val="bg2"/>
          </a:solidFill>
          <a:ln w="12700">
            <a:solidFill>
              <a:schemeClr val="bg2"/>
            </a:solidFill>
            <a:prstDash val="solid"/>
          </a:ln>
        </p:spPr>
      </p:sp>
      <p:pic>
        <p:nvPicPr>
          <p:cNvPr id="9" name="c3_ici" descr="preencoded.png">    </p:cNvPr>
          <p:cNvPicPr>
            <a:picLocks noChangeAspect="1"/>
          </p:cNvPicPr>
          <p:nvPr/>
        </p:nvPicPr>
        <p:blipFill>
          <a:blip r:embed="rId3"/>
          <a:stretch>
            <a:fillRect/>
          </a:stretch>
        </p:blipFill>
        <p:spPr>
          <a:xfrm>
            <a:off x="6771132" y="2930652"/>
            <a:ext cx="283464" cy="283464"/>
          </a:xfrm>
          <a:prstGeom prst="rect">
            <a:avLst/>
          </a:prstGeom>
        </p:spPr>
      </p:pic>
      <p:sp>
        <p:nvSpPr>
          <p:cNvPr id="10" name="c3_t"/>
          <p:cNvSpPr txBox="1"/>
          <p:nvPr/>
        </p:nvSpPr>
        <p:spPr>
          <a:xfrm>
            <a:off x="7406640" y="2788920"/>
            <a:ext cx="4233672" cy="566928"/>
          </a:xfrm>
          <a:prstGeom prst="rect">
            <a:avLst/>
          </a:prstGeom>
          <a:noFill/>
          <a:ln/>
        </p:spPr>
        <p:txBody>
          <a:bodyPr wrap="square" lIns="0" tIns="0" rIns="0" bIns="0" rtlCol="0" anchor="ctr"/>
          <a:lstStyle/>
          <a:p>
            <a:pPr indent="0" marL="0">
              <a:buNone/>
            </a:pPr>
            <a:r>
              <a:rPr lang="en-US" sz="1600" dirty="0">
                <a:solidFill>
                  <a:schemeClr val="tx1"/>
                </a:solidFill>
              </a:rPr>
              <a:t>Ne pas changer les couleurs du logo</a:t>
            </a:r>
            <a:endParaRPr lang="en-US" sz="1600" dirty="0"/>
          </a:p>
        </p:txBody>
      </p:sp>
      <p:sp>
        <p:nvSpPr>
          <p:cNvPr id="11" name="c4_ic"/>
          <p:cNvSpPr/>
          <p:nvPr/>
        </p:nvSpPr>
        <p:spPr>
          <a:xfrm>
            <a:off x="6629400" y="3749040"/>
            <a:ext cx="566928" cy="566928"/>
          </a:xfrm>
          <a:prstGeom prst="ellipse">
            <a:avLst/>
          </a:prstGeom>
          <a:solidFill>
            <a:schemeClr val="bg2"/>
          </a:solidFill>
          <a:ln w="12700">
            <a:solidFill>
              <a:schemeClr val="bg2"/>
            </a:solidFill>
            <a:prstDash val="solid"/>
          </a:ln>
        </p:spPr>
      </p:sp>
      <p:pic>
        <p:nvPicPr>
          <p:cNvPr id="12" name="c4_ici" descr="preencoded.png">    </p:cNvPr>
          <p:cNvPicPr>
            <a:picLocks noChangeAspect="1"/>
          </p:cNvPicPr>
          <p:nvPr/>
        </p:nvPicPr>
        <p:blipFill>
          <a:blip r:embed="rId4"/>
          <a:stretch>
            <a:fillRect/>
          </a:stretch>
        </p:blipFill>
        <p:spPr>
          <a:xfrm>
            <a:off x="6771132" y="3890772"/>
            <a:ext cx="283464" cy="283464"/>
          </a:xfrm>
          <a:prstGeom prst="rect">
            <a:avLst/>
          </a:prstGeom>
        </p:spPr>
      </p:pic>
      <p:sp>
        <p:nvSpPr>
          <p:cNvPr id="13" name="c4_t"/>
          <p:cNvSpPr txBox="1"/>
          <p:nvPr/>
        </p:nvSpPr>
        <p:spPr>
          <a:xfrm>
            <a:off x="7406640" y="3749040"/>
            <a:ext cx="4233672" cy="566928"/>
          </a:xfrm>
          <a:prstGeom prst="rect">
            <a:avLst/>
          </a:prstGeom>
          <a:noFill/>
          <a:ln/>
        </p:spPr>
        <p:txBody>
          <a:bodyPr wrap="square" lIns="0" tIns="0" rIns="0" bIns="0" rtlCol="0" anchor="ctr"/>
          <a:lstStyle/>
          <a:p>
            <a:pPr indent="0" marL="0">
              <a:buNone/>
            </a:pPr>
            <a:r>
              <a:rPr lang="en-US" sz="1600" dirty="0">
                <a:solidFill>
                  <a:schemeClr val="tx1"/>
                </a:solidFill>
              </a:rPr>
              <a:t>Ne pas ajouter d'éléments graphiques</a:t>
            </a:r>
            <a:endParaRPr lang="en-US" sz="1600" dirty="0"/>
          </a:p>
        </p:txBody>
      </p:sp>
      <p:sp>
        <p:nvSpPr>
          <p:cNvPr id="14" name="c5_ic"/>
          <p:cNvSpPr/>
          <p:nvPr/>
        </p:nvSpPr>
        <p:spPr>
          <a:xfrm>
            <a:off x="6629400" y="4709160"/>
            <a:ext cx="566928" cy="566928"/>
          </a:xfrm>
          <a:prstGeom prst="ellipse">
            <a:avLst/>
          </a:prstGeom>
          <a:solidFill>
            <a:schemeClr val="bg2"/>
          </a:solidFill>
          <a:ln w="12700">
            <a:solidFill>
              <a:schemeClr val="bg2"/>
            </a:solidFill>
            <a:prstDash val="solid"/>
          </a:ln>
        </p:spPr>
      </p:sp>
      <p:pic>
        <p:nvPicPr>
          <p:cNvPr id="15" name="c5_ici" descr="preencoded.png">    </p:cNvPr>
          <p:cNvPicPr>
            <a:picLocks noChangeAspect="1"/>
          </p:cNvPicPr>
          <p:nvPr/>
        </p:nvPicPr>
        <p:blipFill>
          <a:blip r:embed="rId5"/>
          <a:stretch>
            <a:fillRect/>
          </a:stretch>
        </p:blipFill>
        <p:spPr>
          <a:xfrm>
            <a:off x="6771132" y="4850892"/>
            <a:ext cx="283464" cy="283464"/>
          </a:xfrm>
          <a:prstGeom prst="rect">
            <a:avLst/>
          </a:prstGeom>
        </p:spPr>
      </p:pic>
      <p:sp>
        <p:nvSpPr>
          <p:cNvPr id="16" name="c5_t"/>
          <p:cNvSpPr txBox="1"/>
          <p:nvPr/>
        </p:nvSpPr>
        <p:spPr>
          <a:xfrm>
            <a:off x="7406640" y="4709160"/>
            <a:ext cx="4233672" cy="566928"/>
          </a:xfrm>
          <a:prstGeom prst="rect">
            <a:avLst/>
          </a:prstGeom>
          <a:noFill/>
          <a:ln/>
        </p:spPr>
        <p:txBody>
          <a:bodyPr wrap="square" lIns="0" tIns="0" rIns="0" bIns="0" rtlCol="0" anchor="ctr"/>
          <a:lstStyle/>
          <a:p>
            <a:pPr indent="0" marL="0">
              <a:buNone/>
            </a:pPr>
            <a:r>
              <a:rPr lang="en-US" sz="1600" dirty="0">
                <a:solidFill>
                  <a:schemeClr val="tx1"/>
                </a:solidFill>
              </a:rPr>
              <a:t>Ne pas supprimer « GYM » ni les étoiles</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decel="100000" fill="hold"/>
                                        <p:tgtEl>
                                          <p:spTgt spid="5"/>
                                        </p:tgtEl>
                                        <p:attrNameLst>
                                          <p:attrName>ppt_x</p:attrName>
                                        </p:attrNameLst>
                                      </p:cBhvr>
                                      <p:tavLst>
                                        <p:tav tm="0">
                                          <p:val>
                                            <p:strVal val="#ppt_x"/>
                                          </p:val>
                                        </p:tav>
                                        <p:tav tm="100000">
                                          <p:val>
                                            <p:strVal val="#ppt_x"/>
                                          </p:val>
                                        </p:tav>
                                      </p:tavLst>
                                    </p:anim>
                                    <p:anim calcmode="lin" valueType="num">
                                      <p:cBhvr>
                                        <p:cTn id="23" dur="500" decel="100000" fill="hold"/>
                                        <p:tgtEl>
                                          <p:spTgt spid="5"/>
                                        </p:tgtEl>
                                        <p:attrNameLst>
                                          <p:attrName>ppt_y</p:attrName>
                                        </p:attrNameLst>
                                      </p:cBhvr>
                                      <p:tavLst>
                                        <p:tav tm="0">
                                          <p:val>
                                            <p:strVal val="#ppt_y+0.0278"/>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anim calcmode="lin" valueType="num">
                                      <p:cBhvr>
                                        <p:cTn id="39" dur="500" decel="100000" fill="hold"/>
                                        <p:tgtEl>
                                          <p:spTgt spid="8"/>
                                        </p:tgtEl>
                                        <p:attrNameLst>
                                          <p:attrName>ppt_x</p:attrName>
                                        </p:attrNameLst>
                                      </p:cBhvr>
                                      <p:tavLst>
                                        <p:tav tm="0">
                                          <p:val>
                                            <p:strVal val="#ppt_x"/>
                                          </p:val>
                                        </p:tav>
                                        <p:tav tm="100000">
                                          <p:val>
                                            <p:strVal val="#ppt_x"/>
                                          </p:val>
                                        </p:tav>
                                      </p:tavLst>
                                    </p:anim>
                                    <p:anim calcmode="lin" valueType="num">
                                      <p:cBhvr>
                                        <p:cTn id="40" dur="500" decel="100000" fill="hold"/>
                                        <p:tgtEl>
                                          <p:spTgt spid="8"/>
                                        </p:tgtEl>
                                        <p:attrNameLst>
                                          <p:attrName>ppt_y</p:attrName>
                                        </p:attrNameLst>
                                      </p:cBhvr>
                                      <p:tavLst>
                                        <p:tav tm="0">
                                          <p:val>
                                            <p:strVal val="#ppt_y+0.027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anim calcmode="lin" valueType="num">
                                      <p:cBhvr>
                                        <p:cTn id="44" dur="500" decel="100000" fill="hold"/>
                                        <p:tgtEl>
                                          <p:spTgt spid="9"/>
                                        </p:tgtEl>
                                        <p:attrNameLst>
                                          <p:attrName>ppt_x</p:attrName>
                                        </p:attrNameLst>
                                      </p:cBhvr>
                                      <p:tavLst>
                                        <p:tav tm="0">
                                          <p:val>
                                            <p:strVal val="#ppt_x"/>
                                          </p:val>
                                        </p:tav>
                                        <p:tav tm="100000">
                                          <p:val>
                                            <p:strVal val="#ppt_x"/>
                                          </p:val>
                                        </p:tav>
                                      </p:tavLst>
                                    </p:anim>
                                    <p:anim calcmode="lin" valueType="num">
                                      <p:cBhvr>
                                        <p:cTn id="45" dur="500" decel="100000" fill="hold"/>
                                        <p:tgtEl>
                                          <p:spTgt spid="9"/>
                                        </p:tgtEl>
                                        <p:attrNameLst>
                                          <p:attrName>ppt_y</p:attrName>
                                        </p:attrNameLst>
                                      </p:cBhvr>
                                      <p:tavLst>
                                        <p:tav tm="0">
                                          <p:val>
                                            <p:strVal val="#ppt_y+0.0278"/>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anim calcmode="lin" valueType="num">
                                      <p:cBhvr>
                                        <p:cTn id="49" dur="500" decel="100000" fill="hold"/>
                                        <p:tgtEl>
                                          <p:spTgt spid="10"/>
                                        </p:tgtEl>
                                        <p:attrNameLst>
                                          <p:attrName>ppt_x</p:attrName>
                                        </p:attrNameLst>
                                      </p:cBhvr>
                                      <p:tavLst>
                                        <p:tav tm="0">
                                          <p:val>
                                            <p:strVal val="#ppt_x"/>
                                          </p:val>
                                        </p:tav>
                                        <p:tav tm="100000">
                                          <p:val>
                                            <p:strVal val="#ppt_x"/>
                                          </p:val>
                                        </p:tav>
                                      </p:tavLst>
                                    </p:anim>
                                    <p:anim calcmode="lin" valueType="num">
                                      <p:cBhvr>
                                        <p:cTn id="50" dur="500" decel="100000" fill="hold"/>
                                        <p:tgtEl>
                                          <p:spTgt spid="10"/>
                                        </p:tgtEl>
                                        <p:attrNameLst>
                                          <p:attrName>ppt_y</p:attrName>
                                        </p:attrNameLst>
                                      </p:cBhvr>
                                      <p:tavLst>
                                        <p:tav tm="0">
                                          <p:val>
                                            <p:strVal val="#ppt_y+0.0278"/>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anim calcmode="lin" valueType="num">
                                      <p:cBhvr>
                                        <p:cTn id="56" dur="500" decel="100000" fill="hold"/>
                                        <p:tgtEl>
                                          <p:spTgt spid="11"/>
                                        </p:tgtEl>
                                        <p:attrNameLst>
                                          <p:attrName>ppt_x</p:attrName>
                                        </p:attrNameLst>
                                      </p:cBhvr>
                                      <p:tavLst>
                                        <p:tav tm="0">
                                          <p:val>
                                            <p:strVal val="#ppt_x"/>
                                          </p:val>
                                        </p:tav>
                                        <p:tav tm="100000">
                                          <p:val>
                                            <p:strVal val="#ppt_x"/>
                                          </p:val>
                                        </p:tav>
                                      </p:tavLst>
                                    </p:anim>
                                    <p:anim calcmode="lin" valueType="num">
                                      <p:cBhvr>
                                        <p:cTn id="57" dur="500" decel="100000" fill="hold"/>
                                        <p:tgtEl>
                                          <p:spTgt spid="11"/>
                                        </p:tgtEl>
                                        <p:attrNameLst>
                                          <p:attrName>ppt_y</p:attrName>
                                        </p:attrNameLst>
                                      </p:cBhvr>
                                      <p:tavLst>
                                        <p:tav tm="0">
                                          <p:val>
                                            <p:strVal val="#ppt_y+0.0278"/>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500"/>
                                        <p:tgtEl>
                                          <p:spTgt spid="12"/>
                                        </p:tgtEl>
                                      </p:cBhvr>
                                    </p:animEffect>
                                    <p:anim calcmode="lin" valueType="num">
                                      <p:cBhvr>
                                        <p:cTn id="61" dur="500" decel="100000" fill="hold"/>
                                        <p:tgtEl>
                                          <p:spTgt spid="12"/>
                                        </p:tgtEl>
                                        <p:attrNameLst>
                                          <p:attrName>ppt_x</p:attrName>
                                        </p:attrNameLst>
                                      </p:cBhvr>
                                      <p:tavLst>
                                        <p:tav tm="0">
                                          <p:val>
                                            <p:strVal val="#ppt_x"/>
                                          </p:val>
                                        </p:tav>
                                        <p:tav tm="100000">
                                          <p:val>
                                            <p:strVal val="#ppt_x"/>
                                          </p:val>
                                        </p:tav>
                                      </p:tavLst>
                                    </p:anim>
                                    <p:anim calcmode="lin" valueType="num">
                                      <p:cBhvr>
                                        <p:cTn id="62" dur="500" decel="100000" fill="hold"/>
                                        <p:tgtEl>
                                          <p:spTgt spid="12"/>
                                        </p:tgtEl>
                                        <p:attrNameLst>
                                          <p:attrName>ppt_y</p:attrName>
                                        </p:attrNameLst>
                                      </p:cBhvr>
                                      <p:tavLst>
                                        <p:tav tm="0">
                                          <p:val>
                                            <p:strVal val="#ppt_y+0.027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anim calcmode="lin" valueType="num">
                                      <p:cBhvr>
                                        <p:cTn id="66" dur="500" decel="100000" fill="hold"/>
                                        <p:tgtEl>
                                          <p:spTgt spid="13"/>
                                        </p:tgtEl>
                                        <p:attrNameLst>
                                          <p:attrName>ppt_x</p:attrName>
                                        </p:attrNameLst>
                                      </p:cBhvr>
                                      <p:tavLst>
                                        <p:tav tm="0">
                                          <p:val>
                                            <p:strVal val="#ppt_x"/>
                                          </p:val>
                                        </p:tav>
                                        <p:tav tm="100000">
                                          <p:val>
                                            <p:strVal val="#ppt_x"/>
                                          </p:val>
                                        </p:tav>
                                      </p:tavLst>
                                    </p:anim>
                                    <p:anim calcmode="lin" valueType="num">
                                      <p:cBhvr>
                                        <p:cTn id="67"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14"/>
                                        </p:tgtEl>
                                        <p:attrNameLst>
                                          <p:attrName>style.visibility</p:attrName>
                                        </p:attrNameLst>
                                      </p:cBhvr>
                                      <p:to>
                                        <p:strVal val="visible"/>
                                      </p:to>
                                    </p:set>
                                    <p:animEffect transition="in" filter="fade">
                                      <p:cBhvr>
                                        <p:cTn id="72" dur="500"/>
                                        <p:tgtEl>
                                          <p:spTgt spid="14"/>
                                        </p:tgtEl>
                                      </p:cBhvr>
                                    </p:animEffect>
                                    <p:anim calcmode="lin" valueType="num">
                                      <p:cBhvr>
                                        <p:cTn id="73" dur="500" decel="100000" fill="hold"/>
                                        <p:tgtEl>
                                          <p:spTgt spid="14"/>
                                        </p:tgtEl>
                                        <p:attrNameLst>
                                          <p:attrName>ppt_x</p:attrName>
                                        </p:attrNameLst>
                                      </p:cBhvr>
                                      <p:tavLst>
                                        <p:tav tm="0">
                                          <p:val>
                                            <p:strVal val="#ppt_x"/>
                                          </p:val>
                                        </p:tav>
                                        <p:tav tm="100000">
                                          <p:val>
                                            <p:strVal val="#ppt_x"/>
                                          </p:val>
                                        </p:tav>
                                      </p:tavLst>
                                    </p:anim>
                                    <p:anim calcmode="lin" valueType="num">
                                      <p:cBhvr>
                                        <p:cTn id="74" dur="500" decel="100000" fill="hold"/>
                                        <p:tgtEl>
                                          <p:spTgt spid="14"/>
                                        </p:tgtEl>
                                        <p:attrNameLst>
                                          <p:attrName>ppt_y</p:attrName>
                                        </p:attrNameLst>
                                      </p:cBhvr>
                                      <p:tavLst>
                                        <p:tav tm="0">
                                          <p:val>
                                            <p:strVal val="#ppt_y+0.0278"/>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fade">
                                      <p:cBhvr>
                                        <p:cTn id="77" dur="500"/>
                                        <p:tgtEl>
                                          <p:spTgt spid="15"/>
                                        </p:tgtEl>
                                      </p:cBhvr>
                                    </p:animEffect>
                                    <p:anim calcmode="lin" valueType="num">
                                      <p:cBhvr>
                                        <p:cTn id="78" dur="500" decel="100000" fill="hold"/>
                                        <p:tgtEl>
                                          <p:spTgt spid="15"/>
                                        </p:tgtEl>
                                        <p:attrNameLst>
                                          <p:attrName>ppt_x</p:attrName>
                                        </p:attrNameLst>
                                      </p:cBhvr>
                                      <p:tavLst>
                                        <p:tav tm="0">
                                          <p:val>
                                            <p:strVal val="#ppt_x"/>
                                          </p:val>
                                        </p:tav>
                                        <p:tav tm="100000">
                                          <p:val>
                                            <p:strVal val="#ppt_x"/>
                                          </p:val>
                                        </p:tav>
                                      </p:tavLst>
                                    </p:anim>
                                    <p:anim calcmode="lin" valueType="num">
                                      <p:cBhvr>
                                        <p:cTn id="79" dur="500" decel="100000" fill="hold"/>
                                        <p:tgtEl>
                                          <p:spTgt spid="15"/>
                                        </p:tgtEl>
                                        <p:attrNameLst>
                                          <p:attrName>ppt_y</p:attrName>
                                        </p:attrNameLst>
                                      </p:cBhvr>
                                      <p:tavLst>
                                        <p:tav tm="0">
                                          <p:val>
                                            <p:strVal val="#ppt_y+0.0278"/>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fade">
                                      <p:cBhvr>
                                        <p:cTn id="82" dur="500"/>
                                        <p:tgtEl>
                                          <p:spTgt spid="16"/>
                                        </p:tgtEl>
                                      </p:cBhvr>
                                    </p:animEffect>
                                    <p:anim calcmode="lin" valueType="num">
                                      <p:cBhvr>
                                        <p:cTn id="83" dur="500" decel="100000" fill="hold"/>
                                        <p:tgtEl>
                                          <p:spTgt spid="16"/>
                                        </p:tgtEl>
                                        <p:attrNameLst>
                                          <p:attrName>ppt_x</p:attrName>
                                        </p:attrNameLst>
                                      </p:cBhvr>
                                      <p:tavLst>
                                        <p:tav tm="0">
                                          <p:val>
                                            <p:strVal val="#ppt_x"/>
                                          </p:val>
                                        </p:tav>
                                        <p:tav tm="100000">
                                          <p:val>
                                            <p:strVal val="#ppt_x"/>
                                          </p:val>
                                        </p:tav>
                                      </p:tavLst>
                                    </p:anim>
                                    <p:anim calcmode="lin" valueType="num">
                                      <p:cBhvr>
                                        <p:cTn id="84" dur="500" decel="100000" fill="hold"/>
                                        <p:tgtEl>
                                          <p:spTgt spid="1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7" grpId="0"/>
      <p:bldP spid="8" grpId="0" animBg="1"/>
      <p:bldP spid="10" grpId="0"/>
      <p:bldP spid="11" grpId="0" animBg="1"/>
      <p:bldP spid="13" grpId="0"/>
      <p:bldP spid="14" grpId="0" animBg="1"/>
      <p:bldP spid="16" grpId="0"/>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Supports imprimés : formats retenus</a:t>
            </a:r>
            <a:endParaRPr lang="en-US" sz="2800" dirty="0"/>
          </a:p>
        </p:txBody>
      </p:sp>
      <p:graphicFrame>
        <p:nvGraphicFramePr>
          <p:cNvPr id="25" name="c1_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2743200"/>
                <a:gridCol w="3108960"/>
                <a:gridCol w="5239512"/>
              </a:tblGrid>
              <a:tr h="749808">
                <a:tc>
                  <a:txBody>
                    <a:bodyPr/>
                    <a:lstStyle/>
                    <a:p>
                      <a:pPr indent="0" marL="0">
                        <a:buNone/>
                      </a:pPr>
                      <a:r>
                        <a:rPr lang="en-US" sz="1400" b="1" dirty="0">
                          <a:solidFill>
                            <a:srgbClr val="FFFFFF"/>
                          </a:solidFill>
                          <a:latin typeface="Poppins" pitchFamily="34" charset="0"/>
                          <a:ea typeface="Poppins" pitchFamily="34" charset="-122"/>
                          <a:cs typeface="Poppins" pitchFamily="34" charset="-120"/>
                        </a:rPr>
                        <a:t>Support</a:t>
                      </a:r>
                      <a:endParaRPr lang="en-US" sz="14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012F99"/>
                    </a:solidFill>
                  </a:tcPr>
                </a:tc>
                <a:tc>
                  <a:txBody>
                    <a:bodyPr/>
                    <a:lstStyle/>
                    <a:p>
                      <a:pPr indent="0" marL="0">
                        <a:buNone/>
                      </a:pPr>
                      <a:r>
                        <a:rPr lang="en-US" sz="1400" b="1" dirty="0">
                          <a:solidFill>
                            <a:srgbClr val="FFFFFF"/>
                          </a:solidFill>
                          <a:latin typeface="Poppins" pitchFamily="34" charset="0"/>
                          <a:ea typeface="Poppins" pitchFamily="34" charset="-122"/>
                          <a:cs typeface="Poppins" pitchFamily="34" charset="-120"/>
                        </a:rPr>
                        <a:t>Format</a:t>
                      </a:r>
                      <a:endParaRPr lang="en-US" sz="14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012F99"/>
                    </a:solidFill>
                  </a:tcPr>
                </a:tc>
                <a:tc>
                  <a:txBody>
                    <a:bodyPr/>
                    <a:lstStyle/>
                    <a:p>
                      <a:pPr indent="0" marL="0">
                        <a:buNone/>
                      </a:pPr>
                      <a:r>
                        <a:rPr lang="en-US" sz="1400" b="1" dirty="0">
                          <a:solidFill>
                            <a:srgbClr val="FFFFFF"/>
                          </a:solidFill>
                          <a:latin typeface="Poppins" pitchFamily="34" charset="0"/>
                          <a:ea typeface="Poppins" pitchFamily="34" charset="-122"/>
                          <a:cs typeface="Poppins" pitchFamily="34" charset="-120"/>
                        </a:rPr>
                        <a:t>Contenu clé</a:t>
                      </a:r>
                      <a:endParaRPr lang="en-US" sz="14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012F99"/>
                    </a:solidFill>
                  </a:tcPr>
                </a:tc>
              </a:tr>
              <a:tr h="749808">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Affiches (×2)</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4 m × 3 m</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Accroche, slogan, contacts, image</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749808">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Flyer</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3F4F8"/>
                    </a:solidFill>
                  </a:tcPr>
                </a:tc>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A5 · 14,8 × 21 cm</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3F4F8"/>
                    </a:solidFill>
                  </a:tcPr>
                </a:tc>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Accroche commerciale et tarifs</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3F4F8"/>
                    </a:solidFill>
                  </a:tcPr>
                </a:tc>
              </a:tr>
              <a:tr h="749808">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Dépliant</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3 volets · 6 pages</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Installations, tarifs, compléments, accès</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FFFFF"/>
                    </a:solidFill>
                  </a:tcPr>
                </a:tc>
              </a:tr>
              <a:tr h="749808">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Kakémono</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3F4F8"/>
                    </a:solidFill>
                  </a:tcPr>
                </a:tc>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85 × 200 cm</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3F4F8"/>
                    </a:solidFill>
                  </a:tcPr>
                </a:tc>
                <a:tc>
                  <a:txBody>
                    <a:bodyPr/>
                    <a:lstStyle/>
                    <a:p>
                      <a:pPr indent="0" marL="0">
                        <a:buNone/>
                      </a:pPr>
                      <a:r>
                        <a:rPr lang="en-US" sz="1600" dirty="0">
                          <a:solidFill>
                            <a:srgbClr val="002060"/>
                          </a:solidFill>
                          <a:latin typeface="Poppins" pitchFamily="34" charset="0"/>
                          <a:ea typeface="Poppins" pitchFamily="34" charset="-122"/>
                          <a:cs typeface="Poppins" pitchFamily="34" charset="-120"/>
                        </a:rPr>
                        <a:t>Logo, accroche, slogan, appel à l'action</a:t>
                      </a:r>
                      <a:endParaRPr lang="en-US" sz="1600" dirty="0">
                        <a:latin typeface="Poppins" charset="0"/>
                        <a:ea typeface="Poppins" charset="0"/>
                        <a:cs typeface="Poppins" charset="0"/>
                      </a:endParaRPr>
                    </a:p>
                  </a:txBody>
                  <a:tcPr marL="228600" marR="182880" marT="0" marB="0" anchor="ctr">
                    <a:lnL w="9525" cap="flat" cmpd="sng" algn="ctr">
                      <a:solidFill>
                        <a:srgbClr val="D9DEE8"/>
                      </a:solidFill>
                      <a:prstDash val="solid"/>
                      <a:round/>
                      <a:headEnd type="none" w="med" len="med"/>
                      <a:tailEnd type="none" w="med" len="med"/>
                    </a:lnL>
                    <a:lnR w="9525" cap="flat" cmpd="sng" algn="ctr">
                      <a:solidFill>
                        <a:srgbClr val="D9DEE8"/>
                      </a:solidFill>
                      <a:prstDash val="solid"/>
                      <a:round/>
                      <a:headEnd type="none" w="med" len="med"/>
                      <a:tailEnd type="none" w="med" len="med"/>
                    </a:lnR>
                    <a:lnT w="9525" cap="flat" cmpd="sng" algn="ctr">
                      <a:solidFill>
                        <a:srgbClr val="D9DEE8"/>
                      </a:solidFill>
                      <a:prstDash val="solid"/>
                      <a:round/>
                      <a:headEnd type="none" w="med" len="med"/>
                      <a:tailEnd type="none" w="med" len="med"/>
                    </a:lnT>
                    <a:lnB w="9525" cap="flat" cmpd="sng" algn="ctr">
                      <a:solidFill>
                        <a:srgbClr val="D9DEE8"/>
                      </a:solidFill>
                      <a:prstDash val="solid"/>
                      <a:round/>
                      <a:headEnd type="none" w="med" len="med"/>
                      <a:tailEnd type="none" w="med" len="med"/>
                    </a:lnB>
                    <a:solidFill>
                      <a:srgbClr val="F3F4F8"/>
                    </a:solidFill>
                  </a:tcPr>
                </a:tc>
              </a:tr>
            </a:tbl>
          </a:graphicData>
        </a:graphic>
      </p:graphicFrame>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Effect transition="in" filter="fade">
                                      <p:cBhvr>
                                        <p:cTn id="14" dur="500"/>
                                        <p:tgtEl>
                                          <p:spTgt spid="25"/>
                                        </p:tgtEl>
                                      </p:cBhvr>
                                    </p:animEffect>
                                    <p:anim calcmode="lin" valueType="num">
                                      <p:cBhvr>
                                        <p:cTn id="15" dur="500" decel="100000" fill="hold"/>
                                        <p:tgtEl>
                                          <p:spTgt spid="25"/>
                                        </p:tgtEl>
                                        <p:attrNameLst>
                                          <p:attrName>ppt_x</p:attrName>
                                        </p:attrNameLst>
                                      </p:cBhvr>
                                      <p:tavLst>
                                        <p:tav tm="0">
                                          <p:val>
                                            <p:strVal val="#ppt_x"/>
                                          </p:val>
                                        </p:tav>
                                        <p:tav tm="100000">
                                          <p:val>
                                            <p:strVal val="#ppt_x"/>
                                          </p:val>
                                        </p:tav>
                                      </p:tavLst>
                                    </p:anim>
                                    <p:anim calcmode="lin" valueType="num">
                                      <p:cBhvr>
                                        <p:cTn id="16" dur="500" decel="100000" fill="hold"/>
                                        <p:tgtEl>
                                          <p:spTgt spid="25"/>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Graphic spid="25"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Slogan de campagne</a:t>
            </a:r>
            <a:endParaRPr lang="en-US" sz="2800" dirty="0"/>
          </a:p>
        </p:txBody>
      </p:sp>
      <p:sp>
        <p:nvSpPr>
          <p:cNvPr id="4" name="c1_slogan"/>
          <p:cNvSpPr txBox="1"/>
          <p:nvPr/>
        </p:nvSpPr>
        <p:spPr>
          <a:xfrm>
            <a:off x="822960" y="1737360"/>
            <a:ext cx="10543032" cy="2103120"/>
          </a:xfrm>
          <a:prstGeom prst="rect">
            <a:avLst/>
          </a:prstGeom>
          <a:noFill/>
          <a:ln/>
        </p:spPr>
        <p:txBody>
          <a:bodyPr wrap="square" lIns="0" tIns="0" rIns="0" bIns="0" rtlCol="0" anchor="ctr"/>
          <a:lstStyle/>
          <a:p>
            <a:pPr algn="ctr" indent="0" marL="0">
              <a:buNone/>
            </a:pPr>
            <a:r>
              <a:rPr lang="en-US" sz="3400" b="1" dirty="0">
                <a:solidFill>
                  <a:schemeClr val="tx2"/>
                </a:solidFill>
              </a:rPr>
              <a:t>« American's Gym, l'excellence du fitness</a:t>
            </a:r>
            <a:endParaRPr lang="en-US" sz="3400" dirty="0"/>
          </a:p>
          <a:p>
            <a:pPr algn="ctr" indent="0" marL="0">
              <a:buNone/>
            </a:pPr>
            <a:r>
              <a:rPr lang="en-US" sz="3400" b="1" dirty="0">
                <a:solidFill>
                  <a:schemeClr val="accent1"/>
                </a:solidFill>
              </a:rPr>
              <a:t>au cœur de votre bien-être</a:t>
            </a:r>
            <a:pPr algn="ctr" indent="0" marL="0">
              <a:buNone/>
            </a:pPr>
            <a:r>
              <a:rPr lang="en-US" sz="3400" b="1" dirty="0">
                <a:solidFill>
                  <a:schemeClr val="tx2"/>
                </a:solidFill>
              </a:rPr>
              <a:t>. »</a:t>
            </a:r>
            <a:endParaRPr lang="en-US" sz="3400" dirty="0"/>
          </a:p>
        </p:txBody>
      </p:sp>
      <p:sp>
        <p:nvSpPr>
          <p:cNvPr id="5" name="c2_bg"/>
          <p:cNvSpPr/>
          <p:nvPr/>
        </p:nvSpPr>
        <p:spPr>
          <a:xfrm>
            <a:off x="1737360" y="4206240"/>
            <a:ext cx="8714232" cy="1417320"/>
          </a:xfrm>
          <a:prstGeom prst="roundRect">
            <a:avLst>
              <a:gd name="adj" fmla="val 7742"/>
            </a:avLst>
          </a:prstGeom>
          <a:solidFill>
            <a:schemeClr val="bg2"/>
          </a:solidFill>
          <a:ln w="12700">
            <a:solidFill>
              <a:schemeClr val="bg2"/>
            </a:solidFill>
            <a:prstDash val="solid"/>
          </a:ln>
        </p:spPr>
      </p:sp>
      <p:sp>
        <p:nvSpPr>
          <p:cNvPr id="6" name="c2_acc"/>
          <p:cNvSpPr txBox="1"/>
          <p:nvPr/>
        </p:nvSpPr>
        <p:spPr>
          <a:xfrm>
            <a:off x="2103120" y="4343400"/>
            <a:ext cx="7982712" cy="1143000"/>
          </a:xfrm>
          <a:prstGeom prst="rect">
            <a:avLst/>
          </a:prstGeom>
          <a:noFill/>
          <a:ln/>
        </p:spPr>
        <p:txBody>
          <a:bodyPr wrap="square" lIns="0" tIns="0" rIns="0" bIns="0" rtlCol="0" anchor="ctr"/>
          <a:lstStyle/>
          <a:p>
            <a:pPr algn="ctr" indent="0" marL="0">
              <a:spcAft>
                <a:spcPts val="400"/>
              </a:spcAft>
              <a:buNone/>
            </a:pPr>
            <a:r>
              <a:rPr lang="en-US" sz="1200" b="1" spc="200" kern="0" dirty="0">
                <a:solidFill>
                  <a:schemeClr val="accent1"/>
                </a:solidFill>
              </a:rPr>
              <a:t>ACCROCHES</a:t>
            </a:r>
            <a:endParaRPr lang="en-US" sz="1600" dirty="0"/>
          </a:p>
          <a:p>
            <a:pPr algn="ctr" indent="0" marL="0">
              <a:spcAft>
                <a:spcPts val="400"/>
              </a:spcAft>
              <a:buNone/>
            </a:pPr>
            <a:r>
              <a:rPr lang="en-US" sz="1500" dirty="0">
                <a:solidFill>
                  <a:schemeClr val="tx1"/>
                </a:solidFill>
              </a:rPr>
              <a:t>« Votre bien-être, notre priorité ! » · « Chaque séance est un pas de plus vers votre bien-être »</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decel="100000" fill="hold"/>
                                        <p:tgtEl>
                                          <p:spTgt spid="5"/>
                                        </p:tgtEl>
                                        <p:attrNameLst>
                                          <p:attrName>ppt_x</p:attrName>
                                        </p:attrNameLst>
                                      </p:cBhvr>
                                      <p:tavLst>
                                        <p:tav tm="0">
                                          <p:val>
                                            <p:strVal val="#ppt_x"/>
                                          </p:val>
                                        </p:tav>
                                        <p:tav tm="100000">
                                          <p:val>
                                            <p:strVal val="#ppt_x"/>
                                          </p:val>
                                        </p:tav>
                                      </p:tavLst>
                                    </p:anim>
                                    <p:anim calcmode="lin" valueType="num">
                                      <p:cBhvr>
                                        <p:cTn id="23" dur="500" decel="100000" fill="hold"/>
                                        <p:tgtEl>
                                          <p:spTgt spid="5"/>
                                        </p:tgtEl>
                                        <p:attrNameLst>
                                          <p:attrName>ppt_y</p:attrName>
                                        </p:attrNameLst>
                                      </p:cBhvr>
                                      <p:tavLst>
                                        <p:tav tm="0">
                                          <p:val>
                                            <p:strVal val="#ppt_y+0.0278"/>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Deux spots promotionnels</a:t>
            </a:r>
            <a:endParaRPr lang="en-US" sz="2800" dirty="0"/>
          </a:p>
        </p:txBody>
      </p:sp>
      <p:sp>
        <p:nvSpPr>
          <p:cNvPr id="4" name="c1_bg"/>
          <p:cNvSpPr/>
          <p:nvPr/>
        </p:nvSpPr>
        <p:spPr>
          <a:xfrm>
            <a:off x="548640" y="1463040"/>
            <a:ext cx="5440680" cy="4251960"/>
          </a:xfrm>
          <a:prstGeom prst="roundRect">
            <a:avLst>
              <a:gd name="adj" fmla="val 2581"/>
            </a:avLst>
          </a:prstGeom>
          <a:solidFill>
            <a:schemeClr val="bg2"/>
          </a:solidFill>
          <a:ln w="12700">
            <a:solidFill>
              <a:schemeClr val="bg2"/>
            </a:solidFill>
            <a:prstDash val="solid"/>
          </a:ln>
        </p:spPr>
      </p:sp>
      <p:pic>
        <p:nvPicPr>
          <p:cNvPr id="5" name="c1_im" descr="/tmp/claude-0/-home-user-HANDY/4ddfdd3d-c678-5164-8991-be3c6152a069/scratchpad/assets/poster_2d.jpg">    </p:cNvPr>
          <p:cNvPicPr>
            <a:picLocks noChangeAspect="1"/>
          </p:cNvPicPr>
          <p:nvPr/>
        </p:nvPicPr>
        <p:blipFill>
          <a:blip r:embed="rId1"/>
          <a:stretch>
            <a:fillRect/>
          </a:stretch>
        </p:blipFill>
        <p:spPr>
          <a:xfrm>
            <a:off x="831784" y="1737360"/>
            <a:ext cx="4874393" cy="2743200"/>
          </a:xfrm>
          <a:prstGeom prst="rect">
            <a:avLst/>
          </a:prstGeom>
        </p:spPr>
      </p:pic>
      <p:sp>
        <p:nvSpPr>
          <p:cNvPr id="6" name="c1_h"/>
          <p:cNvSpPr txBox="1"/>
          <p:nvPr/>
        </p:nvSpPr>
        <p:spPr>
          <a:xfrm>
            <a:off x="822960" y="4617720"/>
            <a:ext cx="4892040" cy="411480"/>
          </a:xfrm>
          <a:prstGeom prst="rect">
            <a:avLst/>
          </a:prstGeom>
          <a:noFill/>
          <a:ln/>
        </p:spPr>
        <p:txBody>
          <a:bodyPr wrap="square" lIns="0" tIns="0" rIns="0" bIns="0" rtlCol="0" anchor="t"/>
          <a:lstStyle/>
          <a:p>
            <a:pPr indent="0" marL="0">
              <a:buNone/>
            </a:pPr>
            <a:r>
              <a:rPr lang="en-US" sz="1900" b="1" dirty="0">
                <a:solidFill>
                  <a:schemeClr val="tx2"/>
                </a:solidFill>
              </a:rPr>
              <a:t>Spot 2D</a:t>
            </a:r>
            <a:endParaRPr lang="en-US" sz="1900" dirty="0"/>
          </a:p>
        </p:txBody>
      </p:sp>
      <p:sp>
        <p:nvSpPr>
          <p:cNvPr id="7" name="c1_d"/>
          <p:cNvSpPr txBox="1"/>
          <p:nvPr/>
        </p:nvSpPr>
        <p:spPr>
          <a:xfrm>
            <a:off x="822960" y="5029200"/>
            <a:ext cx="4892040" cy="411480"/>
          </a:xfrm>
          <a:prstGeom prst="rect">
            <a:avLst/>
          </a:prstGeom>
          <a:noFill/>
          <a:ln/>
        </p:spPr>
        <p:txBody>
          <a:bodyPr wrap="square" lIns="0" tIns="0" rIns="0" bIns="0" rtlCol="0" anchor="t"/>
          <a:lstStyle/>
          <a:p>
            <a:pPr indent="0" marL="0">
              <a:buNone/>
            </a:pPr>
            <a:r>
              <a:rPr lang="en-US" sz="1500" dirty="0">
                <a:solidFill>
                  <a:schemeClr val="tx1"/>
                </a:solidFill>
              </a:rPr>
              <a:t>Animation 2D · 25 secondes · 1920 × 1080 px</a:t>
            </a:r>
            <a:endParaRPr lang="en-US" sz="1500" dirty="0"/>
          </a:p>
        </p:txBody>
      </p:sp>
      <p:sp>
        <p:nvSpPr>
          <p:cNvPr id="8" name="c2_bg"/>
          <p:cNvSpPr/>
          <p:nvPr/>
        </p:nvSpPr>
        <p:spPr>
          <a:xfrm>
            <a:off x="6199632" y="1463040"/>
            <a:ext cx="5440680" cy="4251960"/>
          </a:xfrm>
          <a:prstGeom prst="roundRect">
            <a:avLst>
              <a:gd name="adj" fmla="val 2581"/>
            </a:avLst>
          </a:prstGeom>
          <a:solidFill>
            <a:schemeClr val="bg2"/>
          </a:solidFill>
          <a:ln w="12700">
            <a:solidFill>
              <a:schemeClr val="bg2"/>
            </a:solidFill>
            <a:prstDash val="solid"/>
          </a:ln>
        </p:spPr>
      </p:sp>
      <p:pic>
        <p:nvPicPr>
          <p:cNvPr id="9" name="c2_im" descr="/tmp/claude-0/-home-user-HANDY/4ddfdd3d-c678-5164-8991-be3c6152a069/scratchpad/assets/batiment3d.png">    </p:cNvPr>
          <p:cNvPicPr>
            <a:picLocks noChangeAspect="1"/>
          </p:cNvPicPr>
          <p:nvPr/>
        </p:nvPicPr>
        <p:blipFill>
          <a:blip r:embed="rId2"/>
          <a:stretch>
            <a:fillRect/>
          </a:stretch>
        </p:blipFill>
        <p:spPr>
          <a:xfrm>
            <a:off x="6473952" y="1745530"/>
            <a:ext cx="4892040" cy="2726859"/>
          </a:xfrm>
          <a:prstGeom prst="rect">
            <a:avLst/>
          </a:prstGeom>
        </p:spPr>
      </p:pic>
      <p:sp>
        <p:nvSpPr>
          <p:cNvPr id="10" name="c2_h"/>
          <p:cNvSpPr txBox="1"/>
          <p:nvPr/>
        </p:nvSpPr>
        <p:spPr>
          <a:xfrm>
            <a:off x="6473952" y="4617720"/>
            <a:ext cx="4892040" cy="411480"/>
          </a:xfrm>
          <a:prstGeom prst="rect">
            <a:avLst/>
          </a:prstGeom>
          <a:noFill/>
          <a:ln/>
        </p:spPr>
        <p:txBody>
          <a:bodyPr wrap="square" lIns="0" tIns="0" rIns="0" bIns="0" rtlCol="0" anchor="t"/>
          <a:lstStyle/>
          <a:p>
            <a:pPr indent="0" marL="0">
              <a:buNone/>
            </a:pPr>
            <a:r>
              <a:rPr lang="en-US" sz="1900" b="1" dirty="0">
                <a:solidFill>
                  <a:schemeClr val="tx2"/>
                </a:solidFill>
              </a:rPr>
              <a:t>Spot 3D</a:t>
            </a:r>
            <a:endParaRPr lang="en-US" sz="1900" dirty="0"/>
          </a:p>
        </p:txBody>
      </p:sp>
      <p:sp>
        <p:nvSpPr>
          <p:cNvPr id="11" name="c2_d"/>
          <p:cNvSpPr txBox="1"/>
          <p:nvPr/>
        </p:nvSpPr>
        <p:spPr>
          <a:xfrm>
            <a:off x="6473952" y="5029200"/>
            <a:ext cx="4892040" cy="411480"/>
          </a:xfrm>
          <a:prstGeom prst="rect">
            <a:avLst/>
          </a:prstGeom>
          <a:noFill/>
          <a:ln/>
        </p:spPr>
        <p:txBody>
          <a:bodyPr wrap="square" lIns="0" tIns="0" rIns="0" bIns="0" rtlCol="0" anchor="t"/>
          <a:lstStyle/>
          <a:p>
            <a:pPr indent="0" marL="0">
              <a:buNone/>
            </a:pPr>
            <a:r>
              <a:rPr lang="en-US" sz="1500" dirty="0">
                <a:solidFill>
                  <a:schemeClr val="tx1"/>
                </a:solidFill>
              </a:rPr>
              <a:t>Animation 3D · 30 secondes · 1920 × 1080 px</a:t>
            </a:r>
            <a:endParaRPr lang="en-US" sz="1500" dirty="0"/>
          </a:p>
        </p:txBody>
      </p:sp>
      <p:sp>
        <p:nvSpPr>
          <p:cNvPr id="12" name="c3_cred"/>
          <p:cNvSpPr txBox="1"/>
          <p:nvPr/>
        </p:nvSpPr>
        <p:spPr>
          <a:xfrm>
            <a:off x="548640" y="5897880"/>
            <a:ext cx="7315200" cy="320040"/>
          </a:xfrm>
          <a:prstGeom prst="rect">
            <a:avLst/>
          </a:prstGeom>
          <a:noFill/>
          <a:ln/>
        </p:spPr>
        <p:txBody>
          <a:bodyPr wrap="square" lIns="0" tIns="0" rIns="0" bIns="0" rtlCol="0" anchor="t"/>
          <a:lstStyle/>
          <a:p>
            <a:pPr indent="0" marL="0">
              <a:buNone/>
            </a:pPr>
            <a:r>
              <a:rPr lang="en-US" sz="1300" dirty="0">
                <a:solidFill>
                  <a:schemeClr val="accent4"/>
                </a:solidFill>
              </a:rPr>
              <a:t>Réalisation et montage : CAMARA BINTOU</a:t>
            </a:r>
            <a:endParaRPr lang="en-US" sz="13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500"/>
                                        <p:tgtEl>
                                          <p:spTgt spid="12"/>
                                        </p:tgtEl>
                                      </p:cBhvr>
                                    </p:animEffect>
                                    <p:anim calcmode="lin" valueType="num">
                                      <p:cBhvr>
                                        <p:cTn id="59" dur="500" decel="100000" fill="hold"/>
                                        <p:tgtEl>
                                          <p:spTgt spid="12"/>
                                        </p:tgtEl>
                                        <p:attrNameLst>
                                          <p:attrName>ppt_x</p:attrName>
                                        </p:attrNameLst>
                                      </p:cBhvr>
                                      <p:tavLst>
                                        <p:tav tm="0">
                                          <p:val>
                                            <p:strVal val="#ppt_x"/>
                                          </p:val>
                                        </p:tav>
                                        <p:tav tm="100000">
                                          <p:val>
                                            <p:strVal val="#ppt_x"/>
                                          </p:val>
                                        </p:tav>
                                      </p:tavLst>
                                    </p:anim>
                                    <p:anim calcmode="lin" valueType="num">
                                      <p:cBhvr>
                                        <p:cTn id="60" dur="500" decel="100000" fill="hold"/>
                                        <p:tgtEl>
                                          <p:spTgt spid="12"/>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p:bldP spid="7" grpId="0"/>
      <p:bldP spid="8" grpId="0" animBg="1"/>
      <p:bldP spid="10" grpId="0"/>
      <p:bldP spid="11" grpId="0"/>
      <p:bldP spid="12" grpId="0"/>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Arborescence du site web</a:t>
            </a:r>
            <a:endParaRPr lang="en-US" sz="2800" dirty="0"/>
          </a:p>
        </p:txBody>
      </p:sp>
      <p:sp>
        <p:nvSpPr>
          <p:cNvPr id="4" name="c1_root"/>
          <p:cNvSpPr/>
          <p:nvPr/>
        </p:nvSpPr>
        <p:spPr>
          <a:xfrm>
            <a:off x="4910328" y="1737360"/>
            <a:ext cx="2377440" cy="777240"/>
          </a:xfrm>
          <a:prstGeom prst="roundRect">
            <a:avLst>
              <a:gd name="adj" fmla="val 14118"/>
            </a:avLst>
          </a:prstGeom>
          <a:solidFill>
            <a:schemeClr val="tx2"/>
          </a:solidFill>
          <a:ln w="12700">
            <a:solidFill>
              <a:schemeClr val="tx2"/>
            </a:solidFill>
            <a:prstDash val="solid"/>
          </a:ln>
        </p:spPr>
      </p:sp>
      <p:sp>
        <p:nvSpPr>
          <p:cNvPr id="5" name="c1_roott"/>
          <p:cNvSpPr txBox="1"/>
          <p:nvPr/>
        </p:nvSpPr>
        <p:spPr>
          <a:xfrm>
            <a:off x="4910328" y="1737360"/>
            <a:ext cx="2377440" cy="777240"/>
          </a:xfrm>
          <a:prstGeom prst="rect">
            <a:avLst/>
          </a:prstGeom>
          <a:noFill/>
          <a:ln/>
        </p:spPr>
        <p:txBody>
          <a:bodyPr wrap="square" lIns="0" tIns="0" rIns="0" bIns="0" rtlCol="0" anchor="ctr"/>
          <a:lstStyle/>
          <a:p>
            <a:pPr algn="ctr" indent="0" marL="0">
              <a:buNone/>
            </a:pPr>
            <a:r>
              <a:rPr lang="en-US" sz="1800" b="1" dirty="0">
                <a:solidFill>
                  <a:schemeClr val="bg1"/>
                </a:solidFill>
              </a:rPr>
              <a:t>Accueil</a:t>
            </a:r>
            <a:endParaRPr lang="en-US" sz="1800" dirty="0"/>
          </a:p>
        </p:txBody>
      </p:sp>
      <p:sp>
        <p:nvSpPr>
          <p:cNvPr id="6" name="c2_l0"/>
          <p:cNvSpPr/>
          <p:nvPr/>
        </p:nvSpPr>
        <p:spPr>
          <a:xfrm>
            <a:off x="6099048" y="2514600"/>
            <a:ext cx="0" cy="548640"/>
          </a:xfrm>
          <a:prstGeom prst="line">
            <a:avLst/>
          </a:prstGeom>
          <a:noFill/>
          <a:ln w="19050">
            <a:solidFill>
              <a:srgbClr val="D9DEE8"/>
            </a:solidFill>
            <a:prstDash val="solid"/>
          </a:ln>
        </p:spPr>
      </p:sp>
      <p:sp>
        <p:nvSpPr>
          <p:cNvPr id="7" name="c2_l1"/>
          <p:cNvSpPr/>
          <p:nvPr/>
        </p:nvSpPr>
        <p:spPr>
          <a:xfrm>
            <a:off x="1577340" y="3063240"/>
            <a:ext cx="9034272" cy="0"/>
          </a:xfrm>
          <a:prstGeom prst="line">
            <a:avLst/>
          </a:prstGeom>
          <a:noFill/>
          <a:ln w="19050">
            <a:solidFill>
              <a:srgbClr val="D9DEE8"/>
            </a:solidFill>
            <a:prstDash val="solid"/>
          </a:ln>
        </p:spPr>
      </p:sp>
      <p:sp>
        <p:nvSpPr>
          <p:cNvPr id="8" name="c2_v0"/>
          <p:cNvSpPr/>
          <p:nvPr/>
        </p:nvSpPr>
        <p:spPr>
          <a:xfrm>
            <a:off x="1577340" y="3063240"/>
            <a:ext cx="0" cy="548640"/>
          </a:xfrm>
          <a:prstGeom prst="line">
            <a:avLst/>
          </a:prstGeom>
          <a:noFill/>
          <a:ln w="19050">
            <a:solidFill>
              <a:srgbClr val="D9DEE8"/>
            </a:solidFill>
            <a:prstDash val="solid"/>
          </a:ln>
        </p:spPr>
      </p:sp>
      <p:sp>
        <p:nvSpPr>
          <p:cNvPr id="9" name="c2_b0"/>
          <p:cNvSpPr/>
          <p:nvPr/>
        </p:nvSpPr>
        <p:spPr>
          <a:xfrm>
            <a:off x="548640" y="3611880"/>
            <a:ext cx="2057400" cy="1051560"/>
          </a:xfrm>
          <a:prstGeom prst="roundRect">
            <a:avLst>
              <a:gd name="adj" fmla="val 10435"/>
            </a:avLst>
          </a:prstGeom>
          <a:solidFill>
            <a:schemeClr val="bg2"/>
          </a:solidFill>
          <a:ln w="12700">
            <a:solidFill>
              <a:schemeClr val="bg2"/>
            </a:solidFill>
            <a:prstDash val="solid"/>
          </a:ln>
        </p:spPr>
      </p:sp>
      <p:sp>
        <p:nvSpPr>
          <p:cNvPr id="10" name="c2_t0"/>
          <p:cNvSpPr txBox="1"/>
          <p:nvPr/>
        </p:nvSpPr>
        <p:spPr>
          <a:xfrm>
            <a:off x="640080" y="3611880"/>
            <a:ext cx="1874520" cy="1051560"/>
          </a:xfrm>
          <a:prstGeom prst="rect">
            <a:avLst/>
          </a:prstGeom>
          <a:noFill/>
          <a:ln/>
        </p:spPr>
        <p:txBody>
          <a:bodyPr wrap="square" lIns="0" tIns="0" rIns="0" bIns="0" rtlCol="0" anchor="ctr"/>
          <a:lstStyle/>
          <a:p>
            <a:pPr algn="ctr" indent="0" marL="0">
              <a:buNone/>
            </a:pPr>
            <a:r>
              <a:rPr lang="en-US" sz="1500" b="1" dirty="0">
                <a:solidFill>
                  <a:schemeClr val="tx1"/>
                </a:solidFill>
              </a:rPr>
              <a:t>À propos</a:t>
            </a:r>
            <a:endParaRPr lang="en-US" sz="1500" dirty="0"/>
          </a:p>
        </p:txBody>
      </p:sp>
      <p:sp>
        <p:nvSpPr>
          <p:cNvPr id="11" name="c2_v1"/>
          <p:cNvSpPr/>
          <p:nvPr/>
        </p:nvSpPr>
        <p:spPr>
          <a:xfrm>
            <a:off x="3835908" y="3063240"/>
            <a:ext cx="0" cy="548640"/>
          </a:xfrm>
          <a:prstGeom prst="line">
            <a:avLst/>
          </a:prstGeom>
          <a:noFill/>
          <a:ln w="19050">
            <a:solidFill>
              <a:srgbClr val="D9DEE8"/>
            </a:solidFill>
            <a:prstDash val="solid"/>
          </a:ln>
        </p:spPr>
      </p:sp>
      <p:sp>
        <p:nvSpPr>
          <p:cNvPr id="12" name="c2_b1"/>
          <p:cNvSpPr/>
          <p:nvPr/>
        </p:nvSpPr>
        <p:spPr>
          <a:xfrm>
            <a:off x="2807208" y="3611880"/>
            <a:ext cx="2057400" cy="1051560"/>
          </a:xfrm>
          <a:prstGeom prst="roundRect">
            <a:avLst>
              <a:gd name="adj" fmla="val 10435"/>
            </a:avLst>
          </a:prstGeom>
          <a:solidFill>
            <a:schemeClr val="bg2"/>
          </a:solidFill>
          <a:ln w="12700">
            <a:solidFill>
              <a:schemeClr val="bg2"/>
            </a:solidFill>
            <a:prstDash val="solid"/>
          </a:ln>
        </p:spPr>
      </p:sp>
      <p:sp>
        <p:nvSpPr>
          <p:cNvPr id="13" name="c2_t1"/>
          <p:cNvSpPr txBox="1"/>
          <p:nvPr/>
        </p:nvSpPr>
        <p:spPr>
          <a:xfrm>
            <a:off x="2898648" y="3611880"/>
            <a:ext cx="1874520" cy="1051560"/>
          </a:xfrm>
          <a:prstGeom prst="rect">
            <a:avLst/>
          </a:prstGeom>
          <a:noFill/>
          <a:ln/>
        </p:spPr>
        <p:txBody>
          <a:bodyPr wrap="square" lIns="0" tIns="0" rIns="0" bIns="0" rtlCol="0" anchor="ctr"/>
          <a:lstStyle/>
          <a:p>
            <a:pPr algn="ctr" indent="0" marL="0">
              <a:buNone/>
            </a:pPr>
            <a:r>
              <a:rPr lang="en-US" sz="1500" b="1" dirty="0">
                <a:solidFill>
                  <a:schemeClr val="tx1"/>
                </a:solidFill>
              </a:rPr>
              <a:t>Nos équipements</a:t>
            </a:r>
            <a:endParaRPr lang="en-US" sz="1500" dirty="0"/>
          </a:p>
        </p:txBody>
      </p:sp>
      <p:sp>
        <p:nvSpPr>
          <p:cNvPr id="14" name="c2_v2"/>
          <p:cNvSpPr/>
          <p:nvPr/>
        </p:nvSpPr>
        <p:spPr>
          <a:xfrm>
            <a:off x="6094476" y="3063240"/>
            <a:ext cx="0" cy="548640"/>
          </a:xfrm>
          <a:prstGeom prst="line">
            <a:avLst/>
          </a:prstGeom>
          <a:noFill/>
          <a:ln w="19050">
            <a:solidFill>
              <a:srgbClr val="D9DEE8"/>
            </a:solidFill>
            <a:prstDash val="solid"/>
          </a:ln>
        </p:spPr>
      </p:sp>
      <p:sp>
        <p:nvSpPr>
          <p:cNvPr id="15" name="c2_b2"/>
          <p:cNvSpPr/>
          <p:nvPr/>
        </p:nvSpPr>
        <p:spPr>
          <a:xfrm>
            <a:off x="5065776" y="3611880"/>
            <a:ext cx="2057400" cy="1051560"/>
          </a:xfrm>
          <a:prstGeom prst="roundRect">
            <a:avLst>
              <a:gd name="adj" fmla="val 10435"/>
            </a:avLst>
          </a:prstGeom>
          <a:solidFill>
            <a:schemeClr val="bg2"/>
          </a:solidFill>
          <a:ln w="12700">
            <a:solidFill>
              <a:schemeClr val="bg2"/>
            </a:solidFill>
            <a:prstDash val="solid"/>
          </a:ln>
        </p:spPr>
      </p:sp>
      <p:sp>
        <p:nvSpPr>
          <p:cNvPr id="16" name="c2_t2"/>
          <p:cNvSpPr txBox="1"/>
          <p:nvPr/>
        </p:nvSpPr>
        <p:spPr>
          <a:xfrm>
            <a:off x="5157216" y="3611880"/>
            <a:ext cx="1874520" cy="1051560"/>
          </a:xfrm>
          <a:prstGeom prst="rect">
            <a:avLst/>
          </a:prstGeom>
          <a:noFill/>
          <a:ln/>
        </p:spPr>
        <p:txBody>
          <a:bodyPr wrap="square" lIns="0" tIns="0" rIns="0" bIns="0" rtlCol="0" anchor="ctr"/>
          <a:lstStyle/>
          <a:p>
            <a:pPr algn="ctr" indent="0" marL="0">
              <a:buNone/>
            </a:pPr>
            <a:r>
              <a:rPr lang="en-US" sz="1500" b="1" dirty="0">
                <a:solidFill>
                  <a:schemeClr val="tx1"/>
                </a:solidFill>
              </a:rPr>
              <a:t>Boutique</a:t>
            </a:r>
            <a:endParaRPr lang="en-US" sz="1500" dirty="0"/>
          </a:p>
        </p:txBody>
      </p:sp>
      <p:sp>
        <p:nvSpPr>
          <p:cNvPr id="17" name="c2_v3"/>
          <p:cNvSpPr/>
          <p:nvPr/>
        </p:nvSpPr>
        <p:spPr>
          <a:xfrm>
            <a:off x="8353044" y="3063240"/>
            <a:ext cx="0" cy="548640"/>
          </a:xfrm>
          <a:prstGeom prst="line">
            <a:avLst/>
          </a:prstGeom>
          <a:noFill/>
          <a:ln w="19050">
            <a:solidFill>
              <a:srgbClr val="D9DEE8"/>
            </a:solidFill>
            <a:prstDash val="solid"/>
          </a:ln>
        </p:spPr>
      </p:sp>
      <p:sp>
        <p:nvSpPr>
          <p:cNvPr id="18" name="c2_b3"/>
          <p:cNvSpPr/>
          <p:nvPr/>
        </p:nvSpPr>
        <p:spPr>
          <a:xfrm>
            <a:off x="7324344" y="3611880"/>
            <a:ext cx="2057400" cy="1051560"/>
          </a:xfrm>
          <a:prstGeom prst="roundRect">
            <a:avLst>
              <a:gd name="adj" fmla="val 10435"/>
            </a:avLst>
          </a:prstGeom>
          <a:solidFill>
            <a:schemeClr val="bg2"/>
          </a:solidFill>
          <a:ln w="12700">
            <a:solidFill>
              <a:schemeClr val="bg2"/>
            </a:solidFill>
            <a:prstDash val="solid"/>
          </a:ln>
        </p:spPr>
      </p:sp>
      <p:sp>
        <p:nvSpPr>
          <p:cNvPr id="19" name="c2_t3"/>
          <p:cNvSpPr txBox="1"/>
          <p:nvPr/>
        </p:nvSpPr>
        <p:spPr>
          <a:xfrm>
            <a:off x="7415784" y="3611880"/>
            <a:ext cx="1874520" cy="1051560"/>
          </a:xfrm>
          <a:prstGeom prst="rect">
            <a:avLst/>
          </a:prstGeom>
          <a:noFill/>
          <a:ln/>
        </p:spPr>
        <p:txBody>
          <a:bodyPr wrap="square" lIns="0" tIns="0" rIns="0" bIns="0" rtlCol="0" anchor="ctr"/>
          <a:lstStyle/>
          <a:p>
            <a:pPr algn="ctr" indent="0" marL="0">
              <a:buNone/>
            </a:pPr>
            <a:r>
              <a:rPr lang="en-US" sz="1500" b="1" dirty="0">
                <a:solidFill>
                  <a:schemeClr val="tx1"/>
                </a:solidFill>
              </a:rPr>
              <a:t>Tarifs &amp; abonnements</a:t>
            </a:r>
            <a:endParaRPr lang="en-US" sz="1500" dirty="0"/>
          </a:p>
        </p:txBody>
      </p:sp>
      <p:sp>
        <p:nvSpPr>
          <p:cNvPr id="20" name="c2_v4"/>
          <p:cNvSpPr/>
          <p:nvPr/>
        </p:nvSpPr>
        <p:spPr>
          <a:xfrm>
            <a:off x="10611612" y="3063240"/>
            <a:ext cx="0" cy="548640"/>
          </a:xfrm>
          <a:prstGeom prst="line">
            <a:avLst/>
          </a:prstGeom>
          <a:noFill/>
          <a:ln w="19050">
            <a:solidFill>
              <a:srgbClr val="D9DEE8"/>
            </a:solidFill>
            <a:prstDash val="solid"/>
          </a:ln>
        </p:spPr>
      </p:sp>
      <p:sp>
        <p:nvSpPr>
          <p:cNvPr id="21" name="c2_b4"/>
          <p:cNvSpPr/>
          <p:nvPr/>
        </p:nvSpPr>
        <p:spPr>
          <a:xfrm>
            <a:off x="9582912" y="3611880"/>
            <a:ext cx="2057400" cy="1051560"/>
          </a:xfrm>
          <a:prstGeom prst="roundRect">
            <a:avLst>
              <a:gd name="adj" fmla="val 10435"/>
            </a:avLst>
          </a:prstGeom>
          <a:solidFill>
            <a:schemeClr val="bg2"/>
          </a:solidFill>
          <a:ln w="12700">
            <a:solidFill>
              <a:schemeClr val="bg2"/>
            </a:solidFill>
            <a:prstDash val="solid"/>
          </a:ln>
        </p:spPr>
      </p:sp>
      <p:sp>
        <p:nvSpPr>
          <p:cNvPr id="22" name="c2_t4"/>
          <p:cNvSpPr txBox="1"/>
          <p:nvPr/>
        </p:nvSpPr>
        <p:spPr>
          <a:xfrm>
            <a:off x="9674352" y="3611880"/>
            <a:ext cx="1874520" cy="1051560"/>
          </a:xfrm>
          <a:prstGeom prst="rect">
            <a:avLst/>
          </a:prstGeom>
          <a:noFill/>
          <a:ln/>
        </p:spPr>
        <p:txBody>
          <a:bodyPr wrap="square" lIns="0" tIns="0" rIns="0" bIns="0" rtlCol="0" anchor="ctr"/>
          <a:lstStyle/>
          <a:p>
            <a:pPr algn="ctr" indent="0" marL="0">
              <a:buNone/>
            </a:pPr>
            <a:r>
              <a:rPr lang="en-US" sz="1500" b="1" dirty="0">
                <a:solidFill>
                  <a:schemeClr val="tx1"/>
                </a:solidFill>
              </a:rPr>
              <a:t>Contacts</a:t>
            </a:r>
            <a:endParaRPr lang="en-US" sz="1500" dirty="0"/>
          </a:p>
        </p:txBody>
      </p:sp>
      <p:sp>
        <p:nvSpPr>
          <p:cNvPr id="23" name="c3_cap"/>
          <p:cNvSpPr txBox="1"/>
          <p:nvPr/>
        </p:nvSpPr>
        <p:spPr>
          <a:xfrm>
            <a:off x="548640" y="5120640"/>
            <a:ext cx="11091672" cy="411480"/>
          </a:xfrm>
          <a:prstGeom prst="rect">
            <a:avLst/>
          </a:prstGeom>
          <a:noFill/>
          <a:ln/>
        </p:spPr>
        <p:txBody>
          <a:bodyPr wrap="square" lIns="0" tIns="0" rIns="0" bIns="0" rtlCol="0" anchor="t"/>
          <a:lstStyle/>
          <a:p>
            <a:pPr algn="ctr" indent="0" marL="0">
              <a:buNone/>
            </a:pPr>
            <a:r>
              <a:rPr lang="en-US" sz="1500" dirty="0">
                <a:solidFill>
                  <a:schemeClr val="accent4"/>
                </a:solidFill>
              </a:rPr>
              <a:t>Le menu de navigation relie la page d'accueil aux cinq rubriques du site</a:t>
            </a:r>
            <a:endParaRPr lang="en-US" sz="15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027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0278"/>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anim calcmode="lin" valueType="num">
                                      <p:cBhvr>
                                        <p:cTn id="77" dur="500" decel="100000" fill="hold"/>
                                        <p:tgtEl>
                                          <p:spTgt spid="16"/>
                                        </p:tgtEl>
                                        <p:attrNameLst>
                                          <p:attrName>ppt_x</p:attrName>
                                        </p:attrNameLst>
                                      </p:cBhvr>
                                      <p:tavLst>
                                        <p:tav tm="0">
                                          <p:val>
                                            <p:strVal val="#ppt_x"/>
                                          </p:val>
                                        </p:tav>
                                        <p:tav tm="100000">
                                          <p:val>
                                            <p:strVal val="#ppt_x"/>
                                          </p:val>
                                        </p:tav>
                                      </p:tavLst>
                                    </p:anim>
                                    <p:anim calcmode="lin" valueType="num">
                                      <p:cBhvr>
                                        <p:cTn id="78" dur="500" decel="100000" fill="hold"/>
                                        <p:tgtEl>
                                          <p:spTgt spid="16"/>
                                        </p:tgtEl>
                                        <p:attrNameLst>
                                          <p:attrName>ppt_y</p:attrName>
                                        </p:attrNameLst>
                                      </p:cBhvr>
                                      <p:tavLst>
                                        <p:tav tm="0">
                                          <p:val>
                                            <p:strVal val="#ppt_y+0.0278"/>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anim calcmode="lin" valueType="num">
                                      <p:cBhvr>
                                        <p:cTn id="82" dur="500" decel="100000" fill="hold"/>
                                        <p:tgtEl>
                                          <p:spTgt spid="17"/>
                                        </p:tgtEl>
                                        <p:attrNameLst>
                                          <p:attrName>ppt_x</p:attrName>
                                        </p:attrNameLst>
                                      </p:cBhvr>
                                      <p:tavLst>
                                        <p:tav tm="0">
                                          <p:val>
                                            <p:strVal val="#ppt_x"/>
                                          </p:val>
                                        </p:tav>
                                        <p:tav tm="100000">
                                          <p:val>
                                            <p:strVal val="#ppt_x"/>
                                          </p:val>
                                        </p:tav>
                                      </p:tavLst>
                                    </p:anim>
                                    <p:anim calcmode="lin" valueType="num">
                                      <p:cBhvr>
                                        <p:cTn id="83" dur="500" decel="100000" fill="hold"/>
                                        <p:tgtEl>
                                          <p:spTgt spid="17"/>
                                        </p:tgtEl>
                                        <p:attrNameLst>
                                          <p:attrName>ppt_y</p:attrName>
                                        </p:attrNameLst>
                                      </p:cBhvr>
                                      <p:tavLst>
                                        <p:tav tm="0">
                                          <p:val>
                                            <p:strVal val="#ppt_y+0.0278"/>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500"/>
                                        <p:tgtEl>
                                          <p:spTgt spid="18"/>
                                        </p:tgtEl>
                                      </p:cBhvr>
                                    </p:animEffect>
                                    <p:anim calcmode="lin" valueType="num">
                                      <p:cBhvr>
                                        <p:cTn id="87" dur="500" decel="100000" fill="hold"/>
                                        <p:tgtEl>
                                          <p:spTgt spid="18"/>
                                        </p:tgtEl>
                                        <p:attrNameLst>
                                          <p:attrName>ppt_x</p:attrName>
                                        </p:attrNameLst>
                                      </p:cBhvr>
                                      <p:tavLst>
                                        <p:tav tm="0">
                                          <p:val>
                                            <p:strVal val="#ppt_x"/>
                                          </p:val>
                                        </p:tav>
                                        <p:tav tm="100000">
                                          <p:val>
                                            <p:strVal val="#ppt_x"/>
                                          </p:val>
                                        </p:tav>
                                      </p:tavLst>
                                    </p:anim>
                                    <p:anim calcmode="lin" valueType="num">
                                      <p:cBhvr>
                                        <p:cTn id="88" dur="500" decel="100000" fill="hold"/>
                                        <p:tgtEl>
                                          <p:spTgt spid="18"/>
                                        </p:tgtEl>
                                        <p:attrNameLst>
                                          <p:attrName>ppt_y</p:attrName>
                                        </p:attrNameLst>
                                      </p:cBhvr>
                                      <p:tavLst>
                                        <p:tav tm="0">
                                          <p:val>
                                            <p:strVal val="#ppt_y+0.0278"/>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500"/>
                                        <p:tgtEl>
                                          <p:spTgt spid="19"/>
                                        </p:tgtEl>
                                      </p:cBhvr>
                                    </p:animEffect>
                                    <p:anim calcmode="lin" valueType="num">
                                      <p:cBhvr>
                                        <p:cTn id="92" dur="500" decel="100000" fill="hold"/>
                                        <p:tgtEl>
                                          <p:spTgt spid="19"/>
                                        </p:tgtEl>
                                        <p:attrNameLst>
                                          <p:attrName>ppt_x</p:attrName>
                                        </p:attrNameLst>
                                      </p:cBhvr>
                                      <p:tavLst>
                                        <p:tav tm="0">
                                          <p:val>
                                            <p:strVal val="#ppt_x"/>
                                          </p:val>
                                        </p:tav>
                                        <p:tav tm="100000">
                                          <p:val>
                                            <p:strVal val="#ppt_x"/>
                                          </p:val>
                                        </p:tav>
                                      </p:tavLst>
                                    </p:anim>
                                    <p:anim calcmode="lin" valueType="num">
                                      <p:cBhvr>
                                        <p:cTn id="93" dur="500" decel="100000" fill="hold"/>
                                        <p:tgtEl>
                                          <p:spTgt spid="19"/>
                                        </p:tgtEl>
                                        <p:attrNameLst>
                                          <p:attrName>ppt_y</p:attrName>
                                        </p:attrNameLst>
                                      </p:cBhvr>
                                      <p:tavLst>
                                        <p:tav tm="0">
                                          <p:val>
                                            <p:strVal val="#ppt_y+0.0278"/>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anim calcmode="lin" valueType="num">
                                      <p:cBhvr>
                                        <p:cTn id="97" dur="500" decel="100000" fill="hold"/>
                                        <p:tgtEl>
                                          <p:spTgt spid="20"/>
                                        </p:tgtEl>
                                        <p:attrNameLst>
                                          <p:attrName>ppt_x</p:attrName>
                                        </p:attrNameLst>
                                      </p:cBhvr>
                                      <p:tavLst>
                                        <p:tav tm="0">
                                          <p:val>
                                            <p:strVal val="#ppt_x"/>
                                          </p:val>
                                        </p:tav>
                                        <p:tav tm="100000">
                                          <p:val>
                                            <p:strVal val="#ppt_x"/>
                                          </p:val>
                                        </p:tav>
                                      </p:tavLst>
                                    </p:anim>
                                    <p:anim calcmode="lin" valueType="num">
                                      <p:cBhvr>
                                        <p:cTn id="98" dur="500" decel="100000" fill="hold"/>
                                        <p:tgtEl>
                                          <p:spTgt spid="20"/>
                                        </p:tgtEl>
                                        <p:attrNameLst>
                                          <p:attrName>ppt_y</p:attrName>
                                        </p:attrNameLst>
                                      </p:cBhvr>
                                      <p:tavLst>
                                        <p:tav tm="0">
                                          <p:val>
                                            <p:strVal val="#ppt_y+0.0278"/>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anim calcmode="lin" valueType="num">
                                      <p:cBhvr>
                                        <p:cTn id="102" dur="500" decel="100000" fill="hold"/>
                                        <p:tgtEl>
                                          <p:spTgt spid="21"/>
                                        </p:tgtEl>
                                        <p:attrNameLst>
                                          <p:attrName>ppt_x</p:attrName>
                                        </p:attrNameLst>
                                      </p:cBhvr>
                                      <p:tavLst>
                                        <p:tav tm="0">
                                          <p:val>
                                            <p:strVal val="#ppt_x"/>
                                          </p:val>
                                        </p:tav>
                                        <p:tav tm="100000">
                                          <p:val>
                                            <p:strVal val="#ppt_x"/>
                                          </p:val>
                                        </p:tav>
                                      </p:tavLst>
                                    </p:anim>
                                    <p:anim calcmode="lin" valueType="num">
                                      <p:cBhvr>
                                        <p:cTn id="103" dur="500" decel="100000" fill="hold"/>
                                        <p:tgtEl>
                                          <p:spTgt spid="21"/>
                                        </p:tgtEl>
                                        <p:attrNameLst>
                                          <p:attrName>ppt_y</p:attrName>
                                        </p:attrNameLst>
                                      </p:cBhvr>
                                      <p:tavLst>
                                        <p:tav tm="0">
                                          <p:val>
                                            <p:strVal val="#ppt_y+0.0278"/>
                                          </p:val>
                                        </p:tav>
                                        <p:tav tm="100000">
                                          <p:val>
                                            <p:strVal val="#ppt_y"/>
                                          </p:val>
                                        </p:tav>
                                      </p:tavLst>
                                    </p:anim>
                                  </p:childTnLst>
                                </p:cTn>
                              </p:par>
                              <p:par>
                                <p:cTn id="104" presetID="42" presetClass="entr" presetSubtype="0" fill="hold" grpId="0" nodeType="withEffect">
                                  <p:stCondLst>
                                    <p:cond delay="0"/>
                                  </p:stCondLst>
                                  <p:childTnLst>
                                    <p:set>
                                      <p:cBhvr>
                                        <p:cTn id="105" dur="1" fill="hold">
                                          <p:stCondLst>
                                            <p:cond delay="0"/>
                                          </p:stCondLst>
                                        </p:cTn>
                                        <p:tgtEl>
                                          <p:spTgt spid="22"/>
                                        </p:tgtEl>
                                        <p:attrNameLst>
                                          <p:attrName>style.visibility</p:attrName>
                                        </p:attrNameLst>
                                      </p:cBhvr>
                                      <p:to>
                                        <p:strVal val="visible"/>
                                      </p:to>
                                    </p:set>
                                    <p:animEffect transition="in" filter="fade">
                                      <p:cBhvr>
                                        <p:cTn id="106" dur="500"/>
                                        <p:tgtEl>
                                          <p:spTgt spid="22"/>
                                        </p:tgtEl>
                                      </p:cBhvr>
                                    </p:animEffect>
                                    <p:anim calcmode="lin" valueType="num">
                                      <p:cBhvr>
                                        <p:cTn id="107" dur="500" decel="100000" fill="hold"/>
                                        <p:tgtEl>
                                          <p:spTgt spid="22"/>
                                        </p:tgtEl>
                                        <p:attrNameLst>
                                          <p:attrName>ppt_x</p:attrName>
                                        </p:attrNameLst>
                                      </p:cBhvr>
                                      <p:tavLst>
                                        <p:tav tm="0">
                                          <p:val>
                                            <p:strVal val="#ppt_x"/>
                                          </p:val>
                                        </p:tav>
                                        <p:tav tm="100000">
                                          <p:val>
                                            <p:strVal val="#ppt_x"/>
                                          </p:val>
                                        </p:tav>
                                      </p:tavLst>
                                    </p:anim>
                                    <p:anim calcmode="lin" valueType="num">
                                      <p:cBhvr>
                                        <p:cTn id="108" dur="500" decel="100000" fill="hold"/>
                                        <p:tgtEl>
                                          <p:spTgt spid="22"/>
                                        </p:tgtEl>
                                        <p:attrNameLst>
                                          <p:attrName>ppt_y</p:attrName>
                                        </p:attrNameLst>
                                      </p:cBhvr>
                                      <p:tavLst>
                                        <p:tav tm="0">
                                          <p:val>
                                            <p:strVal val="#ppt_y+0.0278"/>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42" presetClass="entr" presetSubtype="0" fill="hold" grpId="0" nodeType="clickEffect">
                                  <p:stCondLst>
                                    <p:cond delay="0"/>
                                  </p:stCondLst>
                                  <p:childTnLst>
                                    <p:set>
                                      <p:cBhvr>
                                        <p:cTn id="112" dur="1" fill="hold">
                                          <p:stCondLst>
                                            <p:cond delay="0"/>
                                          </p:stCondLst>
                                        </p:cTn>
                                        <p:tgtEl>
                                          <p:spTgt spid="23"/>
                                        </p:tgtEl>
                                        <p:attrNameLst>
                                          <p:attrName>style.visibility</p:attrName>
                                        </p:attrNameLst>
                                      </p:cBhvr>
                                      <p:to>
                                        <p:strVal val="visible"/>
                                      </p:to>
                                    </p:set>
                                    <p:animEffect transition="in" filter="fade">
                                      <p:cBhvr>
                                        <p:cTn id="113" dur="500"/>
                                        <p:tgtEl>
                                          <p:spTgt spid="23"/>
                                        </p:tgtEl>
                                      </p:cBhvr>
                                    </p:animEffect>
                                    <p:anim calcmode="lin" valueType="num">
                                      <p:cBhvr>
                                        <p:cTn id="114" dur="500" decel="100000" fill="hold"/>
                                        <p:tgtEl>
                                          <p:spTgt spid="23"/>
                                        </p:tgtEl>
                                        <p:attrNameLst>
                                          <p:attrName>ppt_x</p:attrName>
                                        </p:attrNameLst>
                                      </p:cBhvr>
                                      <p:tavLst>
                                        <p:tav tm="0">
                                          <p:val>
                                            <p:strVal val="#ppt_x"/>
                                          </p:val>
                                        </p:tav>
                                        <p:tav tm="100000">
                                          <p:val>
                                            <p:strVal val="#ppt_x"/>
                                          </p:val>
                                        </p:tav>
                                      </p:tavLst>
                                    </p:anim>
                                    <p:anim calcmode="lin" valueType="num">
                                      <p:cBhvr>
                                        <p:cTn id="115" dur="500" decel="100000" fill="hold"/>
                                        <p:tgtEl>
                                          <p:spTgt spid="2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animBg="1"/>
      <p:bldP spid="7" grpId="0" animBg="1"/>
      <p:bldP spid="8" grpId="0" animBg="1"/>
      <p:bldP spid="9" grpId="0" animBg="1"/>
      <p:bldP spid="10" grpId="0"/>
      <p:bldP spid="11" grpId="0" animBg="1"/>
      <p:bldP spid="12" grpId="0" animBg="1"/>
      <p:bldP spid="13" grpId="0"/>
      <p:bldP spid="14" grpId="0" animBg="1"/>
      <p:bldP spid="15" grpId="0" animBg="1"/>
      <p:bldP spid="16" grpId="0"/>
      <p:bldP spid="17" grpId="0" animBg="1"/>
      <p:bldP spid="18" grpId="0" animBg="1"/>
      <p:bldP spid="19" grpId="0"/>
      <p:bldP spid="20" grpId="0" animBg="1"/>
      <p:bldP spid="21" grpId="0" animBg="1"/>
      <p:bldP spid="22" grpId="0"/>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Langages et base de données</a:t>
            </a:r>
            <a:endParaRPr lang="en-US" sz="2800" dirty="0"/>
          </a:p>
        </p:txBody>
      </p:sp>
      <p:sp>
        <p:nvSpPr>
          <p:cNvPr id="4" name="c1_b0"/>
          <p:cNvSpPr/>
          <p:nvPr/>
        </p:nvSpPr>
        <p:spPr>
          <a:xfrm>
            <a:off x="548640" y="1600200"/>
            <a:ext cx="3502152" cy="1920240"/>
          </a:xfrm>
          <a:prstGeom prst="roundRect">
            <a:avLst>
              <a:gd name="adj" fmla="val 5714"/>
            </a:avLst>
          </a:prstGeom>
          <a:solidFill>
            <a:schemeClr val="bg2"/>
          </a:solidFill>
          <a:ln w="12700">
            <a:solidFill>
              <a:schemeClr val="bg2"/>
            </a:solidFill>
            <a:prstDash val="solid"/>
          </a:ln>
        </p:spPr>
      </p:sp>
      <p:sp>
        <p:nvSpPr>
          <p:cNvPr id="5" name="c1_h0"/>
          <p:cNvSpPr txBox="1"/>
          <p:nvPr/>
        </p:nvSpPr>
        <p:spPr>
          <a:xfrm>
            <a:off x="914400" y="2011680"/>
            <a:ext cx="2834640" cy="548640"/>
          </a:xfrm>
          <a:prstGeom prst="rect">
            <a:avLst/>
          </a:prstGeom>
          <a:noFill/>
          <a:ln/>
        </p:spPr>
        <p:txBody>
          <a:bodyPr wrap="square" lIns="0" tIns="0" rIns="0" bIns="0" rtlCol="0" anchor="t"/>
          <a:lstStyle/>
          <a:p>
            <a:pPr indent="0" marL="0">
              <a:buNone/>
            </a:pPr>
            <a:r>
              <a:rPr lang="en-US" sz="2400" b="1" dirty="0">
                <a:solidFill>
                  <a:schemeClr val="tx2"/>
                </a:solidFill>
              </a:rPr>
              <a:t>HTML</a:t>
            </a:r>
            <a:endParaRPr lang="en-US" sz="2400" dirty="0"/>
          </a:p>
        </p:txBody>
      </p:sp>
      <p:sp>
        <p:nvSpPr>
          <p:cNvPr id="6" name="c1_d0"/>
          <p:cNvSpPr txBox="1"/>
          <p:nvPr/>
        </p:nvSpPr>
        <p:spPr>
          <a:xfrm>
            <a:off x="914400" y="2651760"/>
            <a:ext cx="2926080" cy="457200"/>
          </a:xfrm>
          <a:prstGeom prst="rect">
            <a:avLst/>
          </a:prstGeom>
          <a:noFill/>
          <a:ln/>
        </p:spPr>
        <p:txBody>
          <a:bodyPr wrap="square" lIns="0" tIns="0" rIns="0" bIns="0" rtlCol="0" anchor="t"/>
          <a:lstStyle/>
          <a:p>
            <a:pPr indent="0" marL="0">
              <a:buNone/>
            </a:pPr>
            <a:r>
              <a:rPr lang="en-US" sz="1500" dirty="0">
                <a:solidFill>
                  <a:schemeClr val="tx1"/>
                </a:solidFill>
              </a:rPr>
              <a:t>Structure des pages</a:t>
            </a:r>
            <a:endParaRPr lang="en-US" sz="1500" dirty="0"/>
          </a:p>
        </p:txBody>
      </p:sp>
      <p:sp>
        <p:nvSpPr>
          <p:cNvPr id="7" name="c1_b1"/>
          <p:cNvSpPr/>
          <p:nvPr/>
        </p:nvSpPr>
        <p:spPr>
          <a:xfrm>
            <a:off x="4343400" y="1600200"/>
            <a:ext cx="3502152" cy="1920240"/>
          </a:xfrm>
          <a:prstGeom prst="roundRect">
            <a:avLst>
              <a:gd name="adj" fmla="val 5714"/>
            </a:avLst>
          </a:prstGeom>
          <a:solidFill>
            <a:schemeClr val="bg2"/>
          </a:solidFill>
          <a:ln w="12700">
            <a:solidFill>
              <a:schemeClr val="bg2"/>
            </a:solidFill>
            <a:prstDash val="solid"/>
          </a:ln>
        </p:spPr>
      </p:sp>
      <p:sp>
        <p:nvSpPr>
          <p:cNvPr id="8" name="c1_h1"/>
          <p:cNvSpPr txBox="1"/>
          <p:nvPr/>
        </p:nvSpPr>
        <p:spPr>
          <a:xfrm>
            <a:off x="4709160" y="2011680"/>
            <a:ext cx="2834640" cy="548640"/>
          </a:xfrm>
          <a:prstGeom prst="rect">
            <a:avLst/>
          </a:prstGeom>
          <a:noFill/>
          <a:ln/>
        </p:spPr>
        <p:txBody>
          <a:bodyPr wrap="square" lIns="0" tIns="0" rIns="0" bIns="0" rtlCol="0" anchor="t"/>
          <a:lstStyle/>
          <a:p>
            <a:pPr indent="0" marL="0">
              <a:buNone/>
            </a:pPr>
            <a:r>
              <a:rPr lang="en-US" sz="2400" b="1" dirty="0">
                <a:solidFill>
                  <a:schemeClr val="tx2"/>
                </a:solidFill>
              </a:rPr>
              <a:t>CSS</a:t>
            </a:r>
            <a:endParaRPr lang="en-US" sz="2400" dirty="0"/>
          </a:p>
        </p:txBody>
      </p:sp>
      <p:sp>
        <p:nvSpPr>
          <p:cNvPr id="9" name="c1_d1"/>
          <p:cNvSpPr txBox="1"/>
          <p:nvPr/>
        </p:nvSpPr>
        <p:spPr>
          <a:xfrm>
            <a:off x="4709160" y="2651760"/>
            <a:ext cx="2926080" cy="457200"/>
          </a:xfrm>
          <a:prstGeom prst="rect">
            <a:avLst/>
          </a:prstGeom>
          <a:noFill/>
          <a:ln/>
        </p:spPr>
        <p:txBody>
          <a:bodyPr wrap="square" lIns="0" tIns="0" rIns="0" bIns="0" rtlCol="0" anchor="t"/>
          <a:lstStyle/>
          <a:p>
            <a:pPr indent="0" marL="0">
              <a:buNone/>
            </a:pPr>
            <a:r>
              <a:rPr lang="en-US" sz="1500" dirty="0">
                <a:solidFill>
                  <a:schemeClr val="tx1"/>
                </a:solidFill>
              </a:rPr>
              <a:t>Mise en forme graphique</a:t>
            </a:r>
            <a:endParaRPr lang="en-US" sz="1500" dirty="0"/>
          </a:p>
        </p:txBody>
      </p:sp>
      <p:sp>
        <p:nvSpPr>
          <p:cNvPr id="10" name="c1_b2"/>
          <p:cNvSpPr/>
          <p:nvPr/>
        </p:nvSpPr>
        <p:spPr>
          <a:xfrm>
            <a:off x="8138160" y="1600200"/>
            <a:ext cx="3502152" cy="1920240"/>
          </a:xfrm>
          <a:prstGeom prst="roundRect">
            <a:avLst>
              <a:gd name="adj" fmla="val 5714"/>
            </a:avLst>
          </a:prstGeom>
          <a:solidFill>
            <a:schemeClr val="bg2"/>
          </a:solidFill>
          <a:ln w="12700">
            <a:solidFill>
              <a:schemeClr val="bg2"/>
            </a:solidFill>
            <a:prstDash val="solid"/>
          </a:ln>
        </p:spPr>
      </p:sp>
      <p:sp>
        <p:nvSpPr>
          <p:cNvPr id="11" name="c1_h2"/>
          <p:cNvSpPr txBox="1"/>
          <p:nvPr/>
        </p:nvSpPr>
        <p:spPr>
          <a:xfrm>
            <a:off x="8503920" y="2011680"/>
            <a:ext cx="2834640" cy="548640"/>
          </a:xfrm>
          <a:prstGeom prst="rect">
            <a:avLst/>
          </a:prstGeom>
          <a:noFill/>
          <a:ln/>
        </p:spPr>
        <p:txBody>
          <a:bodyPr wrap="square" lIns="0" tIns="0" rIns="0" bIns="0" rtlCol="0" anchor="t"/>
          <a:lstStyle/>
          <a:p>
            <a:pPr indent="0" marL="0">
              <a:buNone/>
            </a:pPr>
            <a:r>
              <a:rPr lang="en-US" sz="2400" b="1" dirty="0">
                <a:solidFill>
                  <a:schemeClr val="tx2"/>
                </a:solidFill>
              </a:rPr>
              <a:t>JavaScript</a:t>
            </a:r>
            <a:endParaRPr lang="en-US" sz="2400" dirty="0"/>
          </a:p>
        </p:txBody>
      </p:sp>
      <p:sp>
        <p:nvSpPr>
          <p:cNvPr id="12" name="c1_d2"/>
          <p:cNvSpPr txBox="1"/>
          <p:nvPr/>
        </p:nvSpPr>
        <p:spPr>
          <a:xfrm>
            <a:off x="8503920" y="2651760"/>
            <a:ext cx="2926080" cy="457200"/>
          </a:xfrm>
          <a:prstGeom prst="rect">
            <a:avLst/>
          </a:prstGeom>
          <a:noFill/>
          <a:ln/>
        </p:spPr>
        <p:txBody>
          <a:bodyPr wrap="square" lIns="0" tIns="0" rIns="0" bIns="0" rtlCol="0" anchor="t"/>
          <a:lstStyle/>
          <a:p>
            <a:pPr indent="0" marL="0">
              <a:buNone/>
            </a:pPr>
            <a:r>
              <a:rPr lang="en-US" sz="1500" dirty="0">
                <a:solidFill>
                  <a:schemeClr val="tx1"/>
                </a:solidFill>
              </a:rPr>
              <a:t>Interactivité du site</a:t>
            </a:r>
            <a:endParaRPr lang="en-US" sz="1500" dirty="0"/>
          </a:p>
        </p:txBody>
      </p:sp>
      <p:sp>
        <p:nvSpPr>
          <p:cNvPr id="13" name="c2_b3"/>
          <p:cNvSpPr/>
          <p:nvPr/>
        </p:nvSpPr>
        <p:spPr>
          <a:xfrm>
            <a:off x="548640" y="3794760"/>
            <a:ext cx="3502152" cy="1920240"/>
          </a:xfrm>
          <a:prstGeom prst="roundRect">
            <a:avLst>
              <a:gd name="adj" fmla="val 5714"/>
            </a:avLst>
          </a:prstGeom>
          <a:solidFill>
            <a:schemeClr val="bg2"/>
          </a:solidFill>
          <a:ln w="12700">
            <a:solidFill>
              <a:schemeClr val="bg2"/>
            </a:solidFill>
            <a:prstDash val="solid"/>
          </a:ln>
        </p:spPr>
      </p:sp>
      <p:sp>
        <p:nvSpPr>
          <p:cNvPr id="14" name="c2_h3"/>
          <p:cNvSpPr txBox="1"/>
          <p:nvPr/>
        </p:nvSpPr>
        <p:spPr>
          <a:xfrm>
            <a:off x="914400" y="4206240"/>
            <a:ext cx="2834640" cy="548640"/>
          </a:xfrm>
          <a:prstGeom prst="rect">
            <a:avLst/>
          </a:prstGeom>
          <a:noFill/>
          <a:ln/>
        </p:spPr>
        <p:txBody>
          <a:bodyPr wrap="square" lIns="0" tIns="0" rIns="0" bIns="0" rtlCol="0" anchor="t"/>
          <a:lstStyle/>
          <a:p>
            <a:pPr indent="0" marL="0">
              <a:buNone/>
            </a:pPr>
            <a:r>
              <a:rPr lang="en-US" sz="2400" b="1" dirty="0">
                <a:solidFill>
                  <a:schemeClr val="accent1"/>
                </a:solidFill>
              </a:rPr>
              <a:t>MERISE</a:t>
            </a:r>
            <a:endParaRPr lang="en-US" sz="2400" dirty="0"/>
          </a:p>
        </p:txBody>
      </p:sp>
      <p:sp>
        <p:nvSpPr>
          <p:cNvPr id="15" name="c2_d3"/>
          <p:cNvSpPr txBox="1"/>
          <p:nvPr/>
        </p:nvSpPr>
        <p:spPr>
          <a:xfrm>
            <a:off x="914400" y="4846320"/>
            <a:ext cx="2926080" cy="457200"/>
          </a:xfrm>
          <a:prstGeom prst="rect">
            <a:avLst/>
          </a:prstGeom>
          <a:noFill/>
          <a:ln/>
        </p:spPr>
        <p:txBody>
          <a:bodyPr wrap="square" lIns="0" tIns="0" rIns="0" bIns="0" rtlCol="0" anchor="t"/>
          <a:lstStyle/>
          <a:p>
            <a:pPr indent="0" marL="0">
              <a:buNone/>
            </a:pPr>
            <a:r>
              <a:rPr lang="en-US" sz="1500" dirty="0">
                <a:solidFill>
                  <a:schemeClr val="tx1"/>
                </a:solidFill>
              </a:rPr>
              <a:t>Méthode d'analyse retenue</a:t>
            </a:r>
            <a:endParaRPr lang="en-US" sz="1500" dirty="0"/>
          </a:p>
        </p:txBody>
      </p:sp>
      <p:sp>
        <p:nvSpPr>
          <p:cNvPr id="16" name="c2_b4"/>
          <p:cNvSpPr/>
          <p:nvPr/>
        </p:nvSpPr>
        <p:spPr>
          <a:xfrm>
            <a:off x="4343400" y="3794760"/>
            <a:ext cx="3502152" cy="1920240"/>
          </a:xfrm>
          <a:prstGeom prst="roundRect">
            <a:avLst>
              <a:gd name="adj" fmla="val 5714"/>
            </a:avLst>
          </a:prstGeom>
          <a:solidFill>
            <a:schemeClr val="bg2"/>
          </a:solidFill>
          <a:ln w="12700">
            <a:solidFill>
              <a:schemeClr val="bg2"/>
            </a:solidFill>
            <a:prstDash val="solid"/>
          </a:ln>
        </p:spPr>
      </p:sp>
      <p:sp>
        <p:nvSpPr>
          <p:cNvPr id="17" name="c2_h4"/>
          <p:cNvSpPr txBox="1"/>
          <p:nvPr/>
        </p:nvSpPr>
        <p:spPr>
          <a:xfrm>
            <a:off x="4709160" y="4206240"/>
            <a:ext cx="2834640" cy="548640"/>
          </a:xfrm>
          <a:prstGeom prst="rect">
            <a:avLst/>
          </a:prstGeom>
          <a:noFill/>
          <a:ln/>
        </p:spPr>
        <p:txBody>
          <a:bodyPr wrap="square" lIns="0" tIns="0" rIns="0" bIns="0" rtlCol="0" anchor="t"/>
          <a:lstStyle/>
          <a:p>
            <a:pPr indent="0" marL="0">
              <a:buNone/>
            </a:pPr>
            <a:r>
              <a:rPr lang="en-US" sz="2400" b="1" dirty="0">
                <a:solidFill>
                  <a:schemeClr val="accent1"/>
                </a:solidFill>
              </a:rPr>
              <a:t>MCD → MLD</a:t>
            </a:r>
            <a:endParaRPr lang="en-US" sz="2400" dirty="0"/>
          </a:p>
        </p:txBody>
      </p:sp>
      <p:sp>
        <p:nvSpPr>
          <p:cNvPr id="18" name="c2_d4"/>
          <p:cNvSpPr txBox="1"/>
          <p:nvPr/>
        </p:nvSpPr>
        <p:spPr>
          <a:xfrm>
            <a:off x="4709160" y="4846320"/>
            <a:ext cx="2926080" cy="457200"/>
          </a:xfrm>
          <a:prstGeom prst="rect">
            <a:avLst/>
          </a:prstGeom>
          <a:noFill/>
          <a:ln/>
        </p:spPr>
        <p:txBody>
          <a:bodyPr wrap="square" lIns="0" tIns="0" rIns="0" bIns="0" rtlCol="0" anchor="t"/>
          <a:lstStyle/>
          <a:p>
            <a:pPr indent="0" marL="0">
              <a:buNone/>
            </a:pPr>
            <a:r>
              <a:rPr lang="en-US" sz="1500" dirty="0">
                <a:solidFill>
                  <a:schemeClr val="tx1"/>
                </a:solidFill>
              </a:rPr>
              <a:t>Du modèle conceptuel au logique</a:t>
            </a:r>
            <a:endParaRPr lang="en-US" sz="1500" dirty="0"/>
          </a:p>
        </p:txBody>
      </p:sp>
      <p:sp>
        <p:nvSpPr>
          <p:cNvPr id="19" name="c2_b5"/>
          <p:cNvSpPr/>
          <p:nvPr/>
        </p:nvSpPr>
        <p:spPr>
          <a:xfrm>
            <a:off x="8138160" y="3794760"/>
            <a:ext cx="3502152" cy="1920240"/>
          </a:xfrm>
          <a:prstGeom prst="roundRect">
            <a:avLst>
              <a:gd name="adj" fmla="val 5714"/>
            </a:avLst>
          </a:prstGeom>
          <a:solidFill>
            <a:schemeClr val="bg2"/>
          </a:solidFill>
          <a:ln w="12700">
            <a:solidFill>
              <a:schemeClr val="bg2"/>
            </a:solidFill>
            <a:prstDash val="solid"/>
          </a:ln>
        </p:spPr>
      </p:sp>
      <p:sp>
        <p:nvSpPr>
          <p:cNvPr id="20" name="c2_h5"/>
          <p:cNvSpPr txBox="1"/>
          <p:nvPr/>
        </p:nvSpPr>
        <p:spPr>
          <a:xfrm>
            <a:off x="8503920" y="4206240"/>
            <a:ext cx="2834640" cy="548640"/>
          </a:xfrm>
          <a:prstGeom prst="rect">
            <a:avLst/>
          </a:prstGeom>
          <a:noFill/>
          <a:ln/>
        </p:spPr>
        <p:txBody>
          <a:bodyPr wrap="square" lIns="0" tIns="0" rIns="0" bIns="0" rtlCol="0" anchor="t"/>
          <a:lstStyle/>
          <a:p>
            <a:pPr indent="0" marL="0">
              <a:buNone/>
            </a:pPr>
            <a:r>
              <a:rPr lang="en-US" sz="2400" b="1" dirty="0">
                <a:solidFill>
                  <a:schemeClr val="accent1"/>
                </a:solidFill>
              </a:rPr>
              <a:t>3 tables</a:t>
            </a:r>
            <a:endParaRPr lang="en-US" sz="2400" dirty="0"/>
          </a:p>
        </p:txBody>
      </p:sp>
      <p:sp>
        <p:nvSpPr>
          <p:cNvPr id="21" name="c2_d5"/>
          <p:cNvSpPr txBox="1"/>
          <p:nvPr/>
        </p:nvSpPr>
        <p:spPr>
          <a:xfrm>
            <a:off x="8503920" y="4846320"/>
            <a:ext cx="2926080" cy="457200"/>
          </a:xfrm>
          <a:prstGeom prst="rect">
            <a:avLst/>
          </a:prstGeom>
          <a:noFill/>
          <a:ln/>
        </p:spPr>
        <p:txBody>
          <a:bodyPr wrap="square" lIns="0" tIns="0" rIns="0" bIns="0" rtlCol="0" anchor="t"/>
          <a:lstStyle/>
          <a:p>
            <a:pPr indent="0" marL="0">
              <a:buNone/>
            </a:pPr>
            <a:r>
              <a:rPr lang="en-US" sz="1500" dirty="0">
                <a:solidFill>
                  <a:schemeClr val="tx1"/>
                </a:solidFill>
              </a:rPr>
              <a:t>t_admin · t_devis · t_utilisateur</a:t>
            </a:r>
            <a:endParaRPr lang="en-US" sz="15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0278"/>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decel="100000" fill="hold"/>
                                        <p:tgtEl>
                                          <p:spTgt spid="10"/>
                                        </p:tgtEl>
                                        <p:attrNameLst>
                                          <p:attrName>ppt_x</p:attrName>
                                        </p:attrNameLst>
                                      </p:cBhvr>
                                      <p:tavLst>
                                        <p:tav tm="0">
                                          <p:val>
                                            <p:strVal val="#ppt_x"/>
                                          </p:val>
                                        </p:tav>
                                        <p:tav tm="100000">
                                          <p:val>
                                            <p:strVal val="#ppt_x"/>
                                          </p:val>
                                        </p:tav>
                                      </p:tavLst>
                                    </p:anim>
                                    <p:anim calcmode="lin" valueType="num">
                                      <p:cBhvr>
                                        <p:cTn id="46" dur="500" decel="100000" fill="hold"/>
                                        <p:tgtEl>
                                          <p:spTgt spid="10"/>
                                        </p:tgtEl>
                                        <p:attrNameLst>
                                          <p:attrName>ppt_y</p:attrName>
                                        </p:attrNameLst>
                                      </p:cBhvr>
                                      <p:tavLst>
                                        <p:tav tm="0">
                                          <p:val>
                                            <p:strVal val="#ppt_y+0.027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0278"/>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p:cTn id="55" dur="500" decel="100000" fill="hold"/>
                                        <p:tgtEl>
                                          <p:spTgt spid="12"/>
                                        </p:tgtEl>
                                        <p:attrNameLst>
                                          <p:attrName>ppt_x</p:attrName>
                                        </p:attrNameLst>
                                      </p:cBhvr>
                                      <p:tavLst>
                                        <p:tav tm="0">
                                          <p:val>
                                            <p:strVal val="#ppt_x"/>
                                          </p:val>
                                        </p:tav>
                                        <p:tav tm="100000">
                                          <p:val>
                                            <p:strVal val="#ppt_x"/>
                                          </p:val>
                                        </p:tav>
                                      </p:tavLst>
                                    </p:anim>
                                    <p:anim calcmode="lin" valueType="num">
                                      <p:cBhvr>
                                        <p:cTn id="56" dur="500" decel="100000" fill="hold"/>
                                        <p:tgtEl>
                                          <p:spTgt spid="12"/>
                                        </p:tgtEl>
                                        <p:attrNameLst>
                                          <p:attrName>ppt_y</p:attrName>
                                        </p:attrNameLst>
                                      </p:cBhvr>
                                      <p:tavLst>
                                        <p:tav tm="0">
                                          <p:val>
                                            <p:strVal val="#ppt_y+0.0278"/>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027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0278"/>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anim calcmode="lin" valueType="num">
                                      <p:cBhvr>
                                        <p:cTn id="77" dur="500" decel="100000" fill="hold"/>
                                        <p:tgtEl>
                                          <p:spTgt spid="16"/>
                                        </p:tgtEl>
                                        <p:attrNameLst>
                                          <p:attrName>ppt_x</p:attrName>
                                        </p:attrNameLst>
                                      </p:cBhvr>
                                      <p:tavLst>
                                        <p:tav tm="0">
                                          <p:val>
                                            <p:strVal val="#ppt_x"/>
                                          </p:val>
                                        </p:tav>
                                        <p:tav tm="100000">
                                          <p:val>
                                            <p:strVal val="#ppt_x"/>
                                          </p:val>
                                        </p:tav>
                                      </p:tavLst>
                                    </p:anim>
                                    <p:anim calcmode="lin" valueType="num">
                                      <p:cBhvr>
                                        <p:cTn id="78" dur="500" decel="100000" fill="hold"/>
                                        <p:tgtEl>
                                          <p:spTgt spid="16"/>
                                        </p:tgtEl>
                                        <p:attrNameLst>
                                          <p:attrName>ppt_y</p:attrName>
                                        </p:attrNameLst>
                                      </p:cBhvr>
                                      <p:tavLst>
                                        <p:tav tm="0">
                                          <p:val>
                                            <p:strVal val="#ppt_y+0.0278"/>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anim calcmode="lin" valueType="num">
                                      <p:cBhvr>
                                        <p:cTn id="82" dur="500" decel="100000" fill="hold"/>
                                        <p:tgtEl>
                                          <p:spTgt spid="17"/>
                                        </p:tgtEl>
                                        <p:attrNameLst>
                                          <p:attrName>ppt_x</p:attrName>
                                        </p:attrNameLst>
                                      </p:cBhvr>
                                      <p:tavLst>
                                        <p:tav tm="0">
                                          <p:val>
                                            <p:strVal val="#ppt_x"/>
                                          </p:val>
                                        </p:tav>
                                        <p:tav tm="100000">
                                          <p:val>
                                            <p:strVal val="#ppt_x"/>
                                          </p:val>
                                        </p:tav>
                                      </p:tavLst>
                                    </p:anim>
                                    <p:anim calcmode="lin" valueType="num">
                                      <p:cBhvr>
                                        <p:cTn id="83" dur="500" decel="100000" fill="hold"/>
                                        <p:tgtEl>
                                          <p:spTgt spid="17"/>
                                        </p:tgtEl>
                                        <p:attrNameLst>
                                          <p:attrName>ppt_y</p:attrName>
                                        </p:attrNameLst>
                                      </p:cBhvr>
                                      <p:tavLst>
                                        <p:tav tm="0">
                                          <p:val>
                                            <p:strVal val="#ppt_y+0.0278"/>
                                          </p:val>
                                        </p:tav>
                                        <p:tav tm="100000">
                                          <p:val>
                                            <p:strVal val="#ppt_y"/>
                                          </p:val>
                                        </p:tav>
                                      </p:tavLst>
                                    </p:anim>
                                  </p:childTnLst>
                                </p:cTn>
                              </p:par>
                              <p:par>
                                <p:cTn id="84" presetID="42" presetClass="entr" presetSubtype="0" fill="hold" grpId="0"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500"/>
                                        <p:tgtEl>
                                          <p:spTgt spid="18"/>
                                        </p:tgtEl>
                                      </p:cBhvr>
                                    </p:animEffect>
                                    <p:anim calcmode="lin" valueType="num">
                                      <p:cBhvr>
                                        <p:cTn id="87" dur="500" decel="100000" fill="hold"/>
                                        <p:tgtEl>
                                          <p:spTgt spid="18"/>
                                        </p:tgtEl>
                                        <p:attrNameLst>
                                          <p:attrName>ppt_x</p:attrName>
                                        </p:attrNameLst>
                                      </p:cBhvr>
                                      <p:tavLst>
                                        <p:tav tm="0">
                                          <p:val>
                                            <p:strVal val="#ppt_x"/>
                                          </p:val>
                                        </p:tav>
                                        <p:tav tm="100000">
                                          <p:val>
                                            <p:strVal val="#ppt_x"/>
                                          </p:val>
                                        </p:tav>
                                      </p:tavLst>
                                    </p:anim>
                                    <p:anim calcmode="lin" valueType="num">
                                      <p:cBhvr>
                                        <p:cTn id="88" dur="500" decel="100000" fill="hold"/>
                                        <p:tgtEl>
                                          <p:spTgt spid="18"/>
                                        </p:tgtEl>
                                        <p:attrNameLst>
                                          <p:attrName>ppt_y</p:attrName>
                                        </p:attrNameLst>
                                      </p:cBhvr>
                                      <p:tavLst>
                                        <p:tav tm="0">
                                          <p:val>
                                            <p:strVal val="#ppt_y+0.0278"/>
                                          </p:val>
                                        </p:tav>
                                        <p:tav tm="100000">
                                          <p:val>
                                            <p:strVal val="#ppt_y"/>
                                          </p:val>
                                        </p:tav>
                                      </p:tavLst>
                                    </p:anim>
                                  </p:childTnLst>
                                </p:cTn>
                              </p:par>
                              <p:par>
                                <p:cTn id="89" presetID="42" presetClass="entr" presetSubtype="0" fill="hold" grpId="0" nodeType="withEffect">
                                  <p:stCondLst>
                                    <p:cond delay="0"/>
                                  </p:stCondLst>
                                  <p:childTnLst>
                                    <p:set>
                                      <p:cBhvr>
                                        <p:cTn id="90" dur="1" fill="hold">
                                          <p:stCondLst>
                                            <p:cond delay="0"/>
                                          </p:stCondLst>
                                        </p:cTn>
                                        <p:tgtEl>
                                          <p:spTgt spid="19"/>
                                        </p:tgtEl>
                                        <p:attrNameLst>
                                          <p:attrName>style.visibility</p:attrName>
                                        </p:attrNameLst>
                                      </p:cBhvr>
                                      <p:to>
                                        <p:strVal val="visible"/>
                                      </p:to>
                                    </p:set>
                                    <p:animEffect transition="in" filter="fade">
                                      <p:cBhvr>
                                        <p:cTn id="91" dur="500"/>
                                        <p:tgtEl>
                                          <p:spTgt spid="19"/>
                                        </p:tgtEl>
                                      </p:cBhvr>
                                    </p:animEffect>
                                    <p:anim calcmode="lin" valueType="num">
                                      <p:cBhvr>
                                        <p:cTn id="92" dur="500" decel="100000" fill="hold"/>
                                        <p:tgtEl>
                                          <p:spTgt spid="19"/>
                                        </p:tgtEl>
                                        <p:attrNameLst>
                                          <p:attrName>ppt_x</p:attrName>
                                        </p:attrNameLst>
                                      </p:cBhvr>
                                      <p:tavLst>
                                        <p:tav tm="0">
                                          <p:val>
                                            <p:strVal val="#ppt_x"/>
                                          </p:val>
                                        </p:tav>
                                        <p:tav tm="100000">
                                          <p:val>
                                            <p:strVal val="#ppt_x"/>
                                          </p:val>
                                        </p:tav>
                                      </p:tavLst>
                                    </p:anim>
                                    <p:anim calcmode="lin" valueType="num">
                                      <p:cBhvr>
                                        <p:cTn id="93" dur="500" decel="100000" fill="hold"/>
                                        <p:tgtEl>
                                          <p:spTgt spid="19"/>
                                        </p:tgtEl>
                                        <p:attrNameLst>
                                          <p:attrName>ppt_y</p:attrName>
                                        </p:attrNameLst>
                                      </p:cBhvr>
                                      <p:tavLst>
                                        <p:tav tm="0">
                                          <p:val>
                                            <p:strVal val="#ppt_y+0.0278"/>
                                          </p:val>
                                        </p:tav>
                                        <p:tav tm="100000">
                                          <p:val>
                                            <p:strVal val="#ppt_y"/>
                                          </p:val>
                                        </p:tav>
                                      </p:tavLst>
                                    </p:anim>
                                  </p:childTnLst>
                                </p:cTn>
                              </p:par>
                              <p:par>
                                <p:cTn id="94" presetID="42" presetClass="entr" presetSubtype="0" fill="hold" grpId="0" nodeType="withEffect">
                                  <p:stCondLst>
                                    <p:cond delay="0"/>
                                  </p:stCondLst>
                                  <p:childTnLst>
                                    <p:set>
                                      <p:cBhvr>
                                        <p:cTn id="95" dur="1" fill="hold">
                                          <p:stCondLst>
                                            <p:cond delay="0"/>
                                          </p:stCondLst>
                                        </p:cTn>
                                        <p:tgtEl>
                                          <p:spTgt spid="20"/>
                                        </p:tgtEl>
                                        <p:attrNameLst>
                                          <p:attrName>style.visibility</p:attrName>
                                        </p:attrNameLst>
                                      </p:cBhvr>
                                      <p:to>
                                        <p:strVal val="visible"/>
                                      </p:to>
                                    </p:set>
                                    <p:animEffect transition="in" filter="fade">
                                      <p:cBhvr>
                                        <p:cTn id="96" dur="500"/>
                                        <p:tgtEl>
                                          <p:spTgt spid="20"/>
                                        </p:tgtEl>
                                      </p:cBhvr>
                                    </p:animEffect>
                                    <p:anim calcmode="lin" valueType="num">
                                      <p:cBhvr>
                                        <p:cTn id="97" dur="500" decel="100000" fill="hold"/>
                                        <p:tgtEl>
                                          <p:spTgt spid="20"/>
                                        </p:tgtEl>
                                        <p:attrNameLst>
                                          <p:attrName>ppt_x</p:attrName>
                                        </p:attrNameLst>
                                      </p:cBhvr>
                                      <p:tavLst>
                                        <p:tav tm="0">
                                          <p:val>
                                            <p:strVal val="#ppt_x"/>
                                          </p:val>
                                        </p:tav>
                                        <p:tav tm="100000">
                                          <p:val>
                                            <p:strVal val="#ppt_x"/>
                                          </p:val>
                                        </p:tav>
                                      </p:tavLst>
                                    </p:anim>
                                    <p:anim calcmode="lin" valueType="num">
                                      <p:cBhvr>
                                        <p:cTn id="98" dur="500" decel="100000" fill="hold"/>
                                        <p:tgtEl>
                                          <p:spTgt spid="20"/>
                                        </p:tgtEl>
                                        <p:attrNameLst>
                                          <p:attrName>ppt_y</p:attrName>
                                        </p:attrNameLst>
                                      </p:cBhvr>
                                      <p:tavLst>
                                        <p:tav tm="0">
                                          <p:val>
                                            <p:strVal val="#ppt_y+0.0278"/>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1"/>
                                        </p:tgtEl>
                                        <p:attrNameLst>
                                          <p:attrName>style.visibility</p:attrName>
                                        </p:attrNameLst>
                                      </p:cBhvr>
                                      <p:to>
                                        <p:strVal val="visible"/>
                                      </p:to>
                                    </p:set>
                                    <p:animEffect transition="in" filter="fade">
                                      <p:cBhvr>
                                        <p:cTn id="101" dur="500"/>
                                        <p:tgtEl>
                                          <p:spTgt spid="21"/>
                                        </p:tgtEl>
                                      </p:cBhvr>
                                    </p:animEffect>
                                    <p:anim calcmode="lin" valueType="num">
                                      <p:cBhvr>
                                        <p:cTn id="102" dur="500" decel="100000" fill="hold"/>
                                        <p:tgtEl>
                                          <p:spTgt spid="21"/>
                                        </p:tgtEl>
                                        <p:attrNameLst>
                                          <p:attrName>ppt_x</p:attrName>
                                        </p:attrNameLst>
                                      </p:cBhvr>
                                      <p:tavLst>
                                        <p:tav tm="0">
                                          <p:val>
                                            <p:strVal val="#ppt_x"/>
                                          </p:val>
                                        </p:tav>
                                        <p:tav tm="100000">
                                          <p:val>
                                            <p:strVal val="#ppt_x"/>
                                          </p:val>
                                        </p:tav>
                                      </p:tavLst>
                                    </p:anim>
                                    <p:anim calcmode="lin" valueType="num">
                                      <p:cBhvr>
                                        <p:cTn id="103" dur="500" decel="100000" fill="hold"/>
                                        <p:tgtEl>
                                          <p:spTgt spid="21"/>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animBg="1"/>
      <p:bldP spid="8" grpId="0"/>
      <p:bldP spid="9" grpId="0"/>
      <p:bldP spid="10" grpId="0" animBg="1"/>
      <p:bldP spid="11" grpId="0"/>
      <p:bldP spid="12" grpId="0"/>
      <p:bldP spid="13" grpId="0" animBg="1"/>
      <p:bldP spid="14" grpId="0"/>
      <p:bldP spid="15" grpId="0"/>
      <p:bldP spid="16" grpId="0" animBg="1"/>
      <p:bldP spid="17" grpId="0"/>
      <p:bldP spid="18" grpId="0"/>
      <p:bldP spid="19" grpId="0" animBg="1"/>
      <p:bldP spid="20" grpId="0"/>
      <p:bldP spid="21" grpId="0"/>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Logiciels de création</a:t>
            </a:r>
            <a:endParaRPr lang="en-US" sz="2800" dirty="0"/>
          </a:p>
        </p:txBody>
      </p:sp>
      <p:sp>
        <p:nvSpPr>
          <p:cNvPr id="4" name="c1_b0"/>
          <p:cNvSpPr/>
          <p:nvPr/>
        </p:nvSpPr>
        <p:spPr>
          <a:xfrm>
            <a:off x="548640" y="1600200"/>
            <a:ext cx="2075688" cy="3429000"/>
          </a:xfrm>
          <a:prstGeom prst="roundRect">
            <a:avLst>
              <a:gd name="adj" fmla="val 5286"/>
            </a:avLst>
          </a:prstGeom>
          <a:solidFill>
            <a:schemeClr val="bg2"/>
          </a:solidFill>
          <a:ln w="12700">
            <a:solidFill>
              <a:schemeClr val="bg2"/>
            </a:solidFill>
            <a:prstDash val="solid"/>
          </a:ln>
        </p:spPr>
      </p:sp>
      <p:sp>
        <p:nvSpPr>
          <p:cNvPr id="5" name="c1_sq0"/>
          <p:cNvSpPr/>
          <p:nvPr/>
        </p:nvSpPr>
        <p:spPr>
          <a:xfrm>
            <a:off x="822960" y="1874520"/>
            <a:ext cx="914400" cy="914400"/>
          </a:xfrm>
          <a:prstGeom prst="roundRect">
            <a:avLst>
              <a:gd name="adj" fmla="val 14000"/>
            </a:avLst>
          </a:prstGeom>
          <a:solidFill>
            <a:schemeClr val="tx1"/>
          </a:solidFill>
          <a:ln w="12700">
            <a:solidFill>
              <a:schemeClr val="tx1"/>
            </a:solidFill>
            <a:prstDash val="solid"/>
          </a:ln>
        </p:spPr>
      </p:sp>
      <p:sp>
        <p:nvSpPr>
          <p:cNvPr id="6" name="c1_ab0"/>
          <p:cNvSpPr txBox="1"/>
          <p:nvPr/>
        </p:nvSpPr>
        <p:spPr>
          <a:xfrm>
            <a:off x="822960" y="1874520"/>
            <a:ext cx="914400" cy="914400"/>
          </a:xfrm>
          <a:prstGeom prst="rect">
            <a:avLst/>
          </a:prstGeom>
          <a:noFill/>
          <a:ln/>
        </p:spPr>
        <p:txBody>
          <a:bodyPr wrap="square" lIns="0" tIns="0" rIns="0" bIns="0" rtlCol="0" anchor="ctr"/>
          <a:lstStyle/>
          <a:p>
            <a:pPr algn="ctr" indent="0" marL="0">
              <a:buNone/>
            </a:pPr>
            <a:r>
              <a:rPr lang="en-US" sz="2600" b="1" dirty="0">
                <a:solidFill>
                  <a:schemeClr val="bg1"/>
                </a:solidFill>
              </a:rPr>
              <a:t>Ai</a:t>
            </a:r>
            <a:endParaRPr lang="en-US" sz="2600" dirty="0"/>
          </a:p>
        </p:txBody>
      </p:sp>
      <p:sp>
        <p:nvSpPr>
          <p:cNvPr id="7" name="c1_n0"/>
          <p:cNvSpPr txBox="1"/>
          <p:nvPr/>
        </p:nvSpPr>
        <p:spPr>
          <a:xfrm>
            <a:off x="822960" y="3063240"/>
            <a:ext cx="1691640" cy="411480"/>
          </a:xfrm>
          <a:prstGeom prst="rect">
            <a:avLst/>
          </a:prstGeom>
          <a:noFill/>
          <a:ln/>
        </p:spPr>
        <p:txBody>
          <a:bodyPr wrap="square" lIns="0" tIns="0" rIns="0" bIns="0" rtlCol="0" anchor="t"/>
          <a:lstStyle/>
          <a:p>
            <a:pPr indent="0" marL="0">
              <a:buNone/>
            </a:pPr>
            <a:r>
              <a:rPr lang="en-US" sz="1600" b="1" dirty="0">
                <a:solidFill>
                  <a:schemeClr val="tx1"/>
                </a:solidFill>
              </a:rPr>
              <a:t>Illustrator</a:t>
            </a:r>
            <a:endParaRPr lang="en-US" sz="1600" dirty="0"/>
          </a:p>
        </p:txBody>
      </p:sp>
      <p:sp>
        <p:nvSpPr>
          <p:cNvPr id="8" name="c1_d0"/>
          <p:cNvSpPr txBox="1"/>
          <p:nvPr/>
        </p:nvSpPr>
        <p:spPr>
          <a:xfrm>
            <a:off x="822960" y="3520440"/>
            <a:ext cx="1645920" cy="868680"/>
          </a:xfrm>
          <a:prstGeom prst="rect">
            <a:avLst/>
          </a:prstGeom>
          <a:noFill/>
          <a:ln/>
        </p:spPr>
        <p:txBody>
          <a:bodyPr wrap="square" lIns="0" tIns="0" rIns="0" bIns="0" rtlCol="0" anchor="t"/>
          <a:lstStyle/>
          <a:p>
            <a:pPr indent="0" marL="0">
              <a:buNone/>
            </a:pPr>
            <a:r>
              <a:rPr lang="en-US" sz="1400" dirty="0">
                <a:solidFill>
                  <a:schemeClr val="accent4"/>
                </a:solidFill>
              </a:rPr>
              <a:t>Logo et supports vectoriels</a:t>
            </a:r>
            <a:endParaRPr lang="en-US" sz="1400" dirty="0"/>
          </a:p>
        </p:txBody>
      </p:sp>
      <p:sp>
        <p:nvSpPr>
          <p:cNvPr id="9" name="c1_b1"/>
          <p:cNvSpPr/>
          <p:nvPr/>
        </p:nvSpPr>
        <p:spPr>
          <a:xfrm>
            <a:off x="2807208" y="1600200"/>
            <a:ext cx="2075688" cy="3429000"/>
          </a:xfrm>
          <a:prstGeom prst="roundRect">
            <a:avLst>
              <a:gd name="adj" fmla="val 5286"/>
            </a:avLst>
          </a:prstGeom>
          <a:solidFill>
            <a:schemeClr val="bg2"/>
          </a:solidFill>
          <a:ln w="12700">
            <a:solidFill>
              <a:schemeClr val="bg2"/>
            </a:solidFill>
            <a:prstDash val="solid"/>
          </a:ln>
        </p:spPr>
      </p:sp>
      <p:sp>
        <p:nvSpPr>
          <p:cNvPr id="10" name="c1_sq1"/>
          <p:cNvSpPr/>
          <p:nvPr/>
        </p:nvSpPr>
        <p:spPr>
          <a:xfrm>
            <a:off x="3081528" y="1874520"/>
            <a:ext cx="914400" cy="914400"/>
          </a:xfrm>
          <a:prstGeom prst="roundRect">
            <a:avLst>
              <a:gd name="adj" fmla="val 14000"/>
            </a:avLst>
          </a:prstGeom>
          <a:solidFill>
            <a:schemeClr val="tx1"/>
          </a:solidFill>
          <a:ln w="12700">
            <a:solidFill>
              <a:schemeClr val="tx1"/>
            </a:solidFill>
            <a:prstDash val="solid"/>
          </a:ln>
        </p:spPr>
      </p:sp>
      <p:sp>
        <p:nvSpPr>
          <p:cNvPr id="11" name="c1_ab1"/>
          <p:cNvSpPr txBox="1"/>
          <p:nvPr/>
        </p:nvSpPr>
        <p:spPr>
          <a:xfrm>
            <a:off x="3081528" y="1874520"/>
            <a:ext cx="914400" cy="914400"/>
          </a:xfrm>
          <a:prstGeom prst="rect">
            <a:avLst/>
          </a:prstGeom>
          <a:noFill/>
          <a:ln/>
        </p:spPr>
        <p:txBody>
          <a:bodyPr wrap="square" lIns="0" tIns="0" rIns="0" bIns="0" rtlCol="0" anchor="ctr"/>
          <a:lstStyle/>
          <a:p>
            <a:pPr algn="ctr" indent="0" marL="0">
              <a:buNone/>
            </a:pPr>
            <a:r>
              <a:rPr lang="en-US" sz="2600" b="1" dirty="0">
                <a:solidFill>
                  <a:schemeClr val="bg1"/>
                </a:solidFill>
              </a:rPr>
              <a:t>Ps</a:t>
            </a:r>
            <a:endParaRPr lang="en-US" sz="2600" dirty="0"/>
          </a:p>
        </p:txBody>
      </p:sp>
      <p:sp>
        <p:nvSpPr>
          <p:cNvPr id="12" name="c1_n1"/>
          <p:cNvSpPr txBox="1"/>
          <p:nvPr/>
        </p:nvSpPr>
        <p:spPr>
          <a:xfrm>
            <a:off x="3081528" y="3063240"/>
            <a:ext cx="1691640" cy="411480"/>
          </a:xfrm>
          <a:prstGeom prst="rect">
            <a:avLst/>
          </a:prstGeom>
          <a:noFill/>
          <a:ln/>
        </p:spPr>
        <p:txBody>
          <a:bodyPr wrap="square" lIns="0" tIns="0" rIns="0" bIns="0" rtlCol="0" anchor="t"/>
          <a:lstStyle/>
          <a:p>
            <a:pPr indent="0" marL="0">
              <a:buNone/>
            </a:pPr>
            <a:r>
              <a:rPr lang="en-US" sz="1600" b="1" dirty="0">
                <a:solidFill>
                  <a:schemeClr val="tx1"/>
                </a:solidFill>
              </a:rPr>
              <a:t>Photoshop</a:t>
            </a:r>
            <a:endParaRPr lang="en-US" sz="1600" dirty="0"/>
          </a:p>
        </p:txBody>
      </p:sp>
      <p:sp>
        <p:nvSpPr>
          <p:cNvPr id="13" name="c1_d1"/>
          <p:cNvSpPr txBox="1"/>
          <p:nvPr/>
        </p:nvSpPr>
        <p:spPr>
          <a:xfrm>
            <a:off x="3081528" y="3520440"/>
            <a:ext cx="1645920" cy="868680"/>
          </a:xfrm>
          <a:prstGeom prst="rect">
            <a:avLst/>
          </a:prstGeom>
          <a:noFill/>
          <a:ln/>
        </p:spPr>
        <p:txBody>
          <a:bodyPr wrap="square" lIns="0" tIns="0" rIns="0" bIns="0" rtlCol="0" anchor="t"/>
          <a:lstStyle/>
          <a:p>
            <a:pPr indent="0" marL="0">
              <a:buNone/>
            </a:pPr>
            <a:r>
              <a:rPr lang="en-US" sz="1400" dirty="0">
                <a:solidFill>
                  <a:schemeClr val="accent4"/>
                </a:solidFill>
              </a:rPr>
              <a:t>Retouche et visuels</a:t>
            </a:r>
            <a:endParaRPr lang="en-US" sz="1400" dirty="0"/>
          </a:p>
        </p:txBody>
      </p:sp>
      <p:sp>
        <p:nvSpPr>
          <p:cNvPr id="14" name="c1_b2"/>
          <p:cNvSpPr/>
          <p:nvPr/>
        </p:nvSpPr>
        <p:spPr>
          <a:xfrm>
            <a:off x="5065776" y="1600200"/>
            <a:ext cx="2075688" cy="3429000"/>
          </a:xfrm>
          <a:prstGeom prst="roundRect">
            <a:avLst>
              <a:gd name="adj" fmla="val 5286"/>
            </a:avLst>
          </a:prstGeom>
          <a:solidFill>
            <a:schemeClr val="bg2"/>
          </a:solidFill>
          <a:ln w="12700">
            <a:solidFill>
              <a:schemeClr val="bg2"/>
            </a:solidFill>
            <a:prstDash val="solid"/>
          </a:ln>
        </p:spPr>
      </p:sp>
      <p:sp>
        <p:nvSpPr>
          <p:cNvPr id="15" name="c1_sq2"/>
          <p:cNvSpPr/>
          <p:nvPr/>
        </p:nvSpPr>
        <p:spPr>
          <a:xfrm>
            <a:off x="5340096" y="1874520"/>
            <a:ext cx="914400" cy="914400"/>
          </a:xfrm>
          <a:prstGeom prst="roundRect">
            <a:avLst>
              <a:gd name="adj" fmla="val 14000"/>
            </a:avLst>
          </a:prstGeom>
          <a:solidFill>
            <a:schemeClr val="tx1"/>
          </a:solidFill>
          <a:ln w="12700">
            <a:solidFill>
              <a:schemeClr val="tx1"/>
            </a:solidFill>
            <a:prstDash val="solid"/>
          </a:ln>
        </p:spPr>
      </p:sp>
      <p:sp>
        <p:nvSpPr>
          <p:cNvPr id="16" name="c1_ab2"/>
          <p:cNvSpPr txBox="1"/>
          <p:nvPr/>
        </p:nvSpPr>
        <p:spPr>
          <a:xfrm>
            <a:off x="5340096" y="1874520"/>
            <a:ext cx="914400" cy="914400"/>
          </a:xfrm>
          <a:prstGeom prst="rect">
            <a:avLst/>
          </a:prstGeom>
          <a:noFill/>
          <a:ln/>
        </p:spPr>
        <p:txBody>
          <a:bodyPr wrap="square" lIns="0" tIns="0" rIns="0" bIns="0" rtlCol="0" anchor="ctr"/>
          <a:lstStyle/>
          <a:p>
            <a:pPr algn="ctr" indent="0" marL="0">
              <a:buNone/>
            </a:pPr>
            <a:r>
              <a:rPr lang="en-US" sz="2600" b="1" dirty="0">
                <a:solidFill>
                  <a:schemeClr val="bg1"/>
                </a:solidFill>
              </a:rPr>
              <a:t>Ae</a:t>
            </a:r>
            <a:endParaRPr lang="en-US" sz="2600" dirty="0"/>
          </a:p>
        </p:txBody>
      </p:sp>
      <p:sp>
        <p:nvSpPr>
          <p:cNvPr id="17" name="c1_n2"/>
          <p:cNvSpPr txBox="1"/>
          <p:nvPr/>
        </p:nvSpPr>
        <p:spPr>
          <a:xfrm>
            <a:off x="5340096" y="3063240"/>
            <a:ext cx="1691640" cy="411480"/>
          </a:xfrm>
          <a:prstGeom prst="rect">
            <a:avLst/>
          </a:prstGeom>
          <a:noFill/>
          <a:ln/>
        </p:spPr>
        <p:txBody>
          <a:bodyPr wrap="square" lIns="0" tIns="0" rIns="0" bIns="0" rtlCol="0" anchor="t"/>
          <a:lstStyle/>
          <a:p>
            <a:pPr indent="0" marL="0">
              <a:buNone/>
            </a:pPr>
            <a:r>
              <a:rPr lang="en-US" sz="1600" b="1" dirty="0">
                <a:solidFill>
                  <a:schemeClr val="tx1"/>
                </a:solidFill>
              </a:rPr>
              <a:t>After Effects</a:t>
            </a:r>
            <a:endParaRPr lang="en-US" sz="1600" dirty="0"/>
          </a:p>
        </p:txBody>
      </p:sp>
      <p:sp>
        <p:nvSpPr>
          <p:cNvPr id="18" name="c1_d2"/>
          <p:cNvSpPr txBox="1"/>
          <p:nvPr/>
        </p:nvSpPr>
        <p:spPr>
          <a:xfrm>
            <a:off x="5340096" y="3520440"/>
            <a:ext cx="1645920" cy="868680"/>
          </a:xfrm>
          <a:prstGeom prst="rect">
            <a:avLst/>
          </a:prstGeom>
          <a:noFill/>
          <a:ln/>
        </p:spPr>
        <p:txBody>
          <a:bodyPr wrap="square" lIns="0" tIns="0" rIns="0" bIns="0" rtlCol="0" anchor="t"/>
          <a:lstStyle/>
          <a:p>
            <a:pPr indent="0" marL="0">
              <a:buNone/>
            </a:pPr>
            <a:r>
              <a:rPr lang="en-US" sz="1400" dirty="0">
                <a:solidFill>
                  <a:schemeClr val="accent4"/>
                </a:solidFill>
              </a:rPr>
              <a:t>Motion design 2D</a:t>
            </a:r>
            <a:endParaRPr lang="en-US" sz="1400" dirty="0"/>
          </a:p>
        </p:txBody>
      </p:sp>
      <p:sp>
        <p:nvSpPr>
          <p:cNvPr id="19" name="c1_b3"/>
          <p:cNvSpPr/>
          <p:nvPr/>
        </p:nvSpPr>
        <p:spPr>
          <a:xfrm>
            <a:off x="7324344" y="1600200"/>
            <a:ext cx="2075688" cy="3429000"/>
          </a:xfrm>
          <a:prstGeom prst="roundRect">
            <a:avLst>
              <a:gd name="adj" fmla="val 5286"/>
            </a:avLst>
          </a:prstGeom>
          <a:solidFill>
            <a:schemeClr val="bg2"/>
          </a:solidFill>
          <a:ln w="12700">
            <a:solidFill>
              <a:schemeClr val="bg2"/>
            </a:solidFill>
            <a:prstDash val="solid"/>
          </a:ln>
        </p:spPr>
      </p:sp>
      <p:sp>
        <p:nvSpPr>
          <p:cNvPr id="20" name="c1_sq3"/>
          <p:cNvSpPr/>
          <p:nvPr/>
        </p:nvSpPr>
        <p:spPr>
          <a:xfrm>
            <a:off x="7598664" y="1874520"/>
            <a:ext cx="914400" cy="914400"/>
          </a:xfrm>
          <a:prstGeom prst="roundRect">
            <a:avLst>
              <a:gd name="adj" fmla="val 14000"/>
            </a:avLst>
          </a:prstGeom>
          <a:solidFill>
            <a:schemeClr val="tx1"/>
          </a:solidFill>
          <a:ln w="12700">
            <a:solidFill>
              <a:schemeClr val="tx1"/>
            </a:solidFill>
            <a:prstDash val="solid"/>
          </a:ln>
        </p:spPr>
      </p:sp>
      <p:sp>
        <p:nvSpPr>
          <p:cNvPr id="21" name="c1_ab3"/>
          <p:cNvSpPr txBox="1"/>
          <p:nvPr/>
        </p:nvSpPr>
        <p:spPr>
          <a:xfrm>
            <a:off x="7598664" y="1874520"/>
            <a:ext cx="914400" cy="914400"/>
          </a:xfrm>
          <a:prstGeom prst="rect">
            <a:avLst/>
          </a:prstGeom>
          <a:noFill/>
          <a:ln/>
        </p:spPr>
        <p:txBody>
          <a:bodyPr wrap="square" lIns="0" tIns="0" rIns="0" bIns="0" rtlCol="0" anchor="ctr"/>
          <a:lstStyle/>
          <a:p>
            <a:pPr algn="ctr" indent="0" marL="0">
              <a:buNone/>
            </a:pPr>
            <a:r>
              <a:rPr lang="en-US" sz="2600" b="1" dirty="0">
                <a:solidFill>
                  <a:schemeClr val="bg1"/>
                </a:solidFill>
              </a:rPr>
              <a:t>Pr</a:t>
            </a:r>
            <a:endParaRPr lang="en-US" sz="2600" dirty="0"/>
          </a:p>
        </p:txBody>
      </p:sp>
      <p:sp>
        <p:nvSpPr>
          <p:cNvPr id="22" name="c1_n3"/>
          <p:cNvSpPr txBox="1"/>
          <p:nvPr/>
        </p:nvSpPr>
        <p:spPr>
          <a:xfrm>
            <a:off x="7598664" y="3063240"/>
            <a:ext cx="1691640" cy="411480"/>
          </a:xfrm>
          <a:prstGeom prst="rect">
            <a:avLst/>
          </a:prstGeom>
          <a:noFill/>
          <a:ln/>
        </p:spPr>
        <p:txBody>
          <a:bodyPr wrap="square" lIns="0" tIns="0" rIns="0" bIns="0" rtlCol="0" anchor="t"/>
          <a:lstStyle/>
          <a:p>
            <a:pPr indent="0" marL="0">
              <a:buNone/>
            </a:pPr>
            <a:r>
              <a:rPr lang="en-US" sz="1600" b="1" dirty="0">
                <a:solidFill>
                  <a:schemeClr val="tx1"/>
                </a:solidFill>
              </a:rPr>
              <a:t>Premiere Pro</a:t>
            </a:r>
            <a:endParaRPr lang="en-US" sz="1600" dirty="0"/>
          </a:p>
        </p:txBody>
      </p:sp>
      <p:sp>
        <p:nvSpPr>
          <p:cNvPr id="23" name="c1_d3"/>
          <p:cNvSpPr txBox="1"/>
          <p:nvPr/>
        </p:nvSpPr>
        <p:spPr>
          <a:xfrm>
            <a:off x="7598664" y="3520440"/>
            <a:ext cx="1645920" cy="868680"/>
          </a:xfrm>
          <a:prstGeom prst="rect">
            <a:avLst/>
          </a:prstGeom>
          <a:noFill/>
          <a:ln/>
        </p:spPr>
        <p:txBody>
          <a:bodyPr wrap="square" lIns="0" tIns="0" rIns="0" bIns="0" rtlCol="0" anchor="t"/>
          <a:lstStyle/>
          <a:p>
            <a:pPr indent="0" marL="0">
              <a:buNone/>
            </a:pPr>
            <a:r>
              <a:rPr lang="en-US" sz="1400" dirty="0">
                <a:solidFill>
                  <a:schemeClr val="accent4"/>
                </a:solidFill>
              </a:rPr>
              <a:t>Montage des spots</a:t>
            </a:r>
            <a:endParaRPr lang="en-US" sz="1400" dirty="0"/>
          </a:p>
        </p:txBody>
      </p:sp>
      <p:sp>
        <p:nvSpPr>
          <p:cNvPr id="24" name="c1_b4"/>
          <p:cNvSpPr/>
          <p:nvPr/>
        </p:nvSpPr>
        <p:spPr>
          <a:xfrm>
            <a:off x="9582912" y="1600200"/>
            <a:ext cx="2075688" cy="3429000"/>
          </a:xfrm>
          <a:prstGeom prst="roundRect">
            <a:avLst>
              <a:gd name="adj" fmla="val 5286"/>
            </a:avLst>
          </a:prstGeom>
          <a:solidFill>
            <a:schemeClr val="bg2"/>
          </a:solidFill>
          <a:ln w="12700">
            <a:solidFill>
              <a:schemeClr val="bg2"/>
            </a:solidFill>
            <a:prstDash val="solid"/>
          </a:ln>
        </p:spPr>
      </p:sp>
      <p:sp>
        <p:nvSpPr>
          <p:cNvPr id="25" name="c1_sq4"/>
          <p:cNvSpPr/>
          <p:nvPr/>
        </p:nvSpPr>
        <p:spPr>
          <a:xfrm>
            <a:off x="9857232" y="1874520"/>
            <a:ext cx="914400" cy="914400"/>
          </a:xfrm>
          <a:prstGeom prst="roundRect">
            <a:avLst>
              <a:gd name="adj" fmla="val 14000"/>
            </a:avLst>
          </a:prstGeom>
          <a:solidFill>
            <a:schemeClr val="tx1"/>
          </a:solidFill>
          <a:ln w="12700">
            <a:solidFill>
              <a:schemeClr val="tx1"/>
            </a:solidFill>
            <a:prstDash val="solid"/>
          </a:ln>
        </p:spPr>
      </p:sp>
      <p:sp>
        <p:nvSpPr>
          <p:cNvPr id="26" name="c1_ab4"/>
          <p:cNvSpPr txBox="1"/>
          <p:nvPr/>
        </p:nvSpPr>
        <p:spPr>
          <a:xfrm>
            <a:off x="9857232" y="1874520"/>
            <a:ext cx="914400" cy="914400"/>
          </a:xfrm>
          <a:prstGeom prst="rect">
            <a:avLst/>
          </a:prstGeom>
          <a:noFill/>
          <a:ln/>
        </p:spPr>
        <p:txBody>
          <a:bodyPr wrap="square" lIns="0" tIns="0" rIns="0" bIns="0" rtlCol="0" anchor="ctr"/>
          <a:lstStyle/>
          <a:p>
            <a:pPr algn="ctr" indent="0" marL="0">
              <a:buNone/>
            </a:pPr>
            <a:r>
              <a:rPr lang="en-US" sz="2600" b="1" dirty="0">
                <a:solidFill>
                  <a:schemeClr val="bg1"/>
                </a:solidFill>
              </a:rPr>
              <a:t>Dw</a:t>
            </a:r>
            <a:endParaRPr lang="en-US" sz="2600" dirty="0"/>
          </a:p>
        </p:txBody>
      </p:sp>
      <p:sp>
        <p:nvSpPr>
          <p:cNvPr id="27" name="c1_n4"/>
          <p:cNvSpPr txBox="1"/>
          <p:nvPr/>
        </p:nvSpPr>
        <p:spPr>
          <a:xfrm>
            <a:off x="9857232" y="3063240"/>
            <a:ext cx="1691640" cy="411480"/>
          </a:xfrm>
          <a:prstGeom prst="rect">
            <a:avLst/>
          </a:prstGeom>
          <a:noFill/>
          <a:ln/>
        </p:spPr>
        <p:txBody>
          <a:bodyPr wrap="square" lIns="0" tIns="0" rIns="0" bIns="0" rtlCol="0" anchor="t"/>
          <a:lstStyle/>
          <a:p>
            <a:pPr indent="0" marL="0">
              <a:buNone/>
            </a:pPr>
            <a:r>
              <a:rPr lang="en-US" sz="1600" b="1" dirty="0">
                <a:solidFill>
                  <a:schemeClr val="tx1"/>
                </a:solidFill>
              </a:rPr>
              <a:t>Dreamweaver</a:t>
            </a:r>
            <a:endParaRPr lang="en-US" sz="1600" dirty="0"/>
          </a:p>
        </p:txBody>
      </p:sp>
      <p:sp>
        <p:nvSpPr>
          <p:cNvPr id="28" name="c1_d4"/>
          <p:cNvSpPr txBox="1"/>
          <p:nvPr/>
        </p:nvSpPr>
        <p:spPr>
          <a:xfrm>
            <a:off x="9857232" y="3520440"/>
            <a:ext cx="1645920" cy="868680"/>
          </a:xfrm>
          <a:prstGeom prst="rect">
            <a:avLst/>
          </a:prstGeom>
          <a:noFill/>
          <a:ln/>
        </p:spPr>
        <p:txBody>
          <a:bodyPr wrap="square" lIns="0" tIns="0" rIns="0" bIns="0" rtlCol="0" anchor="t"/>
          <a:lstStyle/>
          <a:p>
            <a:pPr indent="0" marL="0">
              <a:buNone/>
            </a:pPr>
            <a:r>
              <a:rPr lang="en-US" sz="1400" dirty="0">
                <a:solidFill>
                  <a:schemeClr val="accent4"/>
                </a:solidFill>
              </a:rPr>
              <a:t>Développement du site</a:t>
            </a:r>
            <a:endParaRPr lang="en-US" sz="1400" dirty="0"/>
          </a:p>
        </p:txBody>
      </p:sp>
      <p:sp>
        <p:nvSpPr>
          <p:cNvPr id="29" name="c2_3d"/>
          <p:cNvSpPr txBox="1"/>
          <p:nvPr/>
        </p:nvSpPr>
        <p:spPr>
          <a:xfrm>
            <a:off x="548640" y="5349240"/>
            <a:ext cx="11091672" cy="411480"/>
          </a:xfrm>
          <a:prstGeom prst="rect">
            <a:avLst/>
          </a:prstGeom>
          <a:noFill/>
          <a:ln/>
        </p:spPr>
        <p:txBody>
          <a:bodyPr wrap="square" lIns="0" tIns="0" rIns="0" bIns="0" rtlCol="0" anchor="t"/>
          <a:lstStyle/>
          <a:p>
            <a:pPr indent="0" marL="0">
              <a:buNone/>
            </a:pPr>
            <a:r>
              <a:rPr lang="en-US" sz="1500" dirty="0">
                <a:solidFill>
                  <a:schemeClr val="tx1"/>
                </a:solidFill>
              </a:rPr>
              <a:t>Spot 3D : modélisation sous Blender, montage Premiere Pro, rendu Twinmotion</a:t>
            </a:r>
            <a:endParaRPr lang="en-US" sz="15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0278"/>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fade">
                                      <p:cBhvr>
                                        <p:cTn id="44" dur="500"/>
                                        <p:tgtEl>
                                          <p:spTgt spid="10"/>
                                        </p:tgtEl>
                                      </p:cBhvr>
                                    </p:animEffect>
                                    <p:anim calcmode="lin" valueType="num">
                                      <p:cBhvr>
                                        <p:cTn id="45" dur="500" decel="100000" fill="hold"/>
                                        <p:tgtEl>
                                          <p:spTgt spid="10"/>
                                        </p:tgtEl>
                                        <p:attrNameLst>
                                          <p:attrName>ppt_x</p:attrName>
                                        </p:attrNameLst>
                                      </p:cBhvr>
                                      <p:tavLst>
                                        <p:tav tm="0">
                                          <p:val>
                                            <p:strVal val="#ppt_x"/>
                                          </p:val>
                                        </p:tav>
                                        <p:tav tm="100000">
                                          <p:val>
                                            <p:strVal val="#ppt_x"/>
                                          </p:val>
                                        </p:tav>
                                      </p:tavLst>
                                    </p:anim>
                                    <p:anim calcmode="lin" valueType="num">
                                      <p:cBhvr>
                                        <p:cTn id="46" dur="500" decel="100000" fill="hold"/>
                                        <p:tgtEl>
                                          <p:spTgt spid="10"/>
                                        </p:tgtEl>
                                        <p:attrNameLst>
                                          <p:attrName>ppt_y</p:attrName>
                                        </p:attrNameLst>
                                      </p:cBhvr>
                                      <p:tavLst>
                                        <p:tav tm="0">
                                          <p:val>
                                            <p:strVal val="#ppt_y+0.0278"/>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anim calcmode="lin" valueType="num">
                                      <p:cBhvr>
                                        <p:cTn id="50" dur="500" decel="100000" fill="hold"/>
                                        <p:tgtEl>
                                          <p:spTgt spid="11"/>
                                        </p:tgtEl>
                                        <p:attrNameLst>
                                          <p:attrName>ppt_x</p:attrName>
                                        </p:attrNameLst>
                                      </p:cBhvr>
                                      <p:tavLst>
                                        <p:tav tm="0">
                                          <p:val>
                                            <p:strVal val="#ppt_x"/>
                                          </p:val>
                                        </p:tav>
                                        <p:tav tm="100000">
                                          <p:val>
                                            <p:strVal val="#ppt_x"/>
                                          </p:val>
                                        </p:tav>
                                      </p:tavLst>
                                    </p:anim>
                                    <p:anim calcmode="lin" valueType="num">
                                      <p:cBhvr>
                                        <p:cTn id="51" dur="500" decel="100000" fill="hold"/>
                                        <p:tgtEl>
                                          <p:spTgt spid="11"/>
                                        </p:tgtEl>
                                        <p:attrNameLst>
                                          <p:attrName>ppt_y</p:attrName>
                                        </p:attrNameLst>
                                      </p:cBhvr>
                                      <p:tavLst>
                                        <p:tav tm="0">
                                          <p:val>
                                            <p:strVal val="#ppt_y+0.0278"/>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fade">
                                      <p:cBhvr>
                                        <p:cTn id="54" dur="500"/>
                                        <p:tgtEl>
                                          <p:spTgt spid="12"/>
                                        </p:tgtEl>
                                      </p:cBhvr>
                                    </p:animEffect>
                                    <p:anim calcmode="lin" valueType="num">
                                      <p:cBhvr>
                                        <p:cTn id="55" dur="500" decel="100000" fill="hold"/>
                                        <p:tgtEl>
                                          <p:spTgt spid="12"/>
                                        </p:tgtEl>
                                        <p:attrNameLst>
                                          <p:attrName>ppt_x</p:attrName>
                                        </p:attrNameLst>
                                      </p:cBhvr>
                                      <p:tavLst>
                                        <p:tav tm="0">
                                          <p:val>
                                            <p:strVal val="#ppt_x"/>
                                          </p:val>
                                        </p:tav>
                                        <p:tav tm="100000">
                                          <p:val>
                                            <p:strVal val="#ppt_x"/>
                                          </p:val>
                                        </p:tav>
                                      </p:tavLst>
                                    </p:anim>
                                    <p:anim calcmode="lin" valueType="num">
                                      <p:cBhvr>
                                        <p:cTn id="56" dur="500" decel="100000" fill="hold"/>
                                        <p:tgtEl>
                                          <p:spTgt spid="12"/>
                                        </p:tgtEl>
                                        <p:attrNameLst>
                                          <p:attrName>ppt_y</p:attrName>
                                        </p:attrNameLst>
                                      </p:cBhvr>
                                      <p:tavLst>
                                        <p:tav tm="0">
                                          <p:val>
                                            <p:strVal val="#ppt_y+0.0278"/>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fade">
                                      <p:cBhvr>
                                        <p:cTn id="59" dur="500"/>
                                        <p:tgtEl>
                                          <p:spTgt spid="13"/>
                                        </p:tgtEl>
                                      </p:cBhvr>
                                    </p:animEffect>
                                    <p:anim calcmode="lin" valueType="num">
                                      <p:cBhvr>
                                        <p:cTn id="60" dur="500" decel="100000" fill="hold"/>
                                        <p:tgtEl>
                                          <p:spTgt spid="13"/>
                                        </p:tgtEl>
                                        <p:attrNameLst>
                                          <p:attrName>ppt_x</p:attrName>
                                        </p:attrNameLst>
                                      </p:cBhvr>
                                      <p:tavLst>
                                        <p:tav tm="0">
                                          <p:val>
                                            <p:strVal val="#ppt_x"/>
                                          </p:val>
                                        </p:tav>
                                        <p:tav tm="100000">
                                          <p:val>
                                            <p:strVal val="#ppt_x"/>
                                          </p:val>
                                        </p:tav>
                                      </p:tavLst>
                                    </p:anim>
                                    <p:anim calcmode="lin" valueType="num">
                                      <p:cBhvr>
                                        <p:cTn id="61" dur="500" decel="100000" fill="hold"/>
                                        <p:tgtEl>
                                          <p:spTgt spid="13"/>
                                        </p:tgtEl>
                                        <p:attrNameLst>
                                          <p:attrName>ppt_y</p:attrName>
                                        </p:attrNameLst>
                                      </p:cBhvr>
                                      <p:tavLst>
                                        <p:tav tm="0">
                                          <p:val>
                                            <p:strVal val="#ppt_y+0.0278"/>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4"/>
                                        </p:tgtEl>
                                        <p:attrNameLst>
                                          <p:attrName>style.visibility</p:attrName>
                                        </p:attrNameLst>
                                      </p:cBhvr>
                                      <p:to>
                                        <p:strVal val="visible"/>
                                      </p:to>
                                    </p:set>
                                    <p:animEffect transition="in" filter="fade">
                                      <p:cBhvr>
                                        <p:cTn id="64" dur="500"/>
                                        <p:tgtEl>
                                          <p:spTgt spid="14"/>
                                        </p:tgtEl>
                                      </p:cBhvr>
                                    </p:animEffect>
                                    <p:anim calcmode="lin" valueType="num">
                                      <p:cBhvr>
                                        <p:cTn id="65" dur="500" decel="100000" fill="hold"/>
                                        <p:tgtEl>
                                          <p:spTgt spid="14"/>
                                        </p:tgtEl>
                                        <p:attrNameLst>
                                          <p:attrName>ppt_x</p:attrName>
                                        </p:attrNameLst>
                                      </p:cBhvr>
                                      <p:tavLst>
                                        <p:tav tm="0">
                                          <p:val>
                                            <p:strVal val="#ppt_x"/>
                                          </p:val>
                                        </p:tav>
                                        <p:tav tm="100000">
                                          <p:val>
                                            <p:strVal val="#ppt_x"/>
                                          </p:val>
                                        </p:tav>
                                      </p:tavLst>
                                    </p:anim>
                                    <p:anim calcmode="lin" valueType="num">
                                      <p:cBhvr>
                                        <p:cTn id="66" dur="500" decel="100000" fill="hold"/>
                                        <p:tgtEl>
                                          <p:spTgt spid="14"/>
                                        </p:tgtEl>
                                        <p:attrNameLst>
                                          <p:attrName>ppt_y</p:attrName>
                                        </p:attrNameLst>
                                      </p:cBhvr>
                                      <p:tavLst>
                                        <p:tav tm="0">
                                          <p:val>
                                            <p:strVal val="#ppt_y+0.0278"/>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500"/>
                                        <p:tgtEl>
                                          <p:spTgt spid="15"/>
                                        </p:tgtEl>
                                      </p:cBhvr>
                                    </p:animEffect>
                                    <p:anim calcmode="lin" valueType="num">
                                      <p:cBhvr>
                                        <p:cTn id="70" dur="500" decel="100000" fill="hold"/>
                                        <p:tgtEl>
                                          <p:spTgt spid="15"/>
                                        </p:tgtEl>
                                        <p:attrNameLst>
                                          <p:attrName>ppt_x</p:attrName>
                                        </p:attrNameLst>
                                      </p:cBhvr>
                                      <p:tavLst>
                                        <p:tav tm="0">
                                          <p:val>
                                            <p:strVal val="#ppt_x"/>
                                          </p:val>
                                        </p:tav>
                                        <p:tav tm="100000">
                                          <p:val>
                                            <p:strVal val="#ppt_x"/>
                                          </p:val>
                                        </p:tav>
                                      </p:tavLst>
                                    </p:anim>
                                    <p:anim calcmode="lin" valueType="num">
                                      <p:cBhvr>
                                        <p:cTn id="71" dur="500" decel="100000" fill="hold"/>
                                        <p:tgtEl>
                                          <p:spTgt spid="15"/>
                                        </p:tgtEl>
                                        <p:attrNameLst>
                                          <p:attrName>ppt_y</p:attrName>
                                        </p:attrNameLst>
                                      </p:cBhvr>
                                      <p:tavLst>
                                        <p:tav tm="0">
                                          <p:val>
                                            <p:strVal val="#ppt_y+0.0278"/>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16"/>
                                        </p:tgtEl>
                                        <p:attrNameLst>
                                          <p:attrName>style.visibility</p:attrName>
                                        </p:attrNameLst>
                                      </p:cBhvr>
                                      <p:to>
                                        <p:strVal val="visible"/>
                                      </p:to>
                                    </p:set>
                                    <p:animEffect transition="in" filter="fade">
                                      <p:cBhvr>
                                        <p:cTn id="74" dur="500"/>
                                        <p:tgtEl>
                                          <p:spTgt spid="16"/>
                                        </p:tgtEl>
                                      </p:cBhvr>
                                    </p:animEffect>
                                    <p:anim calcmode="lin" valueType="num">
                                      <p:cBhvr>
                                        <p:cTn id="75" dur="500" decel="100000" fill="hold"/>
                                        <p:tgtEl>
                                          <p:spTgt spid="16"/>
                                        </p:tgtEl>
                                        <p:attrNameLst>
                                          <p:attrName>ppt_x</p:attrName>
                                        </p:attrNameLst>
                                      </p:cBhvr>
                                      <p:tavLst>
                                        <p:tav tm="0">
                                          <p:val>
                                            <p:strVal val="#ppt_x"/>
                                          </p:val>
                                        </p:tav>
                                        <p:tav tm="100000">
                                          <p:val>
                                            <p:strVal val="#ppt_x"/>
                                          </p:val>
                                        </p:tav>
                                      </p:tavLst>
                                    </p:anim>
                                    <p:anim calcmode="lin" valueType="num">
                                      <p:cBhvr>
                                        <p:cTn id="76" dur="500" decel="100000" fill="hold"/>
                                        <p:tgtEl>
                                          <p:spTgt spid="16"/>
                                        </p:tgtEl>
                                        <p:attrNameLst>
                                          <p:attrName>ppt_y</p:attrName>
                                        </p:attrNameLst>
                                      </p:cBhvr>
                                      <p:tavLst>
                                        <p:tav tm="0">
                                          <p:val>
                                            <p:strVal val="#ppt_y+0.0278"/>
                                          </p:val>
                                        </p:tav>
                                        <p:tav tm="100000">
                                          <p:val>
                                            <p:strVal val="#ppt_y"/>
                                          </p:val>
                                        </p:tav>
                                      </p:tavLst>
                                    </p:anim>
                                  </p:childTnLst>
                                </p:cTn>
                              </p:par>
                              <p:par>
                                <p:cTn id="77" presetID="42" presetClass="entr" presetSubtype="0" fill="hold" grpId="0" nodeType="withEffect">
                                  <p:stCondLst>
                                    <p:cond delay="0"/>
                                  </p:stCondLst>
                                  <p:childTnLst>
                                    <p:set>
                                      <p:cBhvr>
                                        <p:cTn id="78" dur="1" fill="hold">
                                          <p:stCondLst>
                                            <p:cond delay="0"/>
                                          </p:stCondLst>
                                        </p:cTn>
                                        <p:tgtEl>
                                          <p:spTgt spid="17"/>
                                        </p:tgtEl>
                                        <p:attrNameLst>
                                          <p:attrName>style.visibility</p:attrName>
                                        </p:attrNameLst>
                                      </p:cBhvr>
                                      <p:to>
                                        <p:strVal val="visible"/>
                                      </p:to>
                                    </p:set>
                                    <p:animEffect transition="in" filter="fade">
                                      <p:cBhvr>
                                        <p:cTn id="79" dur="500"/>
                                        <p:tgtEl>
                                          <p:spTgt spid="17"/>
                                        </p:tgtEl>
                                      </p:cBhvr>
                                    </p:animEffect>
                                    <p:anim calcmode="lin" valueType="num">
                                      <p:cBhvr>
                                        <p:cTn id="80" dur="500" decel="100000" fill="hold"/>
                                        <p:tgtEl>
                                          <p:spTgt spid="17"/>
                                        </p:tgtEl>
                                        <p:attrNameLst>
                                          <p:attrName>ppt_x</p:attrName>
                                        </p:attrNameLst>
                                      </p:cBhvr>
                                      <p:tavLst>
                                        <p:tav tm="0">
                                          <p:val>
                                            <p:strVal val="#ppt_x"/>
                                          </p:val>
                                        </p:tav>
                                        <p:tav tm="100000">
                                          <p:val>
                                            <p:strVal val="#ppt_x"/>
                                          </p:val>
                                        </p:tav>
                                      </p:tavLst>
                                    </p:anim>
                                    <p:anim calcmode="lin" valueType="num">
                                      <p:cBhvr>
                                        <p:cTn id="81" dur="500" decel="100000" fill="hold"/>
                                        <p:tgtEl>
                                          <p:spTgt spid="17"/>
                                        </p:tgtEl>
                                        <p:attrNameLst>
                                          <p:attrName>ppt_y</p:attrName>
                                        </p:attrNameLst>
                                      </p:cBhvr>
                                      <p:tavLst>
                                        <p:tav tm="0">
                                          <p:val>
                                            <p:strVal val="#ppt_y+0.0278"/>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18"/>
                                        </p:tgtEl>
                                        <p:attrNameLst>
                                          <p:attrName>style.visibility</p:attrName>
                                        </p:attrNameLst>
                                      </p:cBhvr>
                                      <p:to>
                                        <p:strVal val="visible"/>
                                      </p:to>
                                    </p:set>
                                    <p:animEffect transition="in" filter="fade">
                                      <p:cBhvr>
                                        <p:cTn id="84" dur="500"/>
                                        <p:tgtEl>
                                          <p:spTgt spid="18"/>
                                        </p:tgtEl>
                                      </p:cBhvr>
                                    </p:animEffect>
                                    <p:anim calcmode="lin" valueType="num">
                                      <p:cBhvr>
                                        <p:cTn id="85" dur="500" decel="100000" fill="hold"/>
                                        <p:tgtEl>
                                          <p:spTgt spid="18"/>
                                        </p:tgtEl>
                                        <p:attrNameLst>
                                          <p:attrName>ppt_x</p:attrName>
                                        </p:attrNameLst>
                                      </p:cBhvr>
                                      <p:tavLst>
                                        <p:tav tm="0">
                                          <p:val>
                                            <p:strVal val="#ppt_x"/>
                                          </p:val>
                                        </p:tav>
                                        <p:tav tm="100000">
                                          <p:val>
                                            <p:strVal val="#ppt_x"/>
                                          </p:val>
                                        </p:tav>
                                      </p:tavLst>
                                    </p:anim>
                                    <p:anim calcmode="lin" valueType="num">
                                      <p:cBhvr>
                                        <p:cTn id="86" dur="500" decel="100000" fill="hold"/>
                                        <p:tgtEl>
                                          <p:spTgt spid="18"/>
                                        </p:tgtEl>
                                        <p:attrNameLst>
                                          <p:attrName>ppt_y</p:attrName>
                                        </p:attrNameLst>
                                      </p:cBhvr>
                                      <p:tavLst>
                                        <p:tav tm="0">
                                          <p:val>
                                            <p:strVal val="#ppt_y+0.0278"/>
                                          </p:val>
                                        </p:tav>
                                        <p:tav tm="100000">
                                          <p:val>
                                            <p:strVal val="#ppt_y"/>
                                          </p:val>
                                        </p:tav>
                                      </p:tavLst>
                                    </p:anim>
                                  </p:childTnLst>
                                </p:cTn>
                              </p:par>
                              <p:par>
                                <p:cTn id="87" presetID="42" presetClass="entr" presetSubtype="0" fill="hold" grpId="0" nodeType="withEffect">
                                  <p:stCondLst>
                                    <p:cond delay="0"/>
                                  </p:stCondLst>
                                  <p:childTnLst>
                                    <p:set>
                                      <p:cBhvr>
                                        <p:cTn id="88" dur="1" fill="hold">
                                          <p:stCondLst>
                                            <p:cond delay="0"/>
                                          </p:stCondLst>
                                        </p:cTn>
                                        <p:tgtEl>
                                          <p:spTgt spid="19"/>
                                        </p:tgtEl>
                                        <p:attrNameLst>
                                          <p:attrName>style.visibility</p:attrName>
                                        </p:attrNameLst>
                                      </p:cBhvr>
                                      <p:to>
                                        <p:strVal val="visible"/>
                                      </p:to>
                                    </p:set>
                                    <p:animEffect transition="in" filter="fade">
                                      <p:cBhvr>
                                        <p:cTn id="89" dur="500"/>
                                        <p:tgtEl>
                                          <p:spTgt spid="19"/>
                                        </p:tgtEl>
                                      </p:cBhvr>
                                    </p:animEffect>
                                    <p:anim calcmode="lin" valueType="num">
                                      <p:cBhvr>
                                        <p:cTn id="90" dur="500" decel="100000" fill="hold"/>
                                        <p:tgtEl>
                                          <p:spTgt spid="19"/>
                                        </p:tgtEl>
                                        <p:attrNameLst>
                                          <p:attrName>ppt_x</p:attrName>
                                        </p:attrNameLst>
                                      </p:cBhvr>
                                      <p:tavLst>
                                        <p:tav tm="0">
                                          <p:val>
                                            <p:strVal val="#ppt_x"/>
                                          </p:val>
                                        </p:tav>
                                        <p:tav tm="100000">
                                          <p:val>
                                            <p:strVal val="#ppt_x"/>
                                          </p:val>
                                        </p:tav>
                                      </p:tavLst>
                                    </p:anim>
                                    <p:anim calcmode="lin" valueType="num">
                                      <p:cBhvr>
                                        <p:cTn id="91" dur="500" decel="100000" fill="hold"/>
                                        <p:tgtEl>
                                          <p:spTgt spid="19"/>
                                        </p:tgtEl>
                                        <p:attrNameLst>
                                          <p:attrName>ppt_y</p:attrName>
                                        </p:attrNameLst>
                                      </p:cBhvr>
                                      <p:tavLst>
                                        <p:tav tm="0">
                                          <p:val>
                                            <p:strVal val="#ppt_y+0.0278"/>
                                          </p:val>
                                        </p:tav>
                                        <p:tav tm="100000">
                                          <p:val>
                                            <p:strVal val="#ppt_y"/>
                                          </p:val>
                                        </p:tav>
                                      </p:tavLst>
                                    </p:anim>
                                  </p:childTnLst>
                                </p:cTn>
                              </p:par>
                              <p:par>
                                <p:cTn id="92" presetID="42" presetClass="entr" presetSubtype="0" fill="hold" grpId="0" nodeType="withEffect">
                                  <p:stCondLst>
                                    <p:cond delay="0"/>
                                  </p:stCondLst>
                                  <p:childTnLst>
                                    <p:set>
                                      <p:cBhvr>
                                        <p:cTn id="93" dur="1" fill="hold">
                                          <p:stCondLst>
                                            <p:cond delay="0"/>
                                          </p:stCondLst>
                                        </p:cTn>
                                        <p:tgtEl>
                                          <p:spTgt spid="20"/>
                                        </p:tgtEl>
                                        <p:attrNameLst>
                                          <p:attrName>style.visibility</p:attrName>
                                        </p:attrNameLst>
                                      </p:cBhvr>
                                      <p:to>
                                        <p:strVal val="visible"/>
                                      </p:to>
                                    </p:set>
                                    <p:animEffect transition="in" filter="fade">
                                      <p:cBhvr>
                                        <p:cTn id="94" dur="500"/>
                                        <p:tgtEl>
                                          <p:spTgt spid="20"/>
                                        </p:tgtEl>
                                      </p:cBhvr>
                                    </p:animEffect>
                                    <p:anim calcmode="lin" valueType="num">
                                      <p:cBhvr>
                                        <p:cTn id="95" dur="500" decel="100000" fill="hold"/>
                                        <p:tgtEl>
                                          <p:spTgt spid="20"/>
                                        </p:tgtEl>
                                        <p:attrNameLst>
                                          <p:attrName>ppt_x</p:attrName>
                                        </p:attrNameLst>
                                      </p:cBhvr>
                                      <p:tavLst>
                                        <p:tav tm="0">
                                          <p:val>
                                            <p:strVal val="#ppt_x"/>
                                          </p:val>
                                        </p:tav>
                                        <p:tav tm="100000">
                                          <p:val>
                                            <p:strVal val="#ppt_x"/>
                                          </p:val>
                                        </p:tav>
                                      </p:tavLst>
                                    </p:anim>
                                    <p:anim calcmode="lin" valueType="num">
                                      <p:cBhvr>
                                        <p:cTn id="96" dur="500" decel="100000" fill="hold"/>
                                        <p:tgtEl>
                                          <p:spTgt spid="20"/>
                                        </p:tgtEl>
                                        <p:attrNameLst>
                                          <p:attrName>ppt_y</p:attrName>
                                        </p:attrNameLst>
                                      </p:cBhvr>
                                      <p:tavLst>
                                        <p:tav tm="0">
                                          <p:val>
                                            <p:strVal val="#ppt_y+0.0278"/>
                                          </p:val>
                                        </p:tav>
                                        <p:tav tm="100000">
                                          <p:val>
                                            <p:strVal val="#ppt_y"/>
                                          </p:val>
                                        </p:tav>
                                      </p:tavLst>
                                    </p:anim>
                                  </p:childTnLst>
                                </p:cTn>
                              </p:par>
                              <p:par>
                                <p:cTn id="97" presetID="42" presetClass="entr" presetSubtype="0" fill="hold" grpId="0" nodeType="withEffect">
                                  <p:stCondLst>
                                    <p:cond delay="0"/>
                                  </p:stCondLst>
                                  <p:childTnLst>
                                    <p:set>
                                      <p:cBhvr>
                                        <p:cTn id="98" dur="1" fill="hold">
                                          <p:stCondLst>
                                            <p:cond delay="0"/>
                                          </p:stCondLst>
                                        </p:cTn>
                                        <p:tgtEl>
                                          <p:spTgt spid="21"/>
                                        </p:tgtEl>
                                        <p:attrNameLst>
                                          <p:attrName>style.visibility</p:attrName>
                                        </p:attrNameLst>
                                      </p:cBhvr>
                                      <p:to>
                                        <p:strVal val="visible"/>
                                      </p:to>
                                    </p:set>
                                    <p:animEffect transition="in" filter="fade">
                                      <p:cBhvr>
                                        <p:cTn id="99" dur="500"/>
                                        <p:tgtEl>
                                          <p:spTgt spid="21"/>
                                        </p:tgtEl>
                                      </p:cBhvr>
                                    </p:animEffect>
                                    <p:anim calcmode="lin" valueType="num">
                                      <p:cBhvr>
                                        <p:cTn id="100" dur="500" decel="100000" fill="hold"/>
                                        <p:tgtEl>
                                          <p:spTgt spid="21"/>
                                        </p:tgtEl>
                                        <p:attrNameLst>
                                          <p:attrName>ppt_x</p:attrName>
                                        </p:attrNameLst>
                                      </p:cBhvr>
                                      <p:tavLst>
                                        <p:tav tm="0">
                                          <p:val>
                                            <p:strVal val="#ppt_x"/>
                                          </p:val>
                                        </p:tav>
                                        <p:tav tm="100000">
                                          <p:val>
                                            <p:strVal val="#ppt_x"/>
                                          </p:val>
                                        </p:tav>
                                      </p:tavLst>
                                    </p:anim>
                                    <p:anim calcmode="lin" valueType="num">
                                      <p:cBhvr>
                                        <p:cTn id="101" dur="500" decel="100000" fill="hold"/>
                                        <p:tgtEl>
                                          <p:spTgt spid="21"/>
                                        </p:tgtEl>
                                        <p:attrNameLst>
                                          <p:attrName>ppt_y</p:attrName>
                                        </p:attrNameLst>
                                      </p:cBhvr>
                                      <p:tavLst>
                                        <p:tav tm="0">
                                          <p:val>
                                            <p:strVal val="#ppt_y+0.0278"/>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22"/>
                                        </p:tgtEl>
                                        <p:attrNameLst>
                                          <p:attrName>style.visibility</p:attrName>
                                        </p:attrNameLst>
                                      </p:cBhvr>
                                      <p:to>
                                        <p:strVal val="visible"/>
                                      </p:to>
                                    </p:set>
                                    <p:animEffect transition="in" filter="fade">
                                      <p:cBhvr>
                                        <p:cTn id="104" dur="500"/>
                                        <p:tgtEl>
                                          <p:spTgt spid="22"/>
                                        </p:tgtEl>
                                      </p:cBhvr>
                                    </p:animEffect>
                                    <p:anim calcmode="lin" valueType="num">
                                      <p:cBhvr>
                                        <p:cTn id="105" dur="500" decel="100000" fill="hold"/>
                                        <p:tgtEl>
                                          <p:spTgt spid="22"/>
                                        </p:tgtEl>
                                        <p:attrNameLst>
                                          <p:attrName>ppt_x</p:attrName>
                                        </p:attrNameLst>
                                      </p:cBhvr>
                                      <p:tavLst>
                                        <p:tav tm="0">
                                          <p:val>
                                            <p:strVal val="#ppt_x"/>
                                          </p:val>
                                        </p:tav>
                                        <p:tav tm="100000">
                                          <p:val>
                                            <p:strVal val="#ppt_x"/>
                                          </p:val>
                                        </p:tav>
                                      </p:tavLst>
                                    </p:anim>
                                    <p:anim calcmode="lin" valueType="num">
                                      <p:cBhvr>
                                        <p:cTn id="106" dur="500" decel="100000" fill="hold"/>
                                        <p:tgtEl>
                                          <p:spTgt spid="22"/>
                                        </p:tgtEl>
                                        <p:attrNameLst>
                                          <p:attrName>ppt_y</p:attrName>
                                        </p:attrNameLst>
                                      </p:cBhvr>
                                      <p:tavLst>
                                        <p:tav tm="0">
                                          <p:val>
                                            <p:strVal val="#ppt_y+0.0278"/>
                                          </p:val>
                                        </p:tav>
                                        <p:tav tm="100000">
                                          <p:val>
                                            <p:strVal val="#ppt_y"/>
                                          </p:val>
                                        </p:tav>
                                      </p:tavLst>
                                    </p:anim>
                                  </p:childTnLst>
                                </p:cTn>
                              </p:par>
                              <p:par>
                                <p:cTn id="107" presetID="42" presetClass="entr" presetSubtype="0" fill="hold" grpId="0" nodeType="withEffect">
                                  <p:stCondLst>
                                    <p:cond delay="0"/>
                                  </p:stCondLst>
                                  <p:childTnLst>
                                    <p:set>
                                      <p:cBhvr>
                                        <p:cTn id="108" dur="1" fill="hold">
                                          <p:stCondLst>
                                            <p:cond delay="0"/>
                                          </p:stCondLst>
                                        </p:cTn>
                                        <p:tgtEl>
                                          <p:spTgt spid="23"/>
                                        </p:tgtEl>
                                        <p:attrNameLst>
                                          <p:attrName>style.visibility</p:attrName>
                                        </p:attrNameLst>
                                      </p:cBhvr>
                                      <p:to>
                                        <p:strVal val="visible"/>
                                      </p:to>
                                    </p:set>
                                    <p:animEffect transition="in" filter="fade">
                                      <p:cBhvr>
                                        <p:cTn id="109" dur="500"/>
                                        <p:tgtEl>
                                          <p:spTgt spid="23"/>
                                        </p:tgtEl>
                                      </p:cBhvr>
                                    </p:animEffect>
                                    <p:anim calcmode="lin" valueType="num">
                                      <p:cBhvr>
                                        <p:cTn id="110" dur="500" decel="100000" fill="hold"/>
                                        <p:tgtEl>
                                          <p:spTgt spid="23"/>
                                        </p:tgtEl>
                                        <p:attrNameLst>
                                          <p:attrName>ppt_x</p:attrName>
                                        </p:attrNameLst>
                                      </p:cBhvr>
                                      <p:tavLst>
                                        <p:tav tm="0">
                                          <p:val>
                                            <p:strVal val="#ppt_x"/>
                                          </p:val>
                                        </p:tav>
                                        <p:tav tm="100000">
                                          <p:val>
                                            <p:strVal val="#ppt_x"/>
                                          </p:val>
                                        </p:tav>
                                      </p:tavLst>
                                    </p:anim>
                                    <p:anim calcmode="lin" valueType="num">
                                      <p:cBhvr>
                                        <p:cTn id="111" dur="500" decel="100000" fill="hold"/>
                                        <p:tgtEl>
                                          <p:spTgt spid="23"/>
                                        </p:tgtEl>
                                        <p:attrNameLst>
                                          <p:attrName>ppt_y</p:attrName>
                                        </p:attrNameLst>
                                      </p:cBhvr>
                                      <p:tavLst>
                                        <p:tav tm="0">
                                          <p:val>
                                            <p:strVal val="#ppt_y+0.0278"/>
                                          </p:val>
                                        </p:tav>
                                        <p:tav tm="100000">
                                          <p:val>
                                            <p:strVal val="#ppt_y"/>
                                          </p:val>
                                        </p:tav>
                                      </p:tavLst>
                                    </p:anim>
                                  </p:childTnLst>
                                </p:cTn>
                              </p:par>
                              <p:par>
                                <p:cTn id="112" presetID="42" presetClass="entr" presetSubtype="0" fill="hold" grpId="0" nodeType="withEffect">
                                  <p:stCondLst>
                                    <p:cond delay="0"/>
                                  </p:stCondLst>
                                  <p:childTnLst>
                                    <p:set>
                                      <p:cBhvr>
                                        <p:cTn id="113" dur="1" fill="hold">
                                          <p:stCondLst>
                                            <p:cond delay="0"/>
                                          </p:stCondLst>
                                        </p:cTn>
                                        <p:tgtEl>
                                          <p:spTgt spid="24"/>
                                        </p:tgtEl>
                                        <p:attrNameLst>
                                          <p:attrName>style.visibility</p:attrName>
                                        </p:attrNameLst>
                                      </p:cBhvr>
                                      <p:to>
                                        <p:strVal val="visible"/>
                                      </p:to>
                                    </p:set>
                                    <p:animEffect transition="in" filter="fade">
                                      <p:cBhvr>
                                        <p:cTn id="114" dur="500"/>
                                        <p:tgtEl>
                                          <p:spTgt spid="24"/>
                                        </p:tgtEl>
                                      </p:cBhvr>
                                    </p:animEffect>
                                    <p:anim calcmode="lin" valueType="num">
                                      <p:cBhvr>
                                        <p:cTn id="115" dur="500" decel="100000" fill="hold"/>
                                        <p:tgtEl>
                                          <p:spTgt spid="24"/>
                                        </p:tgtEl>
                                        <p:attrNameLst>
                                          <p:attrName>ppt_x</p:attrName>
                                        </p:attrNameLst>
                                      </p:cBhvr>
                                      <p:tavLst>
                                        <p:tav tm="0">
                                          <p:val>
                                            <p:strVal val="#ppt_x"/>
                                          </p:val>
                                        </p:tav>
                                        <p:tav tm="100000">
                                          <p:val>
                                            <p:strVal val="#ppt_x"/>
                                          </p:val>
                                        </p:tav>
                                      </p:tavLst>
                                    </p:anim>
                                    <p:anim calcmode="lin" valueType="num">
                                      <p:cBhvr>
                                        <p:cTn id="116" dur="500" decel="100000" fill="hold"/>
                                        <p:tgtEl>
                                          <p:spTgt spid="24"/>
                                        </p:tgtEl>
                                        <p:attrNameLst>
                                          <p:attrName>ppt_y</p:attrName>
                                        </p:attrNameLst>
                                      </p:cBhvr>
                                      <p:tavLst>
                                        <p:tav tm="0">
                                          <p:val>
                                            <p:strVal val="#ppt_y+0.0278"/>
                                          </p:val>
                                        </p:tav>
                                        <p:tav tm="100000">
                                          <p:val>
                                            <p:strVal val="#ppt_y"/>
                                          </p:val>
                                        </p:tav>
                                      </p:tavLst>
                                    </p:anim>
                                  </p:childTnLst>
                                </p:cTn>
                              </p:par>
                              <p:par>
                                <p:cTn id="117" presetID="42" presetClass="entr" presetSubtype="0" fill="hold" grpId="0" nodeType="withEffect">
                                  <p:stCondLst>
                                    <p:cond delay="0"/>
                                  </p:stCondLst>
                                  <p:childTnLst>
                                    <p:set>
                                      <p:cBhvr>
                                        <p:cTn id="118" dur="1" fill="hold">
                                          <p:stCondLst>
                                            <p:cond delay="0"/>
                                          </p:stCondLst>
                                        </p:cTn>
                                        <p:tgtEl>
                                          <p:spTgt spid="25"/>
                                        </p:tgtEl>
                                        <p:attrNameLst>
                                          <p:attrName>style.visibility</p:attrName>
                                        </p:attrNameLst>
                                      </p:cBhvr>
                                      <p:to>
                                        <p:strVal val="visible"/>
                                      </p:to>
                                    </p:set>
                                    <p:animEffect transition="in" filter="fade">
                                      <p:cBhvr>
                                        <p:cTn id="119" dur="500"/>
                                        <p:tgtEl>
                                          <p:spTgt spid="25"/>
                                        </p:tgtEl>
                                      </p:cBhvr>
                                    </p:animEffect>
                                    <p:anim calcmode="lin" valueType="num">
                                      <p:cBhvr>
                                        <p:cTn id="120" dur="500" decel="100000" fill="hold"/>
                                        <p:tgtEl>
                                          <p:spTgt spid="25"/>
                                        </p:tgtEl>
                                        <p:attrNameLst>
                                          <p:attrName>ppt_x</p:attrName>
                                        </p:attrNameLst>
                                      </p:cBhvr>
                                      <p:tavLst>
                                        <p:tav tm="0">
                                          <p:val>
                                            <p:strVal val="#ppt_x"/>
                                          </p:val>
                                        </p:tav>
                                        <p:tav tm="100000">
                                          <p:val>
                                            <p:strVal val="#ppt_x"/>
                                          </p:val>
                                        </p:tav>
                                      </p:tavLst>
                                    </p:anim>
                                    <p:anim calcmode="lin" valueType="num">
                                      <p:cBhvr>
                                        <p:cTn id="121" dur="500" decel="100000" fill="hold"/>
                                        <p:tgtEl>
                                          <p:spTgt spid="25"/>
                                        </p:tgtEl>
                                        <p:attrNameLst>
                                          <p:attrName>ppt_y</p:attrName>
                                        </p:attrNameLst>
                                      </p:cBhvr>
                                      <p:tavLst>
                                        <p:tav tm="0">
                                          <p:val>
                                            <p:strVal val="#ppt_y+0.0278"/>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26"/>
                                        </p:tgtEl>
                                        <p:attrNameLst>
                                          <p:attrName>style.visibility</p:attrName>
                                        </p:attrNameLst>
                                      </p:cBhvr>
                                      <p:to>
                                        <p:strVal val="visible"/>
                                      </p:to>
                                    </p:set>
                                    <p:animEffect transition="in" filter="fade">
                                      <p:cBhvr>
                                        <p:cTn id="124" dur="500"/>
                                        <p:tgtEl>
                                          <p:spTgt spid="26"/>
                                        </p:tgtEl>
                                      </p:cBhvr>
                                    </p:animEffect>
                                    <p:anim calcmode="lin" valueType="num">
                                      <p:cBhvr>
                                        <p:cTn id="125" dur="500" decel="100000" fill="hold"/>
                                        <p:tgtEl>
                                          <p:spTgt spid="26"/>
                                        </p:tgtEl>
                                        <p:attrNameLst>
                                          <p:attrName>ppt_x</p:attrName>
                                        </p:attrNameLst>
                                      </p:cBhvr>
                                      <p:tavLst>
                                        <p:tav tm="0">
                                          <p:val>
                                            <p:strVal val="#ppt_x"/>
                                          </p:val>
                                        </p:tav>
                                        <p:tav tm="100000">
                                          <p:val>
                                            <p:strVal val="#ppt_x"/>
                                          </p:val>
                                        </p:tav>
                                      </p:tavLst>
                                    </p:anim>
                                    <p:anim calcmode="lin" valueType="num">
                                      <p:cBhvr>
                                        <p:cTn id="126" dur="500" decel="100000" fill="hold"/>
                                        <p:tgtEl>
                                          <p:spTgt spid="26"/>
                                        </p:tgtEl>
                                        <p:attrNameLst>
                                          <p:attrName>ppt_y</p:attrName>
                                        </p:attrNameLst>
                                      </p:cBhvr>
                                      <p:tavLst>
                                        <p:tav tm="0">
                                          <p:val>
                                            <p:strVal val="#ppt_y+0.0278"/>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27"/>
                                        </p:tgtEl>
                                        <p:attrNameLst>
                                          <p:attrName>style.visibility</p:attrName>
                                        </p:attrNameLst>
                                      </p:cBhvr>
                                      <p:to>
                                        <p:strVal val="visible"/>
                                      </p:to>
                                    </p:set>
                                    <p:animEffect transition="in" filter="fade">
                                      <p:cBhvr>
                                        <p:cTn id="129" dur="500"/>
                                        <p:tgtEl>
                                          <p:spTgt spid="27"/>
                                        </p:tgtEl>
                                      </p:cBhvr>
                                    </p:animEffect>
                                    <p:anim calcmode="lin" valueType="num">
                                      <p:cBhvr>
                                        <p:cTn id="130" dur="500" decel="100000" fill="hold"/>
                                        <p:tgtEl>
                                          <p:spTgt spid="27"/>
                                        </p:tgtEl>
                                        <p:attrNameLst>
                                          <p:attrName>ppt_x</p:attrName>
                                        </p:attrNameLst>
                                      </p:cBhvr>
                                      <p:tavLst>
                                        <p:tav tm="0">
                                          <p:val>
                                            <p:strVal val="#ppt_x"/>
                                          </p:val>
                                        </p:tav>
                                        <p:tav tm="100000">
                                          <p:val>
                                            <p:strVal val="#ppt_x"/>
                                          </p:val>
                                        </p:tav>
                                      </p:tavLst>
                                    </p:anim>
                                    <p:anim calcmode="lin" valueType="num">
                                      <p:cBhvr>
                                        <p:cTn id="131" dur="500" decel="100000" fill="hold"/>
                                        <p:tgtEl>
                                          <p:spTgt spid="27"/>
                                        </p:tgtEl>
                                        <p:attrNameLst>
                                          <p:attrName>ppt_y</p:attrName>
                                        </p:attrNameLst>
                                      </p:cBhvr>
                                      <p:tavLst>
                                        <p:tav tm="0">
                                          <p:val>
                                            <p:strVal val="#ppt_y+0.0278"/>
                                          </p:val>
                                        </p:tav>
                                        <p:tav tm="100000">
                                          <p:val>
                                            <p:strVal val="#ppt_y"/>
                                          </p:val>
                                        </p:tav>
                                      </p:tavLst>
                                    </p:anim>
                                  </p:childTnLst>
                                </p:cTn>
                              </p:par>
                              <p:par>
                                <p:cTn id="132" presetID="42" presetClass="entr" presetSubtype="0" fill="hold" grpId="0" nodeType="withEffect">
                                  <p:stCondLst>
                                    <p:cond delay="0"/>
                                  </p:stCondLst>
                                  <p:childTnLst>
                                    <p:set>
                                      <p:cBhvr>
                                        <p:cTn id="133" dur="1" fill="hold">
                                          <p:stCondLst>
                                            <p:cond delay="0"/>
                                          </p:stCondLst>
                                        </p:cTn>
                                        <p:tgtEl>
                                          <p:spTgt spid="28"/>
                                        </p:tgtEl>
                                        <p:attrNameLst>
                                          <p:attrName>style.visibility</p:attrName>
                                        </p:attrNameLst>
                                      </p:cBhvr>
                                      <p:to>
                                        <p:strVal val="visible"/>
                                      </p:to>
                                    </p:set>
                                    <p:animEffect transition="in" filter="fade">
                                      <p:cBhvr>
                                        <p:cTn id="134" dur="500"/>
                                        <p:tgtEl>
                                          <p:spTgt spid="28"/>
                                        </p:tgtEl>
                                      </p:cBhvr>
                                    </p:animEffect>
                                    <p:anim calcmode="lin" valueType="num">
                                      <p:cBhvr>
                                        <p:cTn id="135" dur="500" decel="100000" fill="hold"/>
                                        <p:tgtEl>
                                          <p:spTgt spid="28"/>
                                        </p:tgtEl>
                                        <p:attrNameLst>
                                          <p:attrName>ppt_x</p:attrName>
                                        </p:attrNameLst>
                                      </p:cBhvr>
                                      <p:tavLst>
                                        <p:tav tm="0">
                                          <p:val>
                                            <p:strVal val="#ppt_x"/>
                                          </p:val>
                                        </p:tav>
                                        <p:tav tm="100000">
                                          <p:val>
                                            <p:strVal val="#ppt_x"/>
                                          </p:val>
                                        </p:tav>
                                      </p:tavLst>
                                    </p:anim>
                                    <p:anim calcmode="lin" valueType="num">
                                      <p:cBhvr>
                                        <p:cTn id="136" dur="500" decel="100000" fill="hold"/>
                                        <p:tgtEl>
                                          <p:spTgt spid="28"/>
                                        </p:tgtEl>
                                        <p:attrNameLst>
                                          <p:attrName>ppt_y</p:attrName>
                                        </p:attrNameLst>
                                      </p:cBhvr>
                                      <p:tavLst>
                                        <p:tav tm="0">
                                          <p:val>
                                            <p:strVal val="#ppt_y+0.0278"/>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42" presetClass="entr" presetSubtype="0" fill="hold" grpId="0" nodeType="clickEffect">
                                  <p:stCondLst>
                                    <p:cond delay="0"/>
                                  </p:stCondLst>
                                  <p:childTnLst>
                                    <p:set>
                                      <p:cBhvr>
                                        <p:cTn id="140" dur="1" fill="hold">
                                          <p:stCondLst>
                                            <p:cond delay="0"/>
                                          </p:stCondLst>
                                        </p:cTn>
                                        <p:tgtEl>
                                          <p:spTgt spid="29"/>
                                        </p:tgtEl>
                                        <p:attrNameLst>
                                          <p:attrName>style.visibility</p:attrName>
                                        </p:attrNameLst>
                                      </p:cBhvr>
                                      <p:to>
                                        <p:strVal val="visible"/>
                                      </p:to>
                                    </p:set>
                                    <p:animEffect transition="in" filter="fade">
                                      <p:cBhvr>
                                        <p:cTn id="141" dur="500"/>
                                        <p:tgtEl>
                                          <p:spTgt spid="29"/>
                                        </p:tgtEl>
                                      </p:cBhvr>
                                    </p:animEffect>
                                    <p:anim calcmode="lin" valueType="num">
                                      <p:cBhvr>
                                        <p:cTn id="142" dur="500" decel="100000" fill="hold"/>
                                        <p:tgtEl>
                                          <p:spTgt spid="29"/>
                                        </p:tgtEl>
                                        <p:attrNameLst>
                                          <p:attrName>ppt_x</p:attrName>
                                        </p:attrNameLst>
                                      </p:cBhvr>
                                      <p:tavLst>
                                        <p:tav tm="0">
                                          <p:val>
                                            <p:strVal val="#ppt_x"/>
                                          </p:val>
                                        </p:tav>
                                        <p:tav tm="100000">
                                          <p:val>
                                            <p:strVal val="#ppt_x"/>
                                          </p:val>
                                        </p:tav>
                                      </p:tavLst>
                                    </p:anim>
                                    <p:anim calcmode="lin" valueType="num">
                                      <p:cBhvr>
                                        <p:cTn id="143" dur="500" decel="100000" fill="hold"/>
                                        <p:tgtEl>
                                          <p:spTgt spid="29"/>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p:bldP spid="7" grpId="0"/>
      <p:bldP spid="8" grpId="0"/>
      <p:bldP spid="9" grpId="0" animBg="1"/>
      <p:bldP spid="10" grpId="0" animBg="1"/>
      <p:bldP spid="11" grpId="0"/>
      <p:bldP spid="12" grpId="0"/>
      <p:bldP spid="13" grpId="0"/>
      <p:bldP spid="14" grpId="0" animBg="1"/>
      <p:bldP spid="15" grpId="0" animBg="1"/>
      <p:bldP spid="16" grpId="0"/>
      <p:bldP spid="17" grpId="0"/>
      <p:bldP spid="18" grpId="0"/>
      <p:bldP spid="19" grpId="0" animBg="1"/>
      <p:bldP spid="20" grpId="0" animBg="1"/>
      <p:bldP spid="21" grpId="0"/>
      <p:bldP spid="22" grpId="0"/>
      <p:bldP spid="23" grpId="0"/>
      <p:bldP spid="24" grpId="0" animBg="1"/>
      <p:bldP spid="25" grpId="0" animBg="1"/>
      <p:bldP spid="26" grpId="0"/>
      <p:bldP spid="27" grpId="0"/>
      <p:bldP spid="28" grpId="0"/>
      <p:bldP spid="29" grpId="0"/>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8 semaines de réalisation</a:t>
            </a:r>
            <a:endParaRPr lang="en-US" sz="2800" dirty="0"/>
          </a:p>
        </p:txBody>
      </p:sp>
      <p:sp>
        <p:nvSpPr>
          <p:cNvPr id="4" name="c1_axe"/>
          <p:cNvSpPr/>
          <p:nvPr/>
        </p:nvSpPr>
        <p:spPr>
          <a:xfrm>
            <a:off x="548640" y="2395728"/>
            <a:ext cx="11091672" cy="0"/>
          </a:xfrm>
          <a:prstGeom prst="line">
            <a:avLst/>
          </a:prstGeom>
          <a:noFill/>
          <a:ln w="25400">
            <a:solidFill>
              <a:srgbClr val="D9DEE8"/>
            </a:solidFill>
            <a:prstDash val="solid"/>
          </a:ln>
        </p:spPr>
      </p:sp>
      <p:sp>
        <p:nvSpPr>
          <p:cNvPr id="5" name="c1_pt"/>
          <p:cNvSpPr/>
          <p:nvPr/>
        </p:nvSpPr>
        <p:spPr>
          <a:xfrm>
            <a:off x="548640" y="2231136"/>
            <a:ext cx="329184" cy="329184"/>
          </a:xfrm>
          <a:prstGeom prst="ellipse">
            <a:avLst/>
          </a:prstGeom>
          <a:solidFill>
            <a:schemeClr val="accent1"/>
          </a:solidFill>
          <a:ln w="25400">
            <a:solidFill>
              <a:schemeClr val="bg1"/>
            </a:solidFill>
            <a:prstDash val="solid"/>
          </a:ln>
        </p:spPr>
      </p:sp>
      <p:sp>
        <p:nvSpPr>
          <p:cNvPr id="6" name="c1_w"/>
          <p:cNvSpPr txBox="1"/>
          <p:nvPr/>
        </p:nvSpPr>
        <p:spPr>
          <a:xfrm>
            <a:off x="548640" y="1600200"/>
            <a:ext cx="2606040" cy="411480"/>
          </a:xfrm>
          <a:prstGeom prst="rect">
            <a:avLst/>
          </a:prstGeom>
          <a:noFill/>
          <a:ln/>
        </p:spPr>
        <p:txBody>
          <a:bodyPr wrap="square" lIns="0" tIns="0" rIns="0" bIns="0" rtlCol="0" anchor="t"/>
          <a:lstStyle/>
          <a:p>
            <a:pPr indent="0" marL="0">
              <a:buNone/>
            </a:pPr>
            <a:r>
              <a:rPr lang="en-US" sz="1600" b="1" dirty="0">
                <a:solidFill>
                  <a:schemeClr val="accent1"/>
                </a:solidFill>
              </a:rPr>
              <a:t>Semaines 1-2</a:t>
            </a:r>
            <a:endParaRPr lang="en-US" sz="1600" dirty="0"/>
          </a:p>
        </p:txBody>
      </p:sp>
      <p:sp>
        <p:nvSpPr>
          <p:cNvPr id="7" name="c1_bg"/>
          <p:cNvSpPr/>
          <p:nvPr/>
        </p:nvSpPr>
        <p:spPr>
          <a:xfrm>
            <a:off x="548640" y="2880360"/>
            <a:ext cx="2606040" cy="2377440"/>
          </a:xfrm>
          <a:prstGeom prst="roundRect">
            <a:avLst>
              <a:gd name="adj" fmla="val 4615"/>
            </a:avLst>
          </a:prstGeom>
          <a:solidFill>
            <a:schemeClr val="bg2"/>
          </a:solidFill>
          <a:ln w="12700">
            <a:solidFill>
              <a:schemeClr val="bg2"/>
            </a:solidFill>
            <a:prstDash val="solid"/>
          </a:ln>
        </p:spPr>
      </p:sp>
      <p:sp>
        <p:nvSpPr>
          <p:cNvPr id="8" name="c1_d"/>
          <p:cNvSpPr txBox="1"/>
          <p:nvPr/>
        </p:nvSpPr>
        <p:spPr>
          <a:xfrm>
            <a:off x="822960" y="3154680"/>
            <a:ext cx="2103120" cy="1920240"/>
          </a:xfrm>
          <a:prstGeom prst="rect">
            <a:avLst/>
          </a:prstGeom>
          <a:noFill/>
          <a:ln/>
        </p:spPr>
        <p:txBody>
          <a:bodyPr wrap="square" lIns="0" tIns="0" rIns="0" bIns="0" rtlCol="0" anchor="t"/>
          <a:lstStyle/>
          <a:p>
            <a:pPr indent="0" marL="0">
              <a:buNone/>
            </a:pPr>
            <a:r>
              <a:rPr lang="en-US" sz="1600" dirty="0">
                <a:solidFill>
                  <a:schemeClr val="tx1"/>
                </a:solidFill>
              </a:rPr>
              <a:t>Analyse du besoin, recherches créatives, validation de la charte</a:t>
            </a:r>
            <a:endParaRPr lang="en-US" sz="1600" dirty="0"/>
          </a:p>
        </p:txBody>
      </p:sp>
      <p:sp>
        <p:nvSpPr>
          <p:cNvPr id="9" name="c2_pt"/>
          <p:cNvSpPr/>
          <p:nvPr/>
        </p:nvSpPr>
        <p:spPr>
          <a:xfrm>
            <a:off x="3383280" y="2231136"/>
            <a:ext cx="329184" cy="329184"/>
          </a:xfrm>
          <a:prstGeom prst="ellipse">
            <a:avLst/>
          </a:prstGeom>
          <a:solidFill>
            <a:schemeClr val="accent1"/>
          </a:solidFill>
          <a:ln w="25400">
            <a:solidFill>
              <a:schemeClr val="bg1"/>
            </a:solidFill>
            <a:prstDash val="solid"/>
          </a:ln>
        </p:spPr>
      </p:sp>
      <p:sp>
        <p:nvSpPr>
          <p:cNvPr id="10" name="c2_w"/>
          <p:cNvSpPr txBox="1"/>
          <p:nvPr/>
        </p:nvSpPr>
        <p:spPr>
          <a:xfrm>
            <a:off x="3383280" y="1600200"/>
            <a:ext cx="2606040" cy="411480"/>
          </a:xfrm>
          <a:prstGeom prst="rect">
            <a:avLst/>
          </a:prstGeom>
          <a:noFill/>
          <a:ln/>
        </p:spPr>
        <p:txBody>
          <a:bodyPr wrap="square" lIns="0" tIns="0" rIns="0" bIns="0" rtlCol="0" anchor="t"/>
          <a:lstStyle/>
          <a:p>
            <a:pPr indent="0" marL="0">
              <a:buNone/>
            </a:pPr>
            <a:r>
              <a:rPr lang="en-US" sz="1600" b="1" dirty="0">
                <a:solidFill>
                  <a:schemeClr val="accent1"/>
                </a:solidFill>
              </a:rPr>
              <a:t>Semaines 3-4</a:t>
            </a:r>
            <a:endParaRPr lang="en-US" sz="1600" dirty="0"/>
          </a:p>
        </p:txBody>
      </p:sp>
      <p:sp>
        <p:nvSpPr>
          <p:cNvPr id="11" name="c2_bg"/>
          <p:cNvSpPr/>
          <p:nvPr/>
        </p:nvSpPr>
        <p:spPr>
          <a:xfrm>
            <a:off x="3383280" y="2880360"/>
            <a:ext cx="2606040" cy="2377440"/>
          </a:xfrm>
          <a:prstGeom prst="roundRect">
            <a:avLst>
              <a:gd name="adj" fmla="val 4615"/>
            </a:avLst>
          </a:prstGeom>
          <a:solidFill>
            <a:schemeClr val="bg2"/>
          </a:solidFill>
          <a:ln w="12700">
            <a:solidFill>
              <a:schemeClr val="bg2"/>
            </a:solidFill>
            <a:prstDash val="solid"/>
          </a:ln>
        </p:spPr>
      </p:sp>
      <p:sp>
        <p:nvSpPr>
          <p:cNvPr id="12" name="c2_d"/>
          <p:cNvSpPr txBox="1"/>
          <p:nvPr/>
        </p:nvSpPr>
        <p:spPr>
          <a:xfrm>
            <a:off x="3657600" y="3154680"/>
            <a:ext cx="2103120" cy="1920240"/>
          </a:xfrm>
          <a:prstGeom prst="rect">
            <a:avLst/>
          </a:prstGeom>
          <a:noFill/>
          <a:ln/>
        </p:spPr>
        <p:txBody>
          <a:bodyPr wrap="square" lIns="0" tIns="0" rIns="0" bIns="0" rtlCol="0" anchor="t"/>
          <a:lstStyle/>
          <a:p>
            <a:pPr indent="0" marL="0">
              <a:buNone/>
            </a:pPr>
            <a:r>
              <a:rPr lang="en-US" sz="1600" dirty="0">
                <a:solidFill>
                  <a:schemeClr val="tx1"/>
                </a:solidFill>
              </a:rPr>
              <a:t>Supports print, gadgets et maquette 3D</a:t>
            </a:r>
            <a:endParaRPr lang="en-US" sz="1600" dirty="0"/>
          </a:p>
        </p:txBody>
      </p:sp>
      <p:sp>
        <p:nvSpPr>
          <p:cNvPr id="13" name="c3_pt"/>
          <p:cNvSpPr/>
          <p:nvPr/>
        </p:nvSpPr>
        <p:spPr>
          <a:xfrm>
            <a:off x="6217920" y="2231136"/>
            <a:ext cx="329184" cy="329184"/>
          </a:xfrm>
          <a:prstGeom prst="ellipse">
            <a:avLst/>
          </a:prstGeom>
          <a:solidFill>
            <a:schemeClr val="accent1"/>
          </a:solidFill>
          <a:ln w="25400">
            <a:solidFill>
              <a:schemeClr val="bg1"/>
            </a:solidFill>
            <a:prstDash val="solid"/>
          </a:ln>
        </p:spPr>
      </p:sp>
      <p:sp>
        <p:nvSpPr>
          <p:cNvPr id="14" name="c3_w"/>
          <p:cNvSpPr txBox="1"/>
          <p:nvPr/>
        </p:nvSpPr>
        <p:spPr>
          <a:xfrm>
            <a:off x="6217920" y="1600200"/>
            <a:ext cx="2606040" cy="411480"/>
          </a:xfrm>
          <a:prstGeom prst="rect">
            <a:avLst/>
          </a:prstGeom>
          <a:noFill/>
          <a:ln/>
        </p:spPr>
        <p:txBody>
          <a:bodyPr wrap="square" lIns="0" tIns="0" rIns="0" bIns="0" rtlCol="0" anchor="t"/>
          <a:lstStyle/>
          <a:p>
            <a:pPr indent="0" marL="0">
              <a:buNone/>
            </a:pPr>
            <a:r>
              <a:rPr lang="en-US" sz="1600" b="1" dirty="0">
                <a:solidFill>
                  <a:schemeClr val="accent1"/>
                </a:solidFill>
              </a:rPr>
              <a:t>Semaines 5-6</a:t>
            </a:r>
            <a:endParaRPr lang="en-US" sz="1600" dirty="0"/>
          </a:p>
        </p:txBody>
      </p:sp>
      <p:sp>
        <p:nvSpPr>
          <p:cNvPr id="15" name="c3_bg"/>
          <p:cNvSpPr/>
          <p:nvPr/>
        </p:nvSpPr>
        <p:spPr>
          <a:xfrm>
            <a:off x="6217920" y="2880360"/>
            <a:ext cx="2606040" cy="2377440"/>
          </a:xfrm>
          <a:prstGeom prst="roundRect">
            <a:avLst>
              <a:gd name="adj" fmla="val 4615"/>
            </a:avLst>
          </a:prstGeom>
          <a:solidFill>
            <a:schemeClr val="bg2"/>
          </a:solidFill>
          <a:ln w="12700">
            <a:solidFill>
              <a:schemeClr val="bg2"/>
            </a:solidFill>
            <a:prstDash val="solid"/>
          </a:ln>
        </p:spPr>
      </p:sp>
      <p:sp>
        <p:nvSpPr>
          <p:cNvPr id="16" name="c3_d"/>
          <p:cNvSpPr txBox="1"/>
          <p:nvPr/>
        </p:nvSpPr>
        <p:spPr>
          <a:xfrm>
            <a:off x="6492240" y="3154680"/>
            <a:ext cx="2103120" cy="1920240"/>
          </a:xfrm>
          <a:prstGeom prst="rect">
            <a:avLst/>
          </a:prstGeom>
          <a:noFill/>
          <a:ln/>
        </p:spPr>
        <p:txBody>
          <a:bodyPr wrap="square" lIns="0" tIns="0" rIns="0" bIns="0" rtlCol="0" anchor="t"/>
          <a:lstStyle/>
          <a:p>
            <a:pPr indent="0" marL="0">
              <a:buNone/>
            </a:pPr>
            <a:r>
              <a:rPr lang="en-US" sz="1600" dirty="0">
                <a:solidFill>
                  <a:schemeClr val="tx1"/>
                </a:solidFill>
              </a:rPr>
              <a:t>Post-production des spots 2D et 3D</a:t>
            </a:r>
            <a:endParaRPr lang="en-US" sz="1600" dirty="0"/>
          </a:p>
        </p:txBody>
      </p:sp>
      <p:sp>
        <p:nvSpPr>
          <p:cNvPr id="17" name="c4_pt"/>
          <p:cNvSpPr/>
          <p:nvPr/>
        </p:nvSpPr>
        <p:spPr>
          <a:xfrm>
            <a:off x="9052560" y="2231136"/>
            <a:ext cx="329184" cy="329184"/>
          </a:xfrm>
          <a:prstGeom prst="ellipse">
            <a:avLst/>
          </a:prstGeom>
          <a:solidFill>
            <a:schemeClr val="accent1"/>
          </a:solidFill>
          <a:ln w="25400">
            <a:solidFill>
              <a:schemeClr val="bg1"/>
            </a:solidFill>
            <a:prstDash val="solid"/>
          </a:ln>
        </p:spPr>
      </p:sp>
      <p:sp>
        <p:nvSpPr>
          <p:cNvPr id="18" name="c4_w"/>
          <p:cNvSpPr txBox="1"/>
          <p:nvPr/>
        </p:nvSpPr>
        <p:spPr>
          <a:xfrm>
            <a:off x="9052560" y="1600200"/>
            <a:ext cx="2606040" cy="411480"/>
          </a:xfrm>
          <a:prstGeom prst="rect">
            <a:avLst/>
          </a:prstGeom>
          <a:noFill/>
          <a:ln/>
        </p:spPr>
        <p:txBody>
          <a:bodyPr wrap="square" lIns="0" tIns="0" rIns="0" bIns="0" rtlCol="0" anchor="t"/>
          <a:lstStyle/>
          <a:p>
            <a:pPr indent="0" marL="0">
              <a:buNone/>
            </a:pPr>
            <a:r>
              <a:rPr lang="en-US" sz="1600" b="1" dirty="0">
                <a:solidFill>
                  <a:schemeClr val="accent1"/>
                </a:solidFill>
              </a:rPr>
              <a:t>Semaines 7-8</a:t>
            </a:r>
            <a:endParaRPr lang="en-US" sz="1600" dirty="0"/>
          </a:p>
        </p:txBody>
      </p:sp>
      <p:sp>
        <p:nvSpPr>
          <p:cNvPr id="19" name="c4_bg"/>
          <p:cNvSpPr/>
          <p:nvPr/>
        </p:nvSpPr>
        <p:spPr>
          <a:xfrm>
            <a:off x="9052560" y="2880360"/>
            <a:ext cx="2606040" cy="2377440"/>
          </a:xfrm>
          <a:prstGeom prst="roundRect">
            <a:avLst>
              <a:gd name="adj" fmla="val 4615"/>
            </a:avLst>
          </a:prstGeom>
          <a:solidFill>
            <a:schemeClr val="bg2"/>
          </a:solidFill>
          <a:ln w="12700">
            <a:solidFill>
              <a:schemeClr val="bg2"/>
            </a:solidFill>
            <a:prstDash val="solid"/>
          </a:ln>
        </p:spPr>
      </p:sp>
      <p:sp>
        <p:nvSpPr>
          <p:cNvPr id="20" name="c4_d"/>
          <p:cNvSpPr txBox="1"/>
          <p:nvPr/>
        </p:nvSpPr>
        <p:spPr>
          <a:xfrm>
            <a:off x="9326880" y="3154680"/>
            <a:ext cx="2103120" cy="1920240"/>
          </a:xfrm>
          <a:prstGeom prst="rect">
            <a:avLst/>
          </a:prstGeom>
          <a:noFill/>
          <a:ln/>
        </p:spPr>
        <p:txBody>
          <a:bodyPr wrap="square" lIns="0" tIns="0" rIns="0" bIns="0" rtlCol="0" anchor="t"/>
          <a:lstStyle/>
          <a:p>
            <a:pPr indent="0" marL="0">
              <a:buNone/>
            </a:pPr>
            <a:r>
              <a:rPr lang="en-US" sz="1600" dirty="0">
                <a:solidFill>
                  <a:schemeClr val="tx1"/>
                </a:solidFill>
              </a:rPr>
              <a:t>Site web vitrine : interfaces, intégration, tests</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anim calcmode="lin" valueType="num">
                                      <p:cBhvr>
                                        <p:cTn id="64" dur="500" decel="100000" fill="hold"/>
                                        <p:tgtEl>
                                          <p:spTgt spid="13"/>
                                        </p:tgtEl>
                                        <p:attrNameLst>
                                          <p:attrName>ppt_x</p:attrName>
                                        </p:attrNameLst>
                                      </p:cBhvr>
                                      <p:tavLst>
                                        <p:tav tm="0">
                                          <p:val>
                                            <p:strVal val="#ppt_x"/>
                                          </p:val>
                                        </p:tav>
                                        <p:tav tm="100000">
                                          <p:val>
                                            <p:strVal val="#ppt_x"/>
                                          </p:val>
                                        </p:tav>
                                      </p:tavLst>
                                    </p:anim>
                                    <p:anim calcmode="lin" valueType="num">
                                      <p:cBhvr>
                                        <p:cTn id="65" dur="500" decel="100000" fill="hold"/>
                                        <p:tgtEl>
                                          <p:spTgt spid="13"/>
                                        </p:tgtEl>
                                        <p:attrNameLst>
                                          <p:attrName>ppt_y</p:attrName>
                                        </p:attrNameLst>
                                      </p:cBhvr>
                                      <p:tavLst>
                                        <p:tav tm="0">
                                          <p:val>
                                            <p:strVal val="#ppt_y+0.0278"/>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anim calcmode="lin" valueType="num">
                                      <p:cBhvr>
                                        <p:cTn id="69" dur="500" decel="100000" fill="hold"/>
                                        <p:tgtEl>
                                          <p:spTgt spid="14"/>
                                        </p:tgtEl>
                                        <p:attrNameLst>
                                          <p:attrName>ppt_x</p:attrName>
                                        </p:attrNameLst>
                                      </p:cBhvr>
                                      <p:tavLst>
                                        <p:tav tm="0">
                                          <p:val>
                                            <p:strVal val="#ppt_x"/>
                                          </p:val>
                                        </p:tav>
                                        <p:tav tm="100000">
                                          <p:val>
                                            <p:strVal val="#ppt_x"/>
                                          </p:val>
                                        </p:tav>
                                      </p:tavLst>
                                    </p:anim>
                                    <p:anim calcmode="lin" valueType="num">
                                      <p:cBhvr>
                                        <p:cTn id="70" dur="500" decel="100000" fill="hold"/>
                                        <p:tgtEl>
                                          <p:spTgt spid="14"/>
                                        </p:tgtEl>
                                        <p:attrNameLst>
                                          <p:attrName>ppt_y</p:attrName>
                                        </p:attrNameLst>
                                      </p:cBhvr>
                                      <p:tavLst>
                                        <p:tav tm="0">
                                          <p:val>
                                            <p:strVal val="#ppt_y+0.027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anim calcmode="lin" valueType="num">
                                      <p:cBhvr>
                                        <p:cTn id="74" dur="500" decel="100000" fill="hold"/>
                                        <p:tgtEl>
                                          <p:spTgt spid="15"/>
                                        </p:tgtEl>
                                        <p:attrNameLst>
                                          <p:attrName>ppt_x</p:attrName>
                                        </p:attrNameLst>
                                      </p:cBhvr>
                                      <p:tavLst>
                                        <p:tav tm="0">
                                          <p:val>
                                            <p:strVal val="#ppt_x"/>
                                          </p:val>
                                        </p:tav>
                                        <p:tav tm="100000">
                                          <p:val>
                                            <p:strVal val="#ppt_x"/>
                                          </p:val>
                                        </p:tav>
                                      </p:tavLst>
                                    </p:anim>
                                    <p:anim calcmode="lin" valueType="num">
                                      <p:cBhvr>
                                        <p:cTn id="75" dur="500" decel="100000" fill="hold"/>
                                        <p:tgtEl>
                                          <p:spTgt spid="15"/>
                                        </p:tgtEl>
                                        <p:attrNameLst>
                                          <p:attrName>ppt_y</p:attrName>
                                        </p:attrNameLst>
                                      </p:cBhvr>
                                      <p:tavLst>
                                        <p:tav tm="0">
                                          <p:val>
                                            <p:strVal val="#ppt_y+0.0278"/>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anim calcmode="lin" valueType="num">
                                      <p:cBhvr>
                                        <p:cTn id="79" dur="500" decel="100000" fill="hold"/>
                                        <p:tgtEl>
                                          <p:spTgt spid="16"/>
                                        </p:tgtEl>
                                        <p:attrNameLst>
                                          <p:attrName>ppt_x</p:attrName>
                                        </p:attrNameLst>
                                      </p:cBhvr>
                                      <p:tavLst>
                                        <p:tav tm="0">
                                          <p:val>
                                            <p:strVal val="#ppt_x"/>
                                          </p:val>
                                        </p:tav>
                                        <p:tav tm="100000">
                                          <p:val>
                                            <p:strVal val="#ppt_x"/>
                                          </p:val>
                                        </p:tav>
                                      </p:tavLst>
                                    </p:anim>
                                    <p:anim calcmode="lin" valueType="num">
                                      <p:cBhvr>
                                        <p:cTn id="80" dur="500" decel="100000" fill="hold"/>
                                        <p:tgtEl>
                                          <p:spTgt spid="16"/>
                                        </p:tgtEl>
                                        <p:attrNameLst>
                                          <p:attrName>ppt_y</p:attrName>
                                        </p:attrNameLst>
                                      </p:cBhvr>
                                      <p:tavLst>
                                        <p:tav tm="0">
                                          <p:val>
                                            <p:strVal val="#ppt_y+0.0278"/>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fade">
                                      <p:cBhvr>
                                        <p:cTn id="85" dur="500"/>
                                        <p:tgtEl>
                                          <p:spTgt spid="17"/>
                                        </p:tgtEl>
                                      </p:cBhvr>
                                    </p:animEffect>
                                    <p:anim calcmode="lin" valueType="num">
                                      <p:cBhvr>
                                        <p:cTn id="86" dur="500" decel="100000" fill="hold"/>
                                        <p:tgtEl>
                                          <p:spTgt spid="17"/>
                                        </p:tgtEl>
                                        <p:attrNameLst>
                                          <p:attrName>ppt_x</p:attrName>
                                        </p:attrNameLst>
                                      </p:cBhvr>
                                      <p:tavLst>
                                        <p:tav tm="0">
                                          <p:val>
                                            <p:strVal val="#ppt_x"/>
                                          </p:val>
                                        </p:tav>
                                        <p:tav tm="100000">
                                          <p:val>
                                            <p:strVal val="#ppt_x"/>
                                          </p:val>
                                        </p:tav>
                                      </p:tavLst>
                                    </p:anim>
                                    <p:anim calcmode="lin" valueType="num">
                                      <p:cBhvr>
                                        <p:cTn id="87" dur="500" decel="100000" fill="hold"/>
                                        <p:tgtEl>
                                          <p:spTgt spid="17"/>
                                        </p:tgtEl>
                                        <p:attrNameLst>
                                          <p:attrName>ppt_y</p:attrName>
                                        </p:attrNameLst>
                                      </p:cBhvr>
                                      <p:tavLst>
                                        <p:tav tm="0">
                                          <p:val>
                                            <p:strVal val="#ppt_y+0.0278"/>
                                          </p:val>
                                        </p:tav>
                                        <p:tav tm="100000">
                                          <p:val>
                                            <p:strVal val="#ppt_y"/>
                                          </p:val>
                                        </p:tav>
                                      </p:tavLst>
                                    </p:anim>
                                  </p:childTnLst>
                                </p:cTn>
                              </p:par>
                              <p:par>
                                <p:cTn id="88" presetID="42" presetClass="entr" presetSubtype="0" fill="hold" grpId="0" nodeType="withEffect">
                                  <p:stCondLst>
                                    <p:cond delay="0"/>
                                  </p:stCondLst>
                                  <p:childTnLst>
                                    <p:set>
                                      <p:cBhvr>
                                        <p:cTn id="89" dur="1" fill="hold">
                                          <p:stCondLst>
                                            <p:cond delay="0"/>
                                          </p:stCondLst>
                                        </p:cTn>
                                        <p:tgtEl>
                                          <p:spTgt spid="18"/>
                                        </p:tgtEl>
                                        <p:attrNameLst>
                                          <p:attrName>style.visibility</p:attrName>
                                        </p:attrNameLst>
                                      </p:cBhvr>
                                      <p:to>
                                        <p:strVal val="visible"/>
                                      </p:to>
                                    </p:set>
                                    <p:animEffect transition="in" filter="fade">
                                      <p:cBhvr>
                                        <p:cTn id="90" dur="500"/>
                                        <p:tgtEl>
                                          <p:spTgt spid="18"/>
                                        </p:tgtEl>
                                      </p:cBhvr>
                                    </p:animEffect>
                                    <p:anim calcmode="lin" valueType="num">
                                      <p:cBhvr>
                                        <p:cTn id="91" dur="500" decel="100000" fill="hold"/>
                                        <p:tgtEl>
                                          <p:spTgt spid="18"/>
                                        </p:tgtEl>
                                        <p:attrNameLst>
                                          <p:attrName>ppt_x</p:attrName>
                                        </p:attrNameLst>
                                      </p:cBhvr>
                                      <p:tavLst>
                                        <p:tav tm="0">
                                          <p:val>
                                            <p:strVal val="#ppt_x"/>
                                          </p:val>
                                        </p:tav>
                                        <p:tav tm="100000">
                                          <p:val>
                                            <p:strVal val="#ppt_x"/>
                                          </p:val>
                                        </p:tav>
                                      </p:tavLst>
                                    </p:anim>
                                    <p:anim calcmode="lin" valueType="num">
                                      <p:cBhvr>
                                        <p:cTn id="92" dur="500" decel="100000" fill="hold"/>
                                        <p:tgtEl>
                                          <p:spTgt spid="18"/>
                                        </p:tgtEl>
                                        <p:attrNameLst>
                                          <p:attrName>ppt_y</p:attrName>
                                        </p:attrNameLst>
                                      </p:cBhvr>
                                      <p:tavLst>
                                        <p:tav tm="0">
                                          <p:val>
                                            <p:strVal val="#ppt_y+0.0278"/>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19"/>
                                        </p:tgtEl>
                                        <p:attrNameLst>
                                          <p:attrName>style.visibility</p:attrName>
                                        </p:attrNameLst>
                                      </p:cBhvr>
                                      <p:to>
                                        <p:strVal val="visible"/>
                                      </p:to>
                                    </p:set>
                                    <p:animEffect transition="in" filter="fade">
                                      <p:cBhvr>
                                        <p:cTn id="95" dur="500"/>
                                        <p:tgtEl>
                                          <p:spTgt spid="19"/>
                                        </p:tgtEl>
                                      </p:cBhvr>
                                    </p:animEffect>
                                    <p:anim calcmode="lin" valueType="num">
                                      <p:cBhvr>
                                        <p:cTn id="96" dur="500" decel="100000" fill="hold"/>
                                        <p:tgtEl>
                                          <p:spTgt spid="19"/>
                                        </p:tgtEl>
                                        <p:attrNameLst>
                                          <p:attrName>ppt_x</p:attrName>
                                        </p:attrNameLst>
                                      </p:cBhvr>
                                      <p:tavLst>
                                        <p:tav tm="0">
                                          <p:val>
                                            <p:strVal val="#ppt_x"/>
                                          </p:val>
                                        </p:tav>
                                        <p:tav tm="100000">
                                          <p:val>
                                            <p:strVal val="#ppt_x"/>
                                          </p:val>
                                        </p:tav>
                                      </p:tavLst>
                                    </p:anim>
                                    <p:anim calcmode="lin" valueType="num">
                                      <p:cBhvr>
                                        <p:cTn id="97" dur="500" decel="100000" fill="hold"/>
                                        <p:tgtEl>
                                          <p:spTgt spid="19"/>
                                        </p:tgtEl>
                                        <p:attrNameLst>
                                          <p:attrName>ppt_y</p:attrName>
                                        </p:attrNameLst>
                                      </p:cBhvr>
                                      <p:tavLst>
                                        <p:tav tm="0">
                                          <p:val>
                                            <p:strVal val="#ppt_y+0.0278"/>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fade">
                                      <p:cBhvr>
                                        <p:cTn id="100" dur="500"/>
                                        <p:tgtEl>
                                          <p:spTgt spid="20"/>
                                        </p:tgtEl>
                                      </p:cBhvr>
                                    </p:animEffect>
                                    <p:anim calcmode="lin" valueType="num">
                                      <p:cBhvr>
                                        <p:cTn id="101" dur="500" decel="100000" fill="hold"/>
                                        <p:tgtEl>
                                          <p:spTgt spid="20"/>
                                        </p:tgtEl>
                                        <p:attrNameLst>
                                          <p:attrName>ppt_x</p:attrName>
                                        </p:attrNameLst>
                                      </p:cBhvr>
                                      <p:tavLst>
                                        <p:tav tm="0">
                                          <p:val>
                                            <p:strVal val="#ppt_x"/>
                                          </p:val>
                                        </p:tav>
                                        <p:tav tm="100000">
                                          <p:val>
                                            <p:strVal val="#ppt_x"/>
                                          </p:val>
                                        </p:tav>
                                      </p:tavLst>
                                    </p:anim>
                                    <p:anim calcmode="lin" valueType="num">
                                      <p:cBhvr>
                                        <p:cTn id="102" dur="500" decel="100000" fill="hold"/>
                                        <p:tgtEl>
                                          <p:spTgt spid="20"/>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p:bldP spid="7" grpId="0" animBg="1"/>
      <p:bldP spid="8" grpId="0"/>
      <p:bldP spid="9" grpId="0" animBg="1"/>
      <p:bldP spid="10" grpId="0"/>
      <p:bldP spid="11" grpId="0" animBg="1"/>
      <p:bldP spid="12" grpId="0"/>
      <p:bldP spid="13" grpId="0" animBg="1"/>
      <p:bldP spid="14" grpId="0"/>
      <p:bldP spid="15" grpId="0" animBg="1"/>
      <p:bldP spid="16" grpId="0"/>
      <p:bldP spid="17" grpId="0" animBg="1"/>
      <p:bldP spid="18" grpId="0"/>
      <p:bldP spid="19" grpId="0" animBg="1"/>
      <p:bldP spid="20" grpId="0"/>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Coût global du projet</a:t>
            </a:r>
            <a:endParaRPr lang="en-US" sz="2800" dirty="0"/>
          </a:p>
        </p:txBody>
      </p:sp>
      <p:sp>
        <p:nvSpPr>
          <p:cNvPr id="4" name="c1_bg"/>
          <p:cNvSpPr/>
          <p:nvPr/>
        </p:nvSpPr>
        <p:spPr>
          <a:xfrm>
            <a:off x="548640" y="1600200"/>
            <a:ext cx="5440680" cy="4160520"/>
          </a:xfrm>
          <a:prstGeom prst="roundRect">
            <a:avLst>
              <a:gd name="adj" fmla="val 2637"/>
            </a:avLst>
          </a:prstGeom>
          <a:solidFill>
            <a:schemeClr val="tx2"/>
          </a:solidFill>
          <a:ln w="12700">
            <a:solidFill>
              <a:schemeClr val="tx2"/>
            </a:solidFill>
            <a:prstDash val="solid"/>
          </a:ln>
        </p:spPr>
      </p:sp>
      <p:sp>
        <p:nvSpPr>
          <p:cNvPr id="5" name="c1_n"/>
          <p:cNvSpPr txBox="1"/>
          <p:nvPr/>
        </p:nvSpPr>
        <p:spPr>
          <a:xfrm>
            <a:off x="914400" y="2331720"/>
            <a:ext cx="4846320" cy="1097280"/>
          </a:xfrm>
          <a:prstGeom prst="rect">
            <a:avLst/>
          </a:prstGeom>
          <a:noFill/>
          <a:ln/>
        </p:spPr>
        <p:txBody>
          <a:bodyPr wrap="square" lIns="0" tIns="0" rIns="0" bIns="0" rtlCol="0" anchor="t"/>
          <a:lstStyle/>
          <a:p>
            <a:pPr indent="0" marL="0">
              <a:buNone/>
            </a:pPr>
            <a:r>
              <a:rPr lang="en-US" sz="6000" b="1" dirty="0">
                <a:solidFill>
                  <a:schemeClr val="bg1"/>
                </a:solidFill>
              </a:rPr>
              <a:t>4 800 000</a:t>
            </a:r>
            <a:endParaRPr lang="en-US" sz="6000" dirty="0"/>
          </a:p>
        </p:txBody>
      </p:sp>
      <p:sp>
        <p:nvSpPr>
          <p:cNvPr id="6" name="c1_u"/>
          <p:cNvSpPr txBox="1"/>
          <p:nvPr/>
        </p:nvSpPr>
        <p:spPr>
          <a:xfrm>
            <a:off x="914400" y="3429000"/>
            <a:ext cx="4572000" cy="548640"/>
          </a:xfrm>
          <a:prstGeom prst="rect">
            <a:avLst/>
          </a:prstGeom>
          <a:noFill/>
          <a:ln/>
        </p:spPr>
        <p:txBody>
          <a:bodyPr wrap="square" lIns="0" tIns="0" rIns="0" bIns="0" rtlCol="0" anchor="t"/>
          <a:lstStyle/>
          <a:p>
            <a:pPr indent="0" marL="0">
              <a:buNone/>
            </a:pPr>
            <a:r>
              <a:rPr lang="en-US" sz="2400" b="1" dirty="0">
                <a:solidFill>
                  <a:schemeClr val="bg1"/>
                </a:solidFill>
              </a:rPr>
              <a:t>FCFA</a:t>
            </a:r>
            <a:endParaRPr lang="en-US" sz="2400" dirty="0"/>
          </a:p>
        </p:txBody>
      </p:sp>
      <p:sp>
        <p:nvSpPr>
          <p:cNvPr id="7" name="c1_l"/>
          <p:cNvSpPr txBox="1"/>
          <p:nvPr/>
        </p:nvSpPr>
        <p:spPr>
          <a:xfrm>
            <a:off x="914400" y="4160520"/>
            <a:ext cx="4572000" cy="411480"/>
          </a:xfrm>
          <a:prstGeom prst="rect">
            <a:avLst/>
          </a:prstGeom>
          <a:noFill/>
          <a:ln/>
        </p:spPr>
        <p:txBody>
          <a:bodyPr wrap="square" lIns="0" tIns="0" rIns="0" bIns="0" rtlCol="0" anchor="t"/>
          <a:lstStyle/>
          <a:p>
            <a:pPr indent="0" marL="0">
              <a:buNone/>
            </a:pPr>
            <a:r>
              <a:rPr lang="en-US" sz="1500" dirty="0">
                <a:solidFill>
                  <a:schemeClr val="bg1">
                    <a:alpha val="85000"/>
                  </a:schemeClr>
                </a:solidFill>
              </a:rPr>
              <a:t>Estimation budgétaire globale</a:t>
            </a:r>
            <a:endParaRPr lang="en-US" sz="1500" dirty="0"/>
          </a:p>
        </p:txBody>
      </p:sp>
      <p:sp>
        <p:nvSpPr>
          <p:cNvPr id="8" name="c2_b0"/>
          <p:cNvSpPr/>
          <p:nvPr/>
        </p:nvSpPr>
        <p:spPr>
          <a:xfrm>
            <a:off x="6199632" y="1600200"/>
            <a:ext cx="5440680" cy="685800"/>
          </a:xfrm>
          <a:prstGeom prst="roundRect">
            <a:avLst>
              <a:gd name="adj" fmla="val 16000"/>
            </a:avLst>
          </a:prstGeom>
          <a:solidFill>
            <a:schemeClr val="bg2"/>
          </a:solidFill>
          <a:ln w="12700">
            <a:solidFill>
              <a:schemeClr val="bg2"/>
            </a:solidFill>
            <a:prstDash val="solid"/>
          </a:ln>
        </p:spPr>
      </p:sp>
      <p:sp>
        <p:nvSpPr>
          <p:cNvPr id="9" name="c2_t0"/>
          <p:cNvSpPr txBox="1"/>
          <p:nvPr/>
        </p:nvSpPr>
        <p:spPr>
          <a:xfrm>
            <a:off x="6492240" y="1600200"/>
            <a:ext cx="4937760" cy="685800"/>
          </a:xfrm>
          <a:prstGeom prst="rect">
            <a:avLst/>
          </a:prstGeom>
          <a:noFill/>
          <a:ln/>
        </p:spPr>
        <p:txBody>
          <a:bodyPr wrap="square" lIns="0" tIns="0" rIns="0" bIns="0" rtlCol="0" anchor="ctr"/>
          <a:lstStyle/>
          <a:p>
            <a:pPr indent="0" marL="0">
              <a:buNone/>
            </a:pPr>
            <a:r>
              <a:rPr lang="en-US" sz="1600" dirty="0">
                <a:solidFill>
                  <a:schemeClr val="tx1"/>
                </a:solidFill>
              </a:rPr>
              <a:t>Logotype et charte graphique</a:t>
            </a:r>
            <a:endParaRPr lang="en-US" sz="1600" dirty="0"/>
          </a:p>
        </p:txBody>
      </p:sp>
      <p:sp>
        <p:nvSpPr>
          <p:cNvPr id="10" name="c2_b1"/>
          <p:cNvSpPr/>
          <p:nvPr/>
        </p:nvSpPr>
        <p:spPr>
          <a:xfrm>
            <a:off x="6199632" y="2450592"/>
            <a:ext cx="5440680" cy="685800"/>
          </a:xfrm>
          <a:prstGeom prst="roundRect">
            <a:avLst>
              <a:gd name="adj" fmla="val 16000"/>
            </a:avLst>
          </a:prstGeom>
          <a:solidFill>
            <a:schemeClr val="bg2"/>
          </a:solidFill>
          <a:ln w="12700">
            <a:solidFill>
              <a:schemeClr val="bg2"/>
            </a:solidFill>
            <a:prstDash val="solid"/>
          </a:ln>
        </p:spPr>
      </p:sp>
      <p:sp>
        <p:nvSpPr>
          <p:cNvPr id="11" name="c2_t1"/>
          <p:cNvSpPr txBox="1"/>
          <p:nvPr/>
        </p:nvSpPr>
        <p:spPr>
          <a:xfrm>
            <a:off x="6492240" y="2450592"/>
            <a:ext cx="4937760" cy="685800"/>
          </a:xfrm>
          <a:prstGeom prst="rect">
            <a:avLst/>
          </a:prstGeom>
          <a:noFill/>
          <a:ln/>
        </p:spPr>
        <p:txBody>
          <a:bodyPr wrap="square" lIns="0" tIns="0" rIns="0" bIns="0" rtlCol="0" anchor="ctr"/>
          <a:lstStyle/>
          <a:p>
            <a:pPr indent="0" marL="0">
              <a:buNone/>
            </a:pPr>
            <a:r>
              <a:rPr lang="en-US" sz="1600" dirty="0">
                <a:solidFill>
                  <a:schemeClr val="tx1"/>
                </a:solidFill>
              </a:rPr>
              <a:t>Maquettes 2D et 3D</a:t>
            </a:r>
            <a:endParaRPr lang="en-US" sz="1600" dirty="0"/>
          </a:p>
        </p:txBody>
      </p:sp>
      <p:sp>
        <p:nvSpPr>
          <p:cNvPr id="12" name="c2_b2"/>
          <p:cNvSpPr/>
          <p:nvPr/>
        </p:nvSpPr>
        <p:spPr>
          <a:xfrm>
            <a:off x="6199632" y="3300984"/>
            <a:ext cx="5440680" cy="685800"/>
          </a:xfrm>
          <a:prstGeom prst="roundRect">
            <a:avLst>
              <a:gd name="adj" fmla="val 16000"/>
            </a:avLst>
          </a:prstGeom>
          <a:solidFill>
            <a:schemeClr val="bg2"/>
          </a:solidFill>
          <a:ln w="12700">
            <a:solidFill>
              <a:schemeClr val="bg2"/>
            </a:solidFill>
            <a:prstDash val="solid"/>
          </a:ln>
        </p:spPr>
      </p:sp>
      <p:sp>
        <p:nvSpPr>
          <p:cNvPr id="13" name="c2_t2"/>
          <p:cNvSpPr txBox="1"/>
          <p:nvPr/>
        </p:nvSpPr>
        <p:spPr>
          <a:xfrm>
            <a:off x="6492240" y="3300984"/>
            <a:ext cx="4937760" cy="685800"/>
          </a:xfrm>
          <a:prstGeom prst="rect">
            <a:avLst/>
          </a:prstGeom>
          <a:noFill/>
          <a:ln/>
        </p:spPr>
        <p:txBody>
          <a:bodyPr wrap="square" lIns="0" tIns="0" rIns="0" bIns="0" rtlCol="0" anchor="ctr"/>
          <a:lstStyle/>
          <a:p>
            <a:pPr indent="0" marL="0">
              <a:buNone/>
            </a:pPr>
            <a:r>
              <a:rPr lang="en-US" sz="1600" dirty="0">
                <a:solidFill>
                  <a:schemeClr val="tx1"/>
                </a:solidFill>
              </a:rPr>
              <a:t>Supports imprimés et gadgets</a:t>
            </a:r>
            <a:endParaRPr lang="en-US" sz="1600" dirty="0"/>
          </a:p>
        </p:txBody>
      </p:sp>
      <p:sp>
        <p:nvSpPr>
          <p:cNvPr id="14" name="c2_b3"/>
          <p:cNvSpPr/>
          <p:nvPr/>
        </p:nvSpPr>
        <p:spPr>
          <a:xfrm>
            <a:off x="6199632" y="4151376"/>
            <a:ext cx="5440680" cy="685800"/>
          </a:xfrm>
          <a:prstGeom prst="roundRect">
            <a:avLst>
              <a:gd name="adj" fmla="val 16000"/>
            </a:avLst>
          </a:prstGeom>
          <a:solidFill>
            <a:schemeClr val="bg2"/>
          </a:solidFill>
          <a:ln w="12700">
            <a:solidFill>
              <a:schemeClr val="bg2"/>
            </a:solidFill>
            <a:prstDash val="solid"/>
          </a:ln>
        </p:spPr>
      </p:sp>
      <p:sp>
        <p:nvSpPr>
          <p:cNvPr id="15" name="c2_t3"/>
          <p:cNvSpPr txBox="1"/>
          <p:nvPr/>
        </p:nvSpPr>
        <p:spPr>
          <a:xfrm>
            <a:off x="6492240" y="4151376"/>
            <a:ext cx="4937760" cy="685800"/>
          </a:xfrm>
          <a:prstGeom prst="rect">
            <a:avLst/>
          </a:prstGeom>
          <a:noFill/>
          <a:ln/>
        </p:spPr>
        <p:txBody>
          <a:bodyPr wrap="square" lIns="0" tIns="0" rIns="0" bIns="0" rtlCol="0" anchor="ctr"/>
          <a:lstStyle/>
          <a:p>
            <a:pPr indent="0" marL="0">
              <a:buNone/>
            </a:pPr>
            <a:r>
              <a:rPr lang="en-US" sz="1600" dirty="0">
                <a:solidFill>
                  <a:schemeClr val="tx1"/>
                </a:solidFill>
              </a:rPr>
              <a:t>Synopsis et post-production</a:t>
            </a:r>
            <a:endParaRPr lang="en-US" sz="1600" dirty="0"/>
          </a:p>
        </p:txBody>
      </p:sp>
      <p:sp>
        <p:nvSpPr>
          <p:cNvPr id="16" name="c2_b4"/>
          <p:cNvSpPr/>
          <p:nvPr/>
        </p:nvSpPr>
        <p:spPr>
          <a:xfrm>
            <a:off x="6199632" y="5001768"/>
            <a:ext cx="5440680" cy="685800"/>
          </a:xfrm>
          <a:prstGeom prst="roundRect">
            <a:avLst>
              <a:gd name="adj" fmla="val 16000"/>
            </a:avLst>
          </a:prstGeom>
          <a:solidFill>
            <a:schemeClr val="bg2"/>
          </a:solidFill>
          <a:ln w="12700">
            <a:solidFill>
              <a:schemeClr val="bg2"/>
            </a:solidFill>
            <a:prstDash val="solid"/>
          </a:ln>
        </p:spPr>
      </p:sp>
      <p:sp>
        <p:nvSpPr>
          <p:cNvPr id="17" name="c2_t4"/>
          <p:cNvSpPr txBox="1"/>
          <p:nvPr/>
        </p:nvSpPr>
        <p:spPr>
          <a:xfrm>
            <a:off x="6492240" y="5001768"/>
            <a:ext cx="4937760" cy="685800"/>
          </a:xfrm>
          <a:prstGeom prst="rect">
            <a:avLst/>
          </a:prstGeom>
          <a:noFill/>
          <a:ln/>
        </p:spPr>
        <p:txBody>
          <a:bodyPr wrap="square" lIns="0" tIns="0" rIns="0" bIns="0" rtlCol="0" anchor="ctr"/>
          <a:lstStyle/>
          <a:p>
            <a:pPr indent="0" marL="0">
              <a:buNone/>
            </a:pPr>
            <a:r>
              <a:rPr lang="en-US" sz="1600" dirty="0">
                <a:solidFill>
                  <a:schemeClr val="tx1"/>
                </a:solidFill>
              </a:rPr>
              <a:t>Site web et hébergement</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4"/>
                                        </p:tgtEl>
                                        <p:attrNameLst>
                                          <p:attrName>style.visibility</p:attrName>
                                        </p:attrNameLst>
                                      </p:cBhvr>
                                      <p:to>
                                        <p:strVal val="visible"/>
                                      </p:to>
                                    </p:set>
                                    <p:animEffect transition="in" filter="fade">
                                      <p:cBhvr>
                                        <p:cTn id="66" dur="500"/>
                                        <p:tgtEl>
                                          <p:spTgt spid="14"/>
                                        </p:tgtEl>
                                      </p:cBhvr>
                                    </p:animEffect>
                                    <p:anim calcmode="lin" valueType="num">
                                      <p:cBhvr>
                                        <p:cTn id="67" dur="500" decel="100000" fill="hold"/>
                                        <p:tgtEl>
                                          <p:spTgt spid="14"/>
                                        </p:tgtEl>
                                        <p:attrNameLst>
                                          <p:attrName>ppt_x</p:attrName>
                                        </p:attrNameLst>
                                      </p:cBhvr>
                                      <p:tavLst>
                                        <p:tav tm="0">
                                          <p:val>
                                            <p:strVal val="#ppt_x"/>
                                          </p:val>
                                        </p:tav>
                                        <p:tav tm="100000">
                                          <p:val>
                                            <p:strVal val="#ppt_x"/>
                                          </p:val>
                                        </p:tav>
                                      </p:tavLst>
                                    </p:anim>
                                    <p:anim calcmode="lin" valueType="num">
                                      <p:cBhvr>
                                        <p:cTn id="68" dur="500" decel="100000" fill="hold"/>
                                        <p:tgtEl>
                                          <p:spTgt spid="14"/>
                                        </p:tgtEl>
                                        <p:attrNameLst>
                                          <p:attrName>ppt_y</p:attrName>
                                        </p:attrNameLst>
                                      </p:cBhvr>
                                      <p:tavLst>
                                        <p:tav tm="0">
                                          <p:val>
                                            <p:strVal val="#ppt_y+0.0278"/>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5"/>
                                        </p:tgtEl>
                                        <p:attrNameLst>
                                          <p:attrName>style.visibility</p:attrName>
                                        </p:attrNameLst>
                                      </p:cBhvr>
                                      <p:to>
                                        <p:strVal val="visible"/>
                                      </p:to>
                                    </p:set>
                                    <p:animEffect transition="in" filter="fade">
                                      <p:cBhvr>
                                        <p:cTn id="71" dur="500"/>
                                        <p:tgtEl>
                                          <p:spTgt spid="15"/>
                                        </p:tgtEl>
                                      </p:cBhvr>
                                    </p:animEffect>
                                    <p:anim calcmode="lin" valueType="num">
                                      <p:cBhvr>
                                        <p:cTn id="72" dur="500" decel="100000" fill="hold"/>
                                        <p:tgtEl>
                                          <p:spTgt spid="15"/>
                                        </p:tgtEl>
                                        <p:attrNameLst>
                                          <p:attrName>ppt_x</p:attrName>
                                        </p:attrNameLst>
                                      </p:cBhvr>
                                      <p:tavLst>
                                        <p:tav tm="0">
                                          <p:val>
                                            <p:strVal val="#ppt_x"/>
                                          </p:val>
                                        </p:tav>
                                        <p:tav tm="100000">
                                          <p:val>
                                            <p:strVal val="#ppt_x"/>
                                          </p:val>
                                        </p:tav>
                                      </p:tavLst>
                                    </p:anim>
                                    <p:anim calcmode="lin" valueType="num">
                                      <p:cBhvr>
                                        <p:cTn id="73" dur="500" decel="100000" fill="hold"/>
                                        <p:tgtEl>
                                          <p:spTgt spid="15"/>
                                        </p:tgtEl>
                                        <p:attrNameLst>
                                          <p:attrName>ppt_y</p:attrName>
                                        </p:attrNameLst>
                                      </p:cBhvr>
                                      <p:tavLst>
                                        <p:tav tm="0">
                                          <p:val>
                                            <p:strVal val="#ppt_y+0.0278"/>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anim calcmode="lin" valueType="num">
                                      <p:cBhvr>
                                        <p:cTn id="77" dur="500" decel="100000" fill="hold"/>
                                        <p:tgtEl>
                                          <p:spTgt spid="16"/>
                                        </p:tgtEl>
                                        <p:attrNameLst>
                                          <p:attrName>ppt_x</p:attrName>
                                        </p:attrNameLst>
                                      </p:cBhvr>
                                      <p:tavLst>
                                        <p:tav tm="0">
                                          <p:val>
                                            <p:strVal val="#ppt_x"/>
                                          </p:val>
                                        </p:tav>
                                        <p:tav tm="100000">
                                          <p:val>
                                            <p:strVal val="#ppt_x"/>
                                          </p:val>
                                        </p:tav>
                                      </p:tavLst>
                                    </p:anim>
                                    <p:anim calcmode="lin" valueType="num">
                                      <p:cBhvr>
                                        <p:cTn id="78" dur="500" decel="100000" fill="hold"/>
                                        <p:tgtEl>
                                          <p:spTgt spid="16"/>
                                        </p:tgtEl>
                                        <p:attrNameLst>
                                          <p:attrName>ppt_y</p:attrName>
                                        </p:attrNameLst>
                                      </p:cBhvr>
                                      <p:tavLst>
                                        <p:tav tm="0">
                                          <p:val>
                                            <p:strVal val="#ppt_y+0.0278"/>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7"/>
                                        </p:tgtEl>
                                        <p:attrNameLst>
                                          <p:attrName>style.visibility</p:attrName>
                                        </p:attrNameLst>
                                      </p:cBhvr>
                                      <p:to>
                                        <p:strVal val="visible"/>
                                      </p:to>
                                    </p:set>
                                    <p:animEffect transition="in" filter="fade">
                                      <p:cBhvr>
                                        <p:cTn id="81" dur="500"/>
                                        <p:tgtEl>
                                          <p:spTgt spid="17"/>
                                        </p:tgtEl>
                                      </p:cBhvr>
                                    </p:animEffect>
                                    <p:anim calcmode="lin" valueType="num">
                                      <p:cBhvr>
                                        <p:cTn id="82" dur="500" decel="100000" fill="hold"/>
                                        <p:tgtEl>
                                          <p:spTgt spid="17"/>
                                        </p:tgtEl>
                                        <p:attrNameLst>
                                          <p:attrName>ppt_x</p:attrName>
                                        </p:attrNameLst>
                                      </p:cBhvr>
                                      <p:tavLst>
                                        <p:tav tm="0">
                                          <p:val>
                                            <p:strVal val="#ppt_x"/>
                                          </p:val>
                                        </p:tav>
                                        <p:tav tm="100000">
                                          <p:val>
                                            <p:strVal val="#ppt_x"/>
                                          </p:val>
                                        </p:tav>
                                      </p:tavLst>
                                    </p:anim>
                                    <p:anim calcmode="lin" valueType="num">
                                      <p:cBhvr>
                                        <p:cTn id="83" dur="500" decel="100000" fill="hold"/>
                                        <p:tgtEl>
                                          <p:spTgt spid="1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p:bldP spid="6" grpId="0"/>
      <p:bldP spid="7" grpId="0"/>
      <p:bldP spid="8" grpId="0" animBg="1"/>
      <p:bldP spid="9" grpId="0"/>
      <p:bldP spid="10" grpId="0" animBg="1"/>
      <p:bldP spid="11" grpId="0"/>
      <p:bldP spid="12" grpId="0" animBg="1"/>
      <p:bldP spid="13" grpId="0"/>
      <p:bldP spid="14" grpId="0" animBg="1"/>
      <p:bldP spid="15" grpId="0"/>
      <p:bldP spid="16" grpId="0" animBg="1"/>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8229600" cy="502920"/>
          </a:xfrm>
          <a:prstGeom prst="rect">
            <a:avLst/>
          </a:prstGeom>
          <a:noFill/>
          <a:ln/>
        </p:spPr>
        <p:txBody>
          <a:bodyPr wrap="square" lIns="0" tIns="0" rIns="0" bIns="0" rtlCol="0" anchor="b"/>
          <a:lstStyle/>
          <a:p>
            <a:pPr algn="l" indent="0" marL="0">
              <a:buNone/>
            </a:pPr>
            <a:r>
              <a:rPr lang="en-US" sz="1600" b="1" spc="400" kern="0" dirty="0">
                <a:solidFill>
                  <a:srgbClr val="FFFFFF"/>
                </a:solidFill>
              </a:rPr>
              <a:t>04 · TROISIÈME PARTIE</a:t>
            </a:r>
            <a:endParaRPr lang="en-US" sz="1600" dirty="0"/>
          </a:p>
        </p:txBody>
      </p:sp>
      <p:sp>
        <p:nvSpPr>
          <p:cNvPr id="3" name="Text 0"/>
          <p:cNvSpPr/>
          <p:nvPr>
            <p:ph idx="101" type="title" hasCustomPrompt="1"/>
          </p:nvPr>
        </p:nvSpPr>
        <p:spPr>
          <a:xfrm>
            <a:off x="822960" y="2926080"/>
            <a:ext cx="9601200" cy="1188720"/>
          </a:xfrm>
          <a:prstGeom prst="rect">
            <a:avLst/>
          </a:prstGeom>
          <a:noFill/>
          <a:ln/>
        </p:spPr>
        <p:txBody>
          <a:bodyPr wrap="square" lIns="0" tIns="0" rIns="0" bIns="0" rtlCol="0" anchor="t"/>
          <a:lstStyle/>
          <a:p>
            <a:pPr algn="l" indent="0" marL="0">
              <a:buNone/>
            </a:pPr>
            <a:r>
              <a:rPr lang="en-US" sz="4800" b="1" dirty="0">
                <a:solidFill>
                  <a:srgbClr val="FFFFFF"/>
                </a:solidFill>
              </a:rPr>
              <a:t>Réalisation des supports</a:t>
            </a:r>
            <a:endParaRPr lang="en-US" sz="4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decel="100000" fill="hold"/>
                                        <p:tgtEl>
                                          <p:spTgt spid="3"/>
                                        </p:tgtEl>
                                        <p:attrNameLst>
                                          <p:attrName>ppt_x</p:attrName>
                                        </p:attrNameLst>
                                      </p:cBhvr>
                                      <p:tavLst>
                                        <p:tav tm="0">
                                          <p:val>
                                            <p:strVal val="#ppt_x"/>
                                          </p:val>
                                        </p:tav>
                                        <p:tav tm="100000">
                                          <p:val>
                                            <p:strVal val="#ppt_x"/>
                                          </p:val>
                                        </p:tav>
                                      </p:tavLst>
                                    </p:anim>
                                    <p:anim calcmode="lin" valueType="num">
                                      <p:cBhvr>
                                        <p:cTn id="14"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Affiche 1 et sa mise en situation</a:t>
            </a:r>
            <a:endParaRPr lang="en-US" sz="2800" dirty="0"/>
          </a:p>
        </p:txBody>
      </p:sp>
      <p:pic>
        <p:nvPicPr>
          <p:cNvPr id="4" name="c1_im" descr="/tmp/claude-0/-home-user-HANDY/4ddfdd3d-c678-5164-8991-be3c6152a069/scratchpad/assets/affiche1.png">    </p:cNvPr>
          <p:cNvPicPr>
            <a:picLocks noChangeAspect="1"/>
          </p:cNvPicPr>
          <p:nvPr/>
        </p:nvPicPr>
        <p:blipFill>
          <a:blip r:embed="rId1"/>
          <a:stretch>
            <a:fillRect/>
          </a:stretch>
        </p:blipFill>
        <p:spPr>
          <a:xfrm>
            <a:off x="548640" y="1706880"/>
            <a:ext cx="5440680" cy="3627120"/>
          </a:xfrm>
          <a:prstGeom prst="rect">
            <a:avLst/>
          </a:prstGeom>
          <a:effectLst>
            <a:outerShdw sx="100000" sy="100000" kx="0" ky="0" algn="bl" rotWithShape="0" blurRad="127000" dist="25400" dir="5400000">
              <a:srgbClr val="000000">
                <a:alpha val="16000"/>
              </a:srgbClr>
            </a:outerShdw>
          </a:effectLst>
        </p:spPr>
      </p:pic>
      <p:sp>
        <p:nvSpPr>
          <p:cNvPr id="5" name="c1_cap"/>
          <p:cNvSpPr txBox="1"/>
          <p:nvPr/>
        </p:nvSpPr>
        <p:spPr>
          <a:xfrm>
            <a:off x="548640" y="5471160"/>
            <a:ext cx="5440680" cy="365760"/>
          </a:xfrm>
          <a:prstGeom prst="rect">
            <a:avLst/>
          </a:prstGeom>
          <a:noFill/>
          <a:ln/>
        </p:spPr>
        <p:txBody>
          <a:bodyPr wrap="square" lIns="0" tIns="0" rIns="0" bIns="0" rtlCol="0" anchor="t"/>
          <a:lstStyle/>
          <a:p>
            <a:pPr algn="ctr" indent="0" marL="0">
              <a:buNone/>
            </a:pPr>
            <a:r>
              <a:rPr lang="en-US" sz="1400" dirty="0">
                <a:solidFill>
                  <a:schemeClr val="accent4"/>
                </a:solidFill>
              </a:rPr>
              <a:t>Affiche finale</a:t>
            </a:r>
            <a:endParaRPr lang="en-US" sz="1400" dirty="0"/>
          </a:p>
        </p:txBody>
      </p:sp>
      <p:pic>
        <p:nvPicPr>
          <p:cNvPr id="6" name="c2_im" descr="/tmp/claude-0/-home-user-HANDY/4ddfdd3d-c678-5164-8991-be3c6152a069/scratchpad/assets/affiche1_situ.jpg">    </p:cNvPr>
          <p:cNvPicPr>
            <a:picLocks noChangeAspect="1"/>
          </p:cNvPicPr>
          <p:nvPr/>
        </p:nvPicPr>
        <p:blipFill>
          <a:blip r:embed="rId2"/>
          <a:stretch>
            <a:fillRect/>
          </a:stretch>
        </p:blipFill>
        <p:spPr>
          <a:xfrm>
            <a:off x="6199632" y="1708013"/>
            <a:ext cx="5440680" cy="3624853"/>
          </a:xfrm>
          <a:prstGeom prst="rect">
            <a:avLst/>
          </a:prstGeom>
          <a:effectLst>
            <a:outerShdw sx="100000" sy="100000" kx="0" ky="0" algn="bl" rotWithShape="0" blurRad="127000" dist="25400" dir="5400000">
              <a:srgbClr val="000000">
                <a:alpha val="16000"/>
              </a:srgbClr>
            </a:outerShdw>
          </a:effectLst>
        </p:spPr>
      </p:pic>
      <p:sp>
        <p:nvSpPr>
          <p:cNvPr id="7" name="c2_cap"/>
          <p:cNvSpPr txBox="1"/>
          <p:nvPr/>
        </p:nvSpPr>
        <p:spPr>
          <a:xfrm>
            <a:off x="6199632" y="5470027"/>
            <a:ext cx="5440680" cy="365760"/>
          </a:xfrm>
          <a:prstGeom prst="rect">
            <a:avLst/>
          </a:prstGeom>
          <a:noFill/>
          <a:ln/>
        </p:spPr>
        <p:txBody>
          <a:bodyPr wrap="square" lIns="0" tIns="0" rIns="0" bIns="0" rtlCol="0" anchor="t"/>
          <a:lstStyle/>
          <a:p>
            <a:pPr algn="ctr" indent="0" marL="0">
              <a:buNone/>
            </a:pPr>
            <a:r>
              <a:rPr lang="en-US" sz="1400" dirty="0">
                <a:solidFill>
                  <a:schemeClr val="accent4"/>
                </a:solidFill>
              </a:rPr>
              <a:t>Mise en situation</a:t>
            </a:r>
            <a:endParaRPr lang="en-US" sz="14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Affiche 2 et sa mise en situation</a:t>
            </a:r>
            <a:endParaRPr lang="en-US" sz="2800" dirty="0"/>
          </a:p>
        </p:txBody>
      </p:sp>
      <p:pic>
        <p:nvPicPr>
          <p:cNvPr id="4" name="c1_im" descr="/tmp/claude-0/-home-user-HANDY/4ddfdd3d-c678-5164-8991-be3c6152a069/scratchpad/assets/affiche2.png">    </p:cNvPr>
          <p:cNvPicPr>
            <a:picLocks noChangeAspect="1"/>
          </p:cNvPicPr>
          <p:nvPr/>
        </p:nvPicPr>
        <p:blipFill>
          <a:blip r:embed="rId1"/>
          <a:stretch>
            <a:fillRect/>
          </a:stretch>
        </p:blipFill>
        <p:spPr>
          <a:xfrm>
            <a:off x="548640" y="1706880"/>
            <a:ext cx="5440680" cy="3627120"/>
          </a:xfrm>
          <a:prstGeom prst="rect">
            <a:avLst/>
          </a:prstGeom>
          <a:effectLst>
            <a:outerShdw sx="100000" sy="100000" kx="0" ky="0" algn="bl" rotWithShape="0" blurRad="127000" dist="25400" dir="5400000">
              <a:srgbClr val="000000">
                <a:alpha val="16000"/>
              </a:srgbClr>
            </a:outerShdw>
          </a:effectLst>
        </p:spPr>
      </p:pic>
      <p:sp>
        <p:nvSpPr>
          <p:cNvPr id="5" name="c1_cap"/>
          <p:cNvSpPr txBox="1"/>
          <p:nvPr/>
        </p:nvSpPr>
        <p:spPr>
          <a:xfrm>
            <a:off x="548640" y="5471160"/>
            <a:ext cx="5440680" cy="365760"/>
          </a:xfrm>
          <a:prstGeom prst="rect">
            <a:avLst/>
          </a:prstGeom>
          <a:noFill/>
          <a:ln/>
        </p:spPr>
        <p:txBody>
          <a:bodyPr wrap="square" lIns="0" tIns="0" rIns="0" bIns="0" rtlCol="0" anchor="t"/>
          <a:lstStyle/>
          <a:p>
            <a:pPr algn="ctr" indent="0" marL="0">
              <a:buNone/>
            </a:pPr>
            <a:r>
              <a:rPr lang="en-US" sz="1400" dirty="0">
                <a:solidFill>
                  <a:schemeClr val="accent4"/>
                </a:solidFill>
              </a:rPr>
              <a:t>Affiche finale</a:t>
            </a:r>
            <a:endParaRPr lang="en-US" sz="1400" dirty="0"/>
          </a:p>
        </p:txBody>
      </p:sp>
      <p:pic>
        <p:nvPicPr>
          <p:cNvPr id="6" name="c2_im" descr="/tmp/claude-0/-home-user-HANDY/4ddfdd3d-c678-5164-8991-be3c6152a069/scratchpad/assets/affiche2_situ.png">    </p:cNvPr>
          <p:cNvPicPr>
            <a:picLocks noChangeAspect="1"/>
          </p:cNvPicPr>
          <p:nvPr/>
        </p:nvPicPr>
        <p:blipFill>
          <a:blip r:embed="rId2"/>
          <a:stretch>
            <a:fillRect/>
          </a:stretch>
        </p:blipFill>
        <p:spPr>
          <a:xfrm>
            <a:off x="6199632" y="1702206"/>
            <a:ext cx="5440680" cy="3636468"/>
          </a:xfrm>
          <a:prstGeom prst="rect">
            <a:avLst/>
          </a:prstGeom>
          <a:effectLst>
            <a:outerShdw sx="100000" sy="100000" kx="0" ky="0" algn="bl" rotWithShape="0" blurRad="127000" dist="25400" dir="5400000">
              <a:srgbClr val="000000">
                <a:alpha val="16000"/>
              </a:srgbClr>
            </a:outerShdw>
          </a:effectLst>
        </p:spPr>
      </p:pic>
      <p:sp>
        <p:nvSpPr>
          <p:cNvPr id="7" name="c2_cap"/>
          <p:cNvSpPr txBox="1"/>
          <p:nvPr/>
        </p:nvSpPr>
        <p:spPr>
          <a:xfrm>
            <a:off x="6199632" y="5475834"/>
            <a:ext cx="5440680" cy="365760"/>
          </a:xfrm>
          <a:prstGeom prst="rect">
            <a:avLst/>
          </a:prstGeom>
          <a:noFill/>
          <a:ln/>
        </p:spPr>
        <p:txBody>
          <a:bodyPr wrap="square" lIns="0" tIns="0" rIns="0" bIns="0" rtlCol="0" anchor="t"/>
          <a:lstStyle/>
          <a:p>
            <a:pPr algn="ctr" indent="0" marL="0">
              <a:buNone/>
            </a:pPr>
            <a:r>
              <a:rPr lang="en-US" sz="1400" dirty="0">
                <a:solidFill>
                  <a:schemeClr val="accent4"/>
                </a:solidFill>
              </a:rPr>
              <a:t>Mise en situation</a:t>
            </a:r>
            <a:endParaRPr lang="en-US" sz="14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Flyer tarifaire et sa mise en situation</a:t>
            </a:r>
            <a:endParaRPr lang="en-US" sz="2800" dirty="0"/>
          </a:p>
        </p:txBody>
      </p:sp>
      <p:pic>
        <p:nvPicPr>
          <p:cNvPr id="4" name="c1_im" descr="/tmp/claude-0/-home-user-HANDY/4ddfdd3d-c678-5164-8991-be3c6152a069/scratchpad/assets/flyer.jpg">    </p:cNvPr>
          <p:cNvPicPr>
            <a:picLocks noChangeAspect="1"/>
          </p:cNvPicPr>
          <p:nvPr/>
        </p:nvPicPr>
        <p:blipFill>
          <a:blip r:embed="rId1"/>
          <a:stretch>
            <a:fillRect/>
          </a:stretch>
        </p:blipFill>
        <p:spPr>
          <a:xfrm>
            <a:off x="548640" y="1593904"/>
            <a:ext cx="5440680" cy="3853072"/>
          </a:xfrm>
          <a:prstGeom prst="rect">
            <a:avLst/>
          </a:prstGeom>
          <a:effectLst>
            <a:outerShdw sx="100000" sy="100000" kx="0" ky="0" algn="bl" rotWithShape="0" blurRad="127000" dist="25400" dir="5400000">
              <a:srgbClr val="000000">
                <a:alpha val="16000"/>
              </a:srgbClr>
            </a:outerShdw>
          </a:effectLst>
        </p:spPr>
      </p:pic>
      <p:sp>
        <p:nvSpPr>
          <p:cNvPr id="5" name="c1_cap"/>
          <p:cNvSpPr txBox="1"/>
          <p:nvPr/>
        </p:nvSpPr>
        <p:spPr>
          <a:xfrm>
            <a:off x="548640" y="5584136"/>
            <a:ext cx="5440680" cy="365760"/>
          </a:xfrm>
          <a:prstGeom prst="rect">
            <a:avLst/>
          </a:prstGeom>
          <a:noFill/>
          <a:ln/>
        </p:spPr>
        <p:txBody>
          <a:bodyPr wrap="square" lIns="0" tIns="0" rIns="0" bIns="0" rtlCol="0" anchor="t"/>
          <a:lstStyle/>
          <a:p>
            <a:pPr algn="ctr" indent="0" marL="0">
              <a:buNone/>
            </a:pPr>
            <a:r>
              <a:rPr lang="en-US" sz="1400" dirty="0">
                <a:solidFill>
                  <a:schemeClr val="accent4"/>
                </a:solidFill>
              </a:rPr>
              <a:t>Flyer final</a:t>
            </a:r>
            <a:endParaRPr lang="en-US" sz="1400" dirty="0"/>
          </a:p>
        </p:txBody>
      </p:sp>
      <p:pic>
        <p:nvPicPr>
          <p:cNvPr id="6" name="c2_im" descr="/tmp/claude-0/-home-user-HANDY/4ddfdd3d-c678-5164-8991-be3c6152a069/scratchpad/assets/flyer_situ.jpg">    </p:cNvPr>
          <p:cNvPicPr>
            <a:picLocks noChangeAspect="1"/>
          </p:cNvPicPr>
          <p:nvPr/>
        </p:nvPicPr>
        <p:blipFill>
          <a:blip r:embed="rId2"/>
          <a:stretch>
            <a:fillRect/>
          </a:stretch>
        </p:blipFill>
        <p:spPr>
          <a:xfrm>
            <a:off x="6199632" y="1598630"/>
            <a:ext cx="5440680" cy="3843620"/>
          </a:xfrm>
          <a:prstGeom prst="rect">
            <a:avLst/>
          </a:prstGeom>
          <a:effectLst>
            <a:outerShdw sx="100000" sy="100000" kx="0" ky="0" algn="bl" rotWithShape="0" blurRad="127000" dist="25400" dir="5400000">
              <a:srgbClr val="000000">
                <a:alpha val="16000"/>
              </a:srgbClr>
            </a:outerShdw>
          </a:effectLst>
        </p:spPr>
      </p:pic>
      <p:sp>
        <p:nvSpPr>
          <p:cNvPr id="7" name="c2_cap"/>
          <p:cNvSpPr txBox="1"/>
          <p:nvPr/>
        </p:nvSpPr>
        <p:spPr>
          <a:xfrm>
            <a:off x="6199632" y="5579410"/>
            <a:ext cx="5440680" cy="365760"/>
          </a:xfrm>
          <a:prstGeom prst="rect">
            <a:avLst/>
          </a:prstGeom>
          <a:noFill/>
          <a:ln/>
        </p:spPr>
        <p:txBody>
          <a:bodyPr wrap="square" lIns="0" tIns="0" rIns="0" bIns="0" rtlCol="0" anchor="t"/>
          <a:lstStyle/>
          <a:p>
            <a:pPr algn="ctr" indent="0" marL="0">
              <a:buNone/>
            </a:pPr>
            <a:r>
              <a:rPr lang="en-US" sz="1400" dirty="0">
                <a:solidFill>
                  <a:schemeClr val="accent4"/>
                </a:solidFill>
              </a:rPr>
              <a:t>Mise en situation</a:t>
            </a:r>
            <a:endParaRPr lang="en-US" sz="14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Dépliant trois volets : recto et verso</a:t>
            </a:r>
            <a:endParaRPr lang="en-US" sz="2800" dirty="0"/>
          </a:p>
        </p:txBody>
      </p:sp>
      <p:pic>
        <p:nvPicPr>
          <p:cNvPr id="4" name="c1_im" descr="/tmp/claude-0/-home-user-HANDY/4ddfdd3d-c678-5164-8991-be3c6152a069/scratchpad/assets/depliant_recto.png">    </p:cNvPr>
          <p:cNvPicPr>
            <a:picLocks noChangeAspect="1"/>
          </p:cNvPicPr>
          <p:nvPr/>
        </p:nvPicPr>
        <p:blipFill>
          <a:blip r:embed="rId1"/>
          <a:stretch>
            <a:fillRect/>
          </a:stretch>
        </p:blipFill>
        <p:spPr>
          <a:xfrm>
            <a:off x="548640" y="1581407"/>
            <a:ext cx="5440680" cy="3878066"/>
          </a:xfrm>
          <a:prstGeom prst="rect">
            <a:avLst/>
          </a:prstGeom>
          <a:effectLst>
            <a:outerShdw sx="100000" sy="100000" kx="0" ky="0" algn="bl" rotWithShape="0" blurRad="127000" dist="25400" dir="5400000">
              <a:srgbClr val="000000">
                <a:alpha val="16000"/>
              </a:srgbClr>
            </a:outerShdw>
          </a:effectLst>
        </p:spPr>
      </p:pic>
      <p:sp>
        <p:nvSpPr>
          <p:cNvPr id="5" name="c1_cap"/>
          <p:cNvSpPr txBox="1"/>
          <p:nvPr/>
        </p:nvSpPr>
        <p:spPr>
          <a:xfrm>
            <a:off x="548640" y="5596633"/>
            <a:ext cx="5440680" cy="365760"/>
          </a:xfrm>
          <a:prstGeom prst="rect">
            <a:avLst/>
          </a:prstGeom>
          <a:noFill/>
          <a:ln/>
        </p:spPr>
        <p:txBody>
          <a:bodyPr wrap="square" lIns="0" tIns="0" rIns="0" bIns="0" rtlCol="0" anchor="t"/>
          <a:lstStyle/>
          <a:p>
            <a:pPr algn="ctr" indent="0" marL="0">
              <a:buNone/>
            </a:pPr>
            <a:r>
              <a:rPr lang="en-US" sz="1400" dirty="0">
                <a:solidFill>
                  <a:schemeClr val="accent4"/>
                </a:solidFill>
              </a:rPr>
              <a:t>Recto</a:t>
            </a:r>
            <a:endParaRPr lang="en-US" sz="1400" dirty="0"/>
          </a:p>
        </p:txBody>
      </p:sp>
      <p:pic>
        <p:nvPicPr>
          <p:cNvPr id="6" name="c2_im" descr="/tmp/claude-0/-home-user-HANDY/4ddfdd3d-c678-5164-8991-be3c6152a069/scratchpad/assets/depliant_verso.png">    </p:cNvPr>
          <p:cNvPicPr>
            <a:picLocks noChangeAspect="1"/>
          </p:cNvPicPr>
          <p:nvPr/>
        </p:nvPicPr>
        <p:blipFill>
          <a:blip r:embed="rId2"/>
          <a:stretch>
            <a:fillRect/>
          </a:stretch>
        </p:blipFill>
        <p:spPr>
          <a:xfrm>
            <a:off x="6199632" y="1581407"/>
            <a:ext cx="5440680" cy="3878066"/>
          </a:xfrm>
          <a:prstGeom prst="rect">
            <a:avLst/>
          </a:prstGeom>
          <a:effectLst>
            <a:outerShdw sx="100000" sy="100000" kx="0" ky="0" algn="bl" rotWithShape="0" blurRad="127000" dist="25400" dir="5400000">
              <a:srgbClr val="000000">
                <a:alpha val="16000"/>
              </a:srgbClr>
            </a:outerShdw>
          </a:effectLst>
        </p:spPr>
      </p:pic>
      <p:sp>
        <p:nvSpPr>
          <p:cNvPr id="7" name="c2_cap"/>
          <p:cNvSpPr txBox="1"/>
          <p:nvPr/>
        </p:nvSpPr>
        <p:spPr>
          <a:xfrm>
            <a:off x="6199632" y="5596633"/>
            <a:ext cx="5440680" cy="365760"/>
          </a:xfrm>
          <a:prstGeom prst="rect">
            <a:avLst/>
          </a:prstGeom>
          <a:noFill/>
          <a:ln/>
        </p:spPr>
        <p:txBody>
          <a:bodyPr wrap="square" lIns="0" tIns="0" rIns="0" bIns="0" rtlCol="0" anchor="t"/>
          <a:lstStyle/>
          <a:p>
            <a:pPr algn="ctr" indent="0" marL="0">
              <a:buNone/>
            </a:pPr>
            <a:r>
              <a:rPr lang="en-US" sz="1400" dirty="0">
                <a:solidFill>
                  <a:schemeClr val="accent4"/>
                </a:solidFill>
              </a:rPr>
              <a:t>Verso</a:t>
            </a:r>
            <a:endParaRPr lang="en-US" sz="14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Le dépliant en situation</a:t>
            </a:r>
            <a:endParaRPr lang="en-US" sz="2800" dirty="0"/>
          </a:p>
        </p:txBody>
      </p:sp>
      <p:pic>
        <p:nvPicPr>
          <p:cNvPr id="4" name="c1_im" descr="/tmp/claude-0/-home-user-HANDY/4ddfdd3d-c678-5164-8991-be3c6152a069/scratchpad/assets/depliant_situ.png">    </p:cNvPr>
          <p:cNvPicPr>
            <a:picLocks noChangeAspect="1"/>
          </p:cNvPicPr>
          <p:nvPr/>
        </p:nvPicPr>
        <p:blipFill>
          <a:blip r:embed="rId1"/>
          <a:stretch>
            <a:fillRect/>
          </a:stretch>
        </p:blipFill>
        <p:spPr>
          <a:xfrm>
            <a:off x="548640" y="1508760"/>
            <a:ext cx="6035040" cy="4526280"/>
          </a:xfrm>
          <a:prstGeom prst="rect">
            <a:avLst/>
          </a:prstGeom>
          <a:effectLst>
            <a:outerShdw sx="100000" sy="100000" kx="0" ky="0" algn="bl" rotWithShape="0" blurRad="127000" dist="25400" dir="5400000">
              <a:srgbClr val="000000">
                <a:alpha val="16000"/>
              </a:srgbClr>
            </a:outerShdw>
          </a:effectLst>
        </p:spPr>
      </p:pic>
      <p:sp>
        <p:nvSpPr>
          <p:cNvPr id="5" name="c2_b0"/>
          <p:cNvSpPr/>
          <p:nvPr/>
        </p:nvSpPr>
        <p:spPr>
          <a:xfrm>
            <a:off x="6949440" y="1737360"/>
            <a:ext cx="4690872" cy="804672"/>
          </a:xfrm>
          <a:prstGeom prst="roundRect">
            <a:avLst>
              <a:gd name="adj" fmla="val 13636"/>
            </a:avLst>
          </a:prstGeom>
          <a:solidFill>
            <a:schemeClr val="bg2"/>
          </a:solidFill>
          <a:ln w="12700">
            <a:solidFill>
              <a:schemeClr val="bg2"/>
            </a:solidFill>
            <a:prstDash val="solid"/>
          </a:ln>
        </p:spPr>
      </p:sp>
      <p:sp>
        <p:nvSpPr>
          <p:cNvPr id="6" name="c2_t0"/>
          <p:cNvSpPr txBox="1"/>
          <p:nvPr/>
        </p:nvSpPr>
        <p:spPr>
          <a:xfrm>
            <a:off x="7223760" y="1737360"/>
            <a:ext cx="4297680" cy="804672"/>
          </a:xfrm>
          <a:prstGeom prst="rect">
            <a:avLst/>
          </a:prstGeom>
          <a:noFill/>
          <a:ln/>
        </p:spPr>
        <p:txBody>
          <a:bodyPr wrap="square" lIns="0" tIns="0" rIns="0" bIns="0" rtlCol="0" anchor="ctr"/>
          <a:lstStyle/>
          <a:p>
            <a:pPr indent="0" marL="0">
              <a:buNone/>
            </a:pPr>
            <a:r>
              <a:rPr lang="en-US" sz="1600" b="1" dirty="0">
                <a:solidFill>
                  <a:schemeClr val="accent1"/>
                </a:solidFill>
              </a:rPr>
              <a:t>Volet 1  </a:t>
            </a:r>
            <a:pPr indent="0" marL="0">
              <a:buNone/>
            </a:pPr>
            <a:r>
              <a:rPr lang="en-US" sz="1600" dirty="0">
                <a:solidFill>
                  <a:schemeClr val="tx1"/>
                </a:solidFill>
              </a:rPr>
              <a:t>Logo, visuel, slogan</a:t>
            </a:r>
            <a:endParaRPr lang="en-US" sz="1600" dirty="0"/>
          </a:p>
        </p:txBody>
      </p:sp>
      <p:sp>
        <p:nvSpPr>
          <p:cNvPr id="7" name="c2_b1"/>
          <p:cNvSpPr/>
          <p:nvPr/>
        </p:nvSpPr>
        <p:spPr>
          <a:xfrm>
            <a:off x="6949440" y="2761488"/>
            <a:ext cx="4690872" cy="804672"/>
          </a:xfrm>
          <a:prstGeom prst="roundRect">
            <a:avLst>
              <a:gd name="adj" fmla="val 13636"/>
            </a:avLst>
          </a:prstGeom>
          <a:solidFill>
            <a:schemeClr val="bg2"/>
          </a:solidFill>
          <a:ln w="12700">
            <a:solidFill>
              <a:schemeClr val="bg2"/>
            </a:solidFill>
            <a:prstDash val="solid"/>
          </a:ln>
        </p:spPr>
      </p:sp>
      <p:sp>
        <p:nvSpPr>
          <p:cNvPr id="8" name="c2_t1"/>
          <p:cNvSpPr txBox="1"/>
          <p:nvPr/>
        </p:nvSpPr>
        <p:spPr>
          <a:xfrm>
            <a:off x="7223760" y="2761488"/>
            <a:ext cx="4297680" cy="804672"/>
          </a:xfrm>
          <a:prstGeom prst="rect">
            <a:avLst/>
          </a:prstGeom>
          <a:noFill/>
          <a:ln/>
        </p:spPr>
        <p:txBody>
          <a:bodyPr wrap="square" lIns="0" tIns="0" rIns="0" bIns="0" rtlCol="0" anchor="ctr"/>
          <a:lstStyle/>
          <a:p>
            <a:pPr indent="0" marL="0">
              <a:buNone/>
            </a:pPr>
            <a:r>
              <a:rPr lang="en-US" sz="1600" b="1" dirty="0">
                <a:solidFill>
                  <a:schemeClr val="accent1"/>
                </a:solidFill>
              </a:rPr>
              <a:t>Volets 2-3  </a:t>
            </a:r>
            <a:pPr indent="0" marL="0">
              <a:buNone/>
            </a:pPr>
            <a:r>
              <a:rPr lang="en-US" sz="1600" dirty="0">
                <a:solidFill>
                  <a:schemeClr val="tx1"/>
                </a:solidFill>
              </a:rPr>
              <a:t>Installations et tarifs</a:t>
            </a:r>
            <a:endParaRPr lang="en-US" sz="1600" dirty="0"/>
          </a:p>
        </p:txBody>
      </p:sp>
      <p:sp>
        <p:nvSpPr>
          <p:cNvPr id="9" name="c2_b2"/>
          <p:cNvSpPr/>
          <p:nvPr/>
        </p:nvSpPr>
        <p:spPr>
          <a:xfrm>
            <a:off x="6949440" y="3785616"/>
            <a:ext cx="4690872" cy="804672"/>
          </a:xfrm>
          <a:prstGeom prst="roundRect">
            <a:avLst>
              <a:gd name="adj" fmla="val 13636"/>
            </a:avLst>
          </a:prstGeom>
          <a:solidFill>
            <a:schemeClr val="bg2"/>
          </a:solidFill>
          <a:ln w="12700">
            <a:solidFill>
              <a:schemeClr val="bg2"/>
            </a:solidFill>
            <a:prstDash val="solid"/>
          </a:ln>
        </p:spPr>
      </p:sp>
      <p:sp>
        <p:nvSpPr>
          <p:cNvPr id="10" name="c2_t2"/>
          <p:cNvSpPr txBox="1"/>
          <p:nvPr/>
        </p:nvSpPr>
        <p:spPr>
          <a:xfrm>
            <a:off x="7223760" y="3785616"/>
            <a:ext cx="4297680" cy="804672"/>
          </a:xfrm>
          <a:prstGeom prst="rect">
            <a:avLst/>
          </a:prstGeom>
          <a:noFill/>
          <a:ln/>
        </p:spPr>
        <p:txBody>
          <a:bodyPr wrap="square" lIns="0" tIns="0" rIns="0" bIns="0" rtlCol="0" anchor="ctr"/>
          <a:lstStyle/>
          <a:p>
            <a:pPr indent="0" marL="0">
              <a:buNone/>
            </a:pPr>
            <a:r>
              <a:rPr lang="en-US" sz="1600" b="1" dirty="0">
                <a:solidFill>
                  <a:schemeClr val="accent1"/>
                </a:solidFill>
              </a:rPr>
              <a:t>Volets 4-5  </a:t>
            </a:r>
            <a:pPr indent="0" marL="0">
              <a:buNone/>
            </a:pPr>
            <a:r>
              <a:rPr lang="en-US" sz="1600" dirty="0">
                <a:solidFill>
                  <a:schemeClr val="tx1"/>
                </a:solidFill>
              </a:rPr>
              <a:t>Compléments alimentaires</a:t>
            </a:r>
            <a:endParaRPr lang="en-US" sz="1600" dirty="0"/>
          </a:p>
        </p:txBody>
      </p:sp>
      <p:sp>
        <p:nvSpPr>
          <p:cNvPr id="11" name="c2_b3"/>
          <p:cNvSpPr/>
          <p:nvPr/>
        </p:nvSpPr>
        <p:spPr>
          <a:xfrm>
            <a:off x="6949440" y="4809744"/>
            <a:ext cx="4690872" cy="804672"/>
          </a:xfrm>
          <a:prstGeom prst="roundRect">
            <a:avLst>
              <a:gd name="adj" fmla="val 13636"/>
            </a:avLst>
          </a:prstGeom>
          <a:solidFill>
            <a:schemeClr val="bg2"/>
          </a:solidFill>
          <a:ln w="12700">
            <a:solidFill>
              <a:schemeClr val="bg2"/>
            </a:solidFill>
            <a:prstDash val="solid"/>
          </a:ln>
        </p:spPr>
      </p:sp>
      <p:sp>
        <p:nvSpPr>
          <p:cNvPr id="12" name="c2_t3"/>
          <p:cNvSpPr txBox="1"/>
          <p:nvPr/>
        </p:nvSpPr>
        <p:spPr>
          <a:xfrm>
            <a:off x="7223760" y="4809744"/>
            <a:ext cx="4297680" cy="804672"/>
          </a:xfrm>
          <a:prstGeom prst="rect">
            <a:avLst/>
          </a:prstGeom>
          <a:noFill/>
          <a:ln/>
        </p:spPr>
        <p:txBody>
          <a:bodyPr wrap="square" lIns="0" tIns="0" rIns="0" bIns="0" rtlCol="0" anchor="ctr"/>
          <a:lstStyle/>
          <a:p>
            <a:pPr indent="0" marL="0">
              <a:buNone/>
            </a:pPr>
            <a:r>
              <a:rPr lang="en-US" sz="1600" b="1" dirty="0">
                <a:solidFill>
                  <a:schemeClr val="accent1"/>
                </a:solidFill>
              </a:rPr>
              <a:t>Volet 6  </a:t>
            </a:r>
            <a:pPr indent="0" marL="0">
              <a:buNone/>
            </a:pPr>
            <a:r>
              <a:rPr lang="en-US" sz="1600" dirty="0">
                <a:solidFill>
                  <a:schemeClr val="tx1"/>
                </a:solidFill>
              </a:rPr>
              <a:t>Accès, contacts, horaires</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decel="100000" fill="hold"/>
                                        <p:tgtEl>
                                          <p:spTgt spid="5"/>
                                        </p:tgtEl>
                                        <p:attrNameLst>
                                          <p:attrName>ppt_x</p:attrName>
                                        </p:attrNameLst>
                                      </p:cBhvr>
                                      <p:tavLst>
                                        <p:tav tm="0">
                                          <p:val>
                                            <p:strVal val="#ppt_x"/>
                                          </p:val>
                                        </p:tav>
                                        <p:tav tm="100000">
                                          <p:val>
                                            <p:strVal val="#ppt_x"/>
                                          </p:val>
                                        </p:tav>
                                      </p:tavLst>
                                    </p:anim>
                                    <p:anim calcmode="lin" valueType="num">
                                      <p:cBhvr>
                                        <p:cTn id="23" dur="500" decel="100000" fill="hold"/>
                                        <p:tgtEl>
                                          <p:spTgt spid="5"/>
                                        </p:tgtEl>
                                        <p:attrNameLst>
                                          <p:attrName>ppt_y</p:attrName>
                                        </p:attrNameLst>
                                      </p:cBhvr>
                                      <p:tavLst>
                                        <p:tav tm="0">
                                          <p:val>
                                            <p:strVal val="#ppt_y+0.0278"/>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p:bldP spid="7" grpId="0" animBg="1"/>
      <p:bldP spid="8" grpId="0"/>
      <p:bldP spid="9" grpId="0" animBg="1"/>
      <p:bldP spid="10" grpId="0"/>
      <p:bldP spid="11" grpId="0" animBg="1"/>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Kakémono et sa mise en situation</a:t>
            </a:r>
            <a:endParaRPr lang="en-US" sz="2800" dirty="0"/>
          </a:p>
        </p:txBody>
      </p:sp>
      <p:pic>
        <p:nvPicPr>
          <p:cNvPr id="4" name="c1_im" descr="/tmp/claude-0/-home-user-HANDY/4ddfdd3d-c678-5164-8991-be3c6152a069/scratchpad/assets/kakemono.jpg">    </p:cNvPr>
          <p:cNvPicPr>
            <a:picLocks noChangeAspect="1"/>
          </p:cNvPicPr>
          <p:nvPr/>
        </p:nvPicPr>
        <p:blipFill>
          <a:blip r:embed="rId1"/>
          <a:stretch>
            <a:fillRect/>
          </a:stretch>
        </p:blipFill>
        <p:spPr>
          <a:xfrm>
            <a:off x="585127" y="1463040"/>
            <a:ext cx="2121586" cy="4617720"/>
          </a:xfrm>
          <a:prstGeom prst="rect">
            <a:avLst/>
          </a:prstGeom>
          <a:effectLst>
            <a:outerShdw sx="100000" sy="100000" kx="0" ky="0" algn="bl" rotWithShape="0" blurRad="127000" dist="25400" dir="5400000">
              <a:srgbClr val="000000">
                <a:alpha val="16000"/>
              </a:srgbClr>
            </a:outerShdw>
          </a:effectLst>
        </p:spPr>
      </p:pic>
      <p:pic>
        <p:nvPicPr>
          <p:cNvPr id="5" name="c2_im" descr="/tmp/claude-0/-home-user-HANDY/4ddfdd3d-c678-5164-8991-be3c6152a069/scratchpad/assets/kakemono_situ.jpg">    </p:cNvPr>
          <p:cNvPicPr>
            <a:picLocks noChangeAspect="1"/>
          </p:cNvPicPr>
          <p:nvPr/>
        </p:nvPicPr>
        <p:blipFill>
          <a:blip r:embed="rId2"/>
          <a:stretch>
            <a:fillRect/>
          </a:stretch>
        </p:blipFill>
        <p:spPr>
          <a:xfrm>
            <a:off x="3030362" y="1463040"/>
            <a:ext cx="3357596" cy="4617720"/>
          </a:xfrm>
          <a:prstGeom prst="rect">
            <a:avLst/>
          </a:prstGeom>
          <a:effectLst>
            <a:outerShdw sx="100000" sy="100000" kx="0" ky="0" algn="bl" rotWithShape="0" blurRad="127000" dist="25400" dir="5400000">
              <a:srgbClr val="000000">
                <a:alpha val="16000"/>
              </a:srgbClr>
            </a:outerShdw>
          </a:effectLst>
        </p:spPr>
      </p:pic>
      <p:sp>
        <p:nvSpPr>
          <p:cNvPr id="6" name="c3_b0"/>
          <p:cNvSpPr/>
          <p:nvPr/>
        </p:nvSpPr>
        <p:spPr>
          <a:xfrm>
            <a:off x="6766560" y="1691640"/>
            <a:ext cx="4873752" cy="1097280"/>
          </a:xfrm>
          <a:prstGeom prst="roundRect">
            <a:avLst>
              <a:gd name="adj" fmla="val 10000"/>
            </a:avLst>
          </a:prstGeom>
          <a:solidFill>
            <a:schemeClr val="bg2"/>
          </a:solidFill>
          <a:ln w="12700">
            <a:solidFill>
              <a:schemeClr val="bg2"/>
            </a:solidFill>
            <a:prstDash val="solid"/>
          </a:ln>
        </p:spPr>
      </p:sp>
      <p:sp>
        <p:nvSpPr>
          <p:cNvPr id="7" name="c3_t0"/>
          <p:cNvSpPr txBox="1"/>
          <p:nvPr/>
        </p:nvSpPr>
        <p:spPr>
          <a:xfrm>
            <a:off x="7040880" y="1691640"/>
            <a:ext cx="4434840" cy="1097280"/>
          </a:xfrm>
          <a:prstGeom prst="rect">
            <a:avLst/>
          </a:prstGeom>
          <a:noFill/>
          <a:ln/>
        </p:spPr>
        <p:txBody>
          <a:bodyPr wrap="square" lIns="0" tIns="0" rIns="0" bIns="0" rtlCol="0" anchor="ctr"/>
          <a:lstStyle/>
          <a:p>
            <a:pPr indent="0" marL="0">
              <a:buNone/>
            </a:pPr>
            <a:r>
              <a:rPr lang="en-US" sz="1600" b="1" dirty="0">
                <a:solidFill>
                  <a:schemeClr val="accent1"/>
                </a:solidFill>
              </a:rPr>
              <a:t>Format : </a:t>
            </a:r>
            <a:pPr indent="0" marL="0">
              <a:buNone/>
            </a:pPr>
            <a:r>
              <a:rPr lang="en-US" sz="1600" dirty="0">
                <a:solidFill>
                  <a:schemeClr val="tx1"/>
                </a:solidFill>
              </a:rPr>
              <a:t>85 × 200 cm, CMJN</a:t>
            </a:r>
            <a:endParaRPr lang="en-US" sz="1600" dirty="0"/>
          </a:p>
        </p:txBody>
      </p:sp>
      <p:sp>
        <p:nvSpPr>
          <p:cNvPr id="8" name="c3_b1"/>
          <p:cNvSpPr/>
          <p:nvPr/>
        </p:nvSpPr>
        <p:spPr>
          <a:xfrm>
            <a:off x="6766560" y="3017520"/>
            <a:ext cx="4873752" cy="1097280"/>
          </a:xfrm>
          <a:prstGeom prst="roundRect">
            <a:avLst>
              <a:gd name="adj" fmla="val 10000"/>
            </a:avLst>
          </a:prstGeom>
          <a:solidFill>
            <a:schemeClr val="bg2"/>
          </a:solidFill>
          <a:ln w="12700">
            <a:solidFill>
              <a:schemeClr val="bg2"/>
            </a:solidFill>
            <a:prstDash val="solid"/>
          </a:ln>
        </p:spPr>
      </p:sp>
      <p:sp>
        <p:nvSpPr>
          <p:cNvPr id="9" name="c3_t1"/>
          <p:cNvSpPr txBox="1"/>
          <p:nvPr/>
        </p:nvSpPr>
        <p:spPr>
          <a:xfrm>
            <a:off x="7040880" y="3017520"/>
            <a:ext cx="4434840" cy="1097280"/>
          </a:xfrm>
          <a:prstGeom prst="rect">
            <a:avLst/>
          </a:prstGeom>
          <a:noFill/>
          <a:ln/>
        </p:spPr>
        <p:txBody>
          <a:bodyPr wrap="square" lIns="0" tIns="0" rIns="0" bIns="0" rtlCol="0" anchor="ctr"/>
          <a:lstStyle/>
          <a:p>
            <a:pPr indent="0" marL="0">
              <a:buNone/>
            </a:pPr>
            <a:r>
              <a:rPr lang="en-US" sz="1600" b="1" dirty="0">
                <a:solidFill>
                  <a:schemeClr val="accent1"/>
                </a:solidFill>
              </a:rPr>
              <a:t>Appel à l'action : </a:t>
            </a:r>
            <a:pPr indent="0" marL="0">
              <a:buNone/>
            </a:pPr>
            <a:r>
              <a:rPr lang="en-US" sz="1600" dirty="0">
                <a:solidFill>
                  <a:schemeClr val="tx1"/>
                </a:solidFill>
              </a:rPr>
              <a:t>« Rejoignez la communauté American's Gym Dokui »</a:t>
            </a:r>
            <a:endParaRPr lang="en-US" sz="1600" dirty="0"/>
          </a:p>
        </p:txBody>
      </p:sp>
      <p:sp>
        <p:nvSpPr>
          <p:cNvPr id="10" name="c3_b2"/>
          <p:cNvSpPr/>
          <p:nvPr/>
        </p:nvSpPr>
        <p:spPr>
          <a:xfrm>
            <a:off x="6766560" y="4343400"/>
            <a:ext cx="4873752" cy="1097280"/>
          </a:xfrm>
          <a:prstGeom prst="roundRect">
            <a:avLst>
              <a:gd name="adj" fmla="val 10000"/>
            </a:avLst>
          </a:prstGeom>
          <a:solidFill>
            <a:schemeClr val="bg2"/>
          </a:solidFill>
          <a:ln w="12700">
            <a:solidFill>
              <a:schemeClr val="bg2"/>
            </a:solidFill>
            <a:prstDash val="solid"/>
          </a:ln>
        </p:spPr>
      </p:sp>
      <p:sp>
        <p:nvSpPr>
          <p:cNvPr id="11" name="c3_t2"/>
          <p:cNvSpPr txBox="1"/>
          <p:nvPr/>
        </p:nvSpPr>
        <p:spPr>
          <a:xfrm>
            <a:off x="7040880" y="4343400"/>
            <a:ext cx="4434840" cy="1097280"/>
          </a:xfrm>
          <a:prstGeom prst="rect">
            <a:avLst/>
          </a:prstGeom>
          <a:noFill/>
          <a:ln/>
        </p:spPr>
        <p:txBody>
          <a:bodyPr wrap="square" lIns="0" tIns="0" rIns="0" bIns="0" rtlCol="0" anchor="ctr"/>
          <a:lstStyle/>
          <a:p>
            <a:pPr indent="0" marL="0">
              <a:buNone/>
            </a:pPr>
            <a:r>
              <a:rPr lang="en-US" sz="1600" b="1" dirty="0">
                <a:solidFill>
                  <a:schemeClr val="accent1"/>
                </a:solidFill>
              </a:rPr>
              <a:t>Usage : </a:t>
            </a:r>
            <a:pPr indent="0" marL="0">
              <a:buNone/>
            </a:pPr>
            <a:r>
              <a:rPr lang="en-US" sz="1600" dirty="0">
                <a:solidFill>
                  <a:schemeClr val="tx1"/>
                </a:solidFill>
              </a:rPr>
              <a:t>Accueil, événements sportifs</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decel="100000" fill="hold"/>
                                        <p:tgtEl>
                                          <p:spTgt spid="5"/>
                                        </p:tgtEl>
                                        <p:attrNameLst>
                                          <p:attrName>ppt_x</p:attrName>
                                        </p:attrNameLst>
                                      </p:cBhvr>
                                      <p:tavLst>
                                        <p:tav tm="0">
                                          <p:val>
                                            <p:strVal val="#ppt_x"/>
                                          </p:val>
                                        </p:tav>
                                        <p:tav tm="100000">
                                          <p:val>
                                            <p:strVal val="#ppt_x"/>
                                          </p:val>
                                        </p:tav>
                                      </p:tavLst>
                                    </p:anim>
                                    <p:anim calcmode="lin" valueType="num">
                                      <p:cBhvr>
                                        <p:cTn id="23" dur="500" decel="100000" fill="hold"/>
                                        <p:tgtEl>
                                          <p:spTgt spid="5"/>
                                        </p:tgtEl>
                                        <p:attrNameLst>
                                          <p:attrName>ppt_y</p:attrName>
                                        </p:attrNameLst>
                                      </p:cBhvr>
                                      <p:tavLst>
                                        <p:tav tm="0">
                                          <p:val>
                                            <p:strVal val="#ppt_y+0.0278"/>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anim calcmode="lin" valueType="num">
                                      <p:cBhvr>
                                        <p:cTn id="29" dur="500" decel="100000" fill="hold"/>
                                        <p:tgtEl>
                                          <p:spTgt spid="6"/>
                                        </p:tgtEl>
                                        <p:attrNameLst>
                                          <p:attrName>ppt_x</p:attrName>
                                        </p:attrNameLst>
                                      </p:cBhvr>
                                      <p:tavLst>
                                        <p:tav tm="0">
                                          <p:val>
                                            <p:strVal val="#ppt_x"/>
                                          </p:val>
                                        </p:tav>
                                        <p:tav tm="100000">
                                          <p:val>
                                            <p:strVal val="#ppt_x"/>
                                          </p:val>
                                        </p:tav>
                                      </p:tavLst>
                                    </p:anim>
                                    <p:anim calcmode="lin" valueType="num">
                                      <p:cBhvr>
                                        <p:cTn id="30" dur="500" decel="100000" fill="hold"/>
                                        <p:tgtEl>
                                          <p:spTgt spid="6"/>
                                        </p:tgtEl>
                                        <p:attrNameLst>
                                          <p:attrName>ppt_y</p:attrName>
                                        </p:attrNameLst>
                                      </p:cBhvr>
                                      <p:tavLst>
                                        <p:tav tm="0">
                                          <p:val>
                                            <p:strVal val="#ppt_y+0.0278"/>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fade">
                                      <p:cBhvr>
                                        <p:cTn id="33" dur="500"/>
                                        <p:tgtEl>
                                          <p:spTgt spid="7"/>
                                        </p:tgtEl>
                                      </p:cBhvr>
                                    </p:animEffect>
                                    <p:anim calcmode="lin" valueType="num">
                                      <p:cBhvr>
                                        <p:cTn id="34" dur="500" decel="100000" fill="hold"/>
                                        <p:tgtEl>
                                          <p:spTgt spid="7"/>
                                        </p:tgtEl>
                                        <p:attrNameLst>
                                          <p:attrName>ppt_x</p:attrName>
                                        </p:attrNameLst>
                                      </p:cBhvr>
                                      <p:tavLst>
                                        <p:tav tm="0">
                                          <p:val>
                                            <p:strVal val="#ppt_x"/>
                                          </p:val>
                                        </p:tav>
                                        <p:tav tm="100000">
                                          <p:val>
                                            <p:strVal val="#ppt_x"/>
                                          </p:val>
                                        </p:tav>
                                      </p:tavLst>
                                    </p:anim>
                                    <p:anim calcmode="lin" valueType="num">
                                      <p:cBhvr>
                                        <p:cTn id="35" dur="500" decel="100000" fill="hold"/>
                                        <p:tgtEl>
                                          <p:spTgt spid="7"/>
                                        </p:tgtEl>
                                        <p:attrNameLst>
                                          <p:attrName>ppt_y</p:attrName>
                                        </p:attrNameLst>
                                      </p:cBhvr>
                                      <p:tavLst>
                                        <p:tav tm="0">
                                          <p:val>
                                            <p:strVal val="#ppt_y+0.0278"/>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anim calcmode="lin" valueType="num">
                                      <p:cBhvr>
                                        <p:cTn id="39" dur="500" decel="100000" fill="hold"/>
                                        <p:tgtEl>
                                          <p:spTgt spid="8"/>
                                        </p:tgtEl>
                                        <p:attrNameLst>
                                          <p:attrName>ppt_x</p:attrName>
                                        </p:attrNameLst>
                                      </p:cBhvr>
                                      <p:tavLst>
                                        <p:tav tm="0">
                                          <p:val>
                                            <p:strVal val="#ppt_x"/>
                                          </p:val>
                                        </p:tav>
                                        <p:tav tm="100000">
                                          <p:val>
                                            <p:strVal val="#ppt_x"/>
                                          </p:val>
                                        </p:tav>
                                      </p:tavLst>
                                    </p:anim>
                                    <p:anim calcmode="lin" valueType="num">
                                      <p:cBhvr>
                                        <p:cTn id="40" dur="500" decel="100000" fill="hold"/>
                                        <p:tgtEl>
                                          <p:spTgt spid="8"/>
                                        </p:tgtEl>
                                        <p:attrNameLst>
                                          <p:attrName>ppt_y</p:attrName>
                                        </p:attrNameLst>
                                      </p:cBhvr>
                                      <p:tavLst>
                                        <p:tav tm="0">
                                          <p:val>
                                            <p:strVal val="#ppt_y+0.027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anim calcmode="lin" valueType="num">
                                      <p:cBhvr>
                                        <p:cTn id="44" dur="500" decel="100000" fill="hold"/>
                                        <p:tgtEl>
                                          <p:spTgt spid="9"/>
                                        </p:tgtEl>
                                        <p:attrNameLst>
                                          <p:attrName>ppt_x</p:attrName>
                                        </p:attrNameLst>
                                      </p:cBhvr>
                                      <p:tavLst>
                                        <p:tav tm="0">
                                          <p:val>
                                            <p:strVal val="#ppt_x"/>
                                          </p:val>
                                        </p:tav>
                                        <p:tav tm="100000">
                                          <p:val>
                                            <p:strVal val="#ppt_x"/>
                                          </p:val>
                                        </p:tav>
                                      </p:tavLst>
                                    </p:anim>
                                    <p:anim calcmode="lin" valueType="num">
                                      <p:cBhvr>
                                        <p:cTn id="45" dur="500" decel="100000" fill="hold"/>
                                        <p:tgtEl>
                                          <p:spTgt spid="9"/>
                                        </p:tgtEl>
                                        <p:attrNameLst>
                                          <p:attrName>ppt_y</p:attrName>
                                        </p:attrNameLst>
                                      </p:cBhvr>
                                      <p:tavLst>
                                        <p:tav tm="0">
                                          <p:val>
                                            <p:strVal val="#ppt_y+0.0278"/>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anim calcmode="lin" valueType="num">
                                      <p:cBhvr>
                                        <p:cTn id="49" dur="500" decel="100000" fill="hold"/>
                                        <p:tgtEl>
                                          <p:spTgt spid="10"/>
                                        </p:tgtEl>
                                        <p:attrNameLst>
                                          <p:attrName>ppt_x</p:attrName>
                                        </p:attrNameLst>
                                      </p:cBhvr>
                                      <p:tavLst>
                                        <p:tav tm="0">
                                          <p:val>
                                            <p:strVal val="#ppt_x"/>
                                          </p:val>
                                        </p:tav>
                                        <p:tav tm="100000">
                                          <p:val>
                                            <p:strVal val="#ppt_x"/>
                                          </p:val>
                                        </p:tav>
                                      </p:tavLst>
                                    </p:anim>
                                    <p:anim calcmode="lin" valueType="num">
                                      <p:cBhvr>
                                        <p:cTn id="50" dur="500" decel="100000" fill="hold"/>
                                        <p:tgtEl>
                                          <p:spTgt spid="10"/>
                                        </p:tgtEl>
                                        <p:attrNameLst>
                                          <p:attrName>ppt_y</p:attrName>
                                        </p:attrNameLst>
                                      </p:cBhvr>
                                      <p:tavLst>
                                        <p:tav tm="0">
                                          <p:val>
                                            <p:strVal val="#ppt_y+0.0278"/>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500"/>
                                        <p:tgtEl>
                                          <p:spTgt spid="11"/>
                                        </p:tgtEl>
                                      </p:cBhvr>
                                    </p:animEffect>
                                    <p:anim calcmode="lin" valueType="num">
                                      <p:cBhvr>
                                        <p:cTn id="54" dur="500" decel="100000" fill="hold"/>
                                        <p:tgtEl>
                                          <p:spTgt spid="11"/>
                                        </p:tgtEl>
                                        <p:attrNameLst>
                                          <p:attrName>ppt_x</p:attrName>
                                        </p:attrNameLst>
                                      </p:cBhvr>
                                      <p:tavLst>
                                        <p:tav tm="0">
                                          <p:val>
                                            <p:strVal val="#ppt_x"/>
                                          </p:val>
                                        </p:tav>
                                        <p:tav tm="100000">
                                          <p:val>
                                            <p:strVal val="#ppt_x"/>
                                          </p:val>
                                        </p:tav>
                                      </p:tavLst>
                                    </p:anim>
                                    <p:anim calcmode="lin" valueType="num">
                                      <p:cBhvr>
                                        <p:cTn id="55" dur="500" decel="100000" fill="hold"/>
                                        <p:tgtEl>
                                          <p:spTgt spid="11"/>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animBg="1"/>
      <p:bldP spid="7" grpId="0"/>
      <p:bldP spid="8" grpId="0" animBg="1"/>
      <p:bldP spid="9" grpId="0"/>
      <p:bldP spid="10" grpId="0" animBg="1"/>
      <p:bldP spid="11" grpId="0"/>
    </p:bldLst>
  </p:timing>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Visuel pour les réseaux sociaux</a:t>
            </a:r>
            <a:endParaRPr lang="en-US" sz="2800" dirty="0"/>
          </a:p>
        </p:txBody>
      </p:sp>
      <p:pic>
        <p:nvPicPr>
          <p:cNvPr id="4" name="c1_im" descr="/tmp/claude-0/-home-user-HANDY/4ddfdd3d-c678-5164-8991-be3c6152a069/scratchpad/assets/reseaux.jpg">    </p:cNvPr>
          <p:cNvPicPr>
            <a:picLocks noChangeAspect="1"/>
          </p:cNvPicPr>
          <p:nvPr/>
        </p:nvPicPr>
        <p:blipFill>
          <a:blip r:embed="rId1"/>
          <a:stretch>
            <a:fillRect/>
          </a:stretch>
        </p:blipFill>
        <p:spPr>
          <a:xfrm>
            <a:off x="644843" y="1508760"/>
            <a:ext cx="6391275" cy="4526280"/>
          </a:xfrm>
          <a:prstGeom prst="rect">
            <a:avLst/>
          </a:prstGeom>
          <a:effectLst>
            <a:outerShdw sx="100000" sy="100000" kx="0" ky="0" algn="bl" rotWithShape="0" blurRad="127000" dist="25400" dir="5400000">
              <a:srgbClr val="000000">
                <a:alpha val="16000"/>
              </a:srgbClr>
            </a:outerShdw>
          </a:effectLst>
        </p:spPr>
      </p:pic>
      <p:sp>
        <p:nvSpPr>
          <p:cNvPr id="5" name="c2_b0"/>
          <p:cNvSpPr/>
          <p:nvPr/>
        </p:nvSpPr>
        <p:spPr>
          <a:xfrm>
            <a:off x="7452360" y="1691640"/>
            <a:ext cx="4187952" cy="1097280"/>
          </a:xfrm>
          <a:prstGeom prst="roundRect">
            <a:avLst>
              <a:gd name="adj" fmla="val 10000"/>
            </a:avLst>
          </a:prstGeom>
          <a:solidFill>
            <a:schemeClr val="bg2"/>
          </a:solidFill>
          <a:ln w="12700">
            <a:solidFill>
              <a:schemeClr val="bg2"/>
            </a:solidFill>
            <a:prstDash val="solid"/>
          </a:ln>
        </p:spPr>
      </p:sp>
      <p:sp>
        <p:nvSpPr>
          <p:cNvPr id="6" name="c2_t0"/>
          <p:cNvSpPr txBox="1"/>
          <p:nvPr/>
        </p:nvSpPr>
        <p:spPr>
          <a:xfrm>
            <a:off x="7680960" y="1691640"/>
            <a:ext cx="3794760" cy="1097280"/>
          </a:xfrm>
          <a:prstGeom prst="rect">
            <a:avLst/>
          </a:prstGeom>
          <a:noFill/>
          <a:ln/>
        </p:spPr>
        <p:txBody>
          <a:bodyPr wrap="square" lIns="0" tIns="0" rIns="0" bIns="0" rtlCol="0" anchor="ctr"/>
          <a:lstStyle/>
          <a:p>
            <a:pPr indent="0" marL="0">
              <a:buNone/>
            </a:pPr>
            <a:r>
              <a:rPr lang="en-US" sz="1600" b="1" dirty="0">
                <a:solidFill>
                  <a:schemeClr val="accent1"/>
                </a:solidFill>
              </a:rPr>
              <a:t>Diffusion : </a:t>
            </a:r>
            <a:pPr indent="0" marL="0">
              <a:buNone/>
            </a:pPr>
            <a:r>
              <a:rPr lang="en-US" sz="1600" dirty="0">
                <a:solidFill>
                  <a:schemeClr val="tx1"/>
                </a:solidFill>
              </a:rPr>
              <a:t>Facebook, Instagram, TikTok</a:t>
            </a:r>
            <a:endParaRPr lang="en-US" sz="1600" dirty="0"/>
          </a:p>
        </p:txBody>
      </p:sp>
      <p:sp>
        <p:nvSpPr>
          <p:cNvPr id="7" name="c2_b1"/>
          <p:cNvSpPr/>
          <p:nvPr/>
        </p:nvSpPr>
        <p:spPr>
          <a:xfrm>
            <a:off x="7452360" y="3017520"/>
            <a:ext cx="4187952" cy="1097280"/>
          </a:xfrm>
          <a:prstGeom prst="roundRect">
            <a:avLst>
              <a:gd name="adj" fmla="val 10000"/>
            </a:avLst>
          </a:prstGeom>
          <a:solidFill>
            <a:schemeClr val="bg2"/>
          </a:solidFill>
          <a:ln w="12700">
            <a:solidFill>
              <a:schemeClr val="bg2"/>
            </a:solidFill>
            <a:prstDash val="solid"/>
          </a:ln>
        </p:spPr>
      </p:sp>
      <p:sp>
        <p:nvSpPr>
          <p:cNvPr id="8" name="c2_t1"/>
          <p:cNvSpPr txBox="1"/>
          <p:nvPr/>
        </p:nvSpPr>
        <p:spPr>
          <a:xfrm>
            <a:off x="7680960" y="3017520"/>
            <a:ext cx="3794760" cy="1097280"/>
          </a:xfrm>
          <a:prstGeom prst="rect">
            <a:avLst/>
          </a:prstGeom>
          <a:noFill/>
          <a:ln/>
        </p:spPr>
        <p:txBody>
          <a:bodyPr wrap="square" lIns="0" tIns="0" rIns="0" bIns="0" rtlCol="0" anchor="ctr"/>
          <a:lstStyle/>
          <a:p>
            <a:pPr indent="0" marL="0">
              <a:buNone/>
            </a:pPr>
            <a:r>
              <a:rPr lang="en-US" sz="1600" b="1" dirty="0">
                <a:solidFill>
                  <a:schemeClr val="accent1"/>
                </a:solidFill>
              </a:rPr>
              <a:t>Accroche : </a:t>
            </a:r>
            <a:pPr indent="0" marL="0">
              <a:buNone/>
            </a:pPr>
            <a:r>
              <a:rPr lang="en-US" sz="1600" dirty="0">
                <a:solidFill>
                  <a:schemeClr val="tx1"/>
                </a:solidFill>
              </a:rPr>
              <a:t>« Chaque séance est un pas de plus vers votre bien-être »</a:t>
            </a:r>
            <a:endParaRPr lang="en-US" sz="1600" dirty="0"/>
          </a:p>
        </p:txBody>
      </p:sp>
      <p:sp>
        <p:nvSpPr>
          <p:cNvPr id="9" name="c2_b2"/>
          <p:cNvSpPr/>
          <p:nvPr/>
        </p:nvSpPr>
        <p:spPr>
          <a:xfrm>
            <a:off x="7452360" y="4343400"/>
            <a:ext cx="4187952" cy="1097280"/>
          </a:xfrm>
          <a:prstGeom prst="roundRect">
            <a:avLst>
              <a:gd name="adj" fmla="val 10000"/>
            </a:avLst>
          </a:prstGeom>
          <a:solidFill>
            <a:schemeClr val="bg2"/>
          </a:solidFill>
          <a:ln w="12700">
            <a:solidFill>
              <a:schemeClr val="bg2"/>
            </a:solidFill>
            <a:prstDash val="solid"/>
          </a:ln>
        </p:spPr>
      </p:sp>
      <p:sp>
        <p:nvSpPr>
          <p:cNvPr id="10" name="c2_t2"/>
          <p:cNvSpPr txBox="1"/>
          <p:nvPr/>
        </p:nvSpPr>
        <p:spPr>
          <a:xfrm>
            <a:off x="7680960" y="4343400"/>
            <a:ext cx="3794760" cy="1097280"/>
          </a:xfrm>
          <a:prstGeom prst="rect">
            <a:avLst/>
          </a:prstGeom>
          <a:noFill/>
          <a:ln/>
        </p:spPr>
        <p:txBody>
          <a:bodyPr wrap="square" lIns="0" tIns="0" rIns="0" bIns="0" rtlCol="0" anchor="ctr"/>
          <a:lstStyle/>
          <a:p>
            <a:pPr indent="0" marL="0">
              <a:buNone/>
            </a:pPr>
            <a:r>
              <a:rPr lang="en-US" sz="1600" b="1" dirty="0">
                <a:solidFill>
                  <a:schemeClr val="accent1"/>
                </a:solidFill>
              </a:rPr>
              <a:t>Objectif : </a:t>
            </a:r>
            <a:pPr indent="0" marL="0">
              <a:buNone/>
            </a:pPr>
            <a:r>
              <a:rPr lang="en-US" sz="1600" dirty="0">
                <a:solidFill>
                  <a:schemeClr val="tx1"/>
                </a:solidFill>
              </a:rPr>
              <a:t>Continuité visuelle print et digital</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39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decel="100000" fill="hold"/>
                                        <p:tgtEl>
                                          <p:spTgt spid="5"/>
                                        </p:tgtEl>
                                        <p:attrNameLst>
                                          <p:attrName>ppt_x</p:attrName>
                                        </p:attrNameLst>
                                      </p:cBhvr>
                                      <p:tavLst>
                                        <p:tav tm="0">
                                          <p:val>
                                            <p:strVal val="#ppt_x"/>
                                          </p:val>
                                        </p:tav>
                                        <p:tav tm="100000">
                                          <p:val>
                                            <p:strVal val="#ppt_x"/>
                                          </p:val>
                                        </p:tav>
                                      </p:tavLst>
                                    </p:anim>
                                    <p:anim calcmode="lin" valueType="num">
                                      <p:cBhvr>
                                        <p:cTn id="23" dur="500" decel="100000" fill="hold"/>
                                        <p:tgtEl>
                                          <p:spTgt spid="5"/>
                                        </p:tgtEl>
                                        <p:attrNameLst>
                                          <p:attrName>ppt_y</p:attrName>
                                        </p:attrNameLst>
                                      </p:cBhvr>
                                      <p:tavLst>
                                        <p:tav tm="0">
                                          <p:val>
                                            <p:strVal val="#ppt_y+0.0278"/>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Effect transition="in" filter="fade">
                                      <p:cBhvr>
                                        <p:cTn id="36" dur="500"/>
                                        <p:tgtEl>
                                          <p:spTgt spid="8"/>
                                        </p:tgtEl>
                                      </p:cBhvr>
                                    </p:animEffect>
                                    <p:anim calcmode="lin" valueType="num">
                                      <p:cBhvr>
                                        <p:cTn id="37" dur="500" decel="100000" fill="hold"/>
                                        <p:tgtEl>
                                          <p:spTgt spid="8"/>
                                        </p:tgtEl>
                                        <p:attrNameLst>
                                          <p:attrName>ppt_x</p:attrName>
                                        </p:attrNameLst>
                                      </p:cBhvr>
                                      <p:tavLst>
                                        <p:tav tm="0">
                                          <p:val>
                                            <p:strVal val="#ppt_x"/>
                                          </p:val>
                                        </p:tav>
                                        <p:tav tm="100000">
                                          <p:val>
                                            <p:strVal val="#ppt_x"/>
                                          </p:val>
                                        </p:tav>
                                      </p:tavLst>
                                    </p:anim>
                                    <p:anim calcmode="lin" valueType="num">
                                      <p:cBhvr>
                                        <p:cTn id="38" dur="500" decel="100000" fill="hold"/>
                                        <p:tgtEl>
                                          <p:spTgt spid="8"/>
                                        </p:tgtEl>
                                        <p:attrNameLst>
                                          <p:attrName>ppt_y</p:attrName>
                                        </p:attrNameLst>
                                      </p:cBhvr>
                                      <p:tavLst>
                                        <p:tav tm="0">
                                          <p:val>
                                            <p:strVal val="#ppt_y+0.0278"/>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animBg="1"/>
      <p:bldP spid="6" grpId="0"/>
      <p:bldP spid="7" grpId="0" animBg="1"/>
      <p:bldP spid="8" grpId="0"/>
      <p:bldP spid="9" grpId="0" animBg="1"/>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Animation du logo</a:t>
            </a:r>
            <a:endParaRPr lang="en-US" sz="2800" dirty="0"/>
          </a:p>
        </p:txBody>
      </p:sp>
      <p:pic>
        <p:nvPicPr>
          <p:cNvPr id="3" name="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709928" y="1417320"/>
            <a:ext cx="8778240" cy="4937760"/>
          </a:xfrm>
          <a:prstGeom prst="rect">
            <a:avLst/>
          </a:prstGeom>
        </p:spPr>
      </p:pic>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40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Spot animatique 2D</a:t>
            </a:r>
            <a:endParaRPr lang="en-US" sz="2800" dirty="0"/>
          </a:p>
        </p:txBody>
      </p:sp>
      <p:pic>
        <p:nvPicPr>
          <p:cNvPr id="3" name="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709928" y="1417320"/>
            <a:ext cx="8778240" cy="4937760"/>
          </a:xfrm>
          <a:prstGeom prst="rect">
            <a:avLst/>
          </a:prstGeom>
        </p:spPr>
      </p:pic>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41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Spot animatique 3D</a:t>
            </a:r>
            <a:endParaRPr lang="en-US" sz="2800" dirty="0"/>
          </a:p>
        </p:txBody>
      </p:sp>
      <p:pic>
        <p:nvPicPr>
          <p:cNvPr id="3" name="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709928" y="1417320"/>
            <a:ext cx="8778240" cy="4937760"/>
          </a:xfrm>
          <a:prstGeom prst="rect">
            <a:avLst/>
          </a:prstGeom>
        </p:spPr>
      </p:pic>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42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Site web vitrine : la page d'accueil</a:t>
            </a:r>
            <a:endParaRPr lang="en-US" sz="2800" dirty="0"/>
          </a:p>
        </p:txBody>
      </p:sp>
      <p:pic>
        <p:nvPicPr>
          <p:cNvPr id="4" name="c1_im" descr="/tmp/claude-0/-home-user-HANDY/4ddfdd3d-c678-5164-8991-be3c6152a069/scratchpad/assets/web_accueil.png">    </p:cNvPr>
          <p:cNvPicPr>
            <a:picLocks noChangeAspect="1"/>
          </p:cNvPicPr>
          <p:nvPr/>
        </p:nvPicPr>
        <p:blipFill>
          <a:blip r:embed="rId1"/>
          <a:stretch>
            <a:fillRect/>
          </a:stretch>
        </p:blipFill>
        <p:spPr>
          <a:xfrm>
            <a:off x="796209" y="1508760"/>
            <a:ext cx="10596533" cy="4526280"/>
          </a:xfrm>
          <a:prstGeom prst="rect">
            <a:avLst/>
          </a:prstGeom>
          <a:effectLst>
            <a:outerShdw sx="100000" sy="100000" kx="0" ky="0" algn="bl" rotWithShape="0" blurRad="127000" dist="25400" dir="5400000">
              <a:srgbClr val="000000">
                <a:alpha val="16000"/>
              </a:srgbClr>
            </a:outerShdw>
          </a:effectLst>
        </p:spPr>
      </p:pic>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43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Les rubriques du site</a:t>
            </a:r>
            <a:endParaRPr lang="en-US" sz="2800" dirty="0"/>
          </a:p>
        </p:txBody>
      </p:sp>
      <p:pic>
        <p:nvPicPr>
          <p:cNvPr id="4" name="c1_im0" descr="/tmp/claude-0/-home-user-HANDY/4ddfdd3d-c678-5164-8991-be3c6152a069/scratchpad/assets/web_apropos.png">    </p:cNvPr>
          <p:cNvPicPr>
            <a:picLocks noChangeAspect="1"/>
          </p:cNvPicPr>
          <p:nvPr/>
        </p:nvPicPr>
        <p:blipFill>
          <a:blip r:embed="rId1"/>
          <a:stretch>
            <a:fillRect/>
          </a:stretch>
        </p:blipFill>
        <p:spPr>
          <a:xfrm>
            <a:off x="548640" y="1469019"/>
            <a:ext cx="3502152" cy="1679683"/>
          </a:xfrm>
          <a:prstGeom prst="rect">
            <a:avLst/>
          </a:prstGeom>
          <a:effectLst>
            <a:outerShdw sx="100000" sy="100000" kx="0" ky="0" algn="bl" rotWithShape="0" blurRad="127000" dist="25400" dir="5400000">
              <a:srgbClr val="000000">
                <a:alpha val="16000"/>
              </a:srgbClr>
            </a:outerShdw>
          </a:effectLst>
        </p:spPr>
      </p:pic>
      <p:sp>
        <p:nvSpPr>
          <p:cNvPr id="5" name="c1_cap0"/>
          <p:cNvSpPr txBox="1"/>
          <p:nvPr/>
        </p:nvSpPr>
        <p:spPr>
          <a:xfrm>
            <a:off x="548640" y="3240141"/>
            <a:ext cx="3502152" cy="320040"/>
          </a:xfrm>
          <a:prstGeom prst="rect">
            <a:avLst/>
          </a:prstGeom>
          <a:noFill/>
          <a:ln/>
        </p:spPr>
        <p:txBody>
          <a:bodyPr wrap="square" lIns="0" tIns="0" rIns="0" bIns="0" rtlCol="0" anchor="t"/>
          <a:lstStyle/>
          <a:p>
            <a:pPr algn="ctr" indent="0" marL="0">
              <a:buNone/>
            </a:pPr>
            <a:r>
              <a:rPr lang="en-US" sz="1400" b="1" dirty="0">
                <a:solidFill>
                  <a:schemeClr val="tx1"/>
                </a:solidFill>
              </a:rPr>
              <a:t>À propos</a:t>
            </a:r>
            <a:endParaRPr lang="en-US" sz="1400" dirty="0"/>
          </a:p>
        </p:txBody>
      </p:sp>
      <p:pic>
        <p:nvPicPr>
          <p:cNvPr id="6" name="c1_im1" descr="/tmp/claude-0/-home-user-HANDY/4ddfdd3d-c678-5164-8991-be3c6152a069/scratchpad/assets/web_equip.png">    </p:cNvPr>
          <p:cNvPicPr>
            <a:picLocks noChangeAspect="1"/>
          </p:cNvPicPr>
          <p:nvPr/>
        </p:nvPicPr>
        <p:blipFill>
          <a:blip r:embed="rId2"/>
          <a:stretch>
            <a:fillRect/>
          </a:stretch>
        </p:blipFill>
        <p:spPr>
          <a:xfrm>
            <a:off x="4343400" y="1474096"/>
            <a:ext cx="3502152" cy="1669527"/>
          </a:xfrm>
          <a:prstGeom prst="rect">
            <a:avLst/>
          </a:prstGeom>
          <a:effectLst>
            <a:outerShdw sx="100000" sy="100000" kx="0" ky="0" algn="bl" rotWithShape="0" blurRad="127000" dist="25400" dir="5400000">
              <a:srgbClr val="000000">
                <a:alpha val="16000"/>
              </a:srgbClr>
            </a:outerShdw>
          </a:effectLst>
        </p:spPr>
      </p:pic>
      <p:sp>
        <p:nvSpPr>
          <p:cNvPr id="7" name="c1_cap1"/>
          <p:cNvSpPr txBox="1"/>
          <p:nvPr/>
        </p:nvSpPr>
        <p:spPr>
          <a:xfrm>
            <a:off x="4343400" y="3235064"/>
            <a:ext cx="3502152" cy="320040"/>
          </a:xfrm>
          <a:prstGeom prst="rect">
            <a:avLst/>
          </a:prstGeom>
          <a:noFill/>
          <a:ln/>
        </p:spPr>
        <p:txBody>
          <a:bodyPr wrap="square" lIns="0" tIns="0" rIns="0" bIns="0" rtlCol="0" anchor="t"/>
          <a:lstStyle/>
          <a:p>
            <a:pPr algn="ctr" indent="0" marL="0">
              <a:buNone/>
            </a:pPr>
            <a:r>
              <a:rPr lang="en-US" sz="1400" b="1" dirty="0">
                <a:solidFill>
                  <a:schemeClr val="tx1"/>
                </a:solidFill>
              </a:rPr>
              <a:t>Nos équipements</a:t>
            </a:r>
            <a:endParaRPr lang="en-US" sz="1400" dirty="0"/>
          </a:p>
        </p:txBody>
      </p:sp>
      <p:pic>
        <p:nvPicPr>
          <p:cNvPr id="8" name="c1_im2" descr="/tmp/claude-0/-home-user-HANDY/4ddfdd3d-c678-5164-8991-be3c6152a069/scratchpad/assets/web_boutique.png">    </p:cNvPr>
          <p:cNvPicPr>
            <a:picLocks noChangeAspect="1"/>
          </p:cNvPicPr>
          <p:nvPr/>
        </p:nvPicPr>
        <p:blipFill>
          <a:blip r:embed="rId3"/>
          <a:stretch>
            <a:fillRect/>
          </a:stretch>
        </p:blipFill>
        <p:spPr>
          <a:xfrm>
            <a:off x="8138160" y="1474875"/>
            <a:ext cx="3502152" cy="1667969"/>
          </a:xfrm>
          <a:prstGeom prst="rect">
            <a:avLst/>
          </a:prstGeom>
          <a:effectLst>
            <a:outerShdw sx="100000" sy="100000" kx="0" ky="0" algn="bl" rotWithShape="0" blurRad="127000" dist="25400" dir="5400000">
              <a:srgbClr val="000000">
                <a:alpha val="16000"/>
              </a:srgbClr>
            </a:outerShdw>
          </a:effectLst>
        </p:spPr>
      </p:pic>
      <p:sp>
        <p:nvSpPr>
          <p:cNvPr id="9" name="c1_cap2"/>
          <p:cNvSpPr txBox="1"/>
          <p:nvPr/>
        </p:nvSpPr>
        <p:spPr>
          <a:xfrm>
            <a:off x="8138160" y="3234285"/>
            <a:ext cx="3502152" cy="320040"/>
          </a:xfrm>
          <a:prstGeom prst="rect">
            <a:avLst/>
          </a:prstGeom>
          <a:noFill/>
          <a:ln/>
        </p:spPr>
        <p:txBody>
          <a:bodyPr wrap="square" lIns="0" tIns="0" rIns="0" bIns="0" rtlCol="0" anchor="t"/>
          <a:lstStyle/>
          <a:p>
            <a:pPr algn="ctr" indent="0" marL="0">
              <a:buNone/>
            </a:pPr>
            <a:r>
              <a:rPr lang="en-US" sz="1400" b="1" dirty="0">
                <a:solidFill>
                  <a:schemeClr val="tx1"/>
                </a:solidFill>
              </a:rPr>
              <a:t>Boutique</a:t>
            </a:r>
            <a:endParaRPr lang="en-US" sz="1400" dirty="0"/>
          </a:p>
        </p:txBody>
      </p:sp>
      <p:pic>
        <p:nvPicPr>
          <p:cNvPr id="10" name="c2_im3" descr="/tmp/claude-0/-home-user-HANDY/4ddfdd3d-c678-5164-8991-be3c6152a069/scratchpad/assets/web_tarifs.png">    </p:cNvPr>
          <p:cNvPicPr>
            <a:picLocks noChangeAspect="1"/>
          </p:cNvPicPr>
          <p:nvPr/>
        </p:nvPicPr>
        <p:blipFill>
          <a:blip r:embed="rId4"/>
          <a:stretch>
            <a:fillRect/>
          </a:stretch>
        </p:blipFill>
        <p:spPr>
          <a:xfrm>
            <a:off x="2446020" y="3801246"/>
            <a:ext cx="3502152" cy="1678669"/>
          </a:xfrm>
          <a:prstGeom prst="rect">
            <a:avLst/>
          </a:prstGeom>
          <a:effectLst>
            <a:outerShdw sx="100000" sy="100000" kx="0" ky="0" algn="bl" rotWithShape="0" blurRad="127000" dist="25400" dir="5400000">
              <a:srgbClr val="000000">
                <a:alpha val="16000"/>
              </a:srgbClr>
            </a:outerShdw>
          </a:effectLst>
        </p:spPr>
      </p:pic>
      <p:sp>
        <p:nvSpPr>
          <p:cNvPr id="11" name="c2_cap3"/>
          <p:cNvSpPr txBox="1"/>
          <p:nvPr/>
        </p:nvSpPr>
        <p:spPr>
          <a:xfrm>
            <a:off x="2446020" y="5571354"/>
            <a:ext cx="3502152" cy="320040"/>
          </a:xfrm>
          <a:prstGeom prst="rect">
            <a:avLst/>
          </a:prstGeom>
          <a:noFill/>
          <a:ln/>
        </p:spPr>
        <p:txBody>
          <a:bodyPr wrap="square" lIns="0" tIns="0" rIns="0" bIns="0" rtlCol="0" anchor="t"/>
          <a:lstStyle/>
          <a:p>
            <a:pPr algn="ctr" indent="0" marL="0">
              <a:buNone/>
            </a:pPr>
            <a:r>
              <a:rPr lang="en-US" sz="1400" b="1" dirty="0">
                <a:solidFill>
                  <a:schemeClr val="tx1"/>
                </a:solidFill>
              </a:rPr>
              <a:t>Tarifs</a:t>
            </a:r>
            <a:endParaRPr lang="en-US" sz="1400" dirty="0"/>
          </a:p>
        </p:txBody>
      </p:sp>
      <p:pic>
        <p:nvPicPr>
          <p:cNvPr id="12" name="c2_im4" descr="/tmp/claude-0/-home-user-HANDY/4ddfdd3d-c678-5164-8991-be3c6152a069/scratchpad/assets/web_contact.png">    </p:cNvPr>
          <p:cNvPicPr>
            <a:picLocks noChangeAspect="1"/>
          </p:cNvPicPr>
          <p:nvPr/>
        </p:nvPicPr>
        <p:blipFill>
          <a:blip r:embed="rId5"/>
          <a:stretch>
            <a:fillRect/>
          </a:stretch>
        </p:blipFill>
        <p:spPr>
          <a:xfrm>
            <a:off x="6242991" y="3794760"/>
            <a:ext cx="3497731" cy="1691640"/>
          </a:xfrm>
          <a:prstGeom prst="rect">
            <a:avLst/>
          </a:prstGeom>
          <a:effectLst>
            <a:outerShdw sx="100000" sy="100000" kx="0" ky="0" algn="bl" rotWithShape="0" blurRad="127000" dist="25400" dir="5400000">
              <a:srgbClr val="000000">
                <a:alpha val="16000"/>
              </a:srgbClr>
            </a:outerShdw>
          </a:effectLst>
        </p:spPr>
      </p:pic>
      <p:sp>
        <p:nvSpPr>
          <p:cNvPr id="13" name="c2_cap4"/>
          <p:cNvSpPr txBox="1"/>
          <p:nvPr/>
        </p:nvSpPr>
        <p:spPr>
          <a:xfrm>
            <a:off x="6240780" y="5577840"/>
            <a:ext cx="3502152" cy="320040"/>
          </a:xfrm>
          <a:prstGeom prst="rect">
            <a:avLst/>
          </a:prstGeom>
          <a:noFill/>
          <a:ln/>
        </p:spPr>
        <p:txBody>
          <a:bodyPr wrap="square" lIns="0" tIns="0" rIns="0" bIns="0" rtlCol="0" anchor="t"/>
          <a:lstStyle/>
          <a:p>
            <a:pPr algn="ctr" indent="0" marL="0">
              <a:buNone/>
            </a:pPr>
            <a:r>
              <a:rPr lang="en-US" sz="1400" b="1" dirty="0">
                <a:solidFill>
                  <a:schemeClr val="tx1"/>
                </a:solidFill>
              </a:rPr>
              <a:t>Contacts</a:t>
            </a:r>
            <a:endParaRPr lang="en-US" sz="14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44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decel="100000" fill="hold"/>
                                        <p:tgtEl>
                                          <p:spTgt spid="9"/>
                                        </p:tgtEl>
                                        <p:attrNameLst>
                                          <p:attrName>ppt_x</p:attrName>
                                        </p:attrNameLst>
                                      </p:cBhvr>
                                      <p:tavLst>
                                        <p:tav tm="0">
                                          <p:val>
                                            <p:strVal val="#ppt_x"/>
                                          </p:val>
                                        </p:tav>
                                        <p:tav tm="100000">
                                          <p:val>
                                            <p:strVal val="#ppt_x"/>
                                          </p:val>
                                        </p:tav>
                                      </p:tavLst>
                                    </p:anim>
                                    <p:anim calcmode="lin" valueType="num">
                                      <p:cBhvr>
                                        <p:cTn id="41" dur="500" decel="100000" fill="hold"/>
                                        <p:tgtEl>
                                          <p:spTgt spid="9"/>
                                        </p:tgtEl>
                                        <p:attrNameLst>
                                          <p:attrName>ppt_y</p:attrName>
                                        </p:attrNameLst>
                                      </p:cBhvr>
                                      <p:tavLst>
                                        <p:tav tm="0">
                                          <p:val>
                                            <p:strVal val="#ppt_y+0.0278"/>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7" grpId="0"/>
      <p:bldP spid="9" grpId="0"/>
      <p:bldP spid="11"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822960" y="2331720"/>
            <a:ext cx="8229600" cy="502920"/>
          </a:xfrm>
          <a:prstGeom prst="rect">
            <a:avLst/>
          </a:prstGeom>
          <a:noFill/>
          <a:ln/>
        </p:spPr>
        <p:txBody>
          <a:bodyPr wrap="square" lIns="0" tIns="0" rIns="0" bIns="0" rtlCol="0" anchor="b"/>
          <a:lstStyle/>
          <a:p>
            <a:pPr algn="l" indent="0" marL="0">
              <a:buNone/>
            </a:pPr>
            <a:r>
              <a:rPr lang="en-US" sz="1600" b="1" spc="400" kern="0" dirty="0">
                <a:solidFill>
                  <a:srgbClr val="FFFFFF"/>
                </a:solidFill>
              </a:rPr>
              <a:t>05</a:t>
            </a:r>
            <a:endParaRPr lang="en-US" sz="1600" dirty="0"/>
          </a:p>
        </p:txBody>
      </p:sp>
      <p:sp>
        <p:nvSpPr>
          <p:cNvPr id="3" name="Text 0"/>
          <p:cNvSpPr/>
          <p:nvPr>
            <p:ph idx="101" type="title" hasCustomPrompt="1"/>
          </p:nvPr>
        </p:nvSpPr>
        <p:spPr>
          <a:xfrm>
            <a:off x="822960" y="2926080"/>
            <a:ext cx="9601200" cy="1188720"/>
          </a:xfrm>
          <a:prstGeom prst="rect">
            <a:avLst/>
          </a:prstGeom>
          <a:noFill/>
          <a:ln/>
        </p:spPr>
        <p:txBody>
          <a:bodyPr wrap="square" lIns="0" tIns="0" rIns="0" bIns="0" rtlCol="0" anchor="t"/>
          <a:lstStyle/>
          <a:p>
            <a:pPr algn="l" indent="0" marL="0">
              <a:buNone/>
            </a:pPr>
            <a:r>
              <a:rPr lang="en-US" sz="4800" b="1" dirty="0">
                <a:solidFill>
                  <a:srgbClr val="FFFFFF"/>
                </a:solidFill>
              </a:rPr>
              <a:t>Conclusion</a:t>
            </a:r>
            <a:endParaRPr lang="en-US" sz="4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anim calcmode="lin" valueType="num">
                                      <p:cBhvr>
                                        <p:cTn id="13" dur="500" decel="100000" fill="hold"/>
                                        <p:tgtEl>
                                          <p:spTgt spid="3"/>
                                        </p:tgtEl>
                                        <p:attrNameLst>
                                          <p:attrName>ppt_x</p:attrName>
                                        </p:attrNameLst>
                                      </p:cBhvr>
                                      <p:tavLst>
                                        <p:tav tm="0">
                                          <p:val>
                                            <p:strVal val="#ppt_x"/>
                                          </p:val>
                                        </p:tav>
                                        <p:tav tm="100000">
                                          <p:val>
                                            <p:strVal val="#ppt_x"/>
                                          </p:val>
                                        </p:tav>
                                      </p:tavLst>
                                    </p:anim>
                                    <p:anim calcmode="lin" valueType="num">
                                      <p:cBhvr>
                                        <p:cTn id="14" dur="500" decel="100000" fill="hold"/>
                                        <p:tgtEl>
                                          <p:spTgt spid="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Une réponse concrète à la problématique</a:t>
            </a:r>
            <a:endParaRPr lang="en-US" sz="2800" dirty="0"/>
          </a:p>
        </p:txBody>
      </p:sp>
      <p:sp>
        <p:nvSpPr>
          <p:cNvPr id="4" name="c1_bg"/>
          <p:cNvSpPr/>
          <p:nvPr/>
        </p:nvSpPr>
        <p:spPr>
          <a:xfrm>
            <a:off x="548640" y="1600200"/>
            <a:ext cx="3502152" cy="4160520"/>
          </a:xfrm>
          <a:prstGeom prst="roundRect">
            <a:avLst>
              <a:gd name="adj" fmla="val 3133"/>
            </a:avLst>
          </a:prstGeom>
          <a:solidFill>
            <a:schemeClr val="bg2"/>
          </a:solidFill>
          <a:ln w="12700">
            <a:solidFill>
              <a:schemeClr val="bg2"/>
            </a:solidFill>
            <a:prstDash val="solid"/>
          </a:ln>
        </p:spPr>
      </p:sp>
      <p:sp>
        <p:nvSpPr>
          <p:cNvPr id="5" name="c1_ic"/>
          <p:cNvSpPr/>
          <p:nvPr/>
        </p:nvSpPr>
        <p:spPr>
          <a:xfrm>
            <a:off x="914400" y="1965960"/>
            <a:ext cx="822960" cy="822960"/>
          </a:xfrm>
          <a:prstGeom prst="ellipse">
            <a:avLst/>
          </a:prstGeom>
          <a:solidFill>
            <a:schemeClr val="bg1"/>
          </a:solidFill>
          <a:ln w="12700">
            <a:solidFill>
              <a:schemeClr val="bg1"/>
            </a:solidFill>
            <a:prstDash val="solid"/>
          </a:ln>
        </p:spPr>
      </p:sp>
      <p:pic>
        <p:nvPicPr>
          <p:cNvPr id="6" name="c1_ici" descr="preencoded.png">    </p:cNvPr>
          <p:cNvPicPr>
            <a:picLocks noChangeAspect="1"/>
          </p:cNvPicPr>
          <p:nvPr/>
        </p:nvPicPr>
        <p:blipFill>
          <a:blip r:embed="rId1"/>
          <a:stretch>
            <a:fillRect/>
          </a:stretch>
        </p:blipFill>
        <p:spPr>
          <a:xfrm>
            <a:off x="1120140" y="2171700"/>
            <a:ext cx="411480" cy="411480"/>
          </a:xfrm>
          <a:prstGeom prst="rect">
            <a:avLst/>
          </a:prstGeom>
        </p:spPr>
      </p:pic>
      <p:sp>
        <p:nvSpPr>
          <p:cNvPr id="7" name="c1_h"/>
          <p:cNvSpPr txBox="1"/>
          <p:nvPr/>
        </p:nvSpPr>
        <p:spPr>
          <a:xfrm>
            <a:off x="914400" y="3063240"/>
            <a:ext cx="2743200" cy="457200"/>
          </a:xfrm>
          <a:prstGeom prst="rect">
            <a:avLst/>
          </a:prstGeom>
          <a:noFill/>
          <a:ln/>
        </p:spPr>
        <p:txBody>
          <a:bodyPr wrap="square" lIns="0" tIns="0" rIns="0" bIns="0" rtlCol="0" anchor="t"/>
          <a:lstStyle/>
          <a:p>
            <a:pPr indent="0" marL="0">
              <a:buNone/>
            </a:pPr>
            <a:r>
              <a:rPr lang="en-US" sz="1900" b="1" dirty="0">
                <a:solidFill>
                  <a:schemeClr val="tx2"/>
                </a:solidFill>
              </a:rPr>
              <a:t>Réalisé</a:t>
            </a:r>
            <a:endParaRPr lang="en-US" sz="1900" dirty="0"/>
          </a:p>
        </p:txBody>
      </p:sp>
      <p:sp>
        <p:nvSpPr>
          <p:cNvPr id="8" name="c1_d"/>
          <p:cNvSpPr txBox="1"/>
          <p:nvPr/>
        </p:nvSpPr>
        <p:spPr>
          <a:xfrm>
            <a:off x="914400" y="3611880"/>
            <a:ext cx="2788920" cy="1737360"/>
          </a:xfrm>
          <a:prstGeom prst="rect">
            <a:avLst/>
          </a:prstGeom>
          <a:noFill/>
          <a:ln/>
        </p:spPr>
        <p:txBody>
          <a:bodyPr wrap="square" lIns="0" tIns="0" rIns="0" bIns="0" rtlCol="0" anchor="t"/>
          <a:lstStyle/>
          <a:p>
            <a:pPr indent="0" marL="0">
              <a:buNone/>
            </a:pPr>
            <a:r>
              <a:rPr lang="en-US" sz="1600" dirty="0">
                <a:solidFill>
                  <a:schemeClr val="tx1"/>
                </a:solidFill>
              </a:rPr>
              <a:t>Identité visuelle, supports imprimés et digitaux, spots 2D et 3D, site web</a:t>
            </a:r>
            <a:endParaRPr lang="en-US" sz="1600" dirty="0"/>
          </a:p>
        </p:txBody>
      </p:sp>
      <p:sp>
        <p:nvSpPr>
          <p:cNvPr id="9" name="c2_bg"/>
          <p:cNvSpPr/>
          <p:nvPr/>
        </p:nvSpPr>
        <p:spPr>
          <a:xfrm>
            <a:off x="4343400" y="1600200"/>
            <a:ext cx="3502152" cy="4160520"/>
          </a:xfrm>
          <a:prstGeom prst="roundRect">
            <a:avLst>
              <a:gd name="adj" fmla="val 3133"/>
            </a:avLst>
          </a:prstGeom>
          <a:solidFill>
            <a:schemeClr val="bg2"/>
          </a:solidFill>
          <a:ln w="12700">
            <a:solidFill>
              <a:schemeClr val="bg2"/>
            </a:solidFill>
            <a:prstDash val="solid"/>
          </a:ln>
        </p:spPr>
      </p:sp>
      <p:sp>
        <p:nvSpPr>
          <p:cNvPr id="10" name="c2_ic"/>
          <p:cNvSpPr/>
          <p:nvPr/>
        </p:nvSpPr>
        <p:spPr>
          <a:xfrm>
            <a:off x="4709160" y="1965960"/>
            <a:ext cx="822960" cy="822960"/>
          </a:xfrm>
          <a:prstGeom prst="ellipse">
            <a:avLst/>
          </a:prstGeom>
          <a:solidFill>
            <a:schemeClr val="bg1"/>
          </a:solidFill>
          <a:ln w="12700">
            <a:solidFill>
              <a:schemeClr val="bg1"/>
            </a:solidFill>
            <a:prstDash val="solid"/>
          </a:ln>
        </p:spPr>
      </p:sp>
      <p:pic>
        <p:nvPicPr>
          <p:cNvPr id="11" name="c2_ici" descr="preencoded.png">    </p:cNvPr>
          <p:cNvPicPr>
            <a:picLocks noChangeAspect="1"/>
          </p:cNvPicPr>
          <p:nvPr/>
        </p:nvPicPr>
        <p:blipFill>
          <a:blip r:embed="rId2"/>
          <a:stretch>
            <a:fillRect/>
          </a:stretch>
        </p:blipFill>
        <p:spPr>
          <a:xfrm>
            <a:off x="4914900" y="2171700"/>
            <a:ext cx="411480" cy="411480"/>
          </a:xfrm>
          <a:prstGeom prst="rect">
            <a:avLst/>
          </a:prstGeom>
        </p:spPr>
      </p:pic>
      <p:sp>
        <p:nvSpPr>
          <p:cNvPr id="12" name="c2_h"/>
          <p:cNvSpPr txBox="1"/>
          <p:nvPr/>
        </p:nvSpPr>
        <p:spPr>
          <a:xfrm>
            <a:off x="4709160" y="3063240"/>
            <a:ext cx="2743200" cy="457200"/>
          </a:xfrm>
          <a:prstGeom prst="rect">
            <a:avLst/>
          </a:prstGeom>
          <a:noFill/>
          <a:ln/>
        </p:spPr>
        <p:txBody>
          <a:bodyPr wrap="square" lIns="0" tIns="0" rIns="0" bIns="0" rtlCol="0" anchor="t"/>
          <a:lstStyle/>
          <a:p>
            <a:pPr indent="0" marL="0">
              <a:buNone/>
            </a:pPr>
            <a:r>
              <a:rPr lang="en-US" sz="1900" b="1" dirty="0">
                <a:solidFill>
                  <a:schemeClr val="tx2"/>
                </a:solidFill>
              </a:rPr>
              <a:t>Condition</a:t>
            </a:r>
            <a:endParaRPr lang="en-US" sz="1900" dirty="0"/>
          </a:p>
        </p:txBody>
      </p:sp>
      <p:sp>
        <p:nvSpPr>
          <p:cNvPr id="13" name="c2_d"/>
          <p:cNvSpPr txBox="1"/>
          <p:nvPr/>
        </p:nvSpPr>
        <p:spPr>
          <a:xfrm>
            <a:off x="4709160" y="3611880"/>
            <a:ext cx="2788920" cy="1737360"/>
          </a:xfrm>
          <a:prstGeom prst="rect">
            <a:avLst/>
          </a:prstGeom>
          <a:noFill/>
          <a:ln/>
        </p:spPr>
        <p:txBody>
          <a:bodyPr wrap="square" lIns="0" tIns="0" rIns="0" bIns="0" rtlCol="0" anchor="t"/>
          <a:lstStyle/>
          <a:p>
            <a:pPr indent="0" marL="0">
              <a:buNone/>
            </a:pPr>
            <a:r>
              <a:rPr lang="en-US" sz="1600" dirty="0">
                <a:solidFill>
                  <a:schemeClr val="tx1"/>
                </a:solidFill>
              </a:rPr>
              <a:t>Une diffusion régulière et des messages adaptés aux publics visés</a:t>
            </a:r>
            <a:endParaRPr lang="en-US" sz="1600" dirty="0"/>
          </a:p>
        </p:txBody>
      </p:sp>
      <p:sp>
        <p:nvSpPr>
          <p:cNvPr id="14" name="c3_bg"/>
          <p:cNvSpPr/>
          <p:nvPr/>
        </p:nvSpPr>
        <p:spPr>
          <a:xfrm>
            <a:off x="8138160" y="1600200"/>
            <a:ext cx="3502152" cy="4160520"/>
          </a:xfrm>
          <a:prstGeom prst="roundRect">
            <a:avLst>
              <a:gd name="adj" fmla="val 3133"/>
            </a:avLst>
          </a:prstGeom>
          <a:solidFill>
            <a:schemeClr val="bg2"/>
          </a:solidFill>
          <a:ln w="12700">
            <a:solidFill>
              <a:schemeClr val="bg2"/>
            </a:solidFill>
            <a:prstDash val="solid"/>
          </a:ln>
        </p:spPr>
      </p:sp>
      <p:sp>
        <p:nvSpPr>
          <p:cNvPr id="15" name="c3_ic"/>
          <p:cNvSpPr/>
          <p:nvPr/>
        </p:nvSpPr>
        <p:spPr>
          <a:xfrm>
            <a:off x="8503920" y="1965960"/>
            <a:ext cx="822960" cy="822960"/>
          </a:xfrm>
          <a:prstGeom prst="ellipse">
            <a:avLst/>
          </a:prstGeom>
          <a:solidFill>
            <a:schemeClr val="bg1"/>
          </a:solidFill>
          <a:ln w="12700">
            <a:solidFill>
              <a:schemeClr val="bg1"/>
            </a:solidFill>
            <a:prstDash val="solid"/>
          </a:ln>
        </p:spPr>
      </p:sp>
      <p:pic>
        <p:nvPicPr>
          <p:cNvPr id="16" name="c3_ici" descr="preencoded.png">    </p:cNvPr>
          <p:cNvPicPr>
            <a:picLocks noChangeAspect="1"/>
          </p:cNvPicPr>
          <p:nvPr/>
        </p:nvPicPr>
        <p:blipFill>
          <a:blip r:embed="rId3"/>
          <a:stretch>
            <a:fillRect/>
          </a:stretch>
        </p:blipFill>
        <p:spPr>
          <a:xfrm>
            <a:off x="8709660" y="2171700"/>
            <a:ext cx="411480" cy="411480"/>
          </a:xfrm>
          <a:prstGeom prst="rect">
            <a:avLst/>
          </a:prstGeom>
        </p:spPr>
      </p:pic>
      <p:sp>
        <p:nvSpPr>
          <p:cNvPr id="17" name="c3_h"/>
          <p:cNvSpPr txBox="1"/>
          <p:nvPr/>
        </p:nvSpPr>
        <p:spPr>
          <a:xfrm>
            <a:off x="8503920" y="3063240"/>
            <a:ext cx="2743200" cy="457200"/>
          </a:xfrm>
          <a:prstGeom prst="rect">
            <a:avLst/>
          </a:prstGeom>
          <a:noFill/>
          <a:ln/>
        </p:spPr>
        <p:txBody>
          <a:bodyPr wrap="square" lIns="0" tIns="0" rIns="0" bIns="0" rtlCol="0" anchor="t"/>
          <a:lstStyle/>
          <a:p>
            <a:pPr indent="0" marL="0">
              <a:buNone/>
            </a:pPr>
            <a:r>
              <a:rPr lang="en-US" sz="1900" b="1" dirty="0">
                <a:solidFill>
                  <a:schemeClr val="tx2"/>
                </a:solidFill>
              </a:rPr>
              <a:t>Recommandation</a:t>
            </a:r>
            <a:endParaRPr lang="en-US" sz="1900" dirty="0"/>
          </a:p>
        </p:txBody>
      </p:sp>
      <p:sp>
        <p:nvSpPr>
          <p:cNvPr id="18" name="c3_d"/>
          <p:cNvSpPr txBox="1"/>
          <p:nvPr/>
        </p:nvSpPr>
        <p:spPr>
          <a:xfrm>
            <a:off x="8503920" y="3611880"/>
            <a:ext cx="2788920" cy="1737360"/>
          </a:xfrm>
          <a:prstGeom prst="rect">
            <a:avLst/>
          </a:prstGeom>
          <a:noFill/>
          <a:ln/>
        </p:spPr>
        <p:txBody>
          <a:bodyPr wrap="square" lIns="0" tIns="0" rIns="0" bIns="0" rtlCol="0" anchor="t"/>
          <a:lstStyle/>
          <a:p>
            <a:pPr indent="0" marL="0">
              <a:buNone/>
            </a:pPr>
            <a:r>
              <a:rPr lang="en-US" sz="1600" dirty="0">
                <a:solidFill>
                  <a:schemeClr val="tx1"/>
                </a:solidFill>
              </a:rPr>
              <a:t>Une stratégie de communication cohérente, durable et évaluée</a:t>
            </a:r>
            <a:endParaRPr lang="en-US" sz="16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46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anim calcmode="lin" valueType="num">
                                      <p:cBhvr>
                                        <p:cTn id="20" dur="500" decel="100000" fill="hold"/>
                                        <p:tgtEl>
                                          <p:spTgt spid="5"/>
                                        </p:tgtEl>
                                        <p:attrNameLst>
                                          <p:attrName>ppt_x</p:attrName>
                                        </p:attrNameLst>
                                      </p:cBhvr>
                                      <p:tavLst>
                                        <p:tav tm="0">
                                          <p:val>
                                            <p:strVal val="#ppt_x"/>
                                          </p:val>
                                        </p:tav>
                                        <p:tav tm="100000">
                                          <p:val>
                                            <p:strVal val="#ppt_x"/>
                                          </p:val>
                                        </p:tav>
                                      </p:tavLst>
                                    </p:anim>
                                    <p:anim calcmode="lin" valueType="num">
                                      <p:cBhvr>
                                        <p:cTn id="21" dur="500" decel="100000" fill="hold"/>
                                        <p:tgtEl>
                                          <p:spTgt spid="5"/>
                                        </p:tgtEl>
                                        <p:attrNameLst>
                                          <p:attrName>ppt_y</p:attrName>
                                        </p:attrNameLst>
                                      </p:cBhvr>
                                      <p:tavLst>
                                        <p:tav tm="0">
                                          <p:val>
                                            <p:strVal val="#ppt_y+0.0278"/>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anim calcmode="lin" valueType="num">
                                      <p:cBhvr>
                                        <p:cTn id="25" dur="500" decel="100000" fill="hold"/>
                                        <p:tgtEl>
                                          <p:spTgt spid="6"/>
                                        </p:tgtEl>
                                        <p:attrNameLst>
                                          <p:attrName>ppt_x</p:attrName>
                                        </p:attrNameLst>
                                      </p:cBhvr>
                                      <p:tavLst>
                                        <p:tav tm="0">
                                          <p:val>
                                            <p:strVal val="#ppt_x"/>
                                          </p:val>
                                        </p:tav>
                                        <p:tav tm="100000">
                                          <p:val>
                                            <p:strVal val="#ppt_x"/>
                                          </p:val>
                                        </p:tav>
                                      </p:tavLst>
                                    </p:anim>
                                    <p:anim calcmode="lin" valueType="num">
                                      <p:cBhvr>
                                        <p:cTn id="26" dur="500" decel="100000" fill="hold"/>
                                        <p:tgtEl>
                                          <p:spTgt spid="6"/>
                                        </p:tgtEl>
                                        <p:attrNameLst>
                                          <p:attrName>ppt_y</p:attrName>
                                        </p:attrNameLst>
                                      </p:cBhvr>
                                      <p:tavLst>
                                        <p:tav tm="0">
                                          <p:val>
                                            <p:strVal val="#ppt_y+0.0278"/>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fade">
                                      <p:cBhvr>
                                        <p:cTn id="29" dur="500"/>
                                        <p:tgtEl>
                                          <p:spTgt spid="7"/>
                                        </p:tgtEl>
                                      </p:cBhvr>
                                    </p:animEffect>
                                    <p:anim calcmode="lin" valueType="num">
                                      <p:cBhvr>
                                        <p:cTn id="30" dur="500" decel="100000" fill="hold"/>
                                        <p:tgtEl>
                                          <p:spTgt spid="7"/>
                                        </p:tgtEl>
                                        <p:attrNameLst>
                                          <p:attrName>ppt_x</p:attrName>
                                        </p:attrNameLst>
                                      </p:cBhvr>
                                      <p:tavLst>
                                        <p:tav tm="0">
                                          <p:val>
                                            <p:strVal val="#ppt_x"/>
                                          </p:val>
                                        </p:tav>
                                        <p:tav tm="100000">
                                          <p:val>
                                            <p:strVal val="#ppt_x"/>
                                          </p:val>
                                        </p:tav>
                                      </p:tavLst>
                                    </p:anim>
                                    <p:anim calcmode="lin" valueType="num">
                                      <p:cBhvr>
                                        <p:cTn id="31" dur="500" decel="100000" fill="hold"/>
                                        <p:tgtEl>
                                          <p:spTgt spid="7"/>
                                        </p:tgtEl>
                                        <p:attrNameLst>
                                          <p:attrName>ppt_y</p:attrName>
                                        </p:attrNameLst>
                                      </p:cBhvr>
                                      <p:tavLst>
                                        <p:tav tm="0">
                                          <p:val>
                                            <p:strVal val="#ppt_y+0.0278"/>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anim calcmode="lin" valueType="num">
                                      <p:cBhvr>
                                        <p:cTn id="35" dur="500" decel="100000" fill="hold"/>
                                        <p:tgtEl>
                                          <p:spTgt spid="8"/>
                                        </p:tgtEl>
                                        <p:attrNameLst>
                                          <p:attrName>ppt_x</p:attrName>
                                        </p:attrNameLst>
                                      </p:cBhvr>
                                      <p:tavLst>
                                        <p:tav tm="0">
                                          <p:val>
                                            <p:strVal val="#ppt_x"/>
                                          </p:val>
                                        </p:tav>
                                        <p:tav tm="100000">
                                          <p:val>
                                            <p:strVal val="#ppt_x"/>
                                          </p:val>
                                        </p:tav>
                                      </p:tavLst>
                                    </p:anim>
                                    <p:anim calcmode="lin" valueType="num">
                                      <p:cBhvr>
                                        <p:cTn id="36" dur="500" decel="100000" fill="hold"/>
                                        <p:tgtEl>
                                          <p:spTgt spid="8"/>
                                        </p:tgtEl>
                                        <p:attrNameLst>
                                          <p:attrName>ppt_y</p:attrName>
                                        </p:attrNameLst>
                                      </p:cBhvr>
                                      <p:tavLst>
                                        <p:tav tm="0">
                                          <p:val>
                                            <p:strVal val="#ppt_y+0.0278"/>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fade">
                                      <p:cBhvr>
                                        <p:cTn id="41" dur="500"/>
                                        <p:tgtEl>
                                          <p:spTgt spid="9"/>
                                        </p:tgtEl>
                                      </p:cBhvr>
                                    </p:animEffect>
                                    <p:anim calcmode="lin" valueType="num">
                                      <p:cBhvr>
                                        <p:cTn id="42" dur="500" decel="100000" fill="hold"/>
                                        <p:tgtEl>
                                          <p:spTgt spid="9"/>
                                        </p:tgtEl>
                                        <p:attrNameLst>
                                          <p:attrName>ppt_x</p:attrName>
                                        </p:attrNameLst>
                                      </p:cBhvr>
                                      <p:tavLst>
                                        <p:tav tm="0">
                                          <p:val>
                                            <p:strVal val="#ppt_x"/>
                                          </p:val>
                                        </p:tav>
                                        <p:tav tm="100000">
                                          <p:val>
                                            <p:strVal val="#ppt_x"/>
                                          </p:val>
                                        </p:tav>
                                      </p:tavLst>
                                    </p:anim>
                                    <p:anim calcmode="lin" valueType="num">
                                      <p:cBhvr>
                                        <p:cTn id="43" dur="500" decel="100000" fill="hold"/>
                                        <p:tgtEl>
                                          <p:spTgt spid="9"/>
                                        </p:tgtEl>
                                        <p:attrNameLst>
                                          <p:attrName>ppt_y</p:attrName>
                                        </p:attrNameLst>
                                      </p:cBhvr>
                                      <p:tavLst>
                                        <p:tav tm="0">
                                          <p:val>
                                            <p:strVal val="#ppt_y+0.0278"/>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fade">
                                      <p:cBhvr>
                                        <p:cTn id="46" dur="500"/>
                                        <p:tgtEl>
                                          <p:spTgt spid="10"/>
                                        </p:tgtEl>
                                      </p:cBhvr>
                                    </p:animEffect>
                                    <p:anim calcmode="lin" valueType="num">
                                      <p:cBhvr>
                                        <p:cTn id="47" dur="500" decel="100000" fill="hold"/>
                                        <p:tgtEl>
                                          <p:spTgt spid="10"/>
                                        </p:tgtEl>
                                        <p:attrNameLst>
                                          <p:attrName>ppt_x</p:attrName>
                                        </p:attrNameLst>
                                      </p:cBhvr>
                                      <p:tavLst>
                                        <p:tav tm="0">
                                          <p:val>
                                            <p:strVal val="#ppt_x"/>
                                          </p:val>
                                        </p:tav>
                                        <p:tav tm="100000">
                                          <p:val>
                                            <p:strVal val="#ppt_x"/>
                                          </p:val>
                                        </p:tav>
                                      </p:tavLst>
                                    </p:anim>
                                    <p:anim calcmode="lin" valueType="num">
                                      <p:cBhvr>
                                        <p:cTn id="48" dur="500" decel="100000" fill="hold"/>
                                        <p:tgtEl>
                                          <p:spTgt spid="10"/>
                                        </p:tgtEl>
                                        <p:attrNameLst>
                                          <p:attrName>ppt_y</p:attrName>
                                        </p:attrNameLst>
                                      </p:cBhvr>
                                      <p:tavLst>
                                        <p:tav tm="0">
                                          <p:val>
                                            <p:strVal val="#ppt_y+0.0278"/>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fade">
                                      <p:cBhvr>
                                        <p:cTn id="51" dur="500"/>
                                        <p:tgtEl>
                                          <p:spTgt spid="11"/>
                                        </p:tgtEl>
                                      </p:cBhvr>
                                    </p:animEffect>
                                    <p:anim calcmode="lin" valueType="num">
                                      <p:cBhvr>
                                        <p:cTn id="52" dur="500" decel="100000" fill="hold"/>
                                        <p:tgtEl>
                                          <p:spTgt spid="11"/>
                                        </p:tgtEl>
                                        <p:attrNameLst>
                                          <p:attrName>ppt_x</p:attrName>
                                        </p:attrNameLst>
                                      </p:cBhvr>
                                      <p:tavLst>
                                        <p:tav tm="0">
                                          <p:val>
                                            <p:strVal val="#ppt_x"/>
                                          </p:val>
                                        </p:tav>
                                        <p:tav tm="100000">
                                          <p:val>
                                            <p:strVal val="#ppt_x"/>
                                          </p:val>
                                        </p:tav>
                                      </p:tavLst>
                                    </p:anim>
                                    <p:anim calcmode="lin" valueType="num">
                                      <p:cBhvr>
                                        <p:cTn id="53" dur="500" decel="100000" fill="hold"/>
                                        <p:tgtEl>
                                          <p:spTgt spid="11"/>
                                        </p:tgtEl>
                                        <p:attrNameLst>
                                          <p:attrName>ppt_y</p:attrName>
                                        </p:attrNameLst>
                                      </p:cBhvr>
                                      <p:tavLst>
                                        <p:tav tm="0">
                                          <p:val>
                                            <p:strVal val="#ppt_y+0.0278"/>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2"/>
                                        </p:tgtEl>
                                        <p:attrNameLst>
                                          <p:attrName>style.visibility</p:attrName>
                                        </p:attrNameLst>
                                      </p:cBhvr>
                                      <p:to>
                                        <p:strVal val="visible"/>
                                      </p:to>
                                    </p:set>
                                    <p:animEffect transition="in" filter="fade">
                                      <p:cBhvr>
                                        <p:cTn id="56" dur="500"/>
                                        <p:tgtEl>
                                          <p:spTgt spid="12"/>
                                        </p:tgtEl>
                                      </p:cBhvr>
                                    </p:animEffect>
                                    <p:anim calcmode="lin" valueType="num">
                                      <p:cBhvr>
                                        <p:cTn id="57" dur="500" decel="100000" fill="hold"/>
                                        <p:tgtEl>
                                          <p:spTgt spid="12"/>
                                        </p:tgtEl>
                                        <p:attrNameLst>
                                          <p:attrName>ppt_x</p:attrName>
                                        </p:attrNameLst>
                                      </p:cBhvr>
                                      <p:tavLst>
                                        <p:tav tm="0">
                                          <p:val>
                                            <p:strVal val="#ppt_x"/>
                                          </p:val>
                                        </p:tav>
                                        <p:tav tm="100000">
                                          <p:val>
                                            <p:strVal val="#ppt_x"/>
                                          </p:val>
                                        </p:tav>
                                      </p:tavLst>
                                    </p:anim>
                                    <p:anim calcmode="lin" valueType="num">
                                      <p:cBhvr>
                                        <p:cTn id="58" dur="500" decel="100000" fill="hold"/>
                                        <p:tgtEl>
                                          <p:spTgt spid="12"/>
                                        </p:tgtEl>
                                        <p:attrNameLst>
                                          <p:attrName>ppt_y</p:attrName>
                                        </p:attrNameLst>
                                      </p:cBhvr>
                                      <p:tavLst>
                                        <p:tav tm="0">
                                          <p:val>
                                            <p:strVal val="#ppt_y+0.0278"/>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3"/>
                                        </p:tgtEl>
                                        <p:attrNameLst>
                                          <p:attrName>style.visibility</p:attrName>
                                        </p:attrNameLst>
                                      </p:cBhvr>
                                      <p:to>
                                        <p:strVal val="visible"/>
                                      </p:to>
                                    </p:set>
                                    <p:animEffect transition="in" filter="fade">
                                      <p:cBhvr>
                                        <p:cTn id="61" dur="500"/>
                                        <p:tgtEl>
                                          <p:spTgt spid="13"/>
                                        </p:tgtEl>
                                      </p:cBhvr>
                                    </p:animEffect>
                                    <p:anim calcmode="lin" valueType="num">
                                      <p:cBhvr>
                                        <p:cTn id="62" dur="500" decel="100000" fill="hold"/>
                                        <p:tgtEl>
                                          <p:spTgt spid="13"/>
                                        </p:tgtEl>
                                        <p:attrNameLst>
                                          <p:attrName>ppt_x</p:attrName>
                                        </p:attrNameLst>
                                      </p:cBhvr>
                                      <p:tavLst>
                                        <p:tav tm="0">
                                          <p:val>
                                            <p:strVal val="#ppt_x"/>
                                          </p:val>
                                        </p:tav>
                                        <p:tav tm="100000">
                                          <p:val>
                                            <p:strVal val="#ppt_x"/>
                                          </p:val>
                                        </p:tav>
                                      </p:tavLst>
                                    </p:anim>
                                    <p:anim calcmode="lin" valueType="num">
                                      <p:cBhvr>
                                        <p:cTn id="63"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14"/>
                                        </p:tgtEl>
                                        <p:attrNameLst>
                                          <p:attrName>style.visibility</p:attrName>
                                        </p:attrNameLst>
                                      </p:cBhvr>
                                      <p:to>
                                        <p:strVal val="visible"/>
                                      </p:to>
                                    </p:set>
                                    <p:animEffect transition="in" filter="fade">
                                      <p:cBhvr>
                                        <p:cTn id="68" dur="500"/>
                                        <p:tgtEl>
                                          <p:spTgt spid="14"/>
                                        </p:tgtEl>
                                      </p:cBhvr>
                                    </p:animEffect>
                                    <p:anim calcmode="lin" valueType="num">
                                      <p:cBhvr>
                                        <p:cTn id="69" dur="500" decel="100000" fill="hold"/>
                                        <p:tgtEl>
                                          <p:spTgt spid="14"/>
                                        </p:tgtEl>
                                        <p:attrNameLst>
                                          <p:attrName>ppt_x</p:attrName>
                                        </p:attrNameLst>
                                      </p:cBhvr>
                                      <p:tavLst>
                                        <p:tav tm="0">
                                          <p:val>
                                            <p:strVal val="#ppt_x"/>
                                          </p:val>
                                        </p:tav>
                                        <p:tav tm="100000">
                                          <p:val>
                                            <p:strVal val="#ppt_x"/>
                                          </p:val>
                                        </p:tav>
                                      </p:tavLst>
                                    </p:anim>
                                    <p:anim calcmode="lin" valueType="num">
                                      <p:cBhvr>
                                        <p:cTn id="70" dur="500" decel="100000" fill="hold"/>
                                        <p:tgtEl>
                                          <p:spTgt spid="14"/>
                                        </p:tgtEl>
                                        <p:attrNameLst>
                                          <p:attrName>ppt_y</p:attrName>
                                        </p:attrNameLst>
                                      </p:cBhvr>
                                      <p:tavLst>
                                        <p:tav tm="0">
                                          <p:val>
                                            <p:strVal val="#ppt_y+0.0278"/>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Effect transition="in" filter="fade">
                                      <p:cBhvr>
                                        <p:cTn id="73" dur="500"/>
                                        <p:tgtEl>
                                          <p:spTgt spid="15"/>
                                        </p:tgtEl>
                                      </p:cBhvr>
                                    </p:animEffect>
                                    <p:anim calcmode="lin" valueType="num">
                                      <p:cBhvr>
                                        <p:cTn id="74" dur="500" decel="100000" fill="hold"/>
                                        <p:tgtEl>
                                          <p:spTgt spid="15"/>
                                        </p:tgtEl>
                                        <p:attrNameLst>
                                          <p:attrName>ppt_x</p:attrName>
                                        </p:attrNameLst>
                                      </p:cBhvr>
                                      <p:tavLst>
                                        <p:tav tm="0">
                                          <p:val>
                                            <p:strVal val="#ppt_x"/>
                                          </p:val>
                                        </p:tav>
                                        <p:tav tm="100000">
                                          <p:val>
                                            <p:strVal val="#ppt_x"/>
                                          </p:val>
                                        </p:tav>
                                      </p:tavLst>
                                    </p:anim>
                                    <p:anim calcmode="lin" valueType="num">
                                      <p:cBhvr>
                                        <p:cTn id="75" dur="500" decel="100000" fill="hold"/>
                                        <p:tgtEl>
                                          <p:spTgt spid="15"/>
                                        </p:tgtEl>
                                        <p:attrNameLst>
                                          <p:attrName>ppt_y</p:attrName>
                                        </p:attrNameLst>
                                      </p:cBhvr>
                                      <p:tavLst>
                                        <p:tav tm="0">
                                          <p:val>
                                            <p:strVal val="#ppt_y+0.0278"/>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fade">
                                      <p:cBhvr>
                                        <p:cTn id="78" dur="500"/>
                                        <p:tgtEl>
                                          <p:spTgt spid="16"/>
                                        </p:tgtEl>
                                      </p:cBhvr>
                                    </p:animEffect>
                                    <p:anim calcmode="lin" valueType="num">
                                      <p:cBhvr>
                                        <p:cTn id="79" dur="500" decel="100000" fill="hold"/>
                                        <p:tgtEl>
                                          <p:spTgt spid="16"/>
                                        </p:tgtEl>
                                        <p:attrNameLst>
                                          <p:attrName>ppt_x</p:attrName>
                                        </p:attrNameLst>
                                      </p:cBhvr>
                                      <p:tavLst>
                                        <p:tav tm="0">
                                          <p:val>
                                            <p:strVal val="#ppt_x"/>
                                          </p:val>
                                        </p:tav>
                                        <p:tav tm="100000">
                                          <p:val>
                                            <p:strVal val="#ppt_x"/>
                                          </p:val>
                                        </p:tav>
                                      </p:tavLst>
                                    </p:anim>
                                    <p:anim calcmode="lin" valueType="num">
                                      <p:cBhvr>
                                        <p:cTn id="80" dur="500" decel="100000" fill="hold"/>
                                        <p:tgtEl>
                                          <p:spTgt spid="16"/>
                                        </p:tgtEl>
                                        <p:attrNameLst>
                                          <p:attrName>ppt_y</p:attrName>
                                        </p:attrNameLst>
                                      </p:cBhvr>
                                      <p:tavLst>
                                        <p:tav tm="0">
                                          <p:val>
                                            <p:strVal val="#ppt_y+0.0278"/>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500"/>
                                        <p:tgtEl>
                                          <p:spTgt spid="17"/>
                                        </p:tgtEl>
                                      </p:cBhvr>
                                    </p:animEffect>
                                    <p:anim calcmode="lin" valueType="num">
                                      <p:cBhvr>
                                        <p:cTn id="84" dur="500" decel="100000" fill="hold"/>
                                        <p:tgtEl>
                                          <p:spTgt spid="17"/>
                                        </p:tgtEl>
                                        <p:attrNameLst>
                                          <p:attrName>ppt_x</p:attrName>
                                        </p:attrNameLst>
                                      </p:cBhvr>
                                      <p:tavLst>
                                        <p:tav tm="0">
                                          <p:val>
                                            <p:strVal val="#ppt_x"/>
                                          </p:val>
                                        </p:tav>
                                        <p:tav tm="100000">
                                          <p:val>
                                            <p:strVal val="#ppt_x"/>
                                          </p:val>
                                        </p:tav>
                                      </p:tavLst>
                                    </p:anim>
                                    <p:anim calcmode="lin" valueType="num">
                                      <p:cBhvr>
                                        <p:cTn id="85" dur="500" decel="100000" fill="hold"/>
                                        <p:tgtEl>
                                          <p:spTgt spid="17"/>
                                        </p:tgtEl>
                                        <p:attrNameLst>
                                          <p:attrName>ppt_y</p:attrName>
                                        </p:attrNameLst>
                                      </p:cBhvr>
                                      <p:tavLst>
                                        <p:tav tm="0">
                                          <p:val>
                                            <p:strVal val="#ppt_y+0.0278"/>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18"/>
                                        </p:tgtEl>
                                        <p:attrNameLst>
                                          <p:attrName>style.visibility</p:attrName>
                                        </p:attrNameLst>
                                      </p:cBhvr>
                                      <p:to>
                                        <p:strVal val="visible"/>
                                      </p:to>
                                    </p:set>
                                    <p:animEffect transition="in" filter="fade">
                                      <p:cBhvr>
                                        <p:cTn id="88" dur="500"/>
                                        <p:tgtEl>
                                          <p:spTgt spid="18"/>
                                        </p:tgtEl>
                                      </p:cBhvr>
                                    </p:animEffect>
                                    <p:anim calcmode="lin" valueType="num">
                                      <p:cBhvr>
                                        <p:cTn id="89" dur="500" decel="100000" fill="hold"/>
                                        <p:tgtEl>
                                          <p:spTgt spid="18"/>
                                        </p:tgtEl>
                                        <p:attrNameLst>
                                          <p:attrName>ppt_x</p:attrName>
                                        </p:attrNameLst>
                                      </p:cBhvr>
                                      <p:tavLst>
                                        <p:tav tm="0">
                                          <p:val>
                                            <p:strVal val="#ppt_x"/>
                                          </p:val>
                                        </p:tav>
                                        <p:tav tm="100000">
                                          <p:val>
                                            <p:strVal val="#ppt_x"/>
                                          </p:val>
                                        </p:tav>
                                      </p:tavLst>
                                    </p:anim>
                                    <p:anim calcmode="lin" valueType="num">
                                      <p:cBhvr>
                                        <p:cTn id="90" dur="500" decel="100000" fill="hold"/>
                                        <p:tgtEl>
                                          <p:spTgt spid="18"/>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7" grpId="0"/>
      <p:bldP spid="8" grpId="0"/>
      <p:bldP spid="9" grpId="0" animBg="1"/>
      <p:bldP spid="10" grpId="0" animBg="1"/>
      <p:bldP spid="12" grpId="0"/>
      <p:bldP spid="13" grpId="0"/>
      <p:bldP spid="14" grpId="0" animBg="1"/>
      <p:bldP spid="15" grpId="0" animBg="1"/>
      <p:bldP spid="17" grpId="0"/>
      <p:bldP spid="18" grpId="0"/>
    </p:bldLst>
  </p:timing>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548640" y="384048"/>
            <a:ext cx="11064240" cy="777240"/>
          </a:xfrm>
          <a:prstGeom prst="rect">
            <a:avLst/>
          </a:prstGeom>
          <a:noFill/>
          <a:ln/>
        </p:spPr>
        <p:txBody>
          <a:bodyPr wrap="square" lIns="0" tIns="0" rIns="0" bIns="0" rtlCol="0" anchor="ctr"/>
          <a:lstStyle/>
          <a:p>
            <a:pPr algn="l" indent="0" marL="0">
              <a:buNone/>
            </a:pPr>
            <a:r>
              <a:rPr lang="en-US" sz="2800" b="1" dirty="0">
                <a:solidFill>
                  <a:srgbClr val="012F99"/>
                </a:solidFill>
              </a:rPr>
              <a:t>Mesurer les effets après diffusion</a:t>
            </a:r>
            <a:endParaRPr lang="en-US" sz="2800" dirty="0"/>
          </a:p>
        </p:txBody>
      </p:sp>
      <p:sp>
        <p:nvSpPr>
          <p:cNvPr id="4" name="c1_t"/>
          <p:cNvSpPr txBox="1"/>
          <p:nvPr/>
        </p:nvSpPr>
        <p:spPr>
          <a:xfrm>
            <a:off x="548640" y="1554480"/>
            <a:ext cx="10515600" cy="914400"/>
          </a:xfrm>
          <a:prstGeom prst="rect">
            <a:avLst/>
          </a:prstGeom>
          <a:noFill/>
          <a:ln/>
        </p:spPr>
        <p:txBody>
          <a:bodyPr wrap="square" lIns="0" tIns="0" rIns="0" bIns="0" rtlCol="0" anchor="t"/>
          <a:lstStyle/>
          <a:p>
            <a:pPr indent="0" marL="0">
              <a:buNone/>
            </a:pPr>
            <a:r>
              <a:rPr lang="en-US" sz="2000" dirty="0">
                <a:solidFill>
                  <a:schemeClr val="tx1"/>
                </a:solidFill>
              </a:rPr>
              <a:t>Les supports ne suffisent pas, à eux seuls : leurs effets devront être évalués après leur mise en œuvre.</a:t>
            </a:r>
            <a:endParaRPr lang="en-US" sz="2000" dirty="0"/>
          </a:p>
        </p:txBody>
      </p:sp>
      <p:sp>
        <p:nvSpPr>
          <p:cNvPr id="5" name="c2_ic"/>
          <p:cNvSpPr/>
          <p:nvPr/>
        </p:nvSpPr>
        <p:spPr>
          <a:xfrm>
            <a:off x="1801368" y="2926080"/>
            <a:ext cx="1005840" cy="1005840"/>
          </a:xfrm>
          <a:prstGeom prst="ellipse">
            <a:avLst/>
          </a:prstGeom>
          <a:solidFill>
            <a:schemeClr val="bg2"/>
          </a:solidFill>
          <a:ln w="12700">
            <a:solidFill>
              <a:schemeClr val="bg2"/>
            </a:solidFill>
            <a:prstDash val="solid"/>
          </a:ln>
        </p:spPr>
      </p:sp>
      <p:pic>
        <p:nvPicPr>
          <p:cNvPr id="6" name="c2_ici" descr="preencoded.png">    </p:cNvPr>
          <p:cNvPicPr>
            <a:picLocks noChangeAspect="1"/>
          </p:cNvPicPr>
          <p:nvPr/>
        </p:nvPicPr>
        <p:blipFill>
          <a:blip r:embed="rId1"/>
          <a:stretch>
            <a:fillRect/>
          </a:stretch>
        </p:blipFill>
        <p:spPr>
          <a:xfrm>
            <a:off x="2052828" y="3177540"/>
            <a:ext cx="502920" cy="502920"/>
          </a:xfrm>
          <a:prstGeom prst="rect">
            <a:avLst/>
          </a:prstGeom>
        </p:spPr>
      </p:pic>
      <p:sp>
        <p:nvSpPr>
          <p:cNvPr id="7" name="c2_t"/>
          <p:cNvSpPr txBox="1"/>
          <p:nvPr/>
        </p:nvSpPr>
        <p:spPr>
          <a:xfrm>
            <a:off x="548640" y="4160520"/>
            <a:ext cx="3502152" cy="822960"/>
          </a:xfrm>
          <a:prstGeom prst="rect">
            <a:avLst/>
          </a:prstGeom>
          <a:noFill/>
          <a:ln/>
        </p:spPr>
        <p:txBody>
          <a:bodyPr wrap="square" lIns="0" tIns="0" rIns="0" bIns="0" rtlCol="0" anchor="t"/>
          <a:lstStyle/>
          <a:p>
            <a:pPr algn="ctr" indent="0" marL="0">
              <a:buNone/>
            </a:pPr>
            <a:r>
              <a:rPr lang="en-US" sz="1800" b="1" dirty="0">
                <a:solidFill>
                  <a:schemeClr val="tx1"/>
                </a:solidFill>
              </a:rPr>
              <a:t>Interactions numériques</a:t>
            </a:r>
            <a:endParaRPr lang="en-US" sz="1800" dirty="0"/>
          </a:p>
        </p:txBody>
      </p:sp>
      <p:sp>
        <p:nvSpPr>
          <p:cNvPr id="8" name="c3_ic"/>
          <p:cNvSpPr/>
          <p:nvPr/>
        </p:nvSpPr>
        <p:spPr>
          <a:xfrm>
            <a:off x="5596128" y="2926080"/>
            <a:ext cx="1005840" cy="1005840"/>
          </a:xfrm>
          <a:prstGeom prst="ellipse">
            <a:avLst/>
          </a:prstGeom>
          <a:solidFill>
            <a:schemeClr val="bg2"/>
          </a:solidFill>
          <a:ln w="12700">
            <a:solidFill>
              <a:schemeClr val="bg2"/>
            </a:solidFill>
            <a:prstDash val="solid"/>
          </a:ln>
        </p:spPr>
      </p:sp>
      <p:pic>
        <p:nvPicPr>
          <p:cNvPr id="9" name="c3_ici" descr="preencoded.png">    </p:cNvPr>
          <p:cNvPicPr>
            <a:picLocks noChangeAspect="1"/>
          </p:cNvPicPr>
          <p:nvPr/>
        </p:nvPicPr>
        <p:blipFill>
          <a:blip r:embed="rId2"/>
          <a:stretch>
            <a:fillRect/>
          </a:stretch>
        </p:blipFill>
        <p:spPr>
          <a:xfrm>
            <a:off x="5847588" y="3177540"/>
            <a:ext cx="502920" cy="502920"/>
          </a:xfrm>
          <a:prstGeom prst="rect">
            <a:avLst/>
          </a:prstGeom>
        </p:spPr>
      </p:pic>
      <p:sp>
        <p:nvSpPr>
          <p:cNvPr id="10" name="c3_t"/>
          <p:cNvSpPr txBox="1"/>
          <p:nvPr/>
        </p:nvSpPr>
        <p:spPr>
          <a:xfrm>
            <a:off x="4343400" y="4160520"/>
            <a:ext cx="3502152" cy="822960"/>
          </a:xfrm>
          <a:prstGeom prst="rect">
            <a:avLst/>
          </a:prstGeom>
          <a:noFill/>
          <a:ln/>
        </p:spPr>
        <p:txBody>
          <a:bodyPr wrap="square" lIns="0" tIns="0" rIns="0" bIns="0" rtlCol="0" anchor="t"/>
          <a:lstStyle/>
          <a:p>
            <a:pPr algn="ctr" indent="0" marL="0">
              <a:buNone/>
            </a:pPr>
            <a:r>
              <a:rPr lang="en-US" sz="1800" b="1" dirty="0">
                <a:solidFill>
                  <a:schemeClr val="tx1"/>
                </a:solidFill>
              </a:rPr>
              <a:t>Demandes d'inscription</a:t>
            </a:r>
            <a:endParaRPr lang="en-US" sz="1800" dirty="0"/>
          </a:p>
        </p:txBody>
      </p:sp>
      <p:sp>
        <p:nvSpPr>
          <p:cNvPr id="11" name="c4_ic"/>
          <p:cNvSpPr/>
          <p:nvPr/>
        </p:nvSpPr>
        <p:spPr>
          <a:xfrm>
            <a:off x="9390888" y="2926080"/>
            <a:ext cx="1005840" cy="1005840"/>
          </a:xfrm>
          <a:prstGeom prst="ellipse">
            <a:avLst/>
          </a:prstGeom>
          <a:solidFill>
            <a:schemeClr val="bg2"/>
          </a:solidFill>
          <a:ln w="12700">
            <a:solidFill>
              <a:schemeClr val="bg2"/>
            </a:solidFill>
            <a:prstDash val="solid"/>
          </a:ln>
        </p:spPr>
      </p:sp>
      <p:pic>
        <p:nvPicPr>
          <p:cNvPr id="12" name="c4_ici" descr="preencoded.png">    </p:cNvPr>
          <p:cNvPicPr>
            <a:picLocks noChangeAspect="1"/>
          </p:cNvPicPr>
          <p:nvPr/>
        </p:nvPicPr>
        <p:blipFill>
          <a:blip r:embed="rId3"/>
          <a:stretch>
            <a:fillRect/>
          </a:stretch>
        </p:blipFill>
        <p:spPr>
          <a:xfrm>
            <a:off x="9642348" y="3177540"/>
            <a:ext cx="502920" cy="502920"/>
          </a:xfrm>
          <a:prstGeom prst="rect">
            <a:avLst/>
          </a:prstGeom>
        </p:spPr>
      </p:pic>
      <p:sp>
        <p:nvSpPr>
          <p:cNvPr id="13" name="c4_t"/>
          <p:cNvSpPr txBox="1"/>
          <p:nvPr/>
        </p:nvSpPr>
        <p:spPr>
          <a:xfrm>
            <a:off x="8138160" y="4160520"/>
            <a:ext cx="3502152" cy="822960"/>
          </a:xfrm>
          <a:prstGeom prst="rect">
            <a:avLst/>
          </a:prstGeom>
          <a:noFill/>
          <a:ln/>
        </p:spPr>
        <p:txBody>
          <a:bodyPr wrap="square" lIns="0" tIns="0" rIns="0" bIns="0" rtlCol="0" anchor="t"/>
          <a:lstStyle/>
          <a:p>
            <a:pPr algn="ctr" indent="0" marL="0">
              <a:buNone/>
            </a:pPr>
            <a:r>
              <a:rPr lang="en-US" sz="1800" b="1" dirty="0">
                <a:solidFill>
                  <a:schemeClr val="tx1"/>
                </a:solidFill>
              </a:rPr>
              <a:t>Évolution du nombre d'adhérents</a:t>
            </a:r>
            <a:endParaRPr lang="en-US" sz="1800" dirty="0"/>
          </a:p>
        </p:txBody>
      </p:sp>
      <p:sp>
        <p:nvSpPr>
          <p:cNvPr id="25" name="Slide Number Placeholder 0"/>
          <p:cNvSpPr>
            <a:spLocks noGrp="1"/>
          </p:cNvSpPr>
          <p:nvPr>
            <p:ph type="sldNum" sz="quarter" idx="4294967295"/>
          </p:nvPr>
        </p:nvSpPr>
        <p:spPr>
          <a:xfrm>
            <a:off x="11301984" y="6272784"/>
            <a:ext cx="420624" cy="365760"/>
          </a:xfrm>
          <a:prstGeom prst="rect">
            <a:avLst/>
          </a:prstGeom>
          <a:extLst>
            <a:ext uri="{C572A759-6A51-4108-AA02-DFA0A04FC94B}">
              <ma14:wrappingTextBoxFlag xmlns:ma14="http://schemas.microsoft.com/office/mac/drawingml/2011/main" val="0"/>
            </a:ext>
          </a:extLst>
        </p:spPr>
        <p:txBody>
          <a:bodyPr anchor="ctr"/>
          <a:lstStyle>
            <a:lvl1pPr>
              <a:defRPr sz="1000">
                <a:solidFill>
                  <a:srgbClr val="FFFFFF"/>
                </a:solidFill>
                <a:latin typeface="Poppins"/>
                <a:ea typeface="Poppins"/>
                <a:cs typeface="Poppins"/>
              </a:defRPr>
            </a:lvl1pPr>
          </a:lstStyle>
          <a:p>
            <a:pPr algn="ctr"/>
            <a:fld id="{F7021451-1387-4CA6-816F-3879F97B5CBC}" type="slidenum">
              <a:rPr b="0" lang="en-US"/>
              <a:t>47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anim calcmode="lin" valueType="num">
                                      <p:cBhvr>
                                        <p:cTn id="8" dur="500" decel="100000" fill="hold"/>
                                        <p:tgtEl>
                                          <p:spTgt spid="2"/>
                                        </p:tgtEl>
                                        <p:attrNameLst>
                                          <p:attrName>ppt_x</p:attrName>
                                        </p:attrNameLst>
                                      </p:cBhvr>
                                      <p:tavLst>
                                        <p:tav tm="0">
                                          <p:val>
                                            <p:strVal val="#ppt_x"/>
                                          </p:val>
                                        </p:tav>
                                        <p:tav tm="100000">
                                          <p:val>
                                            <p:strVal val="#ppt_x"/>
                                          </p:val>
                                        </p:tav>
                                      </p:tavLst>
                                    </p:anim>
                                    <p:anim calcmode="lin" valueType="num">
                                      <p:cBhvr>
                                        <p:cTn id="9" dur="500" decel="100000" fill="hold"/>
                                        <p:tgtEl>
                                          <p:spTgt spid="2"/>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500"/>
                                        <p:tgtEl>
                                          <p:spTgt spid="4"/>
                                        </p:tgtEl>
                                      </p:cBhvr>
                                    </p:animEffect>
                                    <p:anim calcmode="lin" valueType="num">
                                      <p:cBhvr>
                                        <p:cTn id="15" dur="500" decel="100000" fill="hold"/>
                                        <p:tgtEl>
                                          <p:spTgt spid="4"/>
                                        </p:tgtEl>
                                        <p:attrNameLst>
                                          <p:attrName>ppt_x</p:attrName>
                                        </p:attrNameLst>
                                      </p:cBhvr>
                                      <p:tavLst>
                                        <p:tav tm="0">
                                          <p:val>
                                            <p:strVal val="#ppt_x"/>
                                          </p:val>
                                        </p:tav>
                                        <p:tav tm="100000">
                                          <p:val>
                                            <p:strVal val="#ppt_x"/>
                                          </p:val>
                                        </p:tav>
                                      </p:tavLst>
                                    </p:anim>
                                    <p:anim calcmode="lin" valueType="num">
                                      <p:cBhvr>
                                        <p:cTn id="16"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anim calcmode="lin" valueType="num">
                                      <p:cBhvr>
                                        <p:cTn id="22" dur="500" decel="100000" fill="hold"/>
                                        <p:tgtEl>
                                          <p:spTgt spid="5"/>
                                        </p:tgtEl>
                                        <p:attrNameLst>
                                          <p:attrName>ppt_x</p:attrName>
                                        </p:attrNameLst>
                                      </p:cBhvr>
                                      <p:tavLst>
                                        <p:tav tm="0">
                                          <p:val>
                                            <p:strVal val="#ppt_x"/>
                                          </p:val>
                                        </p:tav>
                                        <p:tav tm="100000">
                                          <p:val>
                                            <p:strVal val="#ppt_x"/>
                                          </p:val>
                                        </p:tav>
                                      </p:tavLst>
                                    </p:anim>
                                    <p:anim calcmode="lin" valueType="num">
                                      <p:cBhvr>
                                        <p:cTn id="23" dur="500" decel="100000" fill="hold"/>
                                        <p:tgtEl>
                                          <p:spTgt spid="5"/>
                                        </p:tgtEl>
                                        <p:attrNameLst>
                                          <p:attrName>ppt_y</p:attrName>
                                        </p:attrNameLst>
                                      </p:cBhvr>
                                      <p:tavLst>
                                        <p:tav tm="0">
                                          <p:val>
                                            <p:strVal val="#ppt_y+0.0278"/>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anim calcmode="lin" valueType="num">
                                      <p:cBhvr>
                                        <p:cTn id="27" dur="500" decel="100000" fill="hold"/>
                                        <p:tgtEl>
                                          <p:spTgt spid="6"/>
                                        </p:tgtEl>
                                        <p:attrNameLst>
                                          <p:attrName>ppt_x</p:attrName>
                                        </p:attrNameLst>
                                      </p:cBhvr>
                                      <p:tavLst>
                                        <p:tav tm="0">
                                          <p:val>
                                            <p:strVal val="#ppt_x"/>
                                          </p:val>
                                        </p:tav>
                                        <p:tav tm="100000">
                                          <p:val>
                                            <p:strVal val="#ppt_x"/>
                                          </p:val>
                                        </p:tav>
                                      </p:tavLst>
                                    </p:anim>
                                    <p:anim calcmode="lin" valueType="num">
                                      <p:cBhvr>
                                        <p:cTn id="28" dur="500" decel="100000" fill="hold"/>
                                        <p:tgtEl>
                                          <p:spTgt spid="6"/>
                                        </p:tgtEl>
                                        <p:attrNameLst>
                                          <p:attrName>ppt_y</p:attrName>
                                        </p:attrNameLst>
                                      </p:cBhvr>
                                      <p:tavLst>
                                        <p:tav tm="0">
                                          <p:val>
                                            <p:strVal val="#ppt_y+0.0278"/>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anim calcmode="lin" valueType="num">
                                      <p:cBhvr>
                                        <p:cTn id="32" dur="500" decel="100000" fill="hold"/>
                                        <p:tgtEl>
                                          <p:spTgt spid="7"/>
                                        </p:tgtEl>
                                        <p:attrNameLst>
                                          <p:attrName>ppt_x</p:attrName>
                                        </p:attrNameLst>
                                      </p:cBhvr>
                                      <p:tavLst>
                                        <p:tav tm="0">
                                          <p:val>
                                            <p:strVal val="#ppt_x"/>
                                          </p:val>
                                        </p:tav>
                                        <p:tav tm="100000">
                                          <p:val>
                                            <p:strVal val="#ppt_x"/>
                                          </p:val>
                                        </p:tav>
                                      </p:tavLst>
                                    </p:anim>
                                    <p:anim calcmode="lin" valueType="num">
                                      <p:cBhvr>
                                        <p:cTn id="33" dur="500" decel="100000" fill="hold"/>
                                        <p:tgtEl>
                                          <p:spTgt spid="7"/>
                                        </p:tgtEl>
                                        <p:attrNameLst>
                                          <p:attrName>ppt_y</p:attrName>
                                        </p:attrNameLst>
                                      </p:cBhvr>
                                      <p:tavLst>
                                        <p:tav tm="0">
                                          <p:val>
                                            <p:strVal val="#ppt_y+0.0278"/>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500"/>
                                        <p:tgtEl>
                                          <p:spTgt spid="8"/>
                                        </p:tgtEl>
                                      </p:cBhvr>
                                    </p:animEffect>
                                    <p:anim calcmode="lin" valueType="num">
                                      <p:cBhvr>
                                        <p:cTn id="39" dur="500" decel="100000" fill="hold"/>
                                        <p:tgtEl>
                                          <p:spTgt spid="8"/>
                                        </p:tgtEl>
                                        <p:attrNameLst>
                                          <p:attrName>ppt_x</p:attrName>
                                        </p:attrNameLst>
                                      </p:cBhvr>
                                      <p:tavLst>
                                        <p:tav tm="0">
                                          <p:val>
                                            <p:strVal val="#ppt_x"/>
                                          </p:val>
                                        </p:tav>
                                        <p:tav tm="100000">
                                          <p:val>
                                            <p:strVal val="#ppt_x"/>
                                          </p:val>
                                        </p:tav>
                                      </p:tavLst>
                                    </p:anim>
                                    <p:anim calcmode="lin" valueType="num">
                                      <p:cBhvr>
                                        <p:cTn id="40" dur="500" decel="100000" fill="hold"/>
                                        <p:tgtEl>
                                          <p:spTgt spid="8"/>
                                        </p:tgtEl>
                                        <p:attrNameLst>
                                          <p:attrName>ppt_y</p:attrName>
                                        </p:attrNameLst>
                                      </p:cBhvr>
                                      <p:tavLst>
                                        <p:tav tm="0">
                                          <p:val>
                                            <p:strVal val="#ppt_y+0.0278"/>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fade">
                                      <p:cBhvr>
                                        <p:cTn id="43" dur="500"/>
                                        <p:tgtEl>
                                          <p:spTgt spid="9"/>
                                        </p:tgtEl>
                                      </p:cBhvr>
                                    </p:animEffect>
                                    <p:anim calcmode="lin" valueType="num">
                                      <p:cBhvr>
                                        <p:cTn id="44" dur="500" decel="100000" fill="hold"/>
                                        <p:tgtEl>
                                          <p:spTgt spid="9"/>
                                        </p:tgtEl>
                                        <p:attrNameLst>
                                          <p:attrName>ppt_x</p:attrName>
                                        </p:attrNameLst>
                                      </p:cBhvr>
                                      <p:tavLst>
                                        <p:tav tm="0">
                                          <p:val>
                                            <p:strVal val="#ppt_x"/>
                                          </p:val>
                                        </p:tav>
                                        <p:tav tm="100000">
                                          <p:val>
                                            <p:strVal val="#ppt_x"/>
                                          </p:val>
                                        </p:tav>
                                      </p:tavLst>
                                    </p:anim>
                                    <p:anim calcmode="lin" valueType="num">
                                      <p:cBhvr>
                                        <p:cTn id="45" dur="500" decel="100000" fill="hold"/>
                                        <p:tgtEl>
                                          <p:spTgt spid="9"/>
                                        </p:tgtEl>
                                        <p:attrNameLst>
                                          <p:attrName>ppt_y</p:attrName>
                                        </p:attrNameLst>
                                      </p:cBhvr>
                                      <p:tavLst>
                                        <p:tav tm="0">
                                          <p:val>
                                            <p:strVal val="#ppt_y+0.0278"/>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fade">
                                      <p:cBhvr>
                                        <p:cTn id="48" dur="500"/>
                                        <p:tgtEl>
                                          <p:spTgt spid="10"/>
                                        </p:tgtEl>
                                      </p:cBhvr>
                                    </p:animEffect>
                                    <p:anim calcmode="lin" valueType="num">
                                      <p:cBhvr>
                                        <p:cTn id="49" dur="500" decel="100000" fill="hold"/>
                                        <p:tgtEl>
                                          <p:spTgt spid="10"/>
                                        </p:tgtEl>
                                        <p:attrNameLst>
                                          <p:attrName>ppt_x</p:attrName>
                                        </p:attrNameLst>
                                      </p:cBhvr>
                                      <p:tavLst>
                                        <p:tav tm="0">
                                          <p:val>
                                            <p:strVal val="#ppt_x"/>
                                          </p:val>
                                        </p:tav>
                                        <p:tav tm="100000">
                                          <p:val>
                                            <p:strVal val="#ppt_x"/>
                                          </p:val>
                                        </p:tav>
                                      </p:tavLst>
                                    </p:anim>
                                    <p:anim calcmode="lin" valueType="num">
                                      <p:cBhvr>
                                        <p:cTn id="50" dur="500" decel="100000" fill="hold"/>
                                        <p:tgtEl>
                                          <p:spTgt spid="10"/>
                                        </p:tgtEl>
                                        <p:attrNameLst>
                                          <p:attrName>ppt_y</p:attrName>
                                        </p:attrNameLst>
                                      </p:cBhvr>
                                      <p:tavLst>
                                        <p:tav tm="0">
                                          <p:val>
                                            <p:strVal val="#ppt_y+0.0278"/>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anim calcmode="lin" valueType="num">
                                      <p:cBhvr>
                                        <p:cTn id="56" dur="500" decel="100000" fill="hold"/>
                                        <p:tgtEl>
                                          <p:spTgt spid="11"/>
                                        </p:tgtEl>
                                        <p:attrNameLst>
                                          <p:attrName>ppt_x</p:attrName>
                                        </p:attrNameLst>
                                      </p:cBhvr>
                                      <p:tavLst>
                                        <p:tav tm="0">
                                          <p:val>
                                            <p:strVal val="#ppt_x"/>
                                          </p:val>
                                        </p:tav>
                                        <p:tav tm="100000">
                                          <p:val>
                                            <p:strVal val="#ppt_x"/>
                                          </p:val>
                                        </p:tav>
                                      </p:tavLst>
                                    </p:anim>
                                    <p:anim calcmode="lin" valueType="num">
                                      <p:cBhvr>
                                        <p:cTn id="57" dur="500" decel="100000" fill="hold"/>
                                        <p:tgtEl>
                                          <p:spTgt spid="11"/>
                                        </p:tgtEl>
                                        <p:attrNameLst>
                                          <p:attrName>ppt_y</p:attrName>
                                        </p:attrNameLst>
                                      </p:cBhvr>
                                      <p:tavLst>
                                        <p:tav tm="0">
                                          <p:val>
                                            <p:strVal val="#ppt_y+0.0278"/>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fade">
                                      <p:cBhvr>
                                        <p:cTn id="60" dur="500"/>
                                        <p:tgtEl>
                                          <p:spTgt spid="12"/>
                                        </p:tgtEl>
                                      </p:cBhvr>
                                    </p:animEffect>
                                    <p:anim calcmode="lin" valueType="num">
                                      <p:cBhvr>
                                        <p:cTn id="61" dur="500" decel="100000" fill="hold"/>
                                        <p:tgtEl>
                                          <p:spTgt spid="12"/>
                                        </p:tgtEl>
                                        <p:attrNameLst>
                                          <p:attrName>ppt_x</p:attrName>
                                        </p:attrNameLst>
                                      </p:cBhvr>
                                      <p:tavLst>
                                        <p:tav tm="0">
                                          <p:val>
                                            <p:strVal val="#ppt_x"/>
                                          </p:val>
                                        </p:tav>
                                        <p:tav tm="100000">
                                          <p:val>
                                            <p:strVal val="#ppt_x"/>
                                          </p:val>
                                        </p:tav>
                                      </p:tavLst>
                                    </p:anim>
                                    <p:anim calcmode="lin" valueType="num">
                                      <p:cBhvr>
                                        <p:cTn id="62" dur="500" decel="100000" fill="hold"/>
                                        <p:tgtEl>
                                          <p:spTgt spid="12"/>
                                        </p:tgtEl>
                                        <p:attrNameLst>
                                          <p:attrName>ppt_y</p:attrName>
                                        </p:attrNameLst>
                                      </p:cBhvr>
                                      <p:tavLst>
                                        <p:tav tm="0">
                                          <p:val>
                                            <p:strVal val="#ppt_y+0.0278"/>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anim calcmode="lin" valueType="num">
                                      <p:cBhvr>
                                        <p:cTn id="66" dur="500" decel="100000" fill="hold"/>
                                        <p:tgtEl>
                                          <p:spTgt spid="13"/>
                                        </p:tgtEl>
                                        <p:attrNameLst>
                                          <p:attrName>ppt_x</p:attrName>
                                        </p:attrNameLst>
                                      </p:cBhvr>
                                      <p:tavLst>
                                        <p:tav tm="0">
                                          <p:val>
                                            <p:strVal val="#ppt_x"/>
                                          </p:val>
                                        </p:tav>
                                        <p:tav tm="100000">
                                          <p:val>
                                            <p:strVal val="#ppt_x"/>
                                          </p:val>
                                        </p:tav>
                                      </p:tavLst>
                                    </p:anim>
                                    <p:anim calcmode="lin" valueType="num">
                                      <p:cBhvr>
                                        <p:cTn id="67" dur="500" decel="100000" fill="hold"/>
                                        <p:tgtEl>
                                          <p:spTgt spid="13"/>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5" grpId="0" animBg="1"/>
      <p:bldP spid="7" grpId="0"/>
      <p:bldP spid="8" grpId="0" animBg="1"/>
      <p:bldP spid="10" grpId="0"/>
      <p:bldP spid="11" grpId="0" animBg="1"/>
      <p:bldP spid="13" grpId="0"/>
    </p:bldLst>
  </p:timing>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carte_logo"/>
          <p:cNvSpPr/>
          <p:nvPr/>
        </p:nvSpPr>
        <p:spPr>
          <a:xfrm>
            <a:off x="4910328" y="822960"/>
            <a:ext cx="2377440" cy="2377440"/>
          </a:xfrm>
          <a:prstGeom prst="roundRect">
            <a:avLst>
              <a:gd name="adj" fmla="val 4615"/>
            </a:avLst>
          </a:prstGeom>
          <a:solidFill>
            <a:schemeClr val="bg1"/>
          </a:solidFill>
          <a:ln w="12700">
            <a:solidFill>
              <a:schemeClr val="bg1"/>
            </a:solidFill>
            <a:prstDash val="solid"/>
          </a:ln>
        </p:spPr>
      </p:sp>
      <p:pic>
        <p:nvPicPr>
          <p:cNvPr id="3" name="logo_ag" descr="/tmp/claude-0/-home-user-HANDY/4ddfdd3d-c678-5164-8991-be3c6152a069/scratchpad/assets/logo.png">    </p:cNvPr>
          <p:cNvPicPr>
            <a:picLocks noChangeAspect="1"/>
          </p:cNvPicPr>
          <p:nvPr/>
        </p:nvPicPr>
        <p:blipFill>
          <a:blip r:embed="rId1"/>
          <a:stretch>
            <a:fillRect/>
          </a:stretch>
        </p:blipFill>
        <p:spPr>
          <a:xfrm>
            <a:off x="5047488" y="960120"/>
            <a:ext cx="2103120" cy="2103120"/>
          </a:xfrm>
          <a:prstGeom prst="rect">
            <a:avLst/>
          </a:prstGeom>
        </p:spPr>
      </p:pic>
      <p:sp>
        <p:nvSpPr>
          <p:cNvPr id="4" name="Text 0"/>
          <p:cNvSpPr/>
          <p:nvPr>
            <p:ph idx="100" type="title" hasCustomPrompt="1"/>
          </p:nvPr>
        </p:nvSpPr>
        <p:spPr>
          <a:xfrm>
            <a:off x="548640" y="3931920"/>
            <a:ext cx="11091672" cy="822960"/>
          </a:xfrm>
          <a:prstGeom prst="rect">
            <a:avLst/>
          </a:prstGeom>
          <a:noFill/>
          <a:ln/>
        </p:spPr>
        <p:txBody>
          <a:bodyPr wrap="square" lIns="0" tIns="0" rIns="0" bIns="0" rtlCol="0" anchor="ctr"/>
          <a:lstStyle/>
          <a:p>
            <a:pPr algn="ctr" indent="0" marL="0">
              <a:buNone/>
            </a:pPr>
            <a:r>
              <a:rPr lang="en-US" sz="4000" b="1" dirty="0">
                <a:solidFill>
                  <a:srgbClr val="FFFFFF"/>
                </a:solidFill>
              </a:rPr>
              <a:t>Merci pour votre attention</a:t>
            </a:r>
            <a:endParaRPr lang="en-US" sz="4000" dirty="0"/>
          </a:p>
        </p:txBody>
      </p:sp>
      <p:sp>
        <p:nvSpPr>
          <p:cNvPr id="5" name="c1_slogan"/>
          <p:cNvSpPr txBox="1"/>
          <p:nvPr/>
        </p:nvSpPr>
        <p:spPr>
          <a:xfrm>
            <a:off x="548640" y="4800600"/>
            <a:ext cx="11091672" cy="457200"/>
          </a:xfrm>
          <a:prstGeom prst="rect">
            <a:avLst/>
          </a:prstGeom>
          <a:noFill/>
          <a:ln/>
        </p:spPr>
        <p:txBody>
          <a:bodyPr wrap="square" lIns="0" tIns="0" rIns="0" bIns="0" rtlCol="0" anchor="t"/>
          <a:lstStyle/>
          <a:p>
            <a:pPr algn="ctr" indent="0" marL="0">
              <a:buNone/>
            </a:pPr>
            <a:r>
              <a:rPr lang="en-US" sz="1800" i="1" dirty="0">
                <a:solidFill>
                  <a:schemeClr val="bg1"/>
                </a:solidFill>
              </a:rPr>
              <a:t>American's Gym, l'excellence du fitness au cœur de votre bien-être.</a:t>
            </a:r>
            <a:endParaRPr lang="en-US" sz="1800" dirty="0"/>
          </a:p>
        </p:txBody>
      </p:sp>
      <p:sp>
        <p:nvSpPr>
          <p:cNvPr id="6" name="c1_nom"/>
          <p:cNvSpPr txBox="1"/>
          <p:nvPr/>
        </p:nvSpPr>
        <p:spPr>
          <a:xfrm>
            <a:off x="548640" y="5760720"/>
            <a:ext cx="11091672" cy="365760"/>
          </a:xfrm>
          <a:prstGeom prst="rect">
            <a:avLst/>
          </a:prstGeom>
          <a:noFill/>
          <a:ln/>
        </p:spPr>
        <p:txBody>
          <a:bodyPr wrap="square" lIns="0" tIns="0" rIns="0" bIns="0" rtlCol="0" anchor="t"/>
          <a:lstStyle/>
          <a:p>
            <a:pPr algn="ctr" indent="0" marL="0">
              <a:buNone/>
            </a:pPr>
            <a:r>
              <a:rPr lang="en-US" sz="1300" dirty="0">
                <a:solidFill>
                  <a:schemeClr val="bg1">
                    <a:alpha val="80000"/>
                  </a:schemeClr>
                </a:solidFill>
              </a:rPr>
              <a:t>CAMARA BINTOU ÉPSE HOZAN · ISTC Polytechnique</a:t>
            </a:r>
            <a:endParaRPr lang="en-US" sz="13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anim calcmode="lin" valueType="num">
                                      <p:cBhvr>
                                        <p:cTn id="8" dur="500" decel="100000" fill="hold"/>
                                        <p:tgtEl>
                                          <p:spTgt spid="4"/>
                                        </p:tgtEl>
                                        <p:attrNameLst>
                                          <p:attrName>ppt_x</p:attrName>
                                        </p:attrNameLst>
                                      </p:cBhvr>
                                      <p:tavLst>
                                        <p:tav tm="0">
                                          <p:val>
                                            <p:strVal val="#ppt_x"/>
                                          </p:val>
                                        </p:tav>
                                        <p:tav tm="100000">
                                          <p:val>
                                            <p:strVal val="#ppt_x"/>
                                          </p:val>
                                        </p:tav>
                                      </p:tavLst>
                                    </p:anim>
                                    <p:anim calcmode="lin" valueType="num">
                                      <p:cBhvr>
                                        <p:cTn id="9" dur="500" decel="100000" fill="hold"/>
                                        <p:tgtEl>
                                          <p:spTgt spid="4"/>
                                        </p:tgtEl>
                                        <p:attrNameLst>
                                          <p:attrName>ppt_y</p:attrName>
                                        </p:attrNameLst>
                                      </p:cBhvr>
                                      <p:tavLst>
                                        <p:tav tm="0">
                                          <p:val>
                                            <p:strVal val="#ppt_y+0.0278"/>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00"/>
                                        <p:tgtEl>
                                          <p:spTgt spid="5"/>
                                        </p:tgtEl>
                                      </p:cBhvr>
                                    </p:animEffect>
                                    <p:anim calcmode="lin" valueType="num">
                                      <p:cBhvr>
                                        <p:cTn id="15" dur="500" decel="100000" fill="hold"/>
                                        <p:tgtEl>
                                          <p:spTgt spid="5"/>
                                        </p:tgtEl>
                                        <p:attrNameLst>
                                          <p:attrName>ppt_x</p:attrName>
                                        </p:attrNameLst>
                                      </p:cBhvr>
                                      <p:tavLst>
                                        <p:tav tm="0">
                                          <p:val>
                                            <p:strVal val="#ppt_x"/>
                                          </p:val>
                                        </p:tav>
                                        <p:tav tm="100000">
                                          <p:val>
                                            <p:strVal val="#ppt_x"/>
                                          </p:val>
                                        </p:tav>
                                      </p:tavLst>
                                    </p:anim>
                                    <p:anim calcmode="lin" valueType="num">
                                      <p:cBhvr>
                                        <p:cTn id="16" dur="500" decel="100000" fill="hold"/>
                                        <p:tgtEl>
                                          <p:spTgt spid="5"/>
                                        </p:tgtEl>
                                        <p:attrNameLst>
                                          <p:attrName>ppt_y</p:attrName>
                                        </p:attrNameLst>
                                      </p:cBhvr>
                                      <p:tavLst>
                                        <p:tav tm="0">
                                          <p:val>
                                            <p:strVal val="#ppt_y+0.0278"/>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500"/>
                                        <p:tgtEl>
                                          <p:spTgt spid="6"/>
                                        </p:tgtEl>
                                      </p:cBhvr>
                                    </p:animEffect>
                                    <p:anim calcmode="lin" valueType="num">
                                      <p:cBhvr>
                                        <p:cTn id="20" dur="500" decel="100000" fill="hold"/>
                                        <p:tgtEl>
                                          <p:spTgt spid="6"/>
                                        </p:tgtEl>
                                        <p:attrNameLst>
                                          <p:attrName>ppt_x</p:attrName>
                                        </p:attrNameLst>
                                      </p:cBhvr>
                                      <p:tavLst>
                                        <p:tav tm="0">
                                          <p:val>
                                            <p:strVal val="#ppt_x"/>
                                          </p:val>
                                        </p:tav>
                                        <p:tav tm="100000">
                                          <p:val>
                                            <p:strVal val="#ppt_x"/>
                                          </p:val>
                                        </p:tav>
                                      </p:tavLst>
                                    </p:anim>
                                    <p:anim calcmode="lin" valueType="num">
                                      <p:cBhvr>
                                        <p:cTn id="21" dur="500" decel="100000" fill="hold"/>
                                        <p:tgtEl>
                                          <p:spTgt spid="6"/>
                                        </p:tgtEl>
                                        <p:attrNameLst>
                                          <p:attrName>ppt_y</p:attrName>
                                        </p:attrNameLst>
                                      </p:cBhvr>
                                      <p:tavLst>
                                        <p:tav tm="0">
                                          <p:val>
                                            <p:strVal val="#ppt_y+0.027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theme/theme1.xml><?xml version="1.0" encoding="utf-8"?>
<a:theme xmlns:a="http://schemas.openxmlformats.org/drawingml/2006/main" name="American's Gym — Soutenance">
  <a:themeElements>
    <a:clrScheme name="American's Gym — Soutenance">
      <a:dk1>
        <a:srgbClr val="002060"/>
      </a:dk1>
      <a:lt1>
        <a:srgbClr val="FFFFFF"/>
      </a:lt1>
      <a:dk2>
        <a:srgbClr val="012F99"/>
      </a:dk2>
      <a:lt2>
        <a:srgbClr val="F3F4F8"/>
      </a:lt2>
      <a:accent1>
        <a:srgbClr val="C00000"/>
      </a:accent1>
      <a:accent2>
        <a:srgbClr val="012F99"/>
      </a:accent2>
      <a:accent3>
        <a:srgbClr val="7E0000"/>
      </a:accent3>
      <a:accent4>
        <a:srgbClr val="5B6478"/>
      </a:accent4>
      <a:accent5>
        <a:srgbClr val="D9DEE8"/>
      </a:accent5>
      <a:accent6>
        <a:srgbClr val="002060"/>
      </a:accent6>
      <a:hlink>
        <a:srgbClr val="012F99"/>
      </a:hlink>
      <a:folHlink>
        <a:srgbClr val="7E0000"/>
      </a:folHlink>
    </a:clrScheme>
    <a:fontScheme name="American's Gym — Soutenan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Conception et réalisation de supports de communication — American's Gym</dc:title>
  <dc:subject>PptxGenJS Presentation</dc:subject>
  <dc:creator>CAMARA BINTOU ÉPSE HOZAN</dc:creator>
  <cp:lastModifiedBy>CAMARA BINTOU ÉPSE HOZAN</cp:lastModifiedBy>
  <cp:revision>1</cp:revision>
  <dcterms:created xsi:type="dcterms:W3CDTF">2026-10-24T12:03:12Z</dcterms:created>
  <dcterms:modified xsi:type="dcterms:W3CDTF">2026-10-24T12:03:12Z</dcterms:modified>
</cp:coreProperties>
</file>