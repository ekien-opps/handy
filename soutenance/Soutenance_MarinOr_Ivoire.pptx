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odel3d1.glb" ContentType="model/gltf-binary"/>
  <Override PartName="/ppt/media/model3d10.glb" ContentType="model/gltf-binary"/>
  <Override PartName="/ppt/media/model3d11.glb" ContentType="model/gltf-binary"/>
  <Override PartName="/ppt/media/model3d12.glb" ContentType="model/gltf-binary"/>
  <Override PartName="/ppt/media/model3d13.glb" ContentType="model/gltf-binary"/>
  <Override PartName="/ppt/media/model3d14.glb" ContentType="model/gltf-binary"/>
  <Override PartName="/ppt/media/model3d15.glb" ContentType="model/gltf-binary"/>
  <Override PartName="/ppt/media/model3d2.glb" ContentType="model/gltf-binary"/>
  <Override PartName="/ppt/media/model3d3.glb" ContentType="model/gltf-binary"/>
  <Override PartName="/ppt/media/model3d4.glb" ContentType="model/gltf-binary"/>
  <Override PartName="/ppt/media/model3d5.glb" ContentType="model/gltf-binary"/>
  <Override PartName="/ppt/media/model3d6.glb" ContentType="model/gltf-binary"/>
  <Override PartName="/ppt/media/model3d7.glb" ContentType="model/gltf-binary"/>
  <Override PartName="/ppt/media/model3d8.glb" ContentType="model/gltf-binary"/>
  <Override PartName="/ppt/media/model3d9.glb" ContentType="model/gltf-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Bonjour. Mesdames et Messieurs les membres du jury, merci de votre présence. Mon mémoire s'intitule : « Conception et réalisation de supports de communication pour la promotion de Marin'Or Ivoire ». Il a été réalisé sous la direction du Dr Tayoro Gnewa Gérard et sous la supervision de M. TOA Agnini Jules Evariste, Professeur Titulaire.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 Mon exposé suit six temps : l'introduction et la problématique, les produits, l'identité visuelle, les supports print et audiovisuels, le site web, puis le bilan.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Dans nos sociétés, la recherche de saveurs authentiques grandit. Les consommateurs se tournent vers des marques capables de valoriser leur patrimoine culinaire. Pourtant, nombre de jeunes marques locales peinent à se faire une place, faute de moyens ou de structuration (Introduction, p. 16).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Marin'Or Ivoire est un projet porté par M. Moustapha : des marinades et épices préparées, authentiques et accessibles, qui simplifient la cuisine du quotidien (p. 20). J'ai conçu ses premiers supports lors d'un stage ; ce travail restait ponctuel, sans stratégie globale.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L'analyse fait ressortir quatre constats (p. 25) : une identité visuelle incomplète, sans charte formalisée ; une visibilité restreinte ; aucun site web ; un potentiel sous-exploité. La communication est assurée par le porteur du projet lui-même, avec des moyens limités.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D'où la question centrale (p. 17) : comment concevoir et réaliser des supports de communication efficaces, permettant à Marin'Or Ivoire de construire une identité de marque forte et durable dans le contexte concurrentiel ivoirien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Nous formulons l'hypothèse qu'une stratégie combinant supports imprimés, contenus audiovisuels et présence numérique permettrait à la marque de gagner significativement en visibilité et en crédibilité auprès de son public cible (p. 17).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Démarche qualitative à Abidjan (p. 23) : recherche documentaire, observation directe pendant le stage, entretiens semi-directifs avec le porteur du projet et des consommateurs. Conformément aux objectifs d'une licence professionnelle, l'étude repose sur un diagnostic de terrain empirique et une analyse comparative des marques concurrentes, plutôt que sur une étude de marché quantitative. (Cette dernière phrase n'est pas dans le mémoire : à assumer à l'oral.)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Objectif général (p. 21) : doter Marin'Or Ivoire d'une identité visuelle forte et de supports adaptés. Quatre objectifs spécifiques : accroître la visibilité, construire une identité cohérente, produire des supports imprimés, audiovisuels et numériques, poser les bases d'une présence numérique.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La cible prioritaire (p. 27) : les ménages d'Abidjan, femmes et hommes de 25 à 50 ans qui cuisinent régulièrement. Plus largement : consommateurs sensibles aux produits locaux, distributeurs, restaurateurs et passionnés de cuisine.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Trois axes guident tous les supports (p. 28) : l'authenticité des saveurs ivoiriennes, la convivialité et le partage, la simplicité accessible au quotidien.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Passons aux produits. Les quinze références de la gamme apparaissent ensemble (p. 24).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Au moment de notre intervention, la marque disposait de quinze produits répartis en trois familles (Tableau 1, p. 24) : dix épices et condiments, trois marinades, deux essentiels de la cuisine ivoirienne.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s] Les marinades, prêtes à l'emploi, en pot : poulet (braisé, rôti ou grillé), poisson (braisé, frit ou fumé) et mixte (viandes et poissons). Source : Tableau 1, p. 24.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s] Dix épices et condiments, majoritairement en sachet (Tableau 1) : épices spéciales poulet et poisson, paprika, piment, graines d'akpi, poudres de djoumblé, de crevettes et de poisson, purée d'ail, bouillon de poulet. Ils servent à relever le goût, colorer, parfumer et lier les sauces.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 s] Les essentiels de la cuisine ivoirienne : la pâte d'arachide pour la sauce arachide, l'huile rouge pour les sauces traditionnelles (Tableau 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 « Le vrai goût de chez nous » : des marinades et épices à base d'ingrédients 100 % naturels (accroche et sous-texte de l'affiche 1, p. 47). C'est cette promesse que l'identité visuelle doit porter.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s] Troisième temps : l'identité visuelle.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s] Trois pistes (p. 34-35). La piste 1 reprenait l'ordre des couleurs du drapeau : l'Accord de Bangui interdit de reproduire les emblèmes d'un État sans autorisation. La piste 2, éléphant et lignes de vapeur, était difficile à identifier. La piste 3, éléphant et feuille, a été retenue, la plus narrative et la plus symbolique.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Le logo associe une tête d'éléphant de profil à une feuille qui en forme l'oreille (p. 35-37). L'éléphant renvoie au mot « Ivoire » : force, mémoire, ancrage local. La feuille évoque l'univers culinaire. Le bordeaux profond donne un caractère premium et gourmand ; le doré, noblesse et qualité.</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 Une zone de protection entoure le logotype. Trois versions : couleur pour les fonds clairs, blanche pour les fonds sombres et les photos, noire pour l'impression en une couleur (p. 37-38). Cette présentation applique la règle : logo couleur sur fond clair, blanc sur fond sombre.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s] Certaines manipulations sont proscrites pour préserver l'intégrité et la reconnaissance du logotype (p. 38).</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s] Trois familles (p. 39) : Montserrat pour la lisibilité sur tous les supports ; Cream Heavy, généreuse et gourmande, pour les accroches ; RadioTime Tooled, calligraphique, réservée au logotype. Cette présentation utilise elle-même Cream Heavy et Montserrat.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s] Dix couleurs (p. 40). Le bordeaux profond, couleur du logotype ; le rouge passion ; l'or épicé et le jaune soleil, gourmands ; les deux verts pour la naturalité ; la crème douce et le rose poudre pour les respirations ; le noir et le blanc pour la lisibilité.</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 Pour vérifier que l'identité fonctionne en situation réelle (p. 41-44), elle a été appliquée à une carte de visite, un carnet, des polos, des tabliers de cuisine, un camion de livraison et un sac kraft.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s] Cliquer sur la vidéo pour la lancer. L'animation du logotype est la signature audiovisuelle de la marque : elle ouvre ou clôt les spots et vidéos (p. 44). Préparation sous Illustrator, animation sous After Effects.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s] Quatrième temps : les supports réalisés.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s] Affiche 1 (p. 47, 86) : accroche « Le vrai goût de chez nous », sous-texte « Marinades et épices à base d'ingrédients 100 % naturels », un jeune homme goûtant une sauce, trois produits mis en avant, un QR code et la barre de contacts. Axe : authenticité.</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 Affiche 2 (p. 47, 87) : « Le goût qui rassemble », « Invitez Marin'Or Ivoire à votre table ! », des mains se servant dans un grand plat traditionnel, les trois marinades. Axe : convivialité et partage.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 Affiche 3 (p. 47, 89) : « Marinez, Cuisez, Régalez-vous », « Aussi facile que de former une boule d'attiéké ! », deux produits. Axe : simplicité au quotidien.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Dépliant A4 trois volets (p. 47-48) : à l'extérieur, la marque, « Qui sommes-nous ? », « Pourquoi nous choisir ? » et les contacts ; à l'intérieur, la gamme en deux colonnes, Marinades et Épices &amp; Essentiels. Il porte les trois axes.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 Le flyer (p. 48, 93) reprend « Marinez, Cuisez, Régalez-vous ! » et « Le goût du chef, sans l'effort », avec une sélection de produits alignés en bas. Axe : simplicité au quotidien.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 Le kakémono (p. 48-49, 96) sert en point de vente et lors d'événements : « Le goût qui rassemble ! », « Profitez-en ! », le plat partagé et les trois gammes. Axe : convivialité et partage.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Cliquer sur la vidéo pour la lancer (extrait de 14 s). Le spot 2D (p. 49-50, 98) part d'une question au spectateur, présente les solutions naturelles Marin'Or, anime toute la gamme, illustre la simplicité d'usage et se clôt sur un repas en famille et le slogan « Marin'Or Ivoire, le goût en or ».</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Cliquer sur la vidéo pour la lancer (extrait de 15 s). Le spot 3D (p. 50-51, 99) propose une visite de la boutique virtuelle : la caméra entre, découvre les rayonnages, s'attarde sur les marinades, les épices et les essentiels, puis termine sur le logo et l'appel à l'action.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s] Cinquième temps : le site web.</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Deux espaces (p. 52-53) : la partie clientèle, ouverte à tout visiteur (boutique, gammes, fiches, panier, tunnel de commande, compte), et le back-office réservé à l'administrateur, avec un tableau de bord et six rubriques de gestion.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L'accueil s'ouvre sur une bannière bordeaux avec l'accroche « Le vrai goût de chez nous » (p. 101). Chaque gamme a sa couleur de charte : bordeaux pour les Marinades, or pour les Épices, vert pour les Essentiels. Filtres, recherche et tri sont disponibles.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Le tunnel de commande compte trois étapes (p. 65-66). Le client choisit Wave, Orange Money, Moov Money ou Djamo, effectue le transfert, saisit le numéro payeur et la référence. Le paiement passe « à vérifier » ; l'administrateur le valide et la commande devient « payée ». Il n'y a pas de paiement automatique : il faudrait un compte marchand, mais la base est prête pour cette évolution.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s] Le back-office (p. 106-110) : un tableau de bord à quatre indicateurs, la gestion des commandes, des produits, des gammes, des clients, des messages et des paramètres. Le logo envoyé depuis les paramètres s'affiche sur tout le site.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 La base marinor_db a été conçue avec MERISE (p. 68-83) : MCD, MLD puis MPD. Onze règles de gestion, un dictionnaire de 74 données, dix entités devenues dix tables MySQL (moteur InnoDB, encodage utf8mb4). Sécurité : requêtes préparées, mots de passe hachés, jetons CSRF.</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Dix-sept tests en local (Tableau 16, p. 111) : 14 conformes. Deux restent « à vérifier » : la saisie et la validation du paiement. Un est non conforme : l'affichage sur smartphone, à corriger avant la mise en ligne. ATTENTION : vérifier ces deux résultats avant la soutenance.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s] Le projet a demandé 63 jours, soit 9 semaines (Tableau 2, p. 31). Chaque barre se construit tâche par tâche : identité visuelle 9 jours (logotype 2, charte 7) ; supports imprimés 6 jours ; spots 20 jours (scénario 3, storyboard 2, production 10, post-production 5) ; site web 28 jours (recherche 10, maquette 4, interfaces 4, base de données 3, tests 3, finalisation 4). Les traits verticaux marquent les semaines.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s] Le coût est estimé à 7 000 000 FCFA (Tableau 3, p. 32) : site web 3 500 000 ; spot 3D 1 500 000 et spot 2D 900 000 ; logo et identité 500 000 ; affiches 300 000, flyer, dépliant et kakémono 100 000 chacun. Les regroupements et les pourcentages (50, 34, 9 et 7 %) sont calculés à partir de ces lignes.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Ce travail aboutit à une identité visuelle cohérente, à des supports imprimés et audiovisuels adaptés au public cible et à un site web fonctionnel, appuyé sur un modèle de données MERISE (p. 112). Limites : pas d'étude de marché approfondie à grande échelle, des choix graphiques à confronter à un panel plus large, un impact réel à mesurer une fois les supports diffusés.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s] En ouverture (p. 113) : une véritable stratégie de communication digitale, des campagnes ciblées et l'export vers la sous-région ouest-africaine. Je vous remercie de votre attention et me tiens à votre disposition pour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2.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2.png"/><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2.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microsoft.com/office/2017/06/relationships/model3d" Target="../media/model3d1.glb"/><Relationship Id="rId4" Type="http://schemas.openxmlformats.org/officeDocument/2006/relationships/image" Target="../media/image19.png"/><Relationship Id="rId5" Type="http://schemas.microsoft.com/office/2017/06/relationships/model3d" Target="../media/model3d2.glb"/><Relationship Id="rId6" Type="http://schemas.openxmlformats.org/officeDocument/2006/relationships/image" Target="../media/image20.png"/><Relationship Id="rId7" Type="http://schemas.microsoft.com/office/2017/06/relationships/model3d" Target="../media/model3d3.glb"/><Relationship Id="rId8" Type="http://schemas.openxmlformats.org/officeDocument/2006/relationships/image" Target="../media/image21.png"/><Relationship Id="rId9" Type="http://schemas.microsoft.com/office/2017/06/relationships/model3d" Target="../media/model3d4.glb"/><Relationship Id="rId10" Type="http://schemas.openxmlformats.org/officeDocument/2006/relationships/image" Target="../media/image22.png"/><Relationship Id="rId11" Type="http://schemas.microsoft.com/office/2017/06/relationships/model3d" Target="../media/model3d5.glb"/><Relationship Id="rId12" Type="http://schemas.openxmlformats.org/officeDocument/2006/relationships/image" Target="../media/image23.png"/><Relationship Id="rId13" Type="http://schemas.microsoft.com/office/2017/06/relationships/model3d" Target="../media/model3d6.glb"/><Relationship Id="rId14" Type="http://schemas.openxmlformats.org/officeDocument/2006/relationships/image" Target="../media/image24.png"/><Relationship Id="rId15" Type="http://schemas.microsoft.com/office/2017/06/relationships/model3d" Target="../media/model3d7.glb"/><Relationship Id="rId16" Type="http://schemas.openxmlformats.org/officeDocument/2006/relationships/image" Target="../media/image25.png"/><Relationship Id="rId17" Type="http://schemas.microsoft.com/office/2017/06/relationships/model3d" Target="../media/model3d8.glb"/><Relationship Id="rId18" Type="http://schemas.openxmlformats.org/officeDocument/2006/relationships/image" Target="../media/image26.png"/><Relationship Id="rId19" Type="http://schemas.microsoft.com/office/2017/06/relationships/model3d" Target="../media/model3d9.glb"/><Relationship Id="rId20" Type="http://schemas.openxmlformats.org/officeDocument/2006/relationships/image" Target="../media/image27.png"/><Relationship Id="rId21" Type="http://schemas.microsoft.com/office/2017/06/relationships/model3d" Target="../media/model3d10.glb"/><Relationship Id="rId22" Type="http://schemas.openxmlformats.org/officeDocument/2006/relationships/image" Target="../media/image28.png"/><Relationship Id="rId23" Type="http://schemas.microsoft.com/office/2017/06/relationships/model3d" Target="../media/model3d11.glb"/><Relationship Id="rId24" Type="http://schemas.openxmlformats.org/officeDocument/2006/relationships/image" Target="../media/image29.png"/><Relationship Id="rId25" Type="http://schemas.microsoft.com/office/2017/06/relationships/model3d" Target="../media/model3d12.glb"/><Relationship Id="rId26" Type="http://schemas.openxmlformats.org/officeDocument/2006/relationships/image" Target="../media/image30.png"/><Relationship Id="rId27" Type="http://schemas.microsoft.com/office/2017/06/relationships/model3d" Target="../media/model3d13.glb"/><Relationship Id="rId28" Type="http://schemas.openxmlformats.org/officeDocument/2006/relationships/image" Target="../media/image31.png"/><Relationship Id="rId29" Type="http://schemas.microsoft.com/office/2017/06/relationships/model3d" Target="../media/model3d14.glb"/><Relationship Id="rId30" Type="http://schemas.openxmlformats.org/officeDocument/2006/relationships/image" Target="../media/image32.png"/><Relationship Id="rId31" Type="http://schemas.microsoft.com/office/2017/06/relationships/model3d" Target="../media/model3d15.glb"/><Relationship Id="rId32" Type="http://schemas.openxmlformats.org/officeDocument/2006/relationships/image" Target="../media/image33.png"/><Relationship Id="rId3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17/06/relationships/model3d" Target="../media/model3d7.glb"/><Relationship Id="rId3" Type="http://schemas.openxmlformats.org/officeDocument/2006/relationships/image" Target="../media/image34.png"/><Relationship Id="rId4" Type="http://schemas.microsoft.com/office/2017/06/relationships/model3d" Target="../media/model3d2.glb"/><Relationship Id="rId5" Type="http://schemas.openxmlformats.org/officeDocument/2006/relationships/image" Target="../media/image35.png"/><Relationship Id="rId6" Type="http://schemas.microsoft.com/office/2017/06/relationships/model3d" Target="../media/model3d4.glb"/><Relationship Id="rId7" Type="http://schemas.openxmlformats.org/officeDocument/2006/relationships/image" Target="../media/image36.png"/><Relationship Id="rId8" Type="http://schemas.microsoft.com/office/2017/06/relationships/model3d" Target="../media/model3d8.glb"/><Relationship Id="rId9" Type="http://schemas.openxmlformats.org/officeDocument/2006/relationships/image" Target="../media/image37.png"/><Relationship Id="rId10" Type="http://schemas.microsoft.com/office/2017/06/relationships/model3d" Target="../media/model3d10.glb"/><Relationship Id="rId11" Type="http://schemas.openxmlformats.org/officeDocument/2006/relationships/image" Target="../media/image38.png"/><Relationship Id="rId12" Type="http://schemas.microsoft.com/office/2017/06/relationships/model3d" Target="../media/model3d14.glb"/><Relationship Id="rId13" Type="http://schemas.openxmlformats.org/officeDocument/2006/relationships/image" Target="../media/image39.png"/><Relationship Id="rId14" Type="http://schemas.microsoft.com/office/2017/06/relationships/model3d" Target="../media/model3d15.glb"/><Relationship Id="rId15" Type="http://schemas.openxmlformats.org/officeDocument/2006/relationships/image" Target="../media/image40.png"/><Relationship Id="rId16" Type="http://schemas.microsoft.com/office/2017/06/relationships/model3d" Target="../media/model3d11.glb"/><Relationship Id="rId17" Type="http://schemas.openxmlformats.org/officeDocument/2006/relationships/image" Target="../media/image41.png"/><Relationship Id="rId18" Type="http://schemas.microsoft.com/office/2017/06/relationships/model3d" Target="../media/model3d9.glb"/><Relationship Id="rId19" Type="http://schemas.openxmlformats.org/officeDocument/2006/relationships/image" Target="../media/image42.png"/><Relationship Id="rId20" Type="http://schemas.microsoft.com/office/2017/06/relationships/model3d" Target="../media/model3d3.glb"/><Relationship Id="rId21" Type="http://schemas.openxmlformats.org/officeDocument/2006/relationships/image" Target="../media/image43.png"/><Relationship Id="rId22" Type="http://schemas.microsoft.com/office/2017/06/relationships/model3d" Target="../media/model3d12.glb"/><Relationship Id="rId23" Type="http://schemas.openxmlformats.org/officeDocument/2006/relationships/image" Target="../media/image44.png"/><Relationship Id="rId24" Type="http://schemas.microsoft.com/office/2017/06/relationships/model3d" Target="../media/model3d6.glb"/><Relationship Id="rId25" Type="http://schemas.openxmlformats.org/officeDocument/2006/relationships/image" Target="../media/image45.png"/><Relationship Id="rId26" Type="http://schemas.microsoft.com/office/2017/06/relationships/model3d" Target="../media/model3d13.glb"/><Relationship Id="rId27" Type="http://schemas.openxmlformats.org/officeDocument/2006/relationships/image" Target="../media/image46.png"/><Relationship Id="rId28" Type="http://schemas.microsoft.com/office/2017/06/relationships/model3d" Target="../media/model3d5.glb"/><Relationship Id="rId29" Type="http://schemas.openxmlformats.org/officeDocument/2006/relationships/image" Target="../media/image47.png"/><Relationship Id="rId30" Type="http://schemas.microsoft.com/office/2017/06/relationships/model3d" Target="../media/model3d1.glb"/><Relationship Id="rId31" Type="http://schemas.openxmlformats.org/officeDocument/2006/relationships/image" Target="../media/image48.png"/><Relationship Id="rId32" Type="http://schemas.openxmlformats.org/officeDocument/2006/relationships/image" Target="../media/image2.png"/><Relationship Id="rId3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17/06/relationships/model3d" Target="../media/model3d7.glb"/><Relationship Id="rId3" Type="http://schemas.openxmlformats.org/officeDocument/2006/relationships/image" Target="../media/image49.png"/><Relationship Id="rId4" Type="http://schemas.microsoft.com/office/2017/06/relationships/model3d" Target="../media/model3d2.glb"/><Relationship Id="rId5" Type="http://schemas.openxmlformats.org/officeDocument/2006/relationships/image" Target="../media/image50.png"/><Relationship Id="rId6" Type="http://schemas.microsoft.com/office/2017/06/relationships/model3d" Target="../media/model3d4.glb"/><Relationship Id="rId7" Type="http://schemas.openxmlformats.org/officeDocument/2006/relationships/image" Target="../media/image51.png"/><Relationship Id="rId8" Type="http://schemas.microsoft.com/office/2017/06/relationships/model3d" Target="../media/model3d8.glb"/><Relationship Id="rId9" Type="http://schemas.openxmlformats.org/officeDocument/2006/relationships/image" Target="../media/image52.png"/><Relationship Id="rId10" Type="http://schemas.microsoft.com/office/2017/06/relationships/model3d" Target="../media/model3d10.glb"/><Relationship Id="rId11" Type="http://schemas.openxmlformats.org/officeDocument/2006/relationships/image" Target="../media/image53.png"/><Relationship Id="rId12" Type="http://schemas.microsoft.com/office/2017/06/relationships/model3d" Target="../media/model3d14.glb"/><Relationship Id="rId13" Type="http://schemas.openxmlformats.org/officeDocument/2006/relationships/image" Target="../media/image54.png"/><Relationship Id="rId14" Type="http://schemas.microsoft.com/office/2017/06/relationships/model3d" Target="../media/model3d15.glb"/><Relationship Id="rId15" Type="http://schemas.openxmlformats.org/officeDocument/2006/relationships/image" Target="../media/image55.png"/><Relationship Id="rId16" Type="http://schemas.microsoft.com/office/2017/06/relationships/model3d" Target="../media/model3d11.glb"/><Relationship Id="rId17" Type="http://schemas.openxmlformats.org/officeDocument/2006/relationships/image" Target="../media/image56.png"/><Relationship Id="rId18" Type="http://schemas.microsoft.com/office/2017/06/relationships/model3d" Target="../media/model3d9.glb"/><Relationship Id="rId19" Type="http://schemas.openxmlformats.org/officeDocument/2006/relationships/image" Target="../media/image57.png"/><Relationship Id="rId20" Type="http://schemas.microsoft.com/office/2017/06/relationships/model3d" Target="../media/model3d3.glb"/><Relationship Id="rId21" Type="http://schemas.openxmlformats.org/officeDocument/2006/relationships/image" Target="../media/image58.png"/><Relationship Id="rId22" Type="http://schemas.microsoft.com/office/2017/06/relationships/model3d" Target="../media/model3d12.glb"/><Relationship Id="rId23" Type="http://schemas.openxmlformats.org/officeDocument/2006/relationships/image" Target="../media/image59.png"/><Relationship Id="rId24" Type="http://schemas.microsoft.com/office/2017/06/relationships/model3d" Target="../media/model3d6.glb"/><Relationship Id="rId25" Type="http://schemas.openxmlformats.org/officeDocument/2006/relationships/image" Target="../media/image60.png"/><Relationship Id="rId26" Type="http://schemas.microsoft.com/office/2017/06/relationships/model3d" Target="../media/model3d13.glb"/><Relationship Id="rId27" Type="http://schemas.openxmlformats.org/officeDocument/2006/relationships/image" Target="../media/image61.png"/><Relationship Id="rId28" Type="http://schemas.microsoft.com/office/2017/06/relationships/model3d" Target="../media/model3d5.glb"/><Relationship Id="rId29" Type="http://schemas.openxmlformats.org/officeDocument/2006/relationships/image" Target="../media/image62.png"/><Relationship Id="rId30" Type="http://schemas.microsoft.com/office/2017/06/relationships/model3d" Target="../media/model3d1.glb"/><Relationship Id="rId31" Type="http://schemas.openxmlformats.org/officeDocument/2006/relationships/image" Target="../media/image63.png"/><Relationship Id="rId32" Type="http://schemas.openxmlformats.org/officeDocument/2006/relationships/image" Target="../media/image2.png"/><Relationship Id="rId3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17/06/relationships/model3d" Target="../media/model3d7.glb"/><Relationship Id="rId3" Type="http://schemas.openxmlformats.org/officeDocument/2006/relationships/image" Target="../media/image64.png"/><Relationship Id="rId4" Type="http://schemas.microsoft.com/office/2017/06/relationships/model3d" Target="../media/model3d2.glb"/><Relationship Id="rId5" Type="http://schemas.openxmlformats.org/officeDocument/2006/relationships/image" Target="../media/image65.png"/><Relationship Id="rId6" Type="http://schemas.microsoft.com/office/2017/06/relationships/model3d" Target="../media/model3d4.glb"/><Relationship Id="rId7" Type="http://schemas.openxmlformats.org/officeDocument/2006/relationships/image" Target="../media/image66.png"/><Relationship Id="rId8" Type="http://schemas.microsoft.com/office/2017/06/relationships/model3d" Target="../media/model3d8.glb"/><Relationship Id="rId9" Type="http://schemas.openxmlformats.org/officeDocument/2006/relationships/image" Target="../media/image67.png"/><Relationship Id="rId10" Type="http://schemas.microsoft.com/office/2017/06/relationships/model3d" Target="../media/model3d10.glb"/><Relationship Id="rId11" Type="http://schemas.openxmlformats.org/officeDocument/2006/relationships/image" Target="../media/image68.png"/><Relationship Id="rId12" Type="http://schemas.microsoft.com/office/2017/06/relationships/model3d" Target="../media/model3d14.glb"/><Relationship Id="rId13" Type="http://schemas.openxmlformats.org/officeDocument/2006/relationships/image" Target="../media/image69.png"/><Relationship Id="rId14" Type="http://schemas.microsoft.com/office/2017/06/relationships/model3d" Target="../media/model3d15.glb"/><Relationship Id="rId15" Type="http://schemas.openxmlformats.org/officeDocument/2006/relationships/image" Target="../media/image70.png"/><Relationship Id="rId16" Type="http://schemas.microsoft.com/office/2017/06/relationships/model3d" Target="../media/model3d11.glb"/><Relationship Id="rId17" Type="http://schemas.openxmlformats.org/officeDocument/2006/relationships/image" Target="../media/image71.png"/><Relationship Id="rId18" Type="http://schemas.microsoft.com/office/2017/06/relationships/model3d" Target="../media/model3d9.glb"/><Relationship Id="rId19" Type="http://schemas.openxmlformats.org/officeDocument/2006/relationships/image" Target="../media/image72.png"/><Relationship Id="rId20" Type="http://schemas.microsoft.com/office/2017/06/relationships/model3d" Target="../media/model3d3.glb"/><Relationship Id="rId21" Type="http://schemas.openxmlformats.org/officeDocument/2006/relationships/image" Target="../media/image73.png"/><Relationship Id="rId22" Type="http://schemas.microsoft.com/office/2017/06/relationships/model3d" Target="../media/model3d12.glb"/><Relationship Id="rId23" Type="http://schemas.openxmlformats.org/officeDocument/2006/relationships/image" Target="../media/image74.png"/><Relationship Id="rId24" Type="http://schemas.microsoft.com/office/2017/06/relationships/model3d" Target="../media/model3d1.glb"/><Relationship Id="rId25" Type="http://schemas.openxmlformats.org/officeDocument/2006/relationships/image" Target="../media/image75.png"/><Relationship Id="rId26" Type="http://schemas.microsoft.com/office/2017/06/relationships/model3d" Target="../media/model3d6.glb"/><Relationship Id="rId27" Type="http://schemas.openxmlformats.org/officeDocument/2006/relationships/image" Target="../media/image76.png"/><Relationship Id="rId28" Type="http://schemas.microsoft.com/office/2017/06/relationships/model3d" Target="../media/model3d5.glb"/><Relationship Id="rId29" Type="http://schemas.openxmlformats.org/officeDocument/2006/relationships/image" Target="../media/image77.png"/><Relationship Id="rId30" Type="http://schemas.microsoft.com/office/2017/06/relationships/model3d" Target="../media/model3d13.glb"/><Relationship Id="rId31" Type="http://schemas.openxmlformats.org/officeDocument/2006/relationships/image" Target="../media/image78.png"/><Relationship Id="rId32" Type="http://schemas.openxmlformats.org/officeDocument/2006/relationships/image" Target="../media/image2.png"/><Relationship Id="rId3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17/06/relationships/model3d" Target="../media/model3d7.glb"/><Relationship Id="rId3" Type="http://schemas.openxmlformats.org/officeDocument/2006/relationships/image" Target="../media/image64.png"/><Relationship Id="rId4" Type="http://schemas.microsoft.com/office/2017/06/relationships/model3d" Target="../media/model3d2.glb"/><Relationship Id="rId5" Type="http://schemas.openxmlformats.org/officeDocument/2006/relationships/image" Target="../media/image65.png"/><Relationship Id="rId6" Type="http://schemas.microsoft.com/office/2017/06/relationships/model3d" Target="../media/model3d4.glb"/><Relationship Id="rId7" Type="http://schemas.openxmlformats.org/officeDocument/2006/relationships/image" Target="../media/image66.png"/><Relationship Id="rId8" Type="http://schemas.microsoft.com/office/2017/06/relationships/model3d" Target="../media/model3d8.glb"/><Relationship Id="rId9" Type="http://schemas.openxmlformats.org/officeDocument/2006/relationships/image" Target="../media/image67.png"/><Relationship Id="rId10" Type="http://schemas.microsoft.com/office/2017/06/relationships/model3d" Target="../media/model3d10.glb"/><Relationship Id="rId11" Type="http://schemas.openxmlformats.org/officeDocument/2006/relationships/image" Target="../media/image68.png"/><Relationship Id="rId12" Type="http://schemas.microsoft.com/office/2017/06/relationships/model3d" Target="../media/model3d14.glb"/><Relationship Id="rId13" Type="http://schemas.openxmlformats.org/officeDocument/2006/relationships/image" Target="../media/image69.png"/><Relationship Id="rId14" Type="http://schemas.microsoft.com/office/2017/06/relationships/model3d" Target="../media/model3d15.glb"/><Relationship Id="rId15" Type="http://schemas.openxmlformats.org/officeDocument/2006/relationships/image" Target="../media/image70.png"/><Relationship Id="rId16" Type="http://schemas.microsoft.com/office/2017/06/relationships/model3d" Target="../media/model3d11.glb"/><Relationship Id="rId17" Type="http://schemas.openxmlformats.org/officeDocument/2006/relationships/image" Target="../media/image71.png"/><Relationship Id="rId18" Type="http://schemas.microsoft.com/office/2017/06/relationships/model3d" Target="../media/model3d9.glb"/><Relationship Id="rId19" Type="http://schemas.openxmlformats.org/officeDocument/2006/relationships/image" Target="../media/image72.png"/><Relationship Id="rId20" Type="http://schemas.microsoft.com/office/2017/06/relationships/model3d" Target="../media/model3d3.glb"/><Relationship Id="rId21" Type="http://schemas.openxmlformats.org/officeDocument/2006/relationships/image" Target="../media/image73.png"/><Relationship Id="rId22" Type="http://schemas.microsoft.com/office/2017/06/relationships/model3d" Target="../media/model3d12.glb"/><Relationship Id="rId23" Type="http://schemas.openxmlformats.org/officeDocument/2006/relationships/image" Target="../media/image79.png"/><Relationship Id="rId24" Type="http://schemas.microsoft.com/office/2017/06/relationships/model3d" Target="../media/model3d1.glb"/><Relationship Id="rId25" Type="http://schemas.openxmlformats.org/officeDocument/2006/relationships/image" Target="../media/image80.png"/><Relationship Id="rId26" Type="http://schemas.microsoft.com/office/2017/06/relationships/model3d" Target="../media/model3d6.glb"/><Relationship Id="rId27" Type="http://schemas.openxmlformats.org/officeDocument/2006/relationships/image" Target="../media/image81.png"/><Relationship Id="rId28" Type="http://schemas.microsoft.com/office/2017/06/relationships/model3d" Target="../media/model3d5.glb"/><Relationship Id="rId29" Type="http://schemas.openxmlformats.org/officeDocument/2006/relationships/image" Target="../media/image82.png"/><Relationship Id="rId30" Type="http://schemas.microsoft.com/office/2017/06/relationships/model3d" Target="../media/model3d13.glb"/><Relationship Id="rId31" Type="http://schemas.openxmlformats.org/officeDocument/2006/relationships/image" Target="../media/image83.png"/><Relationship Id="rId32" Type="http://schemas.openxmlformats.org/officeDocument/2006/relationships/image" Target="../media/image2.png"/><Relationship Id="rId3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microsoft.com/office/2017/06/relationships/model3d" Target="../media/model3d4.glb"/><Relationship Id="rId4" Type="http://schemas.openxmlformats.org/officeDocument/2006/relationships/image" Target="../media/image84.png"/><Relationship Id="rId5" Type="http://schemas.microsoft.com/office/2017/06/relationships/model3d" Target="../media/model3d7.glb"/><Relationship Id="rId6" Type="http://schemas.openxmlformats.org/officeDocument/2006/relationships/image" Target="../media/image85.png"/><Relationship Id="rId7" Type="http://schemas.microsoft.com/office/2017/06/relationships/model3d" Target="../media/model3d8.glb"/><Relationship Id="rId8" Type="http://schemas.openxmlformats.org/officeDocument/2006/relationships/image" Target="../media/image86.png"/><Relationship Id="rId9" Type="http://schemas.microsoft.com/office/2017/06/relationships/model3d" Target="../media/model3d10.glb"/><Relationship Id="rId10" Type="http://schemas.openxmlformats.org/officeDocument/2006/relationships/image" Target="../media/image87.png"/><Relationship Id="rId11" Type="http://schemas.microsoft.com/office/2017/06/relationships/model3d" Target="../media/model3d14.glb"/><Relationship Id="rId12" Type="http://schemas.openxmlformats.org/officeDocument/2006/relationships/image" Target="../media/image88.png"/><Relationship Id="rId13" Type="http://schemas.microsoft.com/office/2017/06/relationships/model3d" Target="../media/model3d2.glb"/><Relationship Id="rId14" Type="http://schemas.openxmlformats.org/officeDocument/2006/relationships/image" Target="../media/image89.png"/><Relationship Id="rId15" Type="http://schemas.microsoft.com/office/2017/06/relationships/model3d" Target="../media/model3d15.glb"/><Relationship Id="rId16" Type="http://schemas.openxmlformats.org/officeDocument/2006/relationships/image" Target="../media/image90.png"/><Relationship Id="rId17" Type="http://schemas.microsoft.com/office/2017/06/relationships/model3d" Target="../media/model3d11.glb"/><Relationship Id="rId18" Type="http://schemas.openxmlformats.org/officeDocument/2006/relationships/image" Target="../media/image91.png"/><Relationship Id="rId19" Type="http://schemas.microsoft.com/office/2017/06/relationships/model3d" Target="../media/model3d3.glb"/><Relationship Id="rId20" Type="http://schemas.openxmlformats.org/officeDocument/2006/relationships/image" Target="../media/image92.png"/><Relationship Id="rId21" Type="http://schemas.microsoft.com/office/2017/06/relationships/model3d" Target="../media/model3d12.glb"/><Relationship Id="rId22" Type="http://schemas.openxmlformats.org/officeDocument/2006/relationships/image" Target="../media/image93.png"/><Relationship Id="rId23" Type="http://schemas.microsoft.com/office/2017/06/relationships/model3d" Target="../media/model3d6.glb"/><Relationship Id="rId24" Type="http://schemas.openxmlformats.org/officeDocument/2006/relationships/image" Target="../media/image94.png"/><Relationship Id="rId25" Type="http://schemas.microsoft.com/office/2017/06/relationships/model3d" Target="../media/model3d13.glb"/><Relationship Id="rId26" Type="http://schemas.openxmlformats.org/officeDocument/2006/relationships/image" Target="../media/image95.png"/><Relationship Id="rId27" Type="http://schemas.microsoft.com/office/2017/06/relationships/model3d" Target="../media/model3d5.glb"/><Relationship Id="rId28" Type="http://schemas.openxmlformats.org/officeDocument/2006/relationships/image" Target="../media/image96.png"/><Relationship Id="rId29" Type="http://schemas.microsoft.com/office/2017/06/relationships/model3d" Target="../media/model3d1.glb"/><Relationship Id="rId30" Type="http://schemas.openxmlformats.org/officeDocument/2006/relationships/image" Target="../media/image97.png"/><Relationship Id="rId31" Type="http://schemas.microsoft.com/office/2017/06/relationships/model3d" Target="../media/model3d9.glb"/><Relationship Id="rId32" Type="http://schemas.openxmlformats.org/officeDocument/2006/relationships/image" Target="../media/image98.png"/><Relationship Id="rId3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jpg"/><Relationship Id="rId3" Type="http://schemas.openxmlformats.org/officeDocument/2006/relationships/image" Target="../media/image100.jpg"/><Relationship Id="rId4" Type="http://schemas.openxmlformats.org/officeDocument/2006/relationships/image" Target="../media/image101.jpg"/><Relationship Id="rId5" Type="http://schemas.openxmlformats.org/officeDocument/2006/relationships/image" Target="../media/image2.pn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2.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jpg"/><Relationship Id="rId3"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jpg"/><Relationship Id="rId3" Type="http://schemas.openxmlformats.org/officeDocument/2006/relationships/image" Target="../media/image106.jpg"/><Relationship Id="rId4" Type="http://schemas.openxmlformats.org/officeDocument/2006/relationships/image" Target="../media/image107.jpg"/><Relationship Id="rId5" Type="http://schemas.openxmlformats.org/officeDocument/2006/relationships/image" Target="../media/image108.jpg"/><Relationship Id="rId6" Type="http://schemas.openxmlformats.org/officeDocument/2006/relationships/image" Target="../media/image109.jpg"/><Relationship Id="rId7" Type="http://schemas.openxmlformats.org/officeDocument/2006/relationships/image" Target="../media/image110.jpg"/><Relationship Id="rId8" Type="http://schemas.openxmlformats.org/officeDocument/2006/relationships/image" Target="../media/image2.png"/><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11.jpg"/><Relationship Id="rId5" Type="http://schemas.openxmlformats.org/officeDocument/2006/relationships/image" Target="../media/image2.png"/><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2.png"/><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4.jpg"/><Relationship Id="rId3" Type="http://schemas.openxmlformats.org/officeDocument/2006/relationships/image" Target="../media/image15.jpg"/><Relationship Id="rId4" Type="http://schemas.openxmlformats.org/officeDocument/2006/relationships/image" Target="../media/image2.png"/><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5.jpg"/><Relationship Id="rId3" Type="http://schemas.openxmlformats.org/officeDocument/2006/relationships/image" Target="../media/image116.jpg"/><Relationship Id="rId4" Type="http://schemas.openxmlformats.org/officeDocument/2006/relationships/image" Target="../media/image2.png"/><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7.jpg"/><Relationship Id="rId3" Type="http://schemas.openxmlformats.org/officeDocument/2006/relationships/image" Target="../media/image118.jpg"/><Relationship Id="rId4" Type="http://schemas.openxmlformats.org/officeDocument/2006/relationships/image" Target="../media/image119.jpg"/><Relationship Id="rId5" Type="http://schemas.openxmlformats.org/officeDocument/2006/relationships/image" Target="../media/image2.png"/><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0.jpg"/><Relationship Id="rId3" Type="http://schemas.openxmlformats.org/officeDocument/2006/relationships/image" Target="../media/image121.jpg"/><Relationship Id="rId4" Type="http://schemas.openxmlformats.org/officeDocument/2006/relationships/image" Target="../media/image2.png"/><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2.png"/><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124.jpg"/><Relationship Id="rId5" Type="http://schemas.openxmlformats.org/officeDocument/2006/relationships/image" Target="../media/image2.png"/><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125.jpg"/><Relationship Id="rId5" Type="http://schemas.openxmlformats.org/officeDocument/2006/relationships/image" Target="../media/image2.png"/><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6.jpg"/><Relationship Id="rId3" Type="http://schemas.openxmlformats.org/officeDocument/2006/relationships/image" Target="../media/image127.jpg"/><Relationship Id="rId4" Type="http://schemas.openxmlformats.org/officeDocument/2006/relationships/image" Target="../media/image2.png"/><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8.jpg"/><Relationship Id="rId3" Type="http://schemas.openxmlformats.org/officeDocument/2006/relationships/image" Target="../media/image129.jpg"/><Relationship Id="rId4" Type="http://schemas.openxmlformats.org/officeDocument/2006/relationships/image" Target="../media/image130.jpg"/><Relationship Id="rId5" Type="http://schemas.openxmlformats.org/officeDocument/2006/relationships/image" Target="../media/image131.jpg"/><Relationship Id="rId6" Type="http://schemas.openxmlformats.org/officeDocument/2006/relationships/image" Target="../media/image2.png"/><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image" Target="../media/image134.jpg"/><Relationship Id="rId5" Type="http://schemas.openxmlformats.org/officeDocument/2006/relationships/image" Target="../media/image2.png"/><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jpg"/><Relationship Id="rId3" Type="http://schemas.openxmlformats.org/officeDocument/2006/relationships/image" Target="../media/image136.jpg"/><Relationship Id="rId4" Type="http://schemas.openxmlformats.org/officeDocument/2006/relationships/image" Target="../media/image137.jpg"/><Relationship Id="rId5" Type="http://schemas.openxmlformats.org/officeDocument/2006/relationships/image" Target="../media/image2.png"/><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8.jpg"/><Relationship Id="rId3" Type="http://schemas.openxmlformats.org/officeDocument/2006/relationships/image" Target="../media/image2.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9.jpg"/><Relationship Id="rId3" Type="http://schemas.openxmlformats.org/officeDocument/2006/relationships/image" Target="../media/image2.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pic>
        <p:nvPicPr>
          <p:cNvPr id="3" name="!!Hero" descr="Packshot : Graines d'akpi, Huile rouge, Poudre de crevettes"/>
          <p:cNvPicPr>
            <a:picLocks noChangeAspect="1"/>
          </p:cNvPicPr>
          <p:nvPr/>
        </p:nvPicPr>
        <p:blipFill>
          <a:blip r:embed="rId2"/>
          <a:srcRect l="13416" r="13416"/>
          <a:stretch>
            <a:fillRect/>
          </a:stretch>
        </p:blipFill>
        <p:spPr>
          <a:xfrm>
            <a:off x="8412480" y="1143000"/>
            <a:ext cx="3090672" cy="3886200"/>
          </a:xfrm>
          <a:prstGeom prst="roundRect">
            <a:avLst>
              <a:gd name="adj" fmla="val 5000"/>
            </a:avLst>
          </a:prstGeom>
          <a:effectLst>
            <a:outerShdw blurRad="177800" dist="38100" dir="5400000" algn="t" rotWithShape="0">
              <a:srgbClr val="1A0507">
                <a:alpha val="14000"/>
              </a:srgbClr>
            </a:outerShdw>
          </a:effectLst>
        </p:spPr>
      </p:pic>
      <p:sp>
        <p:nvSpPr>
          <p:cNvPr id="4" name="!!Title"/>
          <p:cNvSpPr txBox="1"/>
          <p:nvPr/>
        </p:nvSpPr>
        <p:spPr>
          <a:xfrm>
            <a:off x="685800" y="1600200"/>
            <a:ext cx="7498079" cy="2743200"/>
          </a:xfrm>
          <a:prstGeom prst="rect">
            <a:avLst/>
          </a:prstGeom>
          <a:noFill/>
        </p:spPr>
        <p:txBody>
          <a:bodyPr wrap="square" lIns="0" rIns="0" tIns="0" bIns="0" anchor="t">
            <a:noAutofit/>
          </a:bodyPr>
          <a:lstStyle/>
          <a:p>
            <a:pPr algn="l">
              <a:lnSpc>
                <a:spcPct val="95000"/>
              </a:lnSpc>
            </a:pPr>
            <a:r>
              <a:rPr sz="3000">
                <a:solidFill>
                  <a:srgbClr val="7B1421"/>
                </a:solidFill>
                <a:latin typeface="Cream Heavy"/>
              </a:rPr>
              <a:t>Conception et réalisation de supports de communication pour la promotion de Marin'Or Ivoire</a:t>
            </a:r>
          </a:p>
        </p:txBody>
      </p:sp>
      <p:sp>
        <p:nvSpPr>
          <p:cNvPr id="5" name="!!Rule0"/>
          <p:cNvSpPr/>
          <p:nvPr/>
        </p:nvSpPr>
        <p:spPr>
          <a:xfrm>
            <a:off x="685800" y="5230368"/>
            <a:ext cx="457200" cy="27432"/>
          </a:xfrm>
          <a:prstGeom prst="rect">
            <a:avLst/>
          </a:prstGeom>
          <a:solidFill>
            <a:srgbClr val="F9A825"/>
          </a:solidFill>
          <a:ln>
            <a:noFill/>
          </a:ln>
        </p:spPr>
        <p:txBody>
          <a:bodyPr rtlCol="0" anchor="ctr"/>
          <a:lstStyle/>
          <a:p/>
        </p:txBody>
      </p:sp>
      <p:sp>
        <p:nvSpPr>
          <p:cNvPr id="6" name="!!Lab0"/>
          <p:cNvSpPr txBox="1"/>
          <p:nvPr/>
        </p:nvSpPr>
        <p:spPr>
          <a:xfrm>
            <a:off x="685800" y="5358384"/>
            <a:ext cx="2926080" cy="228600"/>
          </a:xfrm>
          <a:prstGeom prst="rect">
            <a:avLst/>
          </a:prstGeom>
          <a:noFill/>
        </p:spPr>
        <p:txBody>
          <a:bodyPr wrap="square" lIns="0" rIns="0" tIns="0" bIns="0" anchor="t">
            <a:noAutofit/>
          </a:bodyPr>
          <a:lstStyle/>
          <a:p>
            <a:pPr algn="l"/>
            <a:r>
              <a:rPr sz="950" spc="150" cap="all">
                <a:solidFill>
                  <a:srgbClr val="7B1421"/>
                </a:solidFill>
                <a:latin typeface="Montserrat SemiBold"/>
              </a:rPr>
              <a:t>Présenté par</a:t>
            </a:r>
          </a:p>
        </p:txBody>
      </p:sp>
      <p:sp>
        <p:nvSpPr>
          <p:cNvPr id="7" name="!!Nm0"/>
          <p:cNvSpPr txBox="1"/>
          <p:nvPr/>
        </p:nvSpPr>
        <p:spPr>
          <a:xfrm>
            <a:off x="685800" y="5605272"/>
            <a:ext cx="2926080" cy="548640"/>
          </a:xfrm>
          <a:prstGeom prst="rect">
            <a:avLst/>
          </a:prstGeom>
          <a:noFill/>
        </p:spPr>
        <p:txBody>
          <a:bodyPr wrap="square" lIns="0" rIns="0" tIns="0" bIns="0" anchor="t">
            <a:noAutofit/>
          </a:bodyPr>
          <a:lstStyle/>
          <a:p>
            <a:pPr algn="l"/>
            <a:r>
              <a:rPr sz="1250">
                <a:solidFill>
                  <a:srgbClr val="2A070D"/>
                </a:solidFill>
                <a:latin typeface="Montserrat Medium"/>
              </a:rPr>
              <a:t>Ekien Kouadio Constant Ephrem</a:t>
            </a:r>
          </a:p>
        </p:txBody>
      </p:sp>
      <p:sp>
        <p:nvSpPr>
          <p:cNvPr id="8" name="!!Rule1"/>
          <p:cNvSpPr/>
          <p:nvPr/>
        </p:nvSpPr>
        <p:spPr>
          <a:xfrm>
            <a:off x="3749040" y="5230368"/>
            <a:ext cx="457200" cy="27432"/>
          </a:xfrm>
          <a:prstGeom prst="rect">
            <a:avLst/>
          </a:prstGeom>
          <a:solidFill>
            <a:srgbClr val="F9A825"/>
          </a:solidFill>
          <a:ln>
            <a:noFill/>
          </a:ln>
        </p:spPr>
        <p:txBody>
          <a:bodyPr rtlCol="0" anchor="ctr"/>
          <a:lstStyle/>
          <a:p/>
        </p:txBody>
      </p:sp>
      <p:sp>
        <p:nvSpPr>
          <p:cNvPr id="9" name="!!Lab1"/>
          <p:cNvSpPr txBox="1"/>
          <p:nvPr/>
        </p:nvSpPr>
        <p:spPr>
          <a:xfrm>
            <a:off x="3749040" y="5358384"/>
            <a:ext cx="2926080" cy="228600"/>
          </a:xfrm>
          <a:prstGeom prst="rect">
            <a:avLst/>
          </a:prstGeom>
          <a:noFill/>
        </p:spPr>
        <p:txBody>
          <a:bodyPr wrap="square" lIns="0" rIns="0" tIns="0" bIns="0" anchor="t">
            <a:noAutofit/>
          </a:bodyPr>
          <a:lstStyle/>
          <a:p>
            <a:pPr algn="l"/>
            <a:r>
              <a:rPr sz="950" spc="150" cap="all">
                <a:solidFill>
                  <a:srgbClr val="7B1421"/>
                </a:solidFill>
                <a:latin typeface="Montserrat SemiBold"/>
              </a:rPr>
              <a:t>Sous la direction de</a:t>
            </a:r>
          </a:p>
        </p:txBody>
      </p:sp>
      <p:sp>
        <p:nvSpPr>
          <p:cNvPr id="10" name="!!Nm1"/>
          <p:cNvSpPr txBox="1"/>
          <p:nvPr/>
        </p:nvSpPr>
        <p:spPr>
          <a:xfrm>
            <a:off x="3749040" y="5605272"/>
            <a:ext cx="2926080" cy="548640"/>
          </a:xfrm>
          <a:prstGeom prst="rect">
            <a:avLst/>
          </a:prstGeom>
          <a:noFill/>
        </p:spPr>
        <p:txBody>
          <a:bodyPr wrap="square" lIns="0" rIns="0" tIns="0" bIns="0" anchor="t">
            <a:noAutofit/>
          </a:bodyPr>
          <a:lstStyle/>
          <a:p>
            <a:pPr algn="l"/>
            <a:r>
              <a:rPr sz="1250">
                <a:solidFill>
                  <a:srgbClr val="2A070D"/>
                </a:solidFill>
                <a:latin typeface="Montserrat Medium"/>
              </a:rPr>
              <a:t>Dr Tayoro Gnewa Gérard</a:t>
            </a:r>
          </a:p>
        </p:txBody>
      </p:sp>
      <p:sp>
        <p:nvSpPr>
          <p:cNvPr id="11" name="!!Rule2"/>
          <p:cNvSpPr/>
          <p:nvPr/>
        </p:nvSpPr>
        <p:spPr>
          <a:xfrm>
            <a:off x="6812280" y="5230368"/>
            <a:ext cx="457200" cy="27432"/>
          </a:xfrm>
          <a:prstGeom prst="rect">
            <a:avLst/>
          </a:prstGeom>
          <a:solidFill>
            <a:srgbClr val="F9A825"/>
          </a:solidFill>
          <a:ln>
            <a:noFill/>
          </a:ln>
        </p:spPr>
        <p:txBody>
          <a:bodyPr rtlCol="0" anchor="ctr"/>
          <a:lstStyle/>
          <a:p/>
        </p:txBody>
      </p:sp>
      <p:sp>
        <p:nvSpPr>
          <p:cNvPr id="12" name="!!Lab2"/>
          <p:cNvSpPr txBox="1"/>
          <p:nvPr/>
        </p:nvSpPr>
        <p:spPr>
          <a:xfrm>
            <a:off x="6812280" y="5358384"/>
            <a:ext cx="4663440" cy="228600"/>
          </a:xfrm>
          <a:prstGeom prst="rect">
            <a:avLst/>
          </a:prstGeom>
          <a:noFill/>
        </p:spPr>
        <p:txBody>
          <a:bodyPr wrap="square" lIns="0" rIns="0" tIns="0" bIns="0" anchor="t">
            <a:noAutofit/>
          </a:bodyPr>
          <a:lstStyle/>
          <a:p>
            <a:pPr algn="l"/>
            <a:r>
              <a:rPr sz="950" spc="150" cap="all">
                <a:solidFill>
                  <a:srgbClr val="7B1421"/>
                </a:solidFill>
                <a:latin typeface="Montserrat SemiBold"/>
              </a:rPr>
              <a:t>Sous la supervision de</a:t>
            </a:r>
          </a:p>
        </p:txBody>
      </p:sp>
      <p:sp>
        <p:nvSpPr>
          <p:cNvPr id="13" name="!!Nm2"/>
          <p:cNvSpPr txBox="1"/>
          <p:nvPr/>
        </p:nvSpPr>
        <p:spPr>
          <a:xfrm>
            <a:off x="6812280" y="5605272"/>
            <a:ext cx="4663440" cy="548640"/>
          </a:xfrm>
          <a:prstGeom prst="rect">
            <a:avLst/>
          </a:prstGeom>
          <a:noFill/>
        </p:spPr>
        <p:txBody>
          <a:bodyPr wrap="square" lIns="0" rIns="0" tIns="0" bIns="0" anchor="t">
            <a:noAutofit/>
          </a:bodyPr>
          <a:lstStyle/>
          <a:p>
            <a:pPr algn="l"/>
            <a:r>
              <a:rPr sz="1250">
                <a:solidFill>
                  <a:srgbClr val="2A070D"/>
                </a:solidFill>
                <a:latin typeface="Montserrat Medium"/>
              </a:rPr>
              <a:t>TOA Agnini Jules Evariste, Professeur Titulaire</a:t>
            </a:r>
          </a:p>
        </p:txBody>
      </p:sp>
      <p:sp>
        <p:nvSpPr>
          <p:cNvPr id="14" name="!!Accent"/>
          <p:cNvSpPr/>
          <p:nvPr/>
        </p:nvSpPr>
        <p:spPr>
          <a:xfrm>
            <a:off x="685800" y="338328"/>
            <a:ext cx="384048" cy="32004"/>
          </a:xfrm>
          <a:prstGeom prst="rect">
            <a:avLst/>
          </a:prstGeom>
          <a:solidFill>
            <a:srgbClr val="F9A825"/>
          </a:solidFill>
          <a:ln>
            <a:noFill/>
          </a:ln>
        </p:spPr>
        <p:txBody>
          <a:bodyPr rtlCol="0" anchor="ctr"/>
          <a:lstStyle/>
          <a:p/>
        </p:txBody>
      </p:sp>
      <p:sp>
        <p:nvSpPr>
          <p:cNvPr id="15"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ISTC Polytechnique · Année académique 2025-2026</a:t>
            </a:r>
          </a:p>
        </p:txBody>
      </p:sp>
      <p:sp>
        <p:nvSpPr>
          <p:cNvPr id="16"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01</a:t>
            </a:r>
          </a:p>
        </p:txBody>
      </p:sp>
      <p:sp>
        <p:nvSpPr>
          <p:cNvPr id="17"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18"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19"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20" name="!!Logo" descr="Logo Marin'Or Ivoire"/>
          <p:cNvPicPr>
            <a:picLocks noChangeAspect="1"/>
          </p:cNvPicPr>
          <p:nvPr/>
        </p:nvPicPr>
        <p:blipFill>
          <a:blip r:embed="rId3"/>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decel="100000"/>
                                        <p:tgtEl>
                                          <p:spTgt spid="4"/>
                                        </p:tgtEl>
                                      </p:cBhvr>
                                    </p:animEffect>
                                    <p:anim calcmode="lin" valueType="num">
                                      <p:cBhvr>
                                        <p:cTn id="8" dur="500" decel="100000" fill="hold"/>
                                        <p:tgtEl>
                                          <p:spTgt spid="4"/>
                                        </p:tgtEl>
                                        <p:attrNameLst>
                                          <p:attrName>ppt_x</p:attrName>
                                        </p:attrNameLst>
                                      </p:cBhvr>
                                      <p:tavLst>
                                        <p:tav tm="0">
                                          <p:val>
                                            <p:strVal val="#ppt_x"/>
                                          </p:val>
                                        </p:tav>
                                        <p:tav tm="100000">
                                          <p:val>
                                            <p:strVal val="#ppt_x"/>
                                          </p:val>
                                        </p:tav>
                                      </p:tavLst>
                                    </p:anim>
                                    <p:anim calcmode="lin" valueType="num">
                                      <p:cBhvr>
                                        <p:cTn id="9" dur="500" decel="100000" fill="hold"/>
                                        <p:tgtEl>
                                          <p:spTgt spid="4"/>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decel="100000"/>
                                        <p:tgtEl>
                                          <p:spTgt spid="15"/>
                                        </p:tgtEl>
                                      </p:cBhvr>
                                    </p:animEffect>
                                    <p:anim calcmode="lin" valueType="num">
                                      <p:cBhvr>
                                        <p:cTn id="13" dur="500" decel="100000" fill="hold"/>
                                        <p:tgtEl>
                                          <p:spTgt spid="15"/>
                                        </p:tgtEl>
                                        <p:attrNameLst>
                                          <p:attrName>ppt_x</p:attrName>
                                        </p:attrNameLst>
                                      </p:cBhvr>
                                      <p:tavLst>
                                        <p:tav tm="0">
                                          <p:val>
                                            <p:strVal val="#ppt_x"/>
                                          </p:val>
                                        </p:tav>
                                        <p:tav tm="100000">
                                          <p:val>
                                            <p:strVal val="#ppt_x"/>
                                          </p:val>
                                        </p:tav>
                                      </p:tavLst>
                                    </p:anim>
                                    <p:anim calcmode="lin" valueType="num">
                                      <p:cBhvr>
                                        <p:cTn id="14" dur="500" decel="100000" fill="hold"/>
                                        <p:tgtEl>
                                          <p:spTgt spid="15"/>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17"/>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18"/>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19"/>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left)">
                                      <p:cBhvr>
                                        <p:cTn id="24" dur="400" decel="1000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500" decel="100000"/>
                                        <p:tgtEl>
                                          <p:spTgt spid="3"/>
                                        </p:tgtEl>
                                      </p:cBhvr>
                                    </p:animEffect>
                                    <p:anim calcmode="lin" valueType="num">
                                      <p:cBhvr>
                                        <p:cTn id="31" dur="500" decel="100000" fill="hold"/>
                                        <p:tgtEl>
                                          <p:spTgt spid="3"/>
                                        </p:tgtEl>
                                        <p:attrNameLst>
                                          <p:attrName>ppt_x</p:attrName>
                                        </p:attrNameLst>
                                      </p:cBhvr>
                                      <p:tavLst>
                                        <p:tav tm="0">
                                          <p:val>
                                            <p:strVal val="#ppt_x"/>
                                          </p:val>
                                        </p:tav>
                                        <p:tav tm="100000">
                                          <p:val>
                                            <p:strVal val="#ppt_x"/>
                                          </p:val>
                                        </p:tav>
                                      </p:tavLst>
                                    </p:anim>
                                    <p:anim calcmode="lin" valueType="num">
                                      <p:cBhvr>
                                        <p:cTn id="32" dur="500" decel="100000" fill="hold"/>
                                        <p:tgtEl>
                                          <p:spTgt spid="3"/>
                                        </p:tgtEl>
                                        <p:attrNameLst>
                                          <p:attrName>ppt_y</p:attrName>
                                        </p:attrNameLst>
                                      </p:cBhvr>
                                      <p:tavLst>
                                        <p:tav tm="0">
                                          <p:val>
                                            <p:strVal val="#ppt_y+0.027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decel="100000"/>
                                        <p:tgtEl>
                                          <p:spTgt spid="5"/>
                                        </p:tgtEl>
                                      </p:cBhvr>
                                    </p:animEffect>
                                    <p:anim calcmode="lin" valueType="num">
                                      <p:cBhvr>
                                        <p:cTn id="36" dur="500" decel="100000" fill="hold"/>
                                        <p:tgtEl>
                                          <p:spTgt spid="5"/>
                                        </p:tgtEl>
                                        <p:attrNameLst>
                                          <p:attrName>ppt_x</p:attrName>
                                        </p:attrNameLst>
                                      </p:cBhvr>
                                      <p:tavLst>
                                        <p:tav tm="0">
                                          <p:val>
                                            <p:strVal val="#ppt_x"/>
                                          </p:val>
                                        </p:tav>
                                        <p:tav tm="100000">
                                          <p:val>
                                            <p:strVal val="#ppt_x"/>
                                          </p:val>
                                        </p:tav>
                                      </p:tavLst>
                                    </p:anim>
                                    <p:anim calcmode="lin" valueType="num">
                                      <p:cBhvr>
                                        <p:cTn id="37" dur="500" decel="100000" fill="hold"/>
                                        <p:tgtEl>
                                          <p:spTgt spid="5"/>
                                        </p:tgtEl>
                                        <p:attrNameLst>
                                          <p:attrName>ppt_y</p:attrName>
                                        </p:attrNameLst>
                                      </p:cBhvr>
                                      <p:tavLst>
                                        <p:tav tm="0">
                                          <p:val>
                                            <p:strVal val="#ppt_y+0.0278"/>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500" decel="100000"/>
                                        <p:tgtEl>
                                          <p:spTgt spid="6"/>
                                        </p:tgtEl>
                                      </p:cBhvr>
                                    </p:animEffect>
                                    <p:anim calcmode="lin" valueType="num">
                                      <p:cBhvr>
                                        <p:cTn id="41" dur="500" decel="100000" fill="hold"/>
                                        <p:tgtEl>
                                          <p:spTgt spid="6"/>
                                        </p:tgtEl>
                                        <p:attrNameLst>
                                          <p:attrName>ppt_x</p:attrName>
                                        </p:attrNameLst>
                                      </p:cBhvr>
                                      <p:tavLst>
                                        <p:tav tm="0">
                                          <p:val>
                                            <p:strVal val="#ppt_x"/>
                                          </p:val>
                                        </p:tav>
                                        <p:tav tm="100000">
                                          <p:val>
                                            <p:strVal val="#ppt_x"/>
                                          </p:val>
                                        </p:tav>
                                      </p:tavLst>
                                    </p:anim>
                                    <p:anim calcmode="lin" valueType="num">
                                      <p:cBhvr>
                                        <p:cTn id="42" dur="500" decel="100000" fill="hold"/>
                                        <p:tgtEl>
                                          <p:spTgt spid="6"/>
                                        </p:tgtEl>
                                        <p:attrNameLst>
                                          <p:attrName>ppt_y</p:attrName>
                                        </p:attrNameLst>
                                      </p:cBhvr>
                                      <p:tavLst>
                                        <p:tav tm="0">
                                          <p:val>
                                            <p:strVal val="#ppt_y+0.0278"/>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decel="100000"/>
                                        <p:tgtEl>
                                          <p:spTgt spid="7"/>
                                        </p:tgtEl>
                                      </p:cBhvr>
                                    </p:animEffect>
                                    <p:anim calcmode="lin" valueType="num">
                                      <p:cBhvr>
                                        <p:cTn id="46" dur="500" decel="100000" fill="hold"/>
                                        <p:tgtEl>
                                          <p:spTgt spid="7"/>
                                        </p:tgtEl>
                                        <p:attrNameLst>
                                          <p:attrName>ppt_x</p:attrName>
                                        </p:attrNameLst>
                                      </p:cBhvr>
                                      <p:tavLst>
                                        <p:tav tm="0">
                                          <p:val>
                                            <p:strVal val="#ppt_x"/>
                                          </p:val>
                                        </p:tav>
                                        <p:tav tm="100000">
                                          <p:val>
                                            <p:strVal val="#ppt_x"/>
                                          </p:val>
                                        </p:tav>
                                      </p:tavLst>
                                    </p:anim>
                                    <p:anim calcmode="lin" valueType="num">
                                      <p:cBhvr>
                                        <p:cTn id="47" dur="500" decel="100000" fill="hold"/>
                                        <p:tgtEl>
                                          <p:spTgt spid="7"/>
                                        </p:tgtEl>
                                        <p:attrNameLst>
                                          <p:attrName>ppt_y</p:attrName>
                                        </p:attrNameLst>
                                      </p:cBhvr>
                                      <p:tavLst>
                                        <p:tav tm="0">
                                          <p:val>
                                            <p:strVal val="#ppt_y+0.0278"/>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fade">
                                      <p:cBhvr>
                                        <p:cTn id="50" dur="500" decel="100000"/>
                                        <p:tgtEl>
                                          <p:spTgt spid="8"/>
                                        </p:tgtEl>
                                      </p:cBhvr>
                                    </p:animEffect>
                                    <p:anim calcmode="lin" valueType="num">
                                      <p:cBhvr>
                                        <p:cTn id="51" dur="500" decel="100000" fill="hold"/>
                                        <p:tgtEl>
                                          <p:spTgt spid="8"/>
                                        </p:tgtEl>
                                        <p:attrNameLst>
                                          <p:attrName>ppt_x</p:attrName>
                                        </p:attrNameLst>
                                      </p:cBhvr>
                                      <p:tavLst>
                                        <p:tav tm="0">
                                          <p:val>
                                            <p:strVal val="#ppt_x"/>
                                          </p:val>
                                        </p:tav>
                                        <p:tav tm="100000">
                                          <p:val>
                                            <p:strVal val="#ppt_x"/>
                                          </p:val>
                                        </p:tav>
                                      </p:tavLst>
                                    </p:anim>
                                    <p:anim calcmode="lin" valueType="num">
                                      <p:cBhvr>
                                        <p:cTn id="52" dur="500" decel="100000" fill="hold"/>
                                        <p:tgtEl>
                                          <p:spTgt spid="8"/>
                                        </p:tgtEl>
                                        <p:attrNameLst>
                                          <p:attrName>ppt_y</p:attrName>
                                        </p:attrNameLst>
                                      </p:cBhvr>
                                      <p:tavLst>
                                        <p:tav tm="0">
                                          <p:val>
                                            <p:strVal val="#ppt_y+0.0278"/>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fade">
                                      <p:cBhvr>
                                        <p:cTn id="55" dur="500" decel="100000"/>
                                        <p:tgtEl>
                                          <p:spTgt spid="9"/>
                                        </p:tgtEl>
                                      </p:cBhvr>
                                    </p:animEffect>
                                    <p:anim calcmode="lin" valueType="num">
                                      <p:cBhvr>
                                        <p:cTn id="56" dur="500" decel="100000" fill="hold"/>
                                        <p:tgtEl>
                                          <p:spTgt spid="9"/>
                                        </p:tgtEl>
                                        <p:attrNameLst>
                                          <p:attrName>ppt_x</p:attrName>
                                        </p:attrNameLst>
                                      </p:cBhvr>
                                      <p:tavLst>
                                        <p:tav tm="0">
                                          <p:val>
                                            <p:strVal val="#ppt_x"/>
                                          </p:val>
                                        </p:tav>
                                        <p:tav tm="100000">
                                          <p:val>
                                            <p:strVal val="#ppt_x"/>
                                          </p:val>
                                        </p:tav>
                                      </p:tavLst>
                                    </p:anim>
                                    <p:anim calcmode="lin" valueType="num">
                                      <p:cBhvr>
                                        <p:cTn id="57" dur="500" decel="100000" fill="hold"/>
                                        <p:tgtEl>
                                          <p:spTgt spid="9"/>
                                        </p:tgtEl>
                                        <p:attrNameLst>
                                          <p:attrName>ppt_y</p:attrName>
                                        </p:attrNameLst>
                                      </p:cBhvr>
                                      <p:tavLst>
                                        <p:tav tm="0">
                                          <p:val>
                                            <p:strVal val="#ppt_y+0.0278"/>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fade">
                                      <p:cBhvr>
                                        <p:cTn id="60" dur="500" decel="100000"/>
                                        <p:tgtEl>
                                          <p:spTgt spid="10"/>
                                        </p:tgtEl>
                                      </p:cBhvr>
                                    </p:animEffect>
                                    <p:anim calcmode="lin" valueType="num">
                                      <p:cBhvr>
                                        <p:cTn id="61" dur="500" decel="100000" fill="hold"/>
                                        <p:tgtEl>
                                          <p:spTgt spid="10"/>
                                        </p:tgtEl>
                                        <p:attrNameLst>
                                          <p:attrName>ppt_x</p:attrName>
                                        </p:attrNameLst>
                                      </p:cBhvr>
                                      <p:tavLst>
                                        <p:tav tm="0">
                                          <p:val>
                                            <p:strVal val="#ppt_x"/>
                                          </p:val>
                                        </p:tav>
                                        <p:tav tm="100000">
                                          <p:val>
                                            <p:strVal val="#ppt_x"/>
                                          </p:val>
                                        </p:tav>
                                      </p:tavLst>
                                    </p:anim>
                                    <p:anim calcmode="lin" valueType="num">
                                      <p:cBhvr>
                                        <p:cTn id="62" dur="500" decel="100000" fill="hold"/>
                                        <p:tgtEl>
                                          <p:spTgt spid="10"/>
                                        </p:tgtEl>
                                        <p:attrNameLst>
                                          <p:attrName>ppt_y</p:attrName>
                                        </p:attrNameLst>
                                      </p:cBhvr>
                                      <p:tavLst>
                                        <p:tav tm="0">
                                          <p:val>
                                            <p:strVal val="#ppt_y+0.0278"/>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11"/>
                                        </p:tgtEl>
                                        <p:attrNameLst>
                                          <p:attrName>style.visibility</p:attrName>
                                        </p:attrNameLst>
                                      </p:cBhvr>
                                      <p:to>
                                        <p:strVal val="visible"/>
                                      </p:to>
                                    </p:set>
                                    <p:animEffect transition="in" filter="fade">
                                      <p:cBhvr>
                                        <p:cTn id="65" dur="500" decel="100000"/>
                                        <p:tgtEl>
                                          <p:spTgt spid="11"/>
                                        </p:tgtEl>
                                      </p:cBhvr>
                                    </p:animEffect>
                                    <p:anim calcmode="lin" valueType="num">
                                      <p:cBhvr>
                                        <p:cTn id="66" dur="500" decel="100000" fill="hold"/>
                                        <p:tgtEl>
                                          <p:spTgt spid="11"/>
                                        </p:tgtEl>
                                        <p:attrNameLst>
                                          <p:attrName>ppt_x</p:attrName>
                                        </p:attrNameLst>
                                      </p:cBhvr>
                                      <p:tavLst>
                                        <p:tav tm="0">
                                          <p:val>
                                            <p:strVal val="#ppt_x"/>
                                          </p:val>
                                        </p:tav>
                                        <p:tav tm="100000">
                                          <p:val>
                                            <p:strVal val="#ppt_x"/>
                                          </p:val>
                                        </p:tav>
                                      </p:tavLst>
                                    </p:anim>
                                    <p:anim calcmode="lin" valueType="num">
                                      <p:cBhvr>
                                        <p:cTn id="67" dur="500" decel="100000" fill="hold"/>
                                        <p:tgtEl>
                                          <p:spTgt spid="11"/>
                                        </p:tgtEl>
                                        <p:attrNameLst>
                                          <p:attrName>ppt_y</p:attrName>
                                        </p:attrNameLst>
                                      </p:cBhvr>
                                      <p:tavLst>
                                        <p:tav tm="0">
                                          <p:val>
                                            <p:strVal val="#ppt_y+0.0278"/>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2"/>
                                        </p:tgtEl>
                                        <p:attrNameLst>
                                          <p:attrName>style.visibility</p:attrName>
                                        </p:attrNameLst>
                                      </p:cBhvr>
                                      <p:to>
                                        <p:strVal val="visible"/>
                                      </p:to>
                                    </p:set>
                                    <p:animEffect transition="in" filter="fade">
                                      <p:cBhvr>
                                        <p:cTn id="70" dur="500" decel="100000"/>
                                        <p:tgtEl>
                                          <p:spTgt spid="12"/>
                                        </p:tgtEl>
                                      </p:cBhvr>
                                    </p:animEffect>
                                    <p:anim calcmode="lin" valueType="num">
                                      <p:cBhvr>
                                        <p:cTn id="71" dur="500" decel="100000" fill="hold"/>
                                        <p:tgtEl>
                                          <p:spTgt spid="12"/>
                                        </p:tgtEl>
                                        <p:attrNameLst>
                                          <p:attrName>ppt_x</p:attrName>
                                        </p:attrNameLst>
                                      </p:cBhvr>
                                      <p:tavLst>
                                        <p:tav tm="0">
                                          <p:val>
                                            <p:strVal val="#ppt_x"/>
                                          </p:val>
                                        </p:tav>
                                        <p:tav tm="100000">
                                          <p:val>
                                            <p:strVal val="#ppt_x"/>
                                          </p:val>
                                        </p:tav>
                                      </p:tavLst>
                                    </p:anim>
                                    <p:anim calcmode="lin" valueType="num">
                                      <p:cBhvr>
                                        <p:cTn id="72" dur="500" decel="100000" fill="hold"/>
                                        <p:tgtEl>
                                          <p:spTgt spid="12"/>
                                        </p:tgtEl>
                                        <p:attrNameLst>
                                          <p:attrName>ppt_y</p:attrName>
                                        </p:attrNameLst>
                                      </p:cBhvr>
                                      <p:tavLst>
                                        <p:tav tm="0">
                                          <p:val>
                                            <p:strVal val="#ppt_y+0.0278"/>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13"/>
                                        </p:tgtEl>
                                        <p:attrNameLst>
                                          <p:attrName>style.visibility</p:attrName>
                                        </p:attrNameLst>
                                      </p:cBhvr>
                                      <p:to>
                                        <p:strVal val="visible"/>
                                      </p:to>
                                    </p:set>
                                    <p:animEffect transition="in" filter="fade">
                                      <p:cBhvr>
                                        <p:cTn id="75" dur="500" decel="100000"/>
                                        <p:tgtEl>
                                          <p:spTgt spid="13"/>
                                        </p:tgtEl>
                                      </p:cBhvr>
                                    </p:animEffect>
                                    <p:anim calcmode="lin" valueType="num">
                                      <p:cBhvr>
                                        <p:cTn id="76" dur="500" decel="100000" fill="hold"/>
                                        <p:tgtEl>
                                          <p:spTgt spid="13"/>
                                        </p:tgtEl>
                                        <p:attrNameLst>
                                          <p:attrName>ppt_x</p:attrName>
                                        </p:attrNameLst>
                                      </p:cBhvr>
                                      <p:tavLst>
                                        <p:tav tm="0">
                                          <p:val>
                                            <p:strVal val="#ppt_x"/>
                                          </p:val>
                                        </p:tav>
                                        <p:tav tm="100000">
                                          <p:val>
                                            <p:strVal val="#ppt_x"/>
                                          </p:val>
                                        </p:tav>
                                      </p:tavLst>
                                    </p:anim>
                                    <p:anim calcmode="lin" valueType="num">
                                      <p:cBhvr>
                                        <p:cTn id="77" dur="500" decel="100000" fill="hold"/>
                                        <p:tgtEl>
                                          <p:spTgt spid="13"/>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p:bldP spid="8" grpId="0" animBg="1"/>
      <p:bldP spid="9" grpId="0"/>
      <p:bldP spid="10" grpId="0"/>
      <p:bldP spid="11" grpId="0" animBg="1"/>
      <p:bldP spid="12" grpId="0"/>
      <p:bldP spid="13" grpId="0"/>
      <p:bldP spid="14" grpId="0" animBg="1"/>
      <p:bldP spid="15" grpId="0"/>
      <p:bldP spid="17" grpId="0" animBg="1"/>
      <p:bldP spid="18" grpId="0" animBg="1"/>
      <p:bldP spid="19"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sp>
        <p:nvSpPr>
          <p:cNvPr id="3" name="!!Title"/>
          <p:cNvSpPr txBox="1"/>
          <p:nvPr/>
        </p:nvSpPr>
        <p:spPr>
          <a:xfrm>
            <a:off x="685800" y="914400"/>
            <a:ext cx="73152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Plan de la présentation</a:t>
            </a:r>
          </a:p>
        </p:txBody>
      </p:sp>
      <p:sp>
        <p:nvSpPr>
          <p:cNvPr id="4" name="!!PlanB0"/>
          <p:cNvSpPr/>
          <p:nvPr/>
        </p:nvSpPr>
        <p:spPr>
          <a:xfrm>
            <a:off x="685800" y="2532888"/>
            <a:ext cx="420624" cy="420624"/>
          </a:xfrm>
          <a:prstGeom prst="ellipse">
            <a:avLst/>
          </a:prstGeom>
          <a:solidFill>
            <a:srgbClr val="7B1421"/>
          </a:solidFill>
          <a:ln>
            <a:noFill/>
          </a:ln>
        </p:spPr>
        <p:txBody>
          <a:bodyPr rtlCol="0" anchor="ctr"/>
          <a:lstStyle/>
          <a:p/>
        </p:txBody>
      </p:sp>
      <p:sp>
        <p:nvSpPr>
          <p:cNvPr id="5" name="!!PlanB0T"/>
          <p:cNvSpPr txBox="1"/>
          <p:nvPr/>
        </p:nvSpPr>
        <p:spPr>
          <a:xfrm>
            <a:off x="685800" y="2532888"/>
            <a:ext cx="420624" cy="420624"/>
          </a:xfrm>
          <a:prstGeom prst="rect">
            <a:avLst/>
          </a:prstGeom>
          <a:noFill/>
        </p:spPr>
        <p:txBody>
          <a:bodyPr wrap="square" lIns="0" rIns="0" tIns="0" bIns="0" anchor="ctr">
            <a:noAutofit/>
          </a:bodyPr>
          <a:lstStyle/>
          <a:p>
            <a:pPr algn="ctr"/>
            <a:r>
              <a:rPr sz="1250">
                <a:solidFill>
                  <a:srgbClr val="FFFFFF"/>
                </a:solidFill>
                <a:latin typeface="Montserrat SemiBold"/>
              </a:rPr>
              <a:t>01</a:t>
            </a:r>
          </a:p>
        </p:txBody>
      </p:sp>
      <p:sp>
        <p:nvSpPr>
          <p:cNvPr id="6" name="!!PlanLine0"/>
          <p:cNvSpPr/>
          <p:nvPr/>
        </p:nvSpPr>
        <p:spPr>
          <a:xfrm>
            <a:off x="685800" y="3227832"/>
            <a:ext cx="4572000" cy="10972"/>
          </a:xfrm>
          <a:prstGeom prst="rect">
            <a:avLst/>
          </a:prstGeom>
          <a:solidFill>
            <a:srgbClr val="7B1421">
              <a:alpha val="18000"/>
            </a:srgbClr>
          </a:solidFill>
          <a:ln>
            <a:noFill/>
          </a:ln>
        </p:spPr>
        <p:txBody>
          <a:bodyPr rtlCol="0" anchor="ctr"/>
          <a:lstStyle/>
          <a:p/>
        </p:txBody>
      </p:sp>
      <p:sp>
        <p:nvSpPr>
          <p:cNvPr id="7" name="!!PlanItem0"/>
          <p:cNvSpPr txBox="1"/>
          <p:nvPr/>
        </p:nvSpPr>
        <p:spPr>
          <a:xfrm>
            <a:off x="1307592" y="2331720"/>
            <a:ext cx="4206240" cy="822960"/>
          </a:xfrm>
          <a:prstGeom prst="rect">
            <a:avLst/>
          </a:prstGeom>
          <a:noFill/>
        </p:spPr>
        <p:txBody>
          <a:bodyPr wrap="square" lIns="0" rIns="0" tIns="0" bIns="0" anchor="ctr">
            <a:noAutofit/>
          </a:bodyPr>
          <a:lstStyle/>
          <a:p>
            <a:pPr algn="l"/>
            <a:r>
              <a:rPr sz="1800">
                <a:solidFill>
                  <a:srgbClr val="2A070D"/>
                </a:solidFill>
                <a:latin typeface="Montserrat SemiBold"/>
              </a:rPr>
              <a:t>Introduction et problématique</a:t>
            </a:r>
          </a:p>
        </p:txBody>
      </p:sp>
      <p:sp>
        <p:nvSpPr>
          <p:cNvPr id="8" name="!!PlanB1"/>
          <p:cNvSpPr/>
          <p:nvPr/>
        </p:nvSpPr>
        <p:spPr>
          <a:xfrm>
            <a:off x="685800" y="3675888"/>
            <a:ext cx="420624" cy="420624"/>
          </a:xfrm>
          <a:prstGeom prst="ellipse">
            <a:avLst/>
          </a:prstGeom>
          <a:solidFill>
            <a:srgbClr val="7B1421"/>
          </a:solidFill>
          <a:ln>
            <a:noFill/>
          </a:ln>
        </p:spPr>
        <p:txBody>
          <a:bodyPr rtlCol="0" anchor="ctr"/>
          <a:lstStyle/>
          <a:p/>
        </p:txBody>
      </p:sp>
      <p:sp>
        <p:nvSpPr>
          <p:cNvPr id="9" name="!!PlanB1T"/>
          <p:cNvSpPr txBox="1"/>
          <p:nvPr/>
        </p:nvSpPr>
        <p:spPr>
          <a:xfrm>
            <a:off x="685800" y="3675888"/>
            <a:ext cx="420624" cy="420624"/>
          </a:xfrm>
          <a:prstGeom prst="rect">
            <a:avLst/>
          </a:prstGeom>
          <a:noFill/>
        </p:spPr>
        <p:txBody>
          <a:bodyPr wrap="square" lIns="0" rIns="0" tIns="0" bIns="0" anchor="ctr">
            <a:noAutofit/>
          </a:bodyPr>
          <a:lstStyle/>
          <a:p>
            <a:pPr algn="ctr"/>
            <a:r>
              <a:rPr sz="1250">
                <a:solidFill>
                  <a:srgbClr val="FFFFFF"/>
                </a:solidFill>
                <a:latin typeface="Montserrat SemiBold"/>
              </a:rPr>
              <a:t>02</a:t>
            </a:r>
          </a:p>
        </p:txBody>
      </p:sp>
      <p:sp>
        <p:nvSpPr>
          <p:cNvPr id="10" name="!!PlanLine1"/>
          <p:cNvSpPr/>
          <p:nvPr/>
        </p:nvSpPr>
        <p:spPr>
          <a:xfrm>
            <a:off x="685800" y="4370832"/>
            <a:ext cx="4572000" cy="10972"/>
          </a:xfrm>
          <a:prstGeom prst="rect">
            <a:avLst/>
          </a:prstGeom>
          <a:solidFill>
            <a:srgbClr val="7B1421">
              <a:alpha val="18000"/>
            </a:srgbClr>
          </a:solidFill>
          <a:ln>
            <a:noFill/>
          </a:ln>
        </p:spPr>
        <p:txBody>
          <a:bodyPr rtlCol="0" anchor="ctr"/>
          <a:lstStyle/>
          <a:p/>
        </p:txBody>
      </p:sp>
      <p:sp>
        <p:nvSpPr>
          <p:cNvPr id="11" name="!!PlanItem1"/>
          <p:cNvSpPr txBox="1"/>
          <p:nvPr/>
        </p:nvSpPr>
        <p:spPr>
          <a:xfrm>
            <a:off x="1307592" y="3474720"/>
            <a:ext cx="4206240" cy="822960"/>
          </a:xfrm>
          <a:prstGeom prst="rect">
            <a:avLst/>
          </a:prstGeom>
          <a:noFill/>
        </p:spPr>
        <p:txBody>
          <a:bodyPr wrap="square" lIns="0" rIns="0" tIns="0" bIns="0" anchor="ctr">
            <a:noAutofit/>
          </a:bodyPr>
          <a:lstStyle/>
          <a:p>
            <a:pPr algn="l"/>
            <a:r>
              <a:rPr sz="1800">
                <a:solidFill>
                  <a:srgbClr val="2A070D"/>
                </a:solidFill>
                <a:latin typeface="Montserrat SemiBold"/>
              </a:rPr>
              <a:t>Les produits</a:t>
            </a:r>
          </a:p>
        </p:txBody>
      </p:sp>
      <p:sp>
        <p:nvSpPr>
          <p:cNvPr id="12" name="!!PlanB2"/>
          <p:cNvSpPr/>
          <p:nvPr/>
        </p:nvSpPr>
        <p:spPr>
          <a:xfrm>
            <a:off x="685800" y="4818888"/>
            <a:ext cx="420624" cy="420624"/>
          </a:xfrm>
          <a:prstGeom prst="ellipse">
            <a:avLst/>
          </a:prstGeom>
          <a:solidFill>
            <a:srgbClr val="7B1421"/>
          </a:solidFill>
          <a:ln>
            <a:noFill/>
          </a:ln>
        </p:spPr>
        <p:txBody>
          <a:bodyPr rtlCol="0" anchor="ctr"/>
          <a:lstStyle/>
          <a:p/>
        </p:txBody>
      </p:sp>
      <p:sp>
        <p:nvSpPr>
          <p:cNvPr id="13" name="!!PlanB2T"/>
          <p:cNvSpPr txBox="1"/>
          <p:nvPr/>
        </p:nvSpPr>
        <p:spPr>
          <a:xfrm>
            <a:off x="685800" y="4818888"/>
            <a:ext cx="420624" cy="420624"/>
          </a:xfrm>
          <a:prstGeom prst="rect">
            <a:avLst/>
          </a:prstGeom>
          <a:noFill/>
        </p:spPr>
        <p:txBody>
          <a:bodyPr wrap="square" lIns="0" rIns="0" tIns="0" bIns="0" anchor="ctr">
            <a:noAutofit/>
          </a:bodyPr>
          <a:lstStyle/>
          <a:p>
            <a:pPr algn="ctr"/>
            <a:r>
              <a:rPr sz="1250">
                <a:solidFill>
                  <a:srgbClr val="FFFFFF"/>
                </a:solidFill>
                <a:latin typeface="Montserrat SemiBold"/>
              </a:rPr>
              <a:t>03</a:t>
            </a:r>
          </a:p>
        </p:txBody>
      </p:sp>
      <p:sp>
        <p:nvSpPr>
          <p:cNvPr id="14" name="!!PlanLine2"/>
          <p:cNvSpPr/>
          <p:nvPr/>
        </p:nvSpPr>
        <p:spPr>
          <a:xfrm>
            <a:off x="685800" y="5513832"/>
            <a:ext cx="4572000" cy="10972"/>
          </a:xfrm>
          <a:prstGeom prst="rect">
            <a:avLst/>
          </a:prstGeom>
          <a:solidFill>
            <a:srgbClr val="7B1421">
              <a:alpha val="18000"/>
            </a:srgbClr>
          </a:solidFill>
          <a:ln>
            <a:noFill/>
          </a:ln>
        </p:spPr>
        <p:txBody>
          <a:bodyPr rtlCol="0" anchor="ctr"/>
          <a:lstStyle/>
          <a:p/>
        </p:txBody>
      </p:sp>
      <p:sp>
        <p:nvSpPr>
          <p:cNvPr id="15" name="!!PlanItem2"/>
          <p:cNvSpPr txBox="1"/>
          <p:nvPr/>
        </p:nvSpPr>
        <p:spPr>
          <a:xfrm>
            <a:off x="1307592" y="4617720"/>
            <a:ext cx="4206240" cy="822960"/>
          </a:xfrm>
          <a:prstGeom prst="rect">
            <a:avLst/>
          </a:prstGeom>
          <a:noFill/>
        </p:spPr>
        <p:txBody>
          <a:bodyPr wrap="square" lIns="0" rIns="0" tIns="0" bIns="0" anchor="ctr">
            <a:noAutofit/>
          </a:bodyPr>
          <a:lstStyle/>
          <a:p>
            <a:pPr algn="l"/>
            <a:r>
              <a:rPr sz="1800">
                <a:solidFill>
                  <a:srgbClr val="2A070D"/>
                </a:solidFill>
                <a:latin typeface="Montserrat SemiBold"/>
              </a:rPr>
              <a:t>Identité visuelle</a:t>
            </a:r>
          </a:p>
        </p:txBody>
      </p:sp>
      <p:sp>
        <p:nvSpPr>
          <p:cNvPr id="16" name="!!PlanB3"/>
          <p:cNvSpPr/>
          <p:nvPr/>
        </p:nvSpPr>
        <p:spPr>
          <a:xfrm>
            <a:off x="5897880" y="2532888"/>
            <a:ext cx="420624" cy="420624"/>
          </a:xfrm>
          <a:prstGeom prst="ellipse">
            <a:avLst/>
          </a:prstGeom>
          <a:solidFill>
            <a:srgbClr val="7B1421"/>
          </a:solidFill>
          <a:ln>
            <a:noFill/>
          </a:ln>
        </p:spPr>
        <p:txBody>
          <a:bodyPr rtlCol="0" anchor="ctr"/>
          <a:lstStyle/>
          <a:p/>
        </p:txBody>
      </p:sp>
      <p:sp>
        <p:nvSpPr>
          <p:cNvPr id="17" name="!!PlanB3T"/>
          <p:cNvSpPr txBox="1"/>
          <p:nvPr/>
        </p:nvSpPr>
        <p:spPr>
          <a:xfrm>
            <a:off x="5897880" y="2532888"/>
            <a:ext cx="420624" cy="420624"/>
          </a:xfrm>
          <a:prstGeom prst="rect">
            <a:avLst/>
          </a:prstGeom>
          <a:noFill/>
        </p:spPr>
        <p:txBody>
          <a:bodyPr wrap="square" lIns="0" rIns="0" tIns="0" bIns="0" anchor="ctr">
            <a:noAutofit/>
          </a:bodyPr>
          <a:lstStyle/>
          <a:p>
            <a:pPr algn="ctr"/>
            <a:r>
              <a:rPr sz="1250">
                <a:solidFill>
                  <a:srgbClr val="FFFFFF"/>
                </a:solidFill>
                <a:latin typeface="Montserrat SemiBold"/>
              </a:rPr>
              <a:t>04</a:t>
            </a:r>
          </a:p>
        </p:txBody>
      </p:sp>
      <p:sp>
        <p:nvSpPr>
          <p:cNvPr id="18" name="!!PlanLine3"/>
          <p:cNvSpPr/>
          <p:nvPr/>
        </p:nvSpPr>
        <p:spPr>
          <a:xfrm>
            <a:off x="5897880" y="3227832"/>
            <a:ext cx="4572000" cy="10972"/>
          </a:xfrm>
          <a:prstGeom prst="rect">
            <a:avLst/>
          </a:prstGeom>
          <a:solidFill>
            <a:srgbClr val="7B1421">
              <a:alpha val="18000"/>
            </a:srgbClr>
          </a:solidFill>
          <a:ln>
            <a:noFill/>
          </a:ln>
        </p:spPr>
        <p:txBody>
          <a:bodyPr rtlCol="0" anchor="ctr"/>
          <a:lstStyle/>
          <a:p/>
        </p:txBody>
      </p:sp>
      <p:sp>
        <p:nvSpPr>
          <p:cNvPr id="19" name="!!PlanItem3"/>
          <p:cNvSpPr txBox="1"/>
          <p:nvPr/>
        </p:nvSpPr>
        <p:spPr>
          <a:xfrm>
            <a:off x="6519672" y="2331720"/>
            <a:ext cx="4206240" cy="822960"/>
          </a:xfrm>
          <a:prstGeom prst="rect">
            <a:avLst/>
          </a:prstGeom>
          <a:noFill/>
        </p:spPr>
        <p:txBody>
          <a:bodyPr wrap="square" lIns="0" rIns="0" tIns="0" bIns="0" anchor="ctr">
            <a:noAutofit/>
          </a:bodyPr>
          <a:lstStyle/>
          <a:p>
            <a:pPr algn="l"/>
            <a:r>
              <a:rPr sz="1800">
                <a:solidFill>
                  <a:srgbClr val="2A070D"/>
                </a:solidFill>
                <a:latin typeface="Montserrat SemiBold"/>
              </a:rPr>
              <a:t>Supports print et audiovisuels</a:t>
            </a:r>
          </a:p>
        </p:txBody>
      </p:sp>
      <p:sp>
        <p:nvSpPr>
          <p:cNvPr id="20" name="!!PlanB4"/>
          <p:cNvSpPr/>
          <p:nvPr/>
        </p:nvSpPr>
        <p:spPr>
          <a:xfrm>
            <a:off x="5897880" y="3675888"/>
            <a:ext cx="420624" cy="420624"/>
          </a:xfrm>
          <a:prstGeom prst="ellipse">
            <a:avLst/>
          </a:prstGeom>
          <a:solidFill>
            <a:srgbClr val="7B1421"/>
          </a:solidFill>
          <a:ln>
            <a:noFill/>
          </a:ln>
        </p:spPr>
        <p:txBody>
          <a:bodyPr rtlCol="0" anchor="ctr"/>
          <a:lstStyle/>
          <a:p/>
        </p:txBody>
      </p:sp>
      <p:sp>
        <p:nvSpPr>
          <p:cNvPr id="21" name="!!PlanB4T"/>
          <p:cNvSpPr txBox="1"/>
          <p:nvPr/>
        </p:nvSpPr>
        <p:spPr>
          <a:xfrm>
            <a:off x="5897880" y="3675888"/>
            <a:ext cx="420624" cy="420624"/>
          </a:xfrm>
          <a:prstGeom prst="rect">
            <a:avLst/>
          </a:prstGeom>
          <a:noFill/>
        </p:spPr>
        <p:txBody>
          <a:bodyPr wrap="square" lIns="0" rIns="0" tIns="0" bIns="0" anchor="ctr">
            <a:noAutofit/>
          </a:bodyPr>
          <a:lstStyle/>
          <a:p>
            <a:pPr algn="ctr"/>
            <a:r>
              <a:rPr sz="1250">
                <a:solidFill>
                  <a:srgbClr val="FFFFFF"/>
                </a:solidFill>
                <a:latin typeface="Montserrat SemiBold"/>
              </a:rPr>
              <a:t>05</a:t>
            </a:r>
          </a:p>
        </p:txBody>
      </p:sp>
      <p:sp>
        <p:nvSpPr>
          <p:cNvPr id="22" name="!!PlanLine4"/>
          <p:cNvSpPr/>
          <p:nvPr/>
        </p:nvSpPr>
        <p:spPr>
          <a:xfrm>
            <a:off x="5897880" y="4370832"/>
            <a:ext cx="4572000" cy="10972"/>
          </a:xfrm>
          <a:prstGeom prst="rect">
            <a:avLst/>
          </a:prstGeom>
          <a:solidFill>
            <a:srgbClr val="7B1421">
              <a:alpha val="18000"/>
            </a:srgbClr>
          </a:solidFill>
          <a:ln>
            <a:noFill/>
          </a:ln>
        </p:spPr>
        <p:txBody>
          <a:bodyPr rtlCol="0" anchor="ctr"/>
          <a:lstStyle/>
          <a:p/>
        </p:txBody>
      </p:sp>
      <p:sp>
        <p:nvSpPr>
          <p:cNvPr id="23" name="!!PlanItem4"/>
          <p:cNvSpPr txBox="1"/>
          <p:nvPr/>
        </p:nvSpPr>
        <p:spPr>
          <a:xfrm>
            <a:off x="6519672" y="3474720"/>
            <a:ext cx="4206240" cy="822960"/>
          </a:xfrm>
          <a:prstGeom prst="rect">
            <a:avLst/>
          </a:prstGeom>
          <a:noFill/>
        </p:spPr>
        <p:txBody>
          <a:bodyPr wrap="square" lIns="0" rIns="0" tIns="0" bIns="0" anchor="ctr">
            <a:noAutofit/>
          </a:bodyPr>
          <a:lstStyle/>
          <a:p>
            <a:pPr algn="l"/>
            <a:r>
              <a:rPr sz="1800">
                <a:solidFill>
                  <a:srgbClr val="2A070D"/>
                </a:solidFill>
                <a:latin typeface="Montserrat SemiBold"/>
              </a:rPr>
              <a:t>Le site web</a:t>
            </a:r>
          </a:p>
        </p:txBody>
      </p:sp>
      <p:sp>
        <p:nvSpPr>
          <p:cNvPr id="24" name="!!PlanB5"/>
          <p:cNvSpPr/>
          <p:nvPr/>
        </p:nvSpPr>
        <p:spPr>
          <a:xfrm>
            <a:off x="5897880" y="4818888"/>
            <a:ext cx="420624" cy="420624"/>
          </a:xfrm>
          <a:prstGeom prst="ellipse">
            <a:avLst/>
          </a:prstGeom>
          <a:solidFill>
            <a:srgbClr val="7B1421"/>
          </a:solidFill>
          <a:ln>
            <a:noFill/>
          </a:ln>
        </p:spPr>
        <p:txBody>
          <a:bodyPr rtlCol="0" anchor="ctr"/>
          <a:lstStyle/>
          <a:p/>
        </p:txBody>
      </p:sp>
      <p:sp>
        <p:nvSpPr>
          <p:cNvPr id="25" name="!!PlanB5T"/>
          <p:cNvSpPr txBox="1"/>
          <p:nvPr/>
        </p:nvSpPr>
        <p:spPr>
          <a:xfrm>
            <a:off x="5897880" y="4818888"/>
            <a:ext cx="420624" cy="420624"/>
          </a:xfrm>
          <a:prstGeom prst="rect">
            <a:avLst/>
          </a:prstGeom>
          <a:noFill/>
        </p:spPr>
        <p:txBody>
          <a:bodyPr wrap="square" lIns="0" rIns="0" tIns="0" bIns="0" anchor="ctr">
            <a:noAutofit/>
          </a:bodyPr>
          <a:lstStyle/>
          <a:p>
            <a:pPr algn="ctr"/>
            <a:r>
              <a:rPr sz="1250">
                <a:solidFill>
                  <a:srgbClr val="FFFFFF"/>
                </a:solidFill>
                <a:latin typeface="Montserrat SemiBold"/>
              </a:rPr>
              <a:t>06</a:t>
            </a:r>
          </a:p>
        </p:txBody>
      </p:sp>
      <p:sp>
        <p:nvSpPr>
          <p:cNvPr id="26" name="!!PlanLine5"/>
          <p:cNvSpPr/>
          <p:nvPr/>
        </p:nvSpPr>
        <p:spPr>
          <a:xfrm>
            <a:off x="5897880" y="5513832"/>
            <a:ext cx="4572000" cy="10972"/>
          </a:xfrm>
          <a:prstGeom prst="rect">
            <a:avLst/>
          </a:prstGeom>
          <a:solidFill>
            <a:srgbClr val="7B1421">
              <a:alpha val="18000"/>
            </a:srgbClr>
          </a:solidFill>
          <a:ln>
            <a:noFill/>
          </a:ln>
        </p:spPr>
        <p:txBody>
          <a:bodyPr rtlCol="0" anchor="ctr"/>
          <a:lstStyle/>
          <a:p/>
        </p:txBody>
      </p:sp>
      <p:sp>
        <p:nvSpPr>
          <p:cNvPr id="27" name="!!PlanItem5"/>
          <p:cNvSpPr txBox="1"/>
          <p:nvPr/>
        </p:nvSpPr>
        <p:spPr>
          <a:xfrm>
            <a:off x="6519672" y="4617720"/>
            <a:ext cx="4206240" cy="822960"/>
          </a:xfrm>
          <a:prstGeom prst="rect">
            <a:avLst/>
          </a:prstGeom>
          <a:noFill/>
        </p:spPr>
        <p:txBody>
          <a:bodyPr wrap="square" lIns="0" rIns="0" tIns="0" bIns="0" anchor="ctr">
            <a:noAutofit/>
          </a:bodyPr>
          <a:lstStyle/>
          <a:p>
            <a:pPr algn="l"/>
            <a:r>
              <a:rPr sz="1800">
                <a:solidFill>
                  <a:srgbClr val="2A070D"/>
                </a:solidFill>
                <a:latin typeface="Montserrat SemiBold"/>
              </a:rPr>
              <a:t>Bilan et conclusion</a:t>
            </a:r>
          </a:p>
        </p:txBody>
      </p:sp>
      <p:sp>
        <p:nvSpPr>
          <p:cNvPr id="28" name="!!Accent"/>
          <p:cNvSpPr/>
          <p:nvPr/>
        </p:nvSpPr>
        <p:spPr>
          <a:xfrm>
            <a:off x="685800" y="338328"/>
            <a:ext cx="384048" cy="32004"/>
          </a:xfrm>
          <a:prstGeom prst="rect">
            <a:avLst/>
          </a:prstGeom>
          <a:solidFill>
            <a:srgbClr val="F9A825"/>
          </a:solidFill>
          <a:ln>
            <a:noFill/>
          </a:ln>
        </p:spPr>
        <p:txBody>
          <a:bodyPr rtlCol="0" anchor="ctr"/>
          <a:lstStyle/>
          <a:p/>
        </p:txBody>
      </p:sp>
      <p:sp>
        <p:nvSpPr>
          <p:cNvPr id="29"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Sommaire</a:t>
            </a:r>
          </a:p>
        </p:txBody>
      </p:sp>
      <p:sp>
        <p:nvSpPr>
          <p:cNvPr id="30"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02</a:t>
            </a:r>
          </a:p>
        </p:txBody>
      </p:sp>
      <p:sp>
        <p:nvSpPr>
          <p:cNvPr id="31"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32"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33"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34" name="!!Logo" descr="Logo Marin'Or Ivoire"/>
          <p:cNvPicPr>
            <a:picLocks noChangeAspect="1"/>
          </p:cNvPicPr>
          <p:nvPr/>
        </p:nvPicPr>
        <p:blipFill>
          <a:blip r:embed="rId2"/>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decel="1000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decel="100000"/>
                                        <p:tgtEl>
                                          <p:spTgt spid="29"/>
                                        </p:tgtEl>
                                      </p:cBhvr>
                                    </p:animEffect>
                                    <p:anim calcmode="lin" valueType="num">
                                      <p:cBhvr>
                                        <p:cTn id="13" dur="500" decel="100000" fill="hold"/>
                                        <p:tgtEl>
                                          <p:spTgt spid="29"/>
                                        </p:tgtEl>
                                        <p:attrNameLst>
                                          <p:attrName>ppt_x</p:attrName>
                                        </p:attrNameLst>
                                      </p:cBhvr>
                                      <p:tavLst>
                                        <p:tav tm="0">
                                          <p:val>
                                            <p:strVal val="#ppt_x"/>
                                          </p:val>
                                        </p:tav>
                                        <p:tav tm="100000">
                                          <p:val>
                                            <p:strVal val="#ppt_x"/>
                                          </p:val>
                                        </p:tav>
                                      </p:tavLst>
                                    </p:anim>
                                    <p:anim calcmode="lin" valueType="num">
                                      <p:cBhvr>
                                        <p:cTn id="14" dur="500" decel="100000" fill="hold"/>
                                        <p:tgtEl>
                                          <p:spTgt spid="29"/>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31"/>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32"/>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33"/>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wipe(left)">
                                      <p:cBhvr>
                                        <p:cTn id="24" dur="400" decel="100000"/>
                                        <p:tgtEl>
                                          <p:spTgt spid="28"/>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decel="100000"/>
                                        <p:tgtEl>
                                          <p:spTgt spid="4"/>
                                        </p:tgtEl>
                                      </p:cBhvr>
                                    </p:animEffect>
                                    <p:anim calcmode="lin" valueType="num">
                                      <p:cBhvr>
                                        <p:cTn id="31" dur="500" decel="100000" fill="hold"/>
                                        <p:tgtEl>
                                          <p:spTgt spid="4"/>
                                        </p:tgtEl>
                                        <p:attrNameLst>
                                          <p:attrName>ppt_x</p:attrName>
                                        </p:attrNameLst>
                                      </p:cBhvr>
                                      <p:tavLst>
                                        <p:tav tm="0">
                                          <p:val>
                                            <p:strVal val="#ppt_x"/>
                                          </p:val>
                                        </p:tav>
                                        <p:tav tm="100000">
                                          <p:val>
                                            <p:strVal val="#ppt_x"/>
                                          </p:val>
                                        </p:tav>
                                      </p:tavLst>
                                    </p:anim>
                                    <p:anim calcmode="lin" valueType="num">
                                      <p:cBhvr>
                                        <p:cTn id="32" dur="500" decel="100000" fill="hold"/>
                                        <p:tgtEl>
                                          <p:spTgt spid="4"/>
                                        </p:tgtEl>
                                        <p:attrNameLst>
                                          <p:attrName>ppt_y</p:attrName>
                                        </p:attrNameLst>
                                      </p:cBhvr>
                                      <p:tavLst>
                                        <p:tav tm="0">
                                          <p:val>
                                            <p:strVal val="#ppt_y+0.027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decel="100000"/>
                                        <p:tgtEl>
                                          <p:spTgt spid="5"/>
                                        </p:tgtEl>
                                      </p:cBhvr>
                                    </p:animEffect>
                                    <p:anim calcmode="lin" valueType="num">
                                      <p:cBhvr>
                                        <p:cTn id="36" dur="500" decel="100000" fill="hold"/>
                                        <p:tgtEl>
                                          <p:spTgt spid="5"/>
                                        </p:tgtEl>
                                        <p:attrNameLst>
                                          <p:attrName>ppt_x</p:attrName>
                                        </p:attrNameLst>
                                      </p:cBhvr>
                                      <p:tavLst>
                                        <p:tav tm="0">
                                          <p:val>
                                            <p:strVal val="#ppt_x"/>
                                          </p:val>
                                        </p:tav>
                                        <p:tav tm="100000">
                                          <p:val>
                                            <p:strVal val="#ppt_x"/>
                                          </p:val>
                                        </p:tav>
                                      </p:tavLst>
                                    </p:anim>
                                    <p:anim calcmode="lin" valueType="num">
                                      <p:cBhvr>
                                        <p:cTn id="37" dur="500" decel="100000" fill="hold"/>
                                        <p:tgtEl>
                                          <p:spTgt spid="5"/>
                                        </p:tgtEl>
                                        <p:attrNameLst>
                                          <p:attrName>ppt_y</p:attrName>
                                        </p:attrNameLst>
                                      </p:cBhvr>
                                      <p:tavLst>
                                        <p:tav tm="0">
                                          <p:val>
                                            <p:strVal val="#ppt_y+0.0278"/>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500" decel="100000"/>
                                        <p:tgtEl>
                                          <p:spTgt spid="6"/>
                                        </p:tgtEl>
                                      </p:cBhvr>
                                    </p:animEffect>
                                    <p:anim calcmode="lin" valueType="num">
                                      <p:cBhvr>
                                        <p:cTn id="41" dur="500" decel="100000" fill="hold"/>
                                        <p:tgtEl>
                                          <p:spTgt spid="6"/>
                                        </p:tgtEl>
                                        <p:attrNameLst>
                                          <p:attrName>ppt_x</p:attrName>
                                        </p:attrNameLst>
                                      </p:cBhvr>
                                      <p:tavLst>
                                        <p:tav tm="0">
                                          <p:val>
                                            <p:strVal val="#ppt_x"/>
                                          </p:val>
                                        </p:tav>
                                        <p:tav tm="100000">
                                          <p:val>
                                            <p:strVal val="#ppt_x"/>
                                          </p:val>
                                        </p:tav>
                                      </p:tavLst>
                                    </p:anim>
                                    <p:anim calcmode="lin" valueType="num">
                                      <p:cBhvr>
                                        <p:cTn id="42" dur="500" decel="100000" fill="hold"/>
                                        <p:tgtEl>
                                          <p:spTgt spid="6"/>
                                        </p:tgtEl>
                                        <p:attrNameLst>
                                          <p:attrName>ppt_y</p:attrName>
                                        </p:attrNameLst>
                                      </p:cBhvr>
                                      <p:tavLst>
                                        <p:tav tm="0">
                                          <p:val>
                                            <p:strVal val="#ppt_y+0.0278"/>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decel="100000"/>
                                        <p:tgtEl>
                                          <p:spTgt spid="7"/>
                                        </p:tgtEl>
                                      </p:cBhvr>
                                    </p:animEffect>
                                    <p:anim calcmode="lin" valueType="num">
                                      <p:cBhvr>
                                        <p:cTn id="46" dur="500" decel="100000" fill="hold"/>
                                        <p:tgtEl>
                                          <p:spTgt spid="7"/>
                                        </p:tgtEl>
                                        <p:attrNameLst>
                                          <p:attrName>ppt_x</p:attrName>
                                        </p:attrNameLst>
                                      </p:cBhvr>
                                      <p:tavLst>
                                        <p:tav tm="0">
                                          <p:val>
                                            <p:strVal val="#ppt_x"/>
                                          </p:val>
                                        </p:tav>
                                        <p:tav tm="100000">
                                          <p:val>
                                            <p:strVal val="#ppt_x"/>
                                          </p:val>
                                        </p:tav>
                                      </p:tavLst>
                                    </p:anim>
                                    <p:anim calcmode="lin" valueType="num">
                                      <p:cBhvr>
                                        <p:cTn id="47" dur="500" decel="100000" fill="hold"/>
                                        <p:tgtEl>
                                          <p:spTgt spid="7"/>
                                        </p:tgtEl>
                                        <p:attrNameLst>
                                          <p:attrName>ppt_y</p:attrName>
                                        </p:attrNameLst>
                                      </p:cBhvr>
                                      <p:tavLst>
                                        <p:tav tm="0">
                                          <p:val>
                                            <p:strVal val="#ppt_y+0.0278"/>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fade">
                                      <p:cBhvr>
                                        <p:cTn id="50" dur="500" decel="100000"/>
                                        <p:tgtEl>
                                          <p:spTgt spid="8"/>
                                        </p:tgtEl>
                                      </p:cBhvr>
                                    </p:animEffect>
                                    <p:anim calcmode="lin" valueType="num">
                                      <p:cBhvr>
                                        <p:cTn id="51" dur="500" decel="100000" fill="hold"/>
                                        <p:tgtEl>
                                          <p:spTgt spid="8"/>
                                        </p:tgtEl>
                                        <p:attrNameLst>
                                          <p:attrName>ppt_x</p:attrName>
                                        </p:attrNameLst>
                                      </p:cBhvr>
                                      <p:tavLst>
                                        <p:tav tm="0">
                                          <p:val>
                                            <p:strVal val="#ppt_x"/>
                                          </p:val>
                                        </p:tav>
                                        <p:tav tm="100000">
                                          <p:val>
                                            <p:strVal val="#ppt_x"/>
                                          </p:val>
                                        </p:tav>
                                      </p:tavLst>
                                    </p:anim>
                                    <p:anim calcmode="lin" valueType="num">
                                      <p:cBhvr>
                                        <p:cTn id="52" dur="500" decel="100000" fill="hold"/>
                                        <p:tgtEl>
                                          <p:spTgt spid="8"/>
                                        </p:tgtEl>
                                        <p:attrNameLst>
                                          <p:attrName>ppt_y</p:attrName>
                                        </p:attrNameLst>
                                      </p:cBhvr>
                                      <p:tavLst>
                                        <p:tav tm="0">
                                          <p:val>
                                            <p:strVal val="#ppt_y+0.0278"/>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fade">
                                      <p:cBhvr>
                                        <p:cTn id="55" dur="500" decel="100000"/>
                                        <p:tgtEl>
                                          <p:spTgt spid="9"/>
                                        </p:tgtEl>
                                      </p:cBhvr>
                                    </p:animEffect>
                                    <p:anim calcmode="lin" valueType="num">
                                      <p:cBhvr>
                                        <p:cTn id="56" dur="500" decel="100000" fill="hold"/>
                                        <p:tgtEl>
                                          <p:spTgt spid="9"/>
                                        </p:tgtEl>
                                        <p:attrNameLst>
                                          <p:attrName>ppt_x</p:attrName>
                                        </p:attrNameLst>
                                      </p:cBhvr>
                                      <p:tavLst>
                                        <p:tav tm="0">
                                          <p:val>
                                            <p:strVal val="#ppt_x"/>
                                          </p:val>
                                        </p:tav>
                                        <p:tav tm="100000">
                                          <p:val>
                                            <p:strVal val="#ppt_x"/>
                                          </p:val>
                                        </p:tav>
                                      </p:tavLst>
                                    </p:anim>
                                    <p:anim calcmode="lin" valueType="num">
                                      <p:cBhvr>
                                        <p:cTn id="57" dur="500" decel="100000" fill="hold"/>
                                        <p:tgtEl>
                                          <p:spTgt spid="9"/>
                                        </p:tgtEl>
                                        <p:attrNameLst>
                                          <p:attrName>ppt_y</p:attrName>
                                        </p:attrNameLst>
                                      </p:cBhvr>
                                      <p:tavLst>
                                        <p:tav tm="0">
                                          <p:val>
                                            <p:strVal val="#ppt_y+0.0278"/>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fade">
                                      <p:cBhvr>
                                        <p:cTn id="60" dur="500" decel="100000"/>
                                        <p:tgtEl>
                                          <p:spTgt spid="10"/>
                                        </p:tgtEl>
                                      </p:cBhvr>
                                    </p:animEffect>
                                    <p:anim calcmode="lin" valueType="num">
                                      <p:cBhvr>
                                        <p:cTn id="61" dur="500" decel="100000" fill="hold"/>
                                        <p:tgtEl>
                                          <p:spTgt spid="10"/>
                                        </p:tgtEl>
                                        <p:attrNameLst>
                                          <p:attrName>ppt_x</p:attrName>
                                        </p:attrNameLst>
                                      </p:cBhvr>
                                      <p:tavLst>
                                        <p:tav tm="0">
                                          <p:val>
                                            <p:strVal val="#ppt_x"/>
                                          </p:val>
                                        </p:tav>
                                        <p:tav tm="100000">
                                          <p:val>
                                            <p:strVal val="#ppt_x"/>
                                          </p:val>
                                        </p:tav>
                                      </p:tavLst>
                                    </p:anim>
                                    <p:anim calcmode="lin" valueType="num">
                                      <p:cBhvr>
                                        <p:cTn id="62" dur="500" decel="100000" fill="hold"/>
                                        <p:tgtEl>
                                          <p:spTgt spid="10"/>
                                        </p:tgtEl>
                                        <p:attrNameLst>
                                          <p:attrName>ppt_y</p:attrName>
                                        </p:attrNameLst>
                                      </p:cBhvr>
                                      <p:tavLst>
                                        <p:tav tm="0">
                                          <p:val>
                                            <p:strVal val="#ppt_y+0.0278"/>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11"/>
                                        </p:tgtEl>
                                        <p:attrNameLst>
                                          <p:attrName>style.visibility</p:attrName>
                                        </p:attrNameLst>
                                      </p:cBhvr>
                                      <p:to>
                                        <p:strVal val="visible"/>
                                      </p:to>
                                    </p:set>
                                    <p:animEffect transition="in" filter="fade">
                                      <p:cBhvr>
                                        <p:cTn id="65" dur="500" decel="100000"/>
                                        <p:tgtEl>
                                          <p:spTgt spid="11"/>
                                        </p:tgtEl>
                                      </p:cBhvr>
                                    </p:animEffect>
                                    <p:anim calcmode="lin" valueType="num">
                                      <p:cBhvr>
                                        <p:cTn id="66" dur="500" decel="100000" fill="hold"/>
                                        <p:tgtEl>
                                          <p:spTgt spid="11"/>
                                        </p:tgtEl>
                                        <p:attrNameLst>
                                          <p:attrName>ppt_x</p:attrName>
                                        </p:attrNameLst>
                                      </p:cBhvr>
                                      <p:tavLst>
                                        <p:tav tm="0">
                                          <p:val>
                                            <p:strVal val="#ppt_x"/>
                                          </p:val>
                                        </p:tav>
                                        <p:tav tm="100000">
                                          <p:val>
                                            <p:strVal val="#ppt_x"/>
                                          </p:val>
                                        </p:tav>
                                      </p:tavLst>
                                    </p:anim>
                                    <p:anim calcmode="lin" valueType="num">
                                      <p:cBhvr>
                                        <p:cTn id="67" dur="500" decel="100000" fill="hold"/>
                                        <p:tgtEl>
                                          <p:spTgt spid="11"/>
                                        </p:tgtEl>
                                        <p:attrNameLst>
                                          <p:attrName>ppt_y</p:attrName>
                                        </p:attrNameLst>
                                      </p:cBhvr>
                                      <p:tavLst>
                                        <p:tav tm="0">
                                          <p:val>
                                            <p:strVal val="#ppt_y+0.0278"/>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2"/>
                                        </p:tgtEl>
                                        <p:attrNameLst>
                                          <p:attrName>style.visibility</p:attrName>
                                        </p:attrNameLst>
                                      </p:cBhvr>
                                      <p:to>
                                        <p:strVal val="visible"/>
                                      </p:to>
                                    </p:set>
                                    <p:animEffect transition="in" filter="fade">
                                      <p:cBhvr>
                                        <p:cTn id="70" dur="500" decel="100000"/>
                                        <p:tgtEl>
                                          <p:spTgt spid="12"/>
                                        </p:tgtEl>
                                      </p:cBhvr>
                                    </p:animEffect>
                                    <p:anim calcmode="lin" valueType="num">
                                      <p:cBhvr>
                                        <p:cTn id="71" dur="500" decel="100000" fill="hold"/>
                                        <p:tgtEl>
                                          <p:spTgt spid="12"/>
                                        </p:tgtEl>
                                        <p:attrNameLst>
                                          <p:attrName>ppt_x</p:attrName>
                                        </p:attrNameLst>
                                      </p:cBhvr>
                                      <p:tavLst>
                                        <p:tav tm="0">
                                          <p:val>
                                            <p:strVal val="#ppt_x"/>
                                          </p:val>
                                        </p:tav>
                                        <p:tav tm="100000">
                                          <p:val>
                                            <p:strVal val="#ppt_x"/>
                                          </p:val>
                                        </p:tav>
                                      </p:tavLst>
                                    </p:anim>
                                    <p:anim calcmode="lin" valueType="num">
                                      <p:cBhvr>
                                        <p:cTn id="72" dur="500" decel="100000" fill="hold"/>
                                        <p:tgtEl>
                                          <p:spTgt spid="12"/>
                                        </p:tgtEl>
                                        <p:attrNameLst>
                                          <p:attrName>ppt_y</p:attrName>
                                        </p:attrNameLst>
                                      </p:cBhvr>
                                      <p:tavLst>
                                        <p:tav tm="0">
                                          <p:val>
                                            <p:strVal val="#ppt_y+0.0278"/>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13"/>
                                        </p:tgtEl>
                                        <p:attrNameLst>
                                          <p:attrName>style.visibility</p:attrName>
                                        </p:attrNameLst>
                                      </p:cBhvr>
                                      <p:to>
                                        <p:strVal val="visible"/>
                                      </p:to>
                                    </p:set>
                                    <p:animEffect transition="in" filter="fade">
                                      <p:cBhvr>
                                        <p:cTn id="75" dur="500" decel="100000"/>
                                        <p:tgtEl>
                                          <p:spTgt spid="13"/>
                                        </p:tgtEl>
                                      </p:cBhvr>
                                    </p:animEffect>
                                    <p:anim calcmode="lin" valueType="num">
                                      <p:cBhvr>
                                        <p:cTn id="76" dur="500" decel="100000" fill="hold"/>
                                        <p:tgtEl>
                                          <p:spTgt spid="13"/>
                                        </p:tgtEl>
                                        <p:attrNameLst>
                                          <p:attrName>ppt_x</p:attrName>
                                        </p:attrNameLst>
                                      </p:cBhvr>
                                      <p:tavLst>
                                        <p:tav tm="0">
                                          <p:val>
                                            <p:strVal val="#ppt_x"/>
                                          </p:val>
                                        </p:tav>
                                        <p:tav tm="100000">
                                          <p:val>
                                            <p:strVal val="#ppt_x"/>
                                          </p:val>
                                        </p:tav>
                                      </p:tavLst>
                                    </p:anim>
                                    <p:anim calcmode="lin" valueType="num">
                                      <p:cBhvr>
                                        <p:cTn id="77" dur="500" decel="100000" fill="hold"/>
                                        <p:tgtEl>
                                          <p:spTgt spid="13"/>
                                        </p:tgtEl>
                                        <p:attrNameLst>
                                          <p:attrName>ppt_y</p:attrName>
                                        </p:attrNameLst>
                                      </p:cBhvr>
                                      <p:tavLst>
                                        <p:tav tm="0">
                                          <p:val>
                                            <p:strVal val="#ppt_y+0.0278"/>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14"/>
                                        </p:tgtEl>
                                        <p:attrNameLst>
                                          <p:attrName>style.visibility</p:attrName>
                                        </p:attrNameLst>
                                      </p:cBhvr>
                                      <p:to>
                                        <p:strVal val="visible"/>
                                      </p:to>
                                    </p:set>
                                    <p:animEffect transition="in" filter="fade">
                                      <p:cBhvr>
                                        <p:cTn id="80" dur="500" decel="100000"/>
                                        <p:tgtEl>
                                          <p:spTgt spid="14"/>
                                        </p:tgtEl>
                                      </p:cBhvr>
                                    </p:animEffect>
                                    <p:anim calcmode="lin" valueType="num">
                                      <p:cBhvr>
                                        <p:cTn id="81" dur="500" decel="100000" fill="hold"/>
                                        <p:tgtEl>
                                          <p:spTgt spid="14"/>
                                        </p:tgtEl>
                                        <p:attrNameLst>
                                          <p:attrName>ppt_x</p:attrName>
                                        </p:attrNameLst>
                                      </p:cBhvr>
                                      <p:tavLst>
                                        <p:tav tm="0">
                                          <p:val>
                                            <p:strVal val="#ppt_x"/>
                                          </p:val>
                                        </p:tav>
                                        <p:tav tm="100000">
                                          <p:val>
                                            <p:strVal val="#ppt_x"/>
                                          </p:val>
                                        </p:tav>
                                      </p:tavLst>
                                    </p:anim>
                                    <p:anim calcmode="lin" valueType="num">
                                      <p:cBhvr>
                                        <p:cTn id="82" dur="500" decel="100000" fill="hold"/>
                                        <p:tgtEl>
                                          <p:spTgt spid="14"/>
                                        </p:tgtEl>
                                        <p:attrNameLst>
                                          <p:attrName>ppt_y</p:attrName>
                                        </p:attrNameLst>
                                      </p:cBhvr>
                                      <p:tavLst>
                                        <p:tav tm="0">
                                          <p:val>
                                            <p:strVal val="#ppt_y+0.0278"/>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15"/>
                                        </p:tgtEl>
                                        <p:attrNameLst>
                                          <p:attrName>style.visibility</p:attrName>
                                        </p:attrNameLst>
                                      </p:cBhvr>
                                      <p:to>
                                        <p:strVal val="visible"/>
                                      </p:to>
                                    </p:set>
                                    <p:animEffect transition="in" filter="fade">
                                      <p:cBhvr>
                                        <p:cTn id="85" dur="500" decel="100000"/>
                                        <p:tgtEl>
                                          <p:spTgt spid="15"/>
                                        </p:tgtEl>
                                      </p:cBhvr>
                                    </p:animEffect>
                                    <p:anim calcmode="lin" valueType="num">
                                      <p:cBhvr>
                                        <p:cTn id="86" dur="500" decel="100000" fill="hold"/>
                                        <p:tgtEl>
                                          <p:spTgt spid="15"/>
                                        </p:tgtEl>
                                        <p:attrNameLst>
                                          <p:attrName>ppt_x</p:attrName>
                                        </p:attrNameLst>
                                      </p:cBhvr>
                                      <p:tavLst>
                                        <p:tav tm="0">
                                          <p:val>
                                            <p:strVal val="#ppt_x"/>
                                          </p:val>
                                        </p:tav>
                                        <p:tav tm="100000">
                                          <p:val>
                                            <p:strVal val="#ppt_x"/>
                                          </p:val>
                                        </p:tav>
                                      </p:tavLst>
                                    </p:anim>
                                    <p:anim calcmode="lin" valueType="num">
                                      <p:cBhvr>
                                        <p:cTn id="87" dur="500" decel="100000" fill="hold"/>
                                        <p:tgtEl>
                                          <p:spTgt spid="15"/>
                                        </p:tgtEl>
                                        <p:attrNameLst>
                                          <p:attrName>ppt_y</p:attrName>
                                        </p:attrNameLst>
                                      </p:cBhvr>
                                      <p:tavLst>
                                        <p:tav tm="0">
                                          <p:val>
                                            <p:strVal val="#ppt_y+0.0278"/>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16"/>
                                        </p:tgtEl>
                                        <p:attrNameLst>
                                          <p:attrName>style.visibility</p:attrName>
                                        </p:attrNameLst>
                                      </p:cBhvr>
                                      <p:to>
                                        <p:strVal val="visible"/>
                                      </p:to>
                                    </p:set>
                                    <p:animEffect transition="in" filter="fade">
                                      <p:cBhvr>
                                        <p:cTn id="90" dur="500" decel="100000"/>
                                        <p:tgtEl>
                                          <p:spTgt spid="16"/>
                                        </p:tgtEl>
                                      </p:cBhvr>
                                    </p:animEffect>
                                    <p:anim calcmode="lin" valueType="num">
                                      <p:cBhvr>
                                        <p:cTn id="91" dur="500" decel="100000" fill="hold"/>
                                        <p:tgtEl>
                                          <p:spTgt spid="16"/>
                                        </p:tgtEl>
                                        <p:attrNameLst>
                                          <p:attrName>ppt_x</p:attrName>
                                        </p:attrNameLst>
                                      </p:cBhvr>
                                      <p:tavLst>
                                        <p:tav tm="0">
                                          <p:val>
                                            <p:strVal val="#ppt_x"/>
                                          </p:val>
                                        </p:tav>
                                        <p:tav tm="100000">
                                          <p:val>
                                            <p:strVal val="#ppt_x"/>
                                          </p:val>
                                        </p:tav>
                                      </p:tavLst>
                                    </p:anim>
                                    <p:anim calcmode="lin" valueType="num">
                                      <p:cBhvr>
                                        <p:cTn id="92" dur="500" decel="100000" fill="hold"/>
                                        <p:tgtEl>
                                          <p:spTgt spid="16"/>
                                        </p:tgtEl>
                                        <p:attrNameLst>
                                          <p:attrName>ppt_y</p:attrName>
                                        </p:attrNameLst>
                                      </p:cBhvr>
                                      <p:tavLst>
                                        <p:tav tm="0">
                                          <p:val>
                                            <p:strVal val="#ppt_y+0.0278"/>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17"/>
                                        </p:tgtEl>
                                        <p:attrNameLst>
                                          <p:attrName>style.visibility</p:attrName>
                                        </p:attrNameLst>
                                      </p:cBhvr>
                                      <p:to>
                                        <p:strVal val="visible"/>
                                      </p:to>
                                    </p:set>
                                    <p:animEffect transition="in" filter="fade">
                                      <p:cBhvr>
                                        <p:cTn id="95" dur="500" decel="100000"/>
                                        <p:tgtEl>
                                          <p:spTgt spid="17"/>
                                        </p:tgtEl>
                                      </p:cBhvr>
                                    </p:animEffect>
                                    <p:anim calcmode="lin" valueType="num">
                                      <p:cBhvr>
                                        <p:cTn id="96" dur="500" decel="100000" fill="hold"/>
                                        <p:tgtEl>
                                          <p:spTgt spid="17"/>
                                        </p:tgtEl>
                                        <p:attrNameLst>
                                          <p:attrName>ppt_x</p:attrName>
                                        </p:attrNameLst>
                                      </p:cBhvr>
                                      <p:tavLst>
                                        <p:tav tm="0">
                                          <p:val>
                                            <p:strVal val="#ppt_x"/>
                                          </p:val>
                                        </p:tav>
                                        <p:tav tm="100000">
                                          <p:val>
                                            <p:strVal val="#ppt_x"/>
                                          </p:val>
                                        </p:tav>
                                      </p:tavLst>
                                    </p:anim>
                                    <p:anim calcmode="lin" valueType="num">
                                      <p:cBhvr>
                                        <p:cTn id="97" dur="500" decel="100000" fill="hold"/>
                                        <p:tgtEl>
                                          <p:spTgt spid="17"/>
                                        </p:tgtEl>
                                        <p:attrNameLst>
                                          <p:attrName>ppt_y</p:attrName>
                                        </p:attrNameLst>
                                      </p:cBhvr>
                                      <p:tavLst>
                                        <p:tav tm="0">
                                          <p:val>
                                            <p:strVal val="#ppt_y+0.0278"/>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18"/>
                                        </p:tgtEl>
                                        <p:attrNameLst>
                                          <p:attrName>style.visibility</p:attrName>
                                        </p:attrNameLst>
                                      </p:cBhvr>
                                      <p:to>
                                        <p:strVal val="visible"/>
                                      </p:to>
                                    </p:set>
                                    <p:animEffect transition="in" filter="fade">
                                      <p:cBhvr>
                                        <p:cTn id="100" dur="500" decel="100000"/>
                                        <p:tgtEl>
                                          <p:spTgt spid="18"/>
                                        </p:tgtEl>
                                      </p:cBhvr>
                                    </p:animEffect>
                                    <p:anim calcmode="lin" valueType="num">
                                      <p:cBhvr>
                                        <p:cTn id="101" dur="500" decel="100000" fill="hold"/>
                                        <p:tgtEl>
                                          <p:spTgt spid="18"/>
                                        </p:tgtEl>
                                        <p:attrNameLst>
                                          <p:attrName>ppt_x</p:attrName>
                                        </p:attrNameLst>
                                      </p:cBhvr>
                                      <p:tavLst>
                                        <p:tav tm="0">
                                          <p:val>
                                            <p:strVal val="#ppt_x"/>
                                          </p:val>
                                        </p:tav>
                                        <p:tav tm="100000">
                                          <p:val>
                                            <p:strVal val="#ppt_x"/>
                                          </p:val>
                                        </p:tav>
                                      </p:tavLst>
                                    </p:anim>
                                    <p:anim calcmode="lin" valueType="num">
                                      <p:cBhvr>
                                        <p:cTn id="102" dur="500" decel="100000" fill="hold"/>
                                        <p:tgtEl>
                                          <p:spTgt spid="18"/>
                                        </p:tgtEl>
                                        <p:attrNameLst>
                                          <p:attrName>ppt_y</p:attrName>
                                        </p:attrNameLst>
                                      </p:cBhvr>
                                      <p:tavLst>
                                        <p:tav tm="0">
                                          <p:val>
                                            <p:strVal val="#ppt_y+0.0278"/>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19"/>
                                        </p:tgtEl>
                                        <p:attrNameLst>
                                          <p:attrName>style.visibility</p:attrName>
                                        </p:attrNameLst>
                                      </p:cBhvr>
                                      <p:to>
                                        <p:strVal val="visible"/>
                                      </p:to>
                                    </p:set>
                                    <p:animEffect transition="in" filter="fade">
                                      <p:cBhvr>
                                        <p:cTn id="105" dur="500" decel="100000"/>
                                        <p:tgtEl>
                                          <p:spTgt spid="19"/>
                                        </p:tgtEl>
                                      </p:cBhvr>
                                    </p:animEffect>
                                    <p:anim calcmode="lin" valueType="num">
                                      <p:cBhvr>
                                        <p:cTn id="106" dur="500" decel="100000" fill="hold"/>
                                        <p:tgtEl>
                                          <p:spTgt spid="19"/>
                                        </p:tgtEl>
                                        <p:attrNameLst>
                                          <p:attrName>ppt_x</p:attrName>
                                        </p:attrNameLst>
                                      </p:cBhvr>
                                      <p:tavLst>
                                        <p:tav tm="0">
                                          <p:val>
                                            <p:strVal val="#ppt_x"/>
                                          </p:val>
                                        </p:tav>
                                        <p:tav tm="100000">
                                          <p:val>
                                            <p:strVal val="#ppt_x"/>
                                          </p:val>
                                        </p:tav>
                                      </p:tavLst>
                                    </p:anim>
                                    <p:anim calcmode="lin" valueType="num">
                                      <p:cBhvr>
                                        <p:cTn id="107" dur="500" decel="100000" fill="hold"/>
                                        <p:tgtEl>
                                          <p:spTgt spid="19"/>
                                        </p:tgtEl>
                                        <p:attrNameLst>
                                          <p:attrName>ppt_y</p:attrName>
                                        </p:attrNameLst>
                                      </p:cBhvr>
                                      <p:tavLst>
                                        <p:tav tm="0">
                                          <p:val>
                                            <p:strVal val="#ppt_y+0.0278"/>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20"/>
                                        </p:tgtEl>
                                        <p:attrNameLst>
                                          <p:attrName>style.visibility</p:attrName>
                                        </p:attrNameLst>
                                      </p:cBhvr>
                                      <p:to>
                                        <p:strVal val="visible"/>
                                      </p:to>
                                    </p:set>
                                    <p:animEffect transition="in" filter="fade">
                                      <p:cBhvr>
                                        <p:cTn id="110" dur="500" decel="100000"/>
                                        <p:tgtEl>
                                          <p:spTgt spid="20"/>
                                        </p:tgtEl>
                                      </p:cBhvr>
                                    </p:animEffect>
                                    <p:anim calcmode="lin" valueType="num">
                                      <p:cBhvr>
                                        <p:cTn id="111" dur="500" decel="100000" fill="hold"/>
                                        <p:tgtEl>
                                          <p:spTgt spid="20"/>
                                        </p:tgtEl>
                                        <p:attrNameLst>
                                          <p:attrName>ppt_x</p:attrName>
                                        </p:attrNameLst>
                                      </p:cBhvr>
                                      <p:tavLst>
                                        <p:tav tm="0">
                                          <p:val>
                                            <p:strVal val="#ppt_x"/>
                                          </p:val>
                                        </p:tav>
                                        <p:tav tm="100000">
                                          <p:val>
                                            <p:strVal val="#ppt_x"/>
                                          </p:val>
                                        </p:tav>
                                      </p:tavLst>
                                    </p:anim>
                                    <p:anim calcmode="lin" valueType="num">
                                      <p:cBhvr>
                                        <p:cTn id="112" dur="500" decel="100000" fill="hold"/>
                                        <p:tgtEl>
                                          <p:spTgt spid="20"/>
                                        </p:tgtEl>
                                        <p:attrNameLst>
                                          <p:attrName>ppt_y</p:attrName>
                                        </p:attrNameLst>
                                      </p:cBhvr>
                                      <p:tavLst>
                                        <p:tav tm="0">
                                          <p:val>
                                            <p:strVal val="#ppt_y+0.0278"/>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21"/>
                                        </p:tgtEl>
                                        <p:attrNameLst>
                                          <p:attrName>style.visibility</p:attrName>
                                        </p:attrNameLst>
                                      </p:cBhvr>
                                      <p:to>
                                        <p:strVal val="visible"/>
                                      </p:to>
                                    </p:set>
                                    <p:animEffect transition="in" filter="fade">
                                      <p:cBhvr>
                                        <p:cTn id="115" dur="500" decel="100000"/>
                                        <p:tgtEl>
                                          <p:spTgt spid="21"/>
                                        </p:tgtEl>
                                      </p:cBhvr>
                                    </p:animEffect>
                                    <p:anim calcmode="lin" valueType="num">
                                      <p:cBhvr>
                                        <p:cTn id="116" dur="500" decel="100000" fill="hold"/>
                                        <p:tgtEl>
                                          <p:spTgt spid="21"/>
                                        </p:tgtEl>
                                        <p:attrNameLst>
                                          <p:attrName>ppt_x</p:attrName>
                                        </p:attrNameLst>
                                      </p:cBhvr>
                                      <p:tavLst>
                                        <p:tav tm="0">
                                          <p:val>
                                            <p:strVal val="#ppt_x"/>
                                          </p:val>
                                        </p:tav>
                                        <p:tav tm="100000">
                                          <p:val>
                                            <p:strVal val="#ppt_x"/>
                                          </p:val>
                                        </p:tav>
                                      </p:tavLst>
                                    </p:anim>
                                    <p:anim calcmode="lin" valueType="num">
                                      <p:cBhvr>
                                        <p:cTn id="117" dur="500" decel="100000" fill="hold"/>
                                        <p:tgtEl>
                                          <p:spTgt spid="21"/>
                                        </p:tgtEl>
                                        <p:attrNameLst>
                                          <p:attrName>ppt_y</p:attrName>
                                        </p:attrNameLst>
                                      </p:cBhvr>
                                      <p:tavLst>
                                        <p:tav tm="0">
                                          <p:val>
                                            <p:strVal val="#ppt_y+0.0278"/>
                                          </p:val>
                                        </p:tav>
                                        <p:tav tm="100000">
                                          <p:val>
                                            <p:strVal val="#ppt_y"/>
                                          </p:val>
                                        </p:tav>
                                      </p:tavLst>
                                    </p:anim>
                                  </p:childTnLst>
                                </p:cTn>
                              </p:par>
                              <p:par>
                                <p:cTn id="118" presetID="42" presetClass="entr" presetSubtype="0" fill="hold" grpId="0" nodeType="withEffect">
                                  <p:stCondLst>
                                    <p:cond delay="0"/>
                                  </p:stCondLst>
                                  <p:childTnLst>
                                    <p:set>
                                      <p:cBhvr>
                                        <p:cTn id="119" dur="1" fill="hold">
                                          <p:stCondLst>
                                            <p:cond delay="0"/>
                                          </p:stCondLst>
                                        </p:cTn>
                                        <p:tgtEl>
                                          <p:spTgt spid="22"/>
                                        </p:tgtEl>
                                        <p:attrNameLst>
                                          <p:attrName>style.visibility</p:attrName>
                                        </p:attrNameLst>
                                      </p:cBhvr>
                                      <p:to>
                                        <p:strVal val="visible"/>
                                      </p:to>
                                    </p:set>
                                    <p:animEffect transition="in" filter="fade">
                                      <p:cBhvr>
                                        <p:cTn id="120" dur="500" decel="100000"/>
                                        <p:tgtEl>
                                          <p:spTgt spid="22"/>
                                        </p:tgtEl>
                                      </p:cBhvr>
                                    </p:animEffect>
                                    <p:anim calcmode="lin" valueType="num">
                                      <p:cBhvr>
                                        <p:cTn id="121" dur="500" decel="100000" fill="hold"/>
                                        <p:tgtEl>
                                          <p:spTgt spid="22"/>
                                        </p:tgtEl>
                                        <p:attrNameLst>
                                          <p:attrName>ppt_x</p:attrName>
                                        </p:attrNameLst>
                                      </p:cBhvr>
                                      <p:tavLst>
                                        <p:tav tm="0">
                                          <p:val>
                                            <p:strVal val="#ppt_x"/>
                                          </p:val>
                                        </p:tav>
                                        <p:tav tm="100000">
                                          <p:val>
                                            <p:strVal val="#ppt_x"/>
                                          </p:val>
                                        </p:tav>
                                      </p:tavLst>
                                    </p:anim>
                                    <p:anim calcmode="lin" valueType="num">
                                      <p:cBhvr>
                                        <p:cTn id="122" dur="500" decel="100000" fill="hold"/>
                                        <p:tgtEl>
                                          <p:spTgt spid="22"/>
                                        </p:tgtEl>
                                        <p:attrNameLst>
                                          <p:attrName>ppt_y</p:attrName>
                                        </p:attrNameLst>
                                      </p:cBhvr>
                                      <p:tavLst>
                                        <p:tav tm="0">
                                          <p:val>
                                            <p:strVal val="#ppt_y+0.0278"/>
                                          </p:val>
                                        </p:tav>
                                        <p:tav tm="100000">
                                          <p:val>
                                            <p:strVal val="#ppt_y"/>
                                          </p:val>
                                        </p:tav>
                                      </p:tavLst>
                                    </p:anim>
                                  </p:childTnLst>
                                </p:cTn>
                              </p:par>
                              <p:par>
                                <p:cTn id="123" presetID="42" presetClass="entr" presetSubtype="0" fill="hold" grpId="0" nodeType="withEffect">
                                  <p:stCondLst>
                                    <p:cond delay="0"/>
                                  </p:stCondLst>
                                  <p:childTnLst>
                                    <p:set>
                                      <p:cBhvr>
                                        <p:cTn id="124" dur="1" fill="hold">
                                          <p:stCondLst>
                                            <p:cond delay="0"/>
                                          </p:stCondLst>
                                        </p:cTn>
                                        <p:tgtEl>
                                          <p:spTgt spid="23"/>
                                        </p:tgtEl>
                                        <p:attrNameLst>
                                          <p:attrName>style.visibility</p:attrName>
                                        </p:attrNameLst>
                                      </p:cBhvr>
                                      <p:to>
                                        <p:strVal val="visible"/>
                                      </p:to>
                                    </p:set>
                                    <p:animEffect transition="in" filter="fade">
                                      <p:cBhvr>
                                        <p:cTn id="125" dur="500" decel="100000"/>
                                        <p:tgtEl>
                                          <p:spTgt spid="23"/>
                                        </p:tgtEl>
                                      </p:cBhvr>
                                    </p:animEffect>
                                    <p:anim calcmode="lin" valueType="num">
                                      <p:cBhvr>
                                        <p:cTn id="126" dur="500" decel="100000" fill="hold"/>
                                        <p:tgtEl>
                                          <p:spTgt spid="23"/>
                                        </p:tgtEl>
                                        <p:attrNameLst>
                                          <p:attrName>ppt_x</p:attrName>
                                        </p:attrNameLst>
                                      </p:cBhvr>
                                      <p:tavLst>
                                        <p:tav tm="0">
                                          <p:val>
                                            <p:strVal val="#ppt_x"/>
                                          </p:val>
                                        </p:tav>
                                        <p:tav tm="100000">
                                          <p:val>
                                            <p:strVal val="#ppt_x"/>
                                          </p:val>
                                        </p:tav>
                                      </p:tavLst>
                                    </p:anim>
                                    <p:anim calcmode="lin" valueType="num">
                                      <p:cBhvr>
                                        <p:cTn id="127" dur="500" decel="100000" fill="hold"/>
                                        <p:tgtEl>
                                          <p:spTgt spid="23"/>
                                        </p:tgtEl>
                                        <p:attrNameLst>
                                          <p:attrName>ppt_y</p:attrName>
                                        </p:attrNameLst>
                                      </p:cBhvr>
                                      <p:tavLst>
                                        <p:tav tm="0">
                                          <p:val>
                                            <p:strVal val="#ppt_y+0.0278"/>
                                          </p:val>
                                        </p:tav>
                                        <p:tav tm="100000">
                                          <p:val>
                                            <p:strVal val="#ppt_y"/>
                                          </p:val>
                                        </p:tav>
                                      </p:tavLst>
                                    </p:anim>
                                  </p:childTnLst>
                                </p:cTn>
                              </p:par>
                              <p:par>
                                <p:cTn id="128" presetID="42" presetClass="entr" presetSubtype="0" fill="hold" grpId="0" nodeType="withEffect">
                                  <p:stCondLst>
                                    <p:cond delay="0"/>
                                  </p:stCondLst>
                                  <p:childTnLst>
                                    <p:set>
                                      <p:cBhvr>
                                        <p:cTn id="129" dur="1" fill="hold">
                                          <p:stCondLst>
                                            <p:cond delay="0"/>
                                          </p:stCondLst>
                                        </p:cTn>
                                        <p:tgtEl>
                                          <p:spTgt spid="24"/>
                                        </p:tgtEl>
                                        <p:attrNameLst>
                                          <p:attrName>style.visibility</p:attrName>
                                        </p:attrNameLst>
                                      </p:cBhvr>
                                      <p:to>
                                        <p:strVal val="visible"/>
                                      </p:to>
                                    </p:set>
                                    <p:animEffect transition="in" filter="fade">
                                      <p:cBhvr>
                                        <p:cTn id="130" dur="500" decel="100000"/>
                                        <p:tgtEl>
                                          <p:spTgt spid="24"/>
                                        </p:tgtEl>
                                      </p:cBhvr>
                                    </p:animEffect>
                                    <p:anim calcmode="lin" valueType="num">
                                      <p:cBhvr>
                                        <p:cTn id="131" dur="500" decel="100000" fill="hold"/>
                                        <p:tgtEl>
                                          <p:spTgt spid="24"/>
                                        </p:tgtEl>
                                        <p:attrNameLst>
                                          <p:attrName>ppt_x</p:attrName>
                                        </p:attrNameLst>
                                      </p:cBhvr>
                                      <p:tavLst>
                                        <p:tav tm="0">
                                          <p:val>
                                            <p:strVal val="#ppt_x"/>
                                          </p:val>
                                        </p:tav>
                                        <p:tav tm="100000">
                                          <p:val>
                                            <p:strVal val="#ppt_x"/>
                                          </p:val>
                                        </p:tav>
                                      </p:tavLst>
                                    </p:anim>
                                    <p:anim calcmode="lin" valueType="num">
                                      <p:cBhvr>
                                        <p:cTn id="132" dur="500" decel="100000" fill="hold"/>
                                        <p:tgtEl>
                                          <p:spTgt spid="24"/>
                                        </p:tgtEl>
                                        <p:attrNameLst>
                                          <p:attrName>ppt_y</p:attrName>
                                        </p:attrNameLst>
                                      </p:cBhvr>
                                      <p:tavLst>
                                        <p:tav tm="0">
                                          <p:val>
                                            <p:strVal val="#ppt_y+0.0278"/>
                                          </p:val>
                                        </p:tav>
                                        <p:tav tm="100000">
                                          <p:val>
                                            <p:strVal val="#ppt_y"/>
                                          </p:val>
                                        </p:tav>
                                      </p:tavLst>
                                    </p:anim>
                                  </p:childTnLst>
                                </p:cTn>
                              </p:par>
                              <p:par>
                                <p:cTn id="133" presetID="42" presetClass="entr" presetSubtype="0" fill="hold" grpId="0" nodeType="withEffect">
                                  <p:stCondLst>
                                    <p:cond delay="0"/>
                                  </p:stCondLst>
                                  <p:childTnLst>
                                    <p:set>
                                      <p:cBhvr>
                                        <p:cTn id="134" dur="1" fill="hold">
                                          <p:stCondLst>
                                            <p:cond delay="0"/>
                                          </p:stCondLst>
                                        </p:cTn>
                                        <p:tgtEl>
                                          <p:spTgt spid="25"/>
                                        </p:tgtEl>
                                        <p:attrNameLst>
                                          <p:attrName>style.visibility</p:attrName>
                                        </p:attrNameLst>
                                      </p:cBhvr>
                                      <p:to>
                                        <p:strVal val="visible"/>
                                      </p:to>
                                    </p:set>
                                    <p:animEffect transition="in" filter="fade">
                                      <p:cBhvr>
                                        <p:cTn id="135" dur="500" decel="100000"/>
                                        <p:tgtEl>
                                          <p:spTgt spid="25"/>
                                        </p:tgtEl>
                                      </p:cBhvr>
                                    </p:animEffect>
                                    <p:anim calcmode="lin" valueType="num">
                                      <p:cBhvr>
                                        <p:cTn id="136" dur="500" decel="100000" fill="hold"/>
                                        <p:tgtEl>
                                          <p:spTgt spid="25"/>
                                        </p:tgtEl>
                                        <p:attrNameLst>
                                          <p:attrName>ppt_x</p:attrName>
                                        </p:attrNameLst>
                                      </p:cBhvr>
                                      <p:tavLst>
                                        <p:tav tm="0">
                                          <p:val>
                                            <p:strVal val="#ppt_x"/>
                                          </p:val>
                                        </p:tav>
                                        <p:tav tm="100000">
                                          <p:val>
                                            <p:strVal val="#ppt_x"/>
                                          </p:val>
                                        </p:tav>
                                      </p:tavLst>
                                    </p:anim>
                                    <p:anim calcmode="lin" valueType="num">
                                      <p:cBhvr>
                                        <p:cTn id="137" dur="500" decel="100000" fill="hold"/>
                                        <p:tgtEl>
                                          <p:spTgt spid="25"/>
                                        </p:tgtEl>
                                        <p:attrNameLst>
                                          <p:attrName>ppt_y</p:attrName>
                                        </p:attrNameLst>
                                      </p:cBhvr>
                                      <p:tavLst>
                                        <p:tav tm="0">
                                          <p:val>
                                            <p:strVal val="#ppt_y+0.0278"/>
                                          </p:val>
                                        </p:tav>
                                        <p:tav tm="100000">
                                          <p:val>
                                            <p:strVal val="#ppt_y"/>
                                          </p:val>
                                        </p:tav>
                                      </p:tavLst>
                                    </p:anim>
                                  </p:childTnLst>
                                </p:cTn>
                              </p:par>
                              <p:par>
                                <p:cTn id="138" presetID="42" presetClass="entr" presetSubtype="0" fill="hold" grpId="0" nodeType="withEffect">
                                  <p:stCondLst>
                                    <p:cond delay="0"/>
                                  </p:stCondLst>
                                  <p:childTnLst>
                                    <p:set>
                                      <p:cBhvr>
                                        <p:cTn id="139" dur="1" fill="hold">
                                          <p:stCondLst>
                                            <p:cond delay="0"/>
                                          </p:stCondLst>
                                        </p:cTn>
                                        <p:tgtEl>
                                          <p:spTgt spid="26"/>
                                        </p:tgtEl>
                                        <p:attrNameLst>
                                          <p:attrName>style.visibility</p:attrName>
                                        </p:attrNameLst>
                                      </p:cBhvr>
                                      <p:to>
                                        <p:strVal val="visible"/>
                                      </p:to>
                                    </p:set>
                                    <p:animEffect transition="in" filter="fade">
                                      <p:cBhvr>
                                        <p:cTn id="140" dur="500" decel="100000"/>
                                        <p:tgtEl>
                                          <p:spTgt spid="26"/>
                                        </p:tgtEl>
                                      </p:cBhvr>
                                    </p:animEffect>
                                    <p:anim calcmode="lin" valueType="num">
                                      <p:cBhvr>
                                        <p:cTn id="141" dur="500" decel="100000" fill="hold"/>
                                        <p:tgtEl>
                                          <p:spTgt spid="26"/>
                                        </p:tgtEl>
                                        <p:attrNameLst>
                                          <p:attrName>ppt_x</p:attrName>
                                        </p:attrNameLst>
                                      </p:cBhvr>
                                      <p:tavLst>
                                        <p:tav tm="0">
                                          <p:val>
                                            <p:strVal val="#ppt_x"/>
                                          </p:val>
                                        </p:tav>
                                        <p:tav tm="100000">
                                          <p:val>
                                            <p:strVal val="#ppt_x"/>
                                          </p:val>
                                        </p:tav>
                                      </p:tavLst>
                                    </p:anim>
                                    <p:anim calcmode="lin" valueType="num">
                                      <p:cBhvr>
                                        <p:cTn id="142" dur="500" decel="100000" fill="hold"/>
                                        <p:tgtEl>
                                          <p:spTgt spid="26"/>
                                        </p:tgtEl>
                                        <p:attrNameLst>
                                          <p:attrName>ppt_y</p:attrName>
                                        </p:attrNameLst>
                                      </p:cBhvr>
                                      <p:tavLst>
                                        <p:tav tm="0">
                                          <p:val>
                                            <p:strVal val="#ppt_y+0.0278"/>
                                          </p:val>
                                        </p:tav>
                                        <p:tav tm="100000">
                                          <p:val>
                                            <p:strVal val="#ppt_y"/>
                                          </p:val>
                                        </p:tav>
                                      </p:tavLst>
                                    </p:anim>
                                  </p:childTnLst>
                                </p:cTn>
                              </p:par>
                              <p:par>
                                <p:cTn id="143" presetID="42" presetClass="entr" presetSubtype="0" fill="hold" grpId="0" nodeType="withEffect">
                                  <p:stCondLst>
                                    <p:cond delay="0"/>
                                  </p:stCondLst>
                                  <p:childTnLst>
                                    <p:set>
                                      <p:cBhvr>
                                        <p:cTn id="144" dur="1" fill="hold">
                                          <p:stCondLst>
                                            <p:cond delay="0"/>
                                          </p:stCondLst>
                                        </p:cTn>
                                        <p:tgtEl>
                                          <p:spTgt spid="27"/>
                                        </p:tgtEl>
                                        <p:attrNameLst>
                                          <p:attrName>style.visibility</p:attrName>
                                        </p:attrNameLst>
                                      </p:cBhvr>
                                      <p:to>
                                        <p:strVal val="visible"/>
                                      </p:to>
                                    </p:set>
                                    <p:animEffect transition="in" filter="fade">
                                      <p:cBhvr>
                                        <p:cTn id="145" dur="500" decel="100000"/>
                                        <p:tgtEl>
                                          <p:spTgt spid="27"/>
                                        </p:tgtEl>
                                      </p:cBhvr>
                                    </p:animEffect>
                                    <p:anim calcmode="lin" valueType="num">
                                      <p:cBhvr>
                                        <p:cTn id="146" dur="500" decel="100000" fill="hold"/>
                                        <p:tgtEl>
                                          <p:spTgt spid="27"/>
                                        </p:tgtEl>
                                        <p:attrNameLst>
                                          <p:attrName>ppt_x</p:attrName>
                                        </p:attrNameLst>
                                      </p:cBhvr>
                                      <p:tavLst>
                                        <p:tav tm="0">
                                          <p:val>
                                            <p:strVal val="#ppt_x"/>
                                          </p:val>
                                        </p:tav>
                                        <p:tav tm="100000">
                                          <p:val>
                                            <p:strVal val="#ppt_x"/>
                                          </p:val>
                                        </p:tav>
                                      </p:tavLst>
                                    </p:anim>
                                    <p:anim calcmode="lin" valueType="num">
                                      <p:cBhvr>
                                        <p:cTn id="147" dur="500" decel="100000" fill="hold"/>
                                        <p:tgtEl>
                                          <p:spTgt spid="27"/>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animBg="1"/>
      <p:bldP spid="7" grpId="0"/>
      <p:bldP spid="8" grpId="0" animBg="1"/>
      <p:bldP spid="9" grpId="0"/>
      <p:bldP spid="10" grpId="0" animBg="1"/>
      <p:bldP spid="11" grpId="0"/>
      <p:bldP spid="12" grpId="0" animBg="1"/>
      <p:bldP spid="13" grpId="0"/>
      <p:bldP spid="14" grpId="0" animBg="1"/>
      <p:bldP spid="15" grpId="0"/>
      <p:bldP spid="16" grpId="0" animBg="1"/>
      <p:bldP spid="17" grpId="0"/>
      <p:bldP spid="18" grpId="0" animBg="1"/>
      <p:bldP spid="19" grpId="0"/>
      <p:bldP spid="20" grpId="0" animBg="1"/>
      <p:bldP spid="21" grpId="0"/>
      <p:bldP spid="22" grpId="0" animBg="1"/>
      <p:bldP spid="23" grpId="0"/>
      <p:bldP spid="24" grpId="0" animBg="1"/>
      <p:bldP spid="25" grpId="0"/>
      <p:bldP spid="26" grpId="0" animBg="1"/>
      <p:bldP spid="27" grpId="0"/>
      <p:bldP spid="28" grpId="0" animBg="1"/>
      <p:bldP spid="29" grpId="0"/>
      <p:bldP spid="31" grpId="0" animBg="1"/>
      <p:bldP spid="32" grpId="0" animBg="1"/>
      <p:bldP spid="33"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pic>
        <p:nvPicPr>
          <p:cNvPr id="3" name="!!Hero" descr="Plat traditionnel partagé"/>
          <p:cNvPicPr>
            <a:picLocks noChangeAspect="1"/>
          </p:cNvPicPr>
          <p:nvPr/>
        </p:nvPicPr>
        <p:blipFill>
          <a:blip r:embed="rId2"/>
          <a:srcRect l="2043" r="2043"/>
          <a:stretch>
            <a:fillRect/>
          </a:stretch>
        </p:blipFill>
        <p:spPr>
          <a:xfrm>
            <a:off x="6720840" y="914400"/>
            <a:ext cx="4800600" cy="5074920"/>
          </a:xfrm>
          <a:prstGeom prst="roundRect">
            <a:avLst>
              <a:gd name="adj" fmla="val 5000"/>
            </a:avLst>
          </a:prstGeom>
          <a:effectLst>
            <a:outerShdw blurRad="177800" dist="38100" dir="5400000" algn="t" rotWithShape="0">
              <a:srgbClr val="1A0507">
                <a:alpha val="14000"/>
              </a:srgbClr>
            </a:outerShdw>
          </a:effectLst>
        </p:spPr>
      </p:pic>
      <p:sp>
        <p:nvSpPr>
          <p:cNvPr id="4" name="!!Title"/>
          <p:cNvSpPr txBox="1"/>
          <p:nvPr/>
        </p:nvSpPr>
        <p:spPr>
          <a:xfrm>
            <a:off x="685800" y="914400"/>
            <a:ext cx="566928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Contexte</a:t>
            </a:r>
          </a:p>
        </p:txBody>
      </p:sp>
      <p:sp>
        <p:nvSpPr>
          <p:cNvPr id="5" name="!!Body"/>
          <p:cNvSpPr txBox="1"/>
          <p:nvPr/>
        </p:nvSpPr>
        <p:spPr>
          <a:xfrm>
            <a:off x="685800" y="2103120"/>
            <a:ext cx="5760720" cy="2926080"/>
          </a:xfrm>
          <a:prstGeom prst="rect">
            <a:avLst/>
          </a:prstGeom>
          <a:noFill/>
        </p:spPr>
        <p:txBody>
          <a:bodyPr wrap="square" lIns="0" rIns="0" tIns="0" bIns="0" anchor="t">
            <a:noAutofit/>
          </a:bodyPr>
          <a:lstStyle/>
          <a:p>
            <a:pPr algn="l">
              <a:lnSpc>
                <a:spcPct val="112000"/>
              </a:lnSpc>
              <a:spcAft>
                <a:spcPts val="1400"/>
              </a:spcAft>
            </a:pPr>
            <a:r>
              <a:rPr sz="1800">
                <a:solidFill>
                  <a:srgbClr val="2A070D"/>
                </a:solidFill>
                <a:latin typeface="Montserrat Medium"/>
              </a:rPr>
              <a:t>Les consommateurs recherchent des marques qui valorisent leur patrimoine culinaire.</a:t>
            </a:r>
          </a:p>
          <a:p>
            <a:pPr algn="l">
              <a:lnSpc>
                <a:spcPct val="112000"/>
              </a:lnSpc>
              <a:spcAft>
                <a:spcPts val="1400"/>
              </a:spcAft>
            </a:pPr>
            <a:r>
              <a:rPr sz="1800">
                <a:solidFill>
                  <a:srgbClr val="2A070D"/>
                </a:solidFill>
                <a:latin typeface="Montserrat Medium"/>
              </a:rPr>
              <a:t>De jeunes marques locales peinent pourtant à s'imposer, faute de moyens ou de structuration.</a:t>
            </a:r>
          </a:p>
        </p:txBody>
      </p:sp>
      <p:sp>
        <p:nvSpPr>
          <p:cNvPr id="6" name="!!Accent"/>
          <p:cNvSpPr/>
          <p:nvPr/>
        </p:nvSpPr>
        <p:spPr>
          <a:xfrm>
            <a:off x="685800" y="338328"/>
            <a:ext cx="384048" cy="32004"/>
          </a:xfrm>
          <a:prstGeom prst="rect">
            <a:avLst/>
          </a:prstGeom>
          <a:solidFill>
            <a:srgbClr val="F9A825"/>
          </a:solidFill>
          <a:ln>
            <a:noFill/>
          </a:ln>
        </p:spPr>
        <p:txBody>
          <a:bodyPr rtlCol="0" anchor="ctr"/>
          <a:lstStyle/>
          <a:p/>
        </p:txBody>
      </p:sp>
      <p:sp>
        <p:nvSpPr>
          <p:cNvPr id="7"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01 · Introduction</a:t>
            </a:r>
          </a:p>
        </p:txBody>
      </p:sp>
      <p:sp>
        <p:nvSpPr>
          <p:cNvPr id="8"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03</a:t>
            </a:r>
          </a:p>
        </p:txBody>
      </p:sp>
      <p:sp>
        <p:nvSpPr>
          <p:cNvPr id="9"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10"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11"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12" name="!!Logo" descr="Logo Marin'Or Ivoire"/>
          <p:cNvPicPr>
            <a:picLocks noChangeAspect="1"/>
          </p:cNvPicPr>
          <p:nvPr/>
        </p:nvPicPr>
        <p:blipFill>
          <a:blip r:embed="rId3"/>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decel="100000"/>
                                        <p:tgtEl>
                                          <p:spTgt spid="4"/>
                                        </p:tgtEl>
                                      </p:cBhvr>
                                    </p:animEffect>
                                    <p:anim calcmode="lin" valueType="num">
                                      <p:cBhvr>
                                        <p:cTn id="8" dur="500" decel="100000" fill="hold"/>
                                        <p:tgtEl>
                                          <p:spTgt spid="4"/>
                                        </p:tgtEl>
                                        <p:attrNameLst>
                                          <p:attrName>ppt_x</p:attrName>
                                        </p:attrNameLst>
                                      </p:cBhvr>
                                      <p:tavLst>
                                        <p:tav tm="0">
                                          <p:val>
                                            <p:strVal val="#ppt_x"/>
                                          </p:val>
                                        </p:tav>
                                        <p:tav tm="100000">
                                          <p:val>
                                            <p:strVal val="#ppt_x"/>
                                          </p:val>
                                        </p:tav>
                                      </p:tavLst>
                                    </p:anim>
                                    <p:anim calcmode="lin" valueType="num">
                                      <p:cBhvr>
                                        <p:cTn id="9" dur="500" decel="100000" fill="hold"/>
                                        <p:tgtEl>
                                          <p:spTgt spid="4"/>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decel="100000"/>
                                        <p:tgtEl>
                                          <p:spTgt spid="7"/>
                                        </p:tgtEl>
                                      </p:cBhvr>
                                    </p:animEffect>
                                    <p:anim calcmode="lin" valueType="num">
                                      <p:cBhvr>
                                        <p:cTn id="13" dur="500" decel="100000" fill="hold"/>
                                        <p:tgtEl>
                                          <p:spTgt spid="7"/>
                                        </p:tgtEl>
                                        <p:attrNameLst>
                                          <p:attrName>ppt_x</p:attrName>
                                        </p:attrNameLst>
                                      </p:cBhvr>
                                      <p:tavLst>
                                        <p:tav tm="0">
                                          <p:val>
                                            <p:strVal val="#ppt_x"/>
                                          </p:val>
                                        </p:tav>
                                        <p:tav tm="100000">
                                          <p:val>
                                            <p:strVal val="#ppt_x"/>
                                          </p:val>
                                        </p:tav>
                                      </p:tavLst>
                                    </p:anim>
                                    <p:anim calcmode="lin" valueType="num">
                                      <p:cBhvr>
                                        <p:cTn id="14" dur="500" decel="100000" fill="hold"/>
                                        <p:tgtEl>
                                          <p:spTgt spid="7"/>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9"/>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10"/>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11"/>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4" dur="400" decel="1000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decel="100000"/>
                                        <p:tgtEl>
                                          <p:spTgt spid="5"/>
                                        </p:tgtEl>
                                      </p:cBhvr>
                                    </p:animEffect>
                                    <p:anim calcmode="lin" valueType="num">
                                      <p:cBhvr>
                                        <p:cTn id="31" dur="500" decel="100000" fill="hold"/>
                                        <p:tgtEl>
                                          <p:spTgt spid="5"/>
                                        </p:tgtEl>
                                        <p:attrNameLst>
                                          <p:attrName>ppt_x</p:attrName>
                                        </p:attrNameLst>
                                      </p:cBhvr>
                                      <p:tavLst>
                                        <p:tav tm="0">
                                          <p:val>
                                            <p:strVal val="#ppt_x"/>
                                          </p:val>
                                        </p:tav>
                                        <p:tav tm="100000">
                                          <p:val>
                                            <p:strVal val="#ppt_x"/>
                                          </p:val>
                                        </p:tav>
                                      </p:tavLst>
                                    </p:anim>
                                    <p:anim calcmode="lin" valueType="num">
                                      <p:cBhvr>
                                        <p:cTn id="32" dur="500" decel="100000" fill="hold"/>
                                        <p:tgtEl>
                                          <p:spTgt spid="5"/>
                                        </p:tgtEl>
                                        <p:attrNameLst>
                                          <p:attrName>ppt_y</p:attrName>
                                        </p:attrNameLst>
                                      </p:cBhvr>
                                      <p:tavLst>
                                        <p:tav tm="0">
                                          <p:val>
                                            <p:strVal val="#ppt_y+0.027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500" decel="100000"/>
                                        <p:tgtEl>
                                          <p:spTgt spid="3"/>
                                        </p:tgtEl>
                                      </p:cBhvr>
                                    </p:animEffect>
                                    <p:anim calcmode="lin" valueType="num">
                                      <p:cBhvr>
                                        <p:cTn id="36" dur="500" decel="100000" fill="hold"/>
                                        <p:tgtEl>
                                          <p:spTgt spid="3"/>
                                        </p:tgtEl>
                                        <p:attrNameLst>
                                          <p:attrName>ppt_x</p:attrName>
                                        </p:attrNameLst>
                                      </p:cBhvr>
                                      <p:tavLst>
                                        <p:tav tm="0">
                                          <p:val>
                                            <p:strVal val="#ppt_x"/>
                                          </p:val>
                                        </p:tav>
                                        <p:tav tm="100000">
                                          <p:val>
                                            <p:strVal val="#ppt_x"/>
                                          </p:val>
                                        </p:tav>
                                      </p:tavLst>
                                    </p:anim>
                                    <p:anim calcmode="lin" valueType="num">
                                      <p:cBhvr>
                                        <p:cTn id="37" dur="500" decel="100000" fill="hold"/>
                                        <p:tgtEl>
                                          <p:spTgt spid="3"/>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9" grpId="0" animBg="1"/>
      <p:bldP spid="10" grpId="0" animBg="1"/>
      <p:bldP spid="11"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sp>
        <p:nvSpPr>
          <p:cNvPr id="3" name="!!Panel"/>
          <p:cNvSpPr/>
          <p:nvPr/>
        </p:nvSpPr>
        <p:spPr>
          <a:xfrm>
            <a:off x="6675120" y="1143000"/>
            <a:ext cx="4846320" cy="4480560"/>
          </a:xfrm>
          <a:prstGeom prst="roundRect">
            <a:avLst>
              <a:gd name="adj" fmla="val 7000"/>
            </a:avLst>
          </a:prstGeom>
          <a:solidFill>
            <a:srgbClr val="F6E8EA"/>
          </a:solidFill>
          <a:ln>
            <a:noFill/>
          </a:ln>
        </p:spPr>
        <p:txBody>
          <a:bodyPr rtlCol="0" anchor="ctr"/>
          <a:lstStyle/>
          <a:p/>
        </p:txBody>
      </p:sp>
      <p:pic>
        <p:nvPicPr>
          <p:cNvPr id="4" name="!!LogoHero" descr="Logo Marin'Or Ivoire"/>
          <p:cNvPicPr>
            <a:picLocks noChangeAspect="1"/>
          </p:cNvPicPr>
          <p:nvPr/>
        </p:nvPicPr>
        <p:blipFill>
          <a:blip r:embed="rId2"/>
          <a:stretch>
            <a:fillRect/>
          </a:stretch>
        </p:blipFill>
        <p:spPr>
          <a:xfrm>
            <a:off x="7086600" y="2329392"/>
            <a:ext cx="4023359" cy="2107774"/>
          </a:xfrm>
          <a:prstGeom prst="rect">
            <a:avLst/>
          </a:prstGeom>
        </p:spPr>
      </p:pic>
      <p:sp>
        <p:nvSpPr>
          <p:cNvPr id="5" name="!!Title"/>
          <p:cNvSpPr txBox="1"/>
          <p:nvPr/>
        </p:nvSpPr>
        <p:spPr>
          <a:xfrm>
            <a:off x="685800" y="914400"/>
            <a:ext cx="566928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Marin'Or Ivoire</a:t>
            </a:r>
          </a:p>
        </p:txBody>
      </p:sp>
      <p:sp>
        <p:nvSpPr>
          <p:cNvPr id="6" name="!!Body"/>
          <p:cNvSpPr txBox="1"/>
          <p:nvPr/>
        </p:nvSpPr>
        <p:spPr>
          <a:xfrm>
            <a:off x="685800" y="2103120"/>
            <a:ext cx="5760720" cy="3474720"/>
          </a:xfrm>
          <a:prstGeom prst="rect">
            <a:avLst/>
          </a:prstGeom>
          <a:noFill/>
        </p:spPr>
        <p:txBody>
          <a:bodyPr wrap="square" lIns="0" rIns="0" tIns="0" bIns="0" anchor="t">
            <a:noAutofit/>
          </a:bodyPr>
          <a:lstStyle/>
          <a:p>
            <a:pPr algn="l">
              <a:lnSpc>
                <a:spcPct val="112000"/>
              </a:lnSpc>
              <a:spcAft>
                <a:spcPts val="1400"/>
              </a:spcAft>
            </a:pPr>
            <a:r>
              <a:rPr sz="1800">
                <a:solidFill>
                  <a:srgbClr val="2A070D"/>
                </a:solidFill>
                <a:latin typeface="Montserrat Medium"/>
              </a:rPr>
              <a:t>Des marinades et épices authentiques, portées par M. Moustapha.</a:t>
            </a:r>
          </a:p>
          <a:p>
            <a:pPr algn="l">
              <a:lnSpc>
                <a:spcPct val="112000"/>
              </a:lnSpc>
              <a:spcAft>
                <a:spcPts val="1400"/>
              </a:spcAft>
            </a:pPr>
            <a:r>
              <a:rPr sz="1800">
                <a:solidFill>
                  <a:srgbClr val="2A070D"/>
                </a:solidFill>
                <a:latin typeface="Montserrat Medium"/>
              </a:rPr>
              <a:t>Point de départ : un stage au lancement de la marque.</a:t>
            </a:r>
          </a:p>
        </p:txBody>
      </p:sp>
      <p:sp>
        <p:nvSpPr>
          <p:cNvPr id="7" name="!!Accent"/>
          <p:cNvSpPr/>
          <p:nvPr/>
        </p:nvSpPr>
        <p:spPr>
          <a:xfrm>
            <a:off x="685800" y="338328"/>
            <a:ext cx="384048" cy="32004"/>
          </a:xfrm>
          <a:prstGeom prst="rect">
            <a:avLst/>
          </a:prstGeom>
          <a:solidFill>
            <a:srgbClr val="F9A825"/>
          </a:solidFill>
          <a:ln>
            <a:noFill/>
          </a:ln>
        </p:spPr>
        <p:txBody>
          <a:bodyPr rtlCol="0" anchor="ctr"/>
          <a:lstStyle/>
          <a:p/>
        </p:txBody>
      </p:sp>
      <p:sp>
        <p:nvSpPr>
          <p:cNvPr id="8"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01 · Introduction</a:t>
            </a:r>
          </a:p>
        </p:txBody>
      </p:sp>
      <p:sp>
        <p:nvSpPr>
          <p:cNvPr id="9"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04</a:t>
            </a:r>
          </a:p>
        </p:txBody>
      </p:sp>
      <p:sp>
        <p:nvSpPr>
          <p:cNvPr id="10"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11"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12"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decel="100000"/>
                                        <p:tgtEl>
                                          <p:spTgt spid="5"/>
                                        </p:tgtEl>
                                      </p:cBhvr>
                                    </p:animEffect>
                                    <p:anim calcmode="lin" valueType="num">
                                      <p:cBhvr>
                                        <p:cTn id="8" dur="500" decel="100000" fill="hold"/>
                                        <p:tgtEl>
                                          <p:spTgt spid="5"/>
                                        </p:tgtEl>
                                        <p:attrNameLst>
                                          <p:attrName>ppt_x</p:attrName>
                                        </p:attrNameLst>
                                      </p:cBhvr>
                                      <p:tavLst>
                                        <p:tav tm="0">
                                          <p:val>
                                            <p:strVal val="#ppt_x"/>
                                          </p:val>
                                        </p:tav>
                                        <p:tav tm="100000">
                                          <p:val>
                                            <p:strVal val="#ppt_x"/>
                                          </p:val>
                                        </p:tav>
                                      </p:tavLst>
                                    </p:anim>
                                    <p:anim calcmode="lin" valueType="num">
                                      <p:cBhvr>
                                        <p:cTn id="9" dur="500" decel="100000" fill="hold"/>
                                        <p:tgtEl>
                                          <p:spTgt spid="5"/>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decel="100000"/>
                                        <p:tgtEl>
                                          <p:spTgt spid="8"/>
                                        </p:tgtEl>
                                      </p:cBhvr>
                                    </p:animEffect>
                                    <p:anim calcmode="lin" valueType="num">
                                      <p:cBhvr>
                                        <p:cTn id="13" dur="500" decel="100000" fill="hold"/>
                                        <p:tgtEl>
                                          <p:spTgt spid="8"/>
                                        </p:tgtEl>
                                        <p:attrNameLst>
                                          <p:attrName>ppt_x</p:attrName>
                                        </p:attrNameLst>
                                      </p:cBhvr>
                                      <p:tavLst>
                                        <p:tav tm="0">
                                          <p:val>
                                            <p:strVal val="#ppt_x"/>
                                          </p:val>
                                        </p:tav>
                                        <p:tav tm="100000">
                                          <p:val>
                                            <p:strVal val="#ppt_x"/>
                                          </p:val>
                                        </p:tav>
                                      </p:tavLst>
                                    </p:anim>
                                    <p:anim calcmode="lin" valueType="num">
                                      <p:cBhvr>
                                        <p:cTn id="14" dur="500" decel="100000" fill="hold"/>
                                        <p:tgtEl>
                                          <p:spTgt spid="8"/>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10"/>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11"/>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12"/>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400" decel="1000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500" decel="100000"/>
                                        <p:tgtEl>
                                          <p:spTgt spid="3"/>
                                        </p:tgtEl>
                                      </p:cBhvr>
                                    </p:animEffect>
                                    <p:anim calcmode="lin" valueType="num">
                                      <p:cBhvr>
                                        <p:cTn id="31" dur="500" decel="100000" fill="hold"/>
                                        <p:tgtEl>
                                          <p:spTgt spid="3"/>
                                        </p:tgtEl>
                                        <p:attrNameLst>
                                          <p:attrName>ppt_x</p:attrName>
                                        </p:attrNameLst>
                                      </p:cBhvr>
                                      <p:tavLst>
                                        <p:tav tm="0">
                                          <p:val>
                                            <p:strVal val="#ppt_x"/>
                                          </p:val>
                                        </p:tav>
                                        <p:tav tm="100000">
                                          <p:val>
                                            <p:strVal val="#ppt_x"/>
                                          </p:val>
                                        </p:tav>
                                      </p:tavLst>
                                    </p:anim>
                                    <p:anim calcmode="lin" valueType="num">
                                      <p:cBhvr>
                                        <p:cTn id="32" dur="500" decel="100000" fill="hold"/>
                                        <p:tgtEl>
                                          <p:spTgt spid="3"/>
                                        </p:tgtEl>
                                        <p:attrNameLst>
                                          <p:attrName>ppt_y</p:attrName>
                                        </p:attrNameLst>
                                      </p:cBhvr>
                                      <p:tavLst>
                                        <p:tav tm="0">
                                          <p:val>
                                            <p:strVal val="#ppt_y+0.027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500" decel="100000"/>
                                        <p:tgtEl>
                                          <p:spTgt spid="4"/>
                                        </p:tgtEl>
                                      </p:cBhvr>
                                    </p:animEffect>
                                    <p:anim calcmode="lin" valueType="num">
                                      <p:cBhvr>
                                        <p:cTn id="36" dur="500" decel="100000" fill="hold"/>
                                        <p:tgtEl>
                                          <p:spTgt spid="4"/>
                                        </p:tgtEl>
                                        <p:attrNameLst>
                                          <p:attrName>ppt_x</p:attrName>
                                        </p:attrNameLst>
                                      </p:cBhvr>
                                      <p:tavLst>
                                        <p:tav tm="0">
                                          <p:val>
                                            <p:strVal val="#ppt_x"/>
                                          </p:val>
                                        </p:tav>
                                        <p:tav tm="100000">
                                          <p:val>
                                            <p:strVal val="#ppt_x"/>
                                          </p:val>
                                        </p:tav>
                                      </p:tavLst>
                                    </p:anim>
                                    <p:anim calcmode="lin" valueType="num">
                                      <p:cBhvr>
                                        <p:cTn id="37" dur="500" decel="100000" fill="hold"/>
                                        <p:tgtEl>
                                          <p:spTgt spid="4"/>
                                        </p:tgtEl>
                                        <p:attrNameLst>
                                          <p:attrName>ppt_y</p:attrName>
                                        </p:attrNameLst>
                                      </p:cBhvr>
                                      <p:tavLst>
                                        <p:tav tm="0">
                                          <p:val>
                                            <p:strVal val="#ppt_y+0.0278"/>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500" decel="100000"/>
                                        <p:tgtEl>
                                          <p:spTgt spid="6"/>
                                        </p:tgtEl>
                                      </p:cBhvr>
                                    </p:animEffect>
                                    <p:anim calcmode="lin" valueType="num">
                                      <p:cBhvr>
                                        <p:cTn id="41" dur="500" decel="100000" fill="hold"/>
                                        <p:tgtEl>
                                          <p:spTgt spid="6"/>
                                        </p:tgtEl>
                                        <p:attrNameLst>
                                          <p:attrName>ppt_x</p:attrName>
                                        </p:attrNameLst>
                                      </p:cBhvr>
                                      <p:tavLst>
                                        <p:tav tm="0">
                                          <p:val>
                                            <p:strVal val="#ppt_x"/>
                                          </p:val>
                                        </p:tav>
                                        <p:tav tm="100000">
                                          <p:val>
                                            <p:strVal val="#ppt_x"/>
                                          </p:val>
                                        </p:tav>
                                      </p:tavLst>
                                    </p:anim>
                                    <p:anim calcmode="lin" valueType="num">
                                      <p:cBhvr>
                                        <p:cTn id="42" dur="500" decel="100000" fill="hold"/>
                                        <p:tgtEl>
                                          <p:spTgt spid="6"/>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6" grpId="0"/>
      <p:bldP spid="7" grpId="0" animBg="1"/>
      <p:bldP spid="8" grpId="0"/>
      <p:bldP spid="10" grpId="0" animBg="1"/>
      <p:bldP spid="11" grpId="0" animBg="1"/>
      <p:bldP spid="12"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sp>
        <p:nvSpPr>
          <p:cNvPr id="3" name="!!Title"/>
          <p:cNvSpPr txBox="1"/>
          <p:nvPr/>
        </p:nvSpPr>
        <p:spPr>
          <a:xfrm>
            <a:off x="685800" y="914400"/>
            <a:ext cx="8229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Constats de l'existant</a:t>
            </a:r>
          </a:p>
        </p:txBody>
      </p:sp>
      <p:sp>
        <p:nvSpPr>
          <p:cNvPr id="4" name="!!Card0"/>
          <p:cNvSpPr/>
          <p:nvPr/>
        </p:nvSpPr>
        <p:spPr>
          <a:xfrm>
            <a:off x="685800" y="2240280"/>
            <a:ext cx="5166360" cy="1325880"/>
          </a:xfrm>
          <a:prstGeom prst="roundRect">
            <a:avLst>
              <a:gd name="adj" fmla="val 7000"/>
            </a:avLst>
          </a:prstGeom>
          <a:solidFill>
            <a:srgbClr val="F6E8EA"/>
          </a:solidFill>
          <a:ln>
            <a:noFill/>
          </a:ln>
        </p:spPr>
        <p:txBody>
          <a:bodyPr rtlCol="0" anchor="ctr"/>
          <a:lstStyle/>
          <a:p/>
        </p:txBody>
      </p:sp>
      <p:sp>
        <p:nvSpPr>
          <p:cNvPr id="5" name="!!CardB0"/>
          <p:cNvSpPr/>
          <p:nvPr/>
        </p:nvSpPr>
        <p:spPr>
          <a:xfrm>
            <a:off x="1005840" y="2692908"/>
            <a:ext cx="420624" cy="420624"/>
          </a:xfrm>
          <a:prstGeom prst="ellipse">
            <a:avLst/>
          </a:prstGeom>
          <a:solidFill>
            <a:srgbClr val="7B1421"/>
          </a:solidFill>
          <a:ln>
            <a:noFill/>
          </a:ln>
        </p:spPr>
        <p:txBody>
          <a:bodyPr rtlCol="0" anchor="ctr"/>
          <a:lstStyle/>
          <a:p/>
        </p:txBody>
      </p:sp>
      <p:sp>
        <p:nvSpPr>
          <p:cNvPr id="6" name="!!CardB0T"/>
          <p:cNvSpPr txBox="1"/>
          <p:nvPr/>
        </p:nvSpPr>
        <p:spPr>
          <a:xfrm>
            <a:off x="1005840" y="2692908"/>
            <a:ext cx="420624" cy="420624"/>
          </a:xfrm>
          <a:prstGeom prst="rect">
            <a:avLst/>
          </a:prstGeom>
          <a:noFill/>
        </p:spPr>
        <p:txBody>
          <a:bodyPr wrap="square" lIns="0" rIns="0" tIns="0" bIns="0" anchor="ctr">
            <a:noAutofit/>
          </a:bodyPr>
          <a:lstStyle/>
          <a:p>
            <a:pPr algn="ctr"/>
            <a:r>
              <a:rPr sz="1250">
                <a:solidFill>
                  <a:srgbClr val="FFFFFF"/>
                </a:solidFill>
                <a:latin typeface="Montserrat SemiBold"/>
              </a:rPr>
              <a:t>01</a:t>
            </a:r>
          </a:p>
        </p:txBody>
      </p:sp>
      <p:sp>
        <p:nvSpPr>
          <p:cNvPr id="7" name="!!CardT0"/>
          <p:cNvSpPr txBox="1"/>
          <p:nvPr/>
        </p:nvSpPr>
        <p:spPr>
          <a:xfrm>
            <a:off x="1600200" y="2240280"/>
            <a:ext cx="4023360" cy="1325880"/>
          </a:xfrm>
          <a:prstGeom prst="rect">
            <a:avLst/>
          </a:prstGeom>
          <a:noFill/>
        </p:spPr>
        <p:txBody>
          <a:bodyPr wrap="square" lIns="0" rIns="0" tIns="0" bIns="0" anchor="ctr">
            <a:noAutofit/>
          </a:bodyPr>
          <a:lstStyle/>
          <a:p>
            <a:pPr algn="l"/>
            <a:r>
              <a:rPr sz="1800">
                <a:solidFill>
                  <a:srgbClr val="2A070D"/>
                </a:solidFill>
                <a:latin typeface="Montserrat SemiBold"/>
              </a:rPr>
              <a:t>Une identité visuelle incomplète</a:t>
            </a:r>
          </a:p>
        </p:txBody>
      </p:sp>
      <p:sp>
        <p:nvSpPr>
          <p:cNvPr id="8" name="!!Card1"/>
          <p:cNvSpPr/>
          <p:nvPr/>
        </p:nvSpPr>
        <p:spPr>
          <a:xfrm>
            <a:off x="6126480" y="2240280"/>
            <a:ext cx="5166360" cy="1325880"/>
          </a:xfrm>
          <a:prstGeom prst="roundRect">
            <a:avLst>
              <a:gd name="adj" fmla="val 7000"/>
            </a:avLst>
          </a:prstGeom>
          <a:solidFill>
            <a:srgbClr val="F6E8EA"/>
          </a:solidFill>
          <a:ln>
            <a:noFill/>
          </a:ln>
        </p:spPr>
        <p:txBody>
          <a:bodyPr rtlCol="0" anchor="ctr"/>
          <a:lstStyle/>
          <a:p/>
        </p:txBody>
      </p:sp>
      <p:sp>
        <p:nvSpPr>
          <p:cNvPr id="9" name="!!CardB1"/>
          <p:cNvSpPr/>
          <p:nvPr/>
        </p:nvSpPr>
        <p:spPr>
          <a:xfrm>
            <a:off x="6446520" y="2692908"/>
            <a:ext cx="420624" cy="420624"/>
          </a:xfrm>
          <a:prstGeom prst="ellipse">
            <a:avLst/>
          </a:prstGeom>
          <a:solidFill>
            <a:srgbClr val="7B1421"/>
          </a:solidFill>
          <a:ln>
            <a:noFill/>
          </a:ln>
        </p:spPr>
        <p:txBody>
          <a:bodyPr rtlCol="0" anchor="ctr"/>
          <a:lstStyle/>
          <a:p/>
        </p:txBody>
      </p:sp>
      <p:sp>
        <p:nvSpPr>
          <p:cNvPr id="10" name="!!CardB1T"/>
          <p:cNvSpPr txBox="1"/>
          <p:nvPr/>
        </p:nvSpPr>
        <p:spPr>
          <a:xfrm>
            <a:off x="6446520" y="2692908"/>
            <a:ext cx="420624" cy="420624"/>
          </a:xfrm>
          <a:prstGeom prst="rect">
            <a:avLst/>
          </a:prstGeom>
          <a:noFill/>
        </p:spPr>
        <p:txBody>
          <a:bodyPr wrap="square" lIns="0" rIns="0" tIns="0" bIns="0" anchor="ctr">
            <a:noAutofit/>
          </a:bodyPr>
          <a:lstStyle/>
          <a:p>
            <a:pPr algn="ctr"/>
            <a:r>
              <a:rPr sz="1250">
                <a:solidFill>
                  <a:srgbClr val="FFFFFF"/>
                </a:solidFill>
                <a:latin typeface="Montserrat SemiBold"/>
              </a:rPr>
              <a:t>02</a:t>
            </a:r>
          </a:p>
        </p:txBody>
      </p:sp>
      <p:sp>
        <p:nvSpPr>
          <p:cNvPr id="11" name="!!CardT1"/>
          <p:cNvSpPr txBox="1"/>
          <p:nvPr/>
        </p:nvSpPr>
        <p:spPr>
          <a:xfrm>
            <a:off x="7040880" y="2240280"/>
            <a:ext cx="4023360" cy="1325880"/>
          </a:xfrm>
          <a:prstGeom prst="rect">
            <a:avLst/>
          </a:prstGeom>
          <a:noFill/>
        </p:spPr>
        <p:txBody>
          <a:bodyPr wrap="square" lIns="0" rIns="0" tIns="0" bIns="0" anchor="ctr">
            <a:noAutofit/>
          </a:bodyPr>
          <a:lstStyle/>
          <a:p>
            <a:pPr algn="l"/>
            <a:r>
              <a:rPr sz="1800">
                <a:solidFill>
                  <a:srgbClr val="2A070D"/>
                </a:solidFill>
                <a:latin typeface="Montserrat SemiBold"/>
              </a:rPr>
              <a:t>Une visibilité restreinte</a:t>
            </a:r>
          </a:p>
        </p:txBody>
      </p:sp>
      <p:sp>
        <p:nvSpPr>
          <p:cNvPr id="12" name="!!Card2"/>
          <p:cNvSpPr/>
          <p:nvPr/>
        </p:nvSpPr>
        <p:spPr>
          <a:xfrm>
            <a:off x="685800" y="3840480"/>
            <a:ext cx="5166360" cy="1325880"/>
          </a:xfrm>
          <a:prstGeom prst="roundRect">
            <a:avLst>
              <a:gd name="adj" fmla="val 7000"/>
            </a:avLst>
          </a:prstGeom>
          <a:solidFill>
            <a:srgbClr val="F6E8EA"/>
          </a:solidFill>
          <a:ln>
            <a:noFill/>
          </a:ln>
        </p:spPr>
        <p:txBody>
          <a:bodyPr rtlCol="0" anchor="ctr"/>
          <a:lstStyle/>
          <a:p/>
        </p:txBody>
      </p:sp>
      <p:sp>
        <p:nvSpPr>
          <p:cNvPr id="13" name="!!CardB2"/>
          <p:cNvSpPr/>
          <p:nvPr/>
        </p:nvSpPr>
        <p:spPr>
          <a:xfrm>
            <a:off x="1005840" y="4293108"/>
            <a:ext cx="420624" cy="420624"/>
          </a:xfrm>
          <a:prstGeom prst="ellipse">
            <a:avLst/>
          </a:prstGeom>
          <a:solidFill>
            <a:srgbClr val="7B1421"/>
          </a:solidFill>
          <a:ln>
            <a:noFill/>
          </a:ln>
        </p:spPr>
        <p:txBody>
          <a:bodyPr rtlCol="0" anchor="ctr"/>
          <a:lstStyle/>
          <a:p/>
        </p:txBody>
      </p:sp>
      <p:sp>
        <p:nvSpPr>
          <p:cNvPr id="14" name="!!CardB2T"/>
          <p:cNvSpPr txBox="1"/>
          <p:nvPr/>
        </p:nvSpPr>
        <p:spPr>
          <a:xfrm>
            <a:off x="1005840" y="4293108"/>
            <a:ext cx="420624" cy="420624"/>
          </a:xfrm>
          <a:prstGeom prst="rect">
            <a:avLst/>
          </a:prstGeom>
          <a:noFill/>
        </p:spPr>
        <p:txBody>
          <a:bodyPr wrap="square" lIns="0" rIns="0" tIns="0" bIns="0" anchor="ctr">
            <a:noAutofit/>
          </a:bodyPr>
          <a:lstStyle/>
          <a:p>
            <a:pPr algn="ctr"/>
            <a:r>
              <a:rPr sz="1250">
                <a:solidFill>
                  <a:srgbClr val="FFFFFF"/>
                </a:solidFill>
                <a:latin typeface="Montserrat SemiBold"/>
              </a:rPr>
              <a:t>03</a:t>
            </a:r>
          </a:p>
        </p:txBody>
      </p:sp>
      <p:sp>
        <p:nvSpPr>
          <p:cNvPr id="15" name="!!CardT2"/>
          <p:cNvSpPr txBox="1"/>
          <p:nvPr/>
        </p:nvSpPr>
        <p:spPr>
          <a:xfrm>
            <a:off x="1600200" y="3840480"/>
            <a:ext cx="4023360" cy="1325880"/>
          </a:xfrm>
          <a:prstGeom prst="rect">
            <a:avLst/>
          </a:prstGeom>
          <a:noFill/>
        </p:spPr>
        <p:txBody>
          <a:bodyPr wrap="square" lIns="0" rIns="0" tIns="0" bIns="0" anchor="ctr">
            <a:noAutofit/>
          </a:bodyPr>
          <a:lstStyle/>
          <a:p>
            <a:pPr algn="l"/>
            <a:r>
              <a:rPr sz="1800">
                <a:solidFill>
                  <a:srgbClr val="2A070D"/>
                </a:solidFill>
                <a:latin typeface="Montserrat SemiBold"/>
              </a:rPr>
              <a:t>Aucune plateforme numérique</a:t>
            </a:r>
          </a:p>
        </p:txBody>
      </p:sp>
      <p:sp>
        <p:nvSpPr>
          <p:cNvPr id="16" name="!!Card3"/>
          <p:cNvSpPr/>
          <p:nvPr/>
        </p:nvSpPr>
        <p:spPr>
          <a:xfrm>
            <a:off x="6126480" y="3840480"/>
            <a:ext cx="5166360" cy="1325880"/>
          </a:xfrm>
          <a:prstGeom prst="roundRect">
            <a:avLst>
              <a:gd name="adj" fmla="val 7000"/>
            </a:avLst>
          </a:prstGeom>
          <a:solidFill>
            <a:srgbClr val="F6E8EA"/>
          </a:solidFill>
          <a:ln>
            <a:noFill/>
          </a:ln>
        </p:spPr>
        <p:txBody>
          <a:bodyPr rtlCol="0" anchor="ctr"/>
          <a:lstStyle/>
          <a:p/>
        </p:txBody>
      </p:sp>
      <p:sp>
        <p:nvSpPr>
          <p:cNvPr id="17" name="!!CardB3"/>
          <p:cNvSpPr/>
          <p:nvPr/>
        </p:nvSpPr>
        <p:spPr>
          <a:xfrm>
            <a:off x="6446520" y="4293108"/>
            <a:ext cx="420624" cy="420624"/>
          </a:xfrm>
          <a:prstGeom prst="ellipse">
            <a:avLst/>
          </a:prstGeom>
          <a:solidFill>
            <a:srgbClr val="7B1421"/>
          </a:solidFill>
          <a:ln>
            <a:noFill/>
          </a:ln>
        </p:spPr>
        <p:txBody>
          <a:bodyPr rtlCol="0" anchor="ctr"/>
          <a:lstStyle/>
          <a:p/>
        </p:txBody>
      </p:sp>
      <p:sp>
        <p:nvSpPr>
          <p:cNvPr id="18" name="!!CardB3T"/>
          <p:cNvSpPr txBox="1"/>
          <p:nvPr/>
        </p:nvSpPr>
        <p:spPr>
          <a:xfrm>
            <a:off x="6446520" y="4293108"/>
            <a:ext cx="420624" cy="420624"/>
          </a:xfrm>
          <a:prstGeom prst="rect">
            <a:avLst/>
          </a:prstGeom>
          <a:noFill/>
        </p:spPr>
        <p:txBody>
          <a:bodyPr wrap="square" lIns="0" rIns="0" tIns="0" bIns="0" anchor="ctr">
            <a:noAutofit/>
          </a:bodyPr>
          <a:lstStyle/>
          <a:p>
            <a:pPr algn="ctr"/>
            <a:r>
              <a:rPr sz="1250">
                <a:solidFill>
                  <a:srgbClr val="FFFFFF"/>
                </a:solidFill>
                <a:latin typeface="Montserrat SemiBold"/>
              </a:rPr>
              <a:t>04</a:t>
            </a:r>
          </a:p>
        </p:txBody>
      </p:sp>
      <p:sp>
        <p:nvSpPr>
          <p:cNvPr id="19" name="!!CardT3"/>
          <p:cNvSpPr txBox="1"/>
          <p:nvPr/>
        </p:nvSpPr>
        <p:spPr>
          <a:xfrm>
            <a:off x="7040880" y="3840480"/>
            <a:ext cx="4023360" cy="1325880"/>
          </a:xfrm>
          <a:prstGeom prst="rect">
            <a:avLst/>
          </a:prstGeom>
          <a:noFill/>
        </p:spPr>
        <p:txBody>
          <a:bodyPr wrap="square" lIns="0" rIns="0" tIns="0" bIns="0" anchor="ctr">
            <a:noAutofit/>
          </a:bodyPr>
          <a:lstStyle/>
          <a:p>
            <a:pPr algn="l"/>
            <a:r>
              <a:rPr sz="1800">
                <a:solidFill>
                  <a:srgbClr val="2A070D"/>
                </a:solidFill>
                <a:latin typeface="Montserrat SemiBold"/>
              </a:rPr>
              <a:t>Un potentiel sous-exploité</a:t>
            </a:r>
          </a:p>
        </p:txBody>
      </p:sp>
      <p:sp>
        <p:nvSpPr>
          <p:cNvPr id="20" name="!!Accent"/>
          <p:cNvSpPr/>
          <p:nvPr/>
        </p:nvSpPr>
        <p:spPr>
          <a:xfrm>
            <a:off x="685800" y="338328"/>
            <a:ext cx="384048" cy="32004"/>
          </a:xfrm>
          <a:prstGeom prst="rect">
            <a:avLst/>
          </a:prstGeom>
          <a:solidFill>
            <a:srgbClr val="F9A825"/>
          </a:solidFill>
          <a:ln>
            <a:noFill/>
          </a:ln>
        </p:spPr>
        <p:txBody>
          <a:bodyPr rtlCol="0" anchor="ctr"/>
          <a:lstStyle/>
          <a:p/>
        </p:txBody>
      </p:sp>
      <p:sp>
        <p:nvSpPr>
          <p:cNvPr id="21"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01 · Analyse de l’existant</a:t>
            </a:r>
          </a:p>
        </p:txBody>
      </p:sp>
      <p:sp>
        <p:nvSpPr>
          <p:cNvPr id="22"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05</a:t>
            </a:r>
          </a:p>
        </p:txBody>
      </p:sp>
      <p:sp>
        <p:nvSpPr>
          <p:cNvPr id="23"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24"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25"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26" name="!!Logo" descr="Logo Marin'Or Ivoire"/>
          <p:cNvPicPr>
            <a:picLocks noChangeAspect="1"/>
          </p:cNvPicPr>
          <p:nvPr/>
        </p:nvPicPr>
        <p:blipFill>
          <a:blip r:embed="rId2"/>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decel="1000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decel="100000"/>
                                        <p:tgtEl>
                                          <p:spTgt spid="21"/>
                                        </p:tgtEl>
                                      </p:cBhvr>
                                    </p:animEffect>
                                    <p:anim calcmode="lin" valueType="num">
                                      <p:cBhvr>
                                        <p:cTn id="13" dur="500" decel="100000" fill="hold"/>
                                        <p:tgtEl>
                                          <p:spTgt spid="21"/>
                                        </p:tgtEl>
                                        <p:attrNameLst>
                                          <p:attrName>ppt_x</p:attrName>
                                        </p:attrNameLst>
                                      </p:cBhvr>
                                      <p:tavLst>
                                        <p:tav tm="0">
                                          <p:val>
                                            <p:strVal val="#ppt_x"/>
                                          </p:val>
                                        </p:tav>
                                        <p:tav tm="100000">
                                          <p:val>
                                            <p:strVal val="#ppt_x"/>
                                          </p:val>
                                        </p:tav>
                                      </p:tavLst>
                                    </p:anim>
                                    <p:anim calcmode="lin" valueType="num">
                                      <p:cBhvr>
                                        <p:cTn id="14" dur="500" decel="100000" fill="hold"/>
                                        <p:tgtEl>
                                          <p:spTgt spid="21"/>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23"/>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24"/>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25"/>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wipe(left)">
                                      <p:cBhvr>
                                        <p:cTn id="24" dur="400" decel="1000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decel="100000"/>
                                        <p:tgtEl>
                                          <p:spTgt spid="4"/>
                                        </p:tgtEl>
                                      </p:cBhvr>
                                    </p:animEffect>
                                    <p:anim calcmode="lin" valueType="num">
                                      <p:cBhvr>
                                        <p:cTn id="31" dur="500" decel="100000" fill="hold"/>
                                        <p:tgtEl>
                                          <p:spTgt spid="4"/>
                                        </p:tgtEl>
                                        <p:attrNameLst>
                                          <p:attrName>ppt_x</p:attrName>
                                        </p:attrNameLst>
                                      </p:cBhvr>
                                      <p:tavLst>
                                        <p:tav tm="0">
                                          <p:val>
                                            <p:strVal val="#ppt_x"/>
                                          </p:val>
                                        </p:tav>
                                        <p:tav tm="100000">
                                          <p:val>
                                            <p:strVal val="#ppt_x"/>
                                          </p:val>
                                        </p:tav>
                                      </p:tavLst>
                                    </p:anim>
                                    <p:anim calcmode="lin" valueType="num">
                                      <p:cBhvr>
                                        <p:cTn id="32" dur="500" decel="100000" fill="hold"/>
                                        <p:tgtEl>
                                          <p:spTgt spid="4"/>
                                        </p:tgtEl>
                                        <p:attrNameLst>
                                          <p:attrName>ppt_y</p:attrName>
                                        </p:attrNameLst>
                                      </p:cBhvr>
                                      <p:tavLst>
                                        <p:tav tm="0">
                                          <p:val>
                                            <p:strVal val="#ppt_y+0.027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decel="100000"/>
                                        <p:tgtEl>
                                          <p:spTgt spid="5"/>
                                        </p:tgtEl>
                                      </p:cBhvr>
                                    </p:animEffect>
                                    <p:anim calcmode="lin" valueType="num">
                                      <p:cBhvr>
                                        <p:cTn id="36" dur="500" decel="100000" fill="hold"/>
                                        <p:tgtEl>
                                          <p:spTgt spid="5"/>
                                        </p:tgtEl>
                                        <p:attrNameLst>
                                          <p:attrName>ppt_x</p:attrName>
                                        </p:attrNameLst>
                                      </p:cBhvr>
                                      <p:tavLst>
                                        <p:tav tm="0">
                                          <p:val>
                                            <p:strVal val="#ppt_x"/>
                                          </p:val>
                                        </p:tav>
                                        <p:tav tm="100000">
                                          <p:val>
                                            <p:strVal val="#ppt_x"/>
                                          </p:val>
                                        </p:tav>
                                      </p:tavLst>
                                    </p:anim>
                                    <p:anim calcmode="lin" valueType="num">
                                      <p:cBhvr>
                                        <p:cTn id="37" dur="500" decel="100000" fill="hold"/>
                                        <p:tgtEl>
                                          <p:spTgt spid="5"/>
                                        </p:tgtEl>
                                        <p:attrNameLst>
                                          <p:attrName>ppt_y</p:attrName>
                                        </p:attrNameLst>
                                      </p:cBhvr>
                                      <p:tavLst>
                                        <p:tav tm="0">
                                          <p:val>
                                            <p:strVal val="#ppt_y+0.0278"/>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500" decel="100000"/>
                                        <p:tgtEl>
                                          <p:spTgt spid="6"/>
                                        </p:tgtEl>
                                      </p:cBhvr>
                                    </p:animEffect>
                                    <p:anim calcmode="lin" valueType="num">
                                      <p:cBhvr>
                                        <p:cTn id="41" dur="500" decel="100000" fill="hold"/>
                                        <p:tgtEl>
                                          <p:spTgt spid="6"/>
                                        </p:tgtEl>
                                        <p:attrNameLst>
                                          <p:attrName>ppt_x</p:attrName>
                                        </p:attrNameLst>
                                      </p:cBhvr>
                                      <p:tavLst>
                                        <p:tav tm="0">
                                          <p:val>
                                            <p:strVal val="#ppt_x"/>
                                          </p:val>
                                        </p:tav>
                                        <p:tav tm="100000">
                                          <p:val>
                                            <p:strVal val="#ppt_x"/>
                                          </p:val>
                                        </p:tav>
                                      </p:tavLst>
                                    </p:anim>
                                    <p:anim calcmode="lin" valueType="num">
                                      <p:cBhvr>
                                        <p:cTn id="42" dur="500" decel="100000" fill="hold"/>
                                        <p:tgtEl>
                                          <p:spTgt spid="6"/>
                                        </p:tgtEl>
                                        <p:attrNameLst>
                                          <p:attrName>ppt_y</p:attrName>
                                        </p:attrNameLst>
                                      </p:cBhvr>
                                      <p:tavLst>
                                        <p:tav tm="0">
                                          <p:val>
                                            <p:strVal val="#ppt_y+0.0278"/>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decel="100000"/>
                                        <p:tgtEl>
                                          <p:spTgt spid="7"/>
                                        </p:tgtEl>
                                      </p:cBhvr>
                                    </p:animEffect>
                                    <p:anim calcmode="lin" valueType="num">
                                      <p:cBhvr>
                                        <p:cTn id="46" dur="500" decel="100000" fill="hold"/>
                                        <p:tgtEl>
                                          <p:spTgt spid="7"/>
                                        </p:tgtEl>
                                        <p:attrNameLst>
                                          <p:attrName>ppt_x</p:attrName>
                                        </p:attrNameLst>
                                      </p:cBhvr>
                                      <p:tavLst>
                                        <p:tav tm="0">
                                          <p:val>
                                            <p:strVal val="#ppt_x"/>
                                          </p:val>
                                        </p:tav>
                                        <p:tav tm="100000">
                                          <p:val>
                                            <p:strVal val="#ppt_x"/>
                                          </p:val>
                                        </p:tav>
                                      </p:tavLst>
                                    </p:anim>
                                    <p:anim calcmode="lin" valueType="num">
                                      <p:cBhvr>
                                        <p:cTn id="47" dur="500" decel="100000" fill="hold"/>
                                        <p:tgtEl>
                                          <p:spTgt spid="7"/>
                                        </p:tgtEl>
                                        <p:attrNameLst>
                                          <p:attrName>ppt_y</p:attrName>
                                        </p:attrNameLst>
                                      </p:cBhvr>
                                      <p:tavLst>
                                        <p:tav tm="0">
                                          <p:val>
                                            <p:strVal val="#ppt_y+0.0278"/>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fade">
                                      <p:cBhvr>
                                        <p:cTn id="52" dur="500" decel="100000"/>
                                        <p:tgtEl>
                                          <p:spTgt spid="8"/>
                                        </p:tgtEl>
                                      </p:cBhvr>
                                    </p:animEffect>
                                    <p:anim calcmode="lin" valueType="num">
                                      <p:cBhvr>
                                        <p:cTn id="53" dur="500" decel="100000" fill="hold"/>
                                        <p:tgtEl>
                                          <p:spTgt spid="8"/>
                                        </p:tgtEl>
                                        <p:attrNameLst>
                                          <p:attrName>ppt_x</p:attrName>
                                        </p:attrNameLst>
                                      </p:cBhvr>
                                      <p:tavLst>
                                        <p:tav tm="0">
                                          <p:val>
                                            <p:strVal val="#ppt_x"/>
                                          </p:val>
                                        </p:tav>
                                        <p:tav tm="100000">
                                          <p:val>
                                            <p:strVal val="#ppt_x"/>
                                          </p:val>
                                        </p:tav>
                                      </p:tavLst>
                                    </p:anim>
                                    <p:anim calcmode="lin" valueType="num">
                                      <p:cBhvr>
                                        <p:cTn id="54" dur="500" decel="100000" fill="hold"/>
                                        <p:tgtEl>
                                          <p:spTgt spid="8"/>
                                        </p:tgtEl>
                                        <p:attrNameLst>
                                          <p:attrName>ppt_y</p:attrName>
                                        </p:attrNameLst>
                                      </p:cBhvr>
                                      <p:tavLst>
                                        <p:tav tm="0">
                                          <p:val>
                                            <p:strVal val="#ppt_y+0.0278"/>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fade">
                                      <p:cBhvr>
                                        <p:cTn id="57" dur="500" decel="100000"/>
                                        <p:tgtEl>
                                          <p:spTgt spid="9"/>
                                        </p:tgtEl>
                                      </p:cBhvr>
                                    </p:animEffect>
                                    <p:anim calcmode="lin" valueType="num">
                                      <p:cBhvr>
                                        <p:cTn id="58" dur="500" decel="100000" fill="hold"/>
                                        <p:tgtEl>
                                          <p:spTgt spid="9"/>
                                        </p:tgtEl>
                                        <p:attrNameLst>
                                          <p:attrName>ppt_x</p:attrName>
                                        </p:attrNameLst>
                                      </p:cBhvr>
                                      <p:tavLst>
                                        <p:tav tm="0">
                                          <p:val>
                                            <p:strVal val="#ppt_x"/>
                                          </p:val>
                                        </p:tav>
                                        <p:tav tm="100000">
                                          <p:val>
                                            <p:strVal val="#ppt_x"/>
                                          </p:val>
                                        </p:tav>
                                      </p:tavLst>
                                    </p:anim>
                                    <p:anim calcmode="lin" valueType="num">
                                      <p:cBhvr>
                                        <p:cTn id="59" dur="500" decel="100000" fill="hold"/>
                                        <p:tgtEl>
                                          <p:spTgt spid="9"/>
                                        </p:tgtEl>
                                        <p:attrNameLst>
                                          <p:attrName>ppt_y</p:attrName>
                                        </p:attrNameLst>
                                      </p:cBhvr>
                                      <p:tavLst>
                                        <p:tav tm="0">
                                          <p:val>
                                            <p:strVal val="#ppt_y+0.0278"/>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fade">
                                      <p:cBhvr>
                                        <p:cTn id="62" dur="500" decel="100000"/>
                                        <p:tgtEl>
                                          <p:spTgt spid="10"/>
                                        </p:tgtEl>
                                      </p:cBhvr>
                                    </p:animEffect>
                                    <p:anim calcmode="lin" valueType="num">
                                      <p:cBhvr>
                                        <p:cTn id="63" dur="500" decel="100000" fill="hold"/>
                                        <p:tgtEl>
                                          <p:spTgt spid="10"/>
                                        </p:tgtEl>
                                        <p:attrNameLst>
                                          <p:attrName>ppt_x</p:attrName>
                                        </p:attrNameLst>
                                      </p:cBhvr>
                                      <p:tavLst>
                                        <p:tav tm="0">
                                          <p:val>
                                            <p:strVal val="#ppt_x"/>
                                          </p:val>
                                        </p:tav>
                                        <p:tav tm="100000">
                                          <p:val>
                                            <p:strVal val="#ppt_x"/>
                                          </p:val>
                                        </p:tav>
                                      </p:tavLst>
                                    </p:anim>
                                    <p:anim calcmode="lin" valueType="num">
                                      <p:cBhvr>
                                        <p:cTn id="64" dur="500" decel="100000" fill="hold"/>
                                        <p:tgtEl>
                                          <p:spTgt spid="10"/>
                                        </p:tgtEl>
                                        <p:attrNameLst>
                                          <p:attrName>ppt_y</p:attrName>
                                        </p:attrNameLst>
                                      </p:cBhvr>
                                      <p:tavLst>
                                        <p:tav tm="0">
                                          <p:val>
                                            <p:strVal val="#ppt_y+0.0278"/>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fade">
                                      <p:cBhvr>
                                        <p:cTn id="67" dur="500" decel="100000"/>
                                        <p:tgtEl>
                                          <p:spTgt spid="11"/>
                                        </p:tgtEl>
                                      </p:cBhvr>
                                    </p:animEffect>
                                    <p:anim calcmode="lin" valueType="num">
                                      <p:cBhvr>
                                        <p:cTn id="68" dur="500" decel="100000" fill="hold"/>
                                        <p:tgtEl>
                                          <p:spTgt spid="11"/>
                                        </p:tgtEl>
                                        <p:attrNameLst>
                                          <p:attrName>ppt_x</p:attrName>
                                        </p:attrNameLst>
                                      </p:cBhvr>
                                      <p:tavLst>
                                        <p:tav tm="0">
                                          <p:val>
                                            <p:strVal val="#ppt_x"/>
                                          </p:val>
                                        </p:tav>
                                        <p:tav tm="100000">
                                          <p:val>
                                            <p:strVal val="#ppt_x"/>
                                          </p:val>
                                        </p:tav>
                                      </p:tavLst>
                                    </p:anim>
                                    <p:anim calcmode="lin" valueType="num">
                                      <p:cBhvr>
                                        <p:cTn id="69" dur="500" decel="100000" fill="hold"/>
                                        <p:tgtEl>
                                          <p:spTgt spid="11"/>
                                        </p:tgtEl>
                                        <p:attrNameLst>
                                          <p:attrName>ppt_y</p:attrName>
                                        </p:attrNameLst>
                                      </p:cBhvr>
                                      <p:tavLst>
                                        <p:tav tm="0">
                                          <p:val>
                                            <p:strVal val="#ppt_y+0.0278"/>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grpId="0" nodeType="clickEffect">
                                  <p:stCondLst>
                                    <p:cond delay="0"/>
                                  </p:stCondLst>
                                  <p:childTnLst>
                                    <p:set>
                                      <p:cBhvr>
                                        <p:cTn id="73" dur="1" fill="hold">
                                          <p:stCondLst>
                                            <p:cond delay="0"/>
                                          </p:stCondLst>
                                        </p:cTn>
                                        <p:tgtEl>
                                          <p:spTgt spid="12"/>
                                        </p:tgtEl>
                                        <p:attrNameLst>
                                          <p:attrName>style.visibility</p:attrName>
                                        </p:attrNameLst>
                                      </p:cBhvr>
                                      <p:to>
                                        <p:strVal val="visible"/>
                                      </p:to>
                                    </p:set>
                                    <p:animEffect transition="in" filter="fade">
                                      <p:cBhvr>
                                        <p:cTn id="74" dur="500" decel="100000"/>
                                        <p:tgtEl>
                                          <p:spTgt spid="12"/>
                                        </p:tgtEl>
                                      </p:cBhvr>
                                    </p:animEffect>
                                    <p:anim calcmode="lin" valueType="num">
                                      <p:cBhvr>
                                        <p:cTn id="75" dur="500" decel="100000" fill="hold"/>
                                        <p:tgtEl>
                                          <p:spTgt spid="12"/>
                                        </p:tgtEl>
                                        <p:attrNameLst>
                                          <p:attrName>ppt_x</p:attrName>
                                        </p:attrNameLst>
                                      </p:cBhvr>
                                      <p:tavLst>
                                        <p:tav tm="0">
                                          <p:val>
                                            <p:strVal val="#ppt_x"/>
                                          </p:val>
                                        </p:tav>
                                        <p:tav tm="100000">
                                          <p:val>
                                            <p:strVal val="#ppt_x"/>
                                          </p:val>
                                        </p:tav>
                                      </p:tavLst>
                                    </p:anim>
                                    <p:anim calcmode="lin" valueType="num">
                                      <p:cBhvr>
                                        <p:cTn id="76" dur="500" decel="100000" fill="hold"/>
                                        <p:tgtEl>
                                          <p:spTgt spid="12"/>
                                        </p:tgtEl>
                                        <p:attrNameLst>
                                          <p:attrName>ppt_y</p:attrName>
                                        </p:attrNameLst>
                                      </p:cBhvr>
                                      <p:tavLst>
                                        <p:tav tm="0">
                                          <p:val>
                                            <p:strVal val="#ppt_y+0.0278"/>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3"/>
                                        </p:tgtEl>
                                        <p:attrNameLst>
                                          <p:attrName>style.visibility</p:attrName>
                                        </p:attrNameLst>
                                      </p:cBhvr>
                                      <p:to>
                                        <p:strVal val="visible"/>
                                      </p:to>
                                    </p:set>
                                    <p:animEffect transition="in" filter="fade">
                                      <p:cBhvr>
                                        <p:cTn id="79" dur="500" decel="100000"/>
                                        <p:tgtEl>
                                          <p:spTgt spid="13"/>
                                        </p:tgtEl>
                                      </p:cBhvr>
                                    </p:animEffect>
                                    <p:anim calcmode="lin" valueType="num">
                                      <p:cBhvr>
                                        <p:cTn id="80" dur="500" decel="100000" fill="hold"/>
                                        <p:tgtEl>
                                          <p:spTgt spid="13"/>
                                        </p:tgtEl>
                                        <p:attrNameLst>
                                          <p:attrName>ppt_x</p:attrName>
                                        </p:attrNameLst>
                                      </p:cBhvr>
                                      <p:tavLst>
                                        <p:tav tm="0">
                                          <p:val>
                                            <p:strVal val="#ppt_x"/>
                                          </p:val>
                                        </p:tav>
                                        <p:tav tm="100000">
                                          <p:val>
                                            <p:strVal val="#ppt_x"/>
                                          </p:val>
                                        </p:tav>
                                      </p:tavLst>
                                    </p:anim>
                                    <p:anim calcmode="lin" valueType="num">
                                      <p:cBhvr>
                                        <p:cTn id="81" dur="500" decel="100000" fill="hold"/>
                                        <p:tgtEl>
                                          <p:spTgt spid="13"/>
                                        </p:tgtEl>
                                        <p:attrNameLst>
                                          <p:attrName>ppt_y</p:attrName>
                                        </p:attrNameLst>
                                      </p:cBhvr>
                                      <p:tavLst>
                                        <p:tav tm="0">
                                          <p:val>
                                            <p:strVal val="#ppt_y+0.0278"/>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4"/>
                                        </p:tgtEl>
                                        <p:attrNameLst>
                                          <p:attrName>style.visibility</p:attrName>
                                        </p:attrNameLst>
                                      </p:cBhvr>
                                      <p:to>
                                        <p:strVal val="visible"/>
                                      </p:to>
                                    </p:set>
                                    <p:animEffect transition="in" filter="fade">
                                      <p:cBhvr>
                                        <p:cTn id="84" dur="500" decel="100000"/>
                                        <p:tgtEl>
                                          <p:spTgt spid="14"/>
                                        </p:tgtEl>
                                      </p:cBhvr>
                                    </p:animEffect>
                                    <p:anim calcmode="lin" valueType="num">
                                      <p:cBhvr>
                                        <p:cTn id="85" dur="500" decel="100000" fill="hold"/>
                                        <p:tgtEl>
                                          <p:spTgt spid="14"/>
                                        </p:tgtEl>
                                        <p:attrNameLst>
                                          <p:attrName>ppt_x</p:attrName>
                                        </p:attrNameLst>
                                      </p:cBhvr>
                                      <p:tavLst>
                                        <p:tav tm="0">
                                          <p:val>
                                            <p:strVal val="#ppt_x"/>
                                          </p:val>
                                        </p:tav>
                                        <p:tav tm="100000">
                                          <p:val>
                                            <p:strVal val="#ppt_x"/>
                                          </p:val>
                                        </p:tav>
                                      </p:tavLst>
                                    </p:anim>
                                    <p:anim calcmode="lin" valueType="num">
                                      <p:cBhvr>
                                        <p:cTn id="86" dur="500" decel="100000" fill="hold"/>
                                        <p:tgtEl>
                                          <p:spTgt spid="14"/>
                                        </p:tgtEl>
                                        <p:attrNameLst>
                                          <p:attrName>ppt_y</p:attrName>
                                        </p:attrNameLst>
                                      </p:cBhvr>
                                      <p:tavLst>
                                        <p:tav tm="0">
                                          <p:val>
                                            <p:strVal val="#ppt_y+0.0278"/>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15"/>
                                        </p:tgtEl>
                                        <p:attrNameLst>
                                          <p:attrName>style.visibility</p:attrName>
                                        </p:attrNameLst>
                                      </p:cBhvr>
                                      <p:to>
                                        <p:strVal val="visible"/>
                                      </p:to>
                                    </p:set>
                                    <p:animEffect transition="in" filter="fade">
                                      <p:cBhvr>
                                        <p:cTn id="89" dur="500" decel="100000"/>
                                        <p:tgtEl>
                                          <p:spTgt spid="15"/>
                                        </p:tgtEl>
                                      </p:cBhvr>
                                    </p:animEffect>
                                    <p:anim calcmode="lin" valueType="num">
                                      <p:cBhvr>
                                        <p:cTn id="90" dur="500" decel="100000" fill="hold"/>
                                        <p:tgtEl>
                                          <p:spTgt spid="15"/>
                                        </p:tgtEl>
                                        <p:attrNameLst>
                                          <p:attrName>ppt_x</p:attrName>
                                        </p:attrNameLst>
                                      </p:cBhvr>
                                      <p:tavLst>
                                        <p:tav tm="0">
                                          <p:val>
                                            <p:strVal val="#ppt_x"/>
                                          </p:val>
                                        </p:tav>
                                        <p:tav tm="100000">
                                          <p:val>
                                            <p:strVal val="#ppt_x"/>
                                          </p:val>
                                        </p:tav>
                                      </p:tavLst>
                                    </p:anim>
                                    <p:anim calcmode="lin" valueType="num">
                                      <p:cBhvr>
                                        <p:cTn id="91" dur="500" decel="100000" fill="hold"/>
                                        <p:tgtEl>
                                          <p:spTgt spid="15"/>
                                        </p:tgtEl>
                                        <p:attrNameLst>
                                          <p:attrName>ppt_y</p:attrName>
                                        </p:attrNameLst>
                                      </p:cBhvr>
                                      <p:tavLst>
                                        <p:tav tm="0">
                                          <p:val>
                                            <p:strVal val="#ppt_y+0.0278"/>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42" presetClass="entr" presetSubtype="0" fill="hold" grpId="0" nodeType="clickEffect">
                                  <p:stCondLst>
                                    <p:cond delay="0"/>
                                  </p:stCondLst>
                                  <p:childTnLst>
                                    <p:set>
                                      <p:cBhvr>
                                        <p:cTn id="95" dur="1" fill="hold">
                                          <p:stCondLst>
                                            <p:cond delay="0"/>
                                          </p:stCondLst>
                                        </p:cTn>
                                        <p:tgtEl>
                                          <p:spTgt spid="16"/>
                                        </p:tgtEl>
                                        <p:attrNameLst>
                                          <p:attrName>style.visibility</p:attrName>
                                        </p:attrNameLst>
                                      </p:cBhvr>
                                      <p:to>
                                        <p:strVal val="visible"/>
                                      </p:to>
                                    </p:set>
                                    <p:animEffect transition="in" filter="fade">
                                      <p:cBhvr>
                                        <p:cTn id="96" dur="500" decel="100000"/>
                                        <p:tgtEl>
                                          <p:spTgt spid="16"/>
                                        </p:tgtEl>
                                      </p:cBhvr>
                                    </p:animEffect>
                                    <p:anim calcmode="lin" valueType="num">
                                      <p:cBhvr>
                                        <p:cTn id="97" dur="500" decel="100000" fill="hold"/>
                                        <p:tgtEl>
                                          <p:spTgt spid="16"/>
                                        </p:tgtEl>
                                        <p:attrNameLst>
                                          <p:attrName>ppt_x</p:attrName>
                                        </p:attrNameLst>
                                      </p:cBhvr>
                                      <p:tavLst>
                                        <p:tav tm="0">
                                          <p:val>
                                            <p:strVal val="#ppt_x"/>
                                          </p:val>
                                        </p:tav>
                                        <p:tav tm="100000">
                                          <p:val>
                                            <p:strVal val="#ppt_x"/>
                                          </p:val>
                                        </p:tav>
                                      </p:tavLst>
                                    </p:anim>
                                    <p:anim calcmode="lin" valueType="num">
                                      <p:cBhvr>
                                        <p:cTn id="98" dur="500" decel="100000" fill="hold"/>
                                        <p:tgtEl>
                                          <p:spTgt spid="16"/>
                                        </p:tgtEl>
                                        <p:attrNameLst>
                                          <p:attrName>ppt_y</p:attrName>
                                        </p:attrNameLst>
                                      </p:cBhvr>
                                      <p:tavLst>
                                        <p:tav tm="0">
                                          <p:val>
                                            <p:strVal val="#ppt_y+0.0278"/>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17"/>
                                        </p:tgtEl>
                                        <p:attrNameLst>
                                          <p:attrName>style.visibility</p:attrName>
                                        </p:attrNameLst>
                                      </p:cBhvr>
                                      <p:to>
                                        <p:strVal val="visible"/>
                                      </p:to>
                                    </p:set>
                                    <p:animEffect transition="in" filter="fade">
                                      <p:cBhvr>
                                        <p:cTn id="101" dur="500" decel="100000"/>
                                        <p:tgtEl>
                                          <p:spTgt spid="17"/>
                                        </p:tgtEl>
                                      </p:cBhvr>
                                    </p:animEffect>
                                    <p:anim calcmode="lin" valueType="num">
                                      <p:cBhvr>
                                        <p:cTn id="102" dur="500" decel="100000" fill="hold"/>
                                        <p:tgtEl>
                                          <p:spTgt spid="17"/>
                                        </p:tgtEl>
                                        <p:attrNameLst>
                                          <p:attrName>ppt_x</p:attrName>
                                        </p:attrNameLst>
                                      </p:cBhvr>
                                      <p:tavLst>
                                        <p:tav tm="0">
                                          <p:val>
                                            <p:strVal val="#ppt_x"/>
                                          </p:val>
                                        </p:tav>
                                        <p:tav tm="100000">
                                          <p:val>
                                            <p:strVal val="#ppt_x"/>
                                          </p:val>
                                        </p:tav>
                                      </p:tavLst>
                                    </p:anim>
                                    <p:anim calcmode="lin" valueType="num">
                                      <p:cBhvr>
                                        <p:cTn id="103" dur="500" decel="100000" fill="hold"/>
                                        <p:tgtEl>
                                          <p:spTgt spid="17"/>
                                        </p:tgtEl>
                                        <p:attrNameLst>
                                          <p:attrName>ppt_y</p:attrName>
                                        </p:attrNameLst>
                                      </p:cBhvr>
                                      <p:tavLst>
                                        <p:tav tm="0">
                                          <p:val>
                                            <p:strVal val="#ppt_y+0.0278"/>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18"/>
                                        </p:tgtEl>
                                        <p:attrNameLst>
                                          <p:attrName>style.visibility</p:attrName>
                                        </p:attrNameLst>
                                      </p:cBhvr>
                                      <p:to>
                                        <p:strVal val="visible"/>
                                      </p:to>
                                    </p:set>
                                    <p:animEffect transition="in" filter="fade">
                                      <p:cBhvr>
                                        <p:cTn id="106" dur="500" decel="100000"/>
                                        <p:tgtEl>
                                          <p:spTgt spid="18"/>
                                        </p:tgtEl>
                                      </p:cBhvr>
                                    </p:animEffect>
                                    <p:anim calcmode="lin" valueType="num">
                                      <p:cBhvr>
                                        <p:cTn id="107" dur="500" decel="100000" fill="hold"/>
                                        <p:tgtEl>
                                          <p:spTgt spid="18"/>
                                        </p:tgtEl>
                                        <p:attrNameLst>
                                          <p:attrName>ppt_x</p:attrName>
                                        </p:attrNameLst>
                                      </p:cBhvr>
                                      <p:tavLst>
                                        <p:tav tm="0">
                                          <p:val>
                                            <p:strVal val="#ppt_x"/>
                                          </p:val>
                                        </p:tav>
                                        <p:tav tm="100000">
                                          <p:val>
                                            <p:strVal val="#ppt_x"/>
                                          </p:val>
                                        </p:tav>
                                      </p:tavLst>
                                    </p:anim>
                                    <p:anim calcmode="lin" valueType="num">
                                      <p:cBhvr>
                                        <p:cTn id="108" dur="500" decel="100000" fill="hold"/>
                                        <p:tgtEl>
                                          <p:spTgt spid="18"/>
                                        </p:tgtEl>
                                        <p:attrNameLst>
                                          <p:attrName>ppt_y</p:attrName>
                                        </p:attrNameLst>
                                      </p:cBhvr>
                                      <p:tavLst>
                                        <p:tav tm="0">
                                          <p:val>
                                            <p:strVal val="#ppt_y+0.0278"/>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19"/>
                                        </p:tgtEl>
                                        <p:attrNameLst>
                                          <p:attrName>style.visibility</p:attrName>
                                        </p:attrNameLst>
                                      </p:cBhvr>
                                      <p:to>
                                        <p:strVal val="visible"/>
                                      </p:to>
                                    </p:set>
                                    <p:animEffect transition="in" filter="fade">
                                      <p:cBhvr>
                                        <p:cTn id="111" dur="500" decel="100000"/>
                                        <p:tgtEl>
                                          <p:spTgt spid="19"/>
                                        </p:tgtEl>
                                      </p:cBhvr>
                                    </p:animEffect>
                                    <p:anim calcmode="lin" valueType="num">
                                      <p:cBhvr>
                                        <p:cTn id="112" dur="500" decel="100000" fill="hold"/>
                                        <p:tgtEl>
                                          <p:spTgt spid="19"/>
                                        </p:tgtEl>
                                        <p:attrNameLst>
                                          <p:attrName>ppt_x</p:attrName>
                                        </p:attrNameLst>
                                      </p:cBhvr>
                                      <p:tavLst>
                                        <p:tav tm="0">
                                          <p:val>
                                            <p:strVal val="#ppt_x"/>
                                          </p:val>
                                        </p:tav>
                                        <p:tav tm="100000">
                                          <p:val>
                                            <p:strVal val="#ppt_x"/>
                                          </p:val>
                                        </p:tav>
                                      </p:tavLst>
                                    </p:anim>
                                    <p:anim calcmode="lin" valueType="num">
                                      <p:cBhvr>
                                        <p:cTn id="113" dur="500" decel="100000" fill="hold"/>
                                        <p:tgtEl>
                                          <p:spTgt spid="19"/>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6" grpId="0"/>
      <p:bldP spid="7" grpId="0"/>
      <p:bldP spid="8" grpId="0" animBg="1"/>
      <p:bldP spid="9" grpId="0" animBg="1"/>
      <p:bldP spid="10" grpId="0"/>
      <p:bldP spid="11" grpId="0"/>
      <p:bldP spid="12" grpId="0" animBg="1"/>
      <p:bldP spid="13" grpId="0" animBg="1"/>
      <p:bldP spid="14" grpId="0"/>
      <p:bldP spid="15" grpId="0"/>
      <p:bldP spid="16" grpId="0" animBg="1"/>
      <p:bldP spid="17" grpId="0" animBg="1"/>
      <p:bldP spid="18" grpId="0"/>
      <p:bldP spid="19" grpId="0"/>
      <p:bldP spid="20" grpId="0" animBg="1"/>
      <p:bldP spid="21" grpId="0"/>
      <p:bldP spid="23" grpId="0" animBg="1"/>
      <p:bldP spid="24" grpId="0" animBg="1"/>
      <p:bldP spid="25"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gradFill rotWithShape="1">
            <a:gsLst>
              <a:gs pos="0">
                <a:srgbClr val="8A1828"/>
              </a:gs>
              <a:gs pos="100000">
                <a:srgbClr val="68101C"/>
              </a:gs>
            </a:gsLst>
            <a:lin ang="2100000" scaled="0"/>
          </a:gradFill>
          <a:ln>
            <a:noFill/>
          </a:ln>
        </p:spPr>
        <p:txBody>
          <a:bodyPr rtlCol="0" anchor="ctr"/>
          <a:lstStyle/>
          <a:p/>
        </p:txBody>
      </p:sp>
      <p:pic>
        <p:nvPicPr>
          <p:cNvPr id="3" name="!!WM" descr="Filigrane : icône éléphant Marin’Or (décoratif)"/>
          <p:cNvPicPr>
            <a:picLocks noChangeAspect="1"/>
          </p:cNvPicPr>
          <p:nvPr/>
        </p:nvPicPr>
        <p:blipFill>
          <a:blip r:embed="rId2">
            <a:alphaModFix amt="7000"/>
          </a:blip>
          <a:srcRect/>
          <a:stretch>
            <a:fillRect/>
          </a:stretch>
        </p:blipFill>
        <p:spPr>
          <a:xfrm>
            <a:off x="7056729" y="3253165"/>
            <a:ext cx="6583680" cy="4506043"/>
          </a:xfrm>
          <a:prstGeom prst="rect">
            <a:avLst/>
          </a:prstGeom>
        </p:spPr>
      </p:pic>
      <p:sp>
        <p:nvSpPr>
          <p:cNvPr id="4" name="!!Title"/>
          <p:cNvSpPr txBox="1"/>
          <p:nvPr/>
        </p:nvSpPr>
        <p:spPr>
          <a:xfrm>
            <a:off x="914400" y="1417320"/>
            <a:ext cx="10363200" cy="3840480"/>
          </a:xfrm>
          <a:prstGeom prst="rect">
            <a:avLst/>
          </a:prstGeom>
          <a:noFill/>
        </p:spPr>
        <p:txBody>
          <a:bodyPr wrap="square" lIns="0" rIns="0" tIns="0" bIns="0" anchor="ctr">
            <a:noAutofit/>
          </a:bodyPr>
          <a:lstStyle/>
          <a:p>
            <a:pPr algn="ctr">
              <a:lnSpc>
                <a:spcPct val="105000"/>
              </a:lnSpc>
            </a:pPr>
            <a:r>
              <a:rPr sz="2900">
                <a:solidFill>
                  <a:srgbClr val="FFFFFF"/>
                </a:solidFill>
                <a:latin typeface="Cream Heavy"/>
              </a:rPr>
              <a:t>Comment concevoir et réaliser des supports de communication efficaces, permettant à Marin'Or Ivoire de construire une </a:t>
            </a:r>
            <a:r>
              <a:rPr sz="2900">
                <a:solidFill>
                  <a:srgbClr val="F9A825"/>
                </a:solidFill>
                <a:latin typeface="Cream Heavy"/>
              </a:rPr>
              <a:t>identité de marque forte et durable</a:t>
            </a:r>
            <a:r>
              <a:rPr sz="2900">
                <a:solidFill>
                  <a:srgbClr val="FFFFFF"/>
                </a:solidFill>
                <a:latin typeface="Cream Heavy"/>
              </a:rPr>
              <a:t> dans le contexte concurrentiel ivoirien ?</a:t>
            </a:r>
          </a:p>
        </p:txBody>
      </p:sp>
      <p:sp>
        <p:nvSpPr>
          <p:cNvPr id="5" name="!!Accent"/>
          <p:cNvSpPr/>
          <p:nvPr/>
        </p:nvSpPr>
        <p:spPr>
          <a:xfrm>
            <a:off x="685800" y="338328"/>
            <a:ext cx="384048" cy="32004"/>
          </a:xfrm>
          <a:prstGeom prst="rect">
            <a:avLst/>
          </a:prstGeom>
          <a:solidFill>
            <a:srgbClr val="F9A825"/>
          </a:solidFill>
          <a:ln>
            <a:noFill/>
          </a:ln>
        </p:spPr>
        <p:txBody>
          <a:bodyPr rtlCol="0" anchor="ctr"/>
          <a:lstStyle/>
          <a:p/>
        </p:txBody>
      </p:sp>
      <p:sp>
        <p:nvSpPr>
          <p:cNvPr id="6"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F9A825"/>
                </a:solidFill>
                <a:latin typeface="Montserrat SemiBold"/>
              </a:rPr>
              <a:t>Problématique · question centrale</a:t>
            </a:r>
          </a:p>
        </p:txBody>
      </p:sp>
      <p:sp>
        <p:nvSpPr>
          <p:cNvPr id="7"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F9A825"/>
                </a:solidFill>
                <a:latin typeface="Montserrat SemiBold"/>
              </a:rPr>
              <a:t>06</a:t>
            </a:r>
          </a:p>
        </p:txBody>
      </p:sp>
      <p:sp>
        <p:nvSpPr>
          <p:cNvPr id="8" name="!!Dot0"/>
          <p:cNvSpPr/>
          <p:nvPr/>
        </p:nvSpPr>
        <p:spPr>
          <a:xfrm>
            <a:off x="685800" y="6382512"/>
            <a:ext cx="68580" cy="68580"/>
          </a:xfrm>
          <a:prstGeom prst="ellipse">
            <a:avLst/>
          </a:prstGeom>
          <a:solidFill>
            <a:srgbClr val="F9A825">
              <a:alpha val="75000"/>
            </a:srgbClr>
          </a:solidFill>
          <a:ln>
            <a:noFill/>
          </a:ln>
        </p:spPr>
        <p:txBody>
          <a:bodyPr rtlCol="0" anchor="ctr"/>
          <a:lstStyle/>
          <a:p/>
        </p:txBody>
      </p:sp>
      <p:sp>
        <p:nvSpPr>
          <p:cNvPr id="9" name="!!Dot1"/>
          <p:cNvSpPr/>
          <p:nvPr/>
        </p:nvSpPr>
        <p:spPr>
          <a:xfrm>
            <a:off x="832104" y="6382512"/>
            <a:ext cx="68580" cy="68580"/>
          </a:xfrm>
          <a:prstGeom prst="ellipse">
            <a:avLst/>
          </a:prstGeom>
          <a:solidFill>
            <a:srgbClr val="FFECD1">
              <a:alpha val="75000"/>
            </a:srgbClr>
          </a:solidFill>
          <a:ln>
            <a:noFill/>
          </a:ln>
        </p:spPr>
        <p:txBody>
          <a:bodyPr rtlCol="0" anchor="ctr"/>
          <a:lstStyle/>
          <a:p/>
        </p:txBody>
      </p:sp>
      <p:sp>
        <p:nvSpPr>
          <p:cNvPr id="10" name="!!Dot2"/>
          <p:cNvSpPr/>
          <p:nvPr/>
        </p:nvSpPr>
        <p:spPr>
          <a:xfrm>
            <a:off x="978408" y="6382512"/>
            <a:ext cx="68580" cy="68580"/>
          </a:xfrm>
          <a:prstGeom prst="ellipse">
            <a:avLst/>
          </a:prstGeom>
          <a:solidFill>
            <a:srgbClr val="F9A825">
              <a:alpha val="75000"/>
            </a:srgbClr>
          </a:solidFill>
          <a:ln>
            <a:noFill/>
          </a:ln>
        </p:spPr>
        <p:txBody>
          <a:bodyPr rtlCol="0" anchor="ctr"/>
          <a:lstStyle/>
          <a:p/>
        </p:txBody>
      </p:sp>
      <p:pic>
        <p:nvPicPr>
          <p:cNvPr id="11" name="!!Logo" descr="Logo Marin'Or Ivoire"/>
          <p:cNvPicPr>
            <a:picLocks noChangeAspect="1"/>
          </p:cNvPicPr>
          <p:nvPr/>
        </p:nvPicPr>
        <p:blipFill>
          <a:blip r:embed="rId3"/>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decel="100000"/>
                                        <p:tgtEl>
                                          <p:spTgt spid="4"/>
                                        </p:tgtEl>
                                      </p:cBhvr>
                                    </p:animEffect>
                                    <p:anim calcmode="lin" valueType="num">
                                      <p:cBhvr>
                                        <p:cTn id="8" dur="500" decel="100000" fill="hold"/>
                                        <p:tgtEl>
                                          <p:spTgt spid="4"/>
                                        </p:tgtEl>
                                        <p:attrNameLst>
                                          <p:attrName>ppt_x</p:attrName>
                                        </p:attrNameLst>
                                      </p:cBhvr>
                                      <p:tavLst>
                                        <p:tav tm="0">
                                          <p:val>
                                            <p:strVal val="#ppt_x"/>
                                          </p:val>
                                        </p:tav>
                                        <p:tav tm="100000">
                                          <p:val>
                                            <p:strVal val="#ppt_x"/>
                                          </p:val>
                                        </p:tav>
                                      </p:tavLst>
                                    </p:anim>
                                    <p:anim calcmode="lin" valueType="num">
                                      <p:cBhvr>
                                        <p:cTn id="9" dur="500" decel="100000" fill="hold"/>
                                        <p:tgtEl>
                                          <p:spTgt spid="4"/>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decel="100000"/>
                                        <p:tgtEl>
                                          <p:spTgt spid="6"/>
                                        </p:tgtEl>
                                      </p:cBhvr>
                                    </p:animEffect>
                                    <p:anim calcmode="lin" valueType="num">
                                      <p:cBhvr>
                                        <p:cTn id="13" dur="500" decel="100000" fill="hold"/>
                                        <p:tgtEl>
                                          <p:spTgt spid="6"/>
                                        </p:tgtEl>
                                        <p:attrNameLst>
                                          <p:attrName>ppt_x</p:attrName>
                                        </p:attrNameLst>
                                      </p:cBhvr>
                                      <p:tavLst>
                                        <p:tav tm="0">
                                          <p:val>
                                            <p:strVal val="#ppt_x"/>
                                          </p:val>
                                        </p:tav>
                                        <p:tav tm="100000">
                                          <p:val>
                                            <p:strVal val="#ppt_x"/>
                                          </p:val>
                                        </p:tav>
                                      </p:tavLst>
                                    </p:anim>
                                    <p:anim calcmode="lin" valueType="num">
                                      <p:cBhvr>
                                        <p:cTn id="14" dur="500" decel="100000" fill="hold"/>
                                        <p:tgtEl>
                                          <p:spTgt spid="6"/>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120 -0.0100 E" pathEditMode="relative" rAng="0" ptsTypes="AA">
                                      <p:cBhvr>
                                        <p:cTn id="16" dur="9000" fill="hold"/>
                                        <p:tgtEl>
                                          <p:spTgt spid="3"/>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2600" fill="hold"/>
                                        <p:tgtEl>
                                          <p:spTgt spid="8"/>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150" fill="hold"/>
                                        <p:tgtEl>
                                          <p:spTgt spid="9"/>
                                        </p:tgtEl>
                                        <p:attrNameLst>
                                          <p:attrName>ppt_x</p:attrName>
                                          <p:attrName>ppt_y</p:attrName>
                                        </p:attrNameLst>
                                      </p:cBhvr>
                                      <p:rCtr x="0" y="0"/>
                                    </p:animMotion>
                                  </p:childTnLst>
                                </p:cTn>
                              </p:par>
                              <p:par>
                                <p:cTn id="21"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2" dur="3700" fill="hold"/>
                                        <p:tgtEl>
                                          <p:spTgt spid="10"/>
                                        </p:tgtEl>
                                        <p:attrNameLst>
                                          <p:attrName>ppt_x</p:attrName>
                                          <p:attrName>ppt_y</p:attrName>
                                        </p:attrNameLst>
                                      </p:cBhvr>
                                      <p:rCtr x="0" y="0"/>
                                    </p:animMotion>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400" decel="100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8" grpId="0" animBg="1"/>
      <p:bldP spid="9" grpId="0" animBg="1"/>
      <p:bldP spid="10"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gradFill rotWithShape="1">
            <a:gsLst>
              <a:gs pos="0">
                <a:srgbClr val="8A1828"/>
              </a:gs>
              <a:gs pos="100000">
                <a:srgbClr val="68101C"/>
              </a:gs>
            </a:gsLst>
            <a:lin ang="2100000" scaled="0"/>
          </a:gradFill>
          <a:ln>
            <a:noFill/>
          </a:ln>
        </p:spPr>
        <p:txBody>
          <a:bodyPr rtlCol="0" anchor="ctr"/>
          <a:lstStyle/>
          <a:p/>
        </p:txBody>
      </p:sp>
      <p:pic>
        <p:nvPicPr>
          <p:cNvPr id="3" name="!!WM" descr="Filigrane : icône éléphant Marin’Or (décoratif)"/>
          <p:cNvPicPr>
            <a:picLocks noChangeAspect="1"/>
          </p:cNvPicPr>
          <p:nvPr/>
        </p:nvPicPr>
        <p:blipFill>
          <a:blip r:embed="rId2">
            <a:alphaModFix amt="7000"/>
          </a:blip>
          <a:srcRect/>
          <a:stretch>
            <a:fillRect/>
          </a:stretch>
        </p:blipFill>
        <p:spPr>
          <a:xfrm>
            <a:off x="7056729" y="3253165"/>
            <a:ext cx="6583680" cy="4506043"/>
          </a:xfrm>
          <a:prstGeom prst="rect">
            <a:avLst/>
          </a:prstGeom>
        </p:spPr>
      </p:pic>
      <p:sp>
        <p:nvSpPr>
          <p:cNvPr id="4" name="!!Title"/>
          <p:cNvSpPr txBox="1"/>
          <p:nvPr/>
        </p:nvSpPr>
        <p:spPr>
          <a:xfrm>
            <a:off x="685800" y="914400"/>
            <a:ext cx="7315200" cy="731520"/>
          </a:xfrm>
          <a:prstGeom prst="rect">
            <a:avLst/>
          </a:prstGeom>
          <a:noFill/>
        </p:spPr>
        <p:txBody>
          <a:bodyPr wrap="square" lIns="0" rIns="0" tIns="0" bIns="0" anchor="t">
            <a:noAutofit/>
          </a:bodyPr>
          <a:lstStyle/>
          <a:p>
            <a:pPr algn="l">
              <a:lnSpc>
                <a:spcPct val="95000"/>
              </a:lnSpc>
            </a:pPr>
            <a:r>
              <a:rPr sz="4000">
                <a:solidFill>
                  <a:srgbClr val="FFFFFF"/>
                </a:solidFill>
                <a:latin typeface="Cream Heavy"/>
              </a:rPr>
              <a:t>Hypothèse</a:t>
            </a:r>
          </a:p>
        </p:txBody>
      </p:sp>
      <p:sp>
        <p:nvSpPr>
          <p:cNvPr id="5" name="!!Body"/>
          <p:cNvSpPr txBox="1"/>
          <p:nvPr/>
        </p:nvSpPr>
        <p:spPr>
          <a:xfrm>
            <a:off x="685800" y="2057400"/>
            <a:ext cx="8778240" cy="1737360"/>
          </a:xfrm>
          <a:prstGeom prst="rect">
            <a:avLst/>
          </a:prstGeom>
          <a:noFill/>
        </p:spPr>
        <p:txBody>
          <a:bodyPr wrap="square" lIns="0" rIns="0" tIns="0" bIns="0" anchor="t">
            <a:noAutofit/>
          </a:bodyPr>
          <a:lstStyle/>
          <a:p>
            <a:pPr algn="l">
              <a:lnSpc>
                <a:spcPct val="112000"/>
              </a:lnSpc>
              <a:spcAft>
                <a:spcPts val="800"/>
              </a:spcAft>
            </a:pPr>
            <a:r>
              <a:rPr sz="2100">
                <a:solidFill>
                  <a:srgbClr val="FFECD1"/>
                </a:solidFill>
                <a:latin typeface="Montserrat Medium"/>
              </a:rPr>
              <a:t>Une stratégie combinant supports imprimés, contenus audiovisuels et présence numérique permettrait à la marque de gagner en visibilité et en crédibilité.</a:t>
            </a:r>
          </a:p>
        </p:txBody>
      </p:sp>
      <p:sp>
        <p:nvSpPr>
          <p:cNvPr id="6" name="!!Pill0"/>
          <p:cNvSpPr/>
          <p:nvPr/>
        </p:nvSpPr>
        <p:spPr>
          <a:xfrm>
            <a:off x="685800" y="4297680"/>
            <a:ext cx="2560320" cy="658368"/>
          </a:xfrm>
          <a:prstGeom prst="roundRect">
            <a:avLst>
              <a:gd name="adj" fmla="val 50000"/>
            </a:avLst>
          </a:prstGeom>
          <a:solidFill>
            <a:srgbClr val="FFFFFF">
              <a:alpha val="12000"/>
            </a:srgbClr>
          </a:solidFill>
          <a:ln w="12700">
            <a:solidFill>
              <a:srgbClr val="F9A825"/>
            </a:solidFill>
          </a:ln>
        </p:spPr>
        <p:txBody>
          <a:bodyPr rtlCol="0" anchor="ctr"/>
          <a:lstStyle/>
          <a:p/>
        </p:txBody>
      </p:sp>
      <p:pic>
        <p:nvPicPr>
          <p:cNvPr id="7" name="!!PillI0" descr="Imprimé"/>
          <p:cNvPicPr>
            <a:picLocks noChangeAspect="1"/>
          </p:cNvPicPr>
          <p:nvPr/>
        </p:nvPicPr>
        <p:blipFill>
          <a:blip r:embed="rId3"/>
          <a:stretch>
            <a:fillRect/>
          </a:stretch>
        </p:blipFill>
        <p:spPr>
          <a:xfrm>
            <a:off x="960120" y="4462272"/>
            <a:ext cx="329184" cy="329184"/>
          </a:xfrm>
          <a:prstGeom prst="rect">
            <a:avLst/>
          </a:prstGeom>
        </p:spPr>
      </p:pic>
      <p:sp>
        <p:nvSpPr>
          <p:cNvPr id="8" name="!!PillT0"/>
          <p:cNvSpPr txBox="1"/>
          <p:nvPr/>
        </p:nvSpPr>
        <p:spPr>
          <a:xfrm>
            <a:off x="1417320" y="4297680"/>
            <a:ext cx="1737360" cy="658368"/>
          </a:xfrm>
          <a:prstGeom prst="rect">
            <a:avLst/>
          </a:prstGeom>
          <a:noFill/>
        </p:spPr>
        <p:txBody>
          <a:bodyPr wrap="square" lIns="0" rIns="0" tIns="0" bIns="0" anchor="ctr">
            <a:noAutofit/>
          </a:bodyPr>
          <a:lstStyle/>
          <a:p>
            <a:pPr algn="l"/>
            <a:r>
              <a:rPr sz="1500" spc="100">
                <a:solidFill>
                  <a:srgbClr val="FFFFFF"/>
                </a:solidFill>
                <a:latin typeface="Montserrat SemiBold"/>
              </a:rPr>
              <a:t>Imprimé</a:t>
            </a:r>
          </a:p>
        </p:txBody>
      </p:sp>
      <p:sp>
        <p:nvSpPr>
          <p:cNvPr id="9" name="!!Pill1"/>
          <p:cNvSpPr/>
          <p:nvPr/>
        </p:nvSpPr>
        <p:spPr>
          <a:xfrm>
            <a:off x="3474720" y="4297680"/>
            <a:ext cx="2560320" cy="658368"/>
          </a:xfrm>
          <a:prstGeom prst="roundRect">
            <a:avLst>
              <a:gd name="adj" fmla="val 50000"/>
            </a:avLst>
          </a:prstGeom>
          <a:solidFill>
            <a:srgbClr val="FFFFFF">
              <a:alpha val="12000"/>
            </a:srgbClr>
          </a:solidFill>
          <a:ln w="12700">
            <a:solidFill>
              <a:srgbClr val="F9A825"/>
            </a:solidFill>
          </a:ln>
        </p:spPr>
        <p:txBody>
          <a:bodyPr rtlCol="0" anchor="ctr"/>
          <a:lstStyle/>
          <a:p/>
        </p:txBody>
      </p:sp>
      <p:pic>
        <p:nvPicPr>
          <p:cNvPr id="10" name="!!PillI1" descr="Audiovisuel"/>
          <p:cNvPicPr>
            <a:picLocks noChangeAspect="1"/>
          </p:cNvPicPr>
          <p:nvPr/>
        </p:nvPicPr>
        <p:blipFill>
          <a:blip r:embed="rId4"/>
          <a:stretch>
            <a:fillRect/>
          </a:stretch>
        </p:blipFill>
        <p:spPr>
          <a:xfrm>
            <a:off x="3749040" y="4462272"/>
            <a:ext cx="329184" cy="329184"/>
          </a:xfrm>
          <a:prstGeom prst="rect">
            <a:avLst/>
          </a:prstGeom>
        </p:spPr>
      </p:pic>
      <p:sp>
        <p:nvSpPr>
          <p:cNvPr id="11" name="!!PillT1"/>
          <p:cNvSpPr txBox="1"/>
          <p:nvPr/>
        </p:nvSpPr>
        <p:spPr>
          <a:xfrm>
            <a:off x="4206240" y="4297680"/>
            <a:ext cx="1737360" cy="658368"/>
          </a:xfrm>
          <a:prstGeom prst="rect">
            <a:avLst/>
          </a:prstGeom>
          <a:noFill/>
        </p:spPr>
        <p:txBody>
          <a:bodyPr wrap="square" lIns="0" rIns="0" tIns="0" bIns="0" anchor="ctr">
            <a:noAutofit/>
          </a:bodyPr>
          <a:lstStyle/>
          <a:p>
            <a:pPr algn="l"/>
            <a:r>
              <a:rPr sz="1500" spc="100">
                <a:solidFill>
                  <a:srgbClr val="FFFFFF"/>
                </a:solidFill>
                <a:latin typeface="Montserrat SemiBold"/>
              </a:rPr>
              <a:t>Audiovisuel</a:t>
            </a:r>
          </a:p>
        </p:txBody>
      </p:sp>
      <p:sp>
        <p:nvSpPr>
          <p:cNvPr id="12" name="!!Pill2"/>
          <p:cNvSpPr/>
          <p:nvPr/>
        </p:nvSpPr>
        <p:spPr>
          <a:xfrm>
            <a:off x="6263640" y="4297680"/>
            <a:ext cx="2560320" cy="658368"/>
          </a:xfrm>
          <a:prstGeom prst="roundRect">
            <a:avLst>
              <a:gd name="adj" fmla="val 50000"/>
            </a:avLst>
          </a:prstGeom>
          <a:solidFill>
            <a:srgbClr val="FFFFFF">
              <a:alpha val="12000"/>
            </a:srgbClr>
          </a:solidFill>
          <a:ln w="12700">
            <a:solidFill>
              <a:srgbClr val="F9A825"/>
            </a:solidFill>
          </a:ln>
        </p:spPr>
        <p:txBody>
          <a:bodyPr rtlCol="0" anchor="ctr"/>
          <a:lstStyle/>
          <a:p/>
        </p:txBody>
      </p:sp>
      <p:pic>
        <p:nvPicPr>
          <p:cNvPr id="13" name="!!PillI2" descr="Numérique"/>
          <p:cNvPicPr>
            <a:picLocks noChangeAspect="1"/>
          </p:cNvPicPr>
          <p:nvPr/>
        </p:nvPicPr>
        <p:blipFill>
          <a:blip r:embed="rId5"/>
          <a:stretch>
            <a:fillRect/>
          </a:stretch>
        </p:blipFill>
        <p:spPr>
          <a:xfrm>
            <a:off x="6537960" y="4462272"/>
            <a:ext cx="329184" cy="329184"/>
          </a:xfrm>
          <a:prstGeom prst="rect">
            <a:avLst/>
          </a:prstGeom>
        </p:spPr>
      </p:pic>
      <p:sp>
        <p:nvSpPr>
          <p:cNvPr id="14" name="!!PillT2"/>
          <p:cNvSpPr txBox="1"/>
          <p:nvPr/>
        </p:nvSpPr>
        <p:spPr>
          <a:xfrm>
            <a:off x="6995160" y="4297680"/>
            <a:ext cx="1737360" cy="658368"/>
          </a:xfrm>
          <a:prstGeom prst="rect">
            <a:avLst/>
          </a:prstGeom>
          <a:noFill/>
        </p:spPr>
        <p:txBody>
          <a:bodyPr wrap="square" lIns="0" rIns="0" tIns="0" bIns="0" anchor="ctr">
            <a:noAutofit/>
          </a:bodyPr>
          <a:lstStyle/>
          <a:p>
            <a:pPr algn="l"/>
            <a:r>
              <a:rPr sz="1500" spc="100">
                <a:solidFill>
                  <a:srgbClr val="FFFFFF"/>
                </a:solidFill>
                <a:latin typeface="Montserrat SemiBold"/>
              </a:rPr>
              <a:t>Numérique</a:t>
            </a:r>
          </a:p>
        </p:txBody>
      </p:sp>
      <p:sp>
        <p:nvSpPr>
          <p:cNvPr id="15" name="!!Accent"/>
          <p:cNvSpPr/>
          <p:nvPr/>
        </p:nvSpPr>
        <p:spPr>
          <a:xfrm>
            <a:off x="685800" y="338328"/>
            <a:ext cx="384048" cy="32004"/>
          </a:xfrm>
          <a:prstGeom prst="rect">
            <a:avLst/>
          </a:prstGeom>
          <a:solidFill>
            <a:srgbClr val="F9A825"/>
          </a:solidFill>
          <a:ln>
            <a:noFill/>
          </a:ln>
        </p:spPr>
        <p:txBody>
          <a:bodyPr rtlCol="0" anchor="ctr"/>
          <a:lstStyle/>
          <a:p/>
        </p:txBody>
      </p:sp>
      <p:sp>
        <p:nvSpPr>
          <p:cNvPr id="16"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F9A825"/>
                </a:solidFill>
                <a:latin typeface="Montserrat SemiBold"/>
              </a:rPr>
              <a:t>Problématique · hypothèse</a:t>
            </a:r>
          </a:p>
        </p:txBody>
      </p:sp>
      <p:sp>
        <p:nvSpPr>
          <p:cNvPr id="17"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F9A825"/>
                </a:solidFill>
                <a:latin typeface="Montserrat SemiBold"/>
              </a:rPr>
              <a:t>07</a:t>
            </a:r>
          </a:p>
        </p:txBody>
      </p:sp>
      <p:sp>
        <p:nvSpPr>
          <p:cNvPr id="18" name="!!Dot0"/>
          <p:cNvSpPr/>
          <p:nvPr/>
        </p:nvSpPr>
        <p:spPr>
          <a:xfrm>
            <a:off x="685800" y="6382512"/>
            <a:ext cx="68580" cy="68580"/>
          </a:xfrm>
          <a:prstGeom prst="ellipse">
            <a:avLst/>
          </a:prstGeom>
          <a:solidFill>
            <a:srgbClr val="F9A825">
              <a:alpha val="75000"/>
            </a:srgbClr>
          </a:solidFill>
          <a:ln>
            <a:noFill/>
          </a:ln>
        </p:spPr>
        <p:txBody>
          <a:bodyPr rtlCol="0" anchor="ctr"/>
          <a:lstStyle/>
          <a:p/>
        </p:txBody>
      </p:sp>
      <p:sp>
        <p:nvSpPr>
          <p:cNvPr id="19" name="!!Dot1"/>
          <p:cNvSpPr/>
          <p:nvPr/>
        </p:nvSpPr>
        <p:spPr>
          <a:xfrm>
            <a:off x="832104" y="6382512"/>
            <a:ext cx="68580" cy="68580"/>
          </a:xfrm>
          <a:prstGeom prst="ellipse">
            <a:avLst/>
          </a:prstGeom>
          <a:solidFill>
            <a:srgbClr val="FFECD1">
              <a:alpha val="75000"/>
            </a:srgbClr>
          </a:solidFill>
          <a:ln>
            <a:noFill/>
          </a:ln>
        </p:spPr>
        <p:txBody>
          <a:bodyPr rtlCol="0" anchor="ctr"/>
          <a:lstStyle/>
          <a:p/>
        </p:txBody>
      </p:sp>
      <p:sp>
        <p:nvSpPr>
          <p:cNvPr id="20" name="!!Dot2"/>
          <p:cNvSpPr/>
          <p:nvPr/>
        </p:nvSpPr>
        <p:spPr>
          <a:xfrm>
            <a:off x="978408" y="6382512"/>
            <a:ext cx="68580" cy="68580"/>
          </a:xfrm>
          <a:prstGeom prst="ellipse">
            <a:avLst/>
          </a:prstGeom>
          <a:solidFill>
            <a:srgbClr val="F9A825">
              <a:alpha val="75000"/>
            </a:srgbClr>
          </a:solidFill>
          <a:ln>
            <a:noFill/>
          </a:ln>
        </p:spPr>
        <p:txBody>
          <a:bodyPr rtlCol="0" anchor="ctr"/>
          <a:lstStyle/>
          <a:p/>
        </p:txBody>
      </p:sp>
      <p:pic>
        <p:nvPicPr>
          <p:cNvPr id="21" name="!!Logo" descr="Logo Marin'Or Ivoire"/>
          <p:cNvPicPr>
            <a:picLocks noChangeAspect="1"/>
          </p:cNvPicPr>
          <p:nvPr/>
        </p:nvPicPr>
        <p:blipFill>
          <a:blip r:embed="rId6"/>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decel="100000"/>
                                        <p:tgtEl>
                                          <p:spTgt spid="4"/>
                                        </p:tgtEl>
                                      </p:cBhvr>
                                    </p:animEffect>
                                    <p:anim calcmode="lin" valueType="num">
                                      <p:cBhvr>
                                        <p:cTn id="8" dur="500" decel="100000" fill="hold"/>
                                        <p:tgtEl>
                                          <p:spTgt spid="4"/>
                                        </p:tgtEl>
                                        <p:attrNameLst>
                                          <p:attrName>ppt_x</p:attrName>
                                        </p:attrNameLst>
                                      </p:cBhvr>
                                      <p:tavLst>
                                        <p:tav tm="0">
                                          <p:val>
                                            <p:strVal val="#ppt_x"/>
                                          </p:val>
                                        </p:tav>
                                        <p:tav tm="100000">
                                          <p:val>
                                            <p:strVal val="#ppt_x"/>
                                          </p:val>
                                        </p:tav>
                                      </p:tavLst>
                                    </p:anim>
                                    <p:anim calcmode="lin" valueType="num">
                                      <p:cBhvr>
                                        <p:cTn id="9" dur="500" decel="100000" fill="hold"/>
                                        <p:tgtEl>
                                          <p:spTgt spid="4"/>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decel="100000"/>
                                        <p:tgtEl>
                                          <p:spTgt spid="16"/>
                                        </p:tgtEl>
                                      </p:cBhvr>
                                    </p:animEffect>
                                    <p:anim calcmode="lin" valueType="num">
                                      <p:cBhvr>
                                        <p:cTn id="13" dur="500" decel="100000" fill="hold"/>
                                        <p:tgtEl>
                                          <p:spTgt spid="16"/>
                                        </p:tgtEl>
                                        <p:attrNameLst>
                                          <p:attrName>ppt_x</p:attrName>
                                        </p:attrNameLst>
                                      </p:cBhvr>
                                      <p:tavLst>
                                        <p:tav tm="0">
                                          <p:val>
                                            <p:strVal val="#ppt_x"/>
                                          </p:val>
                                        </p:tav>
                                        <p:tav tm="100000">
                                          <p:val>
                                            <p:strVal val="#ppt_x"/>
                                          </p:val>
                                        </p:tav>
                                      </p:tavLst>
                                    </p:anim>
                                    <p:anim calcmode="lin" valueType="num">
                                      <p:cBhvr>
                                        <p:cTn id="14" dur="500" decel="100000" fill="hold"/>
                                        <p:tgtEl>
                                          <p:spTgt spid="16"/>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120 -0.0100 E" pathEditMode="relative" rAng="0" ptsTypes="AA">
                                      <p:cBhvr>
                                        <p:cTn id="16" dur="9000" fill="hold"/>
                                        <p:tgtEl>
                                          <p:spTgt spid="3"/>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2600" fill="hold"/>
                                        <p:tgtEl>
                                          <p:spTgt spid="18"/>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150" fill="hold"/>
                                        <p:tgtEl>
                                          <p:spTgt spid="19"/>
                                        </p:tgtEl>
                                        <p:attrNameLst>
                                          <p:attrName>ppt_x</p:attrName>
                                          <p:attrName>ppt_y</p:attrName>
                                        </p:attrNameLst>
                                      </p:cBhvr>
                                      <p:rCtr x="0" y="0"/>
                                    </p:animMotion>
                                  </p:childTnLst>
                                </p:cTn>
                              </p:par>
                              <p:par>
                                <p:cTn id="21"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2" dur="3700" fill="hold"/>
                                        <p:tgtEl>
                                          <p:spTgt spid="20"/>
                                        </p:tgtEl>
                                        <p:attrNameLst>
                                          <p:attrName>ppt_x</p:attrName>
                                          <p:attrName>ppt_y</p:attrName>
                                        </p:attrNameLst>
                                      </p:cBhvr>
                                      <p:rCtr x="0" y="0"/>
                                    </p:animMotion>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left)">
                                      <p:cBhvr>
                                        <p:cTn id="26" dur="400" decel="1000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decel="100000"/>
                                        <p:tgtEl>
                                          <p:spTgt spid="5"/>
                                        </p:tgtEl>
                                      </p:cBhvr>
                                    </p:animEffect>
                                    <p:anim calcmode="lin" valueType="num">
                                      <p:cBhvr>
                                        <p:cTn id="33" dur="500" decel="100000" fill="hold"/>
                                        <p:tgtEl>
                                          <p:spTgt spid="5"/>
                                        </p:tgtEl>
                                        <p:attrNameLst>
                                          <p:attrName>ppt_x</p:attrName>
                                        </p:attrNameLst>
                                      </p:cBhvr>
                                      <p:tavLst>
                                        <p:tav tm="0">
                                          <p:val>
                                            <p:strVal val="#ppt_x"/>
                                          </p:val>
                                        </p:tav>
                                        <p:tav tm="100000">
                                          <p:val>
                                            <p:strVal val="#ppt_x"/>
                                          </p:val>
                                        </p:tav>
                                      </p:tavLst>
                                    </p:anim>
                                    <p:anim calcmode="lin" valueType="num">
                                      <p:cBhvr>
                                        <p:cTn id="34" dur="500" decel="100000" fill="hold"/>
                                        <p:tgtEl>
                                          <p:spTgt spid="5"/>
                                        </p:tgtEl>
                                        <p:attrNameLst>
                                          <p:attrName>ppt_y</p:attrName>
                                        </p:attrNameLst>
                                      </p:cBhvr>
                                      <p:tavLst>
                                        <p:tav tm="0">
                                          <p:val>
                                            <p:strVal val="#ppt_y+0.0278"/>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500" decel="100000"/>
                                        <p:tgtEl>
                                          <p:spTgt spid="6"/>
                                        </p:tgtEl>
                                      </p:cBhvr>
                                    </p:animEffect>
                                    <p:anim calcmode="lin" valueType="num">
                                      <p:cBhvr>
                                        <p:cTn id="40" dur="500" decel="100000" fill="hold"/>
                                        <p:tgtEl>
                                          <p:spTgt spid="6"/>
                                        </p:tgtEl>
                                        <p:attrNameLst>
                                          <p:attrName>ppt_x</p:attrName>
                                        </p:attrNameLst>
                                      </p:cBhvr>
                                      <p:tavLst>
                                        <p:tav tm="0">
                                          <p:val>
                                            <p:strVal val="#ppt_x"/>
                                          </p:val>
                                        </p:tav>
                                        <p:tav tm="100000">
                                          <p:val>
                                            <p:strVal val="#ppt_x"/>
                                          </p:val>
                                        </p:tav>
                                      </p:tavLst>
                                    </p:anim>
                                    <p:anim calcmode="lin" valueType="num">
                                      <p:cBhvr>
                                        <p:cTn id="41" dur="500" decel="100000" fill="hold"/>
                                        <p:tgtEl>
                                          <p:spTgt spid="6"/>
                                        </p:tgtEl>
                                        <p:attrNameLst>
                                          <p:attrName>ppt_y</p:attrName>
                                        </p:attrNameLst>
                                      </p:cBhvr>
                                      <p:tavLst>
                                        <p:tav tm="0">
                                          <p:val>
                                            <p:strVal val="#ppt_y+0.0278"/>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500" decel="100000"/>
                                        <p:tgtEl>
                                          <p:spTgt spid="7"/>
                                        </p:tgtEl>
                                      </p:cBhvr>
                                    </p:animEffect>
                                    <p:anim calcmode="lin" valueType="num">
                                      <p:cBhvr>
                                        <p:cTn id="45" dur="500" decel="100000" fill="hold"/>
                                        <p:tgtEl>
                                          <p:spTgt spid="7"/>
                                        </p:tgtEl>
                                        <p:attrNameLst>
                                          <p:attrName>ppt_x</p:attrName>
                                        </p:attrNameLst>
                                      </p:cBhvr>
                                      <p:tavLst>
                                        <p:tav tm="0">
                                          <p:val>
                                            <p:strVal val="#ppt_x"/>
                                          </p:val>
                                        </p:tav>
                                        <p:tav tm="100000">
                                          <p:val>
                                            <p:strVal val="#ppt_x"/>
                                          </p:val>
                                        </p:tav>
                                      </p:tavLst>
                                    </p:anim>
                                    <p:anim calcmode="lin" valueType="num">
                                      <p:cBhvr>
                                        <p:cTn id="46" dur="500" decel="100000" fill="hold"/>
                                        <p:tgtEl>
                                          <p:spTgt spid="7"/>
                                        </p:tgtEl>
                                        <p:attrNameLst>
                                          <p:attrName>ppt_y</p:attrName>
                                        </p:attrNameLst>
                                      </p:cBhvr>
                                      <p:tavLst>
                                        <p:tav tm="0">
                                          <p:val>
                                            <p:strVal val="#ppt_y+0.0278"/>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500" decel="100000"/>
                                        <p:tgtEl>
                                          <p:spTgt spid="8"/>
                                        </p:tgtEl>
                                      </p:cBhvr>
                                    </p:animEffect>
                                    <p:anim calcmode="lin" valueType="num">
                                      <p:cBhvr>
                                        <p:cTn id="50" dur="500" decel="100000" fill="hold"/>
                                        <p:tgtEl>
                                          <p:spTgt spid="8"/>
                                        </p:tgtEl>
                                        <p:attrNameLst>
                                          <p:attrName>ppt_x</p:attrName>
                                        </p:attrNameLst>
                                      </p:cBhvr>
                                      <p:tavLst>
                                        <p:tav tm="0">
                                          <p:val>
                                            <p:strVal val="#ppt_x"/>
                                          </p:val>
                                        </p:tav>
                                        <p:tav tm="100000">
                                          <p:val>
                                            <p:strVal val="#ppt_x"/>
                                          </p:val>
                                        </p:tav>
                                      </p:tavLst>
                                    </p:anim>
                                    <p:anim calcmode="lin" valueType="num">
                                      <p:cBhvr>
                                        <p:cTn id="51" dur="500" decel="100000" fill="hold"/>
                                        <p:tgtEl>
                                          <p:spTgt spid="8"/>
                                        </p:tgtEl>
                                        <p:attrNameLst>
                                          <p:attrName>ppt_y</p:attrName>
                                        </p:attrNameLst>
                                      </p:cBhvr>
                                      <p:tavLst>
                                        <p:tav tm="0">
                                          <p:val>
                                            <p:strVal val="#ppt_y+0.0278"/>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fade">
                                      <p:cBhvr>
                                        <p:cTn id="54" dur="500" decel="100000"/>
                                        <p:tgtEl>
                                          <p:spTgt spid="9"/>
                                        </p:tgtEl>
                                      </p:cBhvr>
                                    </p:animEffect>
                                    <p:anim calcmode="lin" valueType="num">
                                      <p:cBhvr>
                                        <p:cTn id="55" dur="500" decel="100000" fill="hold"/>
                                        <p:tgtEl>
                                          <p:spTgt spid="9"/>
                                        </p:tgtEl>
                                        <p:attrNameLst>
                                          <p:attrName>ppt_x</p:attrName>
                                        </p:attrNameLst>
                                      </p:cBhvr>
                                      <p:tavLst>
                                        <p:tav tm="0">
                                          <p:val>
                                            <p:strVal val="#ppt_x"/>
                                          </p:val>
                                        </p:tav>
                                        <p:tav tm="100000">
                                          <p:val>
                                            <p:strVal val="#ppt_x"/>
                                          </p:val>
                                        </p:tav>
                                      </p:tavLst>
                                    </p:anim>
                                    <p:anim calcmode="lin" valueType="num">
                                      <p:cBhvr>
                                        <p:cTn id="56" dur="500" decel="100000" fill="hold"/>
                                        <p:tgtEl>
                                          <p:spTgt spid="9"/>
                                        </p:tgtEl>
                                        <p:attrNameLst>
                                          <p:attrName>ppt_y</p:attrName>
                                        </p:attrNameLst>
                                      </p:cBhvr>
                                      <p:tavLst>
                                        <p:tav tm="0">
                                          <p:val>
                                            <p:strVal val="#ppt_y+0.0278"/>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fade">
                                      <p:cBhvr>
                                        <p:cTn id="59" dur="500" decel="100000"/>
                                        <p:tgtEl>
                                          <p:spTgt spid="10"/>
                                        </p:tgtEl>
                                      </p:cBhvr>
                                    </p:animEffect>
                                    <p:anim calcmode="lin" valueType="num">
                                      <p:cBhvr>
                                        <p:cTn id="60" dur="500" decel="100000" fill="hold"/>
                                        <p:tgtEl>
                                          <p:spTgt spid="10"/>
                                        </p:tgtEl>
                                        <p:attrNameLst>
                                          <p:attrName>ppt_x</p:attrName>
                                        </p:attrNameLst>
                                      </p:cBhvr>
                                      <p:tavLst>
                                        <p:tav tm="0">
                                          <p:val>
                                            <p:strVal val="#ppt_x"/>
                                          </p:val>
                                        </p:tav>
                                        <p:tav tm="100000">
                                          <p:val>
                                            <p:strVal val="#ppt_x"/>
                                          </p:val>
                                        </p:tav>
                                      </p:tavLst>
                                    </p:anim>
                                    <p:anim calcmode="lin" valueType="num">
                                      <p:cBhvr>
                                        <p:cTn id="61" dur="500" decel="100000" fill="hold"/>
                                        <p:tgtEl>
                                          <p:spTgt spid="10"/>
                                        </p:tgtEl>
                                        <p:attrNameLst>
                                          <p:attrName>ppt_y</p:attrName>
                                        </p:attrNameLst>
                                      </p:cBhvr>
                                      <p:tavLst>
                                        <p:tav tm="0">
                                          <p:val>
                                            <p:strVal val="#ppt_y+0.0278"/>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fade">
                                      <p:cBhvr>
                                        <p:cTn id="64" dur="500" decel="100000"/>
                                        <p:tgtEl>
                                          <p:spTgt spid="11"/>
                                        </p:tgtEl>
                                      </p:cBhvr>
                                    </p:animEffect>
                                    <p:anim calcmode="lin" valueType="num">
                                      <p:cBhvr>
                                        <p:cTn id="65" dur="500" decel="100000" fill="hold"/>
                                        <p:tgtEl>
                                          <p:spTgt spid="11"/>
                                        </p:tgtEl>
                                        <p:attrNameLst>
                                          <p:attrName>ppt_x</p:attrName>
                                        </p:attrNameLst>
                                      </p:cBhvr>
                                      <p:tavLst>
                                        <p:tav tm="0">
                                          <p:val>
                                            <p:strVal val="#ppt_x"/>
                                          </p:val>
                                        </p:tav>
                                        <p:tav tm="100000">
                                          <p:val>
                                            <p:strVal val="#ppt_x"/>
                                          </p:val>
                                        </p:tav>
                                      </p:tavLst>
                                    </p:anim>
                                    <p:anim calcmode="lin" valueType="num">
                                      <p:cBhvr>
                                        <p:cTn id="66" dur="500" decel="100000" fill="hold"/>
                                        <p:tgtEl>
                                          <p:spTgt spid="11"/>
                                        </p:tgtEl>
                                        <p:attrNameLst>
                                          <p:attrName>ppt_y</p:attrName>
                                        </p:attrNameLst>
                                      </p:cBhvr>
                                      <p:tavLst>
                                        <p:tav tm="0">
                                          <p:val>
                                            <p:strVal val="#ppt_y+0.0278"/>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2"/>
                                        </p:tgtEl>
                                        <p:attrNameLst>
                                          <p:attrName>style.visibility</p:attrName>
                                        </p:attrNameLst>
                                      </p:cBhvr>
                                      <p:to>
                                        <p:strVal val="visible"/>
                                      </p:to>
                                    </p:set>
                                    <p:animEffect transition="in" filter="fade">
                                      <p:cBhvr>
                                        <p:cTn id="69" dur="500" decel="100000"/>
                                        <p:tgtEl>
                                          <p:spTgt spid="12"/>
                                        </p:tgtEl>
                                      </p:cBhvr>
                                    </p:animEffect>
                                    <p:anim calcmode="lin" valueType="num">
                                      <p:cBhvr>
                                        <p:cTn id="70" dur="500" decel="100000" fill="hold"/>
                                        <p:tgtEl>
                                          <p:spTgt spid="12"/>
                                        </p:tgtEl>
                                        <p:attrNameLst>
                                          <p:attrName>ppt_x</p:attrName>
                                        </p:attrNameLst>
                                      </p:cBhvr>
                                      <p:tavLst>
                                        <p:tav tm="0">
                                          <p:val>
                                            <p:strVal val="#ppt_x"/>
                                          </p:val>
                                        </p:tav>
                                        <p:tav tm="100000">
                                          <p:val>
                                            <p:strVal val="#ppt_x"/>
                                          </p:val>
                                        </p:tav>
                                      </p:tavLst>
                                    </p:anim>
                                    <p:anim calcmode="lin" valueType="num">
                                      <p:cBhvr>
                                        <p:cTn id="71" dur="500" decel="100000" fill="hold"/>
                                        <p:tgtEl>
                                          <p:spTgt spid="12"/>
                                        </p:tgtEl>
                                        <p:attrNameLst>
                                          <p:attrName>ppt_y</p:attrName>
                                        </p:attrNameLst>
                                      </p:cBhvr>
                                      <p:tavLst>
                                        <p:tav tm="0">
                                          <p:val>
                                            <p:strVal val="#ppt_y+0.0278"/>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3"/>
                                        </p:tgtEl>
                                        <p:attrNameLst>
                                          <p:attrName>style.visibility</p:attrName>
                                        </p:attrNameLst>
                                      </p:cBhvr>
                                      <p:to>
                                        <p:strVal val="visible"/>
                                      </p:to>
                                    </p:set>
                                    <p:animEffect transition="in" filter="fade">
                                      <p:cBhvr>
                                        <p:cTn id="74" dur="500" decel="100000"/>
                                        <p:tgtEl>
                                          <p:spTgt spid="13"/>
                                        </p:tgtEl>
                                      </p:cBhvr>
                                    </p:animEffect>
                                    <p:anim calcmode="lin" valueType="num">
                                      <p:cBhvr>
                                        <p:cTn id="75" dur="500" decel="100000" fill="hold"/>
                                        <p:tgtEl>
                                          <p:spTgt spid="13"/>
                                        </p:tgtEl>
                                        <p:attrNameLst>
                                          <p:attrName>ppt_x</p:attrName>
                                        </p:attrNameLst>
                                      </p:cBhvr>
                                      <p:tavLst>
                                        <p:tav tm="0">
                                          <p:val>
                                            <p:strVal val="#ppt_x"/>
                                          </p:val>
                                        </p:tav>
                                        <p:tav tm="100000">
                                          <p:val>
                                            <p:strVal val="#ppt_x"/>
                                          </p:val>
                                        </p:tav>
                                      </p:tavLst>
                                    </p:anim>
                                    <p:anim calcmode="lin" valueType="num">
                                      <p:cBhvr>
                                        <p:cTn id="76" dur="500" decel="100000" fill="hold"/>
                                        <p:tgtEl>
                                          <p:spTgt spid="13"/>
                                        </p:tgtEl>
                                        <p:attrNameLst>
                                          <p:attrName>ppt_y</p:attrName>
                                        </p:attrNameLst>
                                      </p:cBhvr>
                                      <p:tavLst>
                                        <p:tav tm="0">
                                          <p:val>
                                            <p:strVal val="#ppt_y+0.0278"/>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fade">
                                      <p:cBhvr>
                                        <p:cTn id="79" dur="500" decel="100000"/>
                                        <p:tgtEl>
                                          <p:spTgt spid="14"/>
                                        </p:tgtEl>
                                      </p:cBhvr>
                                    </p:animEffect>
                                    <p:anim calcmode="lin" valueType="num">
                                      <p:cBhvr>
                                        <p:cTn id="80" dur="500" decel="100000" fill="hold"/>
                                        <p:tgtEl>
                                          <p:spTgt spid="14"/>
                                        </p:tgtEl>
                                        <p:attrNameLst>
                                          <p:attrName>ppt_x</p:attrName>
                                        </p:attrNameLst>
                                      </p:cBhvr>
                                      <p:tavLst>
                                        <p:tav tm="0">
                                          <p:val>
                                            <p:strVal val="#ppt_x"/>
                                          </p:val>
                                        </p:tav>
                                        <p:tav tm="100000">
                                          <p:val>
                                            <p:strVal val="#ppt_x"/>
                                          </p:val>
                                        </p:tav>
                                      </p:tavLst>
                                    </p:anim>
                                    <p:anim calcmode="lin" valueType="num">
                                      <p:cBhvr>
                                        <p:cTn id="81" dur="500" decel="100000" fill="hold"/>
                                        <p:tgtEl>
                                          <p:spTgt spid="14"/>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8" grpId="0"/>
      <p:bldP spid="9" grpId="0" animBg="1"/>
      <p:bldP spid="11" grpId="0"/>
      <p:bldP spid="12" grpId="0" animBg="1"/>
      <p:bldP spid="14" grpId="0"/>
      <p:bldP spid="15" grpId="0" animBg="1"/>
      <p:bldP spid="16" grpId="0"/>
      <p:bldP spid="18" grpId="0" animBg="1"/>
      <p:bldP spid="19" grpId="0" animBg="1"/>
      <p:bldP spid="20"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sp>
        <p:nvSpPr>
          <p:cNvPr id="3" name="!!Title"/>
          <p:cNvSpPr txBox="1"/>
          <p:nvPr/>
        </p:nvSpPr>
        <p:spPr>
          <a:xfrm>
            <a:off x="685800" y="914400"/>
            <a:ext cx="8229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Méthodologie qualitative</a:t>
            </a:r>
          </a:p>
        </p:txBody>
      </p:sp>
      <p:sp>
        <p:nvSpPr>
          <p:cNvPr id="4" name="!!Card0"/>
          <p:cNvSpPr/>
          <p:nvPr/>
        </p:nvSpPr>
        <p:spPr>
          <a:xfrm>
            <a:off x="685800" y="2148840"/>
            <a:ext cx="3383280" cy="2148840"/>
          </a:xfrm>
          <a:prstGeom prst="roundRect">
            <a:avLst>
              <a:gd name="adj" fmla="val 7000"/>
            </a:avLst>
          </a:prstGeom>
          <a:solidFill>
            <a:srgbClr val="F6E8EA"/>
          </a:solidFill>
          <a:ln>
            <a:noFill/>
          </a:ln>
        </p:spPr>
        <p:txBody>
          <a:bodyPr rtlCol="0" anchor="ctr"/>
          <a:lstStyle/>
          <a:p/>
        </p:txBody>
      </p:sp>
      <p:sp>
        <p:nvSpPr>
          <p:cNvPr id="5" name="!!CardI0"/>
          <p:cNvSpPr/>
          <p:nvPr/>
        </p:nvSpPr>
        <p:spPr>
          <a:xfrm>
            <a:off x="960120" y="2359152"/>
            <a:ext cx="603504" cy="603504"/>
          </a:xfrm>
          <a:prstGeom prst="ellipse">
            <a:avLst/>
          </a:prstGeom>
          <a:solidFill>
            <a:srgbClr val="7B1421"/>
          </a:solidFill>
          <a:ln>
            <a:noFill/>
          </a:ln>
        </p:spPr>
        <p:txBody>
          <a:bodyPr rtlCol="0" anchor="ctr"/>
          <a:lstStyle/>
          <a:p/>
        </p:txBody>
      </p:sp>
      <p:pic>
        <p:nvPicPr>
          <p:cNvPr id="6" name="!!CardI0Ico" descr="book-open-text_w.png"/>
          <p:cNvPicPr>
            <a:picLocks noChangeAspect="1"/>
          </p:cNvPicPr>
          <p:nvPr/>
        </p:nvPicPr>
        <p:blipFill>
          <a:blip r:embed="rId2"/>
          <a:stretch>
            <a:fillRect/>
          </a:stretch>
        </p:blipFill>
        <p:spPr>
          <a:xfrm>
            <a:off x="1092890" y="2491922"/>
            <a:ext cx="337962" cy="337962"/>
          </a:xfrm>
          <a:prstGeom prst="rect">
            <a:avLst/>
          </a:prstGeom>
        </p:spPr>
      </p:pic>
      <p:sp>
        <p:nvSpPr>
          <p:cNvPr id="7" name="!!CardT0"/>
          <p:cNvSpPr txBox="1"/>
          <p:nvPr/>
        </p:nvSpPr>
        <p:spPr>
          <a:xfrm>
            <a:off x="960120" y="3108960"/>
            <a:ext cx="2926080" cy="411480"/>
          </a:xfrm>
          <a:prstGeom prst="rect">
            <a:avLst/>
          </a:prstGeom>
          <a:noFill/>
        </p:spPr>
        <p:txBody>
          <a:bodyPr wrap="square" lIns="0" rIns="0" tIns="0" bIns="0" anchor="t">
            <a:noAutofit/>
          </a:bodyPr>
          <a:lstStyle/>
          <a:p>
            <a:pPr algn="l"/>
            <a:r>
              <a:rPr sz="1550">
                <a:solidFill>
                  <a:srgbClr val="2A070D"/>
                </a:solidFill>
                <a:latin typeface="Montserrat SemiBold"/>
              </a:rPr>
              <a:t>Recherche documentaire</a:t>
            </a:r>
          </a:p>
        </p:txBody>
      </p:sp>
      <p:sp>
        <p:nvSpPr>
          <p:cNvPr id="8" name="!!CardD0"/>
          <p:cNvSpPr txBox="1"/>
          <p:nvPr/>
        </p:nvSpPr>
        <p:spPr>
          <a:xfrm>
            <a:off x="960120" y="3538728"/>
            <a:ext cx="2926080" cy="640080"/>
          </a:xfrm>
          <a:prstGeom prst="rect">
            <a:avLst/>
          </a:prstGeom>
          <a:noFill/>
        </p:spPr>
        <p:txBody>
          <a:bodyPr wrap="square" lIns="0" rIns="0" tIns="0" bIns="0" anchor="t">
            <a:noAutofit/>
          </a:bodyPr>
          <a:lstStyle/>
          <a:p>
            <a:pPr algn="l"/>
            <a:r>
              <a:rPr sz="1250">
                <a:solidFill>
                  <a:srgbClr val="6E5A5D"/>
                </a:solidFill>
                <a:latin typeface="Montserrat Medium"/>
              </a:rPr>
              <a:t>Ouvrages, mémoires antérieurs</a:t>
            </a:r>
          </a:p>
        </p:txBody>
      </p:sp>
      <p:sp>
        <p:nvSpPr>
          <p:cNvPr id="9" name="!!Card1"/>
          <p:cNvSpPr/>
          <p:nvPr/>
        </p:nvSpPr>
        <p:spPr>
          <a:xfrm>
            <a:off x="4297680" y="2148840"/>
            <a:ext cx="3383280" cy="2148840"/>
          </a:xfrm>
          <a:prstGeom prst="roundRect">
            <a:avLst>
              <a:gd name="adj" fmla="val 7000"/>
            </a:avLst>
          </a:prstGeom>
          <a:solidFill>
            <a:srgbClr val="F6E8EA"/>
          </a:solidFill>
          <a:ln>
            <a:noFill/>
          </a:ln>
        </p:spPr>
        <p:txBody>
          <a:bodyPr rtlCol="0" anchor="ctr"/>
          <a:lstStyle/>
          <a:p/>
        </p:txBody>
      </p:sp>
      <p:sp>
        <p:nvSpPr>
          <p:cNvPr id="10" name="!!CardI1"/>
          <p:cNvSpPr/>
          <p:nvPr/>
        </p:nvSpPr>
        <p:spPr>
          <a:xfrm>
            <a:off x="4572000" y="2359152"/>
            <a:ext cx="603504" cy="603504"/>
          </a:xfrm>
          <a:prstGeom prst="ellipse">
            <a:avLst/>
          </a:prstGeom>
          <a:solidFill>
            <a:srgbClr val="7B1421"/>
          </a:solidFill>
          <a:ln>
            <a:noFill/>
          </a:ln>
        </p:spPr>
        <p:txBody>
          <a:bodyPr rtlCol="0" anchor="ctr"/>
          <a:lstStyle/>
          <a:p/>
        </p:txBody>
      </p:sp>
      <p:pic>
        <p:nvPicPr>
          <p:cNvPr id="11" name="!!CardI1Ico" descr="eye_w.png"/>
          <p:cNvPicPr>
            <a:picLocks noChangeAspect="1"/>
          </p:cNvPicPr>
          <p:nvPr/>
        </p:nvPicPr>
        <p:blipFill>
          <a:blip r:embed="rId3"/>
          <a:stretch>
            <a:fillRect/>
          </a:stretch>
        </p:blipFill>
        <p:spPr>
          <a:xfrm>
            <a:off x="4704770" y="2491922"/>
            <a:ext cx="337962" cy="337962"/>
          </a:xfrm>
          <a:prstGeom prst="rect">
            <a:avLst/>
          </a:prstGeom>
        </p:spPr>
      </p:pic>
      <p:sp>
        <p:nvSpPr>
          <p:cNvPr id="12" name="!!CardT1"/>
          <p:cNvSpPr txBox="1"/>
          <p:nvPr/>
        </p:nvSpPr>
        <p:spPr>
          <a:xfrm>
            <a:off x="4572000" y="3108960"/>
            <a:ext cx="2926080" cy="411480"/>
          </a:xfrm>
          <a:prstGeom prst="rect">
            <a:avLst/>
          </a:prstGeom>
          <a:noFill/>
        </p:spPr>
        <p:txBody>
          <a:bodyPr wrap="square" lIns="0" rIns="0" tIns="0" bIns="0" anchor="t">
            <a:noAutofit/>
          </a:bodyPr>
          <a:lstStyle/>
          <a:p>
            <a:pPr algn="l"/>
            <a:r>
              <a:rPr sz="1550">
                <a:solidFill>
                  <a:srgbClr val="2A070D"/>
                </a:solidFill>
                <a:latin typeface="Montserrat SemiBold"/>
              </a:rPr>
              <a:t>Observation directe</a:t>
            </a:r>
          </a:p>
        </p:txBody>
      </p:sp>
      <p:sp>
        <p:nvSpPr>
          <p:cNvPr id="13" name="!!CardD1"/>
          <p:cNvSpPr txBox="1"/>
          <p:nvPr/>
        </p:nvSpPr>
        <p:spPr>
          <a:xfrm>
            <a:off x="4572000" y="3538728"/>
            <a:ext cx="2926080" cy="640080"/>
          </a:xfrm>
          <a:prstGeom prst="rect">
            <a:avLst/>
          </a:prstGeom>
          <a:noFill/>
        </p:spPr>
        <p:txBody>
          <a:bodyPr wrap="square" lIns="0" rIns="0" tIns="0" bIns="0" anchor="t">
            <a:noAutofit/>
          </a:bodyPr>
          <a:lstStyle/>
          <a:p>
            <a:pPr algn="l"/>
            <a:r>
              <a:rPr sz="1250">
                <a:solidFill>
                  <a:srgbClr val="6E5A5D"/>
                </a:solidFill>
                <a:latin typeface="Montserrat Medium"/>
              </a:rPr>
              <a:t>Pendant le stage</a:t>
            </a:r>
          </a:p>
        </p:txBody>
      </p:sp>
      <p:sp>
        <p:nvSpPr>
          <p:cNvPr id="14" name="!!Card2"/>
          <p:cNvSpPr/>
          <p:nvPr/>
        </p:nvSpPr>
        <p:spPr>
          <a:xfrm>
            <a:off x="7909560" y="2148840"/>
            <a:ext cx="3383280" cy="2148840"/>
          </a:xfrm>
          <a:prstGeom prst="roundRect">
            <a:avLst>
              <a:gd name="adj" fmla="val 7000"/>
            </a:avLst>
          </a:prstGeom>
          <a:solidFill>
            <a:srgbClr val="F6E8EA"/>
          </a:solidFill>
          <a:ln>
            <a:noFill/>
          </a:ln>
        </p:spPr>
        <p:txBody>
          <a:bodyPr rtlCol="0" anchor="ctr"/>
          <a:lstStyle/>
          <a:p/>
        </p:txBody>
      </p:sp>
      <p:sp>
        <p:nvSpPr>
          <p:cNvPr id="15" name="!!CardI2"/>
          <p:cNvSpPr/>
          <p:nvPr/>
        </p:nvSpPr>
        <p:spPr>
          <a:xfrm>
            <a:off x="8183880" y="2359152"/>
            <a:ext cx="603504" cy="603504"/>
          </a:xfrm>
          <a:prstGeom prst="ellipse">
            <a:avLst/>
          </a:prstGeom>
          <a:solidFill>
            <a:srgbClr val="7B1421"/>
          </a:solidFill>
          <a:ln>
            <a:noFill/>
          </a:ln>
        </p:spPr>
        <p:txBody>
          <a:bodyPr rtlCol="0" anchor="ctr"/>
          <a:lstStyle/>
          <a:p/>
        </p:txBody>
      </p:sp>
      <p:pic>
        <p:nvPicPr>
          <p:cNvPr id="16" name="!!CardI2Ico" descr="messages-square_w.png"/>
          <p:cNvPicPr>
            <a:picLocks noChangeAspect="1"/>
          </p:cNvPicPr>
          <p:nvPr/>
        </p:nvPicPr>
        <p:blipFill>
          <a:blip r:embed="rId4"/>
          <a:stretch>
            <a:fillRect/>
          </a:stretch>
        </p:blipFill>
        <p:spPr>
          <a:xfrm>
            <a:off x="8316650" y="2491922"/>
            <a:ext cx="337962" cy="337962"/>
          </a:xfrm>
          <a:prstGeom prst="rect">
            <a:avLst/>
          </a:prstGeom>
        </p:spPr>
      </p:pic>
      <p:sp>
        <p:nvSpPr>
          <p:cNvPr id="17" name="!!CardT2"/>
          <p:cNvSpPr txBox="1"/>
          <p:nvPr/>
        </p:nvSpPr>
        <p:spPr>
          <a:xfrm>
            <a:off x="8183880" y="3108960"/>
            <a:ext cx="2926080" cy="411480"/>
          </a:xfrm>
          <a:prstGeom prst="rect">
            <a:avLst/>
          </a:prstGeom>
          <a:noFill/>
        </p:spPr>
        <p:txBody>
          <a:bodyPr wrap="square" lIns="0" rIns="0" tIns="0" bIns="0" anchor="t">
            <a:noAutofit/>
          </a:bodyPr>
          <a:lstStyle/>
          <a:p>
            <a:pPr algn="l"/>
            <a:r>
              <a:rPr sz="1550">
                <a:solidFill>
                  <a:srgbClr val="2A070D"/>
                </a:solidFill>
                <a:latin typeface="Montserrat SemiBold"/>
              </a:rPr>
              <a:t>Entretiens semi-directifs</a:t>
            </a:r>
          </a:p>
        </p:txBody>
      </p:sp>
      <p:sp>
        <p:nvSpPr>
          <p:cNvPr id="18" name="!!CardD2"/>
          <p:cNvSpPr txBox="1"/>
          <p:nvPr/>
        </p:nvSpPr>
        <p:spPr>
          <a:xfrm>
            <a:off x="8183880" y="3538728"/>
            <a:ext cx="2926080" cy="640080"/>
          </a:xfrm>
          <a:prstGeom prst="rect">
            <a:avLst/>
          </a:prstGeom>
          <a:noFill/>
        </p:spPr>
        <p:txBody>
          <a:bodyPr wrap="square" lIns="0" rIns="0" tIns="0" bIns="0" anchor="t">
            <a:noAutofit/>
          </a:bodyPr>
          <a:lstStyle/>
          <a:p>
            <a:pPr algn="l"/>
            <a:r>
              <a:rPr sz="1250">
                <a:solidFill>
                  <a:srgbClr val="6E5A5D"/>
                </a:solidFill>
                <a:latin typeface="Montserrat Medium"/>
              </a:rPr>
              <a:t>Porteur du projet, consommateurs</a:t>
            </a:r>
          </a:p>
        </p:txBody>
      </p:sp>
      <p:sp>
        <p:nvSpPr>
          <p:cNvPr id="19" name="!!Foot"/>
          <p:cNvSpPr txBox="1"/>
          <p:nvPr/>
        </p:nvSpPr>
        <p:spPr>
          <a:xfrm>
            <a:off x="685800" y="4754880"/>
            <a:ext cx="10820400" cy="365760"/>
          </a:xfrm>
          <a:prstGeom prst="rect">
            <a:avLst/>
          </a:prstGeom>
          <a:noFill/>
        </p:spPr>
        <p:txBody>
          <a:bodyPr wrap="square" lIns="0" rIns="0" tIns="0" bIns="0" anchor="t">
            <a:noAutofit/>
          </a:bodyPr>
          <a:lstStyle/>
          <a:p>
            <a:pPr algn="l">
              <a:lnSpc>
                <a:spcPct val="112000"/>
              </a:lnSpc>
              <a:spcAft>
                <a:spcPts val="800"/>
              </a:spcAft>
            </a:pPr>
            <a:r>
              <a:rPr sz="1400">
                <a:solidFill>
                  <a:srgbClr val="7B1421"/>
                </a:solidFill>
                <a:latin typeface="Montserrat SemiBold"/>
              </a:rPr>
              <a:t>Terrain : Abidjan</a:t>
            </a:r>
            <a:r>
              <a:rPr sz="1400">
                <a:solidFill>
                  <a:srgbClr val="2A070D"/>
                </a:solidFill>
                <a:latin typeface="Montserrat Medium"/>
              </a:rPr>
              <a:t> · diagnostic empirique et analyse comparative des marques concurrentes</a:t>
            </a:r>
          </a:p>
        </p:txBody>
      </p:sp>
      <p:sp>
        <p:nvSpPr>
          <p:cNvPr id="20" name="!!Accent"/>
          <p:cNvSpPr/>
          <p:nvPr/>
        </p:nvSpPr>
        <p:spPr>
          <a:xfrm>
            <a:off x="685800" y="338328"/>
            <a:ext cx="384048" cy="32004"/>
          </a:xfrm>
          <a:prstGeom prst="rect">
            <a:avLst/>
          </a:prstGeom>
          <a:solidFill>
            <a:srgbClr val="F9A825"/>
          </a:solidFill>
          <a:ln>
            <a:noFill/>
          </a:ln>
        </p:spPr>
        <p:txBody>
          <a:bodyPr rtlCol="0" anchor="ctr"/>
          <a:lstStyle/>
          <a:p/>
        </p:txBody>
      </p:sp>
      <p:sp>
        <p:nvSpPr>
          <p:cNvPr id="21"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01 · Méthodologie</a:t>
            </a:r>
          </a:p>
        </p:txBody>
      </p:sp>
      <p:sp>
        <p:nvSpPr>
          <p:cNvPr id="22"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08</a:t>
            </a:r>
          </a:p>
        </p:txBody>
      </p:sp>
      <p:sp>
        <p:nvSpPr>
          <p:cNvPr id="23"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24"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25"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26" name="!!Logo" descr="Logo Marin'Or Ivoire"/>
          <p:cNvPicPr>
            <a:picLocks noChangeAspect="1"/>
          </p:cNvPicPr>
          <p:nvPr/>
        </p:nvPicPr>
        <p:blipFill>
          <a:blip r:embed="rId5"/>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decel="1000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decel="100000"/>
                                        <p:tgtEl>
                                          <p:spTgt spid="21"/>
                                        </p:tgtEl>
                                      </p:cBhvr>
                                    </p:animEffect>
                                    <p:anim calcmode="lin" valueType="num">
                                      <p:cBhvr>
                                        <p:cTn id="13" dur="500" decel="100000" fill="hold"/>
                                        <p:tgtEl>
                                          <p:spTgt spid="21"/>
                                        </p:tgtEl>
                                        <p:attrNameLst>
                                          <p:attrName>ppt_x</p:attrName>
                                        </p:attrNameLst>
                                      </p:cBhvr>
                                      <p:tavLst>
                                        <p:tav tm="0">
                                          <p:val>
                                            <p:strVal val="#ppt_x"/>
                                          </p:val>
                                        </p:tav>
                                        <p:tav tm="100000">
                                          <p:val>
                                            <p:strVal val="#ppt_x"/>
                                          </p:val>
                                        </p:tav>
                                      </p:tavLst>
                                    </p:anim>
                                    <p:anim calcmode="lin" valueType="num">
                                      <p:cBhvr>
                                        <p:cTn id="14" dur="500" decel="100000" fill="hold"/>
                                        <p:tgtEl>
                                          <p:spTgt spid="21"/>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23"/>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24"/>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25"/>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wipe(left)">
                                      <p:cBhvr>
                                        <p:cTn id="24" dur="400" decel="1000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decel="100000"/>
                                        <p:tgtEl>
                                          <p:spTgt spid="4"/>
                                        </p:tgtEl>
                                      </p:cBhvr>
                                    </p:animEffect>
                                    <p:anim calcmode="lin" valueType="num">
                                      <p:cBhvr>
                                        <p:cTn id="31" dur="500" decel="100000" fill="hold"/>
                                        <p:tgtEl>
                                          <p:spTgt spid="4"/>
                                        </p:tgtEl>
                                        <p:attrNameLst>
                                          <p:attrName>ppt_x</p:attrName>
                                        </p:attrNameLst>
                                      </p:cBhvr>
                                      <p:tavLst>
                                        <p:tav tm="0">
                                          <p:val>
                                            <p:strVal val="#ppt_x"/>
                                          </p:val>
                                        </p:tav>
                                        <p:tav tm="100000">
                                          <p:val>
                                            <p:strVal val="#ppt_x"/>
                                          </p:val>
                                        </p:tav>
                                      </p:tavLst>
                                    </p:anim>
                                    <p:anim calcmode="lin" valueType="num">
                                      <p:cBhvr>
                                        <p:cTn id="32" dur="500" decel="100000" fill="hold"/>
                                        <p:tgtEl>
                                          <p:spTgt spid="4"/>
                                        </p:tgtEl>
                                        <p:attrNameLst>
                                          <p:attrName>ppt_y</p:attrName>
                                        </p:attrNameLst>
                                      </p:cBhvr>
                                      <p:tavLst>
                                        <p:tav tm="0">
                                          <p:val>
                                            <p:strVal val="#ppt_y+0.027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decel="100000"/>
                                        <p:tgtEl>
                                          <p:spTgt spid="5"/>
                                        </p:tgtEl>
                                      </p:cBhvr>
                                    </p:animEffect>
                                    <p:anim calcmode="lin" valueType="num">
                                      <p:cBhvr>
                                        <p:cTn id="36" dur="500" decel="100000" fill="hold"/>
                                        <p:tgtEl>
                                          <p:spTgt spid="5"/>
                                        </p:tgtEl>
                                        <p:attrNameLst>
                                          <p:attrName>ppt_x</p:attrName>
                                        </p:attrNameLst>
                                      </p:cBhvr>
                                      <p:tavLst>
                                        <p:tav tm="0">
                                          <p:val>
                                            <p:strVal val="#ppt_x"/>
                                          </p:val>
                                        </p:tav>
                                        <p:tav tm="100000">
                                          <p:val>
                                            <p:strVal val="#ppt_x"/>
                                          </p:val>
                                        </p:tav>
                                      </p:tavLst>
                                    </p:anim>
                                    <p:anim calcmode="lin" valueType="num">
                                      <p:cBhvr>
                                        <p:cTn id="37" dur="500" decel="100000" fill="hold"/>
                                        <p:tgtEl>
                                          <p:spTgt spid="5"/>
                                        </p:tgtEl>
                                        <p:attrNameLst>
                                          <p:attrName>ppt_y</p:attrName>
                                        </p:attrNameLst>
                                      </p:cBhvr>
                                      <p:tavLst>
                                        <p:tav tm="0">
                                          <p:val>
                                            <p:strVal val="#ppt_y+0.0278"/>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500" decel="100000"/>
                                        <p:tgtEl>
                                          <p:spTgt spid="6"/>
                                        </p:tgtEl>
                                      </p:cBhvr>
                                    </p:animEffect>
                                    <p:anim calcmode="lin" valueType="num">
                                      <p:cBhvr>
                                        <p:cTn id="41" dur="500" decel="100000" fill="hold"/>
                                        <p:tgtEl>
                                          <p:spTgt spid="6"/>
                                        </p:tgtEl>
                                        <p:attrNameLst>
                                          <p:attrName>ppt_x</p:attrName>
                                        </p:attrNameLst>
                                      </p:cBhvr>
                                      <p:tavLst>
                                        <p:tav tm="0">
                                          <p:val>
                                            <p:strVal val="#ppt_x"/>
                                          </p:val>
                                        </p:tav>
                                        <p:tav tm="100000">
                                          <p:val>
                                            <p:strVal val="#ppt_x"/>
                                          </p:val>
                                        </p:tav>
                                      </p:tavLst>
                                    </p:anim>
                                    <p:anim calcmode="lin" valueType="num">
                                      <p:cBhvr>
                                        <p:cTn id="42" dur="500" decel="100000" fill="hold"/>
                                        <p:tgtEl>
                                          <p:spTgt spid="6"/>
                                        </p:tgtEl>
                                        <p:attrNameLst>
                                          <p:attrName>ppt_y</p:attrName>
                                        </p:attrNameLst>
                                      </p:cBhvr>
                                      <p:tavLst>
                                        <p:tav tm="0">
                                          <p:val>
                                            <p:strVal val="#ppt_y+0.0278"/>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decel="100000"/>
                                        <p:tgtEl>
                                          <p:spTgt spid="7"/>
                                        </p:tgtEl>
                                      </p:cBhvr>
                                    </p:animEffect>
                                    <p:anim calcmode="lin" valueType="num">
                                      <p:cBhvr>
                                        <p:cTn id="46" dur="500" decel="100000" fill="hold"/>
                                        <p:tgtEl>
                                          <p:spTgt spid="7"/>
                                        </p:tgtEl>
                                        <p:attrNameLst>
                                          <p:attrName>ppt_x</p:attrName>
                                        </p:attrNameLst>
                                      </p:cBhvr>
                                      <p:tavLst>
                                        <p:tav tm="0">
                                          <p:val>
                                            <p:strVal val="#ppt_x"/>
                                          </p:val>
                                        </p:tav>
                                        <p:tav tm="100000">
                                          <p:val>
                                            <p:strVal val="#ppt_x"/>
                                          </p:val>
                                        </p:tav>
                                      </p:tavLst>
                                    </p:anim>
                                    <p:anim calcmode="lin" valueType="num">
                                      <p:cBhvr>
                                        <p:cTn id="47" dur="500" decel="100000" fill="hold"/>
                                        <p:tgtEl>
                                          <p:spTgt spid="7"/>
                                        </p:tgtEl>
                                        <p:attrNameLst>
                                          <p:attrName>ppt_y</p:attrName>
                                        </p:attrNameLst>
                                      </p:cBhvr>
                                      <p:tavLst>
                                        <p:tav tm="0">
                                          <p:val>
                                            <p:strVal val="#ppt_y+0.0278"/>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fade">
                                      <p:cBhvr>
                                        <p:cTn id="50" dur="500" decel="100000"/>
                                        <p:tgtEl>
                                          <p:spTgt spid="8"/>
                                        </p:tgtEl>
                                      </p:cBhvr>
                                    </p:animEffect>
                                    <p:anim calcmode="lin" valueType="num">
                                      <p:cBhvr>
                                        <p:cTn id="51" dur="500" decel="100000" fill="hold"/>
                                        <p:tgtEl>
                                          <p:spTgt spid="8"/>
                                        </p:tgtEl>
                                        <p:attrNameLst>
                                          <p:attrName>ppt_x</p:attrName>
                                        </p:attrNameLst>
                                      </p:cBhvr>
                                      <p:tavLst>
                                        <p:tav tm="0">
                                          <p:val>
                                            <p:strVal val="#ppt_x"/>
                                          </p:val>
                                        </p:tav>
                                        <p:tav tm="100000">
                                          <p:val>
                                            <p:strVal val="#ppt_x"/>
                                          </p:val>
                                        </p:tav>
                                      </p:tavLst>
                                    </p:anim>
                                    <p:anim calcmode="lin" valueType="num">
                                      <p:cBhvr>
                                        <p:cTn id="52" dur="500" decel="100000" fill="hold"/>
                                        <p:tgtEl>
                                          <p:spTgt spid="8"/>
                                        </p:tgtEl>
                                        <p:attrNameLst>
                                          <p:attrName>ppt_y</p:attrName>
                                        </p:attrNameLst>
                                      </p:cBhvr>
                                      <p:tavLst>
                                        <p:tav tm="0">
                                          <p:val>
                                            <p:strVal val="#ppt_y+0.0278"/>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fade">
                                      <p:cBhvr>
                                        <p:cTn id="57" dur="500" decel="100000"/>
                                        <p:tgtEl>
                                          <p:spTgt spid="9"/>
                                        </p:tgtEl>
                                      </p:cBhvr>
                                    </p:animEffect>
                                    <p:anim calcmode="lin" valueType="num">
                                      <p:cBhvr>
                                        <p:cTn id="58" dur="500" decel="100000" fill="hold"/>
                                        <p:tgtEl>
                                          <p:spTgt spid="9"/>
                                        </p:tgtEl>
                                        <p:attrNameLst>
                                          <p:attrName>ppt_x</p:attrName>
                                        </p:attrNameLst>
                                      </p:cBhvr>
                                      <p:tavLst>
                                        <p:tav tm="0">
                                          <p:val>
                                            <p:strVal val="#ppt_x"/>
                                          </p:val>
                                        </p:tav>
                                        <p:tav tm="100000">
                                          <p:val>
                                            <p:strVal val="#ppt_x"/>
                                          </p:val>
                                        </p:tav>
                                      </p:tavLst>
                                    </p:anim>
                                    <p:anim calcmode="lin" valueType="num">
                                      <p:cBhvr>
                                        <p:cTn id="59" dur="500" decel="100000" fill="hold"/>
                                        <p:tgtEl>
                                          <p:spTgt spid="9"/>
                                        </p:tgtEl>
                                        <p:attrNameLst>
                                          <p:attrName>ppt_y</p:attrName>
                                        </p:attrNameLst>
                                      </p:cBhvr>
                                      <p:tavLst>
                                        <p:tav tm="0">
                                          <p:val>
                                            <p:strVal val="#ppt_y+0.0278"/>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fade">
                                      <p:cBhvr>
                                        <p:cTn id="62" dur="500" decel="100000"/>
                                        <p:tgtEl>
                                          <p:spTgt spid="10"/>
                                        </p:tgtEl>
                                      </p:cBhvr>
                                    </p:animEffect>
                                    <p:anim calcmode="lin" valueType="num">
                                      <p:cBhvr>
                                        <p:cTn id="63" dur="500" decel="100000" fill="hold"/>
                                        <p:tgtEl>
                                          <p:spTgt spid="10"/>
                                        </p:tgtEl>
                                        <p:attrNameLst>
                                          <p:attrName>ppt_x</p:attrName>
                                        </p:attrNameLst>
                                      </p:cBhvr>
                                      <p:tavLst>
                                        <p:tav tm="0">
                                          <p:val>
                                            <p:strVal val="#ppt_x"/>
                                          </p:val>
                                        </p:tav>
                                        <p:tav tm="100000">
                                          <p:val>
                                            <p:strVal val="#ppt_x"/>
                                          </p:val>
                                        </p:tav>
                                      </p:tavLst>
                                    </p:anim>
                                    <p:anim calcmode="lin" valueType="num">
                                      <p:cBhvr>
                                        <p:cTn id="64" dur="500" decel="100000" fill="hold"/>
                                        <p:tgtEl>
                                          <p:spTgt spid="10"/>
                                        </p:tgtEl>
                                        <p:attrNameLst>
                                          <p:attrName>ppt_y</p:attrName>
                                        </p:attrNameLst>
                                      </p:cBhvr>
                                      <p:tavLst>
                                        <p:tav tm="0">
                                          <p:val>
                                            <p:strVal val="#ppt_y+0.0278"/>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fade">
                                      <p:cBhvr>
                                        <p:cTn id="67" dur="500" decel="100000"/>
                                        <p:tgtEl>
                                          <p:spTgt spid="11"/>
                                        </p:tgtEl>
                                      </p:cBhvr>
                                    </p:animEffect>
                                    <p:anim calcmode="lin" valueType="num">
                                      <p:cBhvr>
                                        <p:cTn id="68" dur="500" decel="100000" fill="hold"/>
                                        <p:tgtEl>
                                          <p:spTgt spid="11"/>
                                        </p:tgtEl>
                                        <p:attrNameLst>
                                          <p:attrName>ppt_x</p:attrName>
                                        </p:attrNameLst>
                                      </p:cBhvr>
                                      <p:tavLst>
                                        <p:tav tm="0">
                                          <p:val>
                                            <p:strVal val="#ppt_x"/>
                                          </p:val>
                                        </p:tav>
                                        <p:tav tm="100000">
                                          <p:val>
                                            <p:strVal val="#ppt_x"/>
                                          </p:val>
                                        </p:tav>
                                      </p:tavLst>
                                    </p:anim>
                                    <p:anim calcmode="lin" valueType="num">
                                      <p:cBhvr>
                                        <p:cTn id="69" dur="500" decel="100000" fill="hold"/>
                                        <p:tgtEl>
                                          <p:spTgt spid="11"/>
                                        </p:tgtEl>
                                        <p:attrNameLst>
                                          <p:attrName>ppt_y</p:attrName>
                                        </p:attrNameLst>
                                      </p:cBhvr>
                                      <p:tavLst>
                                        <p:tav tm="0">
                                          <p:val>
                                            <p:strVal val="#ppt_y+0.0278"/>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2"/>
                                        </p:tgtEl>
                                        <p:attrNameLst>
                                          <p:attrName>style.visibility</p:attrName>
                                        </p:attrNameLst>
                                      </p:cBhvr>
                                      <p:to>
                                        <p:strVal val="visible"/>
                                      </p:to>
                                    </p:set>
                                    <p:animEffect transition="in" filter="fade">
                                      <p:cBhvr>
                                        <p:cTn id="72" dur="500" decel="100000"/>
                                        <p:tgtEl>
                                          <p:spTgt spid="12"/>
                                        </p:tgtEl>
                                      </p:cBhvr>
                                    </p:animEffect>
                                    <p:anim calcmode="lin" valueType="num">
                                      <p:cBhvr>
                                        <p:cTn id="73" dur="500" decel="100000" fill="hold"/>
                                        <p:tgtEl>
                                          <p:spTgt spid="12"/>
                                        </p:tgtEl>
                                        <p:attrNameLst>
                                          <p:attrName>ppt_x</p:attrName>
                                        </p:attrNameLst>
                                      </p:cBhvr>
                                      <p:tavLst>
                                        <p:tav tm="0">
                                          <p:val>
                                            <p:strVal val="#ppt_x"/>
                                          </p:val>
                                        </p:tav>
                                        <p:tav tm="100000">
                                          <p:val>
                                            <p:strVal val="#ppt_x"/>
                                          </p:val>
                                        </p:tav>
                                      </p:tavLst>
                                    </p:anim>
                                    <p:anim calcmode="lin" valueType="num">
                                      <p:cBhvr>
                                        <p:cTn id="74" dur="500" decel="100000" fill="hold"/>
                                        <p:tgtEl>
                                          <p:spTgt spid="12"/>
                                        </p:tgtEl>
                                        <p:attrNameLst>
                                          <p:attrName>ppt_y</p:attrName>
                                        </p:attrNameLst>
                                      </p:cBhvr>
                                      <p:tavLst>
                                        <p:tav tm="0">
                                          <p:val>
                                            <p:strVal val="#ppt_y+0.0278"/>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3"/>
                                        </p:tgtEl>
                                        <p:attrNameLst>
                                          <p:attrName>style.visibility</p:attrName>
                                        </p:attrNameLst>
                                      </p:cBhvr>
                                      <p:to>
                                        <p:strVal val="visible"/>
                                      </p:to>
                                    </p:set>
                                    <p:animEffect transition="in" filter="fade">
                                      <p:cBhvr>
                                        <p:cTn id="77" dur="500" decel="100000"/>
                                        <p:tgtEl>
                                          <p:spTgt spid="13"/>
                                        </p:tgtEl>
                                      </p:cBhvr>
                                    </p:animEffect>
                                    <p:anim calcmode="lin" valueType="num">
                                      <p:cBhvr>
                                        <p:cTn id="78" dur="500" decel="100000" fill="hold"/>
                                        <p:tgtEl>
                                          <p:spTgt spid="13"/>
                                        </p:tgtEl>
                                        <p:attrNameLst>
                                          <p:attrName>ppt_x</p:attrName>
                                        </p:attrNameLst>
                                      </p:cBhvr>
                                      <p:tavLst>
                                        <p:tav tm="0">
                                          <p:val>
                                            <p:strVal val="#ppt_x"/>
                                          </p:val>
                                        </p:tav>
                                        <p:tav tm="100000">
                                          <p:val>
                                            <p:strVal val="#ppt_x"/>
                                          </p:val>
                                        </p:tav>
                                      </p:tavLst>
                                    </p:anim>
                                    <p:anim calcmode="lin" valueType="num">
                                      <p:cBhvr>
                                        <p:cTn id="79" dur="500" decel="100000" fill="hold"/>
                                        <p:tgtEl>
                                          <p:spTgt spid="13"/>
                                        </p:tgtEl>
                                        <p:attrNameLst>
                                          <p:attrName>ppt_y</p:attrName>
                                        </p:attrNameLst>
                                      </p:cBhvr>
                                      <p:tavLst>
                                        <p:tav tm="0">
                                          <p:val>
                                            <p:strVal val="#ppt_y+0.0278"/>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14"/>
                                        </p:tgtEl>
                                        <p:attrNameLst>
                                          <p:attrName>style.visibility</p:attrName>
                                        </p:attrNameLst>
                                      </p:cBhvr>
                                      <p:to>
                                        <p:strVal val="visible"/>
                                      </p:to>
                                    </p:set>
                                    <p:animEffect transition="in" filter="fade">
                                      <p:cBhvr>
                                        <p:cTn id="84" dur="500" decel="100000"/>
                                        <p:tgtEl>
                                          <p:spTgt spid="14"/>
                                        </p:tgtEl>
                                      </p:cBhvr>
                                    </p:animEffect>
                                    <p:anim calcmode="lin" valueType="num">
                                      <p:cBhvr>
                                        <p:cTn id="85" dur="500" decel="100000" fill="hold"/>
                                        <p:tgtEl>
                                          <p:spTgt spid="14"/>
                                        </p:tgtEl>
                                        <p:attrNameLst>
                                          <p:attrName>ppt_x</p:attrName>
                                        </p:attrNameLst>
                                      </p:cBhvr>
                                      <p:tavLst>
                                        <p:tav tm="0">
                                          <p:val>
                                            <p:strVal val="#ppt_x"/>
                                          </p:val>
                                        </p:tav>
                                        <p:tav tm="100000">
                                          <p:val>
                                            <p:strVal val="#ppt_x"/>
                                          </p:val>
                                        </p:tav>
                                      </p:tavLst>
                                    </p:anim>
                                    <p:anim calcmode="lin" valueType="num">
                                      <p:cBhvr>
                                        <p:cTn id="86" dur="500" decel="100000" fill="hold"/>
                                        <p:tgtEl>
                                          <p:spTgt spid="14"/>
                                        </p:tgtEl>
                                        <p:attrNameLst>
                                          <p:attrName>ppt_y</p:attrName>
                                        </p:attrNameLst>
                                      </p:cBhvr>
                                      <p:tavLst>
                                        <p:tav tm="0">
                                          <p:val>
                                            <p:strVal val="#ppt_y+0.0278"/>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15"/>
                                        </p:tgtEl>
                                        <p:attrNameLst>
                                          <p:attrName>style.visibility</p:attrName>
                                        </p:attrNameLst>
                                      </p:cBhvr>
                                      <p:to>
                                        <p:strVal val="visible"/>
                                      </p:to>
                                    </p:set>
                                    <p:animEffect transition="in" filter="fade">
                                      <p:cBhvr>
                                        <p:cTn id="89" dur="500" decel="100000"/>
                                        <p:tgtEl>
                                          <p:spTgt spid="15"/>
                                        </p:tgtEl>
                                      </p:cBhvr>
                                    </p:animEffect>
                                    <p:anim calcmode="lin" valueType="num">
                                      <p:cBhvr>
                                        <p:cTn id="90" dur="500" decel="100000" fill="hold"/>
                                        <p:tgtEl>
                                          <p:spTgt spid="15"/>
                                        </p:tgtEl>
                                        <p:attrNameLst>
                                          <p:attrName>ppt_x</p:attrName>
                                        </p:attrNameLst>
                                      </p:cBhvr>
                                      <p:tavLst>
                                        <p:tav tm="0">
                                          <p:val>
                                            <p:strVal val="#ppt_x"/>
                                          </p:val>
                                        </p:tav>
                                        <p:tav tm="100000">
                                          <p:val>
                                            <p:strVal val="#ppt_x"/>
                                          </p:val>
                                        </p:tav>
                                      </p:tavLst>
                                    </p:anim>
                                    <p:anim calcmode="lin" valueType="num">
                                      <p:cBhvr>
                                        <p:cTn id="91" dur="500" decel="100000" fill="hold"/>
                                        <p:tgtEl>
                                          <p:spTgt spid="15"/>
                                        </p:tgtEl>
                                        <p:attrNameLst>
                                          <p:attrName>ppt_y</p:attrName>
                                        </p:attrNameLst>
                                      </p:cBhvr>
                                      <p:tavLst>
                                        <p:tav tm="0">
                                          <p:val>
                                            <p:strVal val="#ppt_y+0.0278"/>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16"/>
                                        </p:tgtEl>
                                        <p:attrNameLst>
                                          <p:attrName>style.visibility</p:attrName>
                                        </p:attrNameLst>
                                      </p:cBhvr>
                                      <p:to>
                                        <p:strVal val="visible"/>
                                      </p:to>
                                    </p:set>
                                    <p:animEffect transition="in" filter="fade">
                                      <p:cBhvr>
                                        <p:cTn id="94" dur="500" decel="100000"/>
                                        <p:tgtEl>
                                          <p:spTgt spid="16"/>
                                        </p:tgtEl>
                                      </p:cBhvr>
                                    </p:animEffect>
                                    <p:anim calcmode="lin" valueType="num">
                                      <p:cBhvr>
                                        <p:cTn id="95" dur="500" decel="100000" fill="hold"/>
                                        <p:tgtEl>
                                          <p:spTgt spid="16"/>
                                        </p:tgtEl>
                                        <p:attrNameLst>
                                          <p:attrName>ppt_x</p:attrName>
                                        </p:attrNameLst>
                                      </p:cBhvr>
                                      <p:tavLst>
                                        <p:tav tm="0">
                                          <p:val>
                                            <p:strVal val="#ppt_x"/>
                                          </p:val>
                                        </p:tav>
                                        <p:tav tm="100000">
                                          <p:val>
                                            <p:strVal val="#ppt_x"/>
                                          </p:val>
                                        </p:tav>
                                      </p:tavLst>
                                    </p:anim>
                                    <p:anim calcmode="lin" valueType="num">
                                      <p:cBhvr>
                                        <p:cTn id="96" dur="500" decel="100000" fill="hold"/>
                                        <p:tgtEl>
                                          <p:spTgt spid="16"/>
                                        </p:tgtEl>
                                        <p:attrNameLst>
                                          <p:attrName>ppt_y</p:attrName>
                                        </p:attrNameLst>
                                      </p:cBhvr>
                                      <p:tavLst>
                                        <p:tav tm="0">
                                          <p:val>
                                            <p:strVal val="#ppt_y+0.0278"/>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17"/>
                                        </p:tgtEl>
                                        <p:attrNameLst>
                                          <p:attrName>style.visibility</p:attrName>
                                        </p:attrNameLst>
                                      </p:cBhvr>
                                      <p:to>
                                        <p:strVal val="visible"/>
                                      </p:to>
                                    </p:set>
                                    <p:animEffect transition="in" filter="fade">
                                      <p:cBhvr>
                                        <p:cTn id="99" dur="500" decel="100000"/>
                                        <p:tgtEl>
                                          <p:spTgt spid="17"/>
                                        </p:tgtEl>
                                      </p:cBhvr>
                                    </p:animEffect>
                                    <p:anim calcmode="lin" valueType="num">
                                      <p:cBhvr>
                                        <p:cTn id="100" dur="500" decel="100000" fill="hold"/>
                                        <p:tgtEl>
                                          <p:spTgt spid="17"/>
                                        </p:tgtEl>
                                        <p:attrNameLst>
                                          <p:attrName>ppt_x</p:attrName>
                                        </p:attrNameLst>
                                      </p:cBhvr>
                                      <p:tavLst>
                                        <p:tav tm="0">
                                          <p:val>
                                            <p:strVal val="#ppt_x"/>
                                          </p:val>
                                        </p:tav>
                                        <p:tav tm="100000">
                                          <p:val>
                                            <p:strVal val="#ppt_x"/>
                                          </p:val>
                                        </p:tav>
                                      </p:tavLst>
                                    </p:anim>
                                    <p:anim calcmode="lin" valueType="num">
                                      <p:cBhvr>
                                        <p:cTn id="101" dur="500" decel="100000" fill="hold"/>
                                        <p:tgtEl>
                                          <p:spTgt spid="17"/>
                                        </p:tgtEl>
                                        <p:attrNameLst>
                                          <p:attrName>ppt_y</p:attrName>
                                        </p:attrNameLst>
                                      </p:cBhvr>
                                      <p:tavLst>
                                        <p:tav tm="0">
                                          <p:val>
                                            <p:strVal val="#ppt_y+0.0278"/>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18"/>
                                        </p:tgtEl>
                                        <p:attrNameLst>
                                          <p:attrName>style.visibility</p:attrName>
                                        </p:attrNameLst>
                                      </p:cBhvr>
                                      <p:to>
                                        <p:strVal val="visible"/>
                                      </p:to>
                                    </p:set>
                                    <p:animEffect transition="in" filter="fade">
                                      <p:cBhvr>
                                        <p:cTn id="104" dur="500" decel="100000"/>
                                        <p:tgtEl>
                                          <p:spTgt spid="18"/>
                                        </p:tgtEl>
                                      </p:cBhvr>
                                    </p:animEffect>
                                    <p:anim calcmode="lin" valueType="num">
                                      <p:cBhvr>
                                        <p:cTn id="105" dur="500" decel="100000" fill="hold"/>
                                        <p:tgtEl>
                                          <p:spTgt spid="18"/>
                                        </p:tgtEl>
                                        <p:attrNameLst>
                                          <p:attrName>ppt_x</p:attrName>
                                        </p:attrNameLst>
                                      </p:cBhvr>
                                      <p:tavLst>
                                        <p:tav tm="0">
                                          <p:val>
                                            <p:strVal val="#ppt_x"/>
                                          </p:val>
                                        </p:tav>
                                        <p:tav tm="100000">
                                          <p:val>
                                            <p:strVal val="#ppt_x"/>
                                          </p:val>
                                        </p:tav>
                                      </p:tavLst>
                                    </p:anim>
                                    <p:anim calcmode="lin" valueType="num">
                                      <p:cBhvr>
                                        <p:cTn id="106" dur="500" decel="100000" fill="hold"/>
                                        <p:tgtEl>
                                          <p:spTgt spid="18"/>
                                        </p:tgtEl>
                                        <p:attrNameLst>
                                          <p:attrName>ppt_y</p:attrName>
                                        </p:attrNameLst>
                                      </p:cBhvr>
                                      <p:tavLst>
                                        <p:tav tm="0">
                                          <p:val>
                                            <p:strVal val="#ppt_y+0.0278"/>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grpId="0" nodeType="clickEffect">
                                  <p:stCondLst>
                                    <p:cond delay="0"/>
                                  </p:stCondLst>
                                  <p:childTnLst>
                                    <p:set>
                                      <p:cBhvr>
                                        <p:cTn id="110" dur="1" fill="hold">
                                          <p:stCondLst>
                                            <p:cond delay="0"/>
                                          </p:stCondLst>
                                        </p:cTn>
                                        <p:tgtEl>
                                          <p:spTgt spid="19"/>
                                        </p:tgtEl>
                                        <p:attrNameLst>
                                          <p:attrName>style.visibility</p:attrName>
                                        </p:attrNameLst>
                                      </p:cBhvr>
                                      <p:to>
                                        <p:strVal val="visible"/>
                                      </p:to>
                                    </p:set>
                                    <p:animEffect transition="in" filter="fade">
                                      <p:cBhvr>
                                        <p:cTn id="111" dur="500" decel="100000"/>
                                        <p:tgtEl>
                                          <p:spTgt spid="19"/>
                                        </p:tgtEl>
                                      </p:cBhvr>
                                    </p:animEffect>
                                    <p:anim calcmode="lin" valueType="num">
                                      <p:cBhvr>
                                        <p:cTn id="112" dur="500" decel="100000" fill="hold"/>
                                        <p:tgtEl>
                                          <p:spTgt spid="19"/>
                                        </p:tgtEl>
                                        <p:attrNameLst>
                                          <p:attrName>ppt_x</p:attrName>
                                        </p:attrNameLst>
                                      </p:cBhvr>
                                      <p:tavLst>
                                        <p:tav tm="0">
                                          <p:val>
                                            <p:strVal val="#ppt_x"/>
                                          </p:val>
                                        </p:tav>
                                        <p:tav tm="100000">
                                          <p:val>
                                            <p:strVal val="#ppt_x"/>
                                          </p:val>
                                        </p:tav>
                                      </p:tavLst>
                                    </p:anim>
                                    <p:anim calcmode="lin" valueType="num">
                                      <p:cBhvr>
                                        <p:cTn id="113" dur="500" decel="100000" fill="hold"/>
                                        <p:tgtEl>
                                          <p:spTgt spid="19"/>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7" grpId="0"/>
      <p:bldP spid="8" grpId="0"/>
      <p:bldP spid="9" grpId="0" animBg="1"/>
      <p:bldP spid="10" grpId="0" animBg="1"/>
      <p:bldP spid="12" grpId="0"/>
      <p:bldP spid="13" grpId="0"/>
      <p:bldP spid="14" grpId="0" animBg="1"/>
      <p:bldP spid="15" grpId="0" animBg="1"/>
      <p:bldP spid="17" grpId="0"/>
      <p:bldP spid="18" grpId="0"/>
      <p:bldP spid="19" grpId="0"/>
      <p:bldP spid="20" grpId="0" animBg="1"/>
      <p:bldP spid="21" grpId="0"/>
      <p:bldP spid="23" grpId="0" animBg="1"/>
      <p:bldP spid="24" grpId="0" animBg="1"/>
      <p:bldP spid="25"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sp>
        <p:nvSpPr>
          <p:cNvPr id="3" name="!!Title"/>
          <p:cNvSpPr txBox="1"/>
          <p:nvPr/>
        </p:nvSpPr>
        <p:spPr>
          <a:xfrm>
            <a:off x="685800" y="914400"/>
            <a:ext cx="73152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Objectifs</a:t>
            </a:r>
          </a:p>
        </p:txBody>
      </p:sp>
      <p:sp>
        <p:nvSpPr>
          <p:cNvPr id="4" name="!!Body"/>
          <p:cNvSpPr txBox="1"/>
          <p:nvPr/>
        </p:nvSpPr>
        <p:spPr>
          <a:xfrm>
            <a:off x="685800" y="1965960"/>
            <a:ext cx="9509760" cy="1097280"/>
          </a:xfrm>
          <a:prstGeom prst="rect">
            <a:avLst/>
          </a:prstGeom>
          <a:noFill/>
        </p:spPr>
        <p:txBody>
          <a:bodyPr wrap="square" lIns="0" rIns="0" tIns="0" bIns="0" anchor="t">
            <a:noAutofit/>
          </a:bodyPr>
          <a:lstStyle/>
          <a:p>
            <a:pPr algn="l">
              <a:lnSpc>
                <a:spcPct val="112000"/>
              </a:lnSpc>
              <a:spcAft>
                <a:spcPts val="800"/>
              </a:spcAft>
            </a:pPr>
            <a:r>
              <a:rPr sz="2000">
                <a:solidFill>
                  <a:srgbClr val="2A070D"/>
                </a:solidFill>
                <a:latin typeface="Montserrat Medium"/>
              </a:rPr>
              <a:t>Doter Marin'Or Ivoire d'une identité visuelle forte et de supports adaptés, pour renforcer sa notoriété.</a:t>
            </a:r>
          </a:p>
        </p:txBody>
      </p:sp>
      <p:sp>
        <p:nvSpPr>
          <p:cNvPr id="5" name="!!Card0"/>
          <p:cNvSpPr/>
          <p:nvPr/>
        </p:nvSpPr>
        <p:spPr>
          <a:xfrm>
            <a:off x="685800" y="3337560"/>
            <a:ext cx="5166360" cy="841248"/>
          </a:xfrm>
          <a:prstGeom prst="roundRect">
            <a:avLst>
              <a:gd name="adj" fmla="val 7000"/>
            </a:avLst>
          </a:prstGeom>
          <a:solidFill>
            <a:srgbClr val="F6E8EA"/>
          </a:solidFill>
          <a:ln>
            <a:noFill/>
          </a:ln>
        </p:spPr>
        <p:txBody>
          <a:bodyPr rtlCol="0" anchor="ctr"/>
          <a:lstStyle/>
          <a:p/>
        </p:txBody>
      </p:sp>
      <p:sp>
        <p:nvSpPr>
          <p:cNvPr id="6" name="!!CardI0"/>
          <p:cNvSpPr/>
          <p:nvPr/>
        </p:nvSpPr>
        <p:spPr>
          <a:xfrm>
            <a:off x="941832" y="3502152"/>
            <a:ext cx="512064" cy="512064"/>
          </a:xfrm>
          <a:prstGeom prst="ellipse">
            <a:avLst/>
          </a:prstGeom>
          <a:solidFill>
            <a:srgbClr val="7B1421"/>
          </a:solidFill>
          <a:ln>
            <a:noFill/>
          </a:ln>
        </p:spPr>
        <p:txBody>
          <a:bodyPr rtlCol="0" anchor="ctr"/>
          <a:lstStyle/>
          <a:p/>
        </p:txBody>
      </p:sp>
      <p:pic>
        <p:nvPicPr>
          <p:cNvPr id="7" name="!!CardI0Ico" descr="trending-up_w.png"/>
          <p:cNvPicPr>
            <a:picLocks noChangeAspect="1"/>
          </p:cNvPicPr>
          <p:nvPr/>
        </p:nvPicPr>
        <p:blipFill>
          <a:blip r:embed="rId2"/>
          <a:stretch>
            <a:fillRect/>
          </a:stretch>
        </p:blipFill>
        <p:spPr>
          <a:xfrm>
            <a:off x="1054486" y="3614806"/>
            <a:ext cx="286755" cy="286755"/>
          </a:xfrm>
          <a:prstGeom prst="rect">
            <a:avLst/>
          </a:prstGeom>
        </p:spPr>
      </p:pic>
      <p:sp>
        <p:nvSpPr>
          <p:cNvPr id="8" name="!!CardT0"/>
          <p:cNvSpPr txBox="1"/>
          <p:nvPr/>
        </p:nvSpPr>
        <p:spPr>
          <a:xfrm>
            <a:off x="1554480" y="3337560"/>
            <a:ext cx="4160520" cy="841248"/>
          </a:xfrm>
          <a:prstGeom prst="rect">
            <a:avLst/>
          </a:prstGeom>
          <a:noFill/>
        </p:spPr>
        <p:txBody>
          <a:bodyPr wrap="square" lIns="0" rIns="0" tIns="0" bIns="0" anchor="ctr">
            <a:noAutofit/>
          </a:bodyPr>
          <a:lstStyle/>
          <a:p>
            <a:pPr algn="l"/>
            <a:r>
              <a:rPr sz="1400">
                <a:solidFill>
                  <a:srgbClr val="2A070D"/>
                </a:solidFill>
                <a:latin typeface="Montserrat SemiBold"/>
              </a:rPr>
              <a:t>Accroître la visibilité</a:t>
            </a:r>
          </a:p>
        </p:txBody>
      </p:sp>
      <p:sp>
        <p:nvSpPr>
          <p:cNvPr id="9" name="!!Card1"/>
          <p:cNvSpPr/>
          <p:nvPr/>
        </p:nvSpPr>
        <p:spPr>
          <a:xfrm>
            <a:off x="6126480" y="3337560"/>
            <a:ext cx="5166360" cy="841248"/>
          </a:xfrm>
          <a:prstGeom prst="roundRect">
            <a:avLst>
              <a:gd name="adj" fmla="val 7000"/>
            </a:avLst>
          </a:prstGeom>
          <a:solidFill>
            <a:srgbClr val="F6E8EA"/>
          </a:solidFill>
          <a:ln>
            <a:noFill/>
          </a:ln>
        </p:spPr>
        <p:txBody>
          <a:bodyPr rtlCol="0" anchor="ctr"/>
          <a:lstStyle/>
          <a:p/>
        </p:txBody>
      </p:sp>
      <p:sp>
        <p:nvSpPr>
          <p:cNvPr id="10" name="!!CardI1"/>
          <p:cNvSpPr/>
          <p:nvPr/>
        </p:nvSpPr>
        <p:spPr>
          <a:xfrm>
            <a:off x="6382512" y="3502152"/>
            <a:ext cx="512064" cy="512064"/>
          </a:xfrm>
          <a:prstGeom prst="ellipse">
            <a:avLst/>
          </a:prstGeom>
          <a:solidFill>
            <a:srgbClr val="7B1421"/>
          </a:solidFill>
          <a:ln>
            <a:noFill/>
          </a:ln>
        </p:spPr>
        <p:txBody>
          <a:bodyPr rtlCol="0" anchor="ctr"/>
          <a:lstStyle/>
          <a:p/>
        </p:txBody>
      </p:sp>
      <p:pic>
        <p:nvPicPr>
          <p:cNvPr id="11" name="!!CardI1Ico" descr="palette_w.png"/>
          <p:cNvPicPr>
            <a:picLocks noChangeAspect="1"/>
          </p:cNvPicPr>
          <p:nvPr/>
        </p:nvPicPr>
        <p:blipFill>
          <a:blip r:embed="rId3"/>
          <a:stretch>
            <a:fillRect/>
          </a:stretch>
        </p:blipFill>
        <p:spPr>
          <a:xfrm>
            <a:off x="6495166" y="3614806"/>
            <a:ext cx="286755" cy="286755"/>
          </a:xfrm>
          <a:prstGeom prst="rect">
            <a:avLst/>
          </a:prstGeom>
        </p:spPr>
      </p:pic>
      <p:sp>
        <p:nvSpPr>
          <p:cNvPr id="12" name="!!CardT1"/>
          <p:cNvSpPr txBox="1"/>
          <p:nvPr/>
        </p:nvSpPr>
        <p:spPr>
          <a:xfrm>
            <a:off x="6995160" y="3337560"/>
            <a:ext cx="4160520" cy="841248"/>
          </a:xfrm>
          <a:prstGeom prst="rect">
            <a:avLst/>
          </a:prstGeom>
          <a:noFill/>
        </p:spPr>
        <p:txBody>
          <a:bodyPr wrap="square" lIns="0" rIns="0" tIns="0" bIns="0" anchor="ctr">
            <a:noAutofit/>
          </a:bodyPr>
          <a:lstStyle/>
          <a:p>
            <a:pPr algn="l"/>
            <a:r>
              <a:rPr sz="1400">
                <a:solidFill>
                  <a:srgbClr val="2A070D"/>
                </a:solidFill>
                <a:latin typeface="Montserrat SemiBold"/>
              </a:rPr>
              <a:t>Construire une identité cohérente</a:t>
            </a:r>
          </a:p>
        </p:txBody>
      </p:sp>
      <p:sp>
        <p:nvSpPr>
          <p:cNvPr id="13" name="!!Card2"/>
          <p:cNvSpPr/>
          <p:nvPr/>
        </p:nvSpPr>
        <p:spPr>
          <a:xfrm>
            <a:off x="685800" y="4389120"/>
            <a:ext cx="5166360" cy="841248"/>
          </a:xfrm>
          <a:prstGeom prst="roundRect">
            <a:avLst>
              <a:gd name="adj" fmla="val 7000"/>
            </a:avLst>
          </a:prstGeom>
          <a:solidFill>
            <a:srgbClr val="F6E8EA"/>
          </a:solidFill>
          <a:ln>
            <a:noFill/>
          </a:ln>
        </p:spPr>
        <p:txBody>
          <a:bodyPr rtlCol="0" anchor="ctr"/>
          <a:lstStyle/>
          <a:p/>
        </p:txBody>
      </p:sp>
      <p:sp>
        <p:nvSpPr>
          <p:cNvPr id="14" name="!!CardI2"/>
          <p:cNvSpPr/>
          <p:nvPr/>
        </p:nvSpPr>
        <p:spPr>
          <a:xfrm>
            <a:off x="941832" y="4553712"/>
            <a:ext cx="512064" cy="512064"/>
          </a:xfrm>
          <a:prstGeom prst="ellipse">
            <a:avLst/>
          </a:prstGeom>
          <a:solidFill>
            <a:srgbClr val="7B1421"/>
          </a:solidFill>
          <a:ln>
            <a:noFill/>
          </a:ln>
        </p:spPr>
        <p:txBody>
          <a:bodyPr rtlCol="0" anchor="ctr"/>
          <a:lstStyle/>
          <a:p/>
        </p:txBody>
      </p:sp>
      <p:pic>
        <p:nvPicPr>
          <p:cNvPr id="15" name="!!CardI2Ico" descr="layers_w.png"/>
          <p:cNvPicPr>
            <a:picLocks noChangeAspect="1"/>
          </p:cNvPicPr>
          <p:nvPr/>
        </p:nvPicPr>
        <p:blipFill>
          <a:blip r:embed="rId4"/>
          <a:stretch>
            <a:fillRect/>
          </a:stretch>
        </p:blipFill>
        <p:spPr>
          <a:xfrm>
            <a:off x="1054486" y="4666366"/>
            <a:ext cx="286755" cy="286755"/>
          </a:xfrm>
          <a:prstGeom prst="rect">
            <a:avLst/>
          </a:prstGeom>
        </p:spPr>
      </p:pic>
      <p:sp>
        <p:nvSpPr>
          <p:cNvPr id="16" name="!!CardT2"/>
          <p:cNvSpPr txBox="1"/>
          <p:nvPr/>
        </p:nvSpPr>
        <p:spPr>
          <a:xfrm>
            <a:off x="1554480" y="4389120"/>
            <a:ext cx="4160520" cy="841248"/>
          </a:xfrm>
          <a:prstGeom prst="rect">
            <a:avLst/>
          </a:prstGeom>
          <a:noFill/>
        </p:spPr>
        <p:txBody>
          <a:bodyPr wrap="square" lIns="0" rIns="0" tIns="0" bIns="0" anchor="ctr">
            <a:noAutofit/>
          </a:bodyPr>
          <a:lstStyle/>
          <a:p>
            <a:pPr algn="l"/>
            <a:r>
              <a:rPr sz="1400">
                <a:solidFill>
                  <a:srgbClr val="2A070D"/>
                </a:solidFill>
                <a:latin typeface="Montserrat SemiBold"/>
              </a:rPr>
              <a:t>Produire imprimé, audiovisuel et web</a:t>
            </a:r>
          </a:p>
        </p:txBody>
      </p:sp>
      <p:sp>
        <p:nvSpPr>
          <p:cNvPr id="17" name="!!Card3"/>
          <p:cNvSpPr/>
          <p:nvPr/>
        </p:nvSpPr>
        <p:spPr>
          <a:xfrm>
            <a:off x="6126480" y="4389120"/>
            <a:ext cx="5166360" cy="841248"/>
          </a:xfrm>
          <a:prstGeom prst="roundRect">
            <a:avLst>
              <a:gd name="adj" fmla="val 7000"/>
            </a:avLst>
          </a:prstGeom>
          <a:solidFill>
            <a:srgbClr val="F6E8EA"/>
          </a:solidFill>
          <a:ln>
            <a:noFill/>
          </a:ln>
        </p:spPr>
        <p:txBody>
          <a:bodyPr rtlCol="0" anchor="ctr"/>
          <a:lstStyle/>
          <a:p/>
        </p:txBody>
      </p:sp>
      <p:sp>
        <p:nvSpPr>
          <p:cNvPr id="18" name="!!CardI3"/>
          <p:cNvSpPr/>
          <p:nvPr/>
        </p:nvSpPr>
        <p:spPr>
          <a:xfrm>
            <a:off x="6382512" y="4553712"/>
            <a:ext cx="512064" cy="512064"/>
          </a:xfrm>
          <a:prstGeom prst="ellipse">
            <a:avLst/>
          </a:prstGeom>
          <a:solidFill>
            <a:srgbClr val="7B1421"/>
          </a:solidFill>
          <a:ln>
            <a:noFill/>
          </a:ln>
        </p:spPr>
        <p:txBody>
          <a:bodyPr rtlCol="0" anchor="ctr"/>
          <a:lstStyle/>
          <a:p/>
        </p:txBody>
      </p:sp>
      <p:pic>
        <p:nvPicPr>
          <p:cNvPr id="19" name="!!CardI3Ico" descr="globe_w.png"/>
          <p:cNvPicPr>
            <a:picLocks noChangeAspect="1"/>
          </p:cNvPicPr>
          <p:nvPr/>
        </p:nvPicPr>
        <p:blipFill>
          <a:blip r:embed="rId5"/>
          <a:stretch>
            <a:fillRect/>
          </a:stretch>
        </p:blipFill>
        <p:spPr>
          <a:xfrm>
            <a:off x="6495166" y="4666366"/>
            <a:ext cx="286755" cy="286755"/>
          </a:xfrm>
          <a:prstGeom prst="rect">
            <a:avLst/>
          </a:prstGeom>
        </p:spPr>
      </p:pic>
      <p:sp>
        <p:nvSpPr>
          <p:cNvPr id="20" name="!!CardT3"/>
          <p:cNvSpPr txBox="1"/>
          <p:nvPr/>
        </p:nvSpPr>
        <p:spPr>
          <a:xfrm>
            <a:off x="6995160" y="4389120"/>
            <a:ext cx="4160520" cy="841248"/>
          </a:xfrm>
          <a:prstGeom prst="rect">
            <a:avLst/>
          </a:prstGeom>
          <a:noFill/>
        </p:spPr>
        <p:txBody>
          <a:bodyPr wrap="square" lIns="0" rIns="0" tIns="0" bIns="0" anchor="ctr">
            <a:noAutofit/>
          </a:bodyPr>
          <a:lstStyle/>
          <a:p>
            <a:pPr algn="l"/>
            <a:r>
              <a:rPr sz="1400">
                <a:solidFill>
                  <a:srgbClr val="2A070D"/>
                </a:solidFill>
                <a:latin typeface="Montserrat SemiBold"/>
              </a:rPr>
              <a:t>Poser les bases d’une présence numérique</a:t>
            </a:r>
          </a:p>
        </p:txBody>
      </p:sp>
      <p:sp>
        <p:nvSpPr>
          <p:cNvPr id="21" name="!!Accent"/>
          <p:cNvSpPr/>
          <p:nvPr/>
        </p:nvSpPr>
        <p:spPr>
          <a:xfrm>
            <a:off x="685800" y="338328"/>
            <a:ext cx="384048" cy="32004"/>
          </a:xfrm>
          <a:prstGeom prst="rect">
            <a:avLst/>
          </a:prstGeom>
          <a:solidFill>
            <a:srgbClr val="F9A825"/>
          </a:solidFill>
          <a:ln>
            <a:noFill/>
          </a:ln>
        </p:spPr>
        <p:txBody>
          <a:bodyPr rtlCol="0" anchor="ctr"/>
          <a:lstStyle/>
          <a:p/>
        </p:txBody>
      </p:sp>
      <p:sp>
        <p:nvSpPr>
          <p:cNvPr id="22"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01 · Objectifs</a:t>
            </a:r>
          </a:p>
        </p:txBody>
      </p:sp>
      <p:sp>
        <p:nvSpPr>
          <p:cNvPr id="23"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09</a:t>
            </a:r>
          </a:p>
        </p:txBody>
      </p:sp>
      <p:sp>
        <p:nvSpPr>
          <p:cNvPr id="24"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25"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26"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27" name="!!Logo" descr="Logo Marin'Or Ivoire"/>
          <p:cNvPicPr>
            <a:picLocks noChangeAspect="1"/>
          </p:cNvPicPr>
          <p:nvPr/>
        </p:nvPicPr>
        <p:blipFill>
          <a:blip r:embed="rId6"/>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decel="1000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decel="100000"/>
                                        <p:tgtEl>
                                          <p:spTgt spid="22"/>
                                        </p:tgtEl>
                                      </p:cBhvr>
                                    </p:animEffect>
                                    <p:anim calcmode="lin" valueType="num">
                                      <p:cBhvr>
                                        <p:cTn id="13" dur="500" decel="100000" fill="hold"/>
                                        <p:tgtEl>
                                          <p:spTgt spid="22"/>
                                        </p:tgtEl>
                                        <p:attrNameLst>
                                          <p:attrName>ppt_x</p:attrName>
                                        </p:attrNameLst>
                                      </p:cBhvr>
                                      <p:tavLst>
                                        <p:tav tm="0">
                                          <p:val>
                                            <p:strVal val="#ppt_x"/>
                                          </p:val>
                                        </p:tav>
                                        <p:tav tm="100000">
                                          <p:val>
                                            <p:strVal val="#ppt_x"/>
                                          </p:val>
                                        </p:tav>
                                      </p:tavLst>
                                    </p:anim>
                                    <p:anim calcmode="lin" valueType="num">
                                      <p:cBhvr>
                                        <p:cTn id="14" dur="500" decel="100000" fill="hold"/>
                                        <p:tgtEl>
                                          <p:spTgt spid="22"/>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24"/>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25"/>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26"/>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wipe(left)">
                                      <p:cBhvr>
                                        <p:cTn id="24" dur="400" decel="1000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decel="100000"/>
                                        <p:tgtEl>
                                          <p:spTgt spid="4"/>
                                        </p:tgtEl>
                                      </p:cBhvr>
                                    </p:animEffect>
                                    <p:anim calcmode="lin" valueType="num">
                                      <p:cBhvr>
                                        <p:cTn id="31" dur="500" decel="100000" fill="hold"/>
                                        <p:tgtEl>
                                          <p:spTgt spid="4"/>
                                        </p:tgtEl>
                                        <p:attrNameLst>
                                          <p:attrName>ppt_x</p:attrName>
                                        </p:attrNameLst>
                                      </p:cBhvr>
                                      <p:tavLst>
                                        <p:tav tm="0">
                                          <p:val>
                                            <p:strVal val="#ppt_x"/>
                                          </p:val>
                                        </p:tav>
                                        <p:tav tm="100000">
                                          <p:val>
                                            <p:strVal val="#ppt_x"/>
                                          </p:val>
                                        </p:tav>
                                      </p:tavLst>
                                    </p:anim>
                                    <p:anim calcmode="lin" valueType="num">
                                      <p:cBhvr>
                                        <p:cTn id="32" dur="500" decel="100000" fill="hold"/>
                                        <p:tgtEl>
                                          <p:spTgt spid="4"/>
                                        </p:tgtEl>
                                        <p:attrNameLst>
                                          <p:attrName>ppt_y</p:attrName>
                                        </p:attrNameLst>
                                      </p:cBhvr>
                                      <p:tavLst>
                                        <p:tav tm="0">
                                          <p:val>
                                            <p:strVal val="#ppt_y+0.0278"/>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500" decel="100000"/>
                                        <p:tgtEl>
                                          <p:spTgt spid="5"/>
                                        </p:tgtEl>
                                      </p:cBhvr>
                                    </p:animEffect>
                                    <p:anim calcmode="lin" valueType="num">
                                      <p:cBhvr>
                                        <p:cTn id="38" dur="500" decel="100000" fill="hold"/>
                                        <p:tgtEl>
                                          <p:spTgt spid="5"/>
                                        </p:tgtEl>
                                        <p:attrNameLst>
                                          <p:attrName>ppt_x</p:attrName>
                                        </p:attrNameLst>
                                      </p:cBhvr>
                                      <p:tavLst>
                                        <p:tav tm="0">
                                          <p:val>
                                            <p:strVal val="#ppt_x"/>
                                          </p:val>
                                        </p:tav>
                                        <p:tav tm="100000">
                                          <p:val>
                                            <p:strVal val="#ppt_x"/>
                                          </p:val>
                                        </p:tav>
                                      </p:tavLst>
                                    </p:anim>
                                    <p:anim calcmode="lin" valueType="num">
                                      <p:cBhvr>
                                        <p:cTn id="39" dur="500" decel="100000" fill="hold"/>
                                        <p:tgtEl>
                                          <p:spTgt spid="5"/>
                                        </p:tgtEl>
                                        <p:attrNameLst>
                                          <p:attrName>ppt_y</p:attrName>
                                        </p:attrNameLst>
                                      </p:cBhvr>
                                      <p:tavLst>
                                        <p:tav tm="0">
                                          <p:val>
                                            <p:strVal val="#ppt_y+0.0278"/>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500" decel="100000"/>
                                        <p:tgtEl>
                                          <p:spTgt spid="6"/>
                                        </p:tgtEl>
                                      </p:cBhvr>
                                    </p:animEffect>
                                    <p:anim calcmode="lin" valueType="num">
                                      <p:cBhvr>
                                        <p:cTn id="43" dur="500" decel="100000" fill="hold"/>
                                        <p:tgtEl>
                                          <p:spTgt spid="6"/>
                                        </p:tgtEl>
                                        <p:attrNameLst>
                                          <p:attrName>ppt_x</p:attrName>
                                        </p:attrNameLst>
                                      </p:cBhvr>
                                      <p:tavLst>
                                        <p:tav tm="0">
                                          <p:val>
                                            <p:strVal val="#ppt_x"/>
                                          </p:val>
                                        </p:tav>
                                        <p:tav tm="100000">
                                          <p:val>
                                            <p:strVal val="#ppt_x"/>
                                          </p:val>
                                        </p:tav>
                                      </p:tavLst>
                                    </p:anim>
                                    <p:anim calcmode="lin" valueType="num">
                                      <p:cBhvr>
                                        <p:cTn id="44" dur="500" decel="100000" fill="hold"/>
                                        <p:tgtEl>
                                          <p:spTgt spid="6"/>
                                        </p:tgtEl>
                                        <p:attrNameLst>
                                          <p:attrName>ppt_y</p:attrName>
                                        </p:attrNameLst>
                                      </p:cBhvr>
                                      <p:tavLst>
                                        <p:tav tm="0">
                                          <p:val>
                                            <p:strVal val="#ppt_y+0.0278"/>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fade">
                                      <p:cBhvr>
                                        <p:cTn id="47" dur="500" decel="100000"/>
                                        <p:tgtEl>
                                          <p:spTgt spid="7"/>
                                        </p:tgtEl>
                                      </p:cBhvr>
                                    </p:animEffect>
                                    <p:anim calcmode="lin" valueType="num">
                                      <p:cBhvr>
                                        <p:cTn id="48" dur="500" decel="100000" fill="hold"/>
                                        <p:tgtEl>
                                          <p:spTgt spid="7"/>
                                        </p:tgtEl>
                                        <p:attrNameLst>
                                          <p:attrName>ppt_x</p:attrName>
                                        </p:attrNameLst>
                                      </p:cBhvr>
                                      <p:tavLst>
                                        <p:tav tm="0">
                                          <p:val>
                                            <p:strVal val="#ppt_x"/>
                                          </p:val>
                                        </p:tav>
                                        <p:tav tm="100000">
                                          <p:val>
                                            <p:strVal val="#ppt_x"/>
                                          </p:val>
                                        </p:tav>
                                      </p:tavLst>
                                    </p:anim>
                                    <p:anim calcmode="lin" valueType="num">
                                      <p:cBhvr>
                                        <p:cTn id="49" dur="500" decel="100000" fill="hold"/>
                                        <p:tgtEl>
                                          <p:spTgt spid="7"/>
                                        </p:tgtEl>
                                        <p:attrNameLst>
                                          <p:attrName>ppt_y</p:attrName>
                                        </p:attrNameLst>
                                      </p:cBhvr>
                                      <p:tavLst>
                                        <p:tav tm="0">
                                          <p:val>
                                            <p:strVal val="#ppt_y+0.0278"/>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fade">
                                      <p:cBhvr>
                                        <p:cTn id="52" dur="500" decel="100000"/>
                                        <p:tgtEl>
                                          <p:spTgt spid="8"/>
                                        </p:tgtEl>
                                      </p:cBhvr>
                                    </p:animEffect>
                                    <p:anim calcmode="lin" valueType="num">
                                      <p:cBhvr>
                                        <p:cTn id="53" dur="500" decel="100000" fill="hold"/>
                                        <p:tgtEl>
                                          <p:spTgt spid="8"/>
                                        </p:tgtEl>
                                        <p:attrNameLst>
                                          <p:attrName>ppt_x</p:attrName>
                                        </p:attrNameLst>
                                      </p:cBhvr>
                                      <p:tavLst>
                                        <p:tav tm="0">
                                          <p:val>
                                            <p:strVal val="#ppt_x"/>
                                          </p:val>
                                        </p:tav>
                                        <p:tav tm="100000">
                                          <p:val>
                                            <p:strVal val="#ppt_x"/>
                                          </p:val>
                                        </p:tav>
                                      </p:tavLst>
                                    </p:anim>
                                    <p:anim calcmode="lin" valueType="num">
                                      <p:cBhvr>
                                        <p:cTn id="54" dur="500" decel="100000" fill="hold"/>
                                        <p:tgtEl>
                                          <p:spTgt spid="8"/>
                                        </p:tgtEl>
                                        <p:attrNameLst>
                                          <p:attrName>ppt_y</p:attrName>
                                        </p:attrNameLst>
                                      </p:cBhvr>
                                      <p:tavLst>
                                        <p:tav tm="0">
                                          <p:val>
                                            <p:strVal val="#ppt_y+0.0278"/>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fade">
                                      <p:cBhvr>
                                        <p:cTn id="57" dur="500" decel="100000"/>
                                        <p:tgtEl>
                                          <p:spTgt spid="9"/>
                                        </p:tgtEl>
                                      </p:cBhvr>
                                    </p:animEffect>
                                    <p:anim calcmode="lin" valueType="num">
                                      <p:cBhvr>
                                        <p:cTn id="58" dur="500" decel="100000" fill="hold"/>
                                        <p:tgtEl>
                                          <p:spTgt spid="9"/>
                                        </p:tgtEl>
                                        <p:attrNameLst>
                                          <p:attrName>ppt_x</p:attrName>
                                        </p:attrNameLst>
                                      </p:cBhvr>
                                      <p:tavLst>
                                        <p:tav tm="0">
                                          <p:val>
                                            <p:strVal val="#ppt_x"/>
                                          </p:val>
                                        </p:tav>
                                        <p:tav tm="100000">
                                          <p:val>
                                            <p:strVal val="#ppt_x"/>
                                          </p:val>
                                        </p:tav>
                                      </p:tavLst>
                                    </p:anim>
                                    <p:anim calcmode="lin" valueType="num">
                                      <p:cBhvr>
                                        <p:cTn id="59" dur="500" decel="100000" fill="hold"/>
                                        <p:tgtEl>
                                          <p:spTgt spid="9"/>
                                        </p:tgtEl>
                                        <p:attrNameLst>
                                          <p:attrName>ppt_y</p:attrName>
                                        </p:attrNameLst>
                                      </p:cBhvr>
                                      <p:tavLst>
                                        <p:tav tm="0">
                                          <p:val>
                                            <p:strVal val="#ppt_y+0.0278"/>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fade">
                                      <p:cBhvr>
                                        <p:cTn id="62" dur="500" decel="100000"/>
                                        <p:tgtEl>
                                          <p:spTgt spid="10"/>
                                        </p:tgtEl>
                                      </p:cBhvr>
                                    </p:animEffect>
                                    <p:anim calcmode="lin" valueType="num">
                                      <p:cBhvr>
                                        <p:cTn id="63" dur="500" decel="100000" fill="hold"/>
                                        <p:tgtEl>
                                          <p:spTgt spid="10"/>
                                        </p:tgtEl>
                                        <p:attrNameLst>
                                          <p:attrName>ppt_x</p:attrName>
                                        </p:attrNameLst>
                                      </p:cBhvr>
                                      <p:tavLst>
                                        <p:tav tm="0">
                                          <p:val>
                                            <p:strVal val="#ppt_x"/>
                                          </p:val>
                                        </p:tav>
                                        <p:tav tm="100000">
                                          <p:val>
                                            <p:strVal val="#ppt_x"/>
                                          </p:val>
                                        </p:tav>
                                      </p:tavLst>
                                    </p:anim>
                                    <p:anim calcmode="lin" valueType="num">
                                      <p:cBhvr>
                                        <p:cTn id="64" dur="500" decel="100000" fill="hold"/>
                                        <p:tgtEl>
                                          <p:spTgt spid="10"/>
                                        </p:tgtEl>
                                        <p:attrNameLst>
                                          <p:attrName>ppt_y</p:attrName>
                                        </p:attrNameLst>
                                      </p:cBhvr>
                                      <p:tavLst>
                                        <p:tav tm="0">
                                          <p:val>
                                            <p:strVal val="#ppt_y+0.0278"/>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fade">
                                      <p:cBhvr>
                                        <p:cTn id="67" dur="500" decel="100000"/>
                                        <p:tgtEl>
                                          <p:spTgt spid="11"/>
                                        </p:tgtEl>
                                      </p:cBhvr>
                                    </p:animEffect>
                                    <p:anim calcmode="lin" valueType="num">
                                      <p:cBhvr>
                                        <p:cTn id="68" dur="500" decel="100000" fill="hold"/>
                                        <p:tgtEl>
                                          <p:spTgt spid="11"/>
                                        </p:tgtEl>
                                        <p:attrNameLst>
                                          <p:attrName>ppt_x</p:attrName>
                                        </p:attrNameLst>
                                      </p:cBhvr>
                                      <p:tavLst>
                                        <p:tav tm="0">
                                          <p:val>
                                            <p:strVal val="#ppt_x"/>
                                          </p:val>
                                        </p:tav>
                                        <p:tav tm="100000">
                                          <p:val>
                                            <p:strVal val="#ppt_x"/>
                                          </p:val>
                                        </p:tav>
                                      </p:tavLst>
                                    </p:anim>
                                    <p:anim calcmode="lin" valueType="num">
                                      <p:cBhvr>
                                        <p:cTn id="69" dur="500" decel="100000" fill="hold"/>
                                        <p:tgtEl>
                                          <p:spTgt spid="11"/>
                                        </p:tgtEl>
                                        <p:attrNameLst>
                                          <p:attrName>ppt_y</p:attrName>
                                        </p:attrNameLst>
                                      </p:cBhvr>
                                      <p:tavLst>
                                        <p:tav tm="0">
                                          <p:val>
                                            <p:strVal val="#ppt_y+0.0278"/>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2"/>
                                        </p:tgtEl>
                                        <p:attrNameLst>
                                          <p:attrName>style.visibility</p:attrName>
                                        </p:attrNameLst>
                                      </p:cBhvr>
                                      <p:to>
                                        <p:strVal val="visible"/>
                                      </p:to>
                                    </p:set>
                                    <p:animEffect transition="in" filter="fade">
                                      <p:cBhvr>
                                        <p:cTn id="72" dur="500" decel="100000"/>
                                        <p:tgtEl>
                                          <p:spTgt spid="12"/>
                                        </p:tgtEl>
                                      </p:cBhvr>
                                    </p:animEffect>
                                    <p:anim calcmode="lin" valueType="num">
                                      <p:cBhvr>
                                        <p:cTn id="73" dur="500" decel="100000" fill="hold"/>
                                        <p:tgtEl>
                                          <p:spTgt spid="12"/>
                                        </p:tgtEl>
                                        <p:attrNameLst>
                                          <p:attrName>ppt_x</p:attrName>
                                        </p:attrNameLst>
                                      </p:cBhvr>
                                      <p:tavLst>
                                        <p:tav tm="0">
                                          <p:val>
                                            <p:strVal val="#ppt_x"/>
                                          </p:val>
                                        </p:tav>
                                        <p:tav tm="100000">
                                          <p:val>
                                            <p:strVal val="#ppt_x"/>
                                          </p:val>
                                        </p:tav>
                                      </p:tavLst>
                                    </p:anim>
                                    <p:anim calcmode="lin" valueType="num">
                                      <p:cBhvr>
                                        <p:cTn id="74" dur="500" decel="100000" fill="hold"/>
                                        <p:tgtEl>
                                          <p:spTgt spid="12"/>
                                        </p:tgtEl>
                                        <p:attrNameLst>
                                          <p:attrName>ppt_y</p:attrName>
                                        </p:attrNameLst>
                                      </p:cBhvr>
                                      <p:tavLst>
                                        <p:tav tm="0">
                                          <p:val>
                                            <p:strVal val="#ppt_y+0.0278"/>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3"/>
                                        </p:tgtEl>
                                        <p:attrNameLst>
                                          <p:attrName>style.visibility</p:attrName>
                                        </p:attrNameLst>
                                      </p:cBhvr>
                                      <p:to>
                                        <p:strVal val="visible"/>
                                      </p:to>
                                    </p:set>
                                    <p:animEffect transition="in" filter="fade">
                                      <p:cBhvr>
                                        <p:cTn id="77" dur="500" decel="100000"/>
                                        <p:tgtEl>
                                          <p:spTgt spid="13"/>
                                        </p:tgtEl>
                                      </p:cBhvr>
                                    </p:animEffect>
                                    <p:anim calcmode="lin" valueType="num">
                                      <p:cBhvr>
                                        <p:cTn id="78" dur="500" decel="100000" fill="hold"/>
                                        <p:tgtEl>
                                          <p:spTgt spid="13"/>
                                        </p:tgtEl>
                                        <p:attrNameLst>
                                          <p:attrName>ppt_x</p:attrName>
                                        </p:attrNameLst>
                                      </p:cBhvr>
                                      <p:tavLst>
                                        <p:tav tm="0">
                                          <p:val>
                                            <p:strVal val="#ppt_x"/>
                                          </p:val>
                                        </p:tav>
                                        <p:tav tm="100000">
                                          <p:val>
                                            <p:strVal val="#ppt_x"/>
                                          </p:val>
                                        </p:tav>
                                      </p:tavLst>
                                    </p:anim>
                                    <p:anim calcmode="lin" valueType="num">
                                      <p:cBhvr>
                                        <p:cTn id="79" dur="500" decel="100000" fill="hold"/>
                                        <p:tgtEl>
                                          <p:spTgt spid="13"/>
                                        </p:tgtEl>
                                        <p:attrNameLst>
                                          <p:attrName>ppt_y</p:attrName>
                                        </p:attrNameLst>
                                      </p:cBhvr>
                                      <p:tavLst>
                                        <p:tav tm="0">
                                          <p:val>
                                            <p:strVal val="#ppt_y+0.0278"/>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4"/>
                                        </p:tgtEl>
                                        <p:attrNameLst>
                                          <p:attrName>style.visibility</p:attrName>
                                        </p:attrNameLst>
                                      </p:cBhvr>
                                      <p:to>
                                        <p:strVal val="visible"/>
                                      </p:to>
                                    </p:set>
                                    <p:animEffect transition="in" filter="fade">
                                      <p:cBhvr>
                                        <p:cTn id="82" dur="500" decel="100000"/>
                                        <p:tgtEl>
                                          <p:spTgt spid="14"/>
                                        </p:tgtEl>
                                      </p:cBhvr>
                                    </p:animEffect>
                                    <p:anim calcmode="lin" valueType="num">
                                      <p:cBhvr>
                                        <p:cTn id="83" dur="500" decel="100000" fill="hold"/>
                                        <p:tgtEl>
                                          <p:spTgt spid="14"/>
                                        </p:tgtEl>
                                        <p:attrNameLst>
                                          <p:attrName>ppt_x</p:attrName>
                                        </p:attrNameLst>
                                      </p:cBhvr>
                                      <p:tavLst>
                                        <p:tav tm="0">
                                          <p:val>
                                            <p:strVal val="#ppt_x"/>
                                          </p:val>
                                        </p:tav>
                                        <p:tav tm="100000">
                                          <p:val>
                                            <p:strVal val="#ppt_x"/>
                                          </p:val>
                                        </p:tav>
                                      </p:tavLst>
                                    </p:anim>
                                    <p:anim calcmode="lin" valueType="num">
                                      <p:cBhvr>
                                        <p:cTn id="84" dur="500" decel="100000" fill="hold"/>
                                        <p:tgtEl>
                                          <p:spTgt spid="14"/>
                                        </p:tgtEl>
                                        <p:attrNameLst>
                                          <p:attrName>ppt_y</p:attrName>
                                        </p:attrNameLst>
                                      </p:cBhvr>
                                      <p:tavLst>
                                        <p:tav tm="0">
                                          <p:val>
                                            <p:strVal val="#ppt_y+0.0278"/>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15"/>
                                        </p:tgtEl>
                                        <p:attrNameLst>
                                          <p:attrName>style.visibility</p:attrName>
                                        </p:attrNameLst>
                                      </p:cBhvr>
                                      <p:to>
                                        <p:strVal val="visible"/>
                                      </p:to>
                                    </p:set>
                                    <p:animEffect transition="in" filter="fade">
                                      <p:cBhvr>
                                        <p:cTn id="87" dur="500" decel="100000"/>
                                        <p:tgtEl>
                                          <p:spTgt spid="15"/>
                                        </p:tgtEl>
                                      </p:cBhvr>
                                    </p:animEffect>
                                    <p:anim calcmode="lin" valueType="num">
                                      <p:cBhvr>
                                        <p:cTn id="88" dur="500" decel="100000" fill="hold"/>
                                        <p:tgtEl>
                                          <p:spTgt spid="15"/>
                                        </p:tgtEl>
                                        <p:attrNameLst>
                                          <p:attrName>ppt_x</p:attrName>
                                        </p:attrNameLst>
                                      </p:cBhvr>
                                      <p:tavLst>
                                        <p:tav tm="0">
                                          <p:val>
                                            <p:strVal val="#ppt_x"/>
                                          </p:val>
                                        </p:tav>
                                        <p:tav tm="100000">
                                          <p:val>
                                            <p:strVal val="#ppt_x"/>
                                          </p:val>
                                        </p:tav>
                                      </p:tavLst>
                                    </p:anim>
                                    <p:anim calcmode="lin" valueType="num">
                                      <p:cBhvr>
                                        <p:cTn id="89" dur="500" decel="100000" fill="hold"/>
                                        <p:tgtEl>
                                          <p:spTgt spid="15"/>
                                        </p:tgtEl>
                                        <p:attrNameLst>
                                          <p:attrName>ppt_y</p:attrName>
                                        </p:attrNameLst>
                                      </p:cBhvr>
                                      <p:tavLst>
                                        <p:tav tm="0">
                                          <p:val>
                                            <p:strVal val="#ppt_y+0.0278"/>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16"/>
                                        </p:tgtEl>
                                        <p:attrNameLst>
                                          <p:attrName>style.visibility</p:attrName>
                                        </p:attrNameLst>
                                      </p:cBhvr>
                                      <p:to>
                                        <p:strVal val="visible"/>
                                      </p:to>
                                    </p:set>
                                    <p:animEffect transition="in" filter="fade">
                                      <p:cBhvr>
                                        <p:cTn id="92" dur="500" decel="100000"/>
                                        <p:tgtEl>
                                          <p:spTgt spid="16"/>
                                        </p:tgtEl>
                                      </p:cBhvr>
                                    </p:animEffect>
                                    <p:anim calcmode="lin" valueType="num">
                                      <p:cBhvr>
                                        <p:cTn id="93" dur="500" decel="100000" fill="hold"/>
                                        <p:tgtEl>
                                          <p:spTgt spid="16"/>
                                        </p:tgtEl>
                                        <p:attrNameLst>
                                          <p:attrName>ppt_x</p:attrName>
                                        </p:attrNameLst>
                                      </p:cBhvr>
                                      <p:tavLst>
                                        <p:tav tm="0">
                                          <p:val>
                                            <p:strVal val="#ppt_x"/>
                                          </p:val>
                                        </p:tav>
                                        <p:tav tm="100000">
                                          <p:val>
                                            <p:strVal val="#ppt_x"/>
                                          </p:val>
                                        </p:tav>
                                      </p:tavLst>
                                    </p:anim>
                                    <p:anim calcmode="lin" valueType="num">
                                      <p:cBhvr>
                                        <p:cTn id="94" dur="500" decel="100000" fill="hold"/>
                                        <p:tgtEl>
                                          <p:spTgt spid="16"/>
                                        </p:tgtEl>
                                        <p:attrNameLst>
                                          <p:attrName>ppt_y</p:attrName>
                                        </p:attrNameLst>
                                      </p:cBhvr>
                                      <p:tavLst>
                                        <p:tav tm="0">
                                          <p:val>
                                            <p:strVal val="#ppt_y+0.0278"/>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17"/>
                                        </p:tgtEl>
                                        <p:attrNameLst>
                                          <p:attrName>style.visibility</p:attrName>
                                        </p:attrNameLst>
                                      </p:cBhvr>
                                      <p:to>
                                        <p:strVal val="visible"/>
                                      </p:to>
                                    </p:set>
                                    <p:animEffect transition="in" filter="fade">
                                      <p:cBhvr>
                                        <p:cTn id="97" dur="500" decel="100000"/>
                                        <p:tgtEl>
                                          <p:spTgt spid="17"/>
                                        </p:tgtEl>
                                      </p:cBhvr>
                                    </p:animEffect>
                                    <p:anim calcmode="lin" valueType="num">
                                      <p:cBhvr>
                                        <p:cTn id="98" dur="500" decel="100000" fill="hold"/>
                                        <p:tgtEl>
                                          <p:spTgt spid="17"/>
                                        </p:tgtEl>
                                        <p:attrNameLst>
                                          <p:attrName>ppt_x</p:attrName>
                                        </p:attrNameLst>
                                      </p:cBhvr>
                                      <p:tavLst>
                                        <p:tav tm="0">
                                          <p:val>
                                            <p:strVal val="#ppt_x"/>
                                          </p:val>
                                        </p:tav>
                                        <p:tav tm="100000">
                                          <p:val>
                                            <p:strVal val="#ppt_x"/>
                                          </p:val>
                                        </p:tav>
                                      </p:tavLst>
                                    </p:anim>
                                    <p:anim calcmode="lin" valueType="num">
                                      <p:cBhvr>
                                        <p:cTn id="99" dur="500" decel="100000" fill="hold"/>
                                        <p:tgtEl>
                                          <p:spTgt spid="17"/>
                                        </p:tgtEl>
                                        <p:attrNameLst>
                                          <p:attrName>ppt_y</p:attrName>
                                        </p:attrNameLst>
                                      </p:cBhvr>
                                      <p:tavLst>
                                        <p:tav tm="0">
                                          <p:val>
                                            <p:strVal val="#ppt_y+0.0278"/>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18"/>
                                        </p:tgtEl>
                                        <p:attrNameLst>
                                          <p:attrName>style.visibility</p:attrName>
                                        </p:attrNameLst>
                                      </p:cBhvr>
                                      <p:to>
                                        <p:strVal val="visible"/>
                                      </p:to>
                                    </p:set>
                                    <p:animEffect transition="in" filter="fade">
                                      <p:cBhvr>
                                        <p:cTn id="102" dur="500" decel="100000"/>
                                        <p:tgtEl>
                                          <p:spTgt spid="18"/>
                                        </p:tgtEl>
                                      </p:cBhvr>
                                    </p:animEffect>
                                    <p:anim calcmode="lin" valueType="num">
                                      <p:cBhvr>
                                        <p:cTn id="103" dur="500" decel="100000" fill="hold"/>
                                        <p:tgtEl>
                                          <p:spTgt spid="18"/>
                                        </p:tgtEl>
                                        <p:attrNameLst>
                                          <p:attrName>ppt_x</p:attrName>
                                        </p:attrNameLst>
                                      </p:cBhvr>
                                      <p:tavLst>
                                        <p:tav tm="0">
                                          <p:val>
                                            <p:strVal val="#ppt_x"/>
                                          </p:val>
                                        </p:tav>
                                        <p:tav tm="100000">
                                          <p:val>
                                            <p:strVal val="#ppt_x"/>
                                          </p:val>
                                        </p:tav>
                                      </p:tavLst>
                                    </p:anim>
                                    <p:anim calcmode="lin" valueType="num">
                                      <p:cBhvr>
                                        <p:cTn id="104" dur="500" decel="100000" fill="hold"/>
                                        <p:tgtEl>
                                          <p:spTgt spid="18"/>
                                        </p:tgtEl>
                                        <p:attrNameLst>
                                          <p:attrName>ppt_y</p:attrName>
                                        </p:attrNameLst>
                                      </p:cBhvr>
                                      <p:tavLst>
                                        <p:tav tm="0">
                                          <p:val>
                                            <p:strVal val="#ppt_y+0.0278"/>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19"/>
                                        </p:tgtEl>
                                        <p:attrNameLst>
                                          <p:attrName>style.visibility</p:attrName>
                                        </p:attrNameLst>
                                      </p:cBhvr>
                                      <p:to>
                                        <p:strVal val="visible"/>
                                      </p:to>
                                    </p:set>
                                    <p:animEffect transition="in" filter="fade">
                                      <p:cBhvr>
                                        <p:cTn id="107" dur="500" decel="100000"/>
                                        <p:tgtEl>
                                          <p:spTgt spid="19"/>
                                        </p:tgtEl>
                                      </p:cBhvr>
                                    </p:animEffect>
                                    <p:anim calcmode="lin" valueType="num">
                                      <p:cBhvr>
                                        <p:cTn id="108" dur="500" decel="100000" fill="hold"/>
                                        <p:tgtEl>
                                          <p:spTgt spid="19"/>
                                        </p:tgtEl>
                                        <p:attrNameLst>
                                          <p:attrName>ppt_x</p:attrName>
                                        </p:attrNameLst>
                                      </p:cBhvr>
                                      <p:tavLst>
                                        <p:tav tm="0">
                                          <p:val>
                                            <p:strVal val="#ppt_x"/>
                                          </p:val>
                                        </p:tav>
                                        <p:tav tm="100000">
                                          <p:val>
                                            <p:strVal val="#ppt_x"/>
                                          </p:val>
                                        </p:tav>
                                      </p:tavLst>
                                    </p:anim>
                                    <p:anim calcmode="lin" valueType="num">
                                      <p:cBhvr>
                                        <p:cTn id="109" dur="500" decel="100000" fill="hold"/>
                                        <p:tgtEl>
                                          <p:spTgt spid="19"/>
                                        </p:tgtEl>
                                        <p:attrNameLst>
                                          <p:attrName>ppt_y</p:attrName>
                                        </p:attrNameLst>
                                      </p:cBhvr>
                                      <p:tavLst>
                                        <p:tav tm="0">
                                          <p:val>
                                            <p:strVal val="#ppt_y+0.0278"/>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20"/>
                                        </p:tgtEl>
                                        <p:attrNameLst>
                                          <p:attrName>style.visibility</p:attrName>
                                        </p:attrNameLst>
                                      </p:cBhvr>
                                      <p:to>
                                        <p:strVal val="visible"/>
                                      </p:to>
                                    </p:set>
                                    <p:animEffect transition="in" filter="fade">
                                      <p:cBhvr>
                                        <p:cTn id="112" dur="500" decel="100000"/>
                                        <p:tgtEl>
                                          <p:spTgt spid="20"/>
                                        </p:tgtEl>
                                      </p:cBhvr>
                                    </p:animEffect>
                                    <p:anim calcmode="lin" valueType="num">
                                      <p:cBhvr>
                                        <p:cTn id="113" dur="500" decel="100000" fill="hold"/>
                                        <p:tgtEl>
                                          <p:spTgt spid="20"/>
                                        </p:tgtEl>
                                        <p:attrNameLst>
                                          <p:attrName>ppt_x</p:attrName>
                                        </p:attrNameLst>
                                      </p:cBhvr>
                                      <p:tavLst>
                                        <p:tav tm="0">
                                          <p:val>
                                            <p:strVal val="#ppt_x"/>
                                          </p:val>
                                        </p:tav>
                                        <p:tav tm="100000">
                                          <p:val>
                                            <p:strVal val="#ppt_x"/>
                                          </p:val>
                                        </p:tav>
                                      </p:tavLst>
                                    </p:anim>
                                    <p:anim calcmode="lin" valueType="num">
                                      <p:cBhvr>
                                        <p:cTn id="114" dur="500" decel="100000" fill="hold"/>
                                        <p:tgtEl>
                                          <p:spTgt spid="20"/>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P spid="6" grpId="0" animBg="1"/>
      <p:bldP spid="8" grpId="0"/>
      <p:bldP spid="9" grpId="0" animBg="1"/>
      <p:bldP spid="10" grpId="0" animBg="1"/>
      <p:bldP spid="12" grpId="0"/>
      <p:bldP spid="13" grpId="0" animBg="1"/>
      <p:bldP spid="14" grpId="0" animBg="1"/>
      <p:bldP spid="16" grpId="0"/>
      <p:bldP spid="17" grpId="0" animBg="1"/>
      <p:bldP spid="18" grpId="0" animBg="1"/>
      <p:bldP spid="20" grpId="0"/>
      <p:bldP spid="21" grpId="0" animBg="1"/>
      <p:bldP spid="22" grpId="0"/>
      <p:bldP spid="24" grpId="0" animBg="1"/>
      <p:bldP spid="25" grpId="0" animBg="1"/>
      <p:bldP spid="26"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pic>
        <p:nvPicPr>
          <p:cNvPr id="3" name="!!Hero" descr="Affiche 2 en situation"/>
          <p:cNvPicPr>
            <a:picLocks noChangeAspect="1"/>
          </p:cNvPicPr>
          <p:nvPr/>
        </p:nvPicPr>
        <p:blipFill>
          <a:blip r:embed="rId2"/>
          <a:srcRect t="971" b="971"/>
          <a:stretch>
            <a:fillRect/>
          </a:stretch>
        </p:blipFill>
        <p:spPr>
          <a:xfrm>
            <a:off x="7589520" y="914400"/>
            <a:ext cx="3931920" cy="5120640"/>
          </a:xfrm>
          <a:prstGeom prst="roundRect">
            <a:avLst>
              <a:gd name="adj" fmla="val 5000"/>
            </a:avLst>
          </a:prstGeom>
          <a:effectLst>
            <a:outerShdw blurRad="177800" dist="38100" dir="5400000" algn="t" rotWithShape="0">
              <a:srgbClr val="1A0507">
                <a:alpha val="14000"/>
              </a:srgbClr>
            </a:outerShdw>
          </a:effectLst>
        </p:spPr>
      </p:pic>
      <p:sp>
        <p:nvSpPr>
          <p:cNvPr id="4" name="!!Title"/>
          <p:cNvSpPr txBox="1"/>
          <p:nvPr/>
        </p:nvSpPr>
        <p:spPr>
          <a:xfrm>
            <a:off x="685800" y="914400"/>
            <a:ext cx="64008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Public cible</a:t>
            </a:r>
          </a:p>
        </p:txBody>
      </p:sp>
      <p:sp>
        <p:nvSpPr>
          <p:cNvPr id="5" name="!!Big"/>
          <p:cNvSpPr txBox="1"/>
          <p:nvPr/>
        </p:nvSpPr>
        <p:spPr>
          <a:xfrm>
            <a:off x="685800" y="1874519"/>
            <a:ext cx="6400800" cy="1143000"/>
          </a:xfrm>
          <a:prstGeom prst="rect">
            <a:avLst/>
          </a:prstGeom>
          <a:noFill/>
        </p:spPr>
        <p:txBody>
          <a:bodyPr wrap="square" lIns="0" rIns="0" tIns="0" bIns="0" anchor="t">
            <a:noAutofit/>
          </a:bodyPr>
          <a:lstStyle/>
          <a:p>
            <a:pPr algn="l"/>
            <a:r>
              <a:rPr sz="6600">
                <a:solidFill>
                  <a:srgbClr val="A40C21"/>
                </a:solidFill>
                <a:latin typeface="Cream Heavy"/>
              </a:rPr>
              <a:t>25 – 50 ans</a:t>
            </a:r>
          </a:p>
        </p:txBody>
      </p:sp>
      <p:sp>
        <p:nvSpPr>
          <p:cNvPr id="6" name="!!Body"/>
          <p:cNvSpPr txBox="1"/>
          <p:nvPr/>
        </p:nvSpPr>
        <p:spPr>
          <a:xfrm>
            <a:off x="685800" y="3154680"/>
            <a:ext cx="6400800" cy="914400"/>
          </a:xfrm>
          <a:prstGeom prst="rect">
            <a:avLst/>
          </a:prstGeom>
          <a:noFill/>
        </p:spPr>
        <p:txBody>
          <a:bodyPr wrap="square" lIns="0" rIns="0" tIns="0" bIns="0" anchor="t">
            <a:noAutofit/>
          </a:bodyPr>
          <a:lstStyle/>
          <a:p>
            <a:pPr algn="l">
              <a:lnSpc>
                <a:spcPct val="112000"/>
              </a:lnSpc>
              <a:spcAft>
                <a:spcPts val="800"/>
              </a:spcAft>
            </a:pPr>
            <a:r>
              <a:rPr sz="1900">
                <a:solidFill>
                  <a:srgbClr val="2A070D"/>
                </a:solidFill>
                <a:latin typeface="Montserrat Medium"/>
              </a:rPr>
              <a:t>Les ménages d'Abidjan qui cuisinent régulièrement pour leur foyer.</a:t>
            </a:r>
          </a:p>
        </p:txBody>
      </p:sp>
      <p:sp>
        <p:nvSpPr>
          <p:cNvPr id="7" name="!!Body2"/>
          <p:cNvSpPr txBox="1"/>
          <p:nvPr/>
        </p:nvSpPr>
        <p:spPr>
          <a:xfrm>
            <a:off x="685800" y="4160520"/>
            <a:ext cx="6400800" cy="548640"/>
          </a:xfrm>
          <a:prstGeom prst="rect">
            <a:avLst/>
          </a:prstGeom>
          <a:noFill/>
        </p:spPr>
        <p:txBody>
          <a:bodyPr wrap="square" lIns="0" rIns="0" tIns="0" bIns="0" anchor="t">
            <a:noAutofit/>
          </a:bodyPr>
          <a:lstStyle/>
          <a:p>
            <a:pPr algn="l">
              <a:lnSpc>
                <a:spcPct val="112000"/>
              </a:lnSpc>
              <a:spcAft>
                <a:spcPts val="800"/>
              </a:spcAft>
            </a:pPr>
            <a:r>
              <a:rPr sz="1500">
                <a:solidFill>
                  <a:srgbClr val="6E5A5D"/>
                </a:solidFill>
                <a:latin typeface="Montserrat Medium"/>
              </a:rPr>
              <a:t>Aussi : distributeurs, restaurateurs, passionnés de cuisine.</a:t>
            </a:r>
          </a:p>
        </p:txBody>
      </p:sp>
      <p:sp>
        <p:nvSpPr>
          <p:cNvPr id="8" name="!!Accent"/>
          <p:cNvSpPr/>
          <p:nvPr/>
        </p:nvSpPr>
        <p:spPr>
          <a:xfrm>
            <a:off x="685800" y="338328"/>
            <a:ext cx="384048" cy="32004"/>
          </a:xfrm>
          <a:prstGeom prst="rect">
            <a:avLst/>
          </a:prstGeom>
          <a:solidFill>
            <a:srgbClr val="F9A825"/>
          </a:solidFill>
          <a:ln>
            <a:noFill/>
          </a:ln>
        </p:spPr>
        <p:txBody>
          <a:bodyPr rtlCol="0" anchor="ctr"/>
          <a:lstStyle/>
          <a:p/>
        </p:txBody>
      </p:sp>
      <p:sp>
        <p:nvSpPr>
          <p:cNvPr id="9"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01 · Cahier des charges</a:t>
            </a:r>
          </a:p>
        </p:txBody>
      </p:sp>
      <p:sp>
        <p:nvSpPr>
          <p:cNvPr id="10"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10</a:t>
            </a:r>
          </a:p>
        </p:txBody>
      </p:sp>
      <p:sp>
        <p:nvSpPr>
          <p:cNvPr id="11"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12"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13"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14" name="!!Logo" descr="Logo Marin'Or Ivoire"/>
          <p:cNvPicPr>
            <a:picLocks noChangeAspect="1"/>
          </p:cNvPicPr>
          <p:nvPr/>
        </p:nvPicPr>
        <p:blipFill>
          <a:blip r:embed="rId3"/>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decel="100000"/>
                                        <p:tgtEl>
                                          <p:spTgt spid="4"/>
                                        </p:tgtEl>
                                      </p:cBhvr>
                                    </p:animEffect>
                                    <p:anim calcmode="lin" valueType="num">
                                      <p:cBhvr>
                                        <p:cTn id="8" dur="500" decel="100000" fill="hold"/>
                                        <p:tgtEl>
                                          <p:spTgt spid="4"/>
                                        </p:tgtEl>
                                        <p:attrNameLst>
                                          <p:attrName>ppt_x</p:attrName>
                                        </p:attrNameLst>
                                      </p:cBhvr>
                                      <p:tavLst>
                                        <p:tav tm="0">
                                          <p:val>
                                            <p:strVal val="#ppt_x"/>
                                          </p:val>
                                        </p:tav>
                                        <p:tav tm="100000">
                                          <p:val>
                                            <p:strVal val="#ppt_x"/>
                                          </p:val>
                                        </p:tav>
                                      </p:tavLst>
                                    </p:anim>
                                    <p:anim calcmode="lin" valueType="num">
                                      <p:cBhvr>
                                        <p:cTn id="9" dur="500" decel="100000" fill="hold"/>
                                        <p:tgtEl>
                                          <p:spTgt spid="4"/>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decel="100000"/>
                                        <p:tgtEl>
                                          <p:spTgt spid="9"/>
                                        </p:tgtEl>
                                      </p:cBhvr>
                                    </p:animEffect>
                                    <p:anim calcmode="lin" valueType="num">
                                      <p:cBhvr>
                                        <p:cTn id="13" dur="500" decel="100000" fill="hold"/>
                                        <p:tgtEl>
                                          <p:spTgt spid="9"/>
                                        </p:tgtEl>
                                        <p:attrNameLst>
                                          <p:attrName>ppt_x</p:attrName>
                                        </p:attrNameLst>
                                      </p:cBhvr>
                                      <p:tavLst>
                                        <p:tav tm="0">
                                          <p:val>
                                            <p:strVal val="#ppt_x"/>
                                          </p:val>
                                        </p:tav>
                                        <p:tav tm="100000">
                                          <p:val>
                                            <p:strVal val="#ppt_x"/>
                                          </p:val>
                                        </p:tav>
                                      </p:tavLst>
                                    </p:anim>
                                    <p:anim calcmode="lin" valueType="num">
                                      <p:cBhvr>
                                        <p:cTn id="14" dur="500" decel="100000" fill="hold"/>
                                        <p:tgtEl>
                                          <p:spTgt spid="9"/>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11"/>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12"/>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13"/>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400" decel="1000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decel="100000"/>
                                        <p:tgtEl>
                                          <p:spTgt spid="5"/>
                                        </p:tgtEl>
                                      </p:cBhvr>
                                    </p:animEffect>
                                    <p:anim calcmode="lin" valueType="num">
                                      <p:cBhvr>
                                        <p:cTn id="31" dur="500" decel="100000" fill="hold"/>
                                        <p:tgtEl>
                                          <p:spTgt spid="5"/>
                                        </p:tgtEl>
                                        <p:attrNameLst>
                                          <p:attrName>ppt_x</p:attrName>
                                        </p:attrNameLst>
                                      </p:cBhvr>
                                      <p:tavLst>
                                        <p:tav tm="0">
                                          <p:val>
                                            <p:strVal val="#ppt_x"/>
                                          </p:val>
                                        </p:tav>
                                        <p:tav tm="100000">
                                          <p:val>
                                            <p:strVal val="#ppt_x"/>
                                          </p:val>
                                        </p:tav>
                                      </p:tavLst>
                                    </p:anim>
                                    <p:anim calcmode="lin" valueType="num">
                                      <p:cBhvr>
                                        <p:cTn id="32" dur="500" decel="100000" fill="hold"/>
                                        <p:tgtEl>
                                          <p:spTgt spid="5"/>
                                        </p:tgtEl>
                                        <p:attrNameLst>
                                          <p:attrName>ppt_y</p:attrName>
                                        </p:attrNameLst>
                                      </p:cBhvr>
                                      <p:tavLst>
                                        <p:tav tm="0">
                                          <p:val>
                                            <p:strVal val="#ppt_y+0.027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decel="100000"/>
                                        <p:tgtEl>
                                          <p:spTgt spid="6"/>
                                        </p:tgtEl>
                                      </p:cBhvr>
                                    </p:animEffect>
                                    <p:anim calcmode="lin" valueType="num">
                                      <p:cBhvr>
                                        <p:cTn id="36" dur="500" decel="100000" fill="hold"/>
                                        <p:tgtEl>
                                          <p:spTgt spid="6"/>
                                        </p:tgtEl>
                                        <p:attrNameLst>
                                          <p:attrName>ppt_x</p:attrName>
                                        </p:attrNameLst>
                                      </p:cBhvr>
                                      <p:tavLst>
                                        <p:tav tm="0">
                                          <p:val>
                                            <p:strVal val="#ppt_x"/>
                                          </p:val>
                                        </p:tav>
                                        <p:tav tm="100000">
                                          <p:val>
                                            <p:strVal val="#ppt_x"/>
                                          </p:val>
                                        </p:tav>
                                      </p:tavLst>
                                    </p:anim>
                                    <p:anim calcmode="lin" valueType="num">
                                      <p:cBhvr>
                                        <p:cTn id="37" dur="500" decel="100000" fill="hold"/>
                                        <p:tgtEl>
                                          <p:spTgt spid="6"/>
                                        </p:tgtEl>
                                        <p:attrNameLst>
                                          <p:attrName>ppt_y</p:attrName>
                                        </p:attrNameLst>
                                      </p:cBhvr>
                                      <p:tavLst>
                                        <p:tav tm="0">
                                          <p:val>
                                            <p:strVal val="#ppt_y+0.0278"/>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fade">
                                      <p:cBhvr>
                                        <p:cTn id="40" dur="500" decel="100000"/>
                                        <p:tgtEl>
                                          <p:spTgt spid="3"/>
                                        </p:tgtEl>
                                      </p:cBhvr>
                                    </p:animEffect>
                                    <p:anim calcmode="lin" valueType="num">
                                      <p:cBhvr>
                                        <p:cTn id="41" dur="500" decel="100000" fill="hold"/>
                                        <p:tgtEl>
                                          <p:spTgt spid="3"/>
                                        </p:tgtEl>
                                        <p:attrNameLst>
                                          <p:attrName>ppt_x</p:attrName>
                                        </p:attrNameLst>
                                      </p:cBhvr>
                                      <p:tavLst>
                                        <p:tav tm="0">
                                          <p:val>
                                            <p:strVal val="#ppt_x"/>
                                          </p:val>
                                        </p:tav>
                                        <p:tav tm="100000">
                                          <p:val>
                                            <p:strVal val="#ppt_x"/>
                                          </p:val>
                                        </p:tav>
                                      </p:tavLst>
                                    </p:anim>
                                    <p:anim calcmode="lin" valueType="num">
                                      <p:cBhvr>
                                        <p:cTn id="42" dur="500" decel="100000" fill="hold"/>
                                        <p:tgtEl>
                                          <p:spTgt spid="3"/>
                                        </p:tgtEl>
                                        <p:attrNameLst>
                                          <p:attrName>ppt_y</p:attrName>
                                        </p:attrNameLst>
                                      </p:cBhvr>
                                      <p:tavLst>
                                        <p:tav tm="0">
                                          <p:val>
                                            <p:strVal val="#ppt_y+0.0278"/>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fade">
                                      <p:cBhvr>
                                        <p:cTn id="47" dur="500" decel="100000"/>
                                        <p:tgtEl>
                                          <p:spTgt spid="7"/>
                                        </p:tgtEl>
                                      </p:cBhvr>
                                    </p:animEffect>
                                    <p:anim calcmode="lin" valueType="num">
                                      <p:cBhvr>
                                        <p:cTn id="48" dur="500" decel="100000" fill="hold"/>
                                        <p:tgtEl>
                                          <p:spTgt spid="7"/>
                                        </p:tgtEl>
                                        <p:attrNameLst>
                                          <p:attrName>ppt_x</p:attrName>
                                        </p:attrNameLst>
                                      </p:cBhvr>
                                      <p:tavLst>
                                        <p:tav tm="0">
                                          <p:val>
                                            <p:strVal val="#ppt_x"/>
                                          </p:val>
                                        </p:tav>
                                        <p:tav tm="100000">
                                          <p:val>
                                            <p:strVal val="#ppt_x"/>
                                          </p:val>
                                        </p:tav>
                                      </p:tavLst>
                                    </p:anim>
                                    <p:anim calcmode="lin" valueType="num">
                                      <p:cBhvr>
                                        <p:cTn id="49" dur="500" decel="100000" fill="hold"/>
                                        <p:tgtEl>
                                          <p:spTgt spid="7"/>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animBg="1"/>
      <p:bldP spid="9" grpId="0"/>
      <p:bldP spid="11" grpId="0" animBg="1"/>
      <p:bldP spid="12" grpId="0" animBg="1"/>
      <p:bldP spid="13"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sp>
        <p:nvSpPr>
          <p:cNvPr id="3" name="!!Title"/>
          <p:cNvSpPr txBox="1"/>
          <p:nvPr/>
        </p:nvSpPr>
        <p:spPr>
          <a:xfrm>
            <a:off x="685800" y="914400"/>
            <a:ext cx="86868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Trois axes de communication</a:t>
            </a:r>
          </a:p>
        </p:txBody>
      </p:sp>
      <p:sp>
        <p:nvSpPr>
          <p:cNvPr id="4" name="!!Card0"/>
          <p:cNvSpPr/>
          <p:nvPr/>
        </p:nvSpPr>
        <p:spPr>
          <a:xfrm>
            <a:off x="685800" y="2103120"/>
            <a:ext cx="3383280" cy="2743200"/>
          </a:xfrm>
          <a:prstGeom prst="roundRect">
            <a:avLst>
              <a:gd name="adj" fmla="val 7000"/>
            </a:avLst>
          </a:prstGeom>
          <a:solidFill>
            <a:srgbClr val="F6E8EA"/>
          </a:solidFill>
          <a:ln>
            <a:noFill/>
          </a:ln>
        </p:spPr>
        <p:txBody>
          <a:bodyPr rtlCol="0" anchor="ctr"/>
          <a:lstStyle/>
          <a:p/>
        </p:txBody>
      </p:sp>
      <p:sp>
        <p:nvSpPr>
          <p:cNvPr id="5" name="!!CardI0"/>
          <p:cNvSpPr/>
          <p:nvPr/>
        </p:nvSpPr>
        <p:spPr>
          <a:xfrm>
            <a:off x="1005840" y="2377440"/>
            <a:ext cx="768096" cy="768096"/>
          </a:xfrm>
          <a:prstGeom prst="ellipse">
            <a:avLst/>
          </a:prstGeom>
          <a:solidFill>
            <a:srgbClr val="7B1421"/>
          </a:solidFill>
          <a:ln>
            <a:noFill/>
          </a:ln>
        </p:spPr>
        <p:txBody>
          <a:bodyPr rtlCol="0" anchor="ctr"/>
          <a:lstStyle/>
          <a:p/>
        </p:txBody>
      </p:sp>
      <p:pic>
        <p:nvPicPr>
          <p:cNvPr id="6" name="!!CardI0Ico" descr="leaf_w.png"/>
          <p:cNvPicPr>
            <a:picLocks noChangeAspect="1"/>
          </p:cNvPicPr>
          <p:nvPr/>
        </p:nvPicPr>
        <p:blipFill>
          <a:blip r:embed="rId2"/>
          <a:stretch>
            <a:fillRect/>
          </a:stretch>
        </p:blipFill>
        <p:spPr>
          <a:xfrm>
            <a:off x="1174821" y="2546421"/>
            <a:ext cx="430133" cy="430133"/>
          </a:xfrm>
          <a:prstGeom prst="rect">
            <a:avLst/>
          </a:prstGeom>
        </p:spPr>
      </p:pic>
      <p:sp>
        <p:nvSpPr>
          <p:cNvPr id="7" name="!!CardN0"/>
          <p:cNvSpPr txBox="1"/>
          <p:nvPr/>
        </p:nvSpPr>
        <p:spPr>
          <a:xfrm>
            <a:off x="2788920" y="2377440"/>
            <a:ext cx="960120" cy="548640"/>
          </a:xfrm>
          <a:prstGeom prst="rect">
            <a:avLst/>
          </a:prstGeom>
          <a:noFill/>
        </p:spPr>
        <p:txBody>
          <a:bodyPr wrap="square" lIns="0" rIns="0" tIns="0" bIns="0" anchor="t">
            <a:noAutofit/>
          </a:bodyPr>
          <a:lstStyle/>
          <a:p>
            <a:pPr algn="r"/>
            <a:r>
              <a:rPr sz="2600">
                <a:solidFill>
                  <a:srgbClr val="D9AEB5"/>
                </a:solidFill>
                <a:latin typeface="Cream Heavy"/>
              </a:rPr>
              <a:t>01</a:t>
            </a:r>
          </a:p>
        </p:txBody>
      </p:sp>
      <p:sp>
        <p:nvSpPr>
          <p:cNvPr id="8" name="!!CardT0"/>
          <p:cNvSpPr txBox="1"/>
          <p:nvPr/>
        </p:nvSpPr>
        <p:spPr>
          <a:xfrm>
            <a:off x="1005840" y="3429000"/>
            <a:ext cx="2788920" cy="1097280"/>
          </a:xfrm>
          <a:prstGeom prst="rect">
            <a:avLst/>
          </a:prstGeom>
          <a:noFill/>
        </p:spPr>
        <p:txBody>
          <a:bodyPr wrap="square" lIns="0" rIns="0" tIns="0" bIns="0" anchor="t">
            <a:noAutofit/>
          </a:bodyPr>
          <a:lstStyle/>
          <a:p>
            <a:pPr algn="l"/>
            <a:r>
              <a:rPr sz="1700">
                <a:solidFill>
                  <a:srgbClr val="2A070D"/>
                </a:solidFill>
                <a:latin typeface="Montserrat SemiBold"/>
              </a:rPr>
              <a:t>L'authenticité des saveurs ivoiriennes</a:t>
            </a:r>
          </a:p>
        </p:txBody>
      </p:sp>
      <p:sp>
        <p:nvSpPr>
          <p:cNvPr id="9" name="!!Card1"/>
          <p:cNvSpPr/>
          <p:nvPr/>
        </p:nvSpPr>
        <p:spPr>
          <a:xfrm>
            <a:off x="4297680" y="2103120"/>
            <a:ext cx="3383280" cy="2743200"/>
          </a:xfrm>
          <a:prstGeom prst="roundRect">
            <a:avLst>
              <a:gd name="adj" fmla="val 7000"/>
            </a:avLst>
          </a:prstGeom>
          <a:solidFill>
            <a:srgbClr val="F6E8EA"/>
          </a:solidFill>
          <a:ln>
            <a:noFill/>
          </a:ln>
        </p:spPr>
        <p:txBody>
          <a:bodyPr rtlCol="0" anchor="ctr"/>
          <a:lstStyle/>
          <a:p/>
        </p:txBody>
      </p:sp>
      <p:sp>
        <p:nvSpPr>
          <p:cNvPr id="10" name="!!CardI1"/>
          <p:cNvSpPr/>
          <p:nvPr/>
        </p:nvSpPr>
        <p:spPr>
          <a:xfrm>
            <a:off x="4617720" y="2377440"/>
            <a:ext cx="768096" cy="768096"/>
          </a:xfrm>
          <a:prstGeom prst="ellipse">
            <a:avLst/>
          </a:prstGeom>
          <a:solidFill>
            <a:srgbClr val="7B1421"/>
          </a:solidFill>
          <a:ln>
            <a:noFill/>
          </a:ln>
        </p:spPr>
        <p:txBody>
          <a:bodyPr rtlCol="0" anchor="ctr"/>
          <a:lstStyle/>
          <a:p/>
        </p:txBody>
      </p:sp>
      <p:pic>
        <p:nvPicPr>
          <p:cNvPr id="11" name="!!CardI1Ico" descr="users-round_w.png"/>
          <p:cNvPicPr>
            <a:picLocks noChangeAspect="1"/>
          </p:cNvPicPr>
          <p:nvPr/>
        </p:nvPicPr>
        <p:blipFill>
          <a:blip r:embed="rId3"/>
          <a:stretch>
            <a:fillRect/>
          </a:stretch>
        </p:blipFill>
        <p:spPr>
          <a:xfrm>
            <a:off x="4786701" y="2546421"/>
            <a:ext cx="430133" cy="430133"/>
          </a:xfrm>
          <a:prstGeom prst="rect">
            <a:avLst/>
          </a:prstGeom>
        </p:spPr>
      </p:pic>
      <p:sp>
        <p:nvSpPr>
          <p:cNvPr id="12" name="!!CardN1"/>
          <p:cNvSpPr txBox="1"/>
          <p:nvPr/>
        </p:nvSpPr>
        <p:spPr>
          <a:xfrm>
            <a:off x="6400800" y="2377440"/>
            <a:ext cx="960120" cy="548640"/>
          </a:xfrm>
          <a:prstGeom prst="rect">
            <a:avLst/>
          </a:prstGeom>
          <a:noFill/>
        </p:spPr>
        <p:txBody>
          <a:bodyPr wrap="square" lIns="0" rIns="0" tIns="0" bIns="0" anchor="t">
            <a:noAutofit/>
          </a:bodyPr>
          <a:lstStyle/>
          <a:p>
            <a:pPr algn="r"/>
            <a:r>
              <a:rPr sz="2600">
                <a:solidFill>
                  <a:srgbClr val="D9AEB5"/>
                </a:solidFill>
                <a:latin typeface="Cream Heavy"/>
              </a:rPr>
              <a:t>02</a:t>
            </a:r>
          </a:p>
        </p:txBody>
      </p:sp>
      <p:sp>
        <p:nvSpPr>
          <p:cNvPr id="13" name="!!CardT1"/>
          <p:cNvSpPr txBox="1"/>
          <p:nvPr/>
        </p:nvSpPr>
        <p:spPr>
          <a:xfrm>
            <a:off x="4617720" y="3429000"/>
            <a:ext cx="2788920" cy="1097280"/>
          </a:xfrm>
          <a:prstGeom prst="rect">
            <a:avLst/>
          </a:prstGeom>
          <a:noFill/>
        </p:spPr>
        <p:txBody>
          <a:bodyPr wrap="square" lIns="0" rIns="0" tIns="0" bIns="0" anchor="t">
            <a:noAutofit/>
          </a:bodyPr>
          <a:lstStyle/>
          <a:p>
            <a:pPr algn="l"/>
            <a:r>
              <a:rPr sz="1700">
                <a:solidFill>
                  <a:srgbClr val="2A070D"/>
                </a:solidFill>
                <a:latin typeface="Montserrat SemiBold"/>
              </a:rPr>
              <a:t>La convivialité et le partage</a:t>
            </a:r>
          </a:p>
        </p:txBody>
      </p:sp>
      <p:sp>
        <p:nvSpPr>
          <p:cNvPr id="14" name="!!Card2"/>
          <p:cNvSpPr/>
          <p:nvPr/>
        </p:nvSpPr>
        <p:spPr>
          <a:xfrm>
            <a:off x="7909560" y="2103120"/>
            <a:ext cx="3383280" cy="2743200"/>
          </a:xfrm>
          <a:prstGeom prst="roundRect">
            <a:avLst>
              <a:gd name="adj" fmla="val 7000"/>
            </a:avLst>
          </a:prstGeom>
          <a:solidFill>
            <a:srgbClr val="F6E8EA"/>
          </a:solidFill>
          <a:ln>
            <a:noFill/>
          </a:ln>
        </p:spPr>
        <p:txBody>
          <a:bodyPr rtlCol="0" anchor="ctr"/>
          <a:lstStyle/>
          <a:p/>
        </p:txBody>
      </p:sp>
      <p:sp>
        <p:nvSpPr>
          <p:cNvPr id="15" name="!!CardI2"/>
          <p:cNvSpPr/>
          <p:nvPr/>
        </p:nvSpPr>
        <p:spPr>
          <a:xfrm>
            <a:off x="8229600" y="2377440"/>
            <a:ext cx="768096" cy="768096"/>
          </a:xfrm>
          <a:prstGeom prst="ellipse">
            <a:avLst/>
          </a:prstGeom>
          <a:solidFill>
            <a:srgbClr val="7B1421"/>
          </a:solidFill>
          <a:ln>
            <a:noFill/>
          </a:ln>
        </p:spPr>
        <p:txBody>
          <a:bodyPr rtlCol="0" anchor="ctr"/>
          <a:lstStyle/>
          <a:p/>
        </p:txBody>
      </p:sp>
      <p:pic>
        <p:nvPicPr>
          <p:cNvPr id="16" name="!!CardI2Ico" descr="cooking-pot_w.png"/>
          <p:cNvPicPr>
            <a:picLocks noChangeAspect="1"/>
          </p:cNvPicPr>
          <p:nvPr/>
        </p:nvPicPr>
        <p:blipFill>
          <a:blip r:embed="rId4"/>
          <a:stretch>
            <a:fillRect/>
          </a:stretch>
        </p:blipFill>
        <p:spPr>
          <a:xfrm>
            <a:off x="8398581" y="2546421"/>
            <a:ext cx="430133" cy="430133"/>
          </a:xfrm>
          <a:prstGeom prst="rect">
            <a:avLst/>
          </a:prstGeom>
        </p:spPr>
      </p:pic>
      <p:sp>
        <p:nvSpPr>
          <p:cNvPr id="17" name="!!CardN2"/>
          <p:cNvSpPr txBox="1"/>
          <p:nvPr/>
        </p:nvSpPr>
        <p:spPr>
          <a:xfrm>
            <a:off x="10012680" y="2377440"/>
            <a:ext cx="960120" cy="548640"/>
          </a:xfrm>
          <a:prstGeom prst="rect">
            <a:avLst/>
          </a:prstGeom>
          <a:noFill/>
        </p:spPr>
        <p:txBody>
          <a:bodyPr wrap="square" lIns="0" rIns="0" tIns="0" bIns="0" anchor="t">
            <a:noAutofit/>
          </a:bodyPr>
          <a:lstStyle/>
          <a:p>
            <a:pPr algn="r"/>
            <a:r>
              <a:rPr sz="2600">
                <a:solidFill>
                  <a:srgbClr val="D9AEB5"/>
                </a:solidFill>
                <a:latin typeface="Cream Heavy"/>
              </a:rPr>
              <a:t>03</a:t>
            </a:r>
          </a:p>
        </p:txBody>
      </p:sp>
      <p:sp>
        <p:nvSpPr>
          <p:cNvPr id="18" name="!!CardT2"/>
          <p:cNvSpPr txBox="1"/>
          <p:nvPr/>
        </p:nvSpPr>
        <p:spPr>
          <a:xfrm>
            <a:off x="8229600" y="3429000"/>
            <a:ext cx="2788920" cy="1097280"/>
          </a:xfrm>
          <a:prstGeom prst="rect">
            <a:avLst/>
          </a:prstGeom>
          <a:noFill/>
        </p:spPr>
        <p:txBody>
          <a:bodyPr wrap="square" lIns="0" rIns="0" tIns="0" bIns="0" anchor="t">
            <a:noAutofit/>
          </a:bodyPr>
          <a:lstStyle/>
          <a:p>
            <a:pPr algn="l"/>
            <a:r>
              <a:rPr sz="1700">
                <a:solidFill>
                  <a:srgbClr val="2A070D"/>
                </a:solidFill>
                <a:latin typeface="Montserrat SemiBold"/>
              </a:rPr>
              <a:t>La simplicité accessible au quotidien</a:t>
            </a:r>
          </a:p>
        </p:txBody>
      </p:sp>
      <p:sp>
        <p:nvSpPr>
          <p:cNvPr id="19" name="!!Accent"/>
          <p:cNvSpPr/>
          <p:nvPr/>
        </p:nvSpPr>
        <p:spPr>
          <a:xfrm>
            <a:off x="685800" y="338328"/>
            <a:ext cx="384048" cy="32004"/>
          </a:xfrm>
          <a:prstGeom prst="rect">
            <a:avLst/>
          </a:prstGeom>
          <a:solidFill>
            <a:srgbClr val="F9A825"/>
          </a:solidFill>
          <a:ln>
            <a:noFill/>
          </a:ln>
        </p:spPr>
        <p:txBody>
          <a:bodyPr rtlCol="0" anchor="ctr"/>
          <a:lstStyle/>
          <a:p/>
        </p:txBody>
      </p:sp>
      <p:sp>
        <p:nvSpPr>
          <p:cNvPr id="20"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01 · Axes de communication</a:t>
            </a:r>
          </a:p>
        </p:txBody>
      </p:sp>
      <p:sp>
        <p:nvSpPr>
          <p:cNvPr id="21"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11</a:t>
            </a:r>
          </a:p>
        </p:txBody>
      </p:sp>
      <p:sp>
        <p:nvSpPr>
          <p:cNvPr id="22"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23"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24"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25" name="!!Logo" descr="Logo Marin'Or Ivoire"/>
          <p:cNvPicPr>
            <a:picLocks noChangeAspect="1"/>
          </p:cNvPicPr>
          <p:nvPr/>
        </p:nvPicPr>
        <p:blipFill>
          <a:blip r:embed="rId5"/>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decel="1000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decel="100000"/>
                                        <p:tgtEl>
                                          <p:spTgt spid="20"/>
                                        </p:tgtEl>
                                      </p:cBhvr>
                                    </p:animEffect>
                                    <p:anim calcmode="lin" valueType="num">
                                      <p:cBhvr>
                                        <p:cTn id="13" dur="500" decel="100000" fill="hold"/>
                                        <p:tgtEl>
                                          <p:spTgt spid="20"/>
                                        </p:tgtEl>
                                        <p:attrNameLst>
                                          <p:attrName>ppt_x</p:attrName>
                                        </p:attrNameLst>
                                      </p:cBhvr>
                                      <p:tavLst>
                                        <p:tav tm="0">
                                          <p:val>
                                            <p:strVal val="#ppt_x"/>
                                          </p:val>
                                        </p:tav>
                                        <p:tav tm="100000">
                                          <p:val>
                                            <p:strVal val="#ppt_x"/>
                                          </p:val>
                                        </p:tav>
                                      </p:tavLst>
                                    </p:anim>
                                    <p:anim calcmode="lin" valueType="num">
                                      <p:cBhvr>
                                        <p:cTn id="14" dur="500" decel="100000" fill="hold"/>
                                        <p:tgtEl>
                                          <p:spTgt spid="20"/>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22"/>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23"/>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24"/>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wipe(left)">
                                      <p:cBhvr>
                                        <p:cTn id="24" dur="400" decel="1000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decel="100000"/>
                                        <p:tgtEl>
                                          <p:spTgt spid="4"/>
                                        </p:tgtEl>
                                      </p:cBhvr>
                                    </p:animEffect>
                                    <p:anim calcmode="lin" valueType="num">
                                      <p:cBhvr>
                                        <p:cTn id="31" dur="500" decel="100000" fill="hold"/>
                                        <p:tgtEl>
                                          <p:spTgt spid="4"/>
                                        </p:tgtEl>
                                        <p:attrNameLst>
                                          <p:attrName>ppt_x</p:attrName>
                                        </p:attrNameLst>
                                      </p:cBhvr>
                                      <p:tavLst>
                                        <p:tav tm="0">
                                          <p:val>
                                            <p:strVal val="#ppt_x"/>
                                          </p:val>
                                        </p:tav>
                                        <p:tav tm="100000">
                                          <p:val>
                                            <p:strVal val="#ppt_x"/>
                                          </p:val>
                                        </p:tav>
                                      </p:tavLst>
                                    </p:anim>
                                    <p:anim calcmode="lin" valueType="num">
                                      <p:cBhvr>
                                        <p:cTn id="32" dur="500" decel="100000" fill="hold"/>
                                        <p:tgtEl>
                                          <p:spTgt spid="4"/>
                                        </p:tgtEl>
                                        <p:attrNameLst>
                                          <p:attrName>ppt_y</p:attrName>
                                        </p:attrNameLst>
                                      </p:cBhvr>
                                      <p:tavLst>
                                        <p:tav tm="0">
                                          <p:val>
                                            <p:strVal val="#ppt_y+0.027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decel="100000"/>
                                        <p:tgtEl>
                                          <p:spTgt spid="5"/>
                                        </p:tgtEl>
                                      </p:cBhvr>
                                    </p:animEffect>
                                    <p:anim calcmode="lin" valueType="num">
                                      <p:cBhvr>
                                        <p:cTn id="36" dur="500" decel="100000" fill="hold"/>
                                        <p:tgtEl>
                                          <p:spTgt spid="5"/>
                                        </p:tgtEl>
                                        <p:attrNameLst>
                                          <p:attrName>ppt_x</p:attrName>
                                        </p:attrNameLst>
                                      </p:cBhvr>
                                      <p:tavLst>
                                        <p:tav tm="0">
                                          <p:val>
                                            <p:strVal val="#ppt_x"/>
                                          </p:val>
                                        </p:tav>
                                        <p:tav tm="100000">
                                          <p:val>
                                            <p:strVal val="#ppt_x"/>
                                          </p:val>
                                        </p:tav>
                                      </p:tavLst>
                                    </p:anim>
                                    <p:anim calcmode="lin" valueType="num">
                                      <p:cBhvr>
                                        <p:cTn id="37" dur="500" decel="100000" fill="hold"/>
                                        <p:tgtEl>
                                          <p:spTgt spid="5"/>
                                        </p:tgtEl>
                                        <p:attrNameLst>
                                          <p:attrName>ppt_y</p:attrName>
                                        </p:attrNameLst>
                                      </p:cBhvr>
                                      <p:tavLst>
                                        <p:tav tm="0">
                                          <p:val>
                                            <p:strVal val="#ppt_y+0.0278"/>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500" decel="100000"/>
                                        <p:tgtEl>
                                          <p:spTgt spid="6"/>
                                        </p:tgtEl>
                                      </p:cBhvr>
                                    </p:animEffect>
                                    <p:anim calcmode="lin" valueType="num">
                                      <p:cBhvr>
                                        <p:cTn id="41" dur="500" decel="100000" fill="hold"/>
                                        <p:tgtEl>
                                          <p:spTgt spid="6"/>
                                        </p:tgtEl>
                                        <p:attrNameLst>
                                          <p:attrName>ppt_x</p:attrName>
                                        </p:attrNameLst>
                                      </p:cBhvr>
                                      <p:tavLst>
                                        <p:tav tm="0">
                                          <p:val>
                                            <p:strVal val="#ppt_x"/>
                                          </p:val>
                                        </p:tav>
                                        <p:tav tm="100000">
                                          <p:val>
                                            <p:strVal val="#ppt_x"/>
                                          </p:val>
                                        </p:tav>
                                      </p:tavLst>
                                    </p:anim>
                                    <p:anim calcmode="lin" valueType="num">
                                      <p:cBhvr>
                                        <p:cTn id="42" dur="500" decel="100000" fill="hold"/>
                                        <p:tgtEl>
                                          <p:spTgt spid="6"/>
                                        </p:tgtEl>
                                        <p:attrNameLst>
                                          <p:attrName>ppt_y</p:attrName>
                                        </p:attrNameLst>
                                      </p:cBhvr>
                                      <p:tavLst>
                                        <p:tav tm="0">
                                          <p:val>
                                            <p:strVal val="#ppt_y+0.0278"/>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decel="100000"/>
                                        <p:tgtEl>
                                          <p:spTgt spid="7"/>
                                        </p:tgtEl>
                                      </p:cBhvr>
                                    </p:animEffect>
                                    <p:anim calcmode="lin" valueType="num">
                                      <p:cBhvr>
                                        <p:cTn id="46" dur="500" decel="100000" fill="hold"/>
                                        <p:tgtEl>
                                          <p:spTgt spid="7"/>
                                        </p:tgtEl>
                                        <p:attrNameLst>
                                          <p:attrName>ppt_x</p:attrName>
                                        </p:attrNameLst>
                                      </p:cBhvr>
                                      <p:tavLst>
                                        <p:tav tm="0">
                                          <p:val>
                                            <p:strVal val="#ppt_x"/>
                                          </p:val>
                                        </p:tav>
                                        <p:tav tm="100000">
                                          <p:val>
                                            <p:strVal val="#ppt_x"/>
                                          </p:val>
                                        </p:tav>
                                      </p:tavLst>
                                    </p:anim>
                                    <p:anim calcmode="lin" valueType="num">
                                      <p:cBhvr>
                                        <p:cTn id="47" dur="500" decel="100000" fill="hold"/>
                                        <p:tgtEl>
                                          <p:spTgt spid="7"/>
                                        </p:tgtEl>
                                        <p:attrNameLst>
                                          <p:attrName>ppt_y</p:attrName>
                                        </p:attrNameLst>
                                      </p:cBhvr>
                                      <p:tavLst>
                                        <p:tav tm="0">
                                          <p:val>
                                            <p:strVal val="#ppt_y+0.0278"/>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fade">
                                      <p:cBhvr>
                                        <p:cTn id="50" dur="500" decel="100000"/>
                                        <p:tgtEl>
                                          <p:spTgt spid="8"/>
                                        </p:tgtEl>
                                      </p:cBhvr>
                                    </p:animEffect>
                                    <p:anim calcmode="lin" valueType="num">
                                      <p:cBhvr>
                                        <p:cTn id="51" dur="500" decel="100000" fill="hold"/>
                                        <p:tgtEl>
                                          <p:spTgt spid="8"/>
                                        </p:tgtEl>
                                        <p:attrNameLst>
                                          <p:attrName>ppt_x</p:attrName>
                                        </p:attrNameLst>
                                      </p:cBhvr>
                                      <p:tavLst>
                                        <p:tav tm="0">
                                          <p:val>
                                            <p:strVal val="#ppt_x"/>
                                          </p:val>
                                        </p:tav>
                                        <p:tav tm="100000">
                                          <p:val>
                                            <p:strVal val="#ppt_x"/>
                                          </p:val>
                                        </p:tav>
                                      </p:tavLst>
                                    </p:anim>
                                    <p:anim calcmode="lin" valueType="num">
                                      <p:cBhvr>
                                        <p:cTn id="52" dur="500" decel="100000" fill="hold"/>
                                        <p:tgtEl>
                                          <p:spTgt spid="8"/>
                                        </p:tgtEl>
                                        <p:attrNameLst>
                                          <p:attrName>ppt_y</p:attrName>
                                        </p:attrNameLst>
                                      </p:cBhvr>
                                      <p:tavLst>
                                        <p:tav tm="0">
                                          <p:val>
                                            <p:strVal val="#ppt_y+0.0278"/>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fade">
                                      <p:cBhvr>
                                        <p:cTn id="57" dur="500" decel="100000"/>
                                        <p:tgtEl>
                                          <p:spTgt spid="9"/>
                                        </p:tgtEl>
                                      </p:cBhvr>
                                    </p:animEffect>
                                    <p:anim calcmode="lin" valueType="num">
                                      <p:cBhvr>
                                        <p:cTn id="58" dur="500" decel="100000" fill="hold"/>
                                        <p:tgtEl>
                                          <p:spTgt spid="9"/>
                                        </p:tgtEl>
                                        <p:attrNameLst>
                                          <p:attrName>ppt_x</p:attrName>
                                        </p:attrNameLst>
                                      </p:cBhvr>
                                      <p:tavLst>
                                        <p:tav tm="0">
                                          <p:val>
                                            <p:strVal val="#ppt_x"/>
                                          </p:val>
                                        </p:tav>
                                        <p:tav tm="100000">
                                          <p:val>
                                            <p:strVal val="#ppt_x"/>
                                          </p:val>
                                        </p:tav>
                                      </p:tavLst>
                                    </p:anim>
                                    <p:anim calcmode="lin" valueType="num">
                                      <p:cBhvr>
                                        <p:cTn id="59" dur="500" decel="100000" fill="hold"/>
                                        <p:tgtEl>
                                          <p:spTgt spid="9"/>
                                        </p:tgtEl>
                                        <p:attrNameLst>
                                          <p:attrName>ppt_y</p:attrName>
                                        </p:attrNameLst>
                                      </p:cBhvr>
                                      <p:tavLst>
                                        <p:tav tm="0">
                                          <p:val>
                                            <p:strVal val="#ppt_y+0.0278"/>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fade">
                                      <p:cBhvr>
                                        <p:cTn id="62" dur="500" decel="100000"/>
                                        <p:tgtEl>
                                          <p:spTgt spid="10"/>
                                        </p:tgtEl>
                                      </p:cBhvr>
                                    </p:animEffect>
                                    <p:anim calcmode="lin" valueType="num">
                                      <p:cBhvr>
                                        <p:cTn id="63" dur="500" decel="100000" fill="hold"/>
                                        <p:tgtEl>
                                          <p:spTgt spid="10"/>
                                        </p:tgtEl>
                                        <p:attrNameLst>
                                          <p:attrName>ppt_x</p:attrName>
                                        </p:attrNameLst>
                                      </p:cBhvr>
                                      <p:tavLst>
                                        <p:tav tm="0">
                                          <p:val>
                                            <p:strVal val="#ppt_x"/>
                                          </p:val>
                                        </p:tav>
                                        <p:tav tm="100000">
                                          <p:val>
                                            <p:strVal val="#ppt_x"/>
                                          </p:val>
                                        </p:tav>
                                      </p:tavLst>
                                    </p:anim>
                                    <p:anim calcmode="lin" valueType="num">
                                      <p:cBhvr>
                                        <p:cTn id="64" dur="500" decel="100000" fill="hold"/>
                                        <p:tgtEl>
                                          <p:spTgt spid="10"/>
                                        </p:tgtEl>
                                        <p:attrNameLst>
                                          <p:attrName>ppt_y</p:attrName>
                                        </p:attrNameLst>
                                      </p:cBhvr>
                                      <p:tavLst>
                                        <p:tav tm="0">
                                          <p:val>
                                            <p:strVal val="#ppt_y+0.0278"/>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fade">
                                      <p:cBhvr>
                                        <p:cTn id="67" dur="500" decel="100000"/>
                                        <p:tgtEl>
                                          <p:spTgt spid="11"/>
                                        </p:tgtEl>
                                      </p:cBhvr>
                                    </p:animEffect>
                                    <p:anim calcmode="lin" valueType="num">
                                      <p:cBhvr>
                                        <p:cTn id="68" dur="500" decel="100000" fill="hold"/>
                                        <p:tgtEl>
                                          <p:spTgt spid="11"/>
                                        </p:tgtEl>
                                        <p:attrNameLst>
                                          <p:attrName>ppt_x</p:attrName>
                                        </p:attrNameLst>
                                      </p:cBhvr>
                                      <p:tavLst>
                                        <p:tav tm="0">
                                          <p:val>
                                            <p:strVal val="#ppt_x"/>
                                          </p:val>
                                        </p:tav>
                                        <p:tav tm="100000">
                                          <p:val>
                                            <p:strVal val="#ppt_x"/>
                                          </p:val>
                                        </p:tav>
                                      </p:tavLst>
                                    </p:anim>
                                    <p:anim calcmode="lin" valueType="num">
                                      <p:cBhvr>
                                        <p:cTn id="69" dur="500" decel="100000" fill="hold"/>
                                        <p:tgtEl>
                                          <p:spTgt spid="11"/>
                                        </p:tgtEl>
                                        <p:attrNameLst>
                                          <p:attrName>ppt_y</p:attrName>
                                        </p:attrNameLst>
                                      </p:cBhvr>
                                      <p:tavLst>
                                        <p:tav tm="0">
                                          <p:val>
                                            <p:strVal val="#ppt_y+0.0278"/>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2"/>
                                        </p:tgtEl>
                                        <p:attrNameLst>
                                          <p:attrName>style.visibility</p:attrName>
                                        </p:attrNameLst>
                                      </p:cBhvr>
                                      <p:to>
                                        <p:strVal val="visible"/>
                                      </p:to>
                                    </p:set>
                                    <p:animEffect transition="in" filter="fade">
                                      <p:cBhvr>
                                        <p:cTn id="72" dur="500" decel="100000"/>
                                        <p:tgtEl>
                                          <p:spTgt spid="12"/>
                                        </p:tgtEl>
                                      </p:cBhvr>
                                    </p:animEffect>
                                    <p:anim calcmode="lin" valueType="num">
                                      <p:cBhvr>
                                        <p:cTn id="73" dur="500" decel="100000" fill="hold"/>
                                        <p:tgtEl>
                                          <p:spTgt spid="12"/>
                                        </p:tgtEl>
                                        <p:attrNameLst>
                                          <p:attrName>ppt_x</p:attrName>
                                        </p:attrNameLst>
                                      </p:cBhvr>
                                      <p:tavLst>
                                        <p:tav tm="0">
                                          <p:val>
                                            <p:strVal val="#ppt_x"/>
                                          </p:val>
                                        </p:tav>
                                        <p:tav tm="100000">
                                          <p:val>
                                            <p:strVal val="#ppt_x"/>
                                          </p:val>
                                        </p:tav>
                                      </p:tavLst>
                                    </p:anim>
                                    <p:anim calcmode="lin" valueType="num">
                                      <p:cBhvr>
                                        <p:cTn id="74" dur="500" decel="100000" fill="hold"/>
                                        <p:tgtEl>
                                          <p:spTgt spid="12"/>
                                        </p:tgtEl>
                                        <p:attrNameLst>
                                          <p:attrName>ppt_y</p:attrName>
                                        </p:attrNameLst>
                                      </p:cBhvr>
                                      <p:tavLst>
                                        <p:tav tm="0">
                                          <p:val>
                                            <p:strVal val="#ppt_y+0.0278"/>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3"/>
                                        </p:tgtEl>
                                        <p:attrNameLst>
                                          <p:attrName>style.visibility</p:attrName>
                                        </p:attrNameLst>
                                      </p:cBhvr>
                                      <p:to>
                                        <p:strVal val="visible"/>
                                      </p:to>
                                    </p:set>
                                    <p:animEffect transition="in" filter="fade">
                                      <p:cBhvr>
                                        <p:cTn id="77" dur="500" decel="100000"/>
                                        <p:tgtEl>
                                          <p:spTgt spid="13"/>
                                        </p:tgtEl>
                                      </p:cBhvr>
                                    </p:animEffect>
                                    <p:anim calcmode="lin" valueType="num">
                                      <p:cBhvr>
                                        <p:cTn id="78" dur="500" decel="100000" fill="hold"/>
                                        <p:tgtEl>
                                          <p:spTgt spid="13"/>
                                        </p:tgtEl>
                                        <p:attrNameLst>
                                          <p:attrName>ppt_x</p:attrName>
                                        </p:attrNameLst>
                                      </p:cBhvr>
                                      <p:tavLst>
                                        <p:tav tm="0">
                                          <p:val>
                                            <p:strVal val="#ppt_x"/>
                                          </p:val>
                                        </p:tav>
                                        <p:tav tm="100000">
                                          <p:val>
                                            <p:strVal val="#ppt_x"/>
                                          </p:val>
                                        </p:tav>
                                      </p:tavLst>
                                    </p:anim>
                                    <p:anim calcmode="lin" valueType="num">
                                      <p:cBhvr>
                                        <p:cTn id="79" dur="500" decel="100000" fill="hold"/>
                                        <p:tgtEl>
                                          <p:spTgt spid="13"/>
                                        </p:tgtEl>
                                        <p:attrNameLst>
                                          <p:attrName>ppt_y</p:attrName>
                                        </p:attrNameLst>
                                      </p:cBhvr>
                                      <p:tavLst>
                                        <p:tav tm="0">
                                          <p:val>
                                            <p:strVal val="#ppt_y+0.0278"/>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14"/>
                                        </p:tgtEl>
                                        <p:attrNameLst>
                                          <p:attrName>style.visibility</p:attrName>
                                        </p:attrNameLst>
                                      </p:cBhvr>
                                      <p:to>
                                        <p:strVal val="visible"/>
                                      </p:to>
                                    </p:set>
                                    <p:animEffect transition="in" filter="fade">
                                      <p:cBhvr>
                                        <p:cTn id="84" dur="500" decel="100000"/>
                                        <p:tgtEl>
                                          <p:spTgt spid="14"/>
                                        </p:tgtEl>
                                      </p:cBhvr>
                                    </p:animEffect>
                                    <p:anim calcmode="lin" valueType="num">
                                      <p:cBhvr>
                                        <p:cTn id="85" dur="500" decel="100000" fill="hold"/>
                                        <p:tgtEl>
                                          <p:spTgt spid="14"/>
                                        </p:tgtEl>
                                        <p:attrNameLst>
                                          <p:attrName>ppt_x</p:attrName>
                                        </p:attrNameLst>
                                      </p:cBhvr>
                                      <p:tavLst>
                                        <p:tav tm="0">
                                          <p:val>
                                            <p:strVal val="#ppt_x"/>
                                          </p:val>
                                        </p:tav>
                                        <p:tav tm="100000">
                                          <p:val>
                                            <p:strVal val="#ppt_x"/>
                                          </p:val>
                                        </p:tav>
                                      </p:tavLst>
                                    </p:anim>
                                    <p:anim calcmode="lin" valueType="num">
                                      <p:cBhvr>
                                        <p:cTn id="86" dur="500" decel="100000" fill="hold"/>
                                        <p:tgtEl>
                                          <p:spTgt spid="14"/>
                                        </p:tgtEl>
                                        <p:attrNameLst>
                                          <p:attrName>ppt_y</p:attrName>
                                        </p:attrNameLst>
                                      </p:cBhvr>
                                      <p:tavLst>
                                        <p:tav tm="0">
                                          <p:val>
                                            <p:strVal val="#ppt_y+0.0278"/>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15"/>
                                        </p:tgtEl>
                                        <p:attrNameLst>
                                          <p:attrName>style.visibility</p:attrName>
                                        </p:attrNameLst>
                                      </p:cBhvr>
                                      <p:to>
                                        <p:strVal val="visible"/>
                                      </p:to>
                                    </p:set>
                                    <p:animEffect transition="in" filter="fade">
                                      <p:cBhvr>
                                        <p:cTn id="89" dur="500" decel="100000"/>
                                        <p:tgtEl>
                                          <p:spTgt spid="15"/>
                                        </p:tgtEl>
                                      </p:cBhvr>
                                    </p:animEffect>
                                    <p:anim calcmode="lin" valueType="num">
                                      <p:cBhvr>
                                        <p:cTn id="90" dur="500" decel="100000" fill="hold"/>
                                        <p:tgtEl>
                                          <p:spTgt spid="15"/>
                                        </p:tgtEl>
                                        <p:attrNameLst>
                                          <p:attrName>ppt_x</p:attrName>
                                        </p:attrNameLst>
                                      </p:cBhvr>
                                      <p:tavLst>
                                        <p:tav tm="0">
                                          <p:val>
                                            <p:strVal val="#ppt_x"/>
                                          </p:val>
                                        </p:tav>
                                        <p:tav tm="100000">
                                          <p:val>
                                            <p:strVal val="#ppt_x"/>
                                          </p:val>
                                        </p:tav>
                                      </p:tavLst>
                                    </p:anim>
                                    <p:anim calcmode="lin" valueType="num">
                                      <p:cBhvr>
                                        <p:cTn id="91" dur="500" decel="100000" fill="hold"/>
                                        <p:tgtEl>
                                          <p:spTgt spid="15"/>
                                        </p:tgtEl>
                                        <p:attrNameLst>
                                          <p:attrName>ppt_y</p:attrName>
                                        </p:attrNameLst>
                                      </p:cBhvr>
                                      <p:tavLst>
                                        <p:tav tm="0">
                                          <p:val>
                                            <p:strVal val="#ppt_y+0.0278"/>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16"/>
                                        </p:tgtEl>
                                        <p:attrNameLst>
                                          <p:attrName>style.visibility</p:attrName>
                                        </p:attrNameLst>
                                      </p:cBhvr>
                                      <p:to>
                                        <p:strVal val="visible"/>
                                      </p:to>
                                    </p:set>
                                    <p:animEffect transition="in" filter="fade">
                                      <p:cBhvr>
                                        <p:cTn id="94" dur="500" decel="100000"/>
                                        <p:tgtEl>
                                          <p:spTgt spid="16"/>
                                        </p:tgtEl>
                                      </p:cBhvr>
                                    </p:animEffect>
                                    <p:anim calcmode="lin" valueType="num">
                                      <p:cBhvr>
                                        <p:cTn id="95" dur="500" decel="100000" fill="hold"/>
                                        <p:tgtEl>
                                          <p:spTgt spid="16"/>
                                        </p:tgtEl>
                                        <p:attrNameLst>
                                          <p:attrName>ppt_x</p:attrName>
                                        </p:attrNameLst>
                                      </p:cBhvr>
                                      <p:tavLst>
                                        <p:tav tm="0">
                                          <p:val>
                                            <p:strVal val="#ppt_x"/>
                                          </p:val>
                                        </p:tav>
                                        <p:tav tm="100000">
                                          <p:val>
                                            <p:strVal val="#ppt_x"/>
                                          </p:val>
                                        </p:tav>
                                      </p:tavLst>
                                    </p:anim>
                                    <p:anim calcmode="lin" valueType="num">
                                      <p:cBhvr>
                                        <p:cTn id="96" dur="500" decel="100000" fill="hold"/>
                                        <p:tgtEl>
                                          <p:spTgt spid="16"/>
                                        </p:tgtEl>
                                        <p:attrNameLst>
                                          <p:attrName>ppt_y</p:attrName>
                                        </p:attrNameLst>
                                      </p:cBhvr>
                                      <p:tavLst>
                                        <p:tav tm="0">
                                          <p:val>
                                            <p:strVal val="#ppt_y+0.0278"/>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17"/>
                                        </p:tgtEl>
                                        <p:attrNameLst>
                                          <p:attrName>style.visibility</p:attrName>
                                        </p:attrNameLst>
                                      </p:cBhvr>
                                      <p:to>
                                        <p:strVal val="visible"/>
                                      </p:to>
                                    </p:set>
                                    <p:animEffect transition="in" filter="fade">
                                      <p:cBhvr>
                                        <p:cTn id="99" dur="500" decel="100000"/>
                                        <p:tgtEl>
                                          <p:spTgt spid="17"/>
                                        </p:tgtEl>
                                      </p:cBhvr>
                                    </p:animEffect>
                                    <p:anim calcmode="lin" valueType="num">
                                      <p:cBhvr>
                                        <p:cTn id="100" dur="500" decel="100000" fill="hold"/>
                                        <p:tgtEl>
                                          <p:spTgt spid="17"/>
                                        </p:tgtEl>
                                        <p:attrNameLst>
                                          <p:attrName>ppt_x</p:attrName>
                                        </p:attrNameLst>
                                      </p:cBhvr>
                                      <p:tavLst>
                                        <p:tav tm="0">
                                          <p:val>
                                            <p:strVal val="#ppt_x"/>
                                          </p:val>
                                        </p:tav>
                                        <p:tav tm="100000">
                                          <p:val>
                                            <p:strVal val="#ppt_x"/>
                                          </p:val>
                                        </p:tav>
                                      </p:tavLst>
                                    </p:anim>
                                    <p:anim calcmode="lin" valueType="num">
                                      <p:cBhvr>
                                        <p:cTn id="101" dur="500" decel="100000" fill="hold"/>
                                        <p:tgtEl>
                                          <p:spTgt spid="17"/>
                                        </p:tgtEl>
                                        <p:attrNameLst>
                                          <p:attrName>ppt_y</p:attrName>
                                        </p:attrNameLst>
                                      </p:cBhvr>
                                      <p:tavLst>
                                        <p:tav tm="0">
                                          <p:val>
                                            <p:strVal val="#ppt_y+0.0278"/>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18"/>
                                        </p:tgtEl>
                                        <p:attrNameLst>
                                          <p:attrName>style.visibility</p:attrName>
                                        </p:attrNameLst>
                                      </p:cBhvr>
                                      <p:to>
                                        <p:strVal val="visible"/>
                                      </p:to>
                                    </p:set>
                                    <p:animEffect transition="in" filter="fade">
                                      <p:cBhvr>
                                        <p:cTn id="104" dur="500" decel="100000"/>
                                        <p:tgtEl>
                                          <p:spTgt spid="18"/>
                                        </p:tgtEl>
                                      </p:cBhvr>
                                    </p:animEffect>
                                    <p:anim calcmode="lin" valueType="num">
                                      <p:cBhvr>
                                        <p:cTn id="105" dur="500" decel="100000" fill="hold"/>
                                        <p:tgtEl>
                                          <p:spTgt spid="18"/>
                                        </p:tgtEl>
                                        <p:attrNameLst>
                                          <p:attrName>ppt_x</p:attrName>
                                        </p:attrNameLst>
                                      </p:cBhvr>
                                      <p:tavLst>
                                        <p:tav tm="0">
                                          <p:val>
                                            <p:strVal val="#ppt_x"/>
                                          </p:val>
                                        </p:tav>
                                        <p:tav tm="100000">
                                          <p:val>
                                            <p:strVal val="#ppt_x"/>
                                          </p:val>
                                        </p:tav>
                                      </p:tavLst>
                                    </p:anim>
                                    <p:anim calcmode="lin" valueType="num">
                                      <p:cBhvr>
                                        <p:cTn id="106" dur="500" decel="100000" fill="hold"/>
                                        <p:tgtEl>
                                          <p:spTgt spid="18"/>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7" grpId="0"/>
      <p:bldP spid="8" grpId="0"/>
      <p:bldP spid="9" grpId="0" animBg="1"/>
      <p:bldP spid="10" grpId="0" animBg="1"/>
      <p:bldP spid="12" grpId="0"/>
      <p:bldP spid="13" grpId="0"/>
      <p:bldP spid="14" grpId="0" animBg="1"/>
      <p:bldP spid="15" grpId="0" animBg="1"/>
      <p:bldP spid="17" grpId="0"/>
      <p:bldP spid="18" grpId="0"/>
      <p:bldP spid="19" grpId="0" animBg="1"/>
      <p:bldP spid="20" grpId="0"/>
      <p:bldP spid="22" grpId="0" animBg="1"/>
      <p:bldP spid="23" grpId="0" animBg="1"/>
      <p:bldP spid="24"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gradFill rotWithShape="1">
            <a:gsLst>
              <a:gs pos="0">
                <a:srgbClr val="8A1828"/>
              </a:gs>
              <a:gs pos="100000">
                <a:srgbClr val="68101C"/>
              </a:gs>
            </a:gsLst>
            <a:lin ang="2100000" scaled="0"/>
          </a:gradFill>
          <a:ln>
            <a:noFill/>
          </a:ln>
        </p:spPr>
        <p:txBody>
          <a:bodyPr rtlCol="0" anchor="ctr"/>
          <a:lstStyle/>
          <a:p/>
        </p:txBody>
      </p:sp>
      <p:pic>
        <p:nvPicPr>
          <p:cNvPr id="3" name="!!WM" descr="Filigrane : icône éléphant Marin’Or (décoratif)"/>
          <p:cNvPicPr>
            <a:picLocks noChangeAspect="1"/>
          </p:cNvPicPr>
          <p:nvPr/>
        </p:nvPicPr>
        <p:blipFill>
          <a:blip r:embed="rId2">
            <a:alphaModFix amt="7000"/>
          </a:blip>
          <a:srcRect/>
          <a:stretch>
            <a:fillRect/>
          </a:stretch>
        </p:blipFill>
        <p:spPr>
          <a:xfrm>
            <a:off x="7056729" y="3253165"/>
            <a:ext cx="6583680" cy="4506043"/>
          </a:xfrm>
          <a:prstGeom prst="rect">
            <a:avLst/>
          </a:prstGeom>
        </p:spPr>
      </p:pic>
      <p:sp>
        <p:nvSpPr>
          <p:cNvPr id="4" name="SecNum13"/>
          <p:cNvSpPr txBox="1"/>
          <p:nvPr/>
        </p:nvSpPr>
        <p:spPr>
          <a:xfrm>
            <a:off x="3352800" y="1234440"/>
            <a:ext cx="5486400" cy="1280160"/>
          </a:xfrm>
          <a:prstGeom prst="rect">
            <a:avLst/>
          </a:prstGeom>
          <a:noFill/>
        </p:spPr>
        <p:txBody>
          <a:bodyPr wrap="square" lIns="0" rIns="0" tIns="0" bIns="0" anchor="ctr">
            <a:noAutofit/>
          </a:bodyPr>
          <a:lstStyle/>
          <a:p>
            <a:pPr algn="ctr"/>
            <a:r>
              <a:rPr sz="9000">
                <a:solidFill>
                  <a:srgbClr val="F9A825"/>
                </a:solidFill>
                <a:latin typeface="Cream Heavy"/>
              </a:rPr>
              <a:t>02</a:t>
            </a:r>
          </a:p>
        </p:txBody>
      </p:sp>
      <mc:AlternateContent xmlns:mc="http://schemas.openxmlformats.org/markup-compatibility/2006">
        <mc:Choice xmlns:am3d="http://schemas.microsoft.com/office/drawing/2017/model3d" Requires="am3d">
          <p:graphicFrame>
            <p:nvGraphicFramePr>
              <p:cNvPr id="5" name="!!P_arachide" descr="Modèle 3D : Pâte d'arachide"/>
              <p:cNvGraphicFramePr>
                <a:graphicFrameLocks noChangeAspect="1"/>
              </p:cNvGraphicFramePr>
              <p:nvPr/>
            </p:nvGraphicFramePr>
            <p:xfrm>
              <a:off x="6715386" y="662606"/>
              <a:ext cx="843715" cy="905357"/>
            </p:xfrm>
            <a:graphic>
              <a:graphicData uri="http://schemas.microsoft.com/office/drawing/2017/model3d">
                <am3d:model3d r:embed="rId3">
                  <am3d:spPr>
                    <a:xfrm>
                      <a:off x="0" y="0"/>
                      <a:ext cx="843715" cy="905357"/>
                    </a:xfrm>
                    <a:prstGeom prst="rect">
                      <a:avLst/>
                    </a:prstGeom>
                  </am3d:spPr>
                  <am3d:camera>
                    <am3d:pos x="0" y="0" z="67740115"/>
                    <am3d:up dx="0" dy="36000000" dz="0"/>
                    <am3d:lookAt x="0" y="0" z="0"/>
                    <am3d:perspective fov="2700000"/>
                  </am3d:camera>
                  <am3d:trans>
                    <am3d:meterPerModelUnit n="83084" d="1000000"/>
                    <am3d:preTrans dx="0" dy="-17570055" dz="0"/>
                    <am3d:scale>
                      <am3d:sx n="1000000" d="1000000"/>
                      <am3d:sy n="1000000" d="1000000"/>
                      <am3d:sz n="1000000" d="1000000"/>
                    </am3d:scale>
                    <am3d:rot ax="720000" ay="1680000" az="480000"/>
                    <am3d:postTrans dx="0" dy="0" dz="0"/>
                  </am3d:trans>
                  <am3d:raster rName="Office3DRenderer" rVer="16.0.8326">
                    <am3d:blip r:embed="rId4"/>
                  </am3d:raster>
                  <am3d:objViewport viewportSz="89893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P_arachide" descr="Modèle 3D : Pâte d'arachide"/>
              <p:cNvPicPr>
                <a:picLocks noGrp="1" noRot="1" noChangeAspect="1" noMove="1" noResize="1" noEditPoints="1" noAdjustHandles="1" noChangeArrowheads="1" noChangeShapeType="1" noCrop="1"/>
              </p:cNvPicPr>
              <p:nvPr/>
            </p:nvPicPr>
            <p:blipFill>
              <a:blip r:embed="rId4"/>
              <a:stretch>
                <a:fillRect/>
              </a:stretch>
            </p:blipFill>
            <p:spPr>
              <a:xfrm>
                <a:off x="6715386" y="662606"/>
                <a:ext cx="843715" cy="90535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6" name="!!P_epice_poisson" descr="Modèle 3D : Épice spéciale poisson"/>
              <p:cNvGraphicFramePr>
                <a:graphicFrameLocks noChangeAspect="1"/>
              </p:cNvGraphicFramePr>
              <p:nvPr/>
            </p:nvGraphicFramePr>
            <p:xfrm>
              <a:off x="4621228" y="690200"/>
              <a:ext cx="705538" cy="871856"/>
            </p:xfrm>
            <a:graphic>
              <a:graphicData uri="http://schemas.microsoft.com/office/drawing/2017/model3d">
                <am3d:model3d r:embed="rId5">
                  <am3d:spPr>
                    <a:xfrm>
                      <a:off x="0" y="0"/>
                      <a:ext cx="705538" cy="871856"/>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720000" ay="1200000" az="540000"/>
                    <am3d:postTrans dx="0" dy="0" dz="0"/>
                  </am3d:trans>
                  <am3d:raster rName="Office3DRenderer" rVer="16.0.8326">
                    <am3d:blip r:embed="rId6"/>
                  </am3d:raster>
                  <am3d:objViewport viewportSz="122550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 name="!!P_epice_poisson" descr="Modèle 3D : Épice spéciale poisson"/>
              <p:cNvPicPr>
                <a:picLocks noGrp="1" noRot="1" noChangeAspect="1" noMove="1" noResize="1" noEditPoints="1" noAdjustHandles="1" noChangeArrowheads="1" noChangeShapeType="1" noCrop="1"/>
              </p:cNvPicPr>
              <p:nvPr/>
            </p:nvPicPr>
            <p:blipFill>
              <a:blip r:embed="rId6"/>
              <a:stretch>
                <a:fillRect/>
              </a:stretch>
            </p:blipFill>
            <p:spPr>
              <a:xfrm>
                <a:off x="4621228" y="690200"/>
                <a:ext cx="705538" cy="871856"/>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7" name="!!P_bouillon" descr="Modèle 3D : Bouillon bio de poulet"/>
              <p:cNvGraphicFramePr>
                <a:graphicFrameLocks noChangeAspect="1"/>
              </p:cNvGraphicFramePr>
              <p:nvPr/>
            </p:nvGraphicFramePr>
            <p:xfrm>
              <a:off x="2767256" y="1097191"/>
              <a:ext cx="690589" cy="923896"/>
            </p:xfrm>
            <a:graphic>
              <a:graphicData uri="http://schemas.microsoft.com/office/drawing/2017/model3d">
                <am3d:model3d r:embed="rId7">
                  <am3d:spPr>
                    <a:xfrm>
                      <a:off x="0" y="0"/>
                      <a:ext cx="690589" cy="923896"/>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720000" ay="19800000" az="21180000"/>
                    <am3d:postTrans dx="0" dy="0" dz="0"/>
                  </am3d:trans>
                  <am3d:raster rName="Office3DRenderer" rVer="16.0.8326">
                    <am3d:blip r:embed="rId8"/>
                  </am3d:raster>
                  <am3d:objViewport viewportSz="130652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P_bouillon" descr="Modèle 3D : Bouillon bio de poulet"/>
              <p:cNvPicPr>
                <a:picLocks noGrp="1" noRot="1" noChangeAspect="1" noMove="1" noResize="1" noEditPoints="1" noAdjustHandles="1" noChangeArrowheads="1" noChangeShapeType="1" noCrop="1"/>
              </p:cNvPicPr>
              <p:nvPr/>
            </p:nvPicPr>
            <p:blipFill>
              <a:blip r:embed="rId8"/>
              <a:stretch>
                <a:fillRect/>
              </a:stretch>
            </p:blipFill>
            <p:spPr>
              <a:xfrm>
                <a:off x="2767256" y="1097191"/>
                <a:ext cx="690589" cy="923896"/>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8" name="!!P_paprika" descr="Modèle 3D : Paprika"/>
              <p:cNvGraphicFramePr>
                <a:graphicFrameLocks noChangeAspect="1"/>
              </p:cNvGraphicFramePr>
              <p:nvPr/>
            </p:nvGraphicFramePr>
            <p:xfrm>
              <a:off x="8830796" y="1095756"/>
              <a:ext cx="657151" cy="927853"/>
            </p:xfrm>
            <a:graphic>
              <a:graphicData uri="http://schemas.microsoft.com/office/drawing/2017/model3d">
                <am3d:model3d r:embed="rId9">
                  <am3d:spPr>
                    <a:xfrm>
                      <a:off x="0" y="0"/>
                      <a:ext cx="657151" cy="927853"/>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720000" ay="19560000" az="21240000"/>
                    <am3d:postTrans dx="0" dy="0" dz="0"/>
                  </am3d:trans>
                  <am3d:raster rName="Office3DRenderer" rVer="16.0.8326">
                    <am3d:blip r:embed="rId10"/>
                  </am3d:raster>
                  <am3d:objViewport viewportSz="130683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 name="!!P_paprika" descr="Modèle 3D : Paprika"/>
              <p:cNvPicPr>
                <a:picLocks noGrp="1" noRot="1" noChangeAspect="1" noMove="1" noResize="1" noEditPoints="1" noAdjustHandles="1" noChangeArrowheads="1" noChangeShapeType="1" noCrop="1"/>
              </p:cNvPicPr>
              <p:nvPr/>
            </p:nvPicPr>
            <p:blipFill>
              <a:blip r:embed="rId10"/>
              <a:stretch>
                <a:fillRect/>
              </a:stretch>
            </p:blipFill>
            <p:spPr>
              <a:xfrm>
                <a:off x="8830796" y="1095756"/>
                <a:ext cx="657151" cy="927853"/>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9" name="!!P_marinade_mixte" descr="Modèle 3D : Marinade mixte"/>
              <p:cNvGraphicFramePr>
                <a:graphicFrameLocks noChangeAspect="1"/>
              </p:cNvGraphicFramePr>
              <p:nvPr/>
            </p:nvGraphicFramePr>
            <p:xfrm>
              <a:off x="1338755" y="1848421"/>
              <a:ext cx="543135" cy="987701"/>
            </p:xfrm>
            <a:graphic>
              <a:graphicData uri="http://schemas.microsoft.com/office/drawing/2017/model3d">
                <am3d:model3d r:embed="rId11">
                  <am3d:spPr>
                    <a:xfrm>
                      <a:off x="0" y="0"/>
                      <a:ext cx="543135" cy="987701"/>
                    </a:xfrm>
                    <a:prstGeom prst="rect">
                      <a:avLst/>
                    </a:prstGeom>
                  </am3d:spPr>
                  <am3d:camera>
                    <am3d:pos x="0" y="0" z="67740115"/>
                    <am3d:up dx="0" dy="36000000" dz="0"/>
                    <am3d:lookAt x="0" y="0" z="0"/>
                    <am3d:perspective fov="2700000"/>
                  </am3d:camera>
                  <am3d:trans>
                    <am3d:meterPerModelUnit n="62952" d="1000000"/>
                    <am3d:preTrans dx="385" dy="-17999999" dz="-917"/>
                    <am3d:scale>
                      <am3d:sx n="1000000" d="1000000"/>
                      <am3d:sy n="1000000" d="1000000"/>
                      <am3d:sz n="1000000" d="1000000"/>
                    </am3d:scale>
                    <am3d:rot ax="720000" ay="1440000" az="240000"/>
                    <am3d:postTrans dx="0" dy="0" dz="0"/>
                  </am3d:trans>
                  <am3d:raster rName="Office3DRenderer" rVer="16.0.8326">
                    <am3d:blip r:embed="rId12"/>
                  </am3d:raster>
                  <am3d:objViewport viewportSz="140812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 name="!!P_marinade_mixte" descr="Modèle 3D : Marinade mixte"/>
              <p:cNvPicPr>
                <a:picLocks noGrp="1" noRot="1" noChangeAspect="1" noMove="1" noResize="1" noEditPoints="1" noAdjustHandles="1" noChangeArrowheads="1" noChangeShapeType="1" noCrop="1"/>
              </p:cNvPicPr>
              <p:nvPr/>
            </p:nvPicPr>
            <p:blipFill>
              <a:blip r:embed="rId12"/>
              <a:stretch>
                <a:fillRect/>
              </a:stretch>
            </p:blipFill>
            <p:spPr>
              <a:xfrm>
                <a:off x="1338755" y="1848421"/>
                <a:ext cx="543135" cy="987701"/>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0" name="!!P_marinade_poulet" descr="Modèle 3D : Marinade poulet"/>
              <p:cNvGraphicFramePr>
                <a:graphicFrameLocks noChangeAspect="1"/>
              </p:cNvGraphicFramePr>
              <p:nvPr/>
            </p:nvGraphicFramePr>
            <p:xfrm>
              <a:off x="10181768" y="1862528"/>
              <a:ext cx="611725" cy="983993"/>
            </p:xfrm>
            <a:graphic>
              <a:graphicData uri="http://schemas.microsoft.com/office/drawing/2017/model3d">
                <am3d:model3d r:embed="rId13">
                  <am3d:spPr>
                    <a:xfrm>
                      <a:off x="0" y="0"/>
                      <a:ext cx="611725" cy="983993"/>
                    </a:xfrm>
                    <a:prstGeom prst="rect">
                      <a:avLst/>
                    </a:prstGeom>
                  </am3d:spPr>
                  <am3d:camera>
                    <am3d:pos x="0" y="0" z="67740115"/>
                    <am3d:up dx="0" dy="36000000" dz="0"/>
                    <am3d:lookAt x="0" y="0" z="0"/>
                    <am3d:perspective fov="2700000"/>
                  </am3d:camera>
                  <am3d:trans>
                    <am3d:meterPerModelUnit n="62952" d="1000000"/>
                    <am3d:preTrans dx="385" dy="-17999999" dz="-917"/>
                    <am3d:scale>
                      <am3d:sx n="1000000" d="1000000"/>
                      <am3d:sy n="1000000" d="1000000"/>
                      <am3d:sz n="1000000" d="1000000"/>
                    </am3d:scale>
                    <am3d:rot ax="720000" ay="1080000" az="600000"/>
                    <am3d:postTrans dx="0" dy="0" dz="0"/>
                  </am3d:trans>
                  <am3d:raster rName="Office3DRenderer" rVer="16.0.8326">
                    <am3d:blip r:embed="rId14"/>
                  </am3d:raster>
                  <am3d:objViewport viewportSz="140857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0" name="!!P_marinade_poulet" descr="Modèle 3D : Marinade poulet"/>
              <p:cNvPicPr>
                <a:picLocks noGrp="1" noRot="1" noChangeAspect="1" noMove="1" noResize="1" noEditPoints="1" noAdjustHandles="1" noChangeArrowheads="1" noChangeShapeType="1" noCrop="1"/>
              </p:cNvPicPr>
              <p:nvPr/>
            </p:nvPicPr>
            <p:blipFill>
              <a:blip r:embed="rId14"/>
              <a:stretch>
                <a:fillRect/>
              </a:stretch>
            </p:blipFill>
            <p:spPr>
              <a:xfrm>
                <a:off x="10181768" y="1862528"/>
                <a:ext cx="611725" cy="983993"/>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1" name="!!P_epice_poulet" descr="Modèle 3D : Épice spéciale poulet"/>
              <p:cNvGraphicFramePr>
                <a:graphicFrameLocks noChangeAspect="1"/>
              </p:cNvGraphicFramePr>
              <p:nvPr/>
            </p:nvGraphicFramePr>
            <p:xfrm>
              <a:off x="574829" y="2771387"/>
              <a:ext cx="967792" cy="1186250"/>
            </p:xfrm>
            <a:graphic>
              <a:graphicData uri="http://schemas.microsoft.com/office/drawing/2017/model3d">
                <am3d:model3d r:embed="rId15">
                  <am3d:spPr>
                    <a:xfrm>
                      <a:off x="0" y="0"/>
                      <a:ext cx="967792" cy="1186250"/>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720000" ay="20880000" az="21000000"/>
                    <am3d:postTrans dx="0" dy="0" dz="0"/>
                  </am3d:trans>
                  <am3d:raster rName="Office3DRenderer" rVer="16.0.8326">
                    <am3d:blip r:embed="rId16"/>
                  </am3d:raster>
                  <am3d:objViewport viewportSz="164430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1" name="!!P_epice_poulet" descr="Modèle 3D : Épice spéciale poulet"/>
              <p:cNvPicPr>
                <a:picLocks noGrp="1" noRot="1" noChangeAspect="1" noMove="1" noResize="1" noEditPoints="1" noAdjustHandles="1" noChangeArrowheads="1" noChangeShapeType="1" noCrop="1"/>
              </p:cNvPicPr>
              <p:nvPr/>
            </p:nvPicPr>
            <p:blipFill>
              <a:blip r:embed="rId16"/>
              <a:stretch>
                <a:fillRect/>
              </a:stretch>
            </p:blipFill>
            <p:spPr>
              <a:xfrm>
                <a:off x="574829" y="2771387"/>
                <a:ext cx="967792" cy="1186250"/>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2" name="!!P_piment" descr="Modèle 3D : Piment en poudre"/>
              <p:cNvGraphicFramePr>
                <a:graphicFrameLocks noChangeAspect="1"/>
              </p:cNvGraphicFramePr>
              <p:nvPr/>
            </p:nvGraphicFramePr>
            <p:xfrm>
              <a:off x="10819663" y="2785857"/>
              <a:ext cx="939910" cy="1170188"/>
            </p:xfrm>
            <a:graphic>
              <a:graphicData uri="http://schemas.microsoft.com/office/drawing/2017/model3d">
                <am3d:model3d r:embed="rId17">
                  <am3d:spPr>
                    <a:xfrm>
                      <a:off x="0" y="0"/>
                      <a:ext cx="939910" cy="1170188"/>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720000" ay="20280000" az="21060000"/>
                    <am3d:postTrans dx="0" dy="0" dz="0"/>
                  </am3d:trans>
                  <am3d:raster rName="Office3DRenderer" rVer="16.0.8326">
                    <am3d:blip r:embed="rId18"/>
                  </am3d:raster>
                  <am3d:objViewport viewportSz="164484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2" name="!!P_piment" descr="Modèle 3D : Piment en poudre"/>
              <p:cNvPicPr>
                <a:picLocks noGrp="1" noRot="1" noChangeAspect="1" noMove="1" noResize="1" noEditPoints="1" noAdjustHandles="1" noChangeArrowheads="1" noChangeShapeType="1" noCrop="1"/>
              </p:cNvPicPr>
              <p:nvPr/>
            </p:nvPicPr>
            <p:blipFill>
              <a:blip r:embed="rId18"/>
              <a:stretch>
                <a:fillRect/>
              </a:stretch>
            </p:blipFill>
            <p:spPr>
              <a:xfrm>
                <a:off x="10819663" y="2785857"/>
                <a:ext cx="939910" cy="1170188"/>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3" name="!!P_ail" descr="Modèle 3D : Purée d'ail"/>
              <p:cNvGraphicFramePr>
                <a:graphicFrameLocks noChangeAspect="1"/>
              </p:cNvGraphicFramePr>
              <p:nvPr/>
            </p:nvGraphicFramePr>
            <p:xfrm>
              <a:off x="687909" y="3770936"/>
              <a:ext cx="923967" cy="1310928"/>
            </p:xfrm>
            <a:graphic>
              <a:graphicData uri="http://schemas.microsoft.com/office/drawing/2017/model3d">
                <am3d:model3d r:embed="rId19">
                  <am3d:spPr>
                    <a:xfrm>
                      <a:off x="0" y="0"/>
                      <a:ext cx="923967" cy="1310928"/>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720000" ay="2100000" az="360000"/>
                    <am3d:postTrans dx="0" dy="0" dz="0"/>
                  </am3d:trans>
                  <am3d:raster rName="Office3DRenderer" rVer="16.0.8326">
                    <am3d:blip r:embed="rId20"/>
                  </am3d:raster>
                  <am3d:objViewport viewportSz="184267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3" name="!!P_ail" descr="Modèle 3D : Purée d'ail"/>
              <p:cNvPicPr>
                <a:picLocks noGrp="1" noRot="1" noChangeAspect="1" noMove="1" noResize="1" noEditPoints="1" noAdjustHandles="1" noChangeArrowheads="1" noChangeShapeType="1" noCrop="1"/>
              </p:cNvPicPr>
              <p:nvPr/>
            </p:nvPicPr>
            <p:blipFill>
              <a:blip r:embed="rId20"/>
              <a:stretch>
                <a:fillRect/>
              </a:stretch>
            </p:blipFill>
            <p:spPr>
              <a:xfrm>
                <a:off x="687909" y="3770936"/>
                <a:ext cx="923967" cy="1310928"/>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4" name="!!P_akpi" descr="Modèle 3D : Graines d'akpi"/>
              <p:cNvGraphicFramePr>
                <a:graphicFrameLocks noChangeAspect="1"/>
              </p:cNvGraphicFramePr>
              <p:nvPr/>
            </p:nvGraphicFramePr>
            <p:xfrm>
              <a:off x="10526946" y="3767723"/>
              <a:ext cx="858396" cy="1319191"/>
            </p:xfrm>
            <a:graphic>
              <a:graphicData uri="http://schemas.microsoft.com/office/drawing/2017/model3d">
                <am3d:model3d r:embed="rId21">
                  <am3d:spPr>
                    <a:xfrm>
                      <a:off x="0" y="0"/>
                      <a:ext cx="858396" cy="1319191"/>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720000" ay="2400000" az="300000"/>
                    <am3d:postTrans dx="0" dy="0" dz="0"/>
                  </am3d:trans>
                  <am3d:raster rName="Office3DRenderer" rVer="16.0.8326">
                    <am3d:blip r:embed="rId22"/>
                  </am3d:raster>
                  <am3d:objViewport viewportSz="184318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4" name="!!P_akpi" descr="Modèle 3D : Graines d'akpi"/>
              <p:cNvPicPr>
                <a:picLocks noGrp="1" noRot="1" noChangeAspect="1" noMove="1" noResize="1" noEditPoints="1" noAdjustHandles="1" noChangeArrowheads="1" noChangeShapeType="1" noCrop="1"/>
              </p:cNvPicPr>
              <p:nvPr/>
            </p:nvPicPr>
            <p:blipFill>
              <a:blip r:embed="rId22"/>
              <a:stretch>
                <a:fillRect/>
              </a:stretch>
            </p:blipFill>
            <p:spPr>
              <a:xfrm>
                <a:off x="10526946" y="3767723"/>
                <a:ext cx="858396" cy="1319191"/>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5" name="!!P_poudre_poisson" descr="Modèle 3D : Poudre de poisson sec"/>
              <p:cNvGraphicFramePr>
                <a:graphicFrameLocks noChangeAspect="1"/>
              </p:cNvGraphicFramePr>
              <p:nvPr/>
            </p:nvGraphicFramePr>
            <p:xfrm>
              <a:off x="1786719" y="4645064"/>
              <a:ext cx="1111376" cy="1416573"/>
            </p:xfrm>
            <a:graphic>
              <a:graphicData uri="http://schemas.microsoft.com/office/drawing/2017/model3d">
                <am3d:model3d r:embed="rId23">
                  <am3d:spPr>
                    <a:xfrm>
                      <a:off x="0" y="0"/>
                      <a:ext cx="1111376" cy="1416573"/>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720000" ay="20040000" az="21120000"/>
                    <am3d:postTrans dx="0" dy="0" dz="0"/>
                  </am3d:trans>
                  <am3d:raster rName="Office3DRenderer" rVer="16.0.8326">
                    <am3d:blip r:embed="rId24"/>
                  </am3d:raster>
                  <am3d:objViewport viewportSz="201544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5" name="!!P_poudre_poisson" descr="Modèle 3D : Poudre de poisson sec"/>
              <p:cNvPicPr>
                <a:picLocks noGrp="1" noRot="1" noChangeAspect="1" noMove="1" noResize="1" noEditPoints="1" noAdjustHandles="1" noChangeArrowheads="1" noChangeShapeType="1" noCrop="1"/>
              </p:cNvPicPr>
              <p:nvPr/>
            </p:nvPicPr>
            <p:blipFill>
              <a:blip r:embed="rId24"/>
              <a:stretch>
                <a:fillRect/>
              </a:stretch>
            </p:blipFill>
            <p:spPr>
              <a:xfrm>
                <a:off x="1786719" y="4645064"/>
                <a:ext cx="1111376" cy="1416573"/>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6" name="!!P_huile" descr="Modèle 3D : Huile rouge"/>
              <p:cNvGraphicFramePr>
                <a:graphicFrameLocks noChangeAspect="1"/>
              </p:cNvGraphicFramePr>
              <p:nvPr/>
            </p:nvGraphicFramePr>
            <p:xfrm>
              <a:off x="9683863" y="4592757"/>
              <a:ext cx="722445" cy="1547639"/>
            </p:xfrm>
            <a:graphic>
              <a:graphicData uri="http://schemas.microsoft.com/office/drawing/2017/model3d">
                <am3d:model3d r:embed="rId25">
                  <am3d:spPr>
                    <a:xfrm>
                      <a:off x="0" y="0"/>
                      <a:ext cx="722445" cy="1547639"/>
                    </a:xfrm>
                    <a:prstGeom prst="rect">
                      <a:avLst/>
                    </a:prstGeom>
                  </am3d:spPr>
                  <am3d:camera>
                    <am3d:pos x="0" y="0" z="67740115"/>
                    <am3d:up dx="0" dy="36000000" dz="0"/>
                    <am3d:lookAt x="0" y="0" z="0"/>
                    <am3d:perspective fov="2700000"/>
                  </am3d:camera>
                  <am3d:trans>
                    <am3d:meterPerModelUnit n="54655" d="1000000"/>
                    <am3d:preTrans dx="0" dy="-18000000" dz="1652"/>
                    <am3d:scale>
                      <am3d:sx n="1000000" d="1000000"/>
                      <am3d:sy n="1000000" d="1000000"/>
                      <am3d:sz n="1000000" d="1000000"/>
                    </am3d:scale>
                    <am3d:rot ax="720000" ay="20640000" az="20940000"/>
                    <am3d:postTrans dx="0" dy="0" dz="0"/>
                  </am3d:trans>
                  <am3d:raster rName="Office3DRenderer" rVer="16.0.8326">
                    <am3d:blip r:embed="rId26"/>
                  </am3d:raster>
                  <am3d:objViewport viewportSz="224760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6" name="!!P_huile" descr="Modèle 3D : Huile rouge"/>
              <p:cNvPicPr>
                <a:picLocks noGrp="1" noRot="1" noChangeAspect="1" noMove="1" noResize="1" noEditPoints="1" noAdjustHandles="1" noChangeArrowheads="1" noChangeShapeType="1" noCrop="1"/>
              </p:cNvPicPr>
              <p:nvPr/>
            </p:nvPicPr>
            <p:blipFill>
              <a:blip r:embed="rId26"/>
              <a:stretch>
                <a:fillRect/>
              </a:stretch>
            </p:blipFill>
            <p:spPr>
              <a:xfrm>
                <a:off x="9683863" y="4592757"/>
                <a:ext cx="722445" cy="1547639"/>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7" name="!!P_marinade_poisson" descr="Modèle 3D : Marinade poisson"/>
              <p:cNvGraphicFramePr>
                <a:graphicFrameLocks noChangeAspect="1"/>
              </p:cNvGraphicFramePr>
              <p:nvPr/>
            </p:nvGraphicFramePr>
            <p:xfrm>
              <a:off x="3465368" y="5250154"/>
              <a:ext cx="875957" cy="1445182"/>
            </p:xfrm>
            <a:graphic>
              <a:graphicData uri="http://schemas.microsoft.com/office/drawing/2017/model3d">
                <am3d:model3d r:embed="rId27">
                  <am3d:spPr>
                    <a:xfrm>
                      <a:off x="0" y="0"/>
                      <a:ext cx="875957" cy="1445182"/>
                    </a:xfrm>
                    <a:prstGeom prst="rect">
                      <a:avLst/>
                    </a:prstGeom>
                  </am3d:spPr>
                  <am3d:camera>
                    <am3d:pos x="0" y="0" z="67740115"/>
                    <am3d:up dx="0" dy="36000000" dz="0"/>
                    <am3d:lookAt x="0" y="0" z="0"/>
                    <am3d:perspective fov="2700000"/>
                  </am3d:camera>
                  <am3d:trans>
                    <am3d:meterPerModelUnit n="62952" d="1000000"/>
                    <am3d:preTrans dx="385" dy="-17999999" dz="-917"/>
                    <am3d:scale>
                      <am3d:sx n="1000000" d="1000000"/>
                      <am3d:sy n="1000000" d="1000000"/>
                      <am3d:sz n="1000000" d="1000000"/>
                    </am3d:scale>
                    <am3d:rot ax="720000" ay="720000" az="540000"/>
                    <am3d:postTrans dx="0" dy="0" dz="0"/>
                  </am3d:trans>
                  <am3d:raster rName="Office3DRenderer" rVer="16.0.8326">
                    <am3d:blip r:embed="rId28"/>
                  </am3d:raster>
                  <am3d:objViewport viewportSz="206454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7" name="!!P_marinade_poisson" descr="Modèle 3D : Marinade poisson"/>
              <p:cNvPicPr>
                <a:picLocks noGrp="1" noRot="1" noChangeAspect="1" noMove="1" noResize="1" noEditPoints="1" noAdjustHandles="1" noChangeArrowheads="1" noChangeShapeType="1" noCrop="1"/>
              </p:cNvPicPr>
              <p:nvPr/>
            </p:nvPicPr>
            <p:blipFill>
              <a:blip r:embed="rId28"/>
              <a:stretch>
                <a:fillRect/>
              </a:stretch>
            </p:blipFill>
            <p:spPr>
              <a:xfrm>
                <a:off x="3465368" y="5250154"/>
                <a:ext cx="875957" cy="1445182"/>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8" name="!!P_djoumble" descr="Modèle 3D : Poudre de djoumblé"/>
              <p:cNvGraphicFramePr>
                <a:graphicFrameLocks noChangeAspect="1"/>
              </p:cNvGraphicFramePr>
              <p:nvPr/>
            </p:nvGraphicFramePr>
            <p:xfrm>
              <a:off x="7555372" y="5226747"/>
              <a:ext cx="1130484" cy="1508327"/>
            </p:xfrm>
            <a:graphic>
              <a:graphicData uri="http://schemas.microsoft.com/office/drawing/2017/model3d">
                <am3d:model3d r:embed="rId29">
                  <am3d:spPr>
                    <a:xfrm>
                      <a:off x="0" y="0"/>
                      <a:ext cx="1130484" cy="1508327"/>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720000" ay="1800000" az="420000"/>
                    <am3d:postTrans dx="0" dy="0" dz="0"/>
                  </am3d:trans>
                  <am3d:raster rName="Office3DRenderer" rVer="16.0.8326">
                    <am3d:blip r:embed="rId30"/>
                  </am3d:raster>
                  <am3d:objViewport viewportSz="213298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8" name="!!P_djoumble" descr="Modèle 3D : Poudre de djoumblé"/>
              <p:cNvPicPr>
                <a:picLocks noGrp="1" noRot="1" noChangeAspect="1" noMove="1" noResize="1" noEditPoints="1" noAdjustHandles="1" noChangeArrowheads="1" noChangeShapeType="1" noCrop="1"/>
              </p:cNvPicPr>
              <p:nvPr/>
            </p:nvPicPr>
            <p:blipFill>
              <a:blip r:embed="rId30"/>
              <a:stretch>
                <a:fillRect/>
              </a:stretch>
            </p:blipFill>
            <p:spPr>
              <a:xfrm>
                <a:off x="7555372" y="5226747"/>
                <a:ext cx="1130484" cy="150832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9" name="!!P_crevette" descr="Modèle 3D : Poudre de crevettes séchées"/>
              <p:cNvGraphicFramePr>
                <a:graphicFrameLocks noChangeAspect="1"/>
              </p:cNvGraphicFramePr>
              <p:nvPr/>
            </p:nvGraphicFramePr>
            <p:xfrm>
              <a:off x="5622290" y="5421326"/>
              <a:ext cx="1031261" cy="1553104"/>
            </p:xfrm>
            <a:graphic>
              <a:graphicData uri="http://schemas.microsoft.com/office/drawing/2017/model3d">
                <am3d:model3d r:embed="rId31">
                  <am3d:spPr>
                    <a:xfrm>
                      <a:off x="0" y="0"/>
                      <a:ext cx="1031261" cy="1553104"/>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720000" ay="19320000" az="21300000"/>
                    <am3d:postTrans dx="0" dy="0" dz="0"/>
                  </am3d:trans>
                  <am3d:raster rName="Office3DRenderer" rVer="16.0.8326">
                    <am3d:blip r:embed="rId32"/>
                  </am3d:raster>
                  <am3d:objViewport viewportSz="217434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9" name="!!P_crevette" descr="Modèle 3D : Poudre de crevettes séchées"/>
              <p:cNvPicPr>
                <a:picLocks noGrp="1" noRot="1" noChangeAspect="1" noMove="1" noResize="1" noEditPoints="1" noAdjustHandles="1" noChangeArrowheads="1" noChangeShapeType="1" noCrop="1"/>
              </p:cNvPicPr>
              <p:nvPr/>
            </p:nvPicPr>
            <p:blipFill>
              <a:blip r:embed="rId32"/>
              <a:stretch>
                <a:fillRect/>
              </a:stretch>
            </p:blipFill>
            <p:spPr>
              <a:xfrm>
                <a:off x="5622290" y="5421326"/>
                <a:ext cx="1031261" cy="1553104"/>
              </a:xfrm>
              <a:prstGeom prst="rect">
                <a:avLst/>
              </a:prstGeom>
            </p:spPr>
          </p:pic>
        </mc:Fallback>
      </mc:AlternateContent>
      <p:sp>
        <p:nvSpPr>
          <p:cNvPr id="20" name="Titre13"/>
          <p:cNvSpPr txBox="1"/>
          <p:nvPr/>
        </p:nvSpPr>
        <p:spPr>
          <a:xfrm>
            <a:off x="0" y="3017520"/>
            <a:ext cx="12192000" cy="822960"/>
          </a:xfrm>
          <a:prstGeom prst="rect">
            <a:avLst/>
          </a:prstGeom>
          <a:noFill/>
        </p:spPr>
        <p:txBody>
          <a:bodyPr wrap="square" lIns="0" rIns="0" tIns="0" bIns="0" anchor="ctr">
            <a:noAutofit/>
          </a:bodyPr>
          <a:lstStyle/>
          <a:p>
            <a:pPr algn="ctr">
              <a:lnSpc>
                <a:spcPct val="95000"/>
              </a:lnSpc>
            </a:pPr>
            <a:r>
              <a:rPr sz="4400">
                <a:solidFill>
                  <a:srgbClr val="FFFFFF"/>
                </a:solidFill>
                <a:latin typeface="Cream Heavy"/>
              </a:rPr>
              <a:t>Présentation des produits</a:t>
            </a:r>
          </a:p>
        </p:txBody>
      </p:sp>
      <p:sp>
        <p:nvSpPr>
          <p:cNvPr id="21" name="!!Accent"/>
          <p:cNvSpPr/>
          <p:nvPr/>
        </p:nvSpPr>
        <p:spPr>
          <a:xfrm>
            <a:off x="685800" y="338328"/>
            <a:ext cx="384048" cy="32004"/>
          </a:xfrm>
          <a:prstGeom prst="rect">
            <a:avLst/>
          </a:prstGeom>
          <a:solidFill>
            <a:srgbClr val="F9A825"/>
          </a:solidFill>
          <a:ln>
            <a:noFill/>
          </a:ln>
        </p:spPr>
        <p:txBody>
          <a:bodyPr rtlCol="0" anchor="ctr"/>
          <a:lstStyle/>
          <a:p/>
        </p:txBody>
      </p:sp>
      <p:sp>
        <p:nvSpPr>
          <p:cNvPr id="22" name="Kicker13"/>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F9A825"/>
                </a:solidFill>
                <a:latin typeface="Montserrat SemiBold"/>
              </a:rPr>
              <a:t>02 · Les produits</a:t>
            </a:r>
          </a:p>
        </p:txBody>
      </p:sp>
      <p:sp>
        <p:nvSpPr>
          <p:cNvPr id="23" name="Num13"/>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F9A825"/>
                </a:solidFill>
                <a:latin typeface="Montserrat SemiBold"/>
              </a:rPr>
              <a:t>12</a:t>
            </a:r>
          </a:p>
        </p:txBody>
      </p:sp>
      <p:sp>
        <p:nvSpPr>
          <p:cNvPr id="24" name="!!Dot0"/>
          <p:cNvSpPr/>
          <p:nvPr/>
        </p:nvSpPr>
        <p:spPr>
          <a:xfrm>
            <a:off x="685800" y="6382512"/>
            <a:ext cx="68580" cy="68580"/>
          </a:xfrm>
          <a:prstGeom prst="ellipse">
            <a:avLst/>
          </a:prstGeom>
          <a:solidFill>
            <a:srgbClr val="F9A825">
              <a:alpha val="75000"/>
            </a:srgbClr>
          </a:solidFill>
          <a:ln>
            <a:noFill/>
          </a:ln>
        </p:spPr>
        <p:txBody>
          <a:bodyPr rtlCol="0" anchor="ctr"/>
          <a:lstStyle/>
          <a:p/>
        </p:txBody>
      </p:sp>
      <p:sp>
        <p:nvSpPr>
          <p:cNvPr id="25" name="!!Dot1"/>
          <p:cNvSpPr/>
          <p:nvPr/>
        </p:nvSpPr>
        <p:spPr>
          <a:xfrm>
            <a:off x="832104" y="6382512"/>
            <a:ext cx="68580" cy="68580"/>
          </a:xfrm>
          <a:prstGeom prst="ellipse">
            <a:avLst/>
          </a:prstGeom>
          <a:solidFill>
            <a:srgbClr val="FFECD1">
              <a:alpha val="75000"/>
            </a:srgbClr>
          </a:solidFill>
          <a:ln>
            <a:noFill/>
          </a:ln>
        </p:spPr>
        <p:txBody>
          <a:bodyPr rtlCol="0" anchor="ctr"/>
          <a:lstStyle/>
          <a:p/>
        </p:txBody>
      </p:sp>
      <p:sp>
        <p:nvSpPr>
          <p:cNvPr id="26" name="!!Dot2"/>
          <p:cNvSpPr/>
          <p:nvPr/>
        </p:nvSpPr>
        <p:spPr>
          <a:xfrm>
            <a:off x="978408" y="6382512"/>
            <a:ext cx="68580" cy="68580"/>
          </a:xfrm>
          <a:prstGeom prst="ellipse">
            <a:avLst/>
          </a:prstGeom>
          <a:solidFill>
            <a:srgbClr val="F9A825">
              <a:alpha val="75000"/>
            </a:srgbClr>
          </a:solidFill>
          <a:ln>
            <a:noFill/>
          </a:ln>
        </p:spPr>
        <p:txBody>
          <a:bodyPr rtlCol="0" anchor="ctr"/>
          <a:lstStyle/>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decel="100000"/>
                                        <p:tgtEl>
                                          <p:spTgt spid="4"/>
                                        </p:tgtEl>
                                      </p:cBhvr>
                                    </p:animEffect>
                                    <p:anim calcmode="lin" valueType="num">
                                      <p:cBhvr>
                                        <p:cTn id="8" dur="500" decel="100000" fill="hold"/>
                                        <p:tgtEl>
                                          <p:spTgt spid="4"/>
                                        </p:tgtEl>
                                        <p:attrNameLst>
                                          <p:attrName>ppt_x</p:attrName>
                                        </p:attrNameLst>
                                      </p:cBhvr>
                                      <p:tavLst>
                                        <p:tav tm="0">
                                          <p:val>
                                            <p:strVal val="#ppt_x"/>
                                          </p:val>
                                        </p:tav>
                                        <p:tav tm="100000">
                                          <p:val>
                                            <p:strVal val="#ppt_x"/>
                                          </p:val>
                                        </p:tav>
                                      </p:tavLst>
                                    </p:anim>
                                    <p:anim calcmode="lin" valueType="num">
                                      <p:cBhvr>
                                        <p:cTn id="9" dur="500" decel="100000" fill="hold"/>
                                        <p:tgtEl>
                                          <p:spTgt spid="4"/>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decel="100000"/>
                                        <p:tgtEl>
                                          <p:spTgt spid="20"/>
                                        </p:tgtEl>
                                      </p:cBhvr>
                                    </p:animEffect>
                                    <p:anim calcmode="lin" valueType="num">
                                      <p:cBhvr>
                                        <p:cTn id="13" dur="500" decel="100000" fill="hold"/>
                                        <p:tgtEl>
                                          <p:spTgt spid="20"/>
                                        </p:tgtEl>
                                        <p:attrNameLst>
                                          <p:attrName>ppt_x</p:attrName>
                                        </p:attrNameLst>
                                      </p:cBhvr>
                                      <p:tavLst>
                                        <p:tav tm="0">
                                          <p:val>
                                            <p:strVal val="#ppt_x"/>
                                          </p:val>
                                        </p:tav>
                                        <p:tav tm="100000">
                                          <p:val>
                                            <p:strVal val="#ppt_x"/>
                                          </p:val>
                                        </p:tav>
                                      </p:tavLst>
                                    </p:anim>
                                    <p:anim calcmode="lin" valueType="num">
                                      <p:cBhvr>
                                        <p:cTn id="14" dur="500" decel="100000" fill="hold"/>
                                        <p:tgtEl>
                                          <p:spTgt spid="20"/>
                                        </p:tgtEl>
                                        <p:attrNameLst>
                                          <p:attrName>ppt_y</p:attrName>
                                        </p:attrNameLst>
                                      </p:cBhvr>
                                      <p:tavLst>
                                        <p:tav tm="0">
                                          <p:val>
                                            <p:strVal val="#ppt_y+0.0278"/>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decel="100000"/>
                                        <p:tgtEl>
                                          <p:spTgt spid="22"/>
                                        </p:tgtEl>
                                      </p:cBhvr>
                                    </p:animEffect>
                                    <p:anim calcmode="lin" valueType="num">
                                      <p:cBhvr>
                                        <p:cTn id="18" dur="500" decel="100000" fill="hold"/>
                                        <p:tgtEl>
                                          <p:spTgt spid="22"/>
                                        </p:tgtEl>
                                        <p:attrNameLst>
                                          <p:attrName>ppt_x</p:attrName>
                                        </p:attrNameLst>
                                      </p:cBhvr>
                                      <p:tavLst>
                                        <p:tav tm="0">
                                          <p:val>
                                            <p:strVal val="#ppt_x"/>
                                          </p:val>
                                        </p:tav>
                                        <p:tav tm="100000">
                                          <p:val>
                                            <p:strVal val="#ppt_x"/>
                                          </p:val>
                                        </p:tav>
                                      </p:tavLst>
                                    </p:anim>
                                    <p:anim calcmode="lin" valueType="num">
                                      <p:cBhvr>
                                        <p:cTn id="19" dur="500" decel="100000" fill="hold"/>
                                        <p:tgtEl>
                                          <p:spTgt spid="22"/>
                                        </p:tgtEl>
                                        <p:attrNameLst>
                                          <p:attrName>ppt_y</p:attrName>
                                        </p:attrNameLst>
                                      </p:cBhvr>
                                      <p:tavLst>
                                        <p:tav tm="0">
                                          <p:val>
                                            <p:strVal val="#ppt_y+0.0278"/>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decel="100000"/>
                                        <p:tgtEl>
                                          <p:spTgt spid="23"/>
                                        </p:tgtEl>
                                      </p:cBhvr>
                                    </p:animEffect>
                                    <p:anim calcmode="lin" valueType="num">
                                      <p:cBhvr>
                                        <p:cTn id="23" dur="500" decel="100000" fill="hold"/>
                                        <p:tgtEl>
                                          <p:spTgt spid="23"/>
                                        </p:tgtEl>
                                        <p:attrNameLst>
                                          <p:attrName>ppt_x</p:attrName>
                                        </p:attrNameLst>
                                      </p:cBhvr>
                                      <p:tavLst>
                                        <p:tav tm="0">
                                          <p:val>
                                            <p:strVal val="#ppt_x"/>
                                          </p:val>
                                        </p:tav>
                                        <p:tav tm="100000">
                                          <p:val>
                                            <p:strVal val="#ppt_x"/>
                                          </p:val>
                                        </p:tav>
                                      </p:tavLst>
                                    </p:anim>
                                    <p:anim calcmode="lin" valueType="num">
                                      <p:cBhvr>
                                        <p:cTn id="24" dur="500" decel="100000" fill="hold"/>
                                        <p:tgtEl>
                                          <p:spTgt spid="23"/>
                                        </p:tgtEl>
                                        <p:attrNameLst>
                                          <p:attrName>ppt_y</p:attrName>
                                        </p:attrNameLst>
                                      </p:cBhvr>
                                      <p:tavLst>
                                        <p:tav tm="0">
                                          <p:val>
                                            <p:strVal val="#ppt_y+0.0278"/>
                                          </p:val>
                                        </p:tav>
                                        <p:tav tm="100000">
                                          <p:val>
                                            <p:strVal val="#ppt_y"/>
                                          </p:val>
                                        </p:tav>
                                      </p:tavLst>
                                    </p:anim>
                                  </p:childTnLst>
                                </p:cTn>
                              </p:par>
                              <p:par>
                                <p:cTn id="25" presetID="0" presetClass="path" presetSubtype="0" repeatCount="indefinite" accel="50000" decel="50000" autoRev="1" fill="hold" grpId="0" nodeType="withEffect">
                                  <p:stCondLst>
                                    <p:cond delay="0"/>
                                  </p:stCondLst>
                                  <p:childTnLst>
                                    <p:animMotion origin="layout" path="M 0 0 L -0.0120 -0.0100 E" pathEditMode="relative" rAng="0" ptsTypes="AA">
                                      <p:cBhvr>
                                        <p:cTn id="26" dur="9000" fill="hold"/>
                                        <p:tgtEl>
                                          <p:spTgt spid="3"/>
                                        </p:tgtEl>
                                        <p:attrNameLst>
                                          <p:attrName>ppt_x</p:attrName>
                                          <p:attrName>ppt_y</p:attrName>
                                        </p:attrNameLst>
                                      </p:cBhvr>
                                      <p:rCtr x="0" y="0"/>
                                    </p:animMotion>
                                  </p:childTnLst>
                                </p:cTn>
                              </p:par>
                              <p:par>
                                <p:cTn id="2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8" dur="2600" fill="hold"/>
                                        <p:tgtEl>
                                          <p:spTgt spid="24"/>
                                        </p:tgtEl>
                                        <p:attrNameLst>
                                          <p:attrName>ppt_x</p:attrName>
                                          <p:attrName>ppt_y</p:attrName>
                                        </p:attrNameLst>
                                      </p:cBhvr>
                                      <p:rCtr x="0" y="0"/>
                                    </p:animMotion>
                                  </p:childTnLst>
                                </p:cTn>
                              </p:par>
                              <p:par>
                                <p:cTn id="2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30" dur="3150" fill="hold"/>
                                        <p:tgtEl>
                                          <p:spTgt spid="25"/>
                                        </p:tgtEl>
                                        <p:attrNameLst>
                                          <p:attrName>ppt_x</p:attrName>
                                          <p:attrName>ppt_y</p:attrName>
                                        </p:attrNameLst>
                                      </p:cBhvr>
                                      <p:rCtr x="0" y="0"/>
                                    </p:animMotion>
                                  </p:childTnLst>
                                </p:cTn>
                              </p:par>
                              <p:par>
                                <p:cTn id="31"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32" dur="3700" fill="hold"/>
                                        <p:tgtEl>
                                          <p:spTgt spid="26"/>
                                        </p:tgtEl>
                                        <p:attrNameLst>
                                          <p:attrName>ppt_x</p:attrName>
                                          <p:attrName>ppt_y</p:attrName>
                                        </p:attrNameLst>
                                      </p:cBhvr>
                                      <p:rCtr x="0" y="0"/>
                                    </p:animMotion>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wipe(left)">
                                      <p:cBhvr>
                                        <p:cTn id="36" dur="400" decel="100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0" grpId="0"/>
      <p:bldP spid="21" grpId="0" animBg="1"/>
      <p:bldP spid="22" grpId="0"/>
      <p:bldP spid="23" grpId="0"/>
      <p:bldP spid="24" grpId="0" animBg="1"/>
      <p:bldP spid="25" grpId="0" animBg="1"/>
      <p:bldP spid="26"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sp>
        <p:nvSpPr>
          <p:cNvPr id="3" name="!!Table"/>
          <p:cNvSpPr/>
          <p:nvPr/>
        </p:nvSpPr>
        <p:spPr>
          <a:xfrm>
            <a:off x="0" y="5074920"/>
            <a:ext cx="12192000" cy="1783080"/>
          </a:xfrm>
          <a:prstGeom prst="rect">
            <a:avLst/>
          </a:prstGeom>
          <a:gradFill rotWithShape="1">
            <a:gsLst>
              <a:gs pos="0">
                <a:srgbClr val="F6E8EA">
                  <a:alpha val="0"/>
                </a:srgbClr>
              </a:gs>
              <a:gs pos="100000">
                <a:srgbClr val="F6E8EA">
                  <a:alpha val="100000"/>
                </a:srgbClr>
              </a:gs>
            </a:gsLst>
            <a:lin ang="5400000" scaled="0"/>
          </a:gradFill>
          <a:ln>
            <a:noFill/>
          </a:ln>
        </p:spPr>
        <p:txBody>
          <a:bodyPr rtlCol="0" anchor="ctr"/>
          <a:lstStyle/>
          <a:p/>
        </p:txBody>
      </p:sp>
      <p:sp>
        <p:nvSpPr>
          <p:cNvPr id="4" name="!!S_epice_poulet"/>
          <p:cNvSpPr/>
          <p:nvPr/>
        </p:nvSpPr>
        <p:spPr>
          <a:xfrm>
            <a:off x="1416075" y="3064582"/>
            <a:ext cx="1049250" cy="20985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5" name="!!P_epice_poulet" descr="Modèle 3D : Épice spéciale poulet"/>
              <p:cNvGraphicFramePr>
                <a:graphicFrameLocks noChangeAspect="1"/>
              </p:cNvGraphicFramePr>
              <p:nvPr/>
            </p:nvGraphicFramePr>
            <p:xfrm>
              <a:off x="1504917" y="1904431"/>
              <a:ext cx="871565" cy="1345719"/>
            </p:xfrm>
            <a:graphic>
              <a:graphicData uri="http://schemas.microsoft.com/office/drawing/2017/model3d">
                <am3d:model3d r:embed="rId2">
                  <am3d:spPr>
                    <a:xfrm>
                      <a:off x="0" y="0"/>
                      <a:ext cx="871565" cy="1345719"/>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0" az="0"/>
                    <am3d:postTrans dx="0" dy="0" dz="0"/>
                  </am3d:trans>
                  <am3d:raster rName="Office3DRenderer" rVer="16.0.8326">
                    <am3d:blip r:embed="rId3"/>
                  </am3d:raster>
                  <am3d:objViewport viewportSz="191854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P_epice_poulet" descr="Modèle 3D : Épice spéciale poulet"/>
              <p:cNvPicPr>
                <a:picLocks noGrp="1" noRot="1" noChangeAspect="1" noMove="1" noResize="1" noEditPoints="1" noAdjustHandles="1" noChangeArrowheads="1" noChangeShapeType="1" noCrop="1"/>
              </p:cNvPicPr>
              <p:nvPr/>
            </p:nvPicPr>
            <p:blipFill>
              <a:blip r:embed="rId3"/>
              <a:stretch>
                <a:fillRect/>
              </a:stretch>
            </p:blipFill>
            <p:spPr>
              <a:xfrm>
                <a:off x="1504917" y="1904431"/>
                <a:ext cx="871565" cy="1345719"/>
              </a:xfrm>
              <a:prstGeom prst="rect">
                <a:avLst/>
              </a:prstGeom>
            </p:spPr>
          </p:pic>
        </mc:Fallback>
      </mc:AlternateContent>
      <p:sp>
        <p:nvSpPr>
          <p:cNvPr id="6" name="!!S_epice_poisson"/>
          <p:cNvSpPr/>
          <p:nvPr/>
        </p:nvSpPr>
        <p:spPr>
          <a:xfrm>
            <a:off x="2339475" y="3064582"/>
            <a:ext cx="1049250" cy="20985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7" name="!!P_epice_poisson" descr="Modèle 3D : Épice spéciale poisson"/>
              <p:cNvGraphicFramePr>
                <a:graphicFrameLocks noChangeAspect="1"/>
              </p:cNvGraphicFramePr>
              <p:nvPr/>
            </p:nvGraphicFramePr>
            <p:xfrm>
              <a:off x="2428317" y="1904431"/>
              <a:ext cx="871565" cy="1345719"/>
            </p:xfrm>
            <a:graphic>
              <a:graphicData uri="http://schemas.microsoft.com/office/drawing/2017/model3d">
                <am3d:model3d r:embed="rId4">
                  <am3d:spPr>
                    <a:xfrm>
                      <a:off x="0" y="0"/>
                      <a:ext cx="871565" cy="1345719"/>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0" az="0"/>
                    <am3d:postTrans dx="0" dy="0" dz="0"/>
                  </am3d:trans>
                  <am3d:raster rName="Office3DRenderer" rVer="16.0.8326">
                    <am3d:blip r:embed="rId5"/>
                  </am3d:raster>
                  <am3d:objViewport viewportSz="191854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P_epice_poisson" descr="Modèle 3D : Épice spéciale poisson"/>
              <p:cNvPicPr>
                <a:picLocks noGrp="1" noRot="1" noChangeAspect="1" noMove="1" noResize="1" noEditPoints="1" noAdjustHandles="1" noChangeArrowheads="1" noChangeShapeType="1" noCrop="1"/>
              </p:cNvPicPr>
              <p:nvPr/>
            </p:nvPicPr>
            <p:blipFill>
              <a:blip r:embed="rId5"/>
              <a:stretch>
                <a:fillRect/>
              </a:stretch>
            </p:blipFill>
            <p:spPr>
              <a:xfrm>
                <a:off x="2428317" y="1904431"/>
                <a:ext cx="871565" cy="1345719"/>
              </a:xfrm>
              <a:prstGeom prst="rect">
                <a:avLst/>
              </a:prstGeom>
            </p:spPr>
          </p:pic>
        </mc:Fallback>
      </mc:AlternateContent>
      <p:sp>
        <p:nvSpPr>
          <p:cNvPr id="8" name="!!S_paprika"/>
          <p:cNvSpPr/>
          <p:nvPr/>
        </p:nvSpPr>
        <p:spPr>
          <a:xfrm>
            <a:off x="3262875" y="3064582"/>
            <a:ext cx="1049250" cy="20985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9" name="!!P_paprika" descr="Modèle 3D : Paprika"/>
              <p:cNvGraphicFramePr>
                <a:graphicFrameLocks noChangeAspect="1"/>
              </p:cNvGraphicFramePr>
              <p:nvPr/>
            </p:nvGraphicFramePr>
            <p:xfrm>
              <a:off x="3351717" y="1904431"/>
              <a:ext cx="871565" cy="1345719"/>
            </p:xfrm>
            <a:graphic>
              <a:graphicData uri="http://schemas.microsoft.com/office/drawing/2017/model3d">
                <am3d:model3d r:embed="rId6">
                  <am3d:spPr>
                    <a:xfrm>
                      <a:off x="0" y="0"/>
                      <a:ext cx="871565" cy="1345719"/>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0" az="0"/>
                    <am3d:postTrans dx="0" dy="0" dz="0"/>
                  </am3d:trans>
                  <am3d:raster rName="Office3DRenderer" rVer="16.0.8326">
                    <am3d:blip r:embed="rId7"/>
                  </am3d:raster>
                  <am3d:objViewport viewportSz="191854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 name="!!P_paprika" descr="Modèle 3D : Paprika"/>
              <p:cNvPicPr>
                <a:picLocks noGrp="1" noRot="1" noChangeAspect="1" noMove="1" noResize="1" noEditPoints="1" noAdjustHandles="1" noChangeArrowheads="1" noChangeShapeType="1" noCrop="1"/>
              </p:cNvPicPr>
              <p:nvPr/>
            </p:nvPicPr>
            <p:blipFill>
              <a:blip r:embed="rId7"/>
              <a:stretch>
                <a:fillRect/>
              </a:stretch>
            </p:blipFill>
            <p:spPr>
              <a:xfrm>
                <a:off x="3351717" y="1904431"/>
                <a:ext cx="871565" cy="1345719"/>
              </a:xfrm>
              <a:prstGeom prst="rect">
                <a:avLst/>
              </a:prstGeom>
            </p:spPr>
          </p:pic>
        </mc:Fallback>
      </mc:AlternateContent>
      <p:sp>
        <p:nvSpPr>
          <p:cNvPr id="10" name="!!S_piment"/>
          <p:cNvSpPr/>
          <p:nvPr/>
        </p:nvSpPr>
        <p:spPr>
          <a:xfrm>
            <a:off x="4186275" y="3064582"/>
            <a:ext cx="1049250" cy="20985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11" name="!!P_piment" descr="Modèle 3D : Piment en poudre"/>
              <p:cNvGraphicFramePr>
                <a:graphicFrameLocks noChangeAspect="1"/>
              </p:cNvGraphicFramePr>
              <p:nvPr/>
            </p:nvGraphicFramePr>
            <p:xfrm>
              <a:off x="4275117" y="1904431"/>
              <a:ext cx="871565" cy="1345719"/>
            </p:xfrm>
            <a:graphic>
              <a:graphicData uri="http://schemas.microsoft.com/office/drawing/2017/model3d">
                <am3d:model3d r:embed="rId8">
                  <am3d:spPr>
                    <a:xfrm>
                      <a:off x="0" y="0"/>
                      <a:ext cx="871565" cy="1345719"/>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0" az="0"/>
                    <am3d:postTrans dx="0" dy="0" dz="0"/>
                  </am3d:trans>
                  <am3d:raster rName="Office3DRenderer" rVer="16.0.8326">
                    <am3d:blip r:embed="rId9"/>
                  </am3d:raster>
                  <am3d:objViewport viewportSz="191854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1" name="!!P_piment" descr="Modèle 3D : Piment en poudre"/>
              <p:cNvPicPr>
                <a:picLocks noGrp="1" noRot="1" noChangeAspect="1" noMove="1" noResize="1" noEditPoints="1" noAdjustHandles="1" noChangeArrowheads="1" noChangeShapeType="1" noCrop="1"/>
              </p:cNvPicPr>
              <p:nvPr/>
            </p:nvPicPr>
            <p:blipFill>
              <a:blip r:embed="rId9"/>
              <a:stretch>
                <a:fillRect/>
              </a:stretch>
            </p:blipFill>
            <p:spPr>
              <a:xfrm>
                <a:off x="4275117" y="1904431"/>
                <a:ext cx="871565" cy="1345719"/>
              </a:xfrm>
              <a:prstGeom prst="rect">
                <a:avLst/>
              </a:prstGeom>
            </p:spPr>
          </p:pic>
        </mc:Fallback>
      </mc:AlternateContent>
      <p:sp>
        <p:nvSpPr>
          <p:cNvPr id="12" name="!!S_akpi"/>
          <p:cNvSpPr/>
          <p:nvPr/>
        </p:nvSpPr>
        <p:spPr>
          <a:xfrm>
            <a:off x="5109675" y="3064582"/>
            <a:ext cx="1049250" cy="20985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13" name="!!P_akpi" descr="Modèle 3D : Graines d'akpi"/>
              <p:cNvGraphicFramePr>
                <a:graphicFrameLocks noChangeAspect="1"/>
              </p:cNvGraphicFramePr>
              <p:nvPr/>
            </p:nvGraphicFramePr>
            <p:xfrm>
              <a:off x="5198517" y="1904431"/>
              <a:ext cx="871565" cy="1345719"/>
            </p:xfrm>
            <a:graphic>
              <a:graphicData uri="http://schemas.microsoft.com/office/drawing/2017/model3d">
                <am3d:model3d r:embed="rId10">
                  <am3d:spPr>
                    <a:xfrm>
                      <a:off x="0" y="0"/>
                      <a:ext cx="871565" cy="1345719"/>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0" az="0"/>
                    <am3d:postTrans dx="0" dy="0" dz="0"/>
                  </am3d:trans>
                  <am3d:raster rName="Office3DRenderer" rVer="16.0.8326">
                    <am3d:blip r:embed="rId11"/>
                  </am3d:raster>
                  <am3d:objViewport viewportSz="191854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3" name="!!P_akpi" descr="Modèle 3D : Graines d'akpi"/>
              <p:cNvPicPr>
                <a:picLocks noGrp="1" noRot="1" noChangeAspect="1" noMove="1" noResize="1" noEditPoints="1" noAdjustHandles="1" noChangeArrowheads="1" noChangeShapeType="1" noCrop="1"/>
              </p:cNvPicPr>
              <p:nvPr/>
            </p:nvPicPr>
            <p:blipFill>
              <a:blip r:embed="rId11"/>
              <a:stretch>
                <a:fillRect/>
              </a:stretch>
            </p:blipFill>
            <p:spPr>
              <a:xfrm>
                <a:off x="5198517" y="1904431"/>
                <a:ext cx="871565" cy="1345719"/>
              </a:xfrm>
              <a:prstGeom prst="rect">
                <a:avLst/>
              </a:prstGeom>
            </p:spPr>
          </p:pic>
        </mc:Fallback>
      </mc:AlternateContent>
      <p:sp>
        <p:nvSpPr>
          <p:cNvPr id="14" name="!!S_djoumble"/>
          <p:cNvSpPr/>
          <p:nvPr/>
        </p:nvSpPr>
        <p:spPr>
          <a:xfrm>
            <a:off x="6033075" y="3064582"/>
            <a:ext cx="1049250" cy="20985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15" name="!!P_djoumble" descr="Modèle 3D : Poudre de djoumblé"/>
              <p:cNvGraphicFramePr>
                <a:graphicFrameLocks noChangeAspect="1"/>
              </p:cNvGraphicFramePr>
              <p:nvPr/>
            </p:nvGraphicFramePr>
            <p:xfrm>
              <a:off x="6121917" y="1904431"/>
              <a:ext cx="871565" cy="1345719"/>
            </p:xfrm>
            <a:graphic>
              <a:graphicData uri="http://schemas.microsoft.com/office/drawing/2017/model3d">
                <am3d:model3d r:embed="rId12">
                  <am3d:spPr>
                    <a:xfrm>
                      <a:off x="0" y="0"/>
                      <a:ext cx="871565" cy="1345719"/>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0" az="0"/>
                    <am3d:postTrans dx="0" dy="0" dz="0"/>
                  </am3d:trans>
                  <am3d:raster rName="Office3DRenderer" rVer="16.0.8326">
                    <am3d:blip r:embed="rId13"/>
                  </am3d:raster>
                  <am3d:objViewport viewportSz="191854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5" name="!!P_djoumble" descr="Modèle 3D : Poudre de djoumblé"/>
              <p:cNvPicPr>
                <a:picLocks noGrp="1" noRot="1" noChangeAspect="1" noMove="1" noResize="1" noEditPoints="1" noAdjustHandles="1" noChangeArrowheads="1" noChangeShapeType="1" noCrop="1"/>
              </p:cNvPicPr>
              <p:nvPr/>
            </p:nvPicPr>
            <p:blipFill>
              <a:blip r:embed="rId13"/>
              <a:stretch>
                <a:fillRect/>
              </a:stretch>
            </p:blipFill>
            <p:spPr>
              <a:xfrm>
                <a:off x="6121917" y="1904431"/>
                <a:ext cx="871565" cy="1345719"/>
              </a:xfrm>
              <a:prstGeom prst="rect">
                <a:avLst/>
              </a:prstGeom>
            </p:spPr>
          </p:pic>
        </mc:Fallback>
      </mc:AlternateContent>
      <p:sp>
        <p:nvSpPr>
          <p:cNvPr id="16" name="!!S_crevette"/>
          <p:cNvSpPr/>
          <p:nvPr/>
        </p:nvSpPr>
        <p:spPr>
          <a:xfrm>
            <a:off x="6956475" y="3064582"/>
            <a:ext cx="1049250" cy="20985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17" name="!!P_crevette" descr="Modèle 3D : Poudre de crevettes séchées"/>
              <p:cNvGraphicFramePr>
                <a:graphicFrameLocks noChangeAspect="1"/>
              </p:cNvGraphicFramePr>
              <p:nvPr/>
            </p:nvGraphicFramePr>
            <p:xfrm>
              <a:off x="7045317" y="1904431"/>
              <a:ext cx="871565" cy="1345719"/>
            </p:xfrm>
            <a:graphic>
              <a:graphicData uri="http://schemas.microsoft.com/office/drawing/2017/model3d">
                <am3d:model3d r:embed="rId14">
                  <am3d:spPr>
                    <a:xfrm>
                      <a:off x="0" y="0"/>
                      <a:ext cx="871565" cy="1345719"/>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0" az="0"/>
                    <am3d:postTrans dx="0" dy="0" dz="0"/>
                  </am3d:trans>
                  <am3d:raster rName="Office3DRenderer" rVer="16.0.8326">
                    <am3d:blip r:embed="rId15"/>
                  </am3d:raster>
                  <am3d:objViewport viewportSz="191854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7" name="!!P_crevette" descr="Modèle 3D : Poudre de crevettes séchées"/>
              <p:cNvPicPr>
                <a:picLocks noGrp="1" noRot="1" noChangeAspect="1" noMove="1" noResize="1" noEditPoints="1" noAdjustHandles="1" noChangeArrowheads="1" noChangeShapeType="1" noCrop="1"/>
              </p:cNvPicPr>
              <p:nvPr/>
            </p:nvPicPr>
            <p:blipFill>
              <a:blip r:embed="rId15"/>
              <a:stretch>
                <a:fillRect/>
              </a:stretch>
            </p:blipFill>
            <p:spPr>
              <a:xfrm>
                <a:off x="7045317" y="1904431"/>
                <a:ext cx="871565" cy="1345719"/>
              </a:xfrm>
              <a:prstGeom prst="rect">
                <a:avLst/>
              </a:prstGeom>
            </p:spPr>
          </p:pic>
        </mc:Fallback>
      </mc:AlternateContent>
      <p:sp>
        <p:nvSpPr>
          <p:cNvPr id="18" name="!!S_poudre_poisson"/>
          <p:cNvSpPr/>
          <p:nvPr/>
        </p:nvSpPr>
        <p:spPr>
          <a:xfrm>
            <a:off x="7879875" y="3064582"/>
            <a:ext cx="1049250" cy="20985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19" name="!!P_poudre_poisson" descr="Modèle 3D : Poudre de poisson sec"/>
              <p:cNvGraphicFramePr>
                <a:graphicFrameLocks noChangeAspect="1"/>
              </p:cNvGraphicFramePr>
              <p:nvPr/>
            </p:nvGraphicFramePr>
            <p:xfrm>
              <a:off x="7968717" y="1904431"/>
              <a:ext cx="871565" cy="1345719"/>
            </p:xfrm>
            <a:graphic>
              <a:graphicData uri="http://schemas.microsoft.com/office/drawing/2017/model3d">
                <am3d:model3d r:embed="rId16">
                  <am3d:spPr>
                    <a:xfrm>
                      <a:off x="0" y="0"/>
                      <a:ext cx="871565" cy="1345719"/>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0" az="0"/>
                    <am3d:postTrans dx="0" dy="0" dz="0"/>
                  </am3d:trans>
                  <am3d:raster rName="Office3DRenderer" rVer="16.0.8326">
                    <am3d:blip r:embed="rId17"/>
                  </am3d:raster>
                  <am3d:objViewport viewportSz="191854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9" name="!!P_poudre_poisson" descr="Modèle 3D : Poudre de poisson sec"/>
              <p:cNvPicPr>
                <a:picLocks noGrp="1" noRot="1" noChangeAspect="1" noMove="1" noResize="1" noEditPoints="1" noAdjustHandles="1" noChangeArrowheads="1" noChangeShapeType="1" noCrop="1"/>
              </p:cNvPicPr>
              <p:nvPr/>
            </p:nvPicPr>
            <p:blipFill>
              <a:blip r:embed="rId17"/>
              <a:stretch>
                <a:fillRect/>
              </a:stretch>
            </p:blipFill>
            <p:spPr>
              <a:xfrm>
                <a:off x="7968717" y="1904431"/>
                <a:ext cx="871565" cy="1345719"/>
              </a:xfrm>
              <a:prstGeom prst="rect">
                <a:avLst/>
              </a:prstGeom>
            </p:spPr>
          </p:pic>
        </mc:Fallback>
      </mc:AlternateContent>
      <p:sp>
        <p:nvSpPr>
          <p:cNvPr id="20" name="!!S_ail"/>
          <p:cNvSpPr/>
          <p:nvPr/>
        </p:nvSpPr>
        <p:spPr>
          <a:xfrm>
            <a:off x="8803275" y="3064582"/>
            <a:ext cx="1049250" cy="20985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21" name="!!P_ail" descr="Modèle 3D : Purée d'ail"/>
              <p:cNvGraphicFramePr>
                <a:graphicFrameLocks noChangeAspect="1"/>
              </p:cNvGraphicFramePr>
              <p:nvPr/>
            </p:nvGraphicFramePr>
            <p:xfrm>
              <a:off x="8892117" y="1904431"/>
              <a:ext cx="871565" cy="1345719"/>
            </p:xfrm>
            <a:graphic>
              <a:graphicData uri="http://schemas.microsoft.com/office/drawing/2017/model3d">
                <am3d:model3d r:embed="rId18">
                  <am3d:spPr>
                    <a:xfrm>
                      <a:off x="0" y="0"/>
                      <a:ext cx="871565" cy="1345719"/>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0" az="0"/>
                    <am3d:postTrans dx="0" dy="0" dz="0"/>
                  </am3d:trans>
                  <am3d:raster rName="Office3DRenderer" rVer="16.0.8326">
                    <am3d:blip r:embed="rId19"/>
                  </am3d:raster>
                  <am3d:objViewport viewportSz="191854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1" name="!!P_ail" descr="Modèle 3D : Purée d'ail"/>
              <p:cNvPicPr>
                <a:picLocks noGrp="1" noRot="1" noChangeAspect="1" noMove="1" noResize="1" noEditPoints="1" noAdjustHandles="1" noChangeArrowheads="1" noChangeShapeType="1" noCrop="1"/>
              </p:cNvPicPr>
              <p:nvPr/>
            </p:nvPicPr>
            <p:blipFill>
              <a:blip r:embed="rId19"/>
              <a:stretch>
                <a:fillRect/>
              </a:stretch>
            </p:blipFill>
            <p:spPr>
              <a:xfrm>
                <a:off x="8892117" y="1904431"/>
                <a:ext cx="871565" cy="1345719"/>
              </a:xfrm>
              <a:prstGeom prst="rect">
                <a:avLst/>
              </a:prstGeom>
            </p:spPr>
          </p:pic>
        </mc:Fallback>
      </mc:AlternateContent>
      <p:sp>
        <p:nvSpPr>
          <p:cNvPr id="22" name="!!S_bouillon"/>
          <p:cNvSpPr/>
          <p:nvPr/>
        </p:nvSpPr>
        <p:spPr>
          <a:xfrm>
            <a:off x="9726675" y="3064582"/>
            <a:ext cx="1049250" cy="20985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23" name="!!P_bouillon" descr="Modèle 3D : Bouillon bio de poulet"/>
              <p:cNvGraphicFramePr>
                <a:graphicFrameLocks noChangeAspect="1"/>
              </p:cNvGraphicFramePr>
              <p:nvPr/>
            </p:nvGraphicFramePr>
            <p:xfrm>
              <a:off x="9815517" y="1904431"/>
              <a:ext cx="871565" cy="1345719"/>
            </p:xfrm>
            <a:graphic>
              <a:graphicData uri="http://schemas.microsoft.com/office/drawing/2017/model3d">
                <am3d:model3d r:embed="rId20">
                  <am3d:spPr>
                    <a:xfrm>
                      <a:off x="0" y="0"/>
                      <a:ext cx="871565" cy="1345719"/>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0" az="0"/>
                    <am3d:postTrans dx="0" dy="0" dz="0"/>
                  </am3d:trans>
                  <am3d:raster rName="Office3DRenderer" rVer="16.0.8326">
                    <am3d:blip r:embed="rId21"/>
                  </am3d:raster>
                  <am3d:objViewport viewportSz="191854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3" name="!!P_bouillon" descr="Modèle 3D : Bouillon bio de poulet"/>
              <p:cNvPicPr>
                <a:picLocks noGrp="1" noRot="1" noChangeAspect="1" noMove="1" noResize="1" noEditPoints="1" noAdjustHandles="1" noChangeArrowheads="1" noChangeShapeType="1" noCrop="1"/>
              </p:cNvPicPr>
              <p:nvPr/>
            </p:nvPicPr>
            <p:blipFill>
              <a:blip r:embed="rId21"/>
              <a:stretch>
                <a:fillRect/>
              </a:stretch>
            </p:blipFill>
            <p:spPr>
              <a:xfrm>
                <a:off x="9815517" y="1904431"/>
                <a:ext cx="871565" cy="1345719"/>
              </a:xfrm>
              <a:prstGeom prst="rect">
                <a:avLst/>
              </a:prstGeom>
            </p:spPr>
          </p:pic>
        </mc:Fallback>
      </mc:AlternateContent>
      <p:sp>
        <p:nvSpPr>
          <p:cNvPr id="24" name="!!S_huile"/>
          <p:cNvSpPr/>
          <p:nvPr/>
        </p:nvSpPr>
        <p:spPr>
          <a:xfrm>
            <a:off x="3557710" y="6101955"/>
            <a:ext cx="709500" cy="14190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25" name="!!P_huile" descr="Modèle 3D : Huile rouge"/>
              <p:cNvGraphicFramePr>
                <a:graphicFrameLocks noChangeAspect="1"/>
              </p:cNvGraphicFramePr>
              <p:nvPr/>
            </p:nvGraphicFramePr>
            <p:xfrm>
              <a:off x="3616365" y="4548466"/>
              <a:ext cx="592188" cy="1731011"/>
            </p:xfrm>
            <a:graphic>
              <a:graphicData uri="http://schemas.microsoft.com/office/drawing/2017/model3d">
                <am3d:model3d r:embed="rId22">
                  <am3d:spPr>
                    <a:xfrm>
                      <a:off x="0" y="0"/>
                      <a:ext cx="592188" cy="1731011"/>
                    </a:xfrm>
                    <a:prstGeom prst="rect">
                      <a:avLst/>
                    </a:prstGeom>
                  </am3d:spPr>
                  <am3d:camera>
                    <am3d:pos x="0" y="0" z="67740115"/>
                    <am3d:up dx="0" dy="36000000" dz="0"/>
                    <am3d:lookAt x="0" y="0" z="0"/>
                    <am3d:perspective fov="2700000"/>
                  </am3d:camera>
                  <am3d:trans>
                    <am3d:meterPerModelUnit n="54655" d="1000000"/>
                    <am3d:preTrans dx="0" dy="-18000000" dz="1652"/>
                    <am3d:scale>
                      <am3d:sx n="1000000" d="1000000"/>
                      <am3d:sy n="1000000" d="1000000"/>
                      <am3d:sz n="1000000" d="1000000"/>
                    </am3d:scale>
                    <am3d:rot ax="300000" ay="21120000" az="0"/>
                    <am3d:postTrans dx="0" dy="0" dz="0"/>
                  </am3d:trans>
                  <am3d:raster rName="Office3DRenderer" rVer="16.0.8326">
                    <am3d:blip r:embed="rId23"/>
                  </am3d:raster>
                  <am3d:objViewport viewportSz="245285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5" name="!!P_huile" descr="Modèle 3D : Huile rouge"/>
              <p:cNvPicPr>
                <a:picLocks noGrp="1" noRot="1" noChangeAspect="1" noMove="1" noResize="1" noEditPoints="1" noAdjustHandles="1" noChangeArrowheads="1" noChangeShapeType="1" noCrop="1"/>
              </p:cNvPicPr>
              <p:nvPr/>
            </p:nvPicPr>
            <p:blipFill>
              <a:blip r:embed="rId23"/>
              <a:stretch>
                <a:fillRect/>
              </a:stretch>
            </p:blipFill>
            <p:spPr>
              <a:xfrm>
                <a:off x="3616365" y="4548466"/>
                <a:ext cx="592188" cy="1731011"/>
              </a:xfrm>
              <a:prstGeom prst="rect">
                <a:avLst/>
              </a:prstGeom>
            </p:spPr>
          </p:pic>
        </mc:Fallback>
      </mc:AlternateContent>
      <p:sp>
        <p:nvSpPr>
          <p:cNvPr id="26" name="!!S_marinade_poulet"/>
          <p:cNvSpPr/>
          <p:nvPr/>
        </p:nvSpPr>
        <p:spPr>
          <a:xfrm>
            <a:off x="4378365" y="6077595"/>
            <a:ext cx="930950" cy="18619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27" name="!!P_marinade_poulet" descr="Modèle 3D : Marinade poulet"/>
              <p:cNvGraphicFramePr>
                <a:graphicFrameLocks noChangeAspect="1"/>
              </p:cNvGraphicFramePr>
              <p:nvPr/>
            </p:nvGraphicFramePr>
            <p:xfrm>
              <a:off x="4455956" y="4757425"/>
              <a:ext cx="775766" cy="1515026"/>
            </p:xfrm>
            <a:graphic>
              <a:graphicData uri="http://schemas.microsoft.com/office/drawing/2017/model3d">
                <am3d:model3d r:embed="rId24">
                  <am3d:spPr>
                    <a:xfrm>
                      <a:off x="0" y="0"/>
                      <a:ext cx="775766" cy="1515026"/>
                    </a:xfrm>
                    <a:prstGeom prst="rect">
                      <a:avLst/>
                    </a:prstGeom>
                  </am3d:spPr>
                  <am3d:camera>
                    <am3d:pos x="0" y="0" z="67740115"/>
                    <am3d:up dx="0" dy="36000000" dz="0"/>
                    <am3d:lookAt x="0" y="0" z="0"/>
                    <am3d:perspective fov="2700000"/>
                  </am3d:camera>
                  <am3d:trans>
                    <am3d:meterPerModelUnit n="62952" d="1000000"/>
                    <am3d:preTrans dx="385" dy="-17999999" dz="-917"/>
                    <am3d:scale>
                      <am3d:sx n="1000000" d="1000000"/>
                      <am3d:sy n="1000000" d="1000000"/>
                      <am3d:sz n="1000000" d="1000000"/>
                    </am3d:scale>
                    <am3d:rot ax="300000" ay="21360000" az="0"/>
                    <am3d:postTrans dx="0" dy="0" dz="0"/>
                  </am3d:trans>
                  <am3d:raster rName="Office3DRenderer" rVer="16.0.8326">
                    <am3d:blip r:embed="rId25"/>
                  </am3d:raster>
                  <am3d:objViewport viewportSz="212955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7" name="!!P_marinade_poulet" descr="Modèle 3D : Marinade poulet"/>
              <p:cNvPicPr>
                <a:picLocks noGrp="1" noRot="1" noChangeAspect="1" noMove="1" noResize="1" noEditPoints="1" noAdjustHandles="1" noChangeArrowheads="1" noChangeShapeType="1" noCrop="1"/>
              </p:cNvPicPr>
              <p:nvPr/>
            </p:nvPicPr>
            <p:blipFill>
              <a:blip r:embed="rId25"/>
              <a:stretch>
                <a:fillRect/>
              </a:stretch>
            </p:blipFill>
            <p:spPr>
              <a:xfrm>
                <a:off x="4455956" y="4757425"/>
                <a:ext cx="775766" cy="1515026"/>
              </a:xfrm>
              <a:prstGeom prst="rect">
                <a:avLst/>
              </a:prstGeom>
            </p:spPr>
          </p:pic>
        </mc:Fallback>
      </mc:AlternateContent>
      <p:sp>
        <p:nvSpPr>
          <p:cNvPr id="28" name="!!S_marinade_poisson"/>
          <p:cNvSpPr/>
          <p:nvPr/>
        </p:nvSpPr>
        <p:spPr>
          <a:xfrm>
            <a:off x="5398325" y="6077595"/>
            <a:ext cx="930950" cy="18619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29" name="!!P_marinade_poisson" descr="Modèle 3D : Marinade poisson"/>
              <p:cNvGraphicFramePr>
                <a:graphicFrameLocks noChangeAspect="1"/>
              </p:cNvGraphicFramePr>
              <p:nvPr/>
            </p:nvGraphicFramePr>
            <p:xfrm>
              <a:off x="5475916" y="4757425"/>
              <a:ext cx="775766" cy="1515026"/>
            </p:xfrm>
            <a:graphic>
              <a:graphicData uri="http://schemas.microsoft.com/office/drawing/2017/model3d">
                <am3d:model3d r:embed="rId26">
                  <am3d:spPr>
                    <a:xfrm>
                      <a:off x="0" y="0"/>
                      <a:ext cx="775766" cy="1515026"/>
                    </a:xfrm>
                    <a:prstGeom prst="rect">
                      <a:avLst/>
                    </a:prstGeom>
                  </am3d:spPr>
                  <am3d:camera>
                    <am3d:pos x="0" y="0" z="67740115"/>
                    <am3d:up dx="0" dy="36000000" dz="0"/>
                    <am3d:lookAt x="0" y="0" z="0"/>
                    <am3d:perspective fov="2700000"/>
                  </am3d:camera>
                  <am3d:trans>
                    <am3d:meterPerModelUnit n="62952" d="1000000"/>
                    <am3d:preTrans dx="385" dy="-17999999" dz="-917"/>
                    <am3d:scale>
                      <am3d:sx n="1000000" d="1000000"/>
                      <am3d:sy n="1000000" d="1000000"/>
                      <am3d:sz n="1000000" d="1000000"/>
                    </am3d:scale>
                    <am3d:rot ax="300000" ay="0" az="0"/>
                    <am3d:postTrans dx="0" dy="0" dz="0"/>
                  </am3d:trans>
                  <am3d:raster rName="Office3DRenderer" rVer="16.0.8326">
                    <am3d:blip r:embed="rId27"/>
                  </am3d:raster>
                  <am3d:objViewport viewportSz="212955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9" name="!!P_marinade_poisson" descr="Modèle 3D : Marinade poisson"/>
              <p:cNvPicPr>
                <a:picLocks noGrp="1" noRot="1" noChangeAspect="1" noMove="1" noResize="1" noEditPoints="1" noAdjustHandles="1" noChangeArrowheads="1" noChangeShapeType="1" noCrop="1"/>
              </p:cNvPicPr>
              <p:nvPr/>
            </p:nvPicPr>
            <p:blipFill>
              <a:blip r:embed="rId27"/>
              <a:stretch>
                <a:fillRect/>
              </a:stretch>
            </p:blipFill>
            <p:spPr>
              <a:xfrm>
                <a:off x="5475916" y="4757425"/>
                <a:ext cx="775766" cy="1515026"/>
              </a:xfrm>
              <a:prstGeom prst="rect">
                <a:avLst/>
              </a:prstGeom>
            </p:spPr>
          </p:pic>
        </mc:Fallback>
      </mc:AlternateContent>
      <p:sp>
        <p:nvSpPr>
          <p:cNvPr id="30" name="!!S_marinade_mixte"/>
          <p:cNvSpPr/>
          <p:nvPr/>
        </p:nvSpPr>
        <p:spPr>
          <a:xfrm>
            <a:off x="6418285" y="6077595"/>
            <a:ext cx="930950" cy="18619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31" name="!!P_marinade_mixte" descr="Modèle 3D : Marinade mixte"/>
              <p:cNvGraphicFramePr>
                <a:graphicFrameLocks noChangeAspect="1"/>
              </p:cNvGraphicFramePr>
              <p:nvPr/>
            </p:nvGraphicFramePr>
            <p:xfrm>
              <a:off x="6495876" y="4757425"/>
              <a:ext cx="775766" cy="1515026"/>
            </p:xfrm>
            <a:graphic>
              <a:graphicData uri="http://schemas.microsoft.com/office/drawing/2017/model3d">
                <am3d:model3d r:embed="rId28">
                  <am3d:spPr>
                    <a:xfrm>
                      <a:off x="0" y="0"/>
                      <a:ext cx="775766" cy="1515026"/>
                    </a:xfrm>
                    <a:prstGeom prst="rect">
                      <a:avLst/>
                    </a:prstGeom>
                  </am3d:spPr>
                  <am3d:camera>
                    <am3d:pos x="0" y="0" z="67740115"/>
                    <am3d:up dx="0" dy="36000000" dz="0"/>
                    <am3d:lookAt x="0" y="0" z="0"/>
                    <am3d:perspective fov="2700000"/>
                  </am3d:camera>
                  <am3d:trans>
                    <am3d:meterPerModelUnit n="62952" d="1000000"/>
                    <am3d:preTrans dx="385" dy="-17999999" dz="-917"/>
                    <am3d:scale>
                      <am3d:sx n="1000000" d="1000000"/>
                      <am3d:sy n="1000000" d="1000000"/>
                      <am3d:sz n="1000000" d="1000000"/>
                    </am3d:scale>
                    <am3d:rot ax="300000" ay="240000" az="0"/>
                    <am3d:postTrans dx="0" dy="0" dz="0"/>
                  </am3d:trans>
                  <am3d:raster rName="Office3DRenderer" rVer="16.0.8326">
                    <am3d:blip r:embed="rId29"/>
                  </am3d:raster>
                  <am3d:objViewport viewportSz="212955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1" name="!!P_marinade_mixte" descr="Modèle 3D : Marinade mixte"/>
              <p:cNvPicPr>
                <a:picLocks noGrp="1" noRot="1" noChangeAspect="1" noMove="1" noResize="1" noEditPoints="1" noAdjustHandles="1" noChangeArrowheads="1" noChangeShapeType="1" noCrop="1"/>
              </p:cNvPicPr>
              <p:nvPr/>
            </p:nvPicPr>
            <p:blipFill>
              <a:blip r:embed="rId29"/>
              <a:stretch>
                <a:fillRect/>
              </a:stretch>
            </p:blipFill>
            <p:spPr>
              <a:xfrm>
                <a:off x="6495876" y="4757425"/>
                <a:ext cx="775766" cy="1515026"/>
              </a:xfrm>
              <a:prstGeom prst="rect">
                <a:avLst/>
              </a:prstGeom>
            </p:spPr>
          </p:pic>
        </mc:Fallback>
      </mc:AlternateContent>
      <p:sp>
        <p:nvSpPr>
          <p:cNvPr id="32" name="!!S_arachide"/>
          <p:cNvSpPr/>
          <p:nvPr/>
        </p:nvSpPr>
        <p:spPr>
          <a:xfrm>
            <a:off x="7402340" y="6038100"/>
            <a:ext cx="1290000" cy="25800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33" name="!!P_arachide" descr="Modèle 3D : Pâte d'arachide"/>
              <p:cNvGraphicFramePr>
                <a:graphicFrameLocks noChangeAspect="1"/>
              </p:cNvGraphicFramePr>
              <p:nvPr/>
            </p:nvGraphicFramePr>
            <p:xfrm>
              <a:off x="7314325" y="4939857"/>
              <a:ext cx="1466029" cy="1495995"/>
            </p:xfrm>
            <a:graphic>
              <a:graphicData uri="http://schemas.microsoft.com/office/drawing/2017/model3d">
                <am3d:model3d r:embed="rId30">
                  <am3d:spPr>
                    <a:xfrm>
                      <a:off x="0" y="0"/>
                      <a:ext cx="1466029" cy="1495995"/>
                    </a:xfrm>
                    <a:prstGeom prst="rect">
                      <a:avLst/>
                    </a:prstGeom>
                  </am3d:spPr>
                  <am3d:camera>
                    <am3d:pos x="0" y="0" z="67740115"/>
                    <am3d:up dx="0" dy="36000000" dz="0"/>
                    <am3d:lookAt x="0" y="0" z="0"/>
                    <am3d:perspective fov="2700000"/>
                  </am3d:camera>
                  <am3d:trans>
                    <am3d:meterPerModelUnit n="83084" d="1000000"/>
                    <am3d:preTrans dx="0" dy="-17570055" dz="0"/>
                    <am3d:scale>
                      <am3d:sx n="1000000" d="1000000"/>
                      <am3d:sy n="1000000" d="1000000"/>
                      <am3d:sz n="1000000" d="1000000"/>
                    </am3d:scale>
                    <am3d:rot ax="300000" ay="600000" az="0"/>
                    <am3d:postTrans dx="0" dy="0" dz="0"/>
                  </am3d:trans>
                  <am3d:raster rName="Office3DRenderer" rVer="16.0.8326">
                    <am3d:blip r:embed="rId31"/>
                  </am3d:raster>
                  <am3d:objViewport viewportSz="161355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3" name="!!P_arachide" descr="Modèle 3D : Pâte d'arachide"/>
              <p:cNvPicPr>
                <a:picLocks noGrp="1" noRot="1" noChangeAspect="1" noMove="1" noResize="1" noEditPoints="1" noAdjustHandles="1" noChangeArrowheads="1" noChangeShapeType="1" noCrop="1"/>
              </p:cNvPicPr>
              <p:nvPr/>
            </p:nvPicPr>
            <p:blipFill>
              <a:blip r:embed="rId31"/>
              <a:stretch>
                <a:fillRect/>
              </a:stretch>
            </p:blipFill>
            <p:spPr>
              <a:xfrm>
                <a:off x="7314325" y="4939857"/>
                <a:ext cx="1466029" cy="1495995"/>
              </a:xfrm>
              <a:prstGeom prst="rect">
                <a:avLst/>
              </a:prstGeom>
            </p:spPr>
          </p:pic>
        </mc:Fallback>
      </mc:AlternateContent>
      <p:sp>
        <p:nvSpPr>
          <p:cNvPr id="34" name="Titre14"/>
          <p:cNvSpPr txBox="1"/>
          <p:nvPr/>
        </p:nvSpPr>
        <p:spPr>
          <a:xfrm>
            <a:off x="0" y="3291840"/>
            <a:ext cx="12192000" cy="566928"/>
          </a:xfrm>
          <a:prstGeom prst="rect">
            <a:avLst/>
          </a:prstGeom>
          <a:noFill/>
        </p:spPr>
        <p:txBody>
          <a:bodyPr wrap="square" lIns="0" rIns="0" tIns="0" bIns="0" anchor="t">
            <a:noAutofit/>
          </a:bodyPr>
          <a:lstStyle/>
          <a:p>
            <a:pPr algn="ctr">
              <a:lnSpc>
                <a:spcPct val="95000"/>
              </a:lnSpc>
            </a:pPr>
            <a:r>
              <a:rPr sz="3000">
                <a:solidFill>
                  <a:srgbClr val="7B1421"/>
                </a:solidFill>
                <a:latin typeface="Cream Heavy"/>
              </a:rPr>
              <a:t>15 produits, 3 familles</a:t>
            </a:r>
          </a:p>
        </p:txBody>
      </p:sp>
      <p:sp>
        <p:nvSpPr>
          <p:cNvPr id="35" name="Sub14"/>
          <p:cNvSpPr txBox="1"/>
          <p:nvPr/>
        </p:nvSpPr>
        <p:spPr>
          <a:xfrm>
            <a:off x="0" y="3858768"/>
            <a:ext cx="12192000" cy="274320"/>
          </a:xfrm>
          <a:prstGeom prst="rect">
            <a:avLst/>
          </a:prstGeom>
          <a:noFill/>
        </p:spPr>
        <p:txBody>
          <a:bodyPr wrap="square" lIns="0" rIns="0" tIns="0" bIns="0" anchor="t">
            <a:noAutofit/>
          </a:bodyPr>
          <a:lstStyle/>
          <a:p>
            <a:pPr algn="ctr"/>
            <a:r>
              <a:rPr sz="1200" spc="250" cap="all">
                <a:solidFill>
                  <a:srgbClr val="A40C21"/>
                </a:solidFill>
                <a:latin typeface="Montserrat SemiBold"/>
              </a:rPr>
              <a:t>Épices  ·  Marinades  ·  Essentiels</a:t>
            </a:r>
          </a:p>
        </p:txBody>
      </p:sp>
      <p:sp>
        <p:nvSpPr>
          <p:cNvPr id="36" name="!!Accent"/>
          <p:cNvSpPr/>
          <p:nvPr/>
        </p:nvSpPr>
        <p:spPr>
          <a:xfrm>
            <a:off x="685800" y="338328"/>
            <a:ext cx="384048" cy="32004"/>
          </a:xfrm>
          <a:prstGeom prst="rect">
            <a:avLst/>
          </a:prstGeom>
          <a:solidFill>
            <a:srgbClr val="F9A825"/>
          </a:solidFill>
          <a:ln>
            <a:noFill/>
          </a:ln>
        </p:spPr>
        <p:txBody>
          <a:bodyPr rtlCol="0" anchor="ctr"/>
          <a:lstStyle/>
          <a:p/>
        </p:txBody>
      </p:sp>
      <p:sp>
        <p:nvSpPr>
          <p:cNvPr id="37" name="Kicker14"/>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02 · La gamme</a:t>
            </a:r>
          </a:p>
        </p:txBody>
      </p:sp>
      <p:sp>
        <p:nvSpPr>
          <p:cNvPr id="38" name="Num14"/>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13</a:t>
            </a:r>
          </a:p>
        </p:txBody>
      </p:sp>
      <p:sp>
        <p:nvSpPr>
          <p:cNvPr id="39"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40"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41"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42" name="!!Logo" descr="Logo Marin'Or Ivoire"/>
          <p:cNvPicPr>
            <a:picLocks noChangeAspect="1"/>
          </p:cNvPicPr>
          <p:nvPr/>
        </p:nvPicPr>
        <p:blipFill>
          <a:blip r:embed="rId32"/>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decel="100000"/>
                                        <p:tgtEl>
                                          <p:spTgt spid="34"/>
                                        </p:tgtEl>
                                      </p:cBhvr>
                                    </p:animEffect>
                                    <p:anim calcmode="lin" valueType="num">
                                      <p:cBhvr>
                                        <p:cTn id="8" dur="500" decel="100000" fill="hold"/>
                                        <p:tgtEl>
                                          <p:spTgt spid="34"/>
                                        </p:tgtEl>
                                        <p:attrNameLst>
                                          <p:attrName>ppt_x</p:attrName>
                                        </p:attrNameLst>
                                      </p:cBhvr>
                                      <p:tavLst>
                                        <p:tav tm="0">
                                          <p:val>
                                            <p:strVal val="#ppt_x"/>
                                          </p:val>
                                        </p:tav>
                                        <p:tav tm="100000">
                                          <p:val>
                                            <p:strVal val="#ppt_x"/>
                                          </p:val>
                                        </p:tav>
                                      </p:tavLst>
                                    </p:anim>
                                    <p:anim calcmode="lin" valueType="num">
                                      <p:cBhvr>
                                        <p:cTn id="9" dur="500" decel="100000" fill="hold"/>
                                        <p:tgtEl>
                                          <p:spTgt spid="34"/>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decel="100000"/>
                                        <p:tgtEl>
                                          <p:spTgt spid="35"/>
                                        </p:tgtEl>
                                      </p:cBhvr>
                                    </p:animEffect>
                                    <p:anim calcmode="lin" valueType="num">
                                      <p:cBhvr>
                                        <p:cTn id="13" dur="500" decel="100000" fill="hold"/>
                                        <p:tgtEl>
                                          <p:spTgt spid="35"/>
                                        </p:tgtEl>
                                        <p:attrNameLst>
                                          <p:attrName>ppt_x</p:attrName>
                                        </p:attrNameLst>
                                      </p:cBhvr>
                                      <p:tavLst>
                                        <p:tav tm="0">
                                          <p:val>
                                            <p:strVal val="#ppt_x"/>
                                          </p:val>
                                        </p:tav>
                                        <p:tav tm="100000">
                                          <p:val>
                                            <p:strVal val="#ppt_x"/>
                                          </p:val>
                                        </p:tav>
                                      </p:tavLst>
                                    </p:anim>
                                    <p:anim calcmode="lin" valueType="num">
                                      <p:cBhvr>
                                        <p:cTn id="14" dur="500" decel="100000" fill="hold"/>
                                        <p:tgtEl>
                                          <p:spTgt spid="35"/>
                                        </p:tgtEl>
                                        <p:attrNameLst>
                                          <p:attrName>ppt_y</p:attrName>
                                        </p:attrNameLst>
                                      </p:cBhvr>
                                      <p:tavLst>
                                        <p:tav tm="0">
                                          <p:val>
                                            <p:strVal val="#ppt_y+0.0278"/>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500" decel="100000"/>
                                        <p:tgtEl>
                                          <p:spTgt spid="37"/>
                                        </p:tgtEl>
                                      </p:cBhvr>
                                    </p:animEffect>
                                    <p:anim calcmode="lin" valueType="num">
                                      <p:cBhvr>
                                        <p:cTn id="18" dur="500" decel="100000" fill="hold"/>
                                        <p:tgtEl>
                                          <p:spTgt spid="37"/>
                                        </p:tgtEl>
                                        <p:attrNameLst>
                                          <p:attrName>ppt_x</p:attrName>
                                        </p:attrNameLst>
                                      </p:cBhvr>
                                      <p:tavLst>
                                        <p:tav tm="0">
                                          <p:val>
                                            <p:strVal val="#ppt_x"/>
                                          </p:val>
                                        </p:tav>
                                        <p:tav tm="100000">
                                          <p:val>
                                            <p:strVal val="#ppt_x"/>
                                          </p:val>
                                        </p:tav>
                                      </p:tavLst>
                                    </p:anim>
                                    <p:anim calcmode="lin" valueType="num">
                                      <p:cBhvr>
                                        <p:cTn id="19" dur="500" decel="100000" fill="hold"/>
                                        <p:tgtEl>
                                          <p:spTgt spid="37"/>
                                        </p:tgtEl>
                                        <p:attrNameLst>
                                          <p:attrName>ppt_y</p:attrName>
                                        </p:attrNameLst>
                                      </p:cBhvr>
                                      <p:tavLst>
                                        <p:tav tm="0">
                                          <p:val>
                                            <p:strVal val="#ppt_y+0.0278"/>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500" decel="100000"/>
                                        <p:tgtEl>
                                          <p:spTgt spid="38"/>
                                        </p:tgtEl>
                                      </p:cBhvr>
                                    </p:animEffect>
                                    <p:anim calcmode="lin" valueType="num">
                                      <p:cBhvr>
                                        <p:cTn id="23" dur="500" decel="100000" fill="hold"/>
                                        <p:tgtEl>
                                          <p:spTgt spid="38"/>
                                        </p:tgtEl>
                                        <p:attrNameLst>
                                          <p:attrName>ppt_x</p:attrName>
                                        </p:attrNameLst>
                                      </p:cBhvr>
                                      <p:tavLst>
                                        <p:tav tm="0">
                                          <p:val>
                                            <p:strVal val="#ppt_x"/>
                                          </p:val>
                                        </p:tav>
                                        <p:tav tm="100000">
                                          <p:val>
                                            <p:strVal val="#ppt_x"/>
                                          </p:val>
                                        </p:tav>
                                      </p:tavLst>
                                    </p:anim>
                                    <p:anim calcmode="lin" valueType="num">
                                      <p:cBhvr>
                                        <p:cTn id="24" dur="500" decel="100000" fill="hold"/>
                                        <p:tgtEl>
                                          <p:spTgt spid="38"/>
                                        </p:tgtEl>
                                        <p:attrNameLst>
                                          <p:attrName>ppt_y</p:attrName>
                                        </p:attrNameLst>
                                      </p:cBhvr>
                                      <p:tavLst>
                                        <p:tav tm="0">
                                          <p:val>
                                            <p:strVal val="#ppt_y+0.0278"/>
                                          </p:val>
                                        </p:tav>
                                        <p:tav tm="100000">
                                          <p:val>
                                            <p:strVal val="#ppt_y"/>
                                          </p:val>
                                        </p:tav>
                                      </p:tavLst>
                                    </p:anim>
                                  </p:childTnLst>
                                </p:cTn>
                              </p:par>
                              <p:par>
                                <p:cTn id="2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6" dur="2600" fill="hold"/>
                                        <p:tgtEl>
                                          <p:spTgt spid="39"/>
                                        </p:tgtEl>
                                        <p:attrNameLst>
                                          <p:attrName>ppt_x</p:attrName>
                                          <p:attrName>ppt_y</p:attrName>
                                        </p:attrNameLst>
                                      </p:cBhvr>
                                      <p:rCtr x="0" y="0"/>
                                    </p:animMotion>
                                  </p:childTnLst>
                                </p:cTn>
                              </p:par>
                              <p:par>
                                <p:cTn id="2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8" dur="3150" fill="hold"/>
                                        <p:tgtEl>
                                          <p:spTgt spid="40"/>
                                        </p:tgtEl>
                                        <p:attrNameLst>
                                          <p:attrName>ppt_x</p:attrName>
                                          <p:attrName>ppt_y</p:attrName>
                                        </p:attrNameLst>
                                      </p:cBhvr>
                                      <p:rCtr x="0" y="0"/>
                                    </p:animMotion>
                                  </p:childTnLst>
                                </p:cTn>
                              </p:par>
                              <p:par>
                                <p:cTn id="2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30" dur="3700" fill="hold"/>
                                        <p:tgtEl>
                                          <p:spTgt spid="41"/>
                                        </p:tgtEl>
                                        <p:attrNameLst>
                                          <p:attrName>ppt_x</p:attrName>
                                          <p:attrName>ppt_y</p:attrName>
                                        </p:attrNameLst>
                                      </p:cBhvr>
                                      <p:rCtr x="0" y="0"/>
                                    </p:animMotion>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wipe(left)">
                                      <p:cBhvr>
                                        <p:cTn id="34" dur="400" decel="100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animBg="1"/>
      <p:bldP spid="37" grpId="0"/>
      <p:bldP spid="38" grpId="0"/>
      <p:bldP spid="39" grpId="0" animBg="1"/>
      <p:bldP spid="40" grpId="0" animBg="1"/>
      <p:bldP spid="41"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sp>
        <p:nvSpPr>
          <p:cNvPr id="3" name="!!Table"/>
          <p:cNvSpPr/>
          <p:nvPr/>
        </p:nvSpPr>
        <p:spPr>
          <a:xfrm>
            <a:off x="0" y="5852160"/>
            <a:ext cx="12192000" cy="1005840"/>
          </a:xfrm>
          <a:prstGeom prst="rect">
            <a:avLst/>
          </a:prstGeom>
          <a:gradFill rotWithShape="1">
            <a:gsLst>
              <a:gs pos="0">
                <a:srgbClr val="F6E8EA">
                  <a:alpha val="0"/>
                </a:srgbClr>
              </a:gs>
              <a:gs pos="100000">
                <a:srgbClr val="F6E8EA">
                  <a:alpha val="100000"/>
                </a:srgbClr>
              </a:gs>
            </a:gsLst>
            <a:lin ang="5400000" scaled="0"/>
          </a:gradFill>
          <a:ln>
            <a:noFill/>
          </a:ln>
        </p:spPr>
        <p:txBody>
          <a:bodyPr rtlCol="0" anchor="ctr"/>
          <a:lstStyle/>
          <a:p/>
        </p:txBody>
      </p:sp>
      <p:sp>
        <p:nvSpPr>
          <p:cNvPr id="4" name="!!S_epice_poulet"/>
          <p:cNvSpPr/>
          <p:nvPr/>
        </p:nvSpPr>
        <p:spPr>
          <a:xfrm>
            <a:off x="-812608" y="-1479116"/>
            <a:ext cx="2255887" cy="451177"/>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5" name="!!P_epice_poulet" descr="Modèle 3D : Épice spéciale poulet"/>
              <p:cNvGraphicFramePr>
                <a:graphicFrameLocks noChangeAspect="1"/>
              </p:cNvGraphicFramePr>
              <p:nvPr/>
            </p:nvGraphicFramePr>
            <p:xfrm>
              <a:off x="-621598" y="-3973442"/>
              <a:ext cx="1873866" cy="2893296"/>
            </p:xfrm>
            <a:graphic>
              <a:graphicData uri="http://schemas.microsoft.com/office/drawing/2017/model3d">
                <am3d:model3d r:embed="rId2">
                  <am3d:spPr>
                    <a:xfrm>
                      <a:off x="0" y="0"/>
                      <a:ext cx="1873866" cy="2893296"/>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0" az="0"/>
                    <am3d:postTrans dx="0" dy="0" dz="0"/>
                  </am3d:trans>
                  <am3d:raster rName="Office3DRenderer" rVer="16.0.8326">
                    <am3d:blip r:embed="rId3"/>
                  </am3d:raster>
                  <am3d:objViewport viewportSz="41248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P_epice_poulet" descr="Modèle 3D : Épice spéciale poulet"/>
              <p:cNvPicPr>
                <a:picLocks noGrp="1" noRot="1" noChangeAspect="1" noMove="1" noResize="1" noEditPoints="1" noAdjustHandles="1" noChangeArrowheads="1" noChangeShapeType="1" noCrop="1"/>
              </p:cNvPicPr>
              <p:nvPr/>
            </p:nvPicPr>
            <p:blipFill>
              <a:blip r:embed="rId3"/>
              <a:stretch>
                <a:fillRect/>
              </a:stretch>
            </p:blipFill>
            <p:spPr>
              <a:xfrm>
                <a:off x="-621598" y="-3973442"/>
                <a:ext cx="1873866" cy="2893296"/>
              </a:xfrm>
              <a:prstGeom prst="rect">
                <a:avLst/>
              </a:prstGeom>
            </p:spPr>
          </p:pic>
        </mc:Fallback>
      </mc:AlternateContent>
      <p:sp>
        <p:nvSpPr>
          <p:cNvPr id="6" name="!!S_epice_poisson"/>
          <p:cNvSpPr/>
          <p:nvPr/>
        </p:nvSpPr>
        <p:spPr>
          <a:xfrm>
            <a:off x="1172701" y="-1479116"/>
            <a:ext cx="2255887" cy="451177"/>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7" name="!!P_epice_poisson" descr="Modèle 3D : Épice spéciale poisson"/>
              <p:cNvGraphicFramePr>
                <a:graphicFrameLocks noChangeAspect="1"/>
              </p:cNvGraphicFramePr>
              <p:nvPr/>
            </p:nvGraphicFramePr>
            <p:xfrm>
              <a:off x="1363711" y="-3973442"/>
              <a:ext cx="1873866" cy="2893296"/>
            </p:xfrm>
            <a:graphic>
              <a:graphicData uri="http://schemas.microsoft.com/office/drawing/2017/model3d">
                <am3d:model3d r:embed="rId4">
                  <am3d:spPr>
                    <a:xfrm>
                      <a:off x="0" y="0"/>
                      <a:ext cx="1873866" cy="2893296"/>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0" az="0"/>
                    <am3d:postTrans dx="0" dy="0" dz="0"/>
                  </am3d:trans>
                  <am3d:raster rName="Office3DRenderer" rVer="16.0.8326">
                    <am3d:blip r:embed="rId5"/>
                  </am3d:raster>
                  <am3d:objViewport viewportSz="41248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P_epice_poisson" descr="Modèle 3D : Épice spéciale poisson"/>
              <p:cNvPicPr>
                <a:picLocks noGrp="1" noRot="1" noChangeAspect="1" noMove="1" noResize="1" noEditPoints="1" noAdjustHandles="1" noChangeArrowheads="1" noChangeShapeType="1" noCrop="1"/>
              </p:cNvPicPr>
              <p:nvPr/>
            </p:nvPicPr>
            <p:blipFill>
              <a:blip r:embed="rId5"/>
              <a:stretch>
                <a:fillRect/>
              </a:stretch>
            </p:blipFill>
            <p:spPr>
              <a:xfrm>
                <a:off x="1363711" y="-3973442"/>
                <a:ext cx="1873866" cy="2893296"/>
              </a:xfrm>
              <a:prstGeom prst="rect">
                <a:avLst/>
              </a:prstGeom>
            </p:spPr>
          </p:pic>
        </mc:Fallback>
      </mc:AlternateContent>
      <p:sp>
        <p:nvSpPr>
          <p:cNvPr id="8" name="!!S_paprika"/>
          <p:cNvSpPr/>
          <p:nvPr/>
        </p:nvSpPr>
        <p:spPr>
          <a:xfrm>
            <a:off x="3158011" y="-1479116"/>
            <a:ext cx="2255887" cy="451177"/>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9" name="!!P_paprika" descr="Modèle 3D : Paprika"/>
              <p:cNvGraphicFramePr>
                <a:graphicFrameLocks noChangeAspect="1"/>
              </p:cNvGraphicFramePr>
              <p:nvPr/>
            </p:nvGraphicFramePr>
            <p:xfrm>
              <a:off x="3349021" y="-3973442"/>
              <a:ext cx="1873866" cy="2893296"/>
            </p:xfrm>
            <a:graphic>
              <a:graphicData uri="http://schemas.microsoft.com/office/drawing/2017/model3d">
                <am3d:model3d r:embed="rId6">
                  <am3d:spPr>
                    <a:xfrm>
                      <a:off x="0" y="0"/>
                      <a:ext cx="1873866" cy="2893296"/>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0" az="0"/>
                    <am3d:postTrans dx="0" dy="0" dz="0"/>
                  </am3d:trans>
                  <am3d:raster rName="Office3DRenderer" rVer="16.0.8326">
                    <am3d:blip r:embed="rId7"/>
                  </am3d:raster>
                  <am3d:objViewport viewportSz="41248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 name="!!P_paprika" descr="Modèle 3D : Paprika"/>
              <p:cNvPicPr>
                <a:picLocks noGrp="1" noRot="1" noChangeAspect="1" noMove="1" noResize="1" noEditPoints="1" noAdjustHandles="1" noChangeArrowheads="1" noChangeShapeType="1" noCrop="1"/>
              </p:cNvPicPr>
              <p:nvPr/>
            </p:nvPicPr>
            <p:blipFill>
              <a:blip r:embed="rId7"/>
              <a:stretch>
                <a:fillRect/>
              </a:stretch>
            </p:blipFill>
            <p:spPr>
              <a:xfrm>
                <a:off x="3349021" y="-3973442"/>
                <a:ext cx="1873866" cy="2893296"/>
              </a:xfrm>
              <a:prstGeom prst="rect">
                <a:avLst/>
              </a:prstGeom>
            </p:spPr>
          </p:pic>
        </mc:Fallback>
      </mc:AlternateContent>
      <p:sp>
        <p:nvSpPr>
          <p:cNvPr id="10" name="!!S_piment"/>
          <p:cNvSpPr/>
          <p:nvPr/>
        </p:nvSpPr>
        <p:spPr>
          <a:xfrm>
            <a:off x="5143321" y="-1479116"/>
            <a:ext cx="2255887" cy="451177"/>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11" name="!!P_piment" descr="Modèle 3D : Piment en poudre"/>
              <p:cNvGraphicFramePr>
                <a:graphicFrameLocks noChangeAspect="1"/>
              </p:cNvGraphicFramePr>
              <p:nvPr/>
            </p:nvGraphicFramePr>
            <p:xfrm>
              <a:off x="5334331" y="-3973442"/>
              <a:ext cx="1873866" cy="2893296"/>
            </p:xfrm>
            <a:graphic>
              <a:graphicData uri="http://schemas.microsoft.com/office/drawing/2017/model3d">
                <am3d:model3d r:embed="rId8">
                  <am3d:spPr>
                    <a:xfrm>
                      <a:off x="0" y="0"/>
                      <a:ext cx="1873866" cy="2893296"/>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0" az="0"/>
                    <am3d:postTrans dx="0" dy="0" dz="0"/>
                  </am3d:trans>
                  <am3d:raster rName="Office3DRenderer" rVer="16.0.8326">
                    <am3d:blip r:embed="rId9"/>
                  </am3d:raster>
                  <am3d:objViewport viewportSz="41248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1" name="!!P_piment" descr="Modèle 3D : Piment en poudre"/>
              <p:cNvPicPr>
                <a:picLocks noGrp="1" noRot="1" noChangeAspect="1" noMove="1" noResize="1" noEditPoints="1" noAdjustHandles="1" noChangeArrowheads="1" noChangeShapeType="1" noCrop="1"/>
              </p:cNvPicPr>
              <p:nvPr/>
            </p:nvPicPr>
            <p:blipFill>
              <a:blip r:embed="rId9"/>
              <a:stretch>
                <a:fillRect/>
              </a:stretch>
            </p:blipFill>
            <p:spPr>
              <a:xfrm>
                <a:off x="5334331" y="-3973442"/>
                <a:ext cx="1873866" cy="2893296"/>
              </a:xfrm>
              <a:prstGeom prst="rect">
                <a:avLst/>
              </a:prstGeom>
            </p:spPr>
          </p:pic>
        </mc:Fallback>
      </mc:AlternateContent>
      <p:sp>
        <p:nvSpPr>
          <p:cNvPr id="12" name="!!S_akpi"/>
          <p:cNvSpPr/>
          <p:nvPr/>
        </p:nvSpPr>
        <p:spPr>
          <a:xfrm>
            <a:off x="7128631" y="-1479116"/>
            <a:ext cx="2255887" cy="451177"/>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13" name="!!P_akpi" descr="Modèle 3D : Graines d'akpi"/>
              <p:cNvGraphicFramePr>
                <a:graphicFrameLocks noChangeAspect="1"/>
              </p:cNvGraphicFramePr>
              <p:nvPr/>
            </p:nvGraphicFramePr>
            <p:xfrm>
              <a:off x="7319641" y="-3973442"/>
              <a:ext cx="1873866" cy="2893296"/>
            </p:xfrm>
            <a:graphic>
              <a:graphicData uri="http://schemas.microsoft.com/office/drawing/2017/model3d">
                <am3d:model3d r:embed="rId10">
                  <am3d:spPr>
                    <a:xfrm>
                      <a:off x="0" y="0"/>
                      <a:ext cx="1873866" cy="2893296"/>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0" az="0"/>
                    <am3d:postTrans dx="0" dy="0" dz="0"/>
                  </am3d:trans>
                  <am3d:raster rName="Office3DRenderer" rVer="16.0.8326">
                    <am3d:blip r:embed="rId11"/>
                  </am3d:raster>
                  <am3d:objViewport viewportSz="41248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3" name="!!P_akpi" descr="Modèle 3D : Graines d'akpi"/>
              <p:cNvPicPr>
                <a:picLocks noGrp="1" noRot="1" noChangeAspect="1" noMove="1" noResize="1" noEditPoints="1" noAdjustHandles="1" noChangeArrowheads="1" noChangeShapeType="1" noCrop="1"/>
              </p:cNvPicPr>
              <p:nvPr/>
            </p:nvPicPr>
            <p:blipFill>
              <a:blip r:embed="rId11"/>
              <a:stretch>
                <a:fillRect/>
              </a:stretch>
            </p:blipFill>
            <p:spPr>
              <a:xfrm>
                <a:off x="7319641" y="-3973442"/>
                <a:ext cx="1873866" cy="2893296"/>
              </a:xfrm>
              <a:prstGeom prst="rect">
                <a:avLst/>
              </a:prstGeom>
            </p:spPr>
          </p:pic>
        </mc:Fallback>
      </mc:AlternateContent>
      <p:sp>
        <p:nvSpPr>
          <p:cNvPr id="14" name="!!S_djoumble"/>
          <p:cNvSpPr/>
          <p:nvPr/>
        </p:nvSpPr>
        <p:spPr>
          <a:xfrm>
            <a:off x="9113941" y="-1479116"/>
            <a:ext cx="2255887" cy="451177"/>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15" name="!!P_djoumble" descr="Modèle 3D : Poudre de djoumblé"/>
              <p:cNvGraphicFramePr>
                <a:graphicFrameLocks noChangeAspect="1"/>
              </p:cNvGraphicFramePr>
              <p:nvPr/>
            </p:nvGraphicFramePr>
            <p:xfrm>
              <a:off x="9304951" y="-3973442"/>
              <a:ext cx="1873866" cy="2893296"/>
            </p:xfrm>
            <a:graphic>
              <a:graphicData uri="http://schemas.microsoft.com/office/drawing/2017/model3d">
                <am3d:model3d r:embed="rId12">
                  <am3d:spPr>
                    <a:xfrm>
                      <a:off x="0" y="0"/>
                      <a:ext cx="1873866" cy="2893296"/>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0" az="0"/>
                    <am3d:postTrans dx="0" dy="0" dz="0"/>
                  </am3d:trans>
                  <am3d:raster rName="Office3DRenderer" rVer="16.0.8326">
                    <am3d:blip r:embed="rId13"/>
                  </am3d:raster>
                  <am3d:objViewport viewportSz="41248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5" name="!!P_djoumble" descr="Modèle 3D : Poudre de djoumblé"/>
              <p:cNvPicPr>
                <a:picLocks noGrp="1" noRot="1" noChangeAspect="1" noMove="1" noResize="1" noEditPoints="1" noAdjustHandles="1" noChangeArrowheads="1" noChangeShapeType="1" noCrop="1"/>
              </p:cNvPicPr>
              <p:nvPr/>
            </p:nvPicPr>
            <p:blipFill>
              <a:blip r:embed="rId13"/>
              <a:stretch>
                <a:fillRect/>
              </a:stretch>
            </p:blipFill>
            <p:spPr>
              <a:xfrm>
                <a:off x="9304951" y="-3973442"/>
                <a:ext cx="1873866" cy="2893296"/>
              </a:xfrm>
              <a:prstGeom prst="rect">
                <a:avLst/>
              </a:prstGeom>
            </p:spPr>
          </p:pic>
        </mc:Fallback>
      </mc:AlternateContent>
      <p:sp>
        <p:nvSpPr>
          <p:cNvPr id="16" name="!!S_crevette"/>
          <p:cNvSpPr/>
          <p:nvPr/>
        </p:nvSpPr>
        <p:spPr>
          <a:xfrm>
            <a:off x="11099251" y="-1479116"/>
            <a:ext cx="2255887" cy="451177"/>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17" name="!!P_crevette" descr="Modèle 3D : Poudre de crevettes séchées"/>
              <p:cNvGraphicFramePr>
                <a:graphicFrameLocks noChangeAspect="1"/>
              </p:cNvGraphicFramePr>
              <p:nvPr/>
            </p:nvGraphicFramePr>
            <p:xfrm>
              <a:off x="11290261" y="-3973442"/>
              <a:ext cx="1873866" cy="2893296"/>
            </p:xfrm>
            <a:graphic>
              <a:graphicData uri="http://schemas.microsoft.com/office/drawing/2017/model3d">
                <am3d:model3d r:embed="rId14">
                  <am3d:spPr>
                    <a:xfrm>
                      <a:off x="0" y="0"/>
                      <a:ext cx="1873866" cy="2893296"/>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0" az="0"/>
                    <am3d:postTrans dx="0" dy="0" dz="0"/>
                  </am3d:trans>
                  <am3d:raster rName="Office3DRenderer" rVer="16.0.8326">
                    <am3d:blip r:embed="rId15"/>
                  </am3d:raster>
                  <am3d:objViewport viewportSz="41248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7" name="!!P_crevette" descr="Modèle 3D : Poudre de crevettes séchées"/>
              <p:cNvPicPr>
                <a:picLocks noGrp="1" noRot="1" noChangeAspect="1" noMove="1" noResize="1" noEditPoints="1" noAdjustHandles="1" noChangeArrowheads="1" noChangeShapeType="1" noCrop="1"/>
              </p:cNvPicPr>
              <p:nvPr/>
            </p:nvPicPr>
            <p:blipFill>
              <a:blip r:embed="rId15"/>
              <a:stretch>
                <a:fillRect/>
              </a:stretch>
            </p:blipFill>
            <p:spPr>
              <a:xfrm>
                <a:off x="11290261" y="-3973442"/>
                <a:ext cx="1873866" cy="2893296"/>
              </a:xfrm>
              <a:prstGeom prst="rect">
                <a:avLst/>
              </a:prstGeom>
            </p:spPr>
          </p:pic>
        </mc:Fallback>
      </mc:AlternateContent>
      <p:sp>
        <p:nvSpPr>
          <p:cNvPr id="18" name="!!S_poudre_poisson"/>
          <p:cNvSpPr/>
          <p:nvPr/>
        </p:nvSpPr>
        <p:spPr>
          <a:xfrm>
            <a:off x="13084561" y="-1479116"/>
            <a:ext cx="2255887" cy="451177"/>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19" name="!!P_poudre_poisson" descr="Modèle 3D : Poudre de poisson sec"/>
              <p:cNvGraphicFramePr>
                <a:graphicFrameLocks noChangeAspect="1"/>
              </p:cNvGraphicFramePr>
              <p:nvPr/>
            </p:nvGraphicFramePr>
            <p:xfrm>
              <a:off x="13275571" y="-3973442"/>
              <a:ext cx="1873866" cy="2893296"/>
            </p:xfrm>
            <a:graphic>
              <a:graphicData uri="http://schemas.microsoft.com/office/drawing/2017/model3d">
                <am3d:model3d r:embed="rId16">
                  <am3d:spPr>
                    <a:xfrm>
                      <a:off x="0" y="0"/>
                      <a:ext cx="1873866" cy="2893296"/>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0" az="0"/>
                    <am3d:postTrans dx="0" dy="0" dz="0"/>
                  </am3d:trans>
                  <am3d:raster rName="Office3DRenderer" rVer="16.0.8326">
                    <am3d:blip r:embed="rId17"/>
                  </am3d:raster>
                  <am3d:objViewport viewportSz="41248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9" name="!!P_poudre_poisson" descr="Modèle 3D : Poudre de poisson sec"/>
              <p:cNvPicPr>
                <a:picLocks noGrp="1" noRot="1" noChangeAspect="1" noMove="1" noResize="1" noEditPoints="1" noAdjustHandles="1" noChangeArrowheads="1" noChangeShapeType="1" noCrop="1"/>
              </p:cNvPicPr>
              <p:nvPr/>
            </p:nvPicPr>
            <p:blipFill>
              <a:blip r:embed="rId17"/>
              <a:stretch>
                <a:fillRect/>
              </a:stretch>
            </p:blipFill>
            <p:spPr>
              <a:xfrm>
                <a:off x="13275571" y="-3973442"/>
                <a:ext cx="1873866" cy="2893296"/>
              </a:xfrm>
              <a:prstGeom prst="rect">
                <a:avLst/>
              </a:prstGeom>
            </p:spPr>
          </p:pic>
        </mc:Fallback>
      </mc:AlternateContent>
      <p:sp>
        <p:nvSpPr>
          <p:cNvPr id="20" name="!!S_ail"/>
          <p:cNvSpPr/>
          <p:nvPr/>
        </p:nvSpPr>
        <p:spPr>
          <a:xfrm>
            <a:off x="15069871" y="-1479116"/>
            <a:ext cx="2255887" cy="451177"/>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21" name="!!P_ail" descr="Modèle 3D : Purée d'ail"/>
              <p:cNvGraphicFramePr>
                <a:graphicFrameLocks noChangeAspect="1"/>
              </p:cNvGraphicFramePr>
              <p:nvPr/>
            </p:nvGraphicFramePr>
            <p:xfrm>
              <a:off x="15260881" y="-3973442"/>
              <a:ext cx="1873866" cy="2893296"/>
            </p:xfrm>
            <a:graphic>
              <a:graphicData uri="http://schemas.microsoft.com/office/drawing/2017/model3d">
                <am3d:model3d r:embed="rId18">
                  <am3d:spPr>
                    <a:xfrm>
                      <a:off x="0" y="0"/>
                      <a:ext cx="1873866" cy="2893296"/>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0" az="0"/>
                    <am3d:postTrans dx="0" dy="0" dz="0"/>
                  </am3d:trans>
                  <am3d:raster rName="Office3DRenderer" rVer="16.0.8326">
                    <am3d:blip r:embed="rId19"/>
                  </am3d:raster>
                  <am3d:objViewport viewportSz="41248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1" name="!!P_ail" descr="Modèle 3D : Purée d'ail"/>
              <p:cNvPicPr>
                <a:picLocks noGrp="1" noRot="1" noChangeAspect="1" noMove="1" noResize="1" noEditPoints="1" noAdjustHandles="1" noChangeArrowheads="1" noChangeShapeType="1" noCrop="1"/>
              </p:cNvPicPr>
              <p:nvPr/>
            </p:nvPicPr>
            <p:blipFill>
              <a:blip r:embed="rId19"/>
              <a:stretch>
                <a:fillRect/>
              </a:stretch>
            </p:blipFill>
            <p:spPr>
              <a:xfrm>
                <a:off x="15260881" y="-3973442"/>
                <a:ext cx="1873866" cy="2893296"/>
              </a:xfrm>
              <a:prstGeom prst="rect">
                <a:avLst/>
              </a:prstGeom>
            </p:spPr>
          </p:pic>
        </mc:Fallback>
      </mc:AlternateContent>
      <p:sp>
        <p:nvSpPr>
          <p:cNvPr id="22" name="!!S_bouillon"/>
          <p:cNvSpPr/>
          <p:nvPr/>
        </p:nvSpPr>
        <p:spPr>
          <a:xfrm>
            <a:off x="17055181" y="-1479116"/>
            <a:ext cx="2255887" cy="451177"/>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23" name="!!P_bouillon" descr="Modèle 3D : Bouillon bio de poulet"/>
              <p:cNvGraphicFramePr>
                <a:graphicFrameLocks noChangeAspect="1"/>
              </p:cNvGraphicFramePr>
              <p:nvPr/>
            </p:nvGraphicFramePr>
            <p:xfrm>
              <a:off x="17246191" y="-3973442"/>
              <a:ext cx="1873866" cy="2893296"/>
            </p:xfrm>
            <a:graphic>
              <a:graphicData uri="http://schemas.microsoft.com/office/drawing/2017/model3d">
                <am3d:model3d r:embed="rId20">
                  <am3d:spPr>
                    <a:xfrm>
                      <a:off x="0" y="0"/>
                      <a:ext cx="1873866" cy="2893296"/>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0" az="0"/>
                    <am3d:postTrans dx="0" dy="0" dz="0"/>
                  </am3d:trans>
                  <am3d:raster rName="Office3DRenderer" rVer="16.0.8326">
                    <am3d:blip r:embed="rId21"/>
                  </am3d:raster>
                  <am3d:objViewport viewportSz="41248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3" name="!!P_bouillon" descr="Modèle 3D : Bouillon bio de poulet"/>
              <p:cNvPicPr>
                <a:picLocks noGrp="1" noRot="1" noChangeAspect="1" noMove="1" noResize="1" noEditPoints="1" noAdjustHandles="1" noChangeArrowheads="1" noChangeShapeType="1" noCrop="1"/>
              </p:cNvPicPr>
              <p:nvPr/>
            </p:nvPicPr>
            <p:blipFill>
              <a:blip r:embed="rId21"/>
              <a:stretch>
                <a:fillRect/>
              </a:stretch>
            </p:blipFill>
            <p:spPr>
              <a:xfrm>
                <a:off x="17246191" y="-3973442"/>
                <a:ext cx="1873866" cy="2893296"/>
              </a:xfrm>
              <a:prstGeom prst="rect">
                <a:avLst/>
              </a:prstGeom>
            </p:spPr>
          </p:pic>
        </mc:Fallback>
      </mc:AlternateContent>
      <p:sp>
        <p:nvSpPr>
          <p:cNvPr id="24" name="!!S_huile"/>
          <p:cNvSpPr/>
          <p:nvPr/>
        </p:nvSpPr>
        <p:spPr>
          <a:xfrm>
            <a:off x="-2362712" y="5051233"/>
            <a:ext cx="1525425" cy="30508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25" name="!!P_huile" descr="Modèle 3D : Huile rouge"/>
              <p:cNvGraphicFramePr>
                <a:graphicFrameLocks noChangeAspect="1"/>
              </p:cNvGraphicFramePr>
              <p:nvPr/>
            </p:nvGraphicFramePr>
            <p:xfrm>
              <a:off x="-2236602" y="1711233"/>
              <a:ext cx="1273204" cy="3721674"/>
            </p:xfrm>
            <a:graphic>
              <a:graphicData uri="http://schemas.microsoft.com/office/drawing/2017/model3d">
                <am3d:model3d r:embed="rId22">
                  <am3d:spPr>
                    <a:xfrm>
                      <a:off x="0" y="0"/>
                      <a:ext cx="1273204" cy="3721674"/>
                    </a:xfrm>
                    <a:prstGeom prst="rect">
                      <a:avLst/>
                    </a:prstGeom>
                  </am3d:spPr>
                  <am3d:camera>
                    <am3d:pos x="0" y="0" z="67740115"/>
                    <am3d:up dx="0" dy="36000000" dz="0"/>
                    <am3d:lookAt x="0" y="0" z="0"/>
                    <am3d:perspective fov="2700000"/>
                  </am3d:camera>
                  <am3d:trans>
                    <am3d:meterPerModelUnit n="54655" d="1000000"/>
                    <am3d:preTrans dx="0" dy="-18000000" dz="1652"/>
                    <am3d:scale>
                      <am3d:sx n="1000000" d="1000000"/>
                      <am3d:sy n="1000000" d="1000000"/>
                      <am3d:sz n="1000000" d="1000000"/>
                    </am3d:scale>
                    <am3d:rot ax="300000" ay="21120000" az="0"/>
                    <am3d:postTrans dx="0" dy="0" dz="0"/>
                  </am3d:trans>
                  <am3d:raster rName="Office3DRenderer" rVer="16.0.8326">
                    <am3d:blip r:embed="rId23"/>
                  </am3d:raster>
                  <am3d:objViewport viewportSz="527362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5" name="!!P_huile" descr="Modèle 3D : Huile rouge"/>
              <p:cNvPicPr>
                <a:picLocks noGrp="1" noRot="1" noChangeAspect="1" noMove="1" noResize="1" noEditPoints="1" noAdjustHandles="1" noChangeArrowheads="1" noChangeShapeType="1" noCrop="1"/>
              </p:cNvPicPr>
              <p:nvPr/>
            </p:nvPicPr>
            <p:blipFill>
              <a:blip r:embed="rId23"/>
              <a:stretch>
                <a:fillRect/>
              </a:stretch>
            </p:blipFill>
            <p:spPr>
              <a:xfrm>
                <a:off x="-2236602" y="1711233"/>
                <a:ext cx="1273204" cy="3721674"/>
              </a:xfrm>
              <a:prstGeom prst="rect">
                <a:avLst/>
              </a:prstGeom>
            </p:spPr>
          </p:pic>
        </mc:Fallback>
      </mc:AlternateContent>
      <p:sp>
        <p:nvSpPr>
          <p:cNvPr id="26" name="!!S_marinade_poulet"/>
          <p:cNvSpPr/>
          <p:nvPr/>
        </p:nvSpPr>
        <p:spPr>
          <a:xfrm>
            <a:off x="5556314" y="4998860"/>
            <a:ext cx="2001542" cy="400308"/>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27" name="!!P_marinade_poulet" descr="Modèle 3D : Marinade poulet"/>
              <p:cNvGraphicFramePr>
                <a:graphicFrameLocks noChangeAspect="1"/>
              </p:cNvGraphicFramePr>
              <p:nvPr/>
            </p:nvGraphicFramePr>
            <p:xfrm>
              <a:off x="5723137" y="2160493"/>
              <a:ext cx="1667897" cy="3257306"/>
            </p:xfrm>
            <a:graphic>
              <a:graphicData uri="http://schemas.microsoft.com/office/drawing/2017/model3d">
                <am3d:model3d r:embed="rId24">
                  <am3d:spPr>
                    <a:xfrm>
                      <a:off x="0" y="0"/>
                      <a:ext cx="1667897" cy="3257306"/>
                    </a:xfrm>
                    <a:prstGeom prst="rect">
                      <a:avLst/>
                    </a:prstGeom>
                  </am3d:spPr>
                  <am3d:camera>
                    <am3d:pos x="0" y="0" z="67740115"/>
                    <am3d:up dx="0" dy="36000000" dz="0"/>
                    <am3d:lookAt x="0" y="0" z="0"/>
                    <am3d:perspective fov="2700000"/>
                  </am3d:camera>
                  <am3d:trans>
                    <am3d:meterPerModelUnit n="62952" d="1000000"/>
                    <am3d:preTrans dx="385" dy="-17999999" dz="-917"/>
                    <am3d:scale>
                      <am3d:sx n="1000000" d="1000000"/>
                      <am3d:sy n="1000000" d="1000000"/>
                      <am3d:sz n="1000000" d="1000000"/>
                    </am3d:scale>
                    <am3d:rot ax="300000" ay="20760000" az="0"/>
                    <am3d:postTrans dx="0" dy="0" dz="0"/>
                  </am3d:trans>
                  <am3d:raster rName="Office3DRenderer" rVer="16.0.8326">
                    <am3d:blip r:embed="rId25"/>
                  </am3d:raster>
                  <am3d:objViewport viewportSz="457854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7" name="!!P_marinade_poulet" descr="Modèle 3D : Marinade poulet"/>
              <p:cNvPicPr>
                <a:picLocks noGrp="1" noRot="1" noChangeAspect="1" noMove="1" noResize="1" noEditPoints="1" noAdjustHandles="1" noChangeArrowheads="1" noChangeShapeType="1" noCrop="1"/>
              </p:cNvPicPr>
              <p:nvPr/>
            </p:nvPicPr>
            <p:blipFill>
              <a:blip r:embed="rId25"/>
              <a:stretch>
                <a:fillRect/>
              </a:stretch>
            </p:blipFill>
            <p:spPr>
              <a:xfrm>
                <a:off x="5723137" y="2160493"/>
                <a:ext cx="1667897" cy="3257306"/>
              </a:xfrm>
              <a:prstGeom prst="rect">
                <a:avLst/>
              </a:prstGeom>
            </p:spPr>
          </p:pic>
        </mc:Fallback>
      </mc:AlternateContent>
      <p:sp>
        <p:nvSpPr>
          <p:cNvPr id="28" name="!!S_marinade_poisson"/>
          <p:cNvSpPr/>
          <p:nvPr/>
        </p:nvSpPr>
        <p:spPr>
          <a:xfrm>
            <a:off x="7749228" y="4998860"/>
            <a:ext cx="2001542" cy="400308"/>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29" name="!!P_marinade_poisson" descr="Modèle 3D : Marinade poisson"/>
              <p:cNvGraphicFramePr>
                <a:graphicFrameLocks noChangeAspect="1"/>
              </p:cNvGraphicFramePr>
              <p:nvPr/>
            </p:nvGraphicFramePr>
            <p:xfrm>
              <a:off x="7916051" y="2160493"/>
              <a:ext cx="1667897" cy="3257306"/>
            </p:xfrm>
            <a:graphic>
              <a:graphicData uri="http://schemas.microsoft.com/office/drawing/2017/model3d">
                <am3d:model3d r:embed="rId26">
                  <am3d:spPr>
                    <a:xfrm>
                      <a:off x="0" y="0"/>
                      <a:ext cx="1667897" cy="3257306"/>
                    </a:xfrm>
                    <a:prstGeom prst="rect">
                      <a:avLst/>
                    </a:prstGeom>
                  </am3d:spPr>
                  <am3d:camera>
                    <am3d:pos x="0" y="0" z="67740115"/>
                    <am3d:up dx="0" dy="36000000" dz="0"/>
                    <am3d:lookAt x="0" y="0" z="0"/>
                    <am3d:perspective fov="2700000"/>
                  </am3d:camera>
                  <am3d:trans>
                    <am3d:meterPerModelUnit n="62952" d="1000000"/>
                    <am3d:preTrans dx="385" dy="-17999999" dz="-917"/>
                    <am3d:scale>
                      <am3d:sx n="1000000" d="1000000"/>
                      <am3d:sy n="1000000" d="1000000"/>
                      <am3d:sz n="1000000" d="1000000"/>
                    </am3d:scale>
                    <am3d:rot ax="300000" ay="0" az="0"/>
                    <am3d:postTrans dx="0" dy="0" dz="0"/>
                  </am3d:trans>
                  <am3d:raster rName="Office3DRenderer" rVer="16.0.8326">
                    <am3d:blip r:embed="rId27"/>
                  </am3d:raster>
                  <am3d:objViewport viewportSz="457854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9" name="!!P_marinade_poisson" descr="Modèle 3D : Marinade poisson"/>
              <p:cNvPicPr>
                <a:picLocks noGrp="1" noRot="1" noChangeAspect="1" noMove="1" noResize="1" noEditPoints="1" noAdjustHandles="1" noChangeArrowheads="1" noChangeShapeType="1" noCrop="1"/>
              </p:cNvPicPr>
              <p:nvPr/>
            </p:nvPicPr>
            <p:blipFill>
              <a:blip r:embed="rId27"/>
              <a:stretch>
                <a:fillRect/>
              </a:stretch>
            </p:blipFill>
            <p:spPr>
              <a:xfrm>
                <a:off x="7916051" y="2160493"/>
                <a:ext cx="1667897" cy="3257306"/>
              </a:xfrm>
              <a:prstGeom prst="rect">
                <a:avLst/>
              </a:prstGeom>
            </p:spPr>
          </p:pic>
        </mc:Fallback>
      </mc:AlternateContent>
      <p:sp>
        <p:nvSpPr>
          <p:cNvPr id="30" name="!!S_marinade_mixte"/>
          <p:cNvSpPr/>
          <p:nvPr/>
        </p:nvSpPr>
        <p:spPr>
          <a:xfrm>
            <a:off x="9942142" y="4998860"/>
            <a:ext cx="2001542" cy="400308"/>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31" name="!!P_marinade_mixte" descr="Modèle 3D : Marinade mixte"/>
              <p:cNvGraphicFramePr>
                <a:graphicFrameLocks noChangeAspect="1"/>
              </p:cNvGraphicFramePr>
              <p:nvPr/>
            </p:nvGraphicFramePr>
            <p:xfrm>
              <a:off x="10108965" y="2160493"/>
              <a:ext cx="1667897" cy="3257306"/>
            </p:xfrm>
            <a:graphic>
              <a:graphicData uri="http://schemas.microsoft.com/office/drawing/2017/model3d">
                <am3d:model3d r:embed="rId28">
                  <am3d:spPr>
                    <a:xfrm>
                      <a:off x="0" y="0"/>
                      <a:ext cx="1667897" cy="3257306"/>
                    </a:xfrm>
                    <a:prstGeom prst="rect">
                      <a:avLst/>
                    </a:prstGeom>
                  </am3d:spPr>
                  <am3d:camera>
                    <am3d:pos x="0" y="0" z="67740115"/>
                    <am3d:up dx="0" dy="36000000" dz="0"/>
                    <am3d:lookAt x="0" y="0" z="0"/>
                    <am3d:perspective fov="2700000"/>
                  </am3d:camera>
                  <am3d:trans>
                    <am3d:meterPerModelUnit n="62952" d="1000000"/>
                    <am3d:preTrans dx="385" dy="-17999999" dz="-917"/>
                    <am3d:scale>
                      <am3d:sx n="1000000" d="1000000"/>
                      <am3d:sy n="1000000" d="1000000"/>
                      <am3d:sz n="1000000" d="1000000"/>
                    </am3d:scale>
                    <am3d:rot ax="300000" ay="840000" az="0"/>
                    <am3d:postTrans dx="0" dy="0" dz="0"/>
                  </am3d:trans>
                  <am3d:raster rName="Office3DRenderer" rVer="16.0.8326">
                    <am3d:blip r:embed="rId29"/>
                  </am3d:raster>
                  <am3d:objViewport viewportSz="457854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1" name="!!P_marinade_mixte" descr="Modèle 3D : Marinade mixte"/>
              <p:cNvPicPr>
                <a:picLocks noGrp="1" noRot="1" noChangeAspect="1" noMove="1" noResize="1" noEditPoints="1" noAdjustHandles="1" noChangeArrowheads="1" noChangeShapeType="1" noCrop="1"/>
              </p:cNvPicPr>
              <p:nvPr/>
            </p:nvPicPr>
            <p:blipFill>
              <a:blip r:embed="rId29"/>
              <a:stretch>
                <a:fillRect/>
              </a:stretch>
            </p:blipFill>
            <p:spPr>
              <a:xfrm>
                <a:off x="10108965" y="2160493"/>
                <a:ext cx="1667897" cy="3257306"/>
              </a:xfrm>
              <a:prstGeom prst="rect">
                <a:avLst/>
              </a:prstGeom>
            </p:spPr>
          </p:pic>
        </mc:Fallback>
      </mc:AlternateContent>
      <p:sp>
        <p:nvSpPr>
          <p:cNvPr id="32" name="!!S_arachide"/>
          <p:cNvSpPr/>
          <p:nvPr/>
        </p:nvSpPr>
        <p:spPr>
          <a:xfrm>
            <a:off x="13005250" y="4913945"/>
            <a:ext cx="2773500" cy="55470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33" name="!!P_arachide" descr="Modèle 3D : Pâte d'arachide"/>
              <p:cNvGraphicFramePr>
                <a:graphicFrameLocks noChangeAspect="1"/>
              </p:cNvGraphicFramePr>
              <p:nvPr/>
            </p:nvGraphicFramePr>
            <p:xfrm>
              <a:off x="12816017" y="2552723"/>
              <a:ext cx="3151964" cy="3216391"/>
            </p:xfrm>
            <a:graphic>
              <a:graphicData uri="http://schemas.microsoft.com/office/drawing/2017/model3d">
                <am3d:model3d r:embed="rId30">
                  <am3d:spPr>
                    <a:xfrm>
                      <a:off x="0" y="0"/>
                      <a:ext cx="3151964" cy="3216391"/>
                    </a:xfrm>
                    <a:prstGeom prst="rect">
                      <a:avLst/>
                    </a:prstGeom>
                  </am3d:spPr>
                  <am3d:camera>
                    <am3d:pos x="0" y="0" z="67740115"/>
                    <am3d:up dx="0" dy="36000000" dz="0"/>
                    <am3d:lookAt x="0" y="0" z="0"/>
                    <am3d:perspective fov="2700000"/>
                  </am3d:camera>
                  <am3d:trans>
                    <am3d:meterPerModelUnit n="83084" d="1000000"/>
                    <am3d:preTrans dx="0" dy="-17570055" dz="0"/>
                    <am3d:scale>
                      <am3d:sx n="1000000" d="1000000"/>
                      <am3d:sy n="1000000" d="1000000"/>
                      <am3d:sz n="1000000" d="1000000"/>
                    </am3d:scale>
                    <am3d:rot ax="300000" ay="600000" az="0"/>
                    <am3d:postTrans dx="0" dy="0" dz="0"/>
                  </am3d:trans>
                  <am3d:raster rName="Office3DRenderer" rVer="16.0.8326">
                    <am3d:blip r:embed="rId31"/>
                  </am3d:raster>
                  <am3d:objViewport viewportSz="3469143"/>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3" name="!!P_arachide" descr="Modèle 3D : Pâte d'arachide"/>
              <p:cNvPicPr>
                <a:picLocks noGrp="1" noRot="1" noChangeAspect="1" noMove="1" noResize="1" noEditPoints="1" noAdjustHandles="1" noChangeArrowheads="1" noChangeShapeType="1" noCrop="1"/>
              </p:cNvPicPr>
              <p:nvPr/>
            </p:nvPicPr>
            <p:blipFill>
              <a:blip r:embed="rId31"/>
              <a:stretch>
                <a:fillRect/>
              </a:stretch>
            </p:blipFill>
            <p:spPr>
              <a:xfrm>
                <a:off x="12816017" y="2552723"/>
                <a:ext cx="3151964" cy="3216391"/>
              </a:xfrm>
              <a:prstGeom prst="rect">
                <a:avLst/>
              </a:prstGeom>
            </p:spPr>
          </p:pic>
        </mc:Fallback>
      </mc:AlternateContent>
      <p:sp>
        <p:nvSpPr>
          <p:cNvPr id="34" name="Titre15"/>
          <p:cNvSpPr txBox="1"/>
          <p:nvPr/>
        </p:nvSpPr>
        <p:spPr>
          <a:xfrm>
            <a:off x="685800" y="914400"/>
            <a:ext cx="50292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Les Marinades</a:t>
            </a:r>
          </a:p>
        </p:txBody>
      </p:sp>
      <p:sp>
        <p:nvSpPr>
          <p:cNvPr id="35" name="Body15"/>
          <p:cNvSpPr txBox="1"/>
          <p:nvPr/>
        </p:nvSpPr>
        <p:spPr>
          <a:xfrm>
            <a:off x="685800" y="2057400"/>
            <a:ext cx="4846320" cy="2926080"/>
          </a:xfrm>
          <a:prstGeom prst="rect">
            <a:avLst/>
          </a:prstGeom>
          <a:noFill/>
        </p:spPr>
        <p:txBody>
          <a:bodyPr wrap="square" lIns="0" rIns="0" tIns="0" bIns="0" anchor="t">
            <a:noAutofit/>
          </a:bodyPr>
          <a:lstStyle/>
          <a:p>
            <a:pPr algn="l">
              <a:lnSpc>
                <a:spcPct val="112000"/>
              </a:lnSpc>
              <a:spcAft>
                <a:spcPts val="1000"/>
              </a:spcAft>
            </a:pPr>
            <a:r>
              <a:rPr sz="1800">
                <a:solidFill>
                  <a:srgbClr val="2A070D"/>
                </a:solidFill>
                <a:latin typeface="Montserrat Medium"/>
              </a:rPr>
              <a:t>Prêtes à l'emploi, en pot.</a:t>
            </a:r>
          </a:p>
          <a:p>
            <a:pPr algn="l">
              <a:lnSpc>
                <a:spcPct val="112000"/>
              </a:lnSpc>
              <a:spcAft>
                <a:spcPts val="1000"/>
              </a:spcAft>
            </a:pPr>
            <a:r>
              <a:rPr sz="1800">
                <a:solidFill>
                  <a:srgbClr val="7B1421"/>
                </a:solidFill>
                <a:latin typeface="Montserrat SemiBold"/>
              </a:rPr>
              <a:t>Poulet</a:t>
            </a:r>
            <a:r>
              <a:rPr sz="1800">
                <a:solidFill>
                  <a:srgbClr val="2A070D"/>
                </a:solidFill>
                <a:latin typeface="Montserrat Medium"/>
              </a:rPr>
              <a:t> : braisé, rôti ou grillé</a:t>
            </a:r>
          </a:p>
          <a:p>
            <a:pPr algn="l">
              <a:lnSpc>
                <a:spcPct val="112000"/>
              </a:lnSpc>
              <a:spcAft>
                <a:spcPts val="1000"/>
              </a:spcAft>
            </a:pPr>
            <a:r>
              <a:rPr sz="1800">
                <a:solidFill>
                  <a:srgbClr val="7B1421"/>
                </a:solidFill>
                <a:latin typeface="Montserrat SemiBold"/>
              </a:rPr>
              <a:t>Poisson</a:t>
            </a:r>
            <a:r>
              <a:rPr sz="1800">
                <a:solidFill>
                  <a:srgbClr val="2A070D"/>
                </a:solidFill>
                <a:latin typeface="Montserrat Medium"/>
              </a:rPr>
              <a:t> : braisé, frit ou fumé</a:t>
            </a:r>
          </a:p>
          <a:p>
            <a:pPr algn="l">
              <a:lnSpc>
                <a:spcPct val="112000"/>
              </a:lnSpc>
              <a:spcAft>
                <a:spcPts val="1000"/>
              </a:spcAft>
            </a:pPr>
            <a:r>
              <a:rPr sz="1800">
                <a:solidFill>
                  <a:srgbClr val="7B1421"/>
                </a:solidFill>
                <a:latin typeface="Montserrat SemiBold"/>
              </a:rPr>
              <a:t>Mixte</a:t>
            </a:r>
            <a:r>
              <a:rPr sz="1800">
                <a:solidFill>
                  <a:srgbClr val="2A070D"/>
                </a:solidFill>
                <a:latin typeface="Montserrat Medium"/>
              </a:rPr>
              <a:t> : viandes et poissons</a:t>
            </a:r>
          </a:p>
        </p:txBody>
      </p:sp>
      <p:sp>
        <p:nvSpPr>
          <p:cNvPr id="36" name="!!Accent"/>
          <p:cNvSpPr/>
          <p:nvPr/>
        </p:nvSpPr>
        <p:spPr>
          <a:xfrm>
            <a:off x="685800" y="338328"/>
            <a:ext cx="384048" cy="32004"/>
          </a:xfrm>
          <a:prstGeom prst="rect">
            <a:avLst/>
          </a:prstGeom>
          <a:solidFill>
            <a:srgbClr val="F9A825"/>
          </a:solidFill>
          <a:ln>
            <a:noFill/>
          </a:ln>
        </p:spPr>
        <p:txBody>
          <a:bodyPr rtlCol="0" anchor="ctr"/>
          <a:lstStyle/>
          <a:p/>
        </p:txBody>
      </p:sp>
      <p:sp>
        <p:nvSpPr>
          <p:cNvPr id="37" name="Kicker15"/>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02 · Marinades · 3 produits</a:t>
            </a:r>
          </a:p>
        </p:txBody>
      </p:sp>
      <p:sp>
        <p:nvSpPr>
          <p:cNvPr id="38" name="Num15"/>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14</a:t>
            </a:r>
          </a:p>
        </p:txBody>
      </p:sp>
      <p:sp>
        <p:nvSpPr>
          <p:cNvPr id="39"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40"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41"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42" name="!!Logo" descr="Logo Marin'Or Ivoire"/>
          <p:cNvPicPr>
            <a:picLocks noChangeAspect="1"/>
          </p:cNvPicPr>
          <p:nvPr/>
        </p:nvPicPr>
        <p:blipFill>
          <a:blip r:embed="rId32"/>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decel="100000"/>
                                        <p:tgtEl>
                                          <p:spTgt spid="34"/>
                                        </p:tgtEl>
                                      </p:cBhvr>
                                    </p:animEffect>
                                    <p:anim calcmode="lin" valueType="num">
                                      <p:cBhvr>
                                        <p:cTn id="8" dur="500" decel="100000" fill="hold"/>
                                        <p:tgtEl>
                                          <p:spTgt spid="34"/>
                                        </p:tgtEl>
                                        <p:attrNameLst>
                                          <p:attrName>ppt_x</p:attrName>
                                        </p:attrNameLst>
                                      </p:cBhvr>
                                      <p:tavLst>
                                        <p:tav tm="0">
                                          <p:val>
                                            <p:strVal val="#ppt_x"/>
                                          </p:val>
                                        </p:tav>
                                        <p:tav tm="100000">
                                          <p:val>
                                            <p:strVal val="#ppt_x"/>
                                          </p:val>
                                        </p:tav>
                                      </p:tavLst>
                                    </p:anim>
                                    <p:anim calcmode="lin" valueType="num">
                                      <p:cBhvr>
                                        <p:cTn id="9" dur="500" decel="100000" fill="hold"/>
                                        <p:tgtEl>
                                          <p:spTgt spid="34"/>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500" decel="100000"/>
                                        <p:tgtEl>
                                          <p:spTgt spid="37"/>
                                        </p:tgtEl>
                                      </p:cBhvr>
                                    </p:animEffect>
                                    <p:anim calcmode="lin" valueType="num">
                                      <p:cBhvr>
                                        <p:cTn id="13" dur="500" decel="100000" fill="hold"/>
                                        <p:tgtEl>
                                          <p:spTgt spid="37"/>
                                        </p:tgtEl>
                                        <p:attrNameLst>
                                          <p:attrName>ppt_x</p:attrName>
                                        </p:attrNameLst>
                                      </p:cBhvr>
                                      <p:tavLst>
                                        <p:tav tm="0">
                                          <p:val>
                                            <p:strVal val="#ppt_x"/>
                                          </p:val>
                                        </p:tav>
                                        <p:tav tm="100000">
                                          <p:val>
                                            <p:strVal val="#ppt_x"/>
                                          </p:val>
                                        </p:tav>
                                      </p:tavLst>
                                    </p:anim>
                                    <p:anim calcmode="lin" valueType="num">
                                      <p:cBhvr>
                                        <p:cTn id="14" dur="500" decel="100000" fill="hold"/>
                                        <p:tgtEl>
                                          <p:spTgt spid="37"/>
                                        </p:tgtEl>
                                        <p:attrNameLst>
                                          <p:attrName>ppt_y</p:attrName>
                                        </p:attrNameLst>
                                      </p:cBhvr>
                                      <p:tavLst>
                                        <p:tav tm="0">
                                          <p:val>
                                            <p:strVal val="#ppt_y+0.0278"/>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500" decel="100000"/>
                                        <p:tgtEl>
                                          <p:spTgt spid="38"/>
                                        </p:tgtEl>
                                      </p:cBhvr>
                                    </p:animEffect>
                                    <p:anim calcmode="lin" valueType="num">
                                      <p:cBhvr>
                                        <p:cTn id="18" dur="500" decel="100000" fill="hold"/>
                                        <p:tgtEl>
                                          <p:spTgt spid="38"/>
                                        </p:tgtEl>
                                        <p:attrNameLst>
                                          <p:attrName>ppt_x</p:attrName>
                                        </p:attrNameLst>
                                      </p:cBhvr>
                                      <p:tavLst>
                                        <p:tav tm="0">
                                          <p:val>
                                            <p:strVal val="#ppt_x"/>
                                          </p:val>
                                        </p:tav>
                                        <p:tav tm="100000">
                                          <p:val>
                                            <p:strVal val="#ppt_x"/>
                                          </p:val>
                                        </p:tav>
                                      </p:tavLst>
                                    </p:anim>
                                    <p:anim calcmode="lin" valueType="num">
                                      <p:cBhvr>
                                        <p:cTn id="19" dur="500" decel="100000" fill="hold"/>
                                        <p:tgtEl>
                                          <p:spTgt spid="38"/>
                                        </p:tgtEl>
                                        <p:attrNameLst>
                                          <p:attrName>ppt_y</p:attrName>
                                        </p:attrNameLst>
                                      </p:cBhvr>
                                      <p:tavLst>
                                        <p:tav tm="0">
                                          <p:val>
                                            <p:strVal val="#ppt_y+0.0278"/>
                                          </p:val>
                                        </p:tav>
                                        <p:tav tm="100000">
                                          <p:val>
                                            <p:strVal val="#ppt_y"/>
                                          </p:val>
                                        </p:tav>
                                      </p:tavLst>
                                    </p:anim>
                                  </p:childTnLst>
                                </p:cTn>
                              </p:par>
                              <p:par>
                                <p:cTn id="20"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1" dur="2600" fill="hold"/>
                                        <p:tgtEl>
                                          <p:spTgt spid="39"/>
                                        </p:tgtEl>
                                        <p:attrNameLst>
                                          <p:attrName>ppt_x</p:attrName>
                                          <p:attrName>ppt_y</p:attrName>
                                        </p:attrNameLst>
                                      </p:cBhvr>
                                      <p:rCtr x="0" y="0"/>
                                    </p:animMotion>
                                  </p:childTnLst>
                                </p:cTn>
                              </p:par>
                              <p:par>
                                <p:cTn id="22"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3" dur="3150" fill="hold"/>
                                        <p:tgtEl>
                                          <p:spTgt spid="40"/>
                                        </p:tgtEl>
                                        <p:attrNameLst>
                                          <p:attrName>ppt_x</p:attrName>
                                          <p:attrName>ppt_y</p:attrName>
                                        </p:attrNameLst>
                                      </p:cBhvr>
                                      <p:rCtr x="0" y="0"/>
                                    </p:animMotion>
                                  </p:childTnLst>
                                </p:cTn>
                              </p:par>
                              <p:par>
                                <p:cTn id="24"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5" dur="3700" fill="hold"/>
                                        <p:tgtEl>
                                          <p:spTgt spid="41"/>
                                        </p:tgtEl>
                                        <p:attrNameLst>
                                          <p:attrName>ppt_x</p:attrName>
                                          <p:attrName>ppt_y</p:attrName>
                                        </p:attrNameLst>
                                      </p:cBhvr>
                                      <p:rCtr x="0" y="0"/>
                                    </p:animMotion>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wipe(left)">
                                      <p:cBhvr>
                                        <p:cTn id="29" dur="400" decel="100000"/>
                                        <p:tgtEl>
                                          <p:spTgt spid="36"/>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500" decel="100000"/>
                                        <p:tgtEl>
                                          <p:spTgt spid="35"/>
                                        </p:tgtEl>
                                      </p:cBhvr>
                                    </p:animEffect>
                                    <p:anim calcmode="lin" valueType="num">
                                      <p:cBhvr>
                                        <p:cTn id="36" dur="500" decel="100000" fill="hold"/>
                                        <p:tgtEl>
                                          <p:spTgt spid="35"/>
                                        </p:tgtEl>
                                        <p:attrNameLst>
                                          <p:attrName>ppt_x</p:attrName>
                                        </p:attrNameLst>
                                      </p:cBhvr>
                                      <p:tavLst>
                                        <p:tav tm="0">
                                          <p:val>
                                            <p:strVal val="#ppt_x"/>
                                          </p:val>
                                        </p:tav>
                                        <p:tav tm="100000">
                                          <p:val>
                                            <p:strVal val="#ppt_x"/>
                                          </p:val>
                                        </p:tav>
                                      </p:tavLst>
                                    </p:anim>
                                    <p:anim calcmode="lin" valueType="num">
                                      <p:cBhvr>
                                        <p:cTn id="37" dur="500" decel="100000" fill="hold"/>
                                        <p:tgtEl>
                                          <p:spTgt spid="35"/>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animBg="1"/>
      <p:bldP spid="37" grpId="0"/>
      <p:bldP spid="38" grpId="0"/>
      <p:bldP spid="39" grpId="0" animBg="1"/>
      <p:bldP spid="40" grpId="0" animBg="1"/>
      <p:bldP spid="41"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sp>
        <p:nvSpPr>
          <p:cNvPr id="3" name="!!S_epice_poulet"/>
          <p:cNvSpPr/>
          <p:nvPr/>
        </p:nvSpPr>
        <p:spPr>
          <a:xfrm>
            <a:off x="4763062" y="3046873"/>
            <a:ext cx="1573875" cy="31477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4" name="!!P_epice_poulet" descr="Modèle 3D : Épice spéciale poulet"/>
              <p:cNvGraphicFramePr>
                <a:graphicFrameLocks noChangeAspect="1"/>
              </p:cNvGraphicFramePr>
              <p:nvPr/>
            </p:nvGraphicFramePr>
            <p:xfrm>
              <a:off x="4886047" y="1304591"/>
              <a:ext cx="1327904" cy="2022690"/>
            </p:xfrm>
            <a:graphic>
              <a:graphicData uri="http://schemas.microsoft.com/office/drawing/2017/model3d">
                <am3d:model3d r:embed="rId2">
                  <am3d:spPr>
                    <a:xfrm>
                      <a:off x="0" y="0"/>
                      <a:ext cx="1327904" cy="2022690"/>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21000000" az="0"/>
                    <am3d:postTrans dx="0" dy="0" dz="0"/>
                  </am3d:trans>
                  <am3d:raster rName="Office3DRenderer" rVer="16.0.8326">
                    <am3d:blip r:embed="rId3"/>
                  </am3d:raster>
                  <am3d:objViewport viewportSz="287781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 name="!!P_epice_poulet" descr="Modèle 3D : Épice spéciale poulet"/>
              <p:cNvPicPr>
                <a:picLocks noGrp="1" noRot="1" noChangeAspect="1" noMove="1" noResize="1" noEditPoints="1" noAdjustHandles="1" noChangeArrowheads="1" noChangeShapeType="1" noCrop="1"/>
              </p:cNvPicPr>
              <p:nvPr/>
            </p:nvPicPr>
            <p:blipFill>
              <a:blip r:embed="rId3"/>
              <a:stretch>
                <a:fillRect/>
              </a:stretch>
            </p:blipFill>
            <p:spPr>
              <a:xfrm>
                <a:off x="4886047" y="1304591"/>
                <a:ext cx="1327904" cy="2022690"/>
              </a:xfrm>
              <a:prstGeom prst="rect">
                <a:avLst/>
              </a:prstGeom>
            </p:spPr>
          </p:pic>
        </mc:Fallback>
      </mc:AlternateContent>
      <p:sp>
        <p:nvSpPr>
          <p:cNvPr id="5" name="!!S_epice_poisson"/>
          <p:cNvSpPr/>
          <p:nvPr/>
        </p:nvSpPr>
        <p:spPr>
          <a:xfrm>
            <a:off x="6183062" y="3046873"/>
            <a:ext cx="1573875" cy="31477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6" name="!!P_epice_poisson" descr="Modèle 3D : Épice spéciale poisson"/>
              <p:cNvGraphicFramePr>
                <a:graphicFrameLocks noChangeAspect="1"/>
              </p:cNvGraphicFramePr>
              <p:nvPr/>
            </p:nvGraphicFramePr>
            <p:xfrm>
              <a:off x="6310158" y="1304591"/>
              <a:ext cx="1319682" cy="2022690"/>
            </p:xfrm>
            <a:graphic>
              <a:graphicData uri="http://schemas.microsoft.com/office/drawing/2017/model3d">
                <am3d:model3d r:embed="rId4">
                  <am3d:spPr>
                    <a:xfrm>
                      <a:off x="0" y="0"/>
                      <a:ext cx="1319682" cy="2022690"/>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21300000" az="0"/>
                    <am3d:postTrans dx="0" dy="0" dz="0"/>
                  </am3d:trans>
                  <am3d:raster rName="Office3DRenderer" rVer="16.0.8326">
                    <am3d:blip r:embed="rId5"/>
                  </am3d:raster>
                  <am3d:objViewport viewportSz="287781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 name="!!P_epice_poisson" descr="Modèle 3D : Épice spéciale poisson"/>
              <p:cNvPicPr>
                <a:picLocks noGrp="1" noRot="1" noChangeAspect="1" noMove="1" noResize="1" noEditPoints="1" noAdjustHandles="1" noChangeArrowheads="1" noChangeShapeType="1" noCrop="1"/>
              </p:cNvPicPr>
              <p:nvPr/>
            </p:nvPicPr>
            <p:blipFill>
              <a:blip r:embed="rId5"/>
              <a:stretch>
                <a:fillRect/>
              </a:stretch>
            </p:blipFill>
            <p:spPr>
              <a:xfrm>
                <a:off x="6310158" y="1304591"/>
                <a:ext cx="1319682" cy="2022690"/>
              </a:xfrm>
              <a:prstGeom prst="rect">
                <a:avLst/>
              </a:prstGeom>
            </p:spPr>
          </p:pic>
        </mc:Fallback>
      </mc:AlternateContent>
      <p:sp>
        <p:nvSpPr>
          <p:cNvPr id="7" name="!!S_paprika"/>
          <p:cNvSpPr/>
          <p:nvPr/>
        </p:nvSpPr>
        <p:spPr>
          <a:xfrm>
            <a:off x="7603062" y="3046873"/>
            <a:ext cx="1573875" cy="31477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8" name="!!P_paprika" descr="Modèle 3D : Paprika"/>
              <p:cNvGraphicFramePr>
                <a:graphicFrameLocks noChangeAspect="1"/>
              </p:cNvGraphicFramePr>
              <p:nvPr/>
            </p:nvGraphicFramePr>
            <p:xfrm>
              <a:off x="7736325" y="1306646"/>
              <a:ext cx="1307348" cy="2018579"/>
            </p:xfrm>
            <a:graphic>
              <a:graphicData uri="http://schemas.microsoft.com/office/drawing/2017/model3d">
                <am3d:model3d r:embed="rId6">
                  <am3d:spPr>
                    <a:xfrm>
                      <a:off x="0" y="0"/>
                      <a:ext cx="1307348" cy="2018579"/>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0" az="0"/>
                    <am3d:postTrans dx="0" dy="0" dz="0"/>
                  </am3d:trans>
                  <am3d:raster rName="Office3DRenderer" rVer="16.0.8326">
                    <am3d:blip r:embed="rId7"/>
                  </am3d:raster>
                  <am3d:objViewport viewportSz="287781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 name="!!P_paprika" descr="Modèle 3D : Paprika"/>
              <p:cNvPicPr>
                <a:picLocks noGrp="1" noRot="1" noChangeAspect="1" noMove="1" noResize="1" noEditPoints="1" noAdjustHandles="1" noChangeArrowheads="1" noChangeShapeType="1" noCrop="1"/>
              </p:cNvPicPr>
              <p:nvPr/>
            </p:nvPicPr>
            <p:blipFill>
              <a:blip r:embed="rId7"/>
              <a:stretch>
                <a:fillRect/>
              </a:stretch>
            </p:blipFill>
            <p:spPr>
              <a:xfrm>
                <a:off x="7736325" y="1306646"/>
                <a:ext cx="1307348" cy="2018579"/>
              </a:xfrm>
              <a:prstGeom prst="rect">
                <a:avLst/>
              </a:prstGeom>
            </p:spPr>
          </p:pic>
        </mc:Fallback>
      </mc:AlternateContent>
      <p:sp>
        <p:nvSpPr>
          <p:cNvPr id="9" name="!!S_piment"/>
          <p:cNvSpPr/>
          <p:nvPr/>
        </p:nvSpPr>
        <p:spPr>
          <a:xfrm>
            <a:off x="9023062" y="3046873"/>
            <a:ext cx="1573875" cy="31477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10" name="!!P_piment" descr="Modèle 3D : Piment en poudre"/>
              <p:cNvGraphicFramePr>
                <a:graphicFrameLocks noChangeAspect="1"/>
              </p:cNvGraphicFramePr>
              <p:nvPr/>
            </p:nvGraphicFramePr>
            <p:xfrm>
              <a:off x="9148103" y="1304591"/>
              <a:ext cx="1323793" cy="2022690"/>
            </p:xfrm>
            <a:graphic>
              <a:graphicData uri="http://schemas.microsoft.com/office/drawing/2017/model3d">
                <am3d:model3d r:embed="rId8">
                  <am3d:spPr>
                    <a:xfrm>
                      <a:off x="0" y="0"/>
                      <a:ext cx="1323793" cy="2022690"/>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300000" az="0"/>
                    <am3d:postTrans dx="0" dy="0" dz="0"/>
                  </am3d:trans>
                  <am3d:raster rName="Office3DRenderer" rVer="16.0.8326">
                    <am3d:blip r:embed="rId9"/>
                  </am3d:raster>
                  <am3d:objViewport viewportSz="287781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0" name="!!P_piment" descr="Modèle 3D : Piment en poudre"/>
              <p:cNvPicPr>
                <a:picLocks noGrp="1" noRot="1" noChangeAspect="1" noMove="1" noResize="1" noEditPoints="1" noAdjustHandles="1" noChangeArrowheads="1" noChangeShapeType="1" noCrop="1"/>
              </p:cNvPicPr>
              <p:nvPr/>
            </p:nvPicPr>
            <p:blipFill>
              <a:blip r:embed="rId9"/>
              <a:stretch>
                <a:fillRect/>
              </a:stretch>
            </p:blipFill>
            <p:spPr>
              <a:xfrm>
                <a:off x="9148103" y="1304591"/>
                <a:ext cx="1323793" cy="2022690"/>
              </a:xfrm>
              <a:prstGeom prst="rect">
                <a:avLst/>
              </a:prstGeom>
            </p:spPr>
          </p:pic>
        </mc:Fallback>
      </mc:AlternateContent>
      <p:sp>
        <p:nvSpPr>
          <p:cNvPr id="11" name="!!S_akpi"/>
          <p:cNvSpPr/>
          <p:nvPr/>
        </p:nvSpPr>
        <p:spPr>
          <a:xfrm>
            <a:off x="10443062" y="3046873"/>
            <a:ext cx="1573875" cy="31477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12" name="!!P_akpi" descr="Modèle 3D : Graines d'akpi"/>
              <p:cNvGraphicFramePr>
                <a:graphicFrameLocks noChangeAspect="1"/>
              </p:cNvGraphicFramePr>
              <p:nvPr/>
            </p:nvGraphicFramePr>
            <p:xfrm>
              <a:off x="10563992" y="1304591"/>
              <a:ext cx="1332015" cy="2022690"/>
            </p:xfrm>
            <a:graphic>
              <a:graphicData uri="http://schemas.microsoft.com/office/drawing/2017/model3d">
                <am3d:model3d r:embed="rId10">
                  <am3d:spPr>
                    <a:xfrm>
                      <a:off x="0" y="0"/>
                      <a:ext cx="1332015" cy="2022690"/>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600000" az="0"/>
                    <am3d:postTrans dx="0" dy="0" dz="0"/>
                  </am3d:trans>
                  <am3d:raster rName="Office3DRenderer" rVer="16.0.8326">
                    <am3d:blip r:embed="rId11"/>
                  </am3d:raster>
                  <am3d:objViewport viewportSz="287781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2" name="!!P_akpi" descr="Modèle 3D : Graines d'akpi"/>
              <p:cNvPicPr>
                <a:picLocks noGrp="1" noRot="1" noChangeAspect="1" noMove="1" noResize="1" noEditPoints="1" noAdjustHandles="1" noChangeArrowheads="1" noChangeShapeType="1" noCrop="1"/>
              </p:cNvPicPr>
              <p:nvPr/>
            </p:nvPicPr>
            <p:blipFill>
              <a:blip r:embed="rId11"/>
              <a:stretch>
                <a:fillRect/>
              </a:stretch>
            </p:blipFill>
            <p:spPr>
              <a:xfrm>
                <a:off x="10563992" y="1304591"/>
                <a:ext cx="1332015" cy="2022690"/>
              </a:xfrm>
              <a:prstGeom prst="rect">
                <a:avLst/>
              </a:prstGeom>
            </p:spPr>
          </p:pic>
        </mc:Fallback>
      </mc:AlternateContent>
      <p:sp>
        <p:nvSpPr>
          <p:cNvPr id="13" name="!!S_djoumble"/>
          <p:cNvSpPr/>
          <p:nvPr/>
        </p:nvSpPr>
        <p:spPr>
          <a:xfrm>
            <a:off x="4763062" y="5806873"/>
            <a:ext cx="1573875" cy="31477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14" name="!!P_djoumble" descr="Modèle 3D : Poudre de djoumblé"/>
              <p:cNvGraphicFramePr>
                <a:graphicFrameLocks noChangeAspect="1"/>
              </p:cNvGraphicFramePr>
              <p:nvPr/>
            </p:nvGraphicFramePr>
            <p:xfrm>
              <a:off x="4886047" y="4064591"/>
              <a:ext cx="1327904" cy="2022690"/>
            </p:xfrm>
            <a:graphic>
              <a:graphicData uri="http://schemas.microsoft.com/office/drawing/2017/model3d">
                <am3d:model3d r:embed="rId12">
                  <am3d:spPr>
                    <a:xfrm>
                      <a:off x="0" y="0"/>
                      <a:ext cx="1327904" cy="2022690"/>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21000000" az="0"/>
                    <am3d:postTrans dx="0" dy="0" dz="0"/>
                  </am3d:trans>
                  <am3d:raster rName="Office3DRenderer" rVer="16.0.8326">
                    <am3d:blip r:embed="rId13"/>
                  </am3d:raster>
                  <am3d:objViewport viewportSz="287781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4" name="!!P_djoumble" descr="Modèle 3D : Poudre de djoumblé"/>
              <p:cNvPicPr>
                <a:picLocks noGrp="1" noRot="1" noChangeAspect="1" noMove="1" noResize="1" noEditPoints="1" noAdjustHandles="1" noChangeArrowheads="1" noChangeShapeType="1" noCrop="1"/>
              </p:cNvPicPr>
              <p:nvPr/>
            </p:nvPicPr>
            <p:blipFill>
              <a:blip r:embed="rId13"/>
              <a:stretch>
                <a:fillRect/>
              </a:stretch>
            </p:blipFill>
            <p:spPr>
              <a:xfrm>
                <a:off x="4886047" y="4064591"/>
                <a:ext cx="1327904" cy="2022690"/>
              </a:xfrm>
              <a:prstGeom prst="rect">
                <a:avLst/>
              </a:prstGeom>
            </p:spPr>
          </p:pic>
        </mc:Fallback>
      </mc:AlternateContent>
      <p:sp>
        <p:nvSpPr>
          <p:cNvPr id="15" name="!!S_crevette"/>
          <p:cNvSpPr/>
          <p:nvPr/>
        </p:nvSpPr>
        <p:spPr>
          <a:xfrm>
            <a:off x="6183062" y="5806873"/>
            <a:ext cx="1573875" cy="31477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16" name="!!P_crevette" descr="Modèle 3D : Poudre de crevettes séchées"/>
              <p:cNvGraphicFramePr>
                <a:graphicFrameLocks noChangeAspect="1"/>
              </p:cNvGraphicFramePr>
              <p:nvPr/>
            </p:nvGraphicFramePr>
            <p:xfrm>
              <a:off x="6310158" y="4064591"/>
              <a:ext cx="1319682" cy="2022690"/>
            </p:xfrm>
            <a:graphic>
              <a:graphicData uri="http://schemas.microsoft.com/office/drawing/2017/model3d">
                <am3d:model3d r:embed="rId14">
                  <am3d:spPr>
                    <a:xfrm>
                      <a:off x="0" y="0"/>
                      <a:ext cx="1319682" cy="2022690"/>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21300000" az="0"/>
                    <am3d:postTrans dx="0" dy="0" dz="0"/>
                  </am3d:trans>
                  <am3d:raster rName="Office3DRenderer" rVer="16.0.8326">
                    <am3d:blip r:embed="rId15"/>
                  </am3d:raster>
                  <am3d:objViewport viewportSz="287781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6" name="!!P_crevette" descr="Modèle 3D : Poudre de crevettes séchées"/>
              <p:cNvPicPr>
                <a:picLocks noGrp="1" noRot="1" noChangeAspect="1" noMove="1" noResize="1" noEditPoints="1" noAdjustHandles="1" noChangeArrowheads="1" noChangeShapeType="1" noCrop="1"/>
              </p:cNvPicPr>
              <p:nvPr/>
            </p:nvPicPr>
            <p:blipFill>
              <a:blip r:embed="rId15"/>
              <a:stretch>
                <a:fillRect/>
              </a:stretch>
            </p:blipFill>
            <p:spPr>
              <a:xfrm>
                <a:off x="6310158" y="4064591"/>
                <a:ext cx="1319682" cy="2022690"/>
              </a:xfrm>
              <a:prstGeom prst="rect">
                <a:avLst/>
              </a:prstGeom>
            </p:spPr>
          </p:pic>
        </mc:Fallback>
      </mc:AlternateContent>
      <p:sp>
        <p:nvSpPr>
          <p:cNvPr id="17" name="!!S_poudre_poisson"/>
          <p:cNvSpPr/>
          <p:nvPr/>
        </p:nvSpPr>
        <p:spPr>
          <a:xfrm>
            <a:off x="7603062" y="5806873"/>
            <a:ext cx="1573875" cy="31477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18" name="!!P_poudre_poisson" descr="Modèle 3D : Poudre de poisson sec"/>
              <p:cNvGraphicFramePr>
                <a:graphicFrameLocks noChangeAspect="1"/>
              </p:cNvGraphicFramePr>
              <p:nvPr/>
            </p:nvGraphicFramePr>
            <p:xfrm>
              <a:off x="7736325" y="4066646"/>
              <a:ext cx="1307348" cy="2018579"/>
            </p:xfrm>
            <a:graphic>
              <a:graphicData uri="http://schemas.microsoft.com/office/drawing/2017/model3d">
                <am3d:model3d r:embed="rId16">
                  <am3d:spPr>
                    <a:xfrm>
                      <a:off x="0" y="0"/>
                      <a:ext cx="1307348" cy="2018579"/>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0" az="0"/>
                    <am3d:postTrans dx="0" dy="0" dz="0"/>
                  </am3d:trans>
                  <am3d:raster rName="Office3DRenderer" rVer="16.0.8326">
                    <am3d:blip r:embed="rId17"/>
                  </am3d:raster>
                  <am3d:objViewport viewportSz="287781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8" name="!!P_poudre_poisson" descr="Modèle 3D : Poudre de poisson sec"/>
              <p:cNvPicPr>
                <a:picLocks noGrp="1" noRot="1" noChangeAspect="1" noMove="1" noResize="1" noEditPoints="1" noAdjustHandles="1" noChangeArrowheads="1" noChangeShapeType="1" noCrop="1"/>
              </p:cNvPicPr>
              <p:nvPr/>
            </p:nvPicPr>
            <p:blipFill>
              <a:blip r:embed="rId17"/>
              <a:stretch>
                <a:fillRect/>
              </a:stretch>
            </p:blipFill>
            <p:spPr>
              <a:xfrm>
                <a:off x="7736325" y="4066646"/>
                <a:ext cx="1307348" cy="2018579"/>
              </a:xfrm>
              <a:prstGeom prst="rect">
                <a:avLst/>
              </a:prstGeom>
            </p:spPr>
          </p:pic>
        </mc:Fallback>
      </mc:AlternateContent>
      <p:sp>
        <p:nvSpPr>
          <p:cNvPr id="19" name="!!S_ail"/>
          <p:cNvSpPr/>
          <p:nvPr/>
        </p:nvSpPr>
        <p:spPr>
          <a:xfrm>
            <a:off x="9023062" y="5806873"/>
            <a:ext cx="1573875" cy="31477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20" name="!!P_ail" descr="Modèle 3D : Purée d'ail"/>
              <p:cNvGraphicFramePr>
                <a:graphicFrameLocks noChangeAspect="1"/>
              </p:cNvGraphicFramePr>
              <p:nvPr/>
            </p:nvGraphicFramePr>
            <p:xfrm>
              <a:off x="9148103" y="4064591"/>
              <a:ext cx="1323793" cy="2022690"/>
            </p:xfrm>
            <a:graphic>
              <a:graphicData uri="http://schemas.microsoft.com/office/drawing/2017/model3d">
                <am3d:model3d r:embed="rId18">
                  <am3d:spPr>
                    <a:xfrm>
                      <a:off x="0" y="0"/>
                      <a:ext cx="1323793" cy="2022690"/>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300000" az="0"/>
                    <am3d:postTrans dx="0" dy="0" dz="0"/>
                  </am3d:trans>
                  <am3d:raster rName="Office3DRenderer" rVer="16.0.8326">
                    <am3d:blip r:embed="rId19"/>
                  </am3d:raster>
                  <am3d:objViewport viewportSz="287781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0" name="!!P_ail" descr="Modèle 3D : Purée d'ail"/>
              <p:cNvPicPr>
                <a:picLocks noGrp="1" noRot="1" noChangeAspect="1" noMove="1" noResize="1" noEditPoints="1" noAdjustHandles="1" noChangeArrowheads="1" noChangeShapeType="1" noCrop="1"/>
              </p:cNvPicPr>
              <p:nvPr/>
            </p:nvPicPr>
            <p:blipFill>
              <a:blip r:embed="rId19"/>
              <a:stretch>
                <a:fillRect/>
              </a:stretch>
            </p:blipFill>
            <p:spPr>
              <a:xfrm>
                <a:off x="9148103" y="4064591"/>
                <a:ext cx="1323793" cy="2022690"/>
              </a:xfrm>
              <a:prstGeom prst="rect">
                <a:avLst/>
              </a:prstGeom>
            </p:spPr>
          </p:pic>
        </mc:Fallback>
      </mc:AlternateContent>
      <p:sp>
        <p:nvSpPr>
          <p:cNvPr id="21" name="!!S_bouillon"/>
          <p:cNvSpPr/>
          <p:nvPr/>
        </p:nvSpPr>
        <p:spPr>
          <a:xfrm>
            <a:off x="10443062" y="5806873"/>
            <a:ext cx="1573875" cy="31477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22" name="!!P_bouillon" descr="Modèle 3D : Bouillon bio de poulet"/>
              <p:cNvGraphicFramePr>
                <a:graphicFrameLocks noChangeAspect="1"/>
              </p:cNvGraphicFramePr>
              <p:nvPr/>
            </p:nvGraphicFramePr>
            <p:xfrm>
              <a:off x="10563992" y="4064591"/>
              <a:ext cx="1332015" cy="2022690"/>
            </p:xfrm>
            <a:graphic>
              <a:graphicData uri="http://schemas.microsoft.com/office/drawing/2017/model3d">
                <am3d:model3d r:embed="rId20">
                  <am3d:spPr>
                    <a:xfrm>
                      <a:off x="0" y="0"/>
                      <a:ext cx="1332015" cy="2022690"/>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600000" az="0"/>
                    <am3d:postTrans dx="0" dy="0" dz="0"/>
                  </am3d:trans>
                  <am3d:raster rName="Office3DRenderer" rVer="16.0.8326">
                    <am3d:blip r:embed="rId21"/>
                  </am3d:raster>
                  <am3d:objViewport viewportSz="287781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2" name="!!P_bouillon" descr="Modèle 3D : Bouillon bio de poulet"/>
              <p:cNvPicPr>
                <a:picLocks noGrp="1" noRot="1" noChangeAspect="1" noMove="1" noResize="1" noEditPoints="1" noAdjustHandles="1" noChangeArrowheads="1" noChangeShapeType="1" noCrop="1"/>
              </p:cNvPicPr>
              <p:nvPr/>
            </p:nvPicPr>
            <p:blipFill>
              <a:blip r:embed="rId21"/>
              <a:stretch>
                <a:fillRect/>
              </a:stretch>
            </p:blipFill>
            <p:spPr>
              <a:xfrm>
                <a:off x="10563992" y="4064591"/>
                <a:ext cx="1332015" cy="2022690"/>
              </a:xfrm>
              <a:prstGeom prst="rect">
                <a:avLst/>
              </a:prstGeom>
            </p:spPr>
          </p:pic>
        </mc:Fallback>
      </mc:AlternateContent>
      <p:sp>
        <p:nvSpPr>
          <p:cNvPr id="23" name="!!S_huile"/>
          <p:cNvSpPr/>
          <p:nvPr/>
        </p:nvSpPr>
        <p:spPr>
          <a:xfrm>
            <a:off x="12532000" y="5854800"/>
            <a:ext cx="1320000" cy="26400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24" name="!!P_huile" descr="Modèle 3D : Huile rouge"/>
              <p:cNvGraphicFramePr>
                <a:graphicFrameLocks noChangeAspect="1"/>
              </p:cNvGraphicFramePr>
              <p:nvPr/>
            </p:nvGraphicFramePr>
            <p:xfrm>
              <a:off x="12641127" y="2964589"/>
              <a:ext cx="1101745" cy="3220486"/>
            </p:xfrm>
            <a:graphic>
              <a:graphicData uri="http://schemas.microsoft.com/office/drawing/2017/model3d">
                <am3d:model3d r:embed="rId22">
                  <am3d:spPr>
                    <a:xfrm>
                      <a:off x="0" y="0"/>
                      <a:ext cx="1101745" cy="3220486"/>
                    </a:xfrm>
                    <a:prstGeom prst="rect">
                      <a:avLst/>
                    </a:prstGeom>
                  </am3d:spPr>
                  <am3d:camera>
                    <am3d:pos x="0" y="0" z="67740115"/>
                    <am3d:up dx="0" dy="36000000" dz="0"/>
                    <am3d:lookAt x="0" y="0" z="0"/>
                    <am3d:perspective fov="2700000"/>
                  </am3d:camera>
                  <am3d:trans>
                    <am3d:meterPerModelUnit n="54655" d="1000000"/>
                    <am3d:preTrans dx="0" dy="-18000000" dz="1652"/>
                    <am3d:scale>
                      <am3d:sx n="1000000" d="1000000"/>
                      <am3d:sy n="1000000" d="1000000"/>
                      <am3d:sz n="1000000" d="1000000"/>
                    </am3d:scale>
                    <am3d:rot ax="300000" ay="21000000" az="0"/>
                    <am3d:postTrans dx="0" dy="0" dz="0"/>
                  </am3d:trans>
                  <am3d:raster rName="Office3DRenderer" rVer="16.0.8326">
                    <am3d:blip r:embed="rId23"/>
                  </am3d:raster>
                  <am3d:objViewport viewportSz="456344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4" name="!!P_huile" descr="Modèle 3D : Huile rouge"/>
              <p:cNvPicPr>
                <a:picLocks noGrp="1" noRot="1" noChangeAspect="1" noMove="1" noResize="1" noEditPoints="1" noAdjustHandles="1" noChangeArrowheads="1" noChangeShapeType="1" noCrop="1"/>
              </p:cNvPicPr>
              <p:nvPr/>
            </p:nvPicPr>
            <p:blipFill>
              <a:blip r:embed="rId23"/>
              <a:stretch>
                <a:fillRect/>
              </a:stretch>
            </p:blipFill>
            <p:spPr>
              <a:xfrm>
                <a:off x="12641127" y="2964589"/>
                <a:ext cx="1101745" cy="3220486"/>
              </a:xfrm>
              <a:prstGeom prst="rect">
                <a:avLst/>
              </a:prstGeom>
            </p:spPr>
          </p:pic>
        </mc:Fallback>
      </mc:AlternateContent>
      <p:sp>
        <p:nvSpPr>
          <p:cNvPr id="25" name="!!S_arachide"/>
          <p:cNvSpPr/>
          <p:nvPr/>
        </p:nvSpPr>
        <p:spPr>
          <a:xfrm>
            <a:off x="12992000" y="5936000"/>
            <a:ext cx="2400000" cy="48000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26" name="!!P_arachide" descr="Modèle 3D : Pâte d'arachide"/>
              <p:cNvGraphicFramePr>
                <a:graphicFrameLocks noChangeAspect="1"/>
              </p:cNvGraphicFramePr>
              <p:nvPr/>
            </p:nvGraphicFramePr>
            <p:xfrm>
              <a:off x="12776788" y="3800700"/>
              <a:ext cx="2830422" cy="3001962"/>
            </p:xfrm>
            <a:graphic>
              <a:graphicData uri="http://schemas.microsoft.com/office/drawing/2017/model3d">
                <am3d:model3d r:embed="rId24">
                  <am3d:spPr>
                    <a:xfrm>
                      <a:off x="0" y="0"/>
                      <a:ext cx="2830422" cy="3001962"/>
                    </a:xfrm>
                    <a:prstGeom prst="rect">
                      <a:avLst/>
                    </a:prstGeom>
                  </am3d:spPr>
                  <am3d:camera>
                    <am3d:pos x="0" y="0" z="67740115"/>
                    <am3d:up dx="0" dy="36000000" dz="0"/>
                    <am3d:lookAt x="0" y="0" z="0"/>
                    <am3d:perspective fov="2700000"/>
                  </am3d:camera>
                  <am3d:trans>
                    <am3d:meterPerModelUnit n="83084" d="1000000"/>
                    <am3d:preTrans dx="0" dy="-17570055" dz="0"/>
                    <am3d:scale>
                      <am3d:sx n="1000000" d="1000000"/>
                      <am3d:sy n="1000000" d="1000000"/>
                      <am3d:sz n="1000000" d="1000000"/>
                    </am3d:scale>
                    <am3d:rot ax="480000" ay="1200000" az="0"/>
                    <am3d:postTrans dx="0" dy="0" dz="0"/>
                  </am3d:trans>
                  <am3d:raster rName="Office3DRenderer" rVer="16.0.8326">
                    <am3d:blip r:embed="rId25"/>
                  </am3d:raster>
                  <am3d:objViewport viewportSz="30019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6" name="!!P_arachide" descr="Modèle 3D : Pâte d'arachide"/>
              <p:cNvPicPr>
                <a:picLocks noGrp="1" noRot="1" noChangeAspect="1" noMove="1" noResize="1" noEditPoints="1" noAdjustHandles="1" noChangeArrowheads="1" noChangeShapeType="1" noCrop="1"/>
              </p:cNvPicPr>
              <p:nvPr/>
            </p:nvPicPr>
            <p:blipFill>
              <a:blip r:embed="rId25"/>
              <a:stretch>
                <a:fillRect/>
              </a:stretch>
            </p:blipFill>
            <p:spPr>
              <a:xfrm>
                <a:off x="12776788" y="3800700"/>
                <a:ext cx="2830422" cy="3001962"/>
              </a:xfrm>
              <a:prstGeom prst="rect">
                <a:avLst/>
              </a:prstGeom>
            </p:spPr>
          </p:pic>
        </mc:Fallback>
      </mc:AlternateContent>
      <p:sp>
        <p:nvSpPr>
          <p:cNvPr id="27" name="!!S_marinade_poulet"/>
          <p:cNvSpPr/>
          <p:nvPr/>
        </p:nvSpPr>
        <p:spPr>
          <a:xfrm>
            <a:off x="-2228375" y="10331757"/>
            <a:ext cx="2056750" cy="41135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28" name="!!P_marinade_poulet" descr="Modèle 3D : Marinade poulet"/>
              <p:cNvGraphicFramePr>
                <a:graphicFrameLocks noChangeAspect="1"/>
              </p:cNvGraphicFramePr>
              <p:nvPr/>
            </p:nvGraphicFramePr>
            <p:xfrm>
              <a:off x="-2056951" y="7415101"/>
              <a:ext cx="1713902" cy="3347150"/>
            </p:xfrm>
            <a:graphic>
              <a:graphicData uri="http://schemas.microsoft.com/office/drawing/2017/model3d">
                <am3d:model3d r:embed="rId26">
                  <am3d:spPr>
                    <a:xfrm>
                      <a:off x="0" y="0"/>
                      <a:ext cx="1713902" cy="3347150"/>
                    </a:xfrm>
                    <a:prstGeom prst="rect">
                      <a:avLst/>
                    </a:prstGeom>
                  </am3d:spPr>
                  <am3d:camera>
                    <am3d:pos x="0" y="0" z="67740115"/>
                    <am3d:up dx="0" dy="36000000" dz="0"/>
                    <am3d:lookAt x="0" y="0" z="0"/>
                    <am3d:perspective fov="2700000"/>
                  </am3d:camera>
                  <am3d:trans>
                    <am3d:meterPerModelUnit n="62952" d="1000000"/>
                    <am3d:preTrans dx="385" dy="-17999999" dz="-917"/>
                    <am3d:scale>
                      <am3d:sx n="1000000" d="1000000"/>
                      <am3d:sy n="1000000" d="1000000"/>
                      <am3d:sz n="1000000" d="1000000"/>
                    </am3d:scale>
                    <am3d:rot ax="300000" ay="20760000" az="0"/>
                    <am3d:postTrans dx="0" dy="0" dz="0"/>
                  </am3d:trans>
                  <am3d:raster rName="Office3DRenderer" rVer="16.0.8326">
                    <am3d:blip r:embed="rId27"/>
                  </am3d:raster>
                  <am3d:objViewport viewportSz="470483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8" name="!!P_marinade_poulet" descr="Modèle 3D : Marinade poulet"/>
              <p:cNvPicPr>
                <a:picLocks noGrp="1" noRot="1" noChangeAspect="1" noMove="1" noResize="1" noEditPoints="1" noAdjustHandles="1" noChangeArrowheads="1" noChangeShapeType="1" noCrop="1"/>
              </p:cNvPicPr>
              <p:nvPr/>
            </p:nvPicPr>
            <p:blipFill>
              <a:blip r:embed="rId27"/>
              <a:stretch>
                <a:fillRect/>
              </a:stretch>
            </p:blipFill>
            <p:spPr>
              <a:xfrm>
                <a:off x="-2056951" y="7415101"/>
                <a:ext cx="1713902" cy="3347150"/>
              </a:xfrm>
              <a:prstGeom prst="rect">
                <a:avLst/>
              </a:prstGeom>
            </p:spPr>
          </p:pic>
        </mc:Fallback>
      </mc:AlternateContent>
      <p:sp>
        <p:nvSpPr>
          <p:cNvPr id="29" name="!!S_marinade_mixte"/>
          <p:cNvSpPr/>
          <p:nvPr/>
        </p:nvSpPr>
        <p:spPr>
          <a:xfrm>
            <a:off x="1371625" y="10331757"/>
            <a:ext cx="2056750" cy="41135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30" name="!!P_marinade_mixte" descr="Modèle 3D : Marinade mixte"/>
              <p:cNvGraphicFramePr>
                <a:graphicFrameLocks noChangeAspect="1"/>
              </p:cNvGraphicFramePr>
              <p:nvPr/>
            </p:nvGraphicFramePr>
            <p:xfrm>
              <a:off x="1543048" y="7415101"/>
              <a:ext cx="1713902" cy="3347150"/>
            </p:xfrm>
            <a:graphic>
              <a:graphicData uri="http://schemas.microsoft.com/office/drawing/2017/model3d">
                <am3d:model3d r:embed="rId28">
                  <am3d:spPr>
                    <a:xfrm>
                      <a:off x="0" y="0"/>
                      <a:ext cx="1713902" cy="3347150"/>
                    </a:xfrm>
                    <a:prstGeom prst="rect">
                      <a:avLst/>
                    </a:prstGeom>
                  </am3d:spPr>
                  <am3d:camera>
                    <am3d:pos x="0" y="0" z="67740115"/>
                    <am3d:up dx="0" dy="36000000" dz="0"/>
                    <am3d:lookAt x="0" y="0" z="0"/>
                    <am3d:perspective fov="2700000"/>
                  </am3d:camera>
                  <am3d:trans>
                    <am3d:meterPerModelUnit n="62952" d="1000000"/>
                    <am3d:preTrans dx="385" dy="-17999999" dz="-917"/>
                    <am3d:scale>
                      <am3d:sx n="1000000" d="1000000"/>
                      <am3d:sy n="1000000" d="1000000"/>
                      <am3d:sz n="1000000" d="1000000"/>
                    </am3d:scale>
                    <am3d:rot ax="300000" ay="840000" az="0"/>
                    <am3d:postTrans dx="0" dy="0" dz="0"/>
                  </am3d:trans>
                  <am3d:raster rName="Office3DRenderer" rVer="16.0.8326">
                    <am3d:blip r:embed="rId29"/>
                  </am3d:raster>
                  <am3d:objViewport viewportSz="470483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0" name="!!P_marinade_mixte" descr="Modèle 3D : Marinade mixte"/>
              <p:cNvPicPr>
                <a:picLocks noGrp="1" noRot="1" noChangeAspect="1" noMove="1" noResize="1" noEditPoints="1" noAdjustHandles="1" noChangeArrowheads="1" noChangeShapeType="1" noCrop="1"/>
              </p:cNvPicPr>
              <p:nvPr/>
            </p:nvPicPr>
            <p:blipFill>
              <a:blip r:embed="rId29"/>
              <a:stretch>
                <a:fillRect/>
              </a:stretch>
            </p:blipFill>
            <p:spPr>
              <a:xfrm>
                <a:off x="1543048" y="7415101"/>
                <a:ext cx="1713902" cy="3347150"/>
              </a:xfrm>
              <a:prstGeom prst="rect">
                <a:avLst/>
              </a:prstGeom>
            </p:spPr>
          </p:pic>
        </mc:Fallback>
      </mc:AlternateContent>
      <p:sp>
        <p:nvSpPr>
          <p:cNvPr id="31" name="!!S_marinade_poisson"/>
          <p:cNvSpPr/>
          <p:nvPr/>
        </p:nvSpPr>
        <p:spPr>
          <a:xfrm>
            <a:off x="-509562" y="10613896"/>
            <a:ext cx="2219125" cy="44382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32" name="!!P_marinade_poisson" descr="Modèle 3D : Marinade poisson"/>
              <p:cNvGraphicFramePr>
                <a:graphicFrameLocks noChangeAspect="1"/>
              </p:cNvGraphicFramePr>
              <p:nvPr/>
            </p:nvGraphicFramePr>
            <p:xfrm>
              <a:off x="-324605" y="7466978"/>
              <a:ext cx="1849210" cy="3611399"/>
            </p:xfrm>
            <a:graphic>
              <a:graphicData uri="http://schemas.microsoft.com/office/drawing/2017/model3d">
                <am3d:model3d r:embed="rId30">
                  <am3d:spPr>
                    <a:xfrm>
                      <a:off x="0" y="0"/>
                      <a:ext cx="1849210" cy="3611399"/>
                    </a:xfrm>
                    <a:prstGeom prst="rect">
                      <a:avLst/>
                    </a:prstGeom>
                  </am3d:spPr>
                  <am3d:camera>
                    <am3d:pos x="0" y="0" z="67740115"/>
                    <am3d:up dx="0" dy="36000000" dz="0"/>
                    <am3d:lookAt x="0" y="0" z="0"/>
                    <am3d:perspective fov="2700000"/>
                  </am3d:camera>
                  <am3d:trans>
                    <am3d:meterPerModelUnit n="62952" d="1000000"/>
                    <am3d:preTrans dx="385" dy="-17999999" dz="-917"/>
                    <am3d:scale>
                      <am3d:sx n="1000000" d="1000000"/>
                      <am3d:sy n="1000000" d="1000000"/>
                      <am3d:sz n="1000000" d="1000000"/>
                    </am3d:scale>
                    <am3d:rot ax="300000" ay="0" az="0"/>
                    <am3d:postTrans dx="0" dy="0" dz="0"/>
                  </am3d:trans>
                  <am3d:raster rName="Office3DRenderer" rVer="16.0.8326">
                    <am3d:blip r:embed="rId31"/>
                  </am3d:raster>
                  <am3d:objViewport viewportSz="507626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2" name="!!P_marinade_poisson" descr="Modèle 3D : Marinade poisson"/>
              <p:cNvPicPr>
                <a:picLocks noGrp="1" noRot="1" noChangeAspect="1" noMove="1" noResize="1" noEditPoints="1" noAdjustHandles="1" noChangeArrowheads="1" noChangeShapeType="1" noCrop="1"/>
              </p:cNvPicPr>
              <p:nvPr/>
            </p:nvPicPr>
            <p:blipFill>
              <a:blip r:embed="rId31"/>
              <a:stretch>
                <a:fillRect/>
              </a:stretch>
            </p:blipFill>
            <p:spPr>
              <a:xfrm>
                <a:off x="-324605" y="7466978"/>
                <a:ext cx="1849210" cy="3611399"/>
              </a:xfrm>
              <a:prstGeom prst="rect">
                <a:avLst/>
              </a:prstGeom>
            </p:spPr>
          </p:pic>
        </mc:Fallback>
      </mc:AlternateContent>
      <p:sp>
        <p:nvSpPr>
          <p:cNvPr id="33" name="Titre16"/>
          <p:cNvSpPr txBox="1"/>
          <p:nvPr/>
        </p:nvSpPr>
        <p:spPr>
          <a:xfrm>
            <a:off x="685800" y="914400"/>
            <a:ext cx="384048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Les Épices</a:t>
            </a:r>
          </a:p>
        </p:txBody>
      </p:sp>
      <p:sp>
        <p:nvSpPr>
          <p:cNvPr id="34" name="Body16"/>
          <p:cNvSpPr txBox="1"/>
          <p:nvPr/>
        </p:nvSpPr>
        <p:spPr>
          <a:xfrm>
            <a:off x="685800" y="2057400"/>
            <a:ext cx="3657600" cy="1828800"/>
          </a:xfrm>
          <a:prstGeom prst="rect">
            <a:avLst/>
          </a:prstGeom>
          <a:noFill/>
        </p:spPr>
        <p:txBody>
          <a:bodyPr wrap="square" lIns="0" rIns="0" tIns="0" bIns="0" anchor="t">
            <a:noAutofit/>
          </a:bodyPr>
          <a:lstStyle/>
          <a:p>
            <a:pPr algn="l">
              <a:lnSpc>
                <a:spcPct val="112000"/>
              </a:lnSpc>
              <a:spcAft>
                <a:spcPts val="800"/>
              </a:spcAft>
            </a:pPr>
            <a:r>
              <a:rPr sz="1800">
                <a:solidFill>
                  <a:srgbClr val="2A070D"/>
                </a:solidFill>
                <a:latin typeface="Montserrat Medium"/>
              </a:rPr>
              <a:t>Dix produits en sachet, pour relever le goût, colorer, parfumer et lier les sauces.</a:t>
            </a:r>
          </a:p>
        </p:txBody>
      </p:sp>
      <p:sp>
        <p:nvSpPr>
          <p:cNvPr id="35" name="!!Accent"/>
          <p:cNvSpPr/>
          <p:nvPr/>
        </p:nvSpPr>
        <p:spPr>
          <a:xfrm>
            <a:off x="685800" y="338328"/>
            <a:ext cx="384048" cy="32004"/>
          </a:xfrm>
          <a:prstGeom prst="rect">
            <a:avLst/>
          </a:prstGeom>
          <a:solidFill>
            <a:srgbClr val="F9A825"/>
          </a:solidFill>
          <a:ln>
            <a:noFill/>
          </a:ln>
        </p:spPr>
        <p:txBody>
          <a:bodyPr rtlCol="0" anchor="ctr"/>
          <a:lstStyle/>
          <a:p/>
        </p:txBody>
      </p:sp>
      <p:sp>
        <p:nvSpPr>
          <p:cNvPr id="36" name="Kicker16"/>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02 · Épices · 10 produits</a:t>
            </a:r>
          </a:p>
        </p:txBody>
      </p:sp>
      <p:sp>
        <p:nvSpPr>
          <p:cNvPr id="37" name="Num16"/>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15</a:t>
            </a:r>
          </a:p>
        </p:txBody>
      </p:sp>
      <p:sp>
        <p:nvSpPr>
          <p:cNvPr id="38"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39"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40"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41" name="!!Logo" descr="Logo Marin'Or Ivoire"/>
          <p:cNvPicPr>
            <a:picLocks noChangeAspect="1"/>
          </p:cNvPicPr>
          <p:nvPr/>
        </p:nvPicPr>
        <p:blipFill>
          <a:blip r:embed="rId32"/>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decel="100000"/>
                                        <p:tgtEl>
                                          <p:spTgt spid="33"/>
                                        </p:tgtEl>
                                      </p:cBhvr>
                                    </p:animEffect>
                                    <p:anim calcmode="lin" valueType="num">
                                      <p:cBhvr>
                                        <p:cTn id="8" dur="500" decel="100000" fill="hold"/>
                                        <p:tgtEl>
                                          <p:spTgt spid="33"/>
                                        </p:tgtEl>
                                        <p:attrNameLst>
                                          <p:attrName>ppt_x</p:attrName>
                                        </p:attrNameLst>
                                      </p:cBhvr>
                                      <p:tavLst>
                                        <p:tav tm="0">
                                          <p:val>
                                            <p:strVal val="#ppt_x"/>
                                          </p:val>
                                        </p:tav>
                                        <p:tav tm="100000">
                                          <p:val>
                                            <p:strVal val="#ppt_x"/>
                                          </p:val>
                                        </p:tav>
                                      </p:tavLst>
                                    </p:anim>
                                    <p:anim calcmode="lin" valueType="num">
                                      <p:cBhvr>
                                        <p:cTn id="9" dur="500" decel="100000" fill="hold"/>
                                        <p:tgtEl>
                                          <p:spTgt spid="33"/>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500" decel="100000"/>
                                        <p:tgtEl>
                                          <p:spTgt spid="36"/>
                                        </p:tgtEl>
                                      </p:cBhvr>
                                    </p:animEffect>
                                    <p:anim calcmode="lin" valueType="num">
                                      <p:cBhvr>
                                        <p:cTn id="13" dur="500" decel="100000" fill="hold"/>
                                        <p:tgtEl>
                                          <p:spTgt spid="36"/>
                                        </p:tgtEl>
                                        <p:attrNameLst>
                                          <p:attrName>ppt_x</p:attrName>
                                        </p:attrNameLst>
                                      </p:cBhvr>
                                      <p:tavLst>
                                        <p:tav tm="0">
                                          <p:val>
                                            <p:strVal val="#ppt_x"/>
                                          </p:val>
                                        </p:tav>
                                        <p:tav tm="100000">
                                          <p:val>
                                            <p:strVal val="#ppt_x"/>
                                          </p:val>
                                        </p:tav>
                                      </p:tavLst>
                                    </p:anim>
                                    <p:anim calcmode="lin" valueType="num">
                                      <p:cBhvr>
                                        <p:cTn id="14" dur="500" decel="100000" fill="hold"/>
                                        <p:tgtEl>
                                          <p:spTgt spid="36"/>
                                        </p:tgtEl>
                                        <p:attrNameLst>
                                          <p:attrName>ppt_y</p:attrName>
                                        </p:attrNameLst>
                                      </p:cBhvr>
                                      <p:tavLst>
                                        <p:tav tm="0">
                                          <p:val>
                                            <p:strVal val="#ppt_y+0.0278"/>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500" decel="100000"/>
                                        <p:tgtEl>
                                          <p:spTgt spid="37"/>
                                        </p:tgtEl>
                                      </p:cBhvr>
                                    </p:animEffect>
                                    <p:anim calcmode="lin" valueType="num">
                                      <p:cBhvr>
                                        <p:cTn id="18" dur="500" decel="100000" fill="hold"/>
                                        <p:tgtEl>
                                          <p:spTgt spid="37"/>
                                        </p:tgtEl>
                                        <p:attrNameLst>
                                          <p:attrName>ppt_x</p:attrName>
                                        </p:attrNameLst>
                                      </p:cBhvr>
                                      <p:tavLst>
                                        <p:tav tm="0">
                                          <p:val>
                                            <p:strVal val="#ppt_x"/>
                                          </p:val>
                                        </p:tav>
                                        <p:tav tm="100000">
                                          <p:val>
                                            <p:strVal val="#ppt_x"/>
                                          </p:val>
                                        </p:tav>
                                      </p:tavLst>
                                    </p:anim>
                                    <p:anim calcmode="lin" valueType="num">
                                      <p:cBhvr>
                                        <p:cTn id="19" dur="500" decel="100000" fill="hold"/>
                                        <p:tgtEl>
                                          <p:spTgt spid="37"/>
                                        </p:tgtEl>
                                        <p:attrNameLst>
                                          <p:attrName>ppt_y</p:attrName>
                                        </p:attrNameLst>
                                      </p:cBhvr>
                                      <p:tavLst>
                                        <p:tav tm="0">
                                          <p:val>
                                            <p:strVal val="#ppt_y+0.0278"/>
                                          </p:val>
                                        </p:tav>
                                        <p:tav tm="100000">
                                          <p:val>
                                            <p:strVal val="#ppt_y"/>
                                          </p:val>
                                        </p:tav>
                                      </p:tavLst>
                                    </p:anim>
                                  </p:childTnLst>
                                </p:cTn>
                              </p:par>
                              <p:par>
                                <p:cTn id="20"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1" dur="2600" fill="hold"/>
                                        <p:tgtEl>
                                          <p:spTgt spid="38"/>
                                        </p:tgtEl>
                                        <p:attrNameLst>
                                          <p:attrName>ppt_x</p:attrName>
                                          <p:attrName>ppt_y</p:attrName>
                                        </p:attrNameLst>
                                      </p:cBhvr>
                                      <p:rCtr x="0" y="0"/>
                                    </p:animMotion>
                                  </p:childTnLst>
                                </p:cTn>
                              </p:par>
                              <p:par>
                                <p:cTn id="22"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3" dur="3150" fill="hold"/>
                                        <p:tgtEl>
                                          <p:spTgt spid="39"/>
                                        </p:tgtEl>
                                        <p:attrNameLst>
                                          <p:attrName>ppt_x</p:attrName>
                                          <p:attrName>ppt_y</p:attrName>
                                        </p:attrNameLst>
                                      </p:cBhvr>
                                      <p:rCtr x="0" y="0"/>
                                    </p:animMotion>
                                  </p:childTnLst>
                                </p:cTn>
                              </p:par>
                              <p:par>
                                <p:cTn id="24"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5" dur="3700" fill="hold"/>
                                        <p:tgtEl>
                                          <p:spTgt spid="40"/>
                                        </p:tgtEl>
                                        <p:attrNameLst>
                                          <p:attrName>ppt_x</p:attrName>
                                          <p:attrName>ppt_y</p:attrName>
                                        </p:attrNameLst>
                                      </p:cBhvr>
                                      <p:rCtr x="0" y="0"/>
                                    </p:animMotion>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wipe(left)">
                                      <p:cBhvr>
                                        <p:cTn id="29" dur="400" decel="100000"/>
                                        <p:tgtEl>
                                          <p:spTgt spid="35"/>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fade">
                                      <p:cBhvr>
                                        <p:cTn id="35" dur="500" decel="100000"/>
                                        <p:tgtEl>
                                          <p:spTgt spid="34"/>
                                        </p:tgtEl>
                                      </p:cBhvr>
                                    </p:animEffect>
                                    <p:anim calcmode="lin" valueType="num">
                                      <p:cBhvr>
                                        <p:cTn id="36" dur="500" decel="100000" fill="hold"/>
                                        <p:tgtEl>
                                          <p:spTgt spid="34"/>
                                        </p:tgtEl>
                                        <p:attrNameLst>
                                          <p:attrName>ppt_x</p:attrName>
                                        </p:attrNameLst>
                                      </p:cBhvr>
                                      <p:tavLst>
                                        <p:tav tm="0">
                                          <p:val>
                                            <p:strVal val="#ppt_x"/>
                                          </p:val>
                                        </p:tav>
                                        <p:tav tm="100000">
                                          <p:val>
                                            <p:strVal val="#ppt_x"/>
                                          </p:val>
                                        </p:tav>
                                      </p:tavLst>
                                    </p:anim>
                                    <p:anim calcmode="lin" valueType="num">
                                      <p:cBhvr>
                                        <p:cTn id="37" dur="500" decel="100000" fill="hold"/>
                                        <p:tgtEl>
                                          <p:spTgt spid="34"/>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animBg="1"/>
      <p:bldP spid="36" grpId="0"/>
      <p:bldP spid="37" grpId="0"/>
      <p:bldP spid="38" grpId="0" animBg="1"/>
      <p:bldP spid="39" grpId="0" animBg="1"/>
      <p:bldP spid="40"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sp>
        <p:nvSpPr>
          <p:cNvPr id="3" name="!!Table"/>
          <p:cNvSpPr/>
          <p:nvPr/>
        </p:nvSpPr>
        <p:spPr>
          <a:xfrm>
            <a:off x="0" y="5852160"/>
            <a:ext cx="12192000" cy="1005840"/>
          </a:xfrm>
          <a:prstGeom prst="rect">
            <a:avLst/>
          </a:prstGeom>
          <a:gradFill rotWithShape="1">
            <a:gsLst>
              <a:gs pos="0">
                <a:srgbClr val="F6E8EA">
                  <a:alpha val="0"/>
                </a:srgbClr>
              </a:gs>
              <a:gs pos="100000">
                <a:srgbClr val="F6E8EA">
                  <a:alpha val="100000"/>
                </a:srgbClr>
              </a:gs>
            </a:gsLst>
            <a:lin ang="5400000" scaled="0"/>
          </a:gradFill>
          <a:ln>
            <a:noFill/>
          </a:ln>
        </p:spPr>
        <p:txBody>
          <a:bodyPr rtlCol="0" anchor="ctr"/>
          <a:lstStyle/>
          <a:p/>
        </p:txBody>
      </p:sp>
      <p:sp>
        <p:nvSpPr>
          <p:cNvPr id="4" name="!!S_epice_poulet"/>
          <p:cNvSpPr/>
          <p:nvPr/>
        </p:nvSpPr>
        <p:spPr>
          <a:xfrm>
            <a:off x="4763062" y="-4153126"/>
            <a:ext cx="1573875" cy="31477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5" name="!!P_epice_poulet" descr="Modèle 3D : Épice spéciale poulet"/>
              <p:cNvGraphicFramePr>
                <a:graphicFrameLocks noChangeAspect="1"/>
              </p:cNvGraphicFramePr>
              <p:nvPr/>
            </p:nvGraphicFramePr>
            <p:xfrm>
              <a:off x="4886047" y="-5895408"/>
              <a:ext cx="1327904" cy="2022690"/>
            </p:xfrm>
            <a:graphic>
              <a:graphicData uri="http://schemas.microsoft.com/office/drawing/2017/model3d">
                <am3d:model3d r:embed="rId2">
                  <am3d:spPr>
                    <a:xfrm>
                      <a:off x="0" y="0"/>
                      <a:ext cx="1327904" cy="2022690"/>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21000000" az="0"/>
                    <am3d:postTrans dx="0" dy="0" dz="0"/>
                  </am3d:trans>
                  <am3d:raster rName="Office3DRenderer" rVer="16.0.8326">
                    <am3d:blip r:embed="rId3"/>
                  </am3d:raster>
                  <am3d:objViewport viewportSz="287781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P_epice_poulet" descr="Modèle 3D : Épice spéciale poulet"/>
              <p:cNvPicPr>
                <a:picLocks noGrp="1" noRot="1" noChangeAspect="1" noMove="1" noResize="1" noEditPoints="1" noAdjustHandles="1" noChangeArrowheads="1" noChangeShapeType="1" noCrop="1"/>
              </p:cNvPicPr>
              <p:nvPr/>
            </p:nvPicPr>
            <p:blipFill>
              <a:blip r:embed="rId3"/>
              <a:stretch>
                <a:fillRect/>
              </a:stretch>
            </p:blipFill>
            <p:spPr>
              <a:xfrm>
                <a:off x="4886047" y="-5895408"/>
                <a:ext cx="1327904" cy="2022690"/>
              </a:xfrm>
              <a:prstGeom prst="rect">
                <a:avLst/>
              </a:prstGeom>
            </p:spPr>
          </p:pic>
        </mc:Fallback>
      </mc:AlternateContent>
      <p:sp>
        <p:nvSpPr>
          <p:cNvPr id="6" name="!!S_epice_poisson"/>
          <p:cNvSpPr/>
          <p:nvPr/>
        </p:nvSpPr>
        <p:spPr>
          <a:xfrm>
            <a:off x="6183062" y="-4153126"/>
            <a:ext cx="1573875" cy="31477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7" name="!!P_epice_poisson" descr="Modèle 3D : Épice spéciale poisson"/>
              <p:cNvGraphicFramePr>
                <a:graphicFrameLocks noChangeAspect="1"/>
              </p:cNvGraphicFramePr>
              <p:nvPr/>
            </p:nvGraphicFramePr>
            <p:xfrm>
              <a:off x="6310158" y="-5895408"/>
              <a:ext cx="1319682" cy="2022690"/>
            </p:xfrm>
            <a:graphic>
              <a:graphicData uri="http://schemas.microsoft.com/office/drawing/2017/model3d">
                <am3d:model3d r:embed="rId4">
                  <am3d:spPr>
                    <a:xfrm>
                      <a:off x="0" y="0"/>
                      <a:ext cx="1319682" cy="2022690"/>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21300000" az="0"/>
                    <am3d:postTrans dx="0" dy="0" dz="0"/>
                  </am3d:trans>
                  <am3d:raster rName="Office3DRenderer" rVer="16.0.8326">
                    <am3d:blip r:embed="rId5"/>
                  </am3d:raster>
                  <am3d:objViewport viewportSz="287781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P_epice_poisson" descr="Modèle 3D : Épice spéciale poisson"/>
              <p:cNvPicPr>
                <a:picLocks noGrp="1" noRot="1" noChangeAspect="1" noMove="1" noResize="1" noEditPoints="1" noAdjustHandles="1" noChangeArrowheads="1" noChangeShapeType="1" noCrop="1"/>
              </p:cNvPicPr>
              <p:nvPr/>
            </p:nvPicPr>
            <p:blipFill>
              <a:blip r:embed="rId5"/>
              <a:stretch>
                <a:fillRect/>
              </a:stretch>
            </p:blipFill>
            <p:spPr>
              <a:xfrm>
                <a:off x="6310158" y="-5895408"/>
                <a:ext cx="1319682" cy="2022690"/>
              </a:xfrm>
              <a:prstGeom prst="rect">
                <a:avLst/>
              </a:prstGeom>
            </p:spPr>
          </p:pic>
        </mc:Fallback>
      </mc:AlternateContent>
      <p:sp>
        <p:nvSpPr>
          <p:cNvPr id="8" name="!!S_paprika"/>
          <p:cNvSpPr/>
          <p:nvPr/>
        </p:nvSpPr>
        <p:spPr>
          <a:xfrm>
            <a:off x="7603062" y="-4153126"/>
            <a:ext cx="1573875" cy="31477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9" name="!!P_paprika" descr="Modèle 3D : Paprika"/>
              <p:cNvGraphicFramePr>
                <a:graphicFrameLocks noChangeAspect="1"/>
              </p:cNvGraphicFramePr>
              <p:nvPr/>
            </p:nvGraphicFramePr>
            <p:xfrm>
              <a:off x="7736325" y="-5893353"/>
              <a:ext cx="1307348" cy="2018579"/>
            </p:xfrm>
            <a:graphic>
              <a:graphicData uri="http://schemas.microsoft.com/office/drawing/2017/model3d">
                <am3d:model3d r:embed="rId6">
                  <am3d:spPr>
                    <a:xfrm>
                      <a:off x="0" y="0"/>
                      <a:ext cx="1307348" cy="2018579"/>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0" az="0"/>
                    <am3d:postTrans dx="0" dy="0" dz="0"/>
                  </am3d:trans>
                  <am3d:raster rName="Office3DRenderer" rVer="16.0.8326">
                    <am3d:blip r:embed="rId7"/>
                  </am3d:raster>
                  <am3d:objViewport viewportSz="287781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 name="!!P_paprika" descr="Modèle 3D : Paprika"/>
              <p:cNvPicPr>
                <a:picLocks noGrp="1" noRot="1" noChangeAspect="1" noMove="1" noResize="1" noEditPoints="1" noAdjustHandles="1" noChangeArrowheads="1" noChangeShapeType="1" noCrop="1"/>
              </p:cNvPicPr>
              <p:nvPr/>
            </p:nvPicPr>
            <p:blipFill>
              <a:blip r:embed="rId7"/>
              <a:stretch>
                <a:fillRect/>
              </a:stretch>
            </p:blipFill>
            <p:spPr>
              <a:xfrm>
                <a:off x="7736325" y="-5893353"/>
                <a:ext cx="1307348" cy="2018579"/>
              </a:xfrm>
              <a:prstGeom prst="rect">
                <a:avLst/>
              </a:prstGeom>
            </p:spPr>
          </p:pic>
        </mc:Fallback>
      </mc:AlternateContent>
      <p:sp>
        <p:nvSpPr>
          <p:cNvPr id="10" name="!!S_piment"/>
          <p:cNvSpPr/>
          <p:nvPr/>
        </p:nvSpPr>
        <p:spPr>
          <a:xfrm>
            <a:off x="9023062" y="-4153126"/>
            <a:ext cx="1573875" cy="31477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11" name="!!P_piment" descr="Modèle 3D : Piment en poudre"/>
              <p:cNvGraphicFramePr>
                <a:graphicFrameLocks noChangeAspect="1"/>
              </p:cNvGraphicFramePr>
              <p:nvPr/>
            </p:nvGraphicFramePr>
            <p:xfrm>
              <a:off x="9148103" y="-5895408"/>
              <a:ext cx="1323793" cy="2022690"/>
            </p:xfrm>
            <a:graphic>
              <a:graphicData uri="http://schemas.microsoft.com/office/drawing/2017/model3d">
                <am3d:model3d r:embed="rId8">
                  <am3d:spPr>
                    <a:xfrm>
                      <a:off x="0" y="0"/>
                      <a:ext cx="1323793" cy="2022690"/>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300000" az="0"/>
                    <am3d:postTrans dx="0" dy="0" dz="0"/>
                  </am3d:trans>
                  <am3d:raster rName="Office3DRenderer" rVer="16.0.8326">
                    <am3d:blip r:embed="rId9"/>
                  </am3d:raster>
                  <am3d:objViewport viewportSz="287781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1" name="!!P_piment" descr="Modèle 3D : Piment en poudre"/>
              <p:cNvPicPr>
                <a:picLocks noGrp="1" noRot="1" noChangeAspect="1" noMove="1" noResize="1" noEditPoints="1" noAdjustHandles="1" noChangeArrowheads="1" noChangeShapeType="1" noCrop="1"/>
              </p:cNvPicPr>
              <p:nvPr/>
            </p:nvPicPr>
            <p:blipFill>
              <a:blip r:embed="rId9"/>
              <a:stretch>
                <a:fillRect/>
              </a:stretch>
            </p:blipFill>
            <p:spPr>
              <a:xfrm>
                <a:off x="9148103" y="-5895408"/>
                <a:ext cx="1323793" cy="2022690"/>
              </a:xfrm>
              <a:prstGeom prst="rect">
                <a:avLst/>
              </a:prstGeom>
            </p:spPr>
          </p:pic>
        </mc:Fallback>
      </mc:AlternateContent>
      <p:sp>
        <p:nvSpPr>
          <p:cNvPr id="12" name="!!S_akpi"/>
          <p:cNvSpPr/>
          <p:nvPr/>
        </p:nvSpPr>
        <p:spPr>
          <a:xfrm>
            <a:off x="10443062" y="-4153126"/>
            <a:ext cx="1573875" cy="31477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13" name="!!P_akpi" descr="Modèle 3D : Graines d'akpi"/>
              <p:cNvGraphicFramePr>
                <a:graphicFrameLocks noChangeAspect="1"/>
              </p:cNvGraphicFramePr>
              <p:nvPr/>
            </p:nvGraphicFramePr>
            <p:xfrm>
              <a:off x="10563992" y="-5895408"/>
              <a:ext cx="1332015" cy="2022690"/>
            </p:xfrm>
            <a:graphic>
              <a:graphicData uri="http://schemas.microsoft.com/office/drawing/2017/model3d">
                <am3d:model3d r:embed="rId10">
                  <am3d:spPr>
                    <a:xfrm>
                      <a:off x="0" y="0"/>
                      <a:ext cx="1332015" cy="2022690"/>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600000" az="0"/>
                    <am3d:postTrans dx="0" dy="0" dz="0"/>
                  </am3d:trans>
                  <am3d:raster rName="Office3DRenderer" rVer="16.0.8326">
                    <am3d:blip r:embed="rId11"/>
                  </am3d:raster>
                  <am3d:objViewport viewportSz="287781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3" name="!!P_akpi" descr="Modèle 3D : Graines d'akpi"/>
              <p:cNvPicPr>
                <a:picLocks noGrp="1" noRot="1" noChangeAspect="1" noMove="1" noResize="1" noEditPoints="1" noAdjustHandles="1" noChangeArrowheads="1" noChangeShapeType="1" noCrop="1"/>
              </p:cNvPicPr>
              <p:nvPr/>
            </p:nvPicPr>
            <p:blipFill>
              <a:blip r:embed="rId11"/>
              <a:stretch>
                <a:fillRect/>
              </a:stretch>
            </p:blipFill>
            <p:spPr>
              <a:xfrm>
                <a:off x="10563992" y="-5895408"/>
                <a:ext cx="1332015" cy="2022690"/>
              </a:xfrm>
              <a:prstGeom prst="rect">
                <a:avLst/>
              </a:prstGeom>
            </p:spPr>
          </p:pic>
        </mc:Fallback>
      </mc:AlternateContent>
      <p:sp>
        <p:nvSpPr>
          <p:cNvPr id="14" name="!!S_djoumble"/>
          <p:cNvSpPr/>
          <p:nvPr/>
        </p:nvSpPr>
        <p:spPr>
          <a:xfrm>
            <a:off x="4763062" y="-1393126"/>
            <a:ext cx="1573875" cy="31477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15" name="!!P_djoumble" descr="Modèle 3D : Poudre de djoumblé"/>
              <p:cNvGraphicFramePr>
                <a:graphicFrameLocks noChangeAspect="1"/>
              </p:cNvGraphicFramePr>
              <p:nvPr/>
            </p:nvGraphicFramePr>
            <p:xfrm>
              <a:off x="4886047" y="-3135408"/>
              <a:ext cx="1327904" cy="2022690"/>
            </p:xfrm>
            <a:graphic>
              <a:graphicData uri="http://schemas.microsoft.com/office/drawing/2017/model3d">
                <am3d:model3d r:embed="rId12">
                  <am3d:spPr>
                    <a:xfrm>
                      <a:off x="0" y="0"/>
                      <a:ext cx="1327904" cy="2022690"/>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21000000" az="0"/>
                    <am3d:postTrans dx="0" dy="0" dz="0"/>
                  </am3d:trans>
                  <am3d:raster rName="Office3DRenderer" rVer="16.0.8326">
                    <am3d:blip r:embed="rId13"/>
                  </am3d:raster>
                  <am3d:objViewport viewportSz="287781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5" name="!!P_djoumble" descr="Modèle 3D : Poudre de djoumblé"/>
              <p:cNvPicPr>
                <a:picLocks noGrp="1" noRot="1" noChangeAspect="1" noMove="1" noResize="1" noEditPoints="1" noAdjustHandles="1" noChangeArrowheads="1" noChangeShapeType="1" noCrop="1"/>
              </p:cNvPicPr>
              <p:nvPr/>
            </p:nvPicPr>
            <p:blipFill>
              <a:blip r:embed="rId13"/>
              <a:stretch>
                <a:fillRect/>
              </a:stretch>
            </p:blipFill>
            <p:spPr>
              <a:xfrm>
                <a:off x="4886047" y="-3135408"/>
                <a:ext cx="1327904" cy="2022690"/>
              </a:xfrm>
              <a:prstGeom prst="rect">
                <a:avLst/>
              </a:prstGeom>
            </p:spPr>
          </p:pic>
        </mc:Fallback>
      </mc:AlternateContent>
      <p:sp>
        <p:nvSpPr>
          <p:cNvPr id="16" name="!!S_crevette"/>
          <p:cNvSpPr/>
          <p:nvPr/>
        </p:nvSpPr>
        <p:spPr>
          <a:xfrm>
            <a:off x="6183062" y="-1393126"/>
            <a:ext cx="1573875" cy="31477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17" name="!!P_crevette" descr="Modèle 3D : Poudre de crevettes séchées"/>
              <p:cNvGraphicFramePr>
                <a:graphicFrameLocks noChangeAspect="1"/>
              </p:cNvGraphicFramePr>
              <p:nvPr/>
            </p:nvGraphicFramePr>
            <p:xfrm>
              <a:off x="6310158" y="-3135408"/>
              <a:ext cx="1319682" cy="2022690"/>
            </p:xfrm>
            <a:graphic>
              <a:graphicData uri="http://schemas.microsoft.com/office/drawing/2017/model3d">
                <am3d:model3d r:embed="rId14">
                  <am3d:spPr>
                    <a:xfrm>
                      <a:off x="0" y="0"/>
                      <a:ext cx="1319682" cy="2022690"/>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21300000" az="0"/>
                    <am3d:postTrans dx="0" dy="0" dz="0"/>
                  </am3d:trans>
                  <am3d:raster rName="Office3DRenderer" rVer="16.0.8326">
                    <am3d:blip r:embed="rId15"/>
                  </am3d:raster>
                  <am3d:objViewport viewportSz="287781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7" name="!!P_crevette" descr="Modèle 3D : Poudre de crevettes séchées"/>
              <p:cNvPicPr>
                <a:picLocks noGrp="1" noRot="1" noChangeAspect="1" noMove="1" noResize="1" noEditPoints="1" noAdjustHandles="1" noChangeArrowheads="1" noChangeShapeType="1" noCrop="1"/>
              </p:cNvPicPr>
              <p:nvPr/>
            </p:nvPicPr>
            <p:blipFill>
              <a:blip r:embed="rId15"/>
              <a:stretch>
                <a:fillRect/>
              </a:stretch>
            </p:blipFill>
            <p:spPr>
              <a:xfrm>
                <a:off x="6310158" y="-3135408"/>
                <a:ext cx="1319682" cy="2022690"/>
              </a:xfrm>
              <a:prstGeom prst="rect">
                <a:avLst/>
              </a:prstGeom>
            </p:spPr>
          </p:pic>
        </mc:Fallback>
      </mc:AlternateContent>
      <p:sp>
        <p:nvSpPr>
          <p:cNvPr id="18" name="!!S_poudre_poisson"/>
          <p:cNvSpPr/>
          <p:nvPr/>
        </p:nvSpPr>
        <p:spPr>
          <a:xfrm>
            <a:off x="7603062" y="-1393126"/>
            <a:ext cx="1573875" cy="31477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19" name="!!P_poudre_poisson" descr="Modèle 3D : Poudre de poisson sec"/>
              <p:cNvGraphicFramePr>
                <a:graphicFrameLocks noChangeAspect="1"/>
              </p:cNvGraphicFramePr>
              <p:nvPr/>
            </p:nvGraphicFramePr>
            <p:xfrm>
              <a:off x="7736325" y="-3133353"/>
              <a:ext cx="1307348" cy="2018579"/>
            </p:xfrm>
            <a:graphic>
              <a:graphicData uri="http://schemas.microsoft.com/office/drawing/2017/model3d">
                <am3d:model3d r:embed="rId16">
                  <am3d:spPr>
                    <a:xfrm>
                      <a:off x="0" y="0"/>
                      <a:ext cx="1307348" cy="2018579"/>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0" az="0"/>
                    <am3d:postTrans dx="0" dy="0" dz="0"/>
                  </am3d:trans>
                  <am3d:raster rName="Office3DRenderer" rVer="16.0.8326">
                    <am3d:blip r:embed="rId17"/>
                  </am3d:raster>
                  <am3d:objViewport viewportSz="287781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9" name="!!P_poudre_poisson" descr="Modèle 3D : Poudre de poisson sec"/>
              <p:cNvPicPr>
                <a:picLocks noGrp="1" noRot="1" noChangeAspect="1" noMove="1" noResize="1" noEditPoints="1" noAdjustHandles="1" noChangeArrowheads="1" noChangeShapeType="1" noCrop="1"/>
              </p:cNvPicPr>
              <p:nvPr/>
            </p:nvPicPr>
            <p:blipFill>
              <a:blip r:embed="rId17"/>
              <a:stretch>
                <a:fillRect/>
              </a:stretch>
            </p:blipFill>
            <p:spPr>
              <a:xfrm>
                <a:off x="7736325" y="-3133353"/>
                <a:ext cx="1307348" cy="2018579"/>
              </a:xfrm>
              <a:prstGeom prst="rect">
                <a:avLst/>
              </a:prstGeom>
            </p:spPr>
          </p:pic>
        </mc:Fallback>
      </mc:AlternateContent>
      <p:sp>
        <p:nvSpPr>
          <p:cNvPr id="20" name="!!S_ail"/>
          <p:cNvSpPr/>
          <p:nvPr/>
        </p:nvSpPr>
        <p:spPr>
          <a:xfrm>
            <a:off x="9023062" y="-1393126"/>
            <a:ext cx="1573875" cy="31477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21" name="!!P_ail" descr="Modèle 3D : Purée d'ail"/>
              <p:cNvGraphicFramePr>
                <a:graphicFrameLocks noChangeAspect="1"/>
              </p:cNvGraphicFramePr>
              <p:nvPr/>
            </p:nvGraphicFramePr>
            <p:xfrm>
              <a:off x="9148103" y="-3135408"/>
              <a:ext cx="1323793" cy="2022690"/>
            </p:xfrm>
            <a:graphic>
              <a:graphicData uri="http://schemas.microsoft.com/office/drawing/2017/model3d">
                <am3d:model3d r:embed="rId18">
                  <am3d:spPr>
                    <a:xfrm>
                      <a:off x="0" y="0"/>
                      <a:ext cx="1323793" cy="2022690"/>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300000" az="0"/>
                    <am3d:postTrans dx="0" dy="0" dz="0"/>
                  </am3d:trans>
                  <am3d:raster rName="Office3DRenderer" rVer="16.0.8326">
                    <am3d:blip r:embed="rId19"/>
                  </am3d:raster>
                  <am3d:objViewport viewportSz="287781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1" name="!!P_ail" descr="Modèle 3D : Purée d'ail"/>
              <p:cNvPicPr>
                <a:picLocks noGrp="1" noRot="1" noChangeAspect="1" noMove="1" noResize="1" noEditPoints="1" noAdjustHandles="1" noChangeArrowheads="1" noChangeShapeType="1" noCrop="1"/>
              </p:cNvPicPr>
              <p:nvPr/>
            </p:nvPicPr>
            <p:blipFill>
              <a:blip r:embed="rId19"/>
              <a:stretch>
                <a:fillRect/>
              </a:stretch>
            </p:blipFill>
            <p:spPr>
              <a:xfrm>
                <a:off x="9148103" y="-3135408"/>
                <a:ext cx="1323793" cy="2022690"/>
              </a:xfrm>
              <a:prstGeom prst="rect">
                <a:avLst/>
              </a:prstGeom>
            </p:spPr>
          </p:pic>
        </mc:Fallback>
      </mc:AlternateContent>
      <p:sp>
        <p:nvSpPr>
          <p:cNvPr id="22" name="!!S_bouillon"/>
          <p:cNvSpPr/>
          <p:nvPr/>
        </p:nvSpPr>
        <p:spPr>
          <a:xfrm>
            <a:off x="10443062" y="-1393126"/>
            <a:ext cx="1573875" cy="31477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23" name="!!P_bouillon" descr="Modèle 3D : Bouillon bio de poulet"/>
              <p:cNvGraphicFramePr>
                <a:graphicFrameLocks noChangeAspect="1"/>
              </p:cNvGraphicFramePr>
              <p:nvPr/>
            </p:nvGraphicFramePr>
            <p:xfrm>
              <a:off x="10563992" y="-3135408"/>
              <a:ext cx="1332015" cy="2022690"/>
            </p:xfrm>
            <a:graphic>
              <a:graphicData uri="http://schemas.microsoft.com/office/drawing/2017/model3d">
                <am3d:model3d r:embed="rId20">
                  <am3d:spPr>
                    <a:xfrm>
                      <a:off x="0" y="0"/>
                      <a:ext cx="1332015" cy="2022690"/>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240000" ay="600000" az="0"/>
                    <am3d:postTrans dx="0" dy="0" dz="0"/>
                  </am3d:trans>
                  <am3d:raster rName="Office3DRenderer" rVer="16.0.8326">
                    <am3d:blip r:embed="rId21"/>
                  </am3d:raster>
                  <am3d:objViewport viewportSz="287781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3" name="!!P_bouillon" descr="Modèle 3D : Bouillon bio de poulet"/>
              <p:cNvPicPr>
                <a:picLocks noGrp="1" noRot="1" noChangeAspect="1" noMove="1" noResize="1" noEditPoints="1" noAdjustHandles="1" noChangeArrowheads="1" noChangeShapeType="1" noCrop="1"/>
              </p:cNvPicPr>
              <p:nvPr/>
            </p:nvPicPr>
            <p:blipFill>
              <a:blip r:embed="rId21"/>
              <a:stretch>
                <a:fillRect/>
              </a:stretch>
            </p:blipFill>
            <p:spPr>
              <a:xfrm>
                <a:off x="10563992" y="-3135408"/>
                <a:ext cx="1332015" cy="2022690"/>
              </a:xfrm>
              <a:prstGeom prst="rect">
                <a:avLst/>
              </a:prstGeom>
            </p:spPr>
          </p:pic>
        </mc:Fallback>
      </mc:AlternateContent>
      <p:sp>
        <p:nvSpPr>
          <p:cNvPr id="24" name="!!S_huile"/>
          <p:cNvSpPr/>
          <p:nvPr/>
        </p:nvSpPr>
        <p:spPr>
          <a:xfrm>
            <a:off x="8904375" y="5933962"/>
            <a:ext cx="1691250" cy="33825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25" name="!!P_huile" descr="Modèle 3D : Huile rouge"/>
              <p:cNvGraphicFramePr>
                <a:graphicFrameLocks noChangeAspect="1"/>
              </p:cNvGraphicFramePr>
              <p:nvPr/>
            </p:nvGraphicFramePr>
            <p:xfrm>
              <a:off x="9044194" y="2230880"/>
              <a:ext cx="1411611" cy="4126248"/>
            </p:xfrm>
            <a:graphic>
              <a:graphicData uri="http://schemas.microsoft.com/office/drawing/2017/model3d">
                <am3d:model3d r:embed="rId22">
                  <am3d:spPr>
                    <a:xfrm>
                      <a:off x="0" y="0"/>
                      <a:ext cx="1411611" cy="4126248"/>
                    </a:xfrm>
                    <a:prstGeom prst="rect">
                      <a:avLst/>
                    </a:prstGeom>
                  </am3d:spPr>
                  <am3d:camera>
                    <am3d:pos x="0" y="0" z="67740115"/>
                    <am3d:up dx="0" dy="36000000" dz="0"/>
                    <am3d:lookAt x="0" y="0" z="0"/>
                    <am3d:perspective fov="2700000"/>
                  </am3d:camera>
                  <am3d:trans>
                    <am3d:meterPerModelUnit n="54655" d="1000000"/>
                    <am3d:preTrans dx="0" dy="-18000000" dz="1652"/>
                    <am3d:scale>
                      <am3d:sx n="1000000" d="1000000"/>
                      <am3d:sy n="1000000" d="1000000"/>
                      <am3d:sz n="1000000" d="1000000"/>
                    </am3d:scale>
                    <am3d:rot ax="300000" ay="20640000" az="0"/>
                    <am3d:postTrans dx="0" dy="0" dz="0"/>
                  </am3d:trans>
                  <am3d:raster rName="Office3DRenderer" rVer="16.0.8326">
                    <am3d:blip r:embed="rId23"/>
                  </am3d:raster>
                  <am3d:objViewport viewportSz="584691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5" name="!!P_huile" descr="Modèle 3D : Huile rouge"/>
              <p:cNvPicPr>
                <a:picLocks noGrp="1" noRot="1" noChangeAspect="1" noMove="1" noResize="1" noEditPoints="1" noAdjustHandles="1" noChangeArrowheads="1" noChangeShapeType="1" noCrop="1"/>
              </p:cNvPicPr>
              <p:nvPr/>
            </p:nvPicPr>
            <p:blipFill>
              <a:blip r:embed="rId23"/>
              <a:stretch>
                <a:fillRect/>
              </a:stretch>
            </p:blipFill>
            <p:spPr>
              <a:xfrm>
                <a:off x="9044194" y="2230880"/>
                <a:ext cx="1411611" cy="4126248"/>
              </a:xfrm>
              <a:prstGeom prst="rect">
                <a:avLst/>
              </a:prstGeom>
            </p:spPr>
          </p:pic>
        </mc:Fallback>
      </mc:AlternateContent>
      <p:sp>
        <p:nvSpPr>
          <p:cNvPr id="26" name="!!S_arachide"/>
          <p:cNvSpPr/>
          <p:nvPr/>
        </p:nvSpPr>
        <p:spPr>
          <a:xfrm>
            <a:off x="5775000" y="6073500"/>
            <a:ext cx="3150000" cy="63000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27" name="!!P_arachide" descr="Modèle 3D : Pâte d'arachide"/>
              <p:cNvGraphicFramePr>
                <a:graphicFrameLocks noChangeAspect="1"/>
              </p:cNvGraphicFramePr>
              <p:nvPr/>
            </p:nvGraphicFramePr>
            <p:xfrm>
              <a:off x="5484092" y="3264978"/>
              <a:ext cx="3731814" cy="3968219"/>
            </p:xfrm>
            <a:graphic>
              <a:graphicData uri="http://schemas.microsoft.com/office/drawing/2017/model3d">
                <am3d:model3d r:embed="rId24">
                  <am3d:spPr>
                    <a:xfrm>
                      <a:off x="0" y="0"/>
                      <a:ext cx="3731814" cy="3968219"/>
                    </a:xfrm>
                    <a:prstGeom prst="rect">
                      <a:avLst/>
                    </a:prstGeom>
                  </am3d:spPr>
                  <am3d:camera>
                    <am3d:pos x="0" y="0" z="67740115"/>
                    <am3d:up dx="0" dy="36000000" dz="0"/>
                    <am3d:lookAt x="0" y="0" z="0"/>
                    <am3d:perspective fov="2700000"/>
                  </am3d:camera>
                  <am3d:trans>
                    <am3d:meterPerModelUnit n="83084" d="1000000"/>
                    <am3d:preTrans dx="0" dy="-17570055" dz="0"/>
                    <am3d:scale>
                      <am3d:sx n="1000000" d="1000000"/>
                      <am3d:sy n="1000000" d="1000000"/>
                      <am3d:sz n="1000000" d="1000000"/>
                    </am3d:scale>
                    <am3d:rot ax="540000" ay="1440000" az="0"/>
                    <am3d:postTrans dx="0" dy="0" dz="0"/>
                  </am3d:trans>
                  <am3d:raster rName="Office3DRenderer" rVer="16.0.8326">
                    <am3d:blip r:embed="rId25"/>
                  </am3d:raster>
                  <am3d:objViewport viewportSz="394007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7" name="!!P_arachide" descr="Modèle 3D : Pâte d'arachide"/>
              <p:cNvPicPr>
                <a:picLocks noGrp="1" noRot="1" noChangeAspect="1" noMove="1" noResize="1" noEditPoints="1" noAdjustHandles="1" noChangeArrowheads="1" noChangeShapeType="1" noCrop="1"/>
              </p:cNvPicPr>
              <p:nvPr/>
            </p:nvPicPr>
            <p:blipFill>
              <a:blip r:embed="rId25"/>
              <a:stretch>
                <a:fillRect/>
              </a:stretch>
            </p:blipFill>
            <p:spPr>
              <a:xfrm>
                <a:off x="5484092" y="3264978"/>
                <a:ext cx="3731814" cy="3968219"/>
              </a:xfrm>
              <a:prstGeom prst="rect">
                <a:avLst/>
              </a:prstGeom>
            </p:spPr>
          </p:pic>
        </mc:Fallback>
      </mc:AlternateContent>
      <p:sp>
        <p:nvSpPr>
          <p:cNvPr id="28" name="!!S_marinade_poulet"/>
          <p:cNvSpPr/>
          <p:nvPr/>
        </p:nvSpPr>
        <p:spPr>
          <a:xfrm>
            <a:off x="-3011875" y="6421387"/>
            <a:ext cx="1623750" cy="32475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29" name="!!P_marinade_poulet" descr="Modèle 3D : Marinade poulet"/>
              <p:cNvGraphicFramePr>
                <a:graphicFrameLocks noChangeAspect="1"/>
              </p:cNvGraphicFramePr>
              <p:nvPr/>
            </p:nvGraphicFramePr>
            <p:xfrm>
              <a:off x="-2876540" y="4118764"/>
              <a:ext cx="1353080" cy="2642487"/>
            </p:xfrm>
            <a:graphic>
              <a:graphicData uri="http://schemas.microsoft.com/office/drawing/2017/model3d">
                <am3d:model3d r:embed="rId26">
                  <am3d:spPr>
                    <a:xfrm>
                      <a:off x="0" y="0"/>
                      <a:ext cx="1353080" cy="2642487"/>
                    </a:xfrm>
                    <a:prstGeom prst="rect">
                      <a:avLst/>
                    </a:prstGeom>
                  </am3d:spPr>
                  <am3d:camera>
                    <am3d:pos x="0" y="0" z="67740115"/>
                    <am3d:up dx="0" dy="36000000" dz="0"/>
                    <am3d:lookAt x="0" y="0" z="0"/>
                    <am3d:perspective fov="2700000"/>
                  </am3d:camera>
                  <am3d:trans>
                    <am3d:meterPerModelUnit n="62952" d="1000000"/>
                    <am3d:preTrans dx="385" dy="-17999999" dz="-917"/>
                    <am3d:scale>
                      <am3d:sx n="1000000" d="1000000"/>
                      <am3d:sy n="1000000" d="1000000"/>
                      <am3d:sz n="1000000" d="1000000"/>
                    </am3d:scale>
                    <am3d:rot ax="300000" ay="20760000" az="0"/>
                    <am3d:postTrans dx="0" dy="0" dz="0"/>
                  </am3d:trans>
                  <am3d:raster rName="Office3DRenderer" rVer="16.0.8326">
                    <am3d:blip r:embed="rId27"/>
                  </am3d:raster>
                  <am3d:objViewport viewportSz="371433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9" name="!!P_marinade_poulet" descr="Modèle 3D : Marinade poulet"/>
              <p:cNvPicPr>
                <a:picLocks noGrp="1" noRot="1" noChangeAspect="1" noMove="1" noResize="1" noEditPoints="1" noAdjustHandles="1" noChangeArrowheads="1" noChangeShapeType="1" noCrop="1"/>
              </p:cNvPicPr>
              <p:nvPr/>
            </p:nvPicPr>
            <p:blipFill>
              <a:blip r:embed="rId27"/>
              <a:stretch>
                <a:fillRect/>
              </a:stretch>
            </p:blipFill>
            <p:spPr>
              <a:xfrm>
                <a:off x="-2876540" y="4118764"/>
                <a:ext cx="1353080" cy="2642487"/>
              </a:xfrm>
              <a:prstGeom prst="rect">
                <a:avLst/>
              </a:prstGeom>
            </p:spPr>
          </p:pic>
        </mc:Fallback>
      </mc:AlternateContent>
      <p:sp>
        <p:nvSpPr>
          <p:cNvPr id="30" name="!!S_marinade_mixte"/>
          <p:cNvSpPr/>
          <p:nvPr/>
        </p:nvSpPr>
        <p:spPr>
          <a:xfrm>
            <a:off x="-4211875" y="6421387"/>
            <a:ext cx="1623750" cy="32475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31" name="!!P_marinade_mixte" descr="Modèle 3D : Marinade mixte"/>
              <p:cNvGraphicFramePr>
                <a:graphicFrameLocks noChangeAspect="1"/>
              </p:cNvGraphicFramePr>
              <p:nvPr/>
            </p:nvGraphicFramePr>
            <p:xfrm>
              <a:off x="-4076540" y="4118764"/>
              <a:ext cx="1353080" cy="2642487"/>
            </p:xfrm>
            <a:graphic>
              <a:graphicData uri="http://schemas.microsoft.com/office/drawing/2017/model3d">
                <am3d:model3d r:embed="rId28">
                  <am3d:spPr>
                    <a:xfrm>
                      <a:off x="0" y="0"/>
                      <a:ext cx="1353080" cy="2642487"/>
                    </a:xfrm>
                    <a:prstGeom prst="rect">
                      <a:avLst/>
                    </a:prstGeom>
                  </am3d:spPr>
                  <am3d:camera>
                    <am3d:pos x="0" y="0" z="67740115"/>
                    <am3d:up dx="0" dy="36000000" dz="0"/>
                    <am3d:lookAt x="0" y="0" z="0"/>
                    <am3d:perspective fov="2700000"/>
                  </am3d:camera>
                  <am3d:trans>
                    <am3d:meterPerModelUnit n="62952" d="1000000"/>
                    <am3d:preTrans dx="385" dy="-17999999" dz="-917"/>
                    <am3d:scale>
                      <am3d:sx n="1000000" d="1000000"/>
                      <am3d:sy n="1000000" d="1000000"/>
                      <am3d:sz n="1000000" d="1000000"/>
                    </am3d:scale>
                    <am3d:rot ax="300000" ay="840000" az="0"/>
                    <am3d:postTrans dx="0" dy="0" dz="0"/>
                  </am3d:trans>
                  <am3d:raster rName="Office3DRenderer" rVer="16.0.8326">
                    <am3d:blip r:embed="rId29"/>
                  </am3d:raster>
                  <am3d:objViewport viewportSz="371433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1" name="!!P_marinade_mixte" descr="Modèle 3D : Marinade mixte"/>
              <p:cNvPicPr>
                <a:picLocks noGrp="1" noRot="1" noChangeAspect="1" noMove="1" noResize="1" noEditPoints="1" noAdjustHandles="1" noChangeArrowheads="1" noChangeShapeType="1" noCrop="1"/>
              </p:cNvPicPr>
              <p:nvPr/>
            </p:nvPicPr>
            <p:blipFill>
              <a:blip r:embed="rId29"/>
              <a:stretch>
                <a:fillRect/>
              </a:stretch>
            </p:blipFill>
            <p:spPr>
              <a:xfrm>
                <a:off x="-4076540" y="4118764"/>
                <a:ext cx="1353080" cy="2642487"/>
              </a:xfrm>
              <a:prstGeom prst="rect">
                <a:avLst/>
              </a:prstGeom>
            </p:spPr>
          </p:pic>
        </mc:Fallback>
      </mc:AlternateContent>
      <p:sp>
        <p:nvSpPr>
          <p:cNvPr id="32" name="!!S_marinade_poisson"/>
          <p:cNvSpPr/>
          <p:nvPr/>
        </p:nvSpPr>
        <p:spPr>
          <a:xfrm>
            <a:off x="-1866000" y="6709480"/>
            <a:ext cx="1732000" cy="34640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33" name="!!P_marinade_poisson" descr="Modèle 3D : Marinade poisson"/>
              <p:cNvGraphicFramePr>
                <a:graphicFrameLocks noChangeAspect="1"/>
              </p:cNvGraphicFramePr>
              <p:nvPr/>
            </p:nvGraphicFramePr>
            <p:xfrm>
              <a:off x="-1721643" y="4253348"/>
              <a:ext cx="1443286" cy="2818653"/>
            </p:xfrm>
            <a:graphic>
              <a:graphicData uri="http://schemas.microsoft.com/office/drawing/2017/model3d">
                <am3d:model3d r:embed="rId30">
                  <am3d:spPr>
                    <a:xfrm>
                      <a:off x="0" y="0"/>
                      <a:ext cx="1443286" cy="2818653"/>
                    </a:xfrm>
                    <a:prstGeom prst="rect">
                      <a:avLst/>
                    </a:prstGeom>
                  </am3d:spPr>
                  <am3d:camera>
                    <am3d:pos x="0" y="0" z="67740115"/>
                    <am3d:up dx="0" dy="36000000" dz="0"/>
                    <am3d:lookAt x="0" y="0" z="0"/>
                    <am3d:perspective fov="2700000"/>
                  </am3d:camera>
                  <am3d:trans>
                    <am3d:meterPerModelUnit n="62952" d="1000000"/>
                    <am3d:preTrans dx="385" dy="-17999999" dz="-917"/>
                    <am3d:scale>
                      <am3d:sx n="1000000" d="1000000"/>
                      <am3d:sy n="1000000" d="1000000"/>
                      <am3d:sz n="1000000" d="1000000"/>
                    </am3d:scale>
                    <am3d:rot ax="300000" ay="0" az="0"/>
                    <am3d:postTrans dx="0" dy="0" dz="0"/>
                  </am3d:trans>
                  <am3d:raster rName="Office3DRenderer" rVer="16.0.8326">
                    <am3d:blip r:embed="rId31"/>
                  </am3d:raster>
                  <am3d:objViewport viewportSz="396196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3" name="!!P_marinade_poisson" descr="Modèle 3D : Marinade poisson"/>
              <p:cNvPicPr>
                <a:picLocks noGrp="1" noRot="1" noChangeAspect="1" noMove="1" noResize="1" noEditPoints="1" noAdjustHandles="1" noChangeArrowheads="1" noChangeShapeType="1" noCrop="1"/>
              </p:cNvPicPr>
              <p:nvPr/>
            </p:nvPicPr>
            <p:blipFill>
              <a:blip r:embed="rId31"/>
              <a:stretch>
                <a:fillRect/>
              </a:stretch>
            </p:blipFill>
            <p:spPr>
              <a:xfrm>
                <a:off x="-1721643" y="4253348"/>
                <a:ext cx="1443286" cy="2818653"/>
              </a:xfrm>
              <a:prstGeom prst="rect">
                <a:avLst/>
              </a:prstGeom>
            </p:spPr>
          </p:pic>
        </mc:Fallback>
      </mc:AlternateContent>
      <p:sp>
        <p:nvSpPr>
          <p:cNvPr id="34" name="Titre17"/>
          <p:cNvSpPr txBox="1"/>
          <p:nvPr/>
        </p:nvSpPr>
        <p:spPr>
          <a:xfrm>
            <a:off x="685800" y="914400"/>
            <a:ext cx="50292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Les Essentiels</a:t>
            </a:r>
          </a:p>
        </p:txBody>
      </p:sp>
      <p:sp>
        <p:nvSpPr>
          <p:cNvPr id="35" name="Body17"/>
          <p:cNvSpPr txBox="1"/>
          <p:nvPr/>
        </p:nvSpPr>
        <p:spPr>
          <a:xfrm>
            <a:off x="685800" y="2057400"/>
            <a:ext cx="4846320" cy="1463040"/>
          </a:xfrm>
          <a:prstGeom prst="rect">
            <a:avLst/>
          </a:prstGeom>
          <a:noFill/>
        </p:spPr>
        <p:txBody>
          <a:bodyPr wrap="square" lIns="0" rIns="0" tIns="0" bIns="0" anchor="t">
            <a:noAutofit/>
          </a:bodyPr>
          <a:lstStyle/>
          <a:p>
            <a:pPr algn="l">
              <a:lnSpc>
                <a:spcPct val="112000"/>
              </a:lnSpc>
              <a:spcAft>
                <a:spcPts val="1000"/>
              </a:spcAft>
            </a:pPr>
            <a:r>
              <a:rPr sz="1800">
                <a:solidFill>
                  <a:srgbClr val="7B1421"/>
                </a:solidFill>
                <a:latin typeface="Montserrat SemiBold"/>
              </a:rPr>
              <a:t>Pâte d'arachide</a:t>
            </a:r>
            <a:r>
              <a:rPr sz="1800">
                <a:solidFill>
                  <a:srgbClr val="2A070D"/>
                </a:solidFill>
                <a:latin typeface="Montserrat Medium"/>
              </a:rPr>
              <a:t> : la sauce arachide</a:t>
            </a:r>
          </a:p>
          <a:p>
            <a:pPr algn="l">
              <a:lnSpc>
                <a:spcPct val="112000"/>
              </a:lnSpc>
              <a:spcAft>
                <a:spcPts val="1000"/>
              </a:spcAft>
            </a:pPr>
            <a:r>
              <a:rPr sz="1800">
                <a:solidFill>
                  <a:srgbClr val="7B1421"/>
                </a:solidFill>
                <a:latin typeface="Montserrat SemiBold"/>
              </a:rPr>
              <a:t>Huile rouge</a:t>
            </a:r>
            <a:r>
              <a:rPr sz="1800">
                <a:solidFill>
                  <a:srgbClr val="2A070D"/>
                </a:solidFill>
                <a:latin typeface="Montserrat Medium"/>
              </a:rPr>
              <a:t> : les sauces traditionnelles</a:t>
            </a:r>
          </a:p>
        </p:txBody>
      </p:sp>
      <p:sp>
        <p:nvSpPr>
          <p:cNvPr id="36" name="!!Accent"/>
          <p:cNvSpPr/>
          <p:nvPr/>
        </p:nvSpPr>
        <p:spPr>
          <a:xfrm>
            <a:off x="685800" y="338328"/>
            <a:ext cx="384048" cy="32004"/>
          </a:xfrm>
          <a:prstGeom prst="rect">
            <a:avLst/>
          </a:prstGeom>
          <a:solidFill>
            <a:srgbClr val="F9A825"/>
          </a:solidFill>
          <a:ln>
            <a:noFill/>
          </a:ln>
        </p:spPr>
        <p:txBody>
          <a:bodyPr rtlCol="0" anchor="ctr"/>
          <a:lstStyle/>
          <a:p/>
        </p:txBody>
      </p:sp>
      <p:sp>
        <p:nvSpPr>
          <p:cNvPr id="37" name="Kicker17"/>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02 · Essentiels · 2 produits</a:t>
            </a:r>
          </a:p>
        </p:txBody>
      </p:sp>
      <p:sp>
        <p:nvSpPr>
          <p:cNvPr id="38" name="Num17"/>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16</a:t>
            </a:r>
          </a:p>
        </p:txBody>
      </p:sp>
      <p:sp>
        <p:nvSpPr>
          <p:cNvPr id="39"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40"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41"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42" name="!!Logo" descr="Logo Marin'Or Ivoire"/>
          <p:cNvPicPr>
            <a:picLocks noChangeAspect="1"/>
          </p:cNvPicPr>
          <p:nvPr/>
        </p:nvPicPr>
        <p:blipFill>
          <a:blip r:embed="rId32"/>
          <a:stretch>
            <a:fillRect/>
          </a:stretch>
        </p:blipFill>
        <p:spPr>
          <a:xfrm>
            <a:off x="10546080" y="311488"/>
            <a:ext cx="960120" cy="50299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decel="100000"/>
                                        <p:tgtEl>
                                          <p:spTgt spid="34"/>
                                        </p:tgtEl>
                                      </p:cBhvr>
                                    </p:animEffect>
                                    <p:anim calcmode="lin" valueType="num">
                                      <p:cBhvr>
                                        <p:cTn id="8" dur="500" decel="100000" fill="hold"/>
                                        <p:tgtEl>
                                          <p:spTgt spid="34"/>
                                        </p:tgtEl>
                                        <p:attrNameLst>
                                          <p:attrName>ppt_x</p:attrName>
                                        </p:attrNameLst>
                                      </p:cBhvr>
                                      <p:tavLst>
                                        <p:tav tm="0">
                                          <p:val>
                                            <p:strVal val="#ppt_x"/>
                                          </p:val>
                                        </p:tav>
                                        <p:tav tm="100000">
                                          <p:val>
                                            <p:strVal val="#ppt_x"/>
                                          </p:val>
                                        </p:tav>
                                      </p:tavLst>
                                    </p:anim>
                                    <p:anim calcmode="lin" valueType="num">
                                      <p:cBhvr>
                                        <p:cTn id="9" dur="500" decel="100000" fill="hold"/>
                                        <p:tgtEl>
                                          <p:spTgt spid="34"/>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500" decel="100000"/>
                                        <p:tgtEl>
                                          <p:spTgt spid="37"/>
                                        </p:tgtEl>
                                      </p:cBhvr>
                                    </p:animEffect>
                                    <p:anim calcmode="lin" valueType="num">
                                      <p:cBhvr>
                                        <p:cTn id="13" dur="500" decel="100000" fill="hold"/>
                                        <p:tgtEl>
                                          <p:spTgt spid="37"/>
                                        </p:tgtEl>
                                        <p:attrNameLst>
                                          <p:attrName>ppt_x</p:attrName>
                                        </p:attrNameLst>
                                      </p:cBhvr>
                                      <p:tavLst>
                                        <p:tav tm="0">
                                          <p:val>
                                            <p:strVal val="#ppt_x"/>
                                          </p:val>
                                        </p:tav>
                                        <p:tav tm="100000">
                                          <p:val>
                                            <p:strVal val="#ppt_x"/>
                                          </p:val>
                                        </p:tav>
                                      </p:tavLst>
                                    </p:anim>
                                    <p:anim calcmode="lin" valueType="num">
                                      <p:cBhvr>
                                        <p:cTn id="14" dur="500" decel="100000" fill="hold"/>
                                        <p:tgtEl>
                                          <p:spTgt spid="37"/>
                                        </p:tgtEl>
                                        <p:attrNameLst>
                                          <p:attrName>ppt_y</p:attrName>
                                        </p:attrNameLst>
                                      </p:cBhvr>
                                      <p:tavLst>
                                        <p:tav tm="0">
                                          <p:val>
                                            <p:strVal val="#ppt_y+0.0278"/>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500" decel="100000"/>
                                        <p:tgtEl>
                                          <p:spTgt spid="38"/>
                                        </p:tgtEl>
                                      </p:cBhvr>
                                    </p:animEffect>
                                    <p:anim calcmode="lin" valueType="num">
                                      <p:cBhvr>
                                        <p:cTn id="18" dur="500" decel="100000" fill="hold"/>
                                        <p:tgtEl>
                                          <p:spTgt spid="38"/>
                                        </p:tgtEl>
                                        <p:attrNameLst>
                                          <p:attrName>ppt_x</p:attrName>
                                        </p:attrNameLst>
                                      </p:cBhvr>
                                      <p:tavLst>
                                        <p:tav tm="0">
                                          <p:val>
                                            <p:strVal val="#ppt_x"/>
                                          </p:val>
                                        </p:tav>
                                        <p:tav tm="100000">
                                          <p:val>
                                            <p:strVal val="#ppt_x"/>
                                          </p:val>
                                        </p:tav>
                                      </p:tavLst>
                                    </p:anim>
                                    <p:anim calcmode="lin" valueType="num">
                                      <p:cBhvr>
                                        <p:cTn id="19" dur="500" decel="100000" fill="hold"/>
                                        <p:tgtEl>
                                          <p:spTgt spid="38"/>
                                        </p:tgtEl>
                                        <p:attrNameLst>
                                          <p:attrName>ppt_y</p:attrName>
                                        </p:attrNameLst>
                                      </p:cBhvr>
                                      <p:tavLst>
                                        <p:tav tm="0">
                                          <p:val>
                                            <p:strVal val="#ppt_y+0.0278"/>
                                          </p:val>
                                        </p:tav>
                                        <p:tav tm="100000">
                                          <p:val>
                                            <p:strVal val="#ppt_y"/>
                                          </p:val>
                                        </p:tav>
                                      </p:tavLst>
                                    </p:anim>
                                  </p:childTnLst>
                                </p:cTn>
                              </p:par>
                              <p:par>
                                <p:cTn id="20"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1" dur="2600" fill="hold"/>
                                        <p:tgtEl>
                                          <p:spTgt spid="39"/>
                                        </p:tgtEl>
                                        <p:attrNameLst>
                                          <p:attrName>ppt_x</p:attrName>
                                          <p:attrName>ppt_y</p:attrName>
                                        </p:attrNameLst>
                                      </p:cBhvr>
                                      <p:rCtr x="0" y="0"/>
                                    </p:animMotion>
                                  </p:childTnLst>
                                </p:cTn>
                              </p:par>
                              <p:par>
                                <p:cTn id="22"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3" dur="3150" fill="hold"/>
                                        <p:tgtEl>
                                          <p:spTgt spid="40"/>
                                        </p:tgtEl>
                                        <p:attrNameLst>
                                          <p:attrName>ppt_x</p:attrName>
                                          <p:attrName>ppt_y</p:attrName>
                                        </p:attrNameLst>
                                      </p:cBhvr>
                                      <p:rCtr x="0" y="0"/>
                                    </p:animMotion>
                                  </p:childTnLst>
                                </p:cTn>
                              </p:par>
                              <p:par>
                                <p:cTn id="24"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5" dur="3700" fill="hold"/>
                                        <p:tgtEl>
                                          <p:spTgt spid="41"/>
                                        </p:tgtEl>
                                        <p:attrNameLst>
                                          <p:attrName>ppt_x</p:attrName>
                                          <p:attrName>ppt_y</p:attrName>
                                        </p:attrNameLst>
                                      </p:cBhvr>
                                      <p:rCtr x="0" y="0"/>
                                    </p:animMotion>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wipe(left)">
                                      <p:cBhvr>
                                        <p:cTn id="29" dur="400" decel="100000"/>
                                        <p:tgtEl>
                                          <p:spTgt spid="36"/>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500" decel="100000"/>
                                        <p:tgtEl>
                                          <p:spTgt spid="35"/>
                                        </p:tgtEl>
                                      </p:cBhvr>
                                    </p:animEffect>
                                    <p:anim calcmode="lin" valueType="num">
                                      <p:cBhvr>
                                        <p:cTn id="36" dur="500" decel="100000" fill="hold"/>
                                        <p:tgtEl>
                                          <p:spTgt spid="35"/>
                                        </p:tgtEl>
                                        <p:attrNameLst>
                                          <p:attrName>ppt_x</p:attrName>
                                        </p:attrNameLst>
                                      </p:cBhvr>
                                      <p:tavLst>
                                        <p:tav tm="0">
                                          <p:val>
                                            <p:strVal val="#ppt_x"/>
                                          </p:val>
                                        </p:tav>
                                        <p:tav tm="100000">
                                          <p:val>
                                            <p:strVal val="#ppt_x"/>
                                          </p:val>
                                        </p:tav>
                                      </p:tavLst>
                                    </p:anim>
                                    <p:anim calcmode="lin" valueType="num">
                                      <p:cBhvr>
                                        <p:cTn id="37" dur="500" decel="100000" fill="hold"/>
                                        <p:tgtEl>
                                          <p:spTgt spid="35"/>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animBg="1"/>
      <p:bldP spid="37" grpId="0"/>
      <p:bldP spid="38" grpId="0"/>
      <p:bldP spid="39" grpId="0" animBg="1"/>
      <p:bldP spid="40" grpId="0" animBg="1"/>
      <p:bldP spid="41"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7B1421"/>
          </a:solidFill>
          <a:ln>
            <a:noFill/>
          </a:ln>
        </p:spPr>
        <p:txBody>
          <a:bodyPr rtlCol="0" anchor="ctr"/>
          <a:lstStyle/>
          <a:p/>
        </p:txBody>
      </p:sp>
      <p:pic>
        <p:nvPicPr>
          <p:cNvPr id="3" name="!!WM" descr="Filigrane : icône éléphant Marin’Or (décoratif)"/>
          <p:cNvPicPr>
            <a:picLocks noChangeAspect="1"/>
          </p:cNvPicPr>
          <p:nvPr/>
        </p:nvPicPr>
        <p:blipFill>
          <a:blip r:embed="rId2">
            <a:alphaModFix amt="7000"/>
          </a:blip>
          <a:srcRect/>
          <a:stretch>
            <a:fillRect/>
          </a:stretch>
        </p:blipFill>
        <p:spPr>
          <a:xfrm>
            <a:off x="7056729" y="3253165"/>
            <a:ext cx="6583680" cy="4506043"/>
          </a:xfrm>
          <a:prstGeom prst="rect">
            <a:avLst/>
          </a:prstGeom>
        </p:spPr>
      </p:pic>
      <p:sp>
        <p:nvSpPr>
          <p:cNvPr id="4" name="!!Tier0"/>
          <p:cNvSpPr/>
          <p:nvPr/>
        </p:nvSpPr>
        <p:spPr>
          <a:xfrm>
            <a:off x="4533600" y="3014280"/>
            <a:ext cx="3124800" cy="3843720"/>
          </a:xfrm>
          <a:prstGeom prst="rect">
            <a:avLst/>
          </a:prstGeom>
          <a:solidFill>
            <a:srgbClr val="5A0E18"/>
          </a:solidFill>
          <a:ln>
            <a:noFill/>
          </a:ln>
        </p:spPr>
        <p:txBody>
          <a:bodyPr rtlCol="0" anchor="ctr"/>
          <a:lstStyle/>
          <a:p/>
        </p:txBody>
      </p:sp>
      <p:sp>
        <p:nvSpPr>
          <p:cNvPr id="5" name="!!TierEdge0"/>
          <p:cNvSpPr/>
          <p:nvPr/>
        </p:nvSpPr>
        <p:spPr>
          <a:xfrm>
            <a:off x="4533600" y="3014280"/>
            <a:ext cx="3124800" cy="22860"/>
          </a:xfrm>
          <a:prstGeom prst="rect">
            <a:avLst/>
          </a:prstGeom>
          <a:solidFill>
            <a:srgbClr val="F9A825"/>
          </a:solidFill>
          <a:ln>
            <a:noFill/>
          </a:ln>
        </p:spPr>
        <p:txBody>
          <a:bodyPr rtlCol="0" anchor="ctr"/>
          <a:lstStyle/>
          <a:p/>
        </p:txBody>
      </p:sp>
      <p:sp>
        <p:nvSpPr>
          <p:cNvPr id="6" name="!!S_paprika"/>
          <p:cNvSpPr/>
          <p:nvPr/>
        </p:nvSpPr>
        <p:spPr>
          <a:xfrm>
            <a:off x="4755710" y="2952277"/>
            <a:ext cx="979300" cy="19586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7" name="!!P_paprika" descr="Modèle 3D : Paprika"/>
              <p:cNvGraphicFramePr>
                <a:graphicFrameLocks noChangeAspect="1"/>
              </p:cNvGraphicFramePr>
              <p:nvPr/>
            </p:nvGraphicFramePr>
            <p:xfrm>
              <a:off x="4829676" y="1876226"/>
              <a:ext cx="831367" cy="1256004"/>
            </p:xfrm>
            <a:graphic>
              <a:graphicData uri="http://schemas.microsoft.com/office/drawing/2017/model3d">
                <am3d:model3d r:embed="rId3">
                  <am3d:spPr>
                    <a:xfrm>
                      <a:off x="0" y="0"/>
                      <a:ext cx="831367" cy="1256004"/>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360000" ay="21120000" az="0"/>
                    <am3d:postTrans dx="0" dy="0" dz="0"/>
                  </am3d:trans>
                  <am3d:raster rName="Office3DRenderer" rVer="16.0.8326">
                    <am3d:blip r:embed="rId4"/>
                  </am3d:raster>
                  <am3d:objViewport viewportSz="179063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P_paprika" descr="Modèle 3D : Paprika"/>
              <p:cNvPicPr>
                <a:picLocks noGrp="1" noRot="1" noChangeAspect="1" noMove="1" noResize="1" noEditPoints="1" noAdjustHandles="1" noChangeArrowheads="1" noChangeShapeType="1" noCrop="1"/>
              </p:cNvPicPr>
              <p:nvPr/>
            </p:nvPicPr>
            <p:blipFill>
              <a:blip r:embed="rId4"/>
              <a:stretch>
                <a:fillRect/>
              </a:stretch>
            </p:blipFill>
            <p:spPr>
              <a:xfrm>
                <a:off x="4829676" y="1876226"/>
                <a:ext cx="831367" cy="1256004"/>
              </a:xfrm>
              <a:prstGeom prst="rect">
                <a:avLst/>
              </a:prstGeom>
            </p:spPr>
          </p:pic>
        </mc:Fallback>
      </mc:AlternateContent>
      <p:sp>
        <p:nvSpPr>
          <p:cNvPr id="8" name="!!S_epice_poulet"/>
          <p:cNvSpPr/>
          <p:nvPr/>
        </p:nvSpPr>
        <p:spPr>
          <a:xfrm>
            <a:off x="5606350" y="2952277"/>
            <a:ext cx="979300" cy="19586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9" name="!!P_epice_poulet" descr="Modèle 3D : Épice spéciale poulet"/>
              <p:cNvGraphicFramePr>
                <a:graphicFrameLocks noChangeAspect="1"/>
              </p:cNvGraphicFramePr>
              <p:nvPr/>
            </p:nvGraphicFramePr>
            <p:xfrm>
              <a:off x="5685432" y="1877505"/>
              <a:ext cx="821135" cy="1253446"/>
            </p:xfrm>
            <a:graphic>
              <a:graphicData uri="http://schemas.microsoft.com/office/drawing/2017/model3d">
                <am3d:model3d r:embed="rId5">
                  <am3d:spPr>
                    <a:xfrm>
                      <a:off x="0" y="0"/>
                      <a:ext cx="821135" cy="1253446"/>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360000" ay="0" az="0"/>
                    <am3d:postTrans dx="0" dy="0" dz="0"/>
                  </am3d:trans>
                  <am3d:raster rName="Office3DRenderer" rVer="16.0.8326">
                    <am3d:blip r:embed="rId6"/>
                  </am3d:raster>
                  <am3d:objViewport viewportSz="179063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 name="!!P_epice_poulet" descr="Modèle 3D : Épice spéciale poulet"/>
              <p:cNvPicPr>
                <a:picLocks noGrp="1" noRot="1" noChangeAspect="1" noMove="1" noResize="1" noEditPoints="1" noAdjustHandles="1" noChangeArrowheads="1" noChangeShapeType="1" noCrop="1"/>
              </p:cNvPicPr>
              <p:nvPr/>
            </p:nvPicPr>
            <p:blipFill>
              <a:blip r:embed="rId6"/>
              <a:stretch>
                <a:fillRect/>
              </a:stretch>
            </p:blipFill>
            <p:spPr>
              <a:xfrm>
                <a:off x="5685432" y="1877505"/>
                <a:ext cx="821135" cy="1253446"/>
              </a:xfrm>
              <a:prstGeom prst="rect">
                <a:avLst/>
              </a:prstGeom>
            </p:spPr>
          </p:pic>
        </mc:Fallback>
      </mc:AlternateContent>
      <p:sp>
        <p:nvSpPr>
          <p:cNvPr id="10" name="!!S_piment"/>
          <p:cNvSpPr/>
          <p:nvPr/>
        </p:nvSpPr>
        <p:spPr>
          <a:xfrm>
            <a:off x="6456990" y="2952277"/>
            <a:ext cx="979300" cy="19586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11" name="!!P_piment" descr="Modèle 3D : Piment en poudre"/>
              <p:cNvGraphicFramePr>
                <a:graphicFrameLocks noChangeAspect="1"/>
              </p:cNvGraphicFramePr>
              <p:nvPr/>
            </p:nvGraphicFramePr>
            <p:xfrm>
              <a:off x="6529677" y="1876226"/>
              <a:ext cx="833925" cy="1256004"/>
            </p:xfrm>
            <a:graphic>
              <a:graphicData uri="http://schemas.microsoft.com/office/drawing/2017/model3d">
                <am3d:model3d r:embed="rId7">
                  <am3d:spPr>
                    <a:xfrm>
                      <a:off x="0" y="0"/>
                      <a:ext cx="833925" cy="1256004"/>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360000" ay="480000" az="0"/>
                    <am3d:postTrans dx="0" dy="0" dz="0"/>
                  </am3d:trans>
                  <am3d:raster rName="Office3DRenderer" rVer="16.0.8326">
                    <am3d:blip r:embed="rId8"/>
                  </am3d:raster>
                  <am3d:objViewport viewportSz="179063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1" name="!!P_piment" descr="Modèle 3D : Piment en poudre"/>
              <p:cNvPicPr>
                <a:picLocks noGrp="1" noRot="1" noChangeAspect="1" noMove="1" noResize="1" noEditPoints="1" noAdjustHandles="1" noChangeArrowheads="1" noChangeShapeType="1" noCrop="1"/>
              </p:cNvPicPr>
              <p:nvPr/>
            </p:nvPicPr>
            <p:blipFill>
              <a:blip r:embed="rId8"/>
              <a:stretch>
                <a:fillRect/>
              </a:stretch>
            </p:blipFill>
            <p:spPr>
              <a:xfrm>
                <a:off x="6529677" y="1876226"/>
                <a:ext cx="833925" cy="1256004"/>
              </a:xfrm>
              <a:prstGeom prst="rect">
                <a:avLst/>
              </a:prstGeom>
            </p:spPr>
          </p:pic>
        </mc:Fallback>
      </mc:AlternateContent>
      <p:sp>
        <p:nvSpPr>
          <p:cNvPr id="12" name="!!Tier1"/>
          <p:cNvSpPr/>
          <p:nvPr/>
        </p:nvSpPr>
        <p:spPr>
          <a:xfrm>
            <a:off x="3309210" y="4334280"/>
            <a:ext cx="5573580" cy="2523720"/>
          </a:xfrm>
          <a:prstGeom prst="rect">
            <a:avLst/>
          </a:prstGeom>
          <a:solidFill>
            <a:srgbClr val="5A0E18"/>
          </a:solidFill>
          <a:ln>
            <a:noFill/>
          </a:ln>
        </p:spPr>
        <p:txBody>
          <a:bodyPr rtlCol="0" anchor="ctr"/>
          <a:lstStyle/>
          <a:p/>
        </p:txBody>
      </p:sp>
      <p:sp>
        <p:nvSpPr>
          <p:cNvPr id="13" name="!!TierEdge1"/>
          <p:cNvSpPr/>
          <p:nvPr/>
        </p:nvSpPr>
        <p:spPr>
          <a:xfrm>
            <a:off x="3309210" y="4334280"/>
            <a:ext cx="5573580" cy="22860"/>
          </a:xfrm>
          <a:prstGeom prst="rect">
            <a:avLst/>
          </a:prstGeom>
          <a:solidFill>
            <a:srgbClr val="F9A825"/>
          </a:solidFill>
          <a:ln>
            <a:noFill/>
          </a:ln>
        </p:spPr>
        <p:txBody>
          <a:bodyPr rtlCol="0" anchor="ctr"/>
          <a:lstStyle/>
          <a:p/>
        </p:txBody>
      </p:sp>
      <p:sp>
        <p:nvSpPr>
          <p:cNvPr id="14" name="!!S_akpi"/>
          <p:cNvSpPr/>
          <p:nvPr/>
        </p:nvSpPr>
        <p:spPr>
          <a:xfrm>
            <a:off x="3513832" y="4253040"/>
            <a:ext cx="1154175" cy="23083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15" name="!!P_akpi" descr="Modèle 3D : Graines d'akpi"/>
              <p:cNvGraphicFramePr>
                <a:graphicFrameLocks noChangeAspect="1"/>
              </p:cNvGraphicFramePr>
              <p:nvPr/>
            </p:nvGraphicFramePr>
            <p:xfrm>
              <a:off x="3599499" y="2983330"/>
              <a:ext cx="982841" cy="1483306"/>
            </p:xfrm>
            <a:graphic>
              <a:graphicData uri="http://schemas.microsoft.com/office/drawing/2017/model3d">
                <am3d:model3d r:embed="rId9">
                  <am3d:spPr>
                    <a:xfrm>
                      <a:off x="0" y="0"/>
                      <a:ext cx="982841" cy="1483306"/>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360000" ay="20880000" az="0"/>
                    <am3d:postTrans dx="0" dy="0" dz="0"/>
                  </am3d:trans>
                  <am3d:raster rName="Office3DRenderer" rVer="16.0.8326">
                    <am3d:blip r:embed="rId10"/>
                  </am3d:raster>
                  <am3d:objViewport viewportSz="211039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5" name="!!P_akpi" descr="Modèle 3D : Graines d'akpi"/>
              <p:cNvPicPr>
                <a:picLocks noGrp="1" noRot="1" noChangeAspect="1" noMove="1" noResize="1" noEditPoints="1" noAdjustHandles="1" noChangeArrowheads="1" noChangeShapeType="1" noCrop="1"/>
              </p:cNvPicPr>
              <p:nvPr/>
            </p:nvPicPr>
            <p:blipFill>
              <a:blip r:embed="rId10"/>
              <a:stretch>
                <a:fillRect/>
              </a:stretch>
            </p:blipFill>
            <p:spPr>
              <a:xfrm>
                <a:off x="3599499" y="2983330"/>
                <a:ext cx="982841" cy="1483306"/>
              </a:xfrm>
              <a:prstGeom prst="rect">
                <a:avLst/>
              </a:prstGeom>
            </p:spPr>
          </p:pic>
        </mc:Fallback>
      </mc:AlternateContent>
      <p:sp>
        <p:nvSpPr>
          <p:cNvPr id="16" name="!!S_djoumble"/>
          <p:cNvSpPr/>
          <p:nvPr/>
        </p:nvSpPr>
        <p:spPr>
          <a:xfrm>
            <a:off x="4516372" y="4253040"/>
            <a:ext cx="1154175" cy="23083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17" name="!!P_djoumble" descr="Modèle 3D : Poudre de djoumblé"/>
              <p:cNvGraphicFramePr>
                <a:graphicFrameLocks noChangeAspect="1"/>
              </p:cNvGraphicFramePr>
              <p:nvPr/>
            </p:nvGraphicFramePr>
            <p:xfrm>
              <a:off x="4603546" y="2986345"/>
              <a:ext cx="979826" cy="1477276"/>
            </p:xfrm>
            <a:graphic>
              <a:graphicData uri="http://schemas.microsoft.com/office/drawing/2017/model3d">
                <am3d:model3d r:embed="rId11">
                  <am3d:spPr>
                    <a:xfrm>
                      <a:off x="0" y="0"/>
                      <a:ext cx="979826" cy="1477276"/>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360000" ay="21240000" az="0"/>
                    <am3d:postTrans dx="0" dy="0" dz="0"/>
                  </am3d:trans>
                  <am3d:raster rName="Office3DRenderer" rVer="16.0.8326">
                    <am3d:blip r:embed="rId12"/>
                  </am3d:raster>
                  <am3d:objViewport viewportSz="211039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7" name="!!P_djoumble" descr="Modèle 3D : Poudre de djoumblé"/>
              <p:cNvPicPr>
                <a:picLocks noGrp="1" noRot="1" noChangeAspect="1" noMove="1" noResize="1" noEditPoints="1" noAdjustHandles="1" noChangeArrowheads="1" noChangeShapeType="1" noCrop="1"/>
              </p:cNvPicPr>
              <p:nvPr/>
            </p:nvPicPr>
            <p:blipFill>
              <a:blip r:embed="rId12"/>
              <a:stretch>
                <a:fillRect/>
              </a:stretch>
            </p:blipFill>
            <p:spPr>
              <a:xfrm>
                <a:off x="4603546" y="2986345"/>
                <a:ext cx="979826" cy="1477276"/>
              </a:xfrm>
              <a:prstGeom prst="rect">
                <a:avLst/>
              </a:prstGeom>
            </p:spPr>
          </p:pic>
        </mc:Fallback>
      </mc:AlternateContent>
      <p:sp>
        <p:nvSpPr>
          <p:cNvPr id="18" name="!!S_epice_poisson"/>
          <p:cNvSpPr/>
          <p:nvPr/>
        </p:nvSpPr>
        <p:spPr>
          <a:xfrm>
            <a:off x="5518912" y="4253040"/>
            <a:ext cx="1154175" cy="23083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19" name="!!P_epice_poisson" descr="Modèle 3D : Épice spéciale poisson"/>
              <p:cNvGraphicFramePr>
                <a:graphicFrameLocks noChangeAspect="1"/>
              </p:cNvGraphicFramePr>
              <p:nvPr/>
            </p:nvGraphicFramePr>
            <p:xfrm>
              <a:off x="5612116" y="2986345"/>
              <a:ext cx="967766" cy="1477276"/>
            </p:xfrm>
            <a:graphic>
              <a:graphicData uri="http://schemas.microsoft.com/office/drawing/2017/model3d">
                <am3d:model3d r:embed="rId13">
                  <am3d:spPr>
                    <a:xfrm>
                      <a:off x="0" y="0"/>
                      <a:ext cx="967766" cy="1477276"/>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360000" ay="0" az="0"/>
                    <am3d:postTrans dx="0" dy="0" dz="0"/>
                  </am3d:trans>
                  <am3d:raster rName="Office3DRenderer" rVer="16.0.8326">
                    <am3d:blip r:embed="rId14"/>
                  </am3d:raster>
                  <am3d:objViewport viewportSz="211039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9" name="!!P_epice_poisson" descr="Modèle 3D : Épice spéciale poisson"/>
              <p:cNvPicPr>
                <a:picLocks noGrp="1" noRot="1" noChangeAspect="1" noMove="1" noResize="1" noEditPoints="1" noAdjustHandles="1" noChangeArrowheads="1" noChangeShapeType="1" noCrop="1"/>
              </p:cNvPicPr>
              <p:nvPr/>
            </p:nvPicPr>
            <p:blipFill>
              <a:blip r:embed="rId14"/>
              <a:stretch>
                <a:fillRect/>
              </a:stretch>
            </p:blipFill>
            <p:spPr>
              <a:xfrm>
                <a:off x="5612116" y="2986345"/>
                <a:ext cx="967766" cy="1477276"/>
              </a:xfrm>
              <a:prstGeom prst="rect">
                <a:avLst/>
              </a:prstGeom>
            </p:spPr>
          </p:pic>
        </mc:Fallback>
      </mc:AlternateContent>
      <p:sp>
        <p:nvSpPr>
          <p:cNvPr id="20" name="!!S_crevette"/>
          <p:cNvSpPr/>
          <p:nvPr/>
        </p:nvSpPr>
        <p:spPr>
          <a:xfrm>
            <a:off x="6521452" y="4253040"/>
            <a:ext cx="1154175" cy="23083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21" name="!!P_crevette" descr="Modèle 3D : Poudre de crevettes séchées"/>
              <p:cNvGraphicFramePr>
                <a:graphicFrameLocks noChangeAspect="1"/>
              </p:cNvGraphicFramePr>
              <p:nvPr/>
            </p:nvGraphicFramePr>
            <p:xfrm>
              <a:off x="6607119" y="2986345"/>
              <a:ext cx="982841" cy="1477276"/>
            </p:xfrm>
            <a:graphic>
              <a:graphicData uri="http://schemas.microsoft.com/office/drawing/2017/model3d">
                <am3d:model3d r:embed="rId15">
                  <am3d:spPr>
                    <a:xfrm>
                      <a:off x="0" y="0"/>
                      <a:ext cx="982841" cy="1477276"/>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360000" ay="360000" az="0"/>
                    <am3d:postTrans dx="0" dy="0" dz="0"/>
                  </am3d:trans>
                  <am3d:raster rName="Office3DRenderer" rVer="16.0.8326">
                    <am3d:blip r:embed="rId16"/>
                  </am3d:raster>
                  <am3d:objViewport viewportSz="211039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1" name="!!P_crevette" descr="Modèle 3D : Poudre de crevettes séchées"/>
              <p:cNvPicPr>
                <a:picLocks noGrp="1" noRot="1" noChangeAspect="1" noMove="1" noResize="1" noEditPoints="1" noAdjustHandles="1" noChangeArrowheads="1" noChangeShapeType="1" noCrop="1"/>
              </p:cNvPicPr>
              <p:nvPr/>
            </p:nvPicPr>
            <p:blipFill>
              <a:blip r:embed="rId16"/>
              <a:stretch>
                <a:fillRect/>
              </a:stretch>
            </p:blipFill>
            <p:spPr>
              <a:xfrm>
                <a:off x="6607119" y="2986345"/>
                <a:ext cx="982841" cy="1477276"/>
              </a:xfrm>
              <a:prstGeom prst="rect">
                <a:avLst/>
              </a:prstGeom>
            </p:spPr>
          </p:pic>
        </mc:Fallback>
      </mc:AlternateContent>
      <p:sp>
        <p:nvSpPr>
          <p:cNvPr id="22" name="!!S_poudre_poisson"/>
          <p:cNvSpPr/>
          <p:nvPr/>
        </p:nvSpPr>
        <p:spPr>
          <a:xfrm>
            <a:off x="7523992" y="4253040"/>
            <a:ext cx="1154175" cy="230835"/>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23" name="!!P_poudre_poisson" descr="Modèle 3D : Poudre de poisson sec"/>
              <p:cNvGraphicFramePr>
                <a:graphicFrameLocks noChangeAspect="1"/>
              </p:cNvGraphicFramePr>
              <p:nvPr/>
            </p:nvGraphicFramePr>
            <p:xfrm>
              <a:off x="7608152" y="2983330"/>
              <a:ext cx="985855" cy="1483306"/>
            </p:xfrm>
            <a:graphic>
              <a:graphicData uri="http://schemas.microsoft.com/office/drawing/2017/model3d">
                <am3d:model3d r:embed="rId17">
                  <am3d:spPr>
                    <a:xfrm>
                      <a:off x="0" y="0"/>
                      <a:ext cx="985855" cy="1483306"/>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360000" ay="720000" az="0"/>
                    <am3d:postTrans dx="0" dy="0" dz="0"/>
                  </am3d:trans>
                  <am3d:raster rName="Office3DRenderer" rVer="16.0.8326">
                    <am3d:blip r:embed="rId18"/>
                  </am3d:raster>
                  <am3d:objViewport viewportSz="211039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3" name="!!P_poudre_poisson" descr="Modèle 3D : Poudre de poisson sec"/>
              <p:cNvPicPr>
                <a:picLocks noGrp="1" noRot="1" noChangeAspect="1" noMove="1" noResize="1" noEditPoints="1" noAdjustHandles="1" noChangeArrowheads="1" noChangeShapeType="1" noCrop="1"/>
              </p:cNvPicPr>
              <p:nvPr/>
            </p:nvPicPr>
            <p:blipFill>
              <a:blip r:embed="rId18"/>
              <a:stretch>
                <a:fillRect/>
              </a:stretch>
            </p:blipFill>
            <p:spPr>
              <a:xfrm>
                <a:off x="7608152" y="2983330"/>
                <a:ext cx="985855" cy="1483306"/>
              </a:xfrm>
              <a:prstGeom prst="rect">
                <a:avLst/>
              </a:prstGeom>
            </p:spPr>
          </p:pic>
        </mc:Fallback>
      </mc:AlternateContent>
      <p:sp>
        <p:nvSpPr>
          <p:cNvPr id="24" name="!!Tier2"/>
          <p:cNvSpPr/>
          <p:nvPr/>
        </p:nvSpPr>
        <p:spPr>
          <a:xfrm>
            <a:off x="2174040" y="6174280"/>
            <a:ext cx="7843920" cy="683720"/>
          </a:xfrm>
          <a:prstGeom prst="rect">
            <a:avLst/>
          </a:prstGeom>
          <a:solidFill>
            <a:srgbClr val="5A0E18"/>
          </a:solidFill>
          <a:ln>
            <a:noFill/>
          </a:ln>
        </p:spPr>
        <p:txBody>
          <a:bodyPr rtlCol="0" anchor="ctr"/>
          <a:lstStyle/>
          <a:p/>
        </p:txBody>
      </p:sp>
      <p:sp>
        <p:nvSpPr>
          <p:cNvPr id="25" name="!!TierEdge2"/>
          <p:cNvSpPr/>
          <p:nvPr/>
        </p:nvSpPr>
        <p:spPr>
          <a:xfrm>
            <a:off x="2174040" y="6174280"/>
            <a:ext cx="7843920" cy="22860"/>
          </a:xfrm>
          <a:prstGeom prst="rect">
            <a:avLst/>
          </a:prstGeom>
          <a:solidFill>
            <a:srgbClr val="F9A825"/>
          </a:solidFill>
          <a:ln>
            <a:noFill/>
          </a:ln>
        </p:spPr>
        <p:txBody>
          <a:bodyPr rtlCol="0" anchor="ctr"/>
          <a:lstStyle/>
          <a:p/>
        </p:txBody>
      </p:sp>
      <p:sp>
        <p:nvSpPr>
          <p:cNvPr id="26" name="!!S_bouillon"/>
          <p:cNvSpPr/>
          <p:nvPr/>
        </p:nvSpPr>
        <p:spPr>
          <a:xfrm>
            <a:off x="2347185" y="6058415"/>
            <a:ext cx="1468950" cy="29379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27" name="!!P_bouillon" descr="Modèle 3D : Bouillon bio de poulet"/>
              <p:cNvGraphicFramePr>
                <a:graphicFrameLocks noChangeAspect="1"/>
              </p:cNvGraphicFramePr>
              <p:nvPr/>
            </p:nvGraphicFramePr>
            <p:xfrm>
              <a:off x="2454297" y="4449708"/>
              <a:ext cx="1254725" cy="1884007"/>
            </p:xfrm>
            <a:graphic>
              <a:graphicData uri="http://schemas.microsoft.com/office/drawing/2017/model3d">
                <am3d:model3d r:embed="rId19">
                  <am3d:spPr>
                    <a:xfrm>
                      <a:off x="0" y="0"/>
                      <a:ext cx="1254725" cy="1884007"/>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420000" ay="20760000" az="0"/>
                    <am3d:postTrans dx="0" dy="0" dz="0"/>
                  </am3d:trans>
                  <am3d:raster rName="Office3DRenderer" rVer="16.0.8326">
                    <am3d:blip r:embed="rId20"/>
                  </am3d:raster>
                  <am3d:objViewport viewportSz="2685957"/>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7" name="!!P_bouillon" descr="Modèle 3D : Bouillon bio de poulet"/>
              <p:cNvPicPr>
                <a:picLocks noGrp="1" noRot="1" noChangeAspect="1" noMove="1" noResize="1" noEditPoints="1" noAdjustHandles="1" noChangeArrowheads="1" noChangeShapeType="1" noCrop="1"/>
              </p:cNvPicPr>
              <p:nvPr/>
            </p:nvPicPr>
            <p:blipFill>
              <a:blip r:embed="rId20"/>
              <a:stretch>
                <a:fillRect/>
              </a:stretch>
            </p:blipFill>
            <p:spPr>
              <a:xfrm>
                <a:off x="2454297" y="4449708"/>
                <a:ext cx="1254725" cy="1884007"/>
              </a:xfrm>
              <a:prstGeom prst="rect">
                <a:avLst/>
              </a:prstGeom>
            </p:spPr>
          </p:pic>
        </mc:Fallback>
      </mc:AlternateContent>
      <p:sp>
        <p:nvSpPr>
          <p:cNvPr id="28" name="!!S_huile"/>
          <p:cNvSpPr/>
          <p:nvPr/>
        </p:nvSpPr>
        <p:spPr>
          <a:xfrm>
            <a:off x="3784740" y="6143770"/>
            <a:ext cx="693000" cy="13860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29" name="!!P_huile" descr="Modèle 3D : Huile rouge"/>
              <p:cNvGraphicFramePr>
                <a:graphicFrameLocks noChangeAspect="1"/>
              </p:cNvGraphicFramePr>
              <p:nvPr/>
            </p:nvGraphicFramePr>
            <p:xfrm>
              <a:off x="3842031" y="4637521"/>
              <a:ext cx="578416" cy="1687332"/>
            </p:xfrm>
            <a:graphic>
              <a:graphicData uri="http://schemas.microsoft.com/office/drawing/2017/model3d">
                <am3d:model3d r:embed="rId21">
                  <am3d:spPr>
                    <a:xfrm>
                      <a:off x="0" y="0"/>
                      <a:ext cx="578416" cy="1687332"/>
                    </a:xfrm>
                    <a:prstGeom prst="rect">
                      <a:avLst/>
                    </a:prstGeom>
                  </am3d:spPr>
                  <am3d:camera>
                    <am3d:pos x="0" y="0" z="67740115"/>
                    <am3d:up dx="0" dy="36000000" dz="0"/>
                    <am3d:lookAt x="0" y="0" z="0"/>
                    <am3d:perspective fov="2700000"/>
                  </am3d:camera>
                  <am3d:trans>
                    <am3d:meterPerModelUnit n="54655" d="1000000"/>
                    <am3d:preTrans dx="0" dy="-18000000" dz="1652"/>
                    <am3d:scale>
                      <am3d:sx n="1000000" d="1000000"/>
                      <am3d:sy n="1000000" d="1000000"/>
                      <am3d:sz n="1000000" d="1000000"/>
                    </am3d:scale>
                    <am3d:rot ax="420000" ay="21000000" az="0"/>
                    <am3d:postTrans dx="0" dy="0" dz="0"/>
                  </am3d:trans>
                  <am3d:raster rName="Office3DRenderer" rVer="16.0.8326">
                    <am3d:blip r:embed="rId22"/>
                  </am3d:raster>
                  <am3d:objViewport viewportSz="2395807"/>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9" name="!!P_huile" descr="Modèle 3D : Huile rouge"/>
              <p:cNvPicPr>
                <a:picLocks noGrp="1" noRot="1" noChangeAspect="1" noMove="1" noResize="1" noEditPoints="1" noAdjustHandles="1" noChangeArrowheads="1" noChangeShapeType="1" noCrop="1"/>
              </p:cNvPicPr>
              <p:nvPr/>
            </p:nvPicPr>
            <p:blipFill>
              <a:blip r:embed="rId22"/>
              <a:stretch>
                <a:fillRect/>
              </a:stretch>
            </p:blipFill>
            <p:spPr>
              <a:xfrm>
                <a:off x="3842031" y="4637521"/>
                <a:ext cx="578416" cy="1687332"/>
              </a:xfrm>
              <a:prstGeom prst="rect">
                <a:avLst/>
              </a:prstGeom>
            </p:spPr>
          </p:pic>
        </mc:Fallback>
      </mc:AlternateContent>
      <p:sp>
        <p:nvSpPr>
          <p:cNvPr id="30" name="!!S_marinade_poulet"/>
          <p:cNvSpPr/>
          <p:nvPr/>
        </p:nvSpPr>
        <p:spPr>
          <a:xfrm>
            <a:off x="4502310" y="6119977"/>
            <a:ext cx="909300" cy="18186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31" name="!!P_marinade_poulet" descr="Modèle 3D : Marinade poulet"/>
              <p:cNvGraphicFramePr>
                <a:graphicFrameLocks noChangeAspect="1"/>
              </p:cNvGraphicFramePr>
              <p:nvPr/>
            </p:nvGraphicFramePr>
            <p:xfrm>
              <a:off x="4576611" y="4840155"/>
              <a:ext cx="760696" cy="1476821"/>
            </p:xfrm>
            <a:graphic>
              <a:graphicData uri="http://schemas.microsoft.com/office/drawing/2017/model3d">
                <am3d:model3d r:embed="rId23">
                  <am3d:spPr>
                    <a:xfrm>
                      <a:off x="0" y="0"/>
                      <a:ext cx="760696" cy="1476821"/>
                    </a:xfrm>
                    <a:prstGeom prst="rect">
                      <a:avLst/>
                    </a:prstGeom>
                  </am3d:spPr>
                  <am3d:camera>
                    <am3d:pos x="0" y="0" z="67740115"/>
                    <am3d:up dx="0" dy="36000000" dz="0"/>
                    <am3d:lookAt x="0" y="0" z="0"/>
                    <am3d:perspective fov="2700000"/>
                  </am3d:camera>
                  <am3d:trans>
                    <am3d:meterPerModelUnit n="62952" d="1000000"/>
                    <am3d:preTrans dx="385" dy="-17999999" dz="-917"/>
                    <am3d:scale>
                      <am3d:sx n="1000000" d="1000000"/>
                      <am3d:sy n="1000000" d="1000000"/>
                      <am3d:sz n="1000000" d="1000000"/>
                    </am3d:scale>
                    <am3d:rot ax="420000" ay="21300000" az="0"/>
                    <am3d:postTrans dx="0" dy="0" dz="0"/>
                  </am3d:trans>
                  <am3d:raster rName="Office3DRenderer" rVer="16.0.8326">
                    <am3d:blip r:embed="rId24"/>
                  </am3d:raster>
                  <am3d:objViewport viewportSz="208003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1" name="!!P_marinade_poulet" descr="Modèle 3D : Marinade poulet"/>
              <p:cNvPicPr>
                <a:picLocks noGrp="1" noRot="1" noChangeAspect="1" noMove="1" noResize="1" noEditPoints="1" noAdjustHandles="1" noChangeArrowheads="1" noChangeShapeType="1" noCrop="1"/>
              </p:cNvPicPr>
              <p:nvPr/>
            </p:nvPicPr>
            <p:blipFill>
              <a:blip r:embed="rId24"/>
              <a:stretch>
                <a:fillRect/>
              </a:stretch>
            </p:blipFill>
            <p:spPr>
              <a:xfrm>
                <a:off x="4576611" y="4840155"/>
                <a:ext cx="760696" cy="1476821"/>
              </a:xfrm>
              <a:prstGeom prst="rect">
                <a:avLst/>
              </a:prstGeom>
            </p:spPr>
          </p:pic>
        </mc:Fallback>
      </mc:AlternateContent>
      <p:sp>
        <p:nvSpPr>
          <p:cNvPr id="32" name="!!S_marinade_poisson"/>
          <p:cNvSpPr/>
          <p:nvPr/>
        </p:nvSpPr>
        <p:spPr>
          <a:xfrm>
            <a:off x="5414550" y="6119977"/>
            <a:ext cx="909300" cy="18186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33" name="!!P_marinade_poisson" descr="Modèle 3D : Marinade poisson"/>
              <p:cNvGraphicFramePr>
                <a:graphicFrameLocks noChangeAspect="1"/>
              </p:cNvGraphicFramePr>
              <p:nvPr/>
            </p:nvGraphicFramePr>
            <p:xfrm>
              <a:off x="5488851" y="4840155"/>
              <a:ext cx="760696" cy="1476821"/>
            </p:xfrm>
            <a:graphic>
              <a:graphicData uri="http://schemas.microsoft.com/office/drawing/2017/model3d">
                <am3d:model3d r:embed="rId25">
                  <am3d:spPr>
                    <a:xfrm>
                      <a:off x="0" y="0"/>
                      <a:ext cx="760696" cy="1476821"/>
                    </a:xfrm>
                    <a:prstGeom prst="rect">
                      <a:avLst/>
                    </a:prstGeom>
                  </am3d:spPr>
                  <am3d:camera>
                    <am3d:pos x="0" y="0" z="67740115"/>
                    <am3d:up dx="0" dy="36000000" dz="0"/>
                    <am3d:lookAt x="0" y="0" z="0"/>
                    <am3d:perspective fov="2700000"/>
                  </am3d:camera>
                  <am3d:trans>
                    <am3d:meterPerModelUnit n="62952" d="1000000"/>
                    <am3d:preTrans dx="385" dy="-17999999" dz="-917"/>
                    <am3d:scale>
                      <am3d:sx n="1000000" d="1000000"/>
                      <am3d:sy n="1000000" d="1000000"/>
                      <am3d:sz n="1000000" d="1000000"/>
                    </am3d:scale>
                    <am3d:rot ax="420000" ay="0" az="0"/>
                    <am3d:postTrans dx="0" dy="0" dz="0"/>
                  </am3d:trans>
                  <am3d:raster rName="Office3DRenderer" rVer="16.0.8326">
                    <am3d:blip r:embed="rId26"/>
                  </am3d:raster>
                  <am3d:objViewport viewportSz="208003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3" name="!!P_marinade_poisson" descr="Modèle 3D : Marinade poisson"/>
              <p:cNvPicPr>
                <a:picLocks noGrp="1" noRot="1" noChangeAspect="1" noMove="1" noResize="1" noEditPoints="1" noAdjustHandles="1" noChangeArrowheads="1" noChangeShapeType="1" noCrop="1"/>
              </p:cNvPicPr>
              <p:nvPr/>
            </p:nvPicPr>
            <p:blipFill>
              <a:blip r:embed="rId26"/>
              <a:stretch>
                <a:fillRect/>
              </a:stretch>
            </p:blipFill>
            <p:spPr>
              <a:xfrm>
                <a:off x="5488851" y="4840155"/>
                <a:ext cx="760696" cy="1476821"/>
              </a:xfrm>
              <a:prstGeom prst="rect">
                <a:avLst/>
              </a:prstGeom>
            </p:spPr>
          </p:pic>
        </mc:Fallback>
      </mc:AlternateContent>
      <p:sp>
        <p:nvSpPr>
          <p:cNvPr id="34" name="!!S_marinade_mixte"/>
          <p:cNvSpPr/>
          <p:nvPr/>
        </p:nvSpPr>
        <p:spPr>
          <a:xfrm>
            <a:off x="6326790" y="6119977"/>
            <a:ext cx="909300" cy="18186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35" name="!!P_marinade_mixte" descr="Modèle 3D : Marinade mixte"/>
              <p:cNvGraphicFramePr>
                <a:graphicFrameLocks noChangeAspect="1"/>
              </p:cNvGraphicFramePr>
              <p:nvPr/>
            </p:nvGraphicFramePr>
            <p:xfrm>
              <a:off x="6401091" y="4840155"/>
              <a:ext cx="760696" cy="1476821"/>
            </p:xfrm>
            <a:graphic>
              <a:graphicData uri="http://schemas.microsoft.com/office/drawing/2017/model3d">
                <am3d:model3d r:embed="rId27">
                  <am3d:spPr>
                    <a:xfrm>
                      <a:off x="0" y="0"/>
                      <a:ext cx="760696" cy="1476821"/>
                    </a:xfrm>
                    <a:prstGeom prst="rect">
                      <a:avLst/>
                    </a:prstGeom>
                  </am3d:spPr>
                  <am3d:camera>
                    <am3d:pos x="0" y="0" z="67740115"/>
                    <am3d:up dx="0" dy="36000000" dz="0"/>
                    <am3d:lookAt x="0" y="0" z="0"/>
                    <am3d:perspective fov="2700000"/>
                  </am3d:camera>
                  <am3d:trans>
                    <am3d:meterPerModelUnit n="62952" d="1000000"/>
                    <am3d:preTrans dx="385" dy="-17999999" dz="-917"/>
                    <am3d:scale>
                      <am3d:sx n="1000000" d="1000000"/>
                      <am3d:sy n="1000000" d="1000000"/>
                      <am3d:sz n="1000000" d="1000000"/>
                    </am3d:scale>
                    <am3d:rot ax="420000" ay="300000" az="0"/>
                    <am3d:postTrans dx="0" dy="0" dz="0"/>
                  </am3d:trans>
                  <am3d:raster rName="Office3DRenderer" rVer="16.0.8326">
                    <am3d:blip r:embed="rId28"/>
                  </am3d:raster>
                  <am3d:objViewport viewportSz="208003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5" name="!!P_marinade_mixte" descr="Modèle 3D : Marinade mixte"/>
              <p:cNvPicPr>
                <a:picLocks noGrp="1" noRot="1" noChangeAspect="1" noMove="1" noResize="1" noEditPoints="1" noAdjustHandles="1" noChangeArrowheads="1" noChangeShapeType="1" noCrop="1"/>
              </p:cNvPicPr>
              <p:nvPr/>
            </p:nvPicPr>
            <p:blipFill>
              <a:blip r:embed="rId28"/>
              <a:stretch>
                <a:fillRect/>
              </a:stretch>
            </p:blipFill>
            <p:spPr>
              <a:xfrm>
                <a:off x="6401091" y="4840155"/>
                <a:ext cx="760696" cy="1476821"/>
              </a:xfrm>
              <a:prstGeom prst="rect">
                <a:avLst/>
              </a:prstGeom>
            </p:spPr>
          </p:pic>
        </mc:Fallback>
      </mc:AlternateContent>
      <p:sp>
        <p:nvSpPr>
          <p:cNvPr id="36" name="!!S_arachide"/>
          <p:cNvSpPr/>
          <p:nvPr/>
        </p:nvSpPr>
        <p:spPr>
          <a:xfrm>
            <a:off x="7203960" y="6081400"/>
            <a:ext cx="1260000" cy="25200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37" name="!!P_arachide" descr="Modèle 3D : Pâte d'arachide"/>
              <p:cNvGraphicFramePr>
                <a:graphicFrameLocks noChangeAspect="1"/>
              </p:cNvGraphicFramePr>
              <p:nvPr/>
            </p:nvGraphicFramePr>
            <p:xfrm>
              <a:off x="7107860" y="4993249"/>
              <a:ext cx="1452199" cy="1503983"/>
            </p:xfrm>
            <a:graphic>
              <a:graphicData uri="http://schemas.microsoft.com/office/drawing/2017/model3d">
                <am3d:model3d r:embed="rId29">
                  <am3d:spPr>
                    <a:xfrm>
                      <a:off x="0" y="0"/>
                      <a:ext cx="1452199" cy="1503983"/>
                    </a:xfrm>
                    <a:prstGeom prst="rect">
                      <a:avLst/>
                    </a:prstGeom>
                  </am3d:spPr>
                  <am3d:camera>
                    <am3d:pos x="0" y="0" z="67740115"/>
                    <am3d:up dx="0" dy="36000000" dz="0"/>
                    <am3d:lookAt x="0" y="0" z="0"/>
                    <am3d:perspective fov="2700000"/>
                  </am3d:camera>
                  <am3d:trans>
                    <am3d:meterPerModelUnit n="83084" d="1000000"/>
                    <am3d:preTrans dx="0" dy="-17570055" dz="0"/>
                    <am3d:scale>
                      <am3d:sx n="1000000" d="1000000"/>
                      <am3d:sy n="1000000" d="1000000"/>
                      <am3d:sz n="1000000" d="1000000"/>
                    </am3d:scale>
                    <am3d:rot ax="420000" ay="720000" az="0"/>
                    <am3d:postTrans dx="0" dy="0" dz="0"/>
                  </am3d:trans>
                  <am3d:raster rName="Office3DRenderer" rVer="16.0.8326">
                    <am3d:blip r:embed="rId30"/>
                  </am3d:raster>
                  <am3d:objViewport viewportSz="157603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7" name="!!P_arachide" descr="Modèle 3D : Pâte d'arachide"/>
              <p:cNvPicPr>
                <a:picLocks noGrp="1" noRot="1" noChangeAspect="1" noMove="1" noResize="1" noEditPoints="1" noAdjustHandles="1" noChangeArrowheads="1" noChangeShapeType="1" noCrop="1"/>
              </p:cNvPicPr>
              <p:nvPr/>
            </p:nvPicPr>
            <p:blipFill>
              <a:blip r:embed="rId30"/>
              <a:stretch>
                <a:fillRect/>
              </a:stretch>
            </p:blipFill>
            <p:spPr>
              <a:xfrm>
                <a:off x="7107860" y="4993249"/>
                <a:ext cx="1452199" cy="1503983"/>
              </a:xfrm>
              <a:prstGeom prst="rect">
                <a:avLst/>
              </a:prstGeom>
            </p:spPr>
          </p:pic>
        </mc:Fallback>
      </mc:AlternateContent>
      <p:sp>
        <p:nvSpPr>
          <p:cNvPr id="38" name="!!S_ail"/>
          <p:cNvSpPr/>
          <p:nvPr/>
        </p:nvSpPr>
        <p:spPr>
          <a:xfrm>
            <a:off x="8375865" y="6058415"/>
            <a:ext cx="1468950" cy="293790"/>
          </a:xfrm>
          <a:prstGeom prst="ellipse">
            <a:avLst/>
          </a:prstGeom>
          <a:gradFill rotWithShape="1">
            <a:gsLst>
              <a:gs pos="0">
                <a:srgbClr val="1A0507">
                  <a:alpha val="38000"/>
                </a:srgbClr>
              </a:gs>
              <a:gs pos="100000">
                <a:srgbClr val="1A0507">
                  <a:alpha val="0"/>
                </a:srgbClr>
              </a:gs>
            </a:gsLst>
            <a:path path="circle">
              <a:fillToRect l="50000" t="50000" r="50000" b="50000"/>
            </a:path>
          </a:gradFill>
          <a:ln>
            <a:noFill/>
          </a:ln>
        </p:spPr>
        <p:txBody>
          <a:bodyPr rtlCol="0" anchor="ctr"/>
          <a:lstStyle/>
          <a:p/>
        </p:txBody>
      </p:sp>
      <mc:AlternateContent xmlns:mc="http://schemas.openxmlformats.org/markup-compatibility/2006">
        <mc:Choice xmlns:am3d="http://schemas.microsoft.com/office/drawing/2017/model3d" Requires="am3d">
          <p:graphicFrame>
            <p:nvGraphicFramePr>
              <p:cNvPr id="39" name="!!P_ail" descr="Modèle 3D : Purée d'ail"/>
              <p:cNvGraphicFramePr>
                <a:graphicFrameLocks noChangeAspect="1"/>
              </p:cNvGraphicFramePr>
              <p:nvPr/>
            </p:nvGraphicFramePr>
            <p:xfrm>
              <a:off x="8481058" y="4449708"/>
              <a:ext cx="1258562" cy="1884007"/>
            </p:xfrm>
            <a:graphic>
              <a:graphicData uri="http://schemas.microsoft.com/office/drawing/2017/model3d">
                <am3d:model3d r:embed="rId31">
                  <am3d:spPr>
                    <a:xfrm>
                      <a:off x="0" y="0"/>
                      <a:ext cx="1258562" cy="1884007"/>
                    </a:xfrm>
                    <a:prstGeom prst="rect">
                      <a:avLst/>
                    </a:prstGeom>
                  </am3d:spPr>
                  <am3d:camera>
                    <am3d:pos x="0" y="0" z="67740115"/>
                    <am3d:up dx="0" dy="36000000" dz="0"/>
                    <am3d:lookAt x="0" y="0" z="0"/>
                    <am3d:perspective fov="2700000"/>
                  </am3d:camera>
                  <am3d:trans>
                    <am3d:meterPerModelUnit n="48751" d="1000000"/>
                    <am3d:preTrans dx="0" dy="-18000000" dz="456"/>
                    <am3d:scale>
                      <am3d:sx n="1000000" d="1000000"/>
                      <am3d:sy n="1000000" d="1000000"/>
                      <am3d:sz n="1000000" d="1000000"/>
                    </am3d:scale>
                    <am3d:rot ax="420000" ay="840000" az="0"/>
                    <am3d:postTrans dx="0" dy="0" dz="0"/>
                  </am3d:trans>
                  <am3d:raster rName="Office3DRenderer" rVer="16.0.8326">
                    <am3d:blip r:embed="rId32"/>
                  </am3d:raster>
                  <am3d:objViewport viewportSz="2685957"/>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9" name="!!P_ail" descr="Modèle 3D : Purée d'ail"/>
              <p:cNvPicPr>
                <a:picLocks noGrp="1" noRot="1" noChangeAspect="1" noMove="1" noResize="1" noEditPoints="1" noAdjustHandles="1" noChangeArrowheads="1" noChangeShapeType="1" noCrop="1"/>
              </p:cNvPicPr>
              <p:nvPr/>
            </p:nvPicPr>
            <p:blipFill>
              <a:blip r:embed="rId32"/>
              <a:stretch>
                <a:fillRect/>
              </a:stretch>
            </p:blipFill>
            <p:spPr>
              <a:xfrm>
                <a:off x="8481058" y="4449708"/>
                <a:ext cx="1258562" cy="1884007"/>
              </a:xfrm>
              <a:prstGeom prst="rect">
                <a:avLst/>
              </a:prstGeom>
            </p:spPr>
          </p:pic>
        </mc:Fallback>
      </mc:AlternateContent>
      <p:sp>
        <p:nvSpPr>
          <p:cNvPr id="40" name="Titre18"/>
          <p:cNvSpPr txBox="1"/>
          <p:nvPr/>
        </p:nvSpPr>
        <p:spPr>
          <a:xfrm>
            <a:off x="0" y="384048"/>
            <a:ext cx="12192000" cy="731520"/>
          </a:xfrm>
          <a:prstGeom prst="rect">
            <a:avLst/>
          </a:prstGeom>
          <a:noFill/>
        </p:spPr>
        <p:txBody>
          <a:bodyPr wrap="square" lIns="0" rIns="0" tIns="0" bIns="0" anchor="t">
            <a:noAutofit/>
          </a:bodyPr>
          <a:lstStyle/>
          <a:p>
            <a:pPr algn="ctr">
              <a:lnSpc>
                <a:spcPct val="95000"/>
              </a:lnSpc>
            </a:pPr>
            <a:r>
              <a:rPr sz="4000">
                <a:solidFill>
                  <a:srgbClr val="FFFFFF"/>
                </a:solidFill>
                <a:latin typeface="Cream Heavy"/>
              </a:rPr>
              <a:t>Le vrai goût de chez nous</a:t>
            </a:r>
          </a:p>
        </p:txBody>
      </p:sp>
      <p:sp>
        <p:nvSpPr>
          <p:cNvPr id="41" name="Sub18"/>
          <p:cNvSpPr txBox="1"/>
          <p:nvPr/>
        </p:nvSpPr>
        <p:spPr>
          <a:xfrm>
            <a:off x="0" y="1115568"/>
            <a:ext cx="12192000" cy="365760"/>
          </a:xfrm>
          <a:prstGeom prst="rect">
            <a:avLst/>
          </a:prstGeom>
          <a:noFill/>
        </p:spPr>
        <p:txBody>
          <a:bodyPr wrap="square" lIns="0" rIns="0" tIns="0" bIns="0" anchor="t">
            <a:noAutofit/>
          </a:bodyPr>
          <a:lstStyle/>
          <a:p>
            <a:pPr algn="ctr">
              <a:lnSpc>
                <a:spcPct val="112000"/>
              </a:lnSpc>
              <a:spcAft>
                <a:spcPts val="800"/>
              </a:spcAft>
            </a:pPr>
            <a:r>
              <a:rPr sz="1600">
                <a:solidFill>
                  <a:srgbClr val="FFECD1"/>
                </a:solidFill>
                <a:latin typeface="Montserrat Medium"/>
              </a:rPr>
              <a:t>Marinades et épices à base d'ingrédients 100 % naturels</a:t>
            </a:r>
          </a:p>
        </p:txBody>
      </p:sp>
      <p:sp>
        <p:nvSpPr>
          <p:cNvPr id="42" name="Num18"/>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F9A825"/>
                </a:solidFill>
                <a:latin typeface="Montserrat SemiBold"/>
              </a:rPr>
              <a:t>17</a:t>
            </a:r>
          </a:p>
        </p:txBody>
      </p:sp>
      <p:sp>
        <p:nvSpPr>
          <p:cNvPr id="43" name="!!Dot0"/>
          <p:cNvSpPr/>
          <p:nvPr/>
        </p:nvSpPr>
        <p:spPr>
          <a:xfrm>
            <a:off x="685800" y="6382512"/>
            <a:ext cx="68580" cy="68580"/>
          </a:xfrm>
          <a:prstGeom prst="ellipse">
            <a:avLst/>
          </a:prstGeom>
          <a:solidFill>
            <a:srgbClr val="F9A825">
              <a:alpha val="75000"/>
            </a:srgbClr>
          </a:solidFill>
          <a:ln>
            <a:noFill/>
          </a:ln>
        </p:spPr>
        <p:txBody>
          <a:bodyPr rtlCol="0" anchor="ctr"/>
          <a:lstStyle/>
          <a:p/>
        </p:txBody>
      </p:sp>
      <p:sp>
        <p:nvSpPr>
          <p:cNvPr id="44" name="!!Dot1"/>
          <p:cNvSpPr/>
          <p:nvPr/>
        </p:nvSpPr>
        <p:spPr>
          <a:xfrm>
            <a:off x="832104" y="6382512"/>
            <a:ext cx="68580" cy="68580"/>
          </a:xfrm>
          <a:prstGeom prst="ellipse">
            <a:avLst/>
          </a:prstGeom>
          <a:solidFill>
            <a:srgbClr val="FFECD1">
              <a:alpha val="75000"/>
            </a:srgbClr>
          </a:solidFill>
          <a:ln>
            <a:noFill/>
          </a:ln>
        </p:spPr>
        <p:txBody>
          <a:bodyPr rtlCol="0" anchor="ctr"/>
          <a:lstStyle/>
          <a:p/>
        </p:txBody>
      </p:sp>
      <p:sp>
        <p:nvSpPr>
          <p:cNvPr id="45" name="!!Dot2"/>
          <p:cNvSpPr/>
          <p:nvPr/>
        </p:nvSpPr>
        <p:spPr>
          <a:xfrm>
            <a:off x="978408" y="6382512"/>
            <a:ext cx="68580" cy="68580"/>
          </a:xfrm>
          <a:prstGeom prst="ellipse">
            <a:avLst/>
          </a:prstGeom>
          <a:solidFill>
            <a:srgbClr val="F9A825">
              <a:alpha val="75000"/>
            </a:srgbClr>
          </a:solidFill>
          <a:ln>
            <a:noFill/>
          </a:ln>
        </p:spPr>
        <p:txBody>
          <a:bodyPr rtlCol="0" anchor="ctr"/>
          <a:lstStyle/>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decel="100000"/>
                                        <p:tgtEl>
                                          <p:spTgt spid="40"/>
                                        </p:tgtEl>
                                      </p:cBhvr>
                                    </p:animEffect>
                                    <p:anim calcmode="lin" valueType="num">
                                      <p:cBhvr>
                                        <p:cTn id="8" dur="500" decel="100000" fill="hold"/>
                                        <p:tgtEl>
                                          <p:spTgt spid="40"/>
                                        </p:tgtEl>
                                        <p:attrNameLst>
                                          <p:attrName>ppt_x</p:attrName>
                                        </p:attrNameLst>
                                      </p:cBhvr>
                                      <p:tavLst>
                                        <p:tav tm="0">
                                          <p:val>
                                            <p:strVal val="#ppt_x"/>
                                          </p:val>
                                        </p:tav>
                                        <p:tav tm="100000">
                                          <p:val>
                                            <p:strVal val="#ppt_x"/>
                                          </p:val>
                                        </p:tav>
                                      </p:tavLst>
                                    </p:anim>
                                    <p:anim calcmode="lin" valueType="num">
                                      <p:cBhvr>
                                        <p:cTn id="9" dur="500" decel="100000" fill="hold"/>
                                        <p:tgtEl>
                                          <p:spTgt spid="40"/>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fade">
                                      <p:cBhvr>
                                        <p:cTn id="12" dur="500" decel="100000"/>
                                        <p:tgtEl>
                                          <p:spTgt spid="41"/>
                                        </p:tgtEl>
                                      </p:cBhvr>
                                    </p:animEffect>
                                    <p:anim calcmode="lin" valueType="num">
                                      <p:cBhvr>
                                        <p:cTn id="13" dur="500" decel="100000" fill="hold"/>
                                        <p:tgtEl>
                                          <p:spTgt spid="41"/>
                                        </p:tgtEl>
                                        <p:attrNameLst>
                                          <p:attrName>ppt_x</p:attrName>
                                        </p:attrNameLst>
                                      </p:cBhvr>
                                      <p:tavLst>
                                        <p:tav tm="0">
                                          <p:val>
                                            <p:strVal val="#ppt_x"/>
                                          </p:val>
                                        </p:tav>
                                        <p:tav tm="100000">
                                          <p:val>
                                            <p:strVal val="#ppt_x"/>
                                          </p:val>
                                        </p:tav>
                                      </p:tavLst>
                                    </p:anim>
                                    <p:anim calcmode="lin" valueType="num">
                                      <p:cBhvr>
                                        <p:cTn id="14" dur="500" decel="100000" fill="hold"/>
                                        <p:tgtEl>
                                          <p:spTgt spid="41"/>
                                        </p:tgtEl>
                                        <p:attrNameLst>
                                          <p:attrName>ppt_y</p:attrName>
                                        </p:attrNameLst>
                                      </p:cBhvr>
                                      <p:tavLst>
                                        <p:tav tm="0">
                                          <p:val>
                                            <p:strVal val="#ppt_y+0.0278"/>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fade">
                                      <p:cBhvr>
                                        <p:cTn id="17" dur="500" decel="100000"/>
                                        <p:tgtEl>
                                          <p:spTgt spid="42"/>
                                        </p:tgtEl>
                                      </p:cBhvr>
                                    </p:animEffect>
                                    <p:anim calcmode="lin" valueType="num">
                                      <p:cBhvr>
                                        <p:cTn id="18" dur="500" decel="100000" fill="hold"/>
                                        <p:tgtEl>
                                          <p:spTgt spid="42"/>
                                        </p:tgtEl>
                                        <p:attrNameLst>
                                          <p:attrName>ppt_x</p:attrName>
                                        </p:attrNameLst>
                                      </p:cBhvr>
                                      <p:tavLst>
                                        <p:tav tm="0">
                                          <p:val>
                                            <p:strVal val="#ppt_x"/>
                                          </p:val>
                                        </p:tav>
                                        <p:tav tm="100000">
                                          <p:val>
                                            <p:strVal val="#ppt_x"/>
                                          </p:val>
                                        </p:tav>
                                      </p:tavLst>
                                    </p:anim>
                                    <p:anim calcmode="lin" valueType="num">
                                      <p:cBhvr>
                                        <p:cTn id="19" dur="500" decel="100000" fill="hold"/>
                                        <p:tgtEl>
                                          <p:spTgt spid="42"/>
                                        </p:tgtEl>
                                        <p:attrNameLst>
                                          <p:attrName>ppt_y</p:attrName>
                                        </p:attrNameLst>
                                      </p:cBhvr>
                                      <p:tavLst>
                                        <p:tav tm="0">
                                          <p:val>
                                            <p:strVal val="#ppt_y+0.0278"/>
                                          </p:val>
                                        </p:tav>
                                        <p:tav tm="100000">
                                          <p:val>
                                            <p:strVal val="#ppt_y"/>
                                          </p:val>
                                        </p:tav>
                                      </p:tavLst>
                                    </p:anim>
                                  </p:childTnLst>
                                </p:cTn>
                              </p:par>
                              <p:par>
                                <p:cTn id="20" presetID="0" presetClass="path" presetSubtype="0" repeatCount="indefinite" accel="50000" decel="50000" autoRev="1" fill="hold" grpId="0" nodeType="withEffect">
                                  <p:stCondLst>
                                    <p:cond delay="0"/>
                                  </p:stCondLst>
                                  <p:childTnLst>
                                    <p:animMotion origin="layout" path="M 0 0 L -0.0120 -0.0100 E" pathEditMode="relative" rAng="0" ptsTypes="AA">
                                      <p:cBhvr>
                                        <p:cTn id="21" dur="9000" fill="hold"/>
                                        <p:tgtEl>
                                          <p:spTgt spid="3"/>
                                        </p:tgtEl>
                                        <p:attrNameLst>
                                          <p:attrName>ppt_x</p:attrName>
                                          <p:attrName>ppt_y</p:attrName>
                                        </p:attrNameLst>
                                      </p:cBhvr>
                                      <p:rCtr x="0" y="0"/>
                                    </p:animMotion>
                                  </p:childTnLst>
                                </p:cTn>
                              </p:par>
                              <p:par>
                                <p:cTn id="22"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3" dur="2600" fill="hold"/>
                                        <p:tgtEl>
                                          <p:spTgt spid="43"/>
                                        </p:tgtEl>
                                        <p:attrNameLst>
                                          <p:attrName>ppt_x</p:attrName>
                                          <p:attrName>ppt_y</p:attrName>
                                        </p:attrNameLst>
                                      </p:cBhvr>
                                      <p:rCtr x="0" y="0"/>
                                    </p:animMotion>
                                  </p:childTnLst>
                                </p:cTn>
                              </p:par>
                              <p:par>
                                <p:cTn id="24"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5" dur="3150" fill="hold"/>
                                        <p:tgtEl>
                                          <p:spTgt spid="44"/>
                                        </p:tgtEl>
                                        <p:attrNameLst>
                                          <p:attrName>ppt_x</p:attrName>
                                          <p:attrName>ppt_y</p:attrName>
                                        </p:attrNameLst>
                                      </p:cBhvr>
                                      <p:rCtr x="0" y="0"/>
                                    </p:animMotion>
                                  </p:childTnLst>
                                </p:cTn>
                              </p:par>
                              <p:par>
                                <p:cTn id="26"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7" dur="3700" fill="hold"/>
                                        <p:tgtEl>
                                          <p:spTgt spid="45"/>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P spid="43" grpId="0" animBg="1"/>
      <p:bldP spid="44" grpId="0" animBg="1"/>
      <p:bldP spid="45"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gradFill rotWithShape="1">
            <a:gsLst>
              <a:gs pos="0">
                <a:srgbClr val="8A1828"/>
              </a:gs>
              <a:gs pos="100000">
                <a:srgbClr val="68101C"/>
              </a:gs>
            </a:gsLst>
            <a:lin ang="2100000" scaled="0"/>
          </a:gradFill>
          <a:ln>
            <a:noFill/>
          </a:ln>
        </p:spPr>
        <p:txBody>
          <a:bodyPr rtlCol="0" anchor="ctr"/>
          <a:lstStyle/>
          <a:p/>
        </p:txBody>
      </p:sp>
      <p:pic>
        <p:nvPicPr>
          <p:cNvPr id="3" name="!!WM" descr="Filigrane : icône éléphant Marin’Or (décoratif)"/>
          <p:cNvPicPr>
            <a:picLocks noChangeAspect="1"/>
          </p:cNvPicPr>
          <p:nvPr/>
        </p:nvPicPr>
        <p:blipFill>
          <a:blip r:embed="rId2">
            <a:alphaModFix amt="7000"/>
          </a:blip>
          <a:srcRect/>
          <a:stretch>
            <a:fillRect/>
          </a:stretch>
        </p:blipFill>
        <p:spPr>
          <a:xfrm>
            <a:off x="7056729" y="3253165"/>
            <a:ext cx="6583680" cy="4506043"/>
          </a:xfrm>
          <a:prstGeom prst="rect">
            <a:avLst/>
          </a:prstGeom>
        </p:spPr>
      </p:pic>
      <p:sp>
        <p:nvSpPr>
          <p:cNvPr id="4" name="!!SecNum"/>
          <p:cNvSpPr txBox="1"/>
          <p:nvPr/>
        </p:nvSpPr>
        <p:spPr>
          <a:xfrm>
            <a:off x="3352800" y="868680"/>
            <a:ext cx="5486400" cy="1737360"/>
          </a:xfrm>
          <a:prstGeom prst="rect">
            <a:avLst/>
          </a:prstGeom>
          <a:noFill/>
        </p:spPr>
        <p:txBody>
          <a:bodyPr wrap="square" lIns="0" rIns="0" tIns="0" bIns="0" anchor="ctr">
            <a:noAutofit/>
          </a:bodyPr>
          <a:lstStyle/>
          <a:p>
            <a:pPr algn="ctr"/>
            <a:r>
              <a:rPr sz="12000">
                <a:solidFill>
                  <a:srgbClr val="F9A825"/>
                </a:solidFill>
                <a:latin typeface="Cream Heavy"/>
              </a:rPr>
              <a:t>03</a:t>
            </a:r>
          </a:p>
        </p:txBody>
      </p:sp>
      <p:sp>
        <p:nvSpPr>
          <p:cNvPr id="5" name="!!Title"/>
          <p:cNvSpPr txBox="1"/>
          <p:nvPr/>
        </p:nvSpPr>
        <p:spPr>
          <a:xfrm>
            <a:off x="914400" y="3017520"/>
            <a:ext cx="10363200" cy="822960"/>
          </a:xfrm>
          <a:prstGeom prst="rect">
            <a:avLst/>
          </a:prstGeom>
          <a:noFill/>
        </p:spPr>
        <p:txBody>
          <a:bodyPr wrap="square" lIns="0" rIns="0" tIns="0" bIns="0" anchor="ctr">
            <a:noAutofit/>
          </a:bodyPr>
          <a:lstStyle/>
          <a:p>
            <a:pPr algn="ctr">
              <a:lnSpc>
                <a:spcPct val="95000"/>
              </a:lnSpc>
            </a:pPr>
            <a:r>
              <a:rPr sz="4000">
                <a:solidFill>
                  <a:srgbClr val="FFFFFF"/>
                </a:solidFill>
                <a:latin typeface="Cream Heavy"/>
              </a:rPr>
              <a:t>Identité visuelle et charte graphique</a:t>
            </a:r>
          </a:p>
        </p:txBody>
      </p:sp>
      <p:sp>
        <p:nvSpPr>
          <p:cNvPr id="6" name="!!Accent"/>
          <p:cNvSpPr/>
          <p:nvPr/>
        </p:nvSpPr>
        <p:spPr>
          <a:xfrm>
            <a:off x="685800" y="338328"/>
            <a:ext cx="384048" cy="32004"/>
          </a:xfrm>
          <a:prstGeom prst="rect">
            <a:avLst/>
          </a:prstGeom>
          <a:solidFill>
            <a:srgbClr val="F9A825"/>
          </a:solidFill>
          <a:ln>
            <a:noFill/>
          </a:ln>
        </p:spPr>
        <p:txBody>
          <a:bodyPr rtlCol="0" anchor="ctr"/>
          <a:lstStyle/>
          <a:p/>
        </p:txBody>
      </p:sp>
      <p:sp>
        <p:nvSpPr>
          <p:cNvPr id="7"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F9A825"/>
                </a:solidFill>
                <a:latin typeface="Montserrat SemiBold"/>
              </a:rPr>
              <a:t>03 · Identité visuelle</a:t>
            </a:r>
          </a:p>
        </p:txBody>
      </p:sp>
      <p:sp>
        <p:nvSpPr>
          <p:cNvPr id="8"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F9A825"/>
                </a:solidFill>
                <a:latin typeface="Montserrat SemiBold"/>
              </a:rPr>
              <a:t>18</a:t>
            </a:r>
          </a:p>
        </p:txBody>
      </p:sp>
      <p:sp>
        <p:nvSpPr>
          <p:cNvPr id="9" name="!!Dot0"/>
          <p:cNvSpPr/>
          <p:nvPr/>
        </p:nvSpPr>
        <p:spPr>
          <a:xfrm>
            <a:off x="685800" y="6382512"/>
            <a:ext cx="68580" cy="68580"/>
          </a:xfrm>
          <a:prstGeom prst="ellipse">
            <a:avLst/>
          </a:prstGeom>
          <a:solidFill>
            <a:srgbClr val="F9A825">
              <a:alpha val="75000"/>
            </a:srgbClr>
          </a:solidFill>
          <a:ln>
            <a:noFill/>
          </a:ln>
        </p:spPr>
        <p:txBody>
          <a:bodyPr rtlCol="0" anchor="ctr"/>
          <a:lstStyle/>
          <a:p/>
        </p:txBody>
      </p:sp>
      <p:sp>
        <p:nvSpPr>
          <p:cNvPr id="10" name="!!Dot1"/>
          <p:cNvSpPr/>
          <p:nvPr/>
        </p:nvSpPr>
        <p:spPr>
          <a:xfrm>
            <a:off x="832104" y="6382512"/>
            <a:ext cx="68580" cy="68580"/>
          </a:xfrm>
          <a:prstGeom prst="ellipse">
            <a:avLst/>
          </a:prstGeom>
          <a:solidFill>
            <a:srgbClr val="FFECD1">
              <a:alpha val="75000"/>
            </a:srgbClr>
          </a:solidFill>
          <a:ln>
            <a:noFill/>
          </a:ln>
        </p:spPr>
        <p:txBody>
          <a:bodyPr rtlCol="0" anchor="ctr"/>
          <a:lstStyle/>
          <a:p/>
        </p:txBody>
      </p:sp>
      <p:sp>
        <p:nvSpPr>
          <p:cNvPr id="11" name="!!Dot2"/>
          <p:cNvSpPr/>
          <p:nvPr/>
        </p:nvSpPr>
        <p:spPr>
          <a:xfrm>
            <a:off x="978408" y="6382512"/>
            <a:ext cx="68580" cy="68580"/>
          </a:xfrm>
          <a:prstGeom prst="ellipse">
            <a:avLst/>
          </a:prstGeom>
          <a:solidFill>
            <a:srgbClr val="F9A825">
              <a:alpha val="75000"/>
            </a:srgbClr>
          </a:solidFill>
          <a:ln>
            <a:noFill/>
          </a:ln>
        </p:spPr>
        <p:txBody>
          <a:bodyPr rtlCol="0" anchor="ctr"/>
          <a:lstStyle/>
          <a:p/>
        </p:txBody>
      </p:sp>
      <p:pic>
        <p:nvPicPr>
          <p:cNvPr id="12" name="!!Logo" descr="Logo Marin'Or Ivoire"/>
          <p:cNvPicPr>
            <a:picLocks noChangeAspect="1"/>
          </p:cNvPicPr>
          <p:nvPr/>
        </p:nvPicPr>
        <p:blipFill>
          <a:blip r:embed="rId3"/>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decel="100000"/>
                                        <p:tgtEl>
                                          <p:spTgt spid="4"/>
                                        </p:tgtEl>
                                      </p:cBhvr>
                                    </p:animEffect>
                                    <p:anim calcmode="lin" valueType="num">
                                      <p:cBhvr>
                                        <p:cTn id="8" dur="500" decel="100000" fill="hold"/>
                                        <p:tgtEl>
                                          <p:spTgt spid="4"/>
                                        </p:tgtEl>
                                        <p:attrNameLst>
                                          <p:attrName>ppt_x</p:attrName>
                                        </p:attrNameLst>
                                      </p:cBhvr>
                                      <p:tavLst>
                                        <p:tav tm="0">
                                          <p:val>
                                            <p:strVal val="#ppt_x"/>
                                          </p:val>
                                        </p:tav>
                                        <p:tav tm="100000">
                                          <p:val>
                                            <p:strVal val="#ppt_x"/>
                                          </p:val>
                                        </p:tav>
                                      </p:tavLst>
                                    </p:anim>
                                    <p:anim calcmode="lin" valueType="num">
                                      <p:cBhvr>
                                        <p:cTn id="9" dur="500" decel="100000" fill="hold"/>
                                        <p:tgtEl>
                                          <p:spTgt spid="4"/>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decel="100000"/>
                                        <p:tgtEl>
                                          <p:spTgt spid="5"/>
                                        </p:tgtEl>
                                      </p:cBhvr>
                                    </p:animEffect>
                                    <p:anim calcmode="lin" valueType="num">
                                      <p:cBhvr>
                                        <p:cTn id="13" dur="500" decel="100000" fill="hold"/>
                                        <p:tgtEl>
                                          <p:spTgt spid="5"/>
                                        </p:tgtEl>
                                        <p:attrNameLst>
                                          <p:attrName>ppt_x</p:attrName>
                                        </p:attrNameLst>
                                      </p:cBhvr>
                                      <p:tavLst>
                                        <p:tav tm="0">
                                          <p:val>
                                            <p:strVal val="#ppt_x"/>
                                          </p:val>
                                        </p:tav>
                                        <p:tav tm="100000">
                                          <p:val>
                                            <p:strVal val="#ppt_x"/>
                                          </p:val>
                                        </p:tav>
                                      </p:tavLst>
                                    </p:anim>
                                    <p:anim calcmode="lin" valueType="num">
                                      <p:cBhvr>
                                        <p:cTn id="14" dur="500" decel="100000" fill="hold"/>
                                        <p:tgtEl>
                                          <p:spTgt spid="5"/>
                                        </p:tgtEl>
                                        <p:attrNameLst>
                                          <p:attrName>ppt_y</p:attrName>
                                        </p:attrNameLst>
                                      </p:cBhvr>
                                      <p:tavLst>
                                        <p:tav tm="0">
                                          <p:val>
                                            <p:strVal val="#ppt_y+0.0278"/>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decel="100000"/>
                                        <p:tgtEl>
                                          <p:spTgt spid="7"/>
                                        </p:tgtEl>
                                      </p:cBhvr>
                                    </p:animEffect>
                                    <p:anim calcmode="lin" valueType="num">
                                      <p:cBhvr>
                                        <p:cTn id="18" dur="500" decel="100000" fill="hold"/>
                                        <p:tgtEl>
                                          <p:spTgt spid="7"/>
                                        </p:tgtEl>
                                        <p:attrNameLst>
                                          <p:attrName>ppt_x</p:attrName>
                                        </p:attrNameLst>
                                      </p:cBhvr>
                                      <p:tavLst>
                                        <p:tav tm="0">
                                          <p:val>
                                            <p:strVal val="#ppt_x"/>
                                          </p:val>
                                        </p:tav>
                                        <p:tav tm="100000">
                                          <p:val>
                                            <p:strVal val="#ppt_x"/>
                                          </p:val>
                                        </p:tav>
                                      </p:tavLst>
                                    </p:anim>
                                    <p:anim calcmode="lin" valueType="num">
                                      <p:cBhvr>
                                        <p:cTn id="19" dur="500" decel="100000" fill="hold"/>
                                        <p:tgtEl>
                                          <p:spTgt spid="7"/>
                                        </p:tgtEl>
                                        <p:attrNameLst>
                                          <p:attrName>ppt_y</p:attrName>
                                        </p:attrNameLst>
                                      </p:cBhvr>
                                      <p:tavLst>
                                        <p:tav tm="0">
                                          <p:val>
                                            <p:strVal val="#ppt_y+0.0278"/>
                                          </p:val>
                                        </p:tav>
                                        <p:tav tm="100000">
                                          <p:val>
                                            <p:strVal val="#ppt_y"/>
                                          </p:val>
                                        </p:tav>
                                      </p:tavLst>
                                    </p:anim>
                                  </p:childTnLst>
                                </p:cTn>
                              </p:par>
                              <p:par>
                                <p:cTn id="20" presetID="0" presetClass="path" presetSubtype="0" repeatCount="indefinite" accel="50000" decel="50000" autoRev="1" fill="hold" grpId="0" nodeType="withEffect">
                                  <p:stCondLst>
                                    <p:cond delay="0"/>
                                  </p:stCondLst>
                                  <p:childTnLst>
                                    <p:animMotion origin="layout" path="M 0 0 L -0.0120 -0.0100 E" pathEditMode="relative" rAng="0" ptsTypes="AA">
                                      <p:cBhvr>
                                        <p:cTn id="21" dur="9000" fill="hold"/>
                                        <p:tgtEl>
                                          <p:spTgt spid="3"/>
                                        </p:tgtEl>
                                        <p:attrNameLst>
                                          <p:attrName>ppt_x</p:attrName>
                                          <p:attrName>ppt_y</p:attrName>
                                        </p:attrNameLst>
                                      </p:cBhvr>
                                      <p:rCtr x="0" y="0"/>
                                    </p:animMotion>
                                  </p:childTnLst>
                                </p:cTn>
                              </p:par>
                              <p:par>
                                <p:cTn id="22"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3" dur="2600" fill="hold"/>
                                        <p:tgtEl>
                                          <p:spTgt spid="9"/>
                                        </p:tgtEl>
                                        <p:attrNameLst>
                                          <p:attrName>ppt_x</p:attrName>
                                          <p:attrName>ppt_y</p:attrName>
                                        </p:attrNameLst>
                                      </p:cBhvr>
                                      <p:rCtr x="0" y="0"/>
                                    </p:animMotion>
                                  </p:childTnLst>
                                </p:cTn>
                              </p:par>
                              <p:par>
                                <p:cTn id="24"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5" dur="3150" fill="hold"/>
                                        <p:tgtEl>
                                          <p:spTgt spid="10"/>
                                        </p:tgtEl>
                                        <p:attrNameLst>
                                          <p:attrName>ppt_x</p:attrName>
                                          <p:attrName>ppt_y</p:attrName>
                                        </p:attrNameLst>
                                      </p:cBhvr>
                                      <p:rCtr x="0" y="0"/>
                                    </p:animMotion>
                                  </p:childTnLst>
                                </p:cTn>
                              </p:par>
                              <p:par>
                                <p:cTn id="26"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7" dur="3700" fill="hold"/>
                                        <p:tgtEl>
                                          <p:spTgt spid="11"/>
                                        </p:tgtEl>
                                        <p:attrNameLst>
                                          <p:attrName>ppt_x</p:attrName>
                                          <p:attrName>ppt_y</p:attrName>
                                        </p:attrNameLst>
                                      </p:cBhvr>
                                      <p:rCtr x="0" y="0"/>
                                    </p:animMotion>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left)">
                                      <p:cBhvr>
                                        <p:cTn id="31" dur="400" decel="100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9" grpId="0" animBg="1"/>
      <p:bldP spid="10" grpId="0" animBg="1"/>
      <p:bldP spid="11"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sp>
        <p:nvSpPr>
          <p:cNvPr id="3" name="!!Title"/>
          <p:cNvSpPr txBox="1"/>
          <p:nvPr/>
        </p:nvSpPr>
        <p:spPr>
          <a:xfrm>
            <a:off x="685800" y="914400"/>
            <a:ext cx="8229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Trois pistes explorées</a:t>
            </a:r>
          </a:p>
        </p:txBody>
      </p:sp>
      <p:sp>
        <p:nvSpPr>
          <p:cNvPr id="4" name="!!Card0"/>
          <p:cNvSpPr/>
          <p:nvPr/>
        </p:nvSpPr>
        <p:spPr>
          <a:xfrm>
            <a:off x="685800" y="2011680"/>
            <a:ext cx="3383280" cy="2514600"/>
          </a:xfrm>
          <a:prstGeom prst="roundRect">
            <a:avLst>
              <a:gd name="adj" fmla="val 7000"/>
            </a:avLst>
          </a:prstGeom>
          <a:solidFill>
            <a:srgbClr val="FFFFFF"/>
          </a:solidFill>
          <a:ln w="12700">
            <a:solidFill>
              <a:srgbClr val="E8D3D6"/>
            </a:solidFill>
          </a:ln>
        </p:spPr>
        <p:txBody>
          <a:bodyPr rtlCol="0" anchor="ctr"/>
          <a:lstStyle/>
          <a:p/>
        </p:txBody>
      </p:sp>
      <p:pic>
        <p:nvPicPr>
          <p:cNvPr id="5" name="!!Img0" descr="Piste 1 · Emblème"/>
          <p:cNvPicPr>
            <a:picLocks noChangeAspect="1"/>
          </p:cNvPicPr>
          <p:nvPr/>
        </p:nvPicPr>
        <p:blipFill>
          <a:blip r:embed="rId2"/>
          <a:stretch>
            <a:fillRect/>
          </a:stretch>
        </p:blipFill>
        <p:spPr>
          <a:xfrm>
            <a:off x="1110622" y="2194560"/>
            <a:ext cx="2533635" cy="2148840"/>
          </a:xfrm>
          <a:prstGeom prst="rect">
            <a:avLst/>
          </a:prstGeom>
        </p:spPr>
      </p:pic>
      <p:sp>
        <p:nvSpPr>
          <p:cNvPr id="6" name="!!CardT0"/>
          <p:cNvSpPr txBox="1"/>
          <p:nvPr/>
        </p:nvSpPr>
        <p:spPr>
          <a:xfrm>
            <a:off x="685800" y="4709160"/>
            <a:ext cx="3383280" cy="320040"/>
          </a:xfrm>
          <a:prstGeom prst="rect">
            <a:avLst/>
          </a:prstGeom>
          <a:noFill/>
        </p:spPr>
        <p:txBody>
          <a:bodyPr wrap="square" lIns="0" rIns="0" tIns="0" bIns="0" anchor="t">
            <a:noAutofit/>
          </a:bodyPr>
          <a:lstStyle/>
          <a:p>
            <a:pPr algn="l"/>
            <a:r>
              <a:rPr sz="1500">
                <a:solidFill>
                  <a:srgbClr val="2A070D"/>
                </a:solidFill>
                <a:latin typeface="Montserrat SemiBold"/>
              </a:rPr>
              <a:t>Piste 1 · Emblème</a:t>
            </a:r>
          </a:p>
        </p:txBody>
      </p:sp>
      <p:sp>
        <p:nvSpPr>
          <p:cNvPr id="7" name="!!CardD0"/>
          <p:cNvSpPr txBox="1"/>
          <p:nvPr/>
        </p:nvSpPr>
        <p:spPr>
          <a:xfrm>
            <a:off x="685800" y="5047488"/>
            <a:ext cx="3383280" cy="320040"/>
          </a:xfrm>
          <a:prstGeom prst="rect">
            <a:avLst/>
          </a:prstGeom>
          <a:noFill/>
        </p:spPr>
        <p:txBody>
          <a:bodyPr wrap="square" lIns="0" rIns="0" tIns="0" bIns="0" anchor="t">
            <a:noAutofit/>
          </a:bodyPr>
          <a:lstStyle/>
          <a:p>
            <a:pPr algn="l"/>
            <a:r>
              <a:rPr sz="1250">
                <a:solidFill>
                  <a:srgbClr val="6E5A5D"/>
                </a:solidFill>
                <a:latin typeface="Montserrat Medium"/>
              </a:rPr>
              <a:t>Couleurs du drapeau : Accord de Bangui</a:t>
            </a:r>
          </a:p>
        </p:txBody>
      </p:sp>
      <p:sp>
        <p:nvSpPr>
          <p:cNvPr id="8" name="!!Card1"/>
          <p:cNvSpPr/>
          <p:nvPr/>
        </p:nvSpPr>
        <p:spPr>
          <a:xfrm>
            <a:off x="4297680" y="2011680"/>
            <a:ext cx="3383280" cy="2514600"/>
          </a:xfrm>
          <a:prstGeom prst="roundRect">
            <a:avLst>
              <a:gd name="adj" fmla="val 7000"/>
            </a:avLst>
          </a:prstGeom>
          <a:solidFill>
            <a:srgbClr val="FFFFFF"/>
          </a:solidFill>
          <a:ln w="12700">
            <a:solidFill>
              <a:srgbClr val="E8D3D6"/>
            </a:solidFill>
          </a:ln>
        </p:spPr>
        <p:txBody>
          <a:bodyPr rtlCol="0" anchor="ctr"/>
          <a:lstStyle/>
          <a:p/>
        </p:txBody>
      </p:sp>
      <p:pic>
        <p:nvPicPr>
          <p:cNvPr id="9" name="!!Img1" descr="Piste 2 · Symbole"/>
          <p:cNvPicPr>
            <a:picLocks noChangeAspect="1"/>
          </p:cNvPicPr>
          <p:nvPr/>
        </p:nvPicPr>
        <p:blipFill>
          <a:blip r:embed="rId3"/>
          <a:stretch>
            <a:fillRect/>
          </a:stretch>
        </p:blipFill>
        <p:spPr>
          <a:xfrm>
            <a:off x="4480560" y="2532516"/>
            <a:ext cx="3017520" cy="1472926"/>
          </a:xfrm>
          <a:prstGeom prst="rect">
            <a:avLst/>
          </a:prstGeom>
        </p:spPr>
      </p:pic>
      <p:sp>
        <p:nvSpPr>
          <p:cNvPr id="10" name="!!CardT1"/>
          <p:cNvSpPr txBox="1"/>
          <p:nvPr/>
        </p:nvSpPr>
        <p:spPr>
          <a:xfrm>
            <a:off x="4297680" y="4709160"/>
            <a:ext cx="3383280" cy="320040"/>
          </a:xfrm>
          <a:prstGeom prst="rect">
            <a:avLst/>
          </a:prstGeom>
          <a:noFill/>
        </p:spPr>
        <p:txBody>
          <a:bodyPr wrap="square" lIns="0" rIns="0" tIns="0" bIns="0" anchor="t">
            <a:noAutofit/>
          </a:bodyPr>
          <a:lstStyle/>
          <a:p>
            <a:pPr algn="l"/>
            <a:r>
              <a:rPr sz="1500">
                <a:solidFill>
                  <a:srgbClr val="2A070D"/>
                </a:solidFill>
                <a:latin typeface="Montserrat SemiBold"/>
              </a:rPr>
              <a:t>Piste 2 · Symbole</a:t>
            </a:r>
          </a:p>
        </p:txBody>
      </p:sp>
      <p:sp>
        <p:nvSpPr>
          <p:cNvPr id="11" name="!!CardD1"/>
          <p:cNvSpPr txBox="1"/>
          <p:nvPr/>
        </p:nvSpPr>
        <p:spPr>
          <a:xfrm>
            <a:off x="4297680" y="5047488"/>
            <a:ext cx="3383280" cy="320040"/>
          </a:xfrm>
          <a:prstGeom prst="rect">
            <a:avLst/>
          </a:prstGeom>
          <a:noFill/>
        </p:spPr>
        <p:txBody>
          <a:bodyPr wrap="square" lIns="0" rIns="0" tIns="0" bIns="0" anchor="t">
            <a:noAutofit/>
          </a:bodyPr>
          <a:lstStyle/>
          <a:p>
            <a:pPr algn="l"/>
            <a:r>
              <a:rPr sz="1250">
                <a:solidFill>
                  <a:srgbClr val="6E5A5D"/>
                </a:solidFill>
                <a:latin typeface="Montserrat Medium"/>
              </a:rPr>
              <a:t>Éléphant et vapeur, peu lisible</a:t>
            </a:r>
          </a:p>
        </p:txBody>
      </p:sp>
      <p:sp>
        <p:nvSpPr>
          <p:cNvPr id="12" name="!!Card2"/>
          <p:cNvSpPr/>
          <p:nvPr/>
        </p:nvSpPr>
        <p:spPr>
          <a:xfrm>
            <a:off x="7909560" y="2011680"/>
            <a:ext cx="3383280" cy="2514600"/>
          </a:xfrm>
          <a:prstGeom prst="roundRect">
            <a:avLst>
              <a:gd name="adj" fmla="val 7000"/>
            </a:avLst>
          </a:prstGeom>
          <a:solidFill>
            <a:srgbClr val="FFFFFF"/>
          </a:solidFill>
          <a:ln w="12700">
            <a:solidFill>
              <a:srgbClr val="E8D3D6"/>
            </a:solidFill>
          </a:ln>
        </p:spPr>
        <p:txBody>
          <a:bodyPr rtlCol="0" anchor="ctr"/>
          <a:lstStyle/>
          <a:p/>
        </p:txBody>
      </p:sp>
      <p:pic>
        <p:nvPicPr>
          <p:cNvPr id="13" name="!!Img2" descr="Piste 3 · Retenue"/>
          <p:cNvPicPr>
            <a:picLocks noChangeAspect="1"/>
          </p:cNvPicPr>
          <p:nvPr/>
        </p:nvPicPr>
        <p:blipFill>
          <a:blip r:embed="rId4"/>
          <a:stretch>
            <a:fillRect/>
          </a:stretch>
        </p:blipFill>
        <p:spPr>
          <a:xfrm>
            <a:off x="8092440" y="2717339"/>
            <a:ext cx="3017520" cy="1103280"/>
          </a:xfrm>
          <a:prstGeom prst="rect">
            <a:avLst/>
          </a:prstGeom>
        </p:spPr>
      </p:pic>
      <p:sp>
        <p:nvSpPr>
          <p:cNvPr id="14" name="!!CardT2"/>
          <p:cNvSpPr txBox="1"/>
          <p:nvPr/>
        </p:nvSpPr>
        <p:spPr>
          <a:xfrm>
            <a:off x="7909560" y="4709160"/>
            <a:ext cx="3383280" cy="320040"/>
          </a:xfrm>
          <a:prstGeom prst="rect">
            <a:avLst/>
          </a:prstGeom>
          <a:noFill/>
        </p:spPr>
        <p:txBody>
          <a:bodyPr wrap="square" lIns="0" rIns="0" tIns="0" bIns="0" anchor="t">
            <a:noAutofit/>
          </a:bodyPr>
          <a:lstStyle/>
          <a:p>
            <a:pPr algn="l"/>
            <a:r>
              <a:rPr sz="1500">
                <a:solidFill>
                  <a:srgbClr val="7B1421"/>
                </a:solidFill>
                <a:latin typeface="Montserrat SemiBold"/>
              </a:rPr>
              <a:t>Piste 3 · Retenue</a:t>
            </a:r>
          </a:p>
        </p:txBody>
      </p:sp>
      <p:sp>
        <p:nvSpPr>
          <p:cNvPr id="15" name="!!CardD2"/>
          <p:cNvSpPr txBox="1"/>
          <p:nvPr/>
        </p:nvSpPr>
        <p:spPr>
          <a:xfrm>
            <a:off x="7909560" y="5047488"/>
            <a:ext cx="3383280" cy="320040"/>
          </a:xfrm>
          <a:prstGeom prst="rect">
            <a:avLst/>
          </a:prstGeom>
          <a:noFill/>
        </p:spPr>
        <p:txBody>
          <a:bodyPr wrap="square" lIns="0" rIns="0" tIns="0" bIns="0" anchor="t">
            <a:noAutofit/>
          </a:bodyPr>
          <a:lstStyle/>
          <a:p>
            <a:pPr algn="l"/>
            <a:r>
              <a:rPr sz="1250">
                <a:solidFill>
                  <a:srgbClr val="6E5A5D"/>
                </a:solidFill>
                <a:latin typeface="Montserrat Medium"/>
              </a:rPr>
              <a:t>Éléphant et feuille, la plus symbolique</a:t>
            </a:r>
          </a:p>
        </p:txBody>
      </p:sp>
      <p:sp>
        <p:nvSpPr>
          <p:cNvPr id="16" name="!!Accent"/>
          <p:cNvSpPr/>
          <p:nvPr/>
        </p:nvSpPr>
        <p:spPr>
          <a:xfrm>
            <a:off x="685800" y="338328"/>
            <a:ext cx="384048" cy="32004"/>
          </a:xfrm>
          <a:prstGeom prst="rect">
            <a:avLst/>
          </a:prstGeom>
          <a:solidFill>
            <a:srgbClr val="F9A825"/>
          </a:solidFill>
          <a:ln>
            <a:noFill/>
          </a:ln>
        </p:spPr>
        <p:txBody>
          <a:bodyPr rtlCol="0" anchor="ctr"/>
          <a:lstStyle/>
          <a:p/>
        </p:txBody>
      </p:sp>
      <p:sp>
        <p:nvSpPr>
          <p:cNvPr id="17"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03 · Rough</a:t>
            </a:r>
          </a:p>
        </p:txBody>
      </p:sp>
      <p:sp>
        <p:nvSpPr>
          <p:cNvPr id="18"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19</a:t>
            </a:r>
          </a:p>
        </p:txBody>
      </p:sp>
      <p:sp>
        <p:nvSpPr>
          <p:cNvPr id="19"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20"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21"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22" name="!!Logo" descr="Logo Marin'Or Ivoire"/>
          <p:cNvPicPr>
            <a:picLocks noChangeAspect="1"/>
          </p:cNvPicPr>
          <p:nvPr/>
        </p:nvPicPr>
        <p:blipFill>
          <a:blip r:embed="rId5"/>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decel="1000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decel="100000"/>
                                        <p:tgtEl>
                                          <p:spTgt spid="17"/>
                                        </p:tgtEl>
                                      </p:cBhvr>
                                    </p:animEffect>
                                    <p:anim calcmode="lin" valueType="num">
                                      <p:cBhvr>
                                        <p:cTn id="13" dur="500" decel="100000" fill="hold"/>
                                        <p:tgtEl>
                                          <p:spTgt spid="17"/>
                                        </p:tgtEl>
                                        <p:attrNameLst>
                                          <p:attrName>ppt_x</p:attrName>
                                        </p:attrNameLst>
                                      </p:cBhvr>
                                      <p:tavLst>
                                        <p:tav tm="0">
                                          <p:val>
                                            <p:strVal val="#ppt_x"/>
                                          </p:val>
                                        </p:tav>
                                        <p:tav tm="100000">
                                          <p:val>
                                            <p:strVal val="#ppt_x"/>
                                          </p:val>
                                        </p:tav>
                                      </p:tavLst>
                                    </p:anim>
                                    <p:anim calcmode="lin" valueType="num">
                                      <p:cBhvr>
                                        <p:cTn id="14" dur="500" decel="100000" fill="hold"/>
                                        <p:tgtEl>
                                          <p:spTgt spid="17"/>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19"/>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20"/>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21"/>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left)">
                                      <p:cBhvr>
                                        <p:cTn id="24" dur="400" decel="1000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decel="100000"/>
                                        <p:tgtEl>
                                          <p:spTgt spid="4"/>
                                        </p:tgtEl>
                                      </p:cBhvr>
                                    </p:animEffect>
                                    <p:anim calcmode="lin" valueType="num">
                                      <p:cBhvr>
                                        <p:cTn id="31" dur="500" decel="100000" fill="hold"/>
                                        <p:tgtEl>
                                          <p:spTgt spid="4"/>
                                        </p:tgtEl>
                                        <p:attrNameLst>
                                          <p:attrName>ppt_x</p:attrName>
                                        </p:attrNameLst>
                                      </p:cBhvr>
                                      <p:tavLst>
                                        <p:tav tm="0">
                                          <p:val>
                                            <p:strVal val="#ppt_x"/>
                                          </p:val>
                                        </p:tav>
                                        <p:tav tm="100000">
                                          <p:val>
                                            <p:strVal val="#ppt_x"/>
                                          </p:val>
                                        </p:tav>
                                      </p:tavLst>
                                    </p:anim>
                                    <p:anim calcmode="lin" valueType="num">
                                      <p:cBhvr>
                                        <p:cTn id="32" dur="500" decel="100000" fill="hold"/>
                                        <p:tgtEl>
                                          <p:spTgt spid="4"/>
                                        </p:tgtEl>
                                        <p:attrNameLst>
                                          <p:attrName>ppt_y</p:attrName>
                                        </p:attrNameLst>
                                      </p:cBhvr>
                                      <p:tavLst>
                                        <p:tav tm="0">
                                          <p:val>
                                            <p:strVal val="#ppt_y+0.027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decel="100000"/>
                                        <p:tgtEl>
                                          <p:spTgt spid="5"/>
                                        </p:tgtEl>
                                      </p:cBhvr>
                                    </p:animEffect>
                                    <p:anim calcmode="lin" valueType="num">
                                      <p:cBhvr>
                                        <p:cTn id="36" dur="500" decel="100000" fill="hold"/>
                                        <p:tgtEl>
                                          <p:spTgt spid="5"/>
                                        </p:tgtEl>
                                        <p:attrNameLst>
                                          <p:attrName>ppt_x</p:attrName>
                                        </p:attrNameLst>
                                      </p:cBhvr>
                                      <p:tavLst>
                                        <p:tav tm="0">
                                          <p:val>
                                            <p:strVal val="#ppt_x"/>
                                          </p:val>
                                        </p:tav>
                                        <p:tav tm="100000">
                                          <p:val>
                                            <p:strVal val="#ppt_x"/>
                                          </p:val>
                                        </p:tav>
                                      </p:tavLst>
                                    </p:anim>
                                    <p:anim calcmode="lin" valueType="num">
                                      <p:cBhvr>
                                        <p:cTn id="37" dur="500" decel="100000" fill="hold"/>
                                        <p:tgtEl>
                                          <p:spTgt spid="5"/>
                                        </p:tgtEl>
                                        <p:attrNameLst>
                                          <p:attrName>ppt_y</p:attrName>
                                        </p:attrNameLst>
                                      </p:cBhvr>
                                      <p:tavLst>
                                        <p:tav tm="0">
                                          <p:val>
                                            <p:strVal val="#ppt_y+0.0278"/>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500" decel="100000"/>
                                        <p:tgtEl>
                                          <p:spTgt spid="6"/>
                                        </p:tgtEl>
                                      </p:cBhvr>
                                    </p:animEffect>
                                    <p:anim calcmode="lin" valueType="num">
                                      <p:cBhvr>
                                        <p:cTn id="41" dur="500" decel="100000" fill="hold"/>
                                        <p:tgtEl>
                                          <p:spTgt spid="6"/>
                                        </p:tgtEl>
                                        <p:attrNameLst>
                                          <p:attrName>ppt_x</p:attrName>
                                        </p:attrNameLst>
                                      </p:cBhvr>
                                      <p:tavLst>
                                        <p:tav tm="0">
                                          <p:val>
                                            <p:strVal val="#ppt_x"/>
                                          </p:val>
                                        </p:tav>
                                        <p:tav tm="100000">
                                          <p:val>
                                            <p:strVal val="#ppt_x"/>
                                          </p:val>
                                        </p:tav>
                                      </p:tavLst>
                                    </p:anim>
                                    <p:anim calcmode="lin" valueType="num">
                                      <p:cBhvr>
                                        <p:cTn id="42" dur="500" decel="100000" fill="hold"/>
                                        <p:tgtEl>
                                          <p:spTgt spid="6"/>
                                        </p:tgtEl>
                                        <p:attrNameLst>
                                          <p:attrName>ppt_y</p:attrName>
                                        </p:attrNameLst>
                                      </p:cBhvr>
                                      <p:tavLst>
                                        <p:tav tm="0">
                                          <p:val>
                                            <p:strVal val="#ppt_y+0.0278"/>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decel="100000"/>
                                        <p:tgtEl>
                                          <p:spTgt spid="7"/>
                                        </p:tgtEl>
                                      </p:cBhvr>
                                    </p:animEffect>
                                    <p:anim calcmode="lin" valueType="num">
                                      <p:cBhvr>
                                        <p:cTn id="46" dur="500" decel="100000" fill="hold"/>
                                        <p:tgtEl>
                                          <p:spTgt spid="7"/>
                                        </p:tgtEl>
                                        <p:attrNameLst>
                                          <p:attrName>ppt_x</p:attrName>
                                        </p:attrNameLst>
                                      </p:cBhvr>
                                      <p:tavLst>
                                        <p:tav tm="0">
                                          <p:val>
                                            <p:strVal val="#ppt_x"/>
                                          </p:val>
                                        </p:tav>
                                        <p:tav tm="100000">
                                          <p:val>
                                            <p:strVal val="#ppt_x"/>
                                          </p:val>
                                        </p:tav>
                                      </p:tavLst>
                                    </p:anim>
                                    <p:anim calcmode="lin" valueType="num">
                                      <p:cBhvr>
                                        <p:cTn id="47" dur="500" decel="100000" fill="hold"/>
                                        <p:tgtEl>
                                          <p:spTgt spid="7"/>
                                        </p:tgtEl>
                                        <p:attrNameLst>
                                          <p:attrName>ppt_y</p:attrName>
                                        </p:attrNameLst>
                                      </p:cBhvr>
                                      <p:tavLst>
                                        <p:tav tm="0">
                                          <p:val>
                                            <p:strVal val="#ppt_y+0.0278"/>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fade">
                                      <p:cBhvr>
                                        <p:cTn id="52" dur="500" decel="100000"/>
                                        <p:tgtEl>
                                          <p:spTgt spid="8"/>
                                        </p:tgtEl>
                                      </p:cBhvr>
                                    </p:animEffect>
                                    <p:anim calcmode="lin" valueType="num">
                                      <p:cBhvr>
                                        <p:cTn id="53" dur="500" decel="100000" fill="hold"/>
                                        <p:tgtEl>
                                          <p:spTgt spid="8"/>
                                        </p:tgtEl>
                                        <p:attrNameLst>
                                          <p:attrName>ppt_x</p:attrName>
                                        </p:attrNameLst>
                                      </p:cBhvr>
                                      <p:tavLst>
                                        <p:tav tm="0">
                                          <p:val>
                                            <p:strVal val="#ppt_x"/>
                                          </p:val>
                                        </p:tav>
                                        <p:tav tm="100000">
                                          <p:val>
                                            <p:strVal val="#ppt_x"/>
                                          </p:val>
                                        </p:tav>
                                      </p:tavLst>
                                    </p:anim>
                                    <p:anim calcmode="lin" valueType="num">
                                      <p:cBhvr>
                                        <p:cTn id="54" dur="500" decel="100000" fill="hold"/>
                                        <p:tgtEl>
                                          <p:spTgt spid="8"/>
                                        </p:tgtEl>
                                        <p:attrNameLst>
                                          <p:attrName>ppt_y</p:attrName>
                                        </p:attrNameLst>
                                      </p:cBhvr>
                                      <p:tavLst>
                                        <p:tav tm="0">
                                          <p:val>
                                            <p:strVal val="#ppt_y+0.0278"/>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fade">
                                      <p:cBhvr>
                                        <p:cTn id="57" dur="500" decel="100000"/>
                                        <p:tgtEl>
                                          <p:spTgt spid="9"/>
                                        </p:tgtEl>
                                      </p:cBhvr>
                                    </p:animEffect>
                                    <p:anim calcmode="lin" valueType="num">
                                      <p:cBhvr>
                                        <p:cTn id="58" dur="500" decel="100000" fill="hold"/>
                                        <p:tgtEl>
                                          <p:spTgt spid="9"/>
                                        </p:tgtEl>
                                        <p:attrNameLst>
                                          <p:attrName>ppt_x</p:attrName>
                                        </p:attrNameLst>
                                      </p:cBhvr>
                                      <p:tavLst>
                                        <p:tav tm="0">
                                          <p:val>
                                            <p:strVal val="#ppt_x"/>
                                          </p:val>
                                        </p:tav>
                                        <p:tav tm="100000">
                                          <p:val>
                                            <p:strVal val="#ppt_x"/>
                                          </p:val>
                                        </p:tav>
                                      </p:tavLst>
                                    </p:anim>
                                    <p:anim calcmode="lin" valueType="num">
                                      <p:cBhvr>
                                        <p:cTn id="59" dur="500" decel="100000" fill="hold"/>
                                        <p:tgtEl>
                                          <p:spTgt spid="9"/>
                                        </p:tgtEl>
                                        <p:attrNameLst>
                                          <p:attrName>ppt_y</p:attrName>
                                        </p:attrNameLst>
                                      </p:cBhvr>
                                      <p:tavLst>
                                        <p:tav tm="0">
                                          <p:val>
                                            <p:strVal val="#ppt_y+0.0278"/>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fade">
                                      <p:cBhvr>
                                        <p:cTn id="62" dur="500" decel="100000"/>
                                        <p:tgtEl>
                                          <p:spTgt spid="10"/>
                                        </p:tgtEl>
                                      </p:cBhvr>
                                    </p:animEffect>
                                    <p:anim calcmode="lin" valueType="num">
                                      <p:cBhvr>
                                        <p:cTn id="63" dur="500" decel="100000" fill="hold"/>
                                        <p:tgtEl>
                                          <p:spTgt spid="10"/>
                                        </p:tgtEl>
                                        <p:attrNameLst>
                                          <p:attrName>ppt_x</p:attrName>
                                        </p:attrNameLst>
                                      </p:cBhvr>
                                      <p:tavLst>
                                        <p:tav tm="0">
                                          <p:val>
                                            <p:strVal val="#ppt_x"/>
                                          </p:val>
                                        </p:tav>
                                        <p:tav tm="100000">
                                          <p:val>
                                            <p:strVal val="#ppt_x"/>
                                          </p:val>
                                        </p:tav>
                                      </p:tavLst>
                                    </p:anim>
                                    <p:anim calcmode="lin" valueType="num">
                                      <p:cBhvr>
                                        <p:cTn id="64" dur="500" decel="100000" fill="hold"/>
                                        <p:tgtEl>
                                          <p:spTgt spid="10"/>
                                        </p:tgtEl>
                                        <p:attrNameLst>
                                          <p:attrName>ppt_y</p:attrName>
                                        </p:attrNameLst>
                                      </p:cBhvr>
                                      <p:tavLst>
                                        <p:tav tm="0">
                                          <p:val>
                                            <p:strVal val="#ppt_y+0.0278"/>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fade">
                                      <p:cBhvr>
                                        <p:cTn id="67" dur="500" decel="100000"/>
                                        <p:tgtEl>
                                          <p:spTgt spid="11"/>
                                        </p:tgtEl>
                                      </p:cBhvr>
                                    </p:animEffect>
                                    <p:anim calcmode="lin" valueType="num">
                                      <p:cBhvr>
                                        <p:cTn id="68" dur="500" decel="100000" fill="hold"/>
                                        <p:tgtEl>
                                          <p:spTgt spid="11"/>
                                        </p:tgtEl>
                                        <p:attrNameLst>
                                          <p:attrName>ppt_x</p:attrName>
                                        </p:attrNameLst>
                                      </p:cBhvr>
                                      <p:tavLst>
                                        <p:tav tm="0">
                                          <p:val>
                                            <p:strVal val="#ppt_x"/>
                                          </p:val>
                                        </p:tav>
                                        <p:tav tm="100000">
                                          <p:val>
                                            <p:strVal val="#ppt_x"/>
                                          </p:val>
                                        </p:tav>
                                      </p:tavLst>
                                    </p:anim>
                                    <p:anim calcmode="lin" valueType="num">
                                      <p:cBhvr>
                                        <p:cTn id="69" dur="500" decel="100000" fill="hold"/>
                                        <p:tgtEl>
                                          <p:spTgt spid="11"/>
                                        </p:tgtEl>
                                        <p:attrNameLst>
                                          <p:attrName>ppt_y</p:attrName>
                                        </p:attrNameLst>
                                      </p:cBhvr>
                                      <p:tavLst>
                                        <p:tav tm="0">
                                          <p:val>
                                            <p:strVal val="#ppt_y+0.0278"/>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grpId="0" nodeType="clickEffect">
                                  <p:stCondLst>
                                    <p:cond delay="0"/>
                                  </p:stCondLst>
                                  <p:childTnLst>
                                    <p:set>
                                      <p:cBhvr>
                                        <p:cTn id="73" dur="1" fill="hold">
                                          <p:stCondLst>
                                            <p:cond delay="0"/>
                                          </p:stCondLst>
                                        </p:cTn>
                                        <p:tgtEl>
                                          <p:spTgt spid="12"/>
                                        </p:tgtEl>
                                        <p:attrNameLst>
                                          <p:attrName>style.visibility</p:attrName>
                                        </p:attrNameLst>
                                      </p:cBhvr>
                                      <p:to>
                                        <p:strVal val="visible"/>
                                      </p:to>
                                    </p:set>
                                    <p:animEffect transition="in" filter="fade">
                                      <p:cBhvr>
                                        <p:cTn id="74" dur="500" decel="100000"/>
                                        <p:tgtEl>
                                          <p:spTgt spid="12"/>
                                        </p:tgtEl>
                                      </p:cBhvr>
                                    </p:animEffect>
                                    <p:anim calcmode="lin" valueType="num">
                                      <p:cBhvr>
                                        <p:cTn id="75" dur="500" decel="100000" fill="hold"/>
                                        <p:tgtEl>
                                          <p:spTgt spid="12"/>
                                        </p:tgtEl>
                                        <p:attrNameLst>
                                          <p:attrName>ppt_x</p:attrName>
                                        </p:attrNameLst>
                                      </p:cBhvr>
                                      <p:tavLst>
                                        <p:tav tm="0">
                                          <p:val>
                                            <p:strVal val="#ppt_x"/>
                                          </p:val>
                                        </p:tav>
                                        <p:tav tm="100000">
                                          <p:val>
                                            <p:strVal val="#ppt_x"/>
                                          </p:val>
                                        </p:tav>
                                      </p:tavLst>
                                    </p:anim>
                                    <p:anim calcmode="lin" valueType="num">
                                      <p:cBhvr>
                                        <p:cTn id="76" dur="500" decel="100000" fill="hold"/>
                                        <p:tgtEl>
                                          <p:spTgt spid="12"/>
                                        </p:tgtEl>
                                        <p:attrNameLst>
                                          <p:attrName>ppt_y</p:attrName>
                                        </p:attrNameLst>
                                      </p:cBhvr>
                                      <p:tavLst>
                                        <p:tav tm="0">
                                          <p:val>
                                            <p:strVal val="#ppt_y+0.0278"/>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3"/>
                                        </p:tgtEl>
                                        <p:attrNameLst>
                                          <p:attrName>style.visibility</p:attrName>
                                        </p:attrNameLst>
                                      </p:cBhvr>
                                      <p:to>
                                        <p:strVal val="visible"/>
                                      </p:to>
                                    </p:set>
                                    <p:animEffect transition="in" filter="fade">
                                      <p:cBhvr>
                                        <p:cTn id="79" dur="500" decel="100000"/>
                                        <p:tgtEl>
                                          <p:spTgt spid="13"/>
                                        </p:tgtEl>
                                      </p:cBhvr>
                                    </p:animEffect>
                                    <p:anim calcmode="lin" valueType="num">
                                      <p:cBhvr>
                                        <p:cTn id="80" dur="500" decel="100000" fill="hold"/>
                                        <p:tgtEl>
                                          <p:spTgt spid="13"/>
                                        </p:tgtEl>
                                        <p:attrNameLst>
                                          <p:attrName>ppt_x</p:attrName>
                                        </p:attrNameLst>
                                      </p:cBhvr>
                                      <p:tavLst>
                                        <p:tav tm="0">
                                          <p:val>
                                            <p:strVal val="#ppt_x"/>
                                          </p:val>
                                        </p:tav>
                                        <p:tav tm="100000">
                                          <p:val>
                                            <p:strVal val="#ppt_x"/>
                                          </p:val>
                                        </p:tav>
                                      </p:tavLst>
                                    </p:anim>
                                    <p:anim calcmode="lin" valueType="num">
                                      <p:cBhvr>
                                        <p:cTn id="81" dur="500" decel="100000" fill="hold"/>
                                        <p:tgtEl>
                                          <p:spTgt spid="13"/>
                                        </p:tgtEl>
                                        <p:attrNameLst>
                                          <p:attrName>ppt_y</p:attrName>
                                        </p:attrNameLst>
                                      </p:cBhvr>
                                      <p:tavLst>
                                        <p:tav tm="0">
                                          <p:val>
                                            <p:strVal val="#ppt_y+0.0278"/>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4"/>
                                        </p:tgtEl>
                                        <p:attrNameLst>
                                          <p:attrName>style.visibility</p:attrName>
                                        </p:attrNameLst>
                                      </p:cBhvr>
                                      <p:to>
                                        <p:strVal val="visible"/>
                                      </p:to>
                                    </p:set>
                                    <p:animEffect transition="in" filter="fade">
                                      <p:cBhvr>
                                        <p:cTn id="84" dur="500" decel="100000"/>
                                        <p:tgtEl>
                                          <p:spTgt spid="14"/>
                                        </p:tgtEl>
                                      </p:cBhvr>
                                    </p:animEffect>
                                    <p:anim calcmode="lin" valueType="num">
                                      <p:cBhvr>
                                        <p:cTn id="85" dur="500" decel="100000" fill="hold"/>
                                        <p:tgtEl>
                                          <p:spTgt spid="14"/>
                                        </p:tgtEl>
                                        <p:attrNameLst>
                                          <p:attrName>ppt_x</p:attrName>
                                        </p:attrNameLst>
                                      </p:cBhvr>
                                      <p:tavLst>
                                        <p:tav tm="0">
                                          <p:val>
                                            <p:strVal val="#ppt_x"/>
                                          </p:val>
                                        </p:tav>
                                        <p:tav tm="100000">
                                          <p:val>
                                            <p:strVal val="#ppt_x"/>
                                          </p:val>
                                        </p:tav>
                                      </p:tavLst>
                                    </p:anim>
                                    <p:anim calcmode="lin" valueType="num">
                                      <p:cBhvr>
                                        <p:cTn id="86" dur="500" decel="100000" fill="hold"/>
                                        <p:tgtEl>
                                          <p:spTgt spid="14"/>
                                        </p:tgtEl>
                                        <p:attrNameLst>
                                          <p:attrName>ppt_y</p:attrName>
                                        </p:attrNameLst>
                                      </p:cBhvr>
                                      <p:tavLst>
                                        <p:tav tm="0">
                                          <p:val>
                                            <p:strVal val="#ppt_y+0.0278"/>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15"/>
                                        </p:tgtEl>
                                        <p:attrNameLst>
                                          <p:attrName>style.visibility</p:attrName>
                                        </p:attrNameLst>
                                      </p:cBhvr>
                                      <p:to>
                                        <p:strVal val="visible"/>
                                      </p:to>
                                    </p:set>
                                    <p:animEffect transition="in" filter="fade">
                                      <p:cBhvr>
                                        <p:cTn id="89" dur="500" decel="100000"/>
                                        <p:tgtEl>
                                          <p:spTgt spid="15"/>
                                        </p:tgtEl>
                                      </p:cBhvr>
                                    </p:animEffect>
                                    <p:anim calcmode="lin" valueType="num">
                                      <p:cBhvr>
                                        <p:cTn id="90" dur="500" decel="100000" fill="hold"/>
                                        <p:tgtEl>
                                          <p:spTgt spid="15"/>
                                        </p:tgtEl>
                                        <p:attrNameLst>
                                          <p:attrName>ppt_x</p:attrName>
                                        </p:attrNameLst>
                                      </p:cBhvr>
                                      <p:tavLst>
                                        <p:tav tm="0">
                                          <p:val>
                                            <p:strVal val="#ppt_x"/>
                                          </p:val>
                                        </p:tav>
                                        <p:tav tm="100000">
                                          <p:val>
                                            <p:strVal val="#ppt_x"/>
                                          </p:val>
                                        </p:tav>
                                      </p:tavLst>
                                    </p:anim>
                                    <p:anim calcmode="lin" valueType="num">
                                      <p:cBhvr>
                                        <p:cTn id="91" dur="500" decel="100000" fill="hold"/>
                                        <p:tgtEl>
                                          <p:spTgt spid="15"/>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6" grpId="0"/>
      <p:bldP spid="7" grpId="0"/>
      <p:bldP spid="8" grpId="0" animBg="1"/>
      <p:bldP spid="10" grpId="0"/>
      <p:bldP spid="11" grpId="0"/>
      <p:bldP spid="12" grpId="0" animBg="1"/>
      <p:bldP spid="14" grpId="0"/>
      <p:bldP spid="15" grpId="0"/>
      <p:bldP spid="16" grpId="0" animBg="1"/>
      <p:bldP spid="17" grpId="0"/>
      <p:bldP spid="19" grpId="0" animBg="1"/>
      <p:bldP spid="20" grpId="0" animBg="1"/>
      <p:bldP spid="21"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sp>
        <p:nvSpPr>
          <p:cNvPr id="3" name="!!Panel"/>
          <p:cNvSpPr/>
          <p:nvPr/>
        </p:nvSpPr>
        <p:spPr>
          <a:xfrm>
            <a:off x="685800" y="1143000"/>
            <a:ext cx="5120640" cy="4480560"/>
          </a:xfrm>
          <a:prstGeom prst="roundRect">
            <a:avLst>
              <a:gd name="adj" fmla="val 7000"/>
            </a:avLst>
          </a:prstGeom>
          <a:solidFill>
            <a:srgbClr val="F6E8EA"/>
          </a:solidFill>
          <a:ln>
            <a:noFill/>
          </a:ln>
        </p:spPr>
        <p:txBody>
          <a:bodyPr rtlCol="0" anchor="ctr"/>
          <a:lstStyle/>
          <a:p/>
        </p:txBody>
      </p:sp>
      <p:pic>
        <p:nvPicPr>
          <p:cNvPr id="4" name="!!LogoHero" descr="Logo Marin'Or Ivoire"/>
          <p:cNvPicPr>
            <a:picLocks noChangeAspect="1"/>
          </p:cNvPicPr>
          <p:nvPr/>
        </p:nvPicPr>
        <p:blipFill>
          <a:blip r:embed="rId2"/>
          <a:stretch>
            <a:fillRect/>
          </a:stretch>
        </p:blipFill>
        <p:spPr>
          <a:xfrm>
            <a:off x="1097280" y="2257536"/>
            <a:ext cx="4297680" cy="2251486"/>
          </a:xfrm>
          <a:prstGeom prst="rect">
            <a:avLst/>
          </a:prstGeom>
        </p:spPr>
      </p:pic>
      <p:sp>
        <p:nvSpPr>
          <p:cNvPr id="5" name="!!Title"/>
          <p:cNvSpPr txBox="1"/>
          <p:nvPr/>
        </p:nvSpPr>
        <p:spPr>
          <a:xfrm>
            <a:off x="6263640" y="914400"/>
            <a:ext cx="521208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Le logo retenu</a:t>
            </a:r>
          </a:p>
        </p:txBody>
      </p:sp>
      <p:sp>
        <p:nvSpPr>
          <p:cNvPr id="6" name="!!Body"/>
          <p:cNvSpPr txBox="1"/>
          <p:nvPr/>
        </p:nvSpPr>
        <p:spPr>
          <a:xfrm>
            <a:off x="6263640" y="2057400"/>
            <a:ext cx="5120640" cy="3291840"/>
          </a:xfrm>
          <a:prstGeom prst="rect">
            <a:avLst/>
          </a:prstGeom>
          <a:noFill/>
        </p:spPr>
        <p:txBody>
          <a:bodyPr wrap="square" lIns="0" rIns="0" tIns="0" bIns="0" anchor="t">
            <a:noAutofit/>
          </a:bodyPr>
          <a:lstStyle/>
          <a:p>
            <a:pPr algn="l">
              <a:lnSpc>
                <a:spcPct val="112000"/>
              </a:lnSpc>
              <a:spcAft>
                <a:spcPts val="1200"/>
              </a:spcAft>
            </a:pPr>
            <a:r>
              <a:rPr sz="1700">
                <a:solidFill>
                  <a:srgbClr val="7B1421"/>
                </a:solidFill>
                <a:latin typeface="Montserrat SemiBold"/>
              </a:rPr>
              <a:t>Éléphant</a:t>
            </a:r>
            <a:r>
              <a:rPr sz="1700">
                <a:solidFill>
                  <a:srgbClr val="2A070D"/>
                </a:solidFill>
                <a:latin typeface="Montserrat Medium"/>
              </a:rPr>
              <a:t> : la Côte d'Ivoire, la force, l'ancrage local.</a:t>
            </a:r>
          </a:p>
          <a:p>
            <a:pPr algn="l">
              <a:lnSpc>
                <a:spcPct val="112000"/>
              </a:lnSpc>
              <a:spcAft>
                <a:spcPts val="1200"/>
              </a:spcAft>
            </a:pPr>
            <a:r>
              <a:rPr sz="1700">
                <a:solidFill>
                  <a:srgbClr val="7B1421"/>
                </a:solidFill>
                <a:latin typeface="Montserrat SemiBold"/>
              </a:rPr>
              <a:t>Feuille</a:t>
            </a:r>
            <a:r>
              <a:rPr sz="1700">
                <a:solidFill>
                  <a:srgbClr val="2A070D"/>
                </a:solidFill>
                <a:latin typeface="Montserrat Medium"/>
              </a:rPr>
              <a:t> : épices, herbes, naturalité, fraîcheur.</a:t>
            </a:r>
          </a:p>
          <a:p>
            <a:pPr algn="l">
              <a:lnSpc>
                <a:spcPct val="112000"/>
              </a:lnSpc>
              <a:spcAft>
                <a:spcPts val="1200"/>
              </a:spcAft>
            </a:pPr>
            <a:r>
              <a:rPr sz="1700">
                <a:solidFill>
                  <a:srgbClr val="7B1421"/>
                </a:solidFill>
                <a:latin typeface="Montserrat SemiBold"/>
              </a:rPr>
              <a:t>Bordeaux</a:t>
            </a:r>
            <a:r>
              <a:rPr sz="1700">
                <a:solidFill>
                  <a:srgbClr val="2A070D"/>
                </a:solidFill>
                <a:latin typeface="Montserrat Medium"/>
              </a:rPr>
              <a:t> : premium, chaleureux, gourmand.</a:t>
            </a:r>
          </a:p>
        </p:txBody>
      </p:sp>
      <p:sp>
        <p:nvSpPr>
          <p:cNvPr id="7" name="!!Accent"/>
          <p:cNvSpPr/>
          <p:nvPr/>
        </p:nvSpPr>
        <p:spPr>
          <a:xfrm>
            <a:off x="685800" y="338328"/>
            <a:ext cx="384048" cy="32004"/>
          </a:xfrm>
          <a:prstGeom prst="rect">
            <a:avLst/>
          </a:prstGeom>
          <a:solidFill>
            <a:srgbClr val="F9A825"/>
          </a:solidFill>
          <a:ln>
            <a:noFill/>
          </a:ln>
        </p:spPr>
        <p:txBody>
          <a:bodyPr rtlCol="0" anchor="ctr"/>
          <a:lstStyle/>
          <a:p/>
        </p:txBody>
      </p:sp>
      <p:sp>
        <p:nvSpPr>
          <p:cNvPr id="8"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03 · Logotype définitif</a:t>
            </a:r>
          </a:p>
        </p:txBody>
      </p:sp>
      <p:sp>
        <p:nvSpPr>
          <p:cNvPr id="9"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20</a:t>
            </a:r>
          </a:p>
        </p:txBody>
      </p:sp>
      <p:sp>
        <p:nvSpPr>
          <p:cNvPr id="10"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11"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12"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decel="100000"/>
                                        <p:tgtEl>
                                          <p:spTgt spid="5"/>
                                        </p:tgtEl>
                                      </p:cBhvr>
                                    </p:animEffect>
                                    <p:anim calcmode="lin" valueType="num">
                                      <p:cBhvr>
                                        <p:cTn id="8" dur="500" decel="100000" fill="hold"/>
                                        <p:tgtEl>
                                          <p:spTgt spid="5"/>
                                        </p:tgtEl>
                                        <p:attrNameLst>
                                          <p:attrName>ppt_x</p:attrName>
                                        </p:attrNameLst>
                                      </p:cBhvr>
                                      <p:tavLst>
                                        <p:tav tm="0">
                                          <p:val>
                                            <p:strVal val="#ppt_x"/>
                                          </p:val>
                                        </p:tav>
                                        <p:tav tm="100000">
                                          <p:val>
                                            <p:strVal val="#ppt_x"/>
                                          </p:val>
                                        </p:tav>
                                      </p:tavLst>
                                    </p:anim>
                                    <p:anim calcmode="lin" valueType="num">
                                      <p:cBhvr>
                                        <p:cTn id="9" dur="500" decel="100000" fill="hold"/>
                                        <p:tgtEl>
                                          <p:spTgt spid="5"/>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decel="100000"/>
                                        <p:tgtEl>
                                          <p:spTgt spid="8"/>
                                        </p:tgtEl>
                                      </p:cBhvr>
                                    </p:animEffect>
                                    <p:anim calcmode="lin" valueType="num">
                                      <p:cBhvr>
                                        <p:cTn id="13" dur="500" decel="100000" fill="hold"/>
                                        <p:tgtEl>
                                          <p:spTgt spid="8"/>
                                        </p:tgtEl>
                                        <p:attrNameLst>
                                          <p:attrName>ppt_x</p:attrName>
                                        </p:attrNameLst>
                                      </p:cBhvr>
                                      <p:tavLst>
                                        <p:tav tm="0">
                                          <p:val>
                                            <p:strVal val="#ppt_x"/>
                                          </p:val>
                                        </p:tav>
                                        <p:tav tm="100000">
                                          <p:val>
                                            <p:strVal val="#ppt_x"/>
                                          </p:val>
                                        </p:tav>
                                      </p:tavLst>
                                    </p:anim>
                                    <p:anim calcmode="lin" valueType="num">
                                      <p:cBhvr>
                                        <p:cTn id="14" dur="500" decel="100000" fill="hold"/>
                                        <p:tgtEl>
                                          <p:spTgt spid="8"/>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10"/>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11"/>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12"/>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400" decel="1000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500" decel="100000"/>
                                        <p:tgtEl>
                                          <p:spTgt spid="3"/>
                                        </p:tgtEl>
                                      </p:cBhvr>
                                    </p:animEffect>
                                    <p:anim calcmode="lin" valueType="num">
                                      <p:cBhvr>
                                        <p:cTn id="31" dur="500" decel="100000" fill="hold"/>
                                        <p:tgtEl>
                                          <p:spTgt spid="3"/>
                                        </p:tgtEl>
                                        <p:attrNameLst>
                                          <p:attrName>ppt_x</p:attrName>
                                        </p:attrNameLst>
                                      </p:cBhvr>
                                      <p:tavLst>
                                        <p:tav tm="0">
                                          <p:val>
                                            <p:strVal val="#ppt_x"/>
                                          </p:val>
                                        </p:tav>
                                        <p:tav tm="100000">
                                          <p:val>
                                            <p:strVal val="#ppt_x"/>
                                          </p:val>
                                        </p:tav>
                                      </p:tavLst>
                                    </p:anim>
                                    <p:anim calcmode="lin" valueType="num">
                                      <p:cBhvr>
                                        <p:cTn id="32" dur="500" decel="100000" fill="hold"/>
                                        <p:tgtEl>
                                          <p:spTgt spid="3"/>
                                        </p:tgtEl>
                                        <p:attrNameLst>
                                          <p:attrName>ppt_y</p:attrName>
                                        </p:attrNameLst>
                                      </p:cBhvr>
                                      <p:tavLst>
                                        <p:tav tm="0">
                                          <p:val>
                                            <p:strVal val="#ppt_y+0.027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500" decel="100000"/>
                                        <p:tgtEl>
                                          <p:spTgt spid="4"/>
                                        </p:tgtEl>
                                      </p:cBhvr>
                                    </p:animEffect>
                                    <p:anim calcmode="lin" valueType="num">
                                      <p:cBhvr>
                                        <p:cTn id="36" dur="500" decel="100000" fill="hold"/>
                                        <p:tgtEl>
                                          <p:spTgt spid="4"/>
                                        </p:tgtEl>
                                        <p:attrNameLst>
                                          <p:attrName>ppt_x</p:attrName>
                                        </p:attrNameLst>
                                      </p:cBhvr>
                                      <p:tavLst>
                                        <p:tav tm="0">
                                          <p:val>
                                            <p:strVal val="#ppt_x"/>
                                          </p:val>
                                        </p:tav>
                                        <p:tav tm="100000">
                                          <p:val>
                                            <p:strVal val="#ppt_x"/>
                                          </p:val>
                                        </p:tav>
                                      </p:tavLst>
                                    </p:anim>
                                    <p:anim calcmode="lin" valueType="num">
                                      <p:cBhvr>
                                        <p:cTn id="37" dur="500" decel="100000" fill="hold"/>
                                        <p:tgtEl>
                                          <p:spTgt spid="4"/>
                                        </p:tgtEl>
                                        <p:attrNameLst>
                                          <p:attrName>ppt_y</p:attrName>
                                        </p:attrNameLst>
                                      </p:cBhvr>
                                      <p:tavLst>
                                        <p:tav tm="0">
                                          <p:val>
                                            <p:strVal val="#ppt_y+0.0278"/>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500" decel="100000"/>
                                        <p:tgtEl>
                                          <p:spTgt spid="6"/>
                                        </p:tgtEl>
                                      </p:cBhvr>
                                    </p:animEffect>
                                    <p:anim calcmode="lin" valueType="num">
                                      <p:cBhvr>
                                        <p:cTn id="43" dur="500" decel="100000" fill="hold"/>
                                        <p:tgtEl>
                                          <p:spTgt spid="6"/>
                                        </p:tgtEl>
                                        <p:attrNameLst>
                                          <p:attrName>ppt_x</p:attrName>
                                        </p:attrNameLst>
                                      </p:cBhvr>
                                      <p:tavLst>
                                        <p:tav tm="0">
                                          <p:val>
                                            <p:strVal val="#ppt_x"/>
                                          </p:val>
                                        </p:tav>
                                        <p:tav tm="100000">
                                          <p:val>
                                            <p:strVal val="#ppt_x"/>
                                          </p:val>
                                        </p:tav>
                                      </p:tavLst>
                                    </p:anim>
                                    <p:anim calcmode="lin" valueType="num">
                                      <p:cBhvr>
                                        <p:cTn id="44" dur="500" decel="100000" fill="hold"/>
                                        <p:tgtEl>
                                          <p:spTgt spid="6"/>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6" grpId="0"/>
      <p:bldP spid="7" grpId="0" animBg="1"/>
      <p:bldP spid="8" grpId="0"/>
      <p:bldP spid="10" grpId="0" animBg="1"/>
      <p:bldP spid="11" grpId="0" animBg="1"/>
      <p:bldP spid="12"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pic>
        <p:nvPicPr>
          <p:cNvPr id="3" name="!!Hero" descr="Zone de protection du logo"/>
          <p:cNvPicPr>
            <a:picLocks noChangeAspect="1"/>
          </p:cNvPicPr>
          <p:nvPr/>
        </p:nvPicPr>
        <p:blipFill>
          <a:blip r:embed="rId2"/>
          <a:srcRect l="520" r="520"/>
          <a:stretch>
            <a:fillRect/>
          </a:stretch>
        </p:blipFill>
        <p:spPr>
          <a:xfrm>
            <a:off x="685800" y="1874519"/>
            <a:ext cx="5120640" cy="2926080"/>
          </a:xfrm>
          <a:prstGeom prst="roundRect">
            <a:avLst>
              <a:gd name="adj" fmla="val 4000"/>
            </a:avLst>
          </a:prstGeom>
          <a:effectLst>
            <a:outerShdw blurRad="177800" dist="38100" dir="5400000" algn="t" rotWithShape="0">
              <a:srgbClr val="1A0507">
                <a:alpha val="14000"/>
              </a:srgbClr>
            </a:outerShdw>
          </a:effectLst>
        </p:spPr>
      </p:pic>
      <p:pic>
        <p:nvPicPr>
          <p:cNvPr id="4" name="!!Second" descr="Déclinaisons du logo"/>
          <p:cNvPicPr>
            <a:picLocks noChangeAspect="1"/>
          </p:cNvPicPr>
          <p:nvPr/>
        </p:nvPicPr>
        <p:blipFill>
          <a:blip r:embed="rId3"/>
          <a:stretch>
            <a:fillRect/>
          </a:stretch>
        </p:blipFill>
        <p:spPr>
          <a:xfrm>
            <a:off x="6035040" y="1882930"/>
            <a:ext cx="5468112" cy="3092137"/>
          </a:xfrm>
          <a:prstGeom prst="roundRect">
            <a:avLst>
              <a:gd name="adj" fmla="val 4000"/>
            </a:avLst>
          </a:prstGeom>
          <a:effectLst>
            <a:outerShdw blurRad="177800" dist="38100" dir="5400000" algn="t" rotWithShape="0">
              <a:srgbClr val="1A0507">
                <a:alpha val="14000"/>
              </a:srgbClr>
            </a:outerShdw>
          </a:effectLst>
        </p:spPr>
      </p:pic>
      <p:sp>
        <p:nvSpPr>
          <p:cNvPr id="5" name="!!Title"/>
          <p:cNvSpPr txBox="1"/>
          <p:nvPr/>
        </p:nvSpPr>
        <p:spPr>
          <a:xfrm>
            <a:off x="685800" y="914400"/>
            <a:ext cx="9144000" cy="731520"/>
          </a:xfrm>
          <a:prstGeom prst="rect">
            <a:avLst/>
          </a:prstGeom>
          <a:noFill/>
        </p:spPr>
        <p:txBody>
          <a:bodyPr wrap="square" lIns="0" rIns="0" tIns="0" bIns="0" anchor="t">
            <a:noAutofit/>
          </a:bodyPr>
          <a:lstStyle/>
          <a:p>
            <a:pPr algn="l">
              <a:lnSpc>
                <a:spcPct val="95000"/>
              </a:lnSpc>
            </a:pPr>
            <a:r>
              <a:rPr sz="3600">
                <a:solidFill>
                  <a:srgbClr val="7B1421"/>
                </a:solidFill>
                <a:latin typeface="Cream Heavy"/>
              </a:rPr>
              <a:t>Zone de protection et déclinaisons</a:t>
            </a:r>
          </a:p>
        </p:txBody>
      </p:sp>
      <p:sp>
        <p:nvSpPr>
          <p:cNvPr id="6" name="!!Body"/>
          <p:cNvSpPr txBox="1"/>
          <p:nvPr/>
        </p:nvSpPr>
        <p:spPr>
          <a:xfrm>
            <a:off x="685800" y="5257800"/>
            <a:ext cx="10820400" cy="411480"/>
          </a:xfrm>
          <a:prstGeom prst="rect">
            <a:avLst/>
          </a:prstGeom>
          <a:noFill/>
        </p:spPr>
        <p:txBody>
          <a:bodyPr wrap="square" lIns="0" rIns="0" tIns="0" bIns="0" anchor="t">
            <a:noAutofit/>
          </a:bodyPr>
          <a:lstStyle/>
          <a:p>
            <a:pPr algn="ctr">
              <a:lnSpc>
                <a:spcPct val="112000"/>
              </a:lnSpc>
              <a:spcAft>
                <a:spcPts val="800"/>
              </a:spcAft>
            </a:pPr>
            <a:r>
              <a:rPr sz="1500">
                <a:solidFill>
                  <a:srgbClr val="2A070D"/>
                </a:solidFill>
                <a:latin typeface="Montserrat Medium"/>
              </a:rPr>
              <a:t>Couleur pour fonds clairs  ·  Blanc pour fonds sombres  ·  Noir pour une seule couleur</a:t>
            </a:r>
          </a:p>
        </p:txBody>
      </p:sp>
      <p:sp>
        <p:nvSpPr>
          <p:cNvPr id="7" name="!!Accent"/>
          <p:cNvSpPr/>
          <p:nvPr/>
        </p:nvSpPr>
        <p:spPr>
          <a:xfrm>
            <a:off x="685800" y="338328"/>
            <a:ext cx="384048" cy="32004"/>
          </a:xfrm>
          <a:prstGeom prst="rect">
            <a:avLst/>
          </a:prstGeom>
          <a:solidFill>
            <a:srgbClr val="F9A825"/>
          </a:solidFill>
          <a:ln>
            <a:noFill/>
          </a:ln>
        </p:spPr>
        <p:txBody>
          <a:bodyPr rtlCol="0" anchor="ctr"/>
          <a:lstStyle/>
          <a:p/>
        </p:txBody>
      </p:sp>
      <p:sp>
        <p:nvSpPr>
          <p:cNvPr id="8"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03 · Charte graphique</a:t>
            </a:r>
          </a:p>
        </p:txBody>
      </p:sp>
      <p:sp>
        <p:nvSpPr>
          <p:cNvPr id="9"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21</a:t>
            </a:r>
          </a:p>
        </p:txBody>
      </p:sp>
      <p:sp>
        <p:nvSpPr>
          <p:cNvPr id="10"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11"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12"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13" name="!!Logo" descr="Logo Marin'Or Ivoire"/>
          <p:cNvPicPr>
            <a:picLocks noChangeAspect="1"/>
          </p:cNvPicPr>
          <p:nvPr/>
        </p:nvPicPr>
        <p:blipFill>
          <a:blip r:embed="rId4"/>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decel="100000"/>
                                        <p:tgtEl>
                                          <p:spTgt spid="5"/>
                                        </p:tgtEl>
                                      </p:cBhvr>
                                    </p:animEffect>
                                    <p:anim calcmode="lin" valueType="num">
                                      <p:cBhvr>
                                        <p:cTn id="8" dur="500" decel="100000" fill="hold"/>
                                        <p:tgtEl>
                                          <p:spTgt spid="5"/>
                                        </p:tgtEl>
                                        <p:attrNameLst>
                                          <p:attrName>ppt_x</p:attrName>
                                        </p:attrNameLst>
                                      </p:cBhvr>
                                      <p:tavLst>
                                        <p:tav tm="0">
                                          <p:val>
                                            <p:strVal val="#ppt_x"/>
                                          </p:val>
                                        </p:tav>
                                        <p:tav tm="100000">
                                          <p:val>
                                            <p:strVal val="#ppt_x"/>
                                          </p:val>
                                        </p:tav>
                                      </p:tavLst>
                                    </p:anim>
                                    <p:anim calcmode="lin" valueType="num">
                                      <p:cBhvr>
                                        <p:cTn id="9" dur="500" decel="100000" fill="hold"/>
                                        <p:tgtEl>
                                          <p:spTgt spid="5"/>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decel="100000"/>
                                        <p:tgtEl>
                                          <p:spTgt spid="8"/>
                                        </p:tgtEl>
                                      </p:cBhvr>
                                    </p:animEffect>
                                    <p:anim calcmode="lin" valueType="num">
                                      <p:cBhvr>
                                        <p:cTn id="13" dur="500" decel="100000" fill="hold"/>
                                        <p:tgtEl>
                                          <p:spTgt spid="8"/>
                                        </p:tgtEl>
                                        <p:attrNameLst>
                                          <p:attrName>ppt_x</p:attrName>
                                        </p:attrNameLst>
                                      </p:cBhvr>
                                      <p:tavLst>
                                        <p:tav tm="0">
                                          <p:val>
                                            <p:strVal val="#ppt_x"/>
                                          </p:val>
                                        </p:tav>
                                        <p:tav tm="100000">
                                          <p:val>
                                            <p:strVal val="#ppt_x"/>
                                          </p:val>
                                        </p:tav>
                                      </p:tavLst>
                                    </p:anim>
                                    <p:anim calcmode="lin" valueType="num">
                                      <p:cBhvr>
                                        <p:cTn id="14" dur="500" decel="100000" fill="hold"/>
                                        <p:tgtEl>
                                          <p:spTgt spid="8"/>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10"/>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11"/>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12"/>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400" decel="1000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500" decel="100000"/>
                                        <p:tgtEl>
                                          <p:spTgt spid="3"/>
                                        </p:tgtEl>
                                      </p:cBhvr>
                                    </p:animEffect>
                                    <p:anim calcmode="lin" valueType="num">
                                      <p:cBhvr>
                                        <p:cTn id="31" dur="500" decel="100000" fill="hold"/>
                                        <p:tgtEl>
                                          <p:spTgt spid="3"/>
                                        </p:tgtEl>
                                        <p:attrNameLst>
                                          <p:attrName>ppt_x</p:attrName>
                                        </p:attrNameLst>
                                      </p:cBhvr>
                                      <p:tavLst>
                                        <p:tav tm="0">
                                          <p:val>
                                            <p:strVal val="#ppt_x"/>
                                          </p:val>
                                        </p:tav>
                                        <p:tav tm="100000">
                                          <p:val>
                                            <p:strVal val="#ppt_x"/>
                                          </p:val>
                                        </p:tav>
                                      </p:tavLst>
                                    </p:anim>
                                    <p:anim calcmode="lin" valueType="num">
                                      <p:cBhvr>
                                        <p:cTn id="32" dur="500" decel="100000" fill="hold"/>
                                        <p:tgtEl>
                                          <p:spTgt spid="3"/>
                                        </p:tgtEl>
                                        <p:attrNameLst>
                                          <p:attrName>ppt_y</p:attrName>
                                        </p:attrNameLst>
                                      </p:cBhvr>
                                      <p:tavLst>
                                        <p:tav tm="0">
                                          <p:val>
                                            <p:strVal val="#ppt_y+0.0278"/>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decel="100000"/>
                                        <p:tgtEl>
                                          <p:spTgt spid="4"/>
                                        </p:tgtEl>
                                      </p:cBhvr>
                                    </p:animEffect>
                                    <p:anim calcmode="lin" valueType="num">
                                      <p:cBhvr>
                                        <p:cTn id="38" dur="500" decel="100000" fill="hold"/>
                                        <p:tgtEl>
                                          <p:spTgt spid="4"/>
                                        </p:tgtEl>
                                        <p:attrNameLst>
                                          <p:attrName>ppt_x</p:attrName>
                                        </p:attrNameLst>
                                      </p:cBhvr>
                                      <p:tavLst>
                                        <p:tav tm="0">
                                          <p:val>
                                            <p:strVal val="#ppt_x"/>
                                          </p:val>
                                        </p:tav>
                                        <p:tav tm="100000">
                                          <p:val>
                                            <p:strVal val="#ppt_x"/>
                                          </p:val>
                                        </p:tav>
                                      </p:tavLst>
                                    </p:anim>
                                    <p:anim calcmode="lin" valueType="num">
                                      <p:cBhvr>
                                        <p:cTn id="39" dur="500" decel="100000" fill="hold"/>
                                        <p:tgtEl>
                                          <p:spTgt spid="4"/>
                                        </p:tgtEl>
                                        <p:attrNameLst>
                                          <p:attrName>ppt_y</p:attrName>
                                        </p:attrNameLst>
                                      </p:cBhvr>
                                      <p:tavLst>
                                        <p:tav tm="0">
                                          <p:val>
                                            <p:strVal val="#ppt_y+0.0278"/>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500" decel="100000"/>
                                        <p:tgtEl>
                                          <p:spTgt spid="6"/>
                                        </p:tgtEl>
                                      </p:cBhvr>
                                    </p:animEffect>
                                    <p:anim calcmode="lin" valueType="num">
                                      <p:cBhvr>
                                        <p:cTn id="43" dur="500" decel="100000" fill="hold"/>
                                        <p:tgtEl>
                                          <p:spTgt spid="6"/>
                                        </p:tgtEl>
                                        <p:attrNameLst>
                                          <p:attrName>ppt_x</p:attrName>
                                        </p:attrNameLst>
                                      </p:cBhvr>
                                      <p:tavLst>
                                        <p:tav tm="0">
                                          <p:val>
                                            <p:strVal val="#ppt_x"/>
                                          </p:val>
                                        </p:tav>
                                        <p:tav tm="100000">
                                          <p:val>
                                            <p:strVal val="#ppt_x"/>
                                          </p:val>
                                        </p:tav>
                                      </p:tavLst>
                                    </p:anim>
                                    <p:anim calcmode="lin" valueType="num">
                                      <p:cBhvr>
                                        <p:cTn id="44" dur="500" decel="100000" fill="hold"/>
                                        <p:tgtEl>
                                          <p:spTgt spid="6"/>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P spid="10" grpId="0" animBg="1"/>
      <p:bldP spid="11" grpId="0" animBg="1"/>
      <p:bldP spid="12"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pic>
        <p:nvPicPr>
          <p:cNvPr id="3" name="!!Hero" descr="Les interdits du logo"/>
          <p:cNvPicPr>
            <a:picLocks noChangeAspect="1"/>
          </p:cNvPicPr>
          <p:nvPr/>
        </p:nvPicPr>
        <p:blipFill>
          <a:blip r:embed="rId2"/>
          <a:stretch>
            <a:fillRect/>
          </a:stretch>
        </p:blipFill>
        <p:spPr>
          <a:xfrm>
            <a:off x="3193911" y="1783080"/>
            <a:ext cx="5773697" cy="3246120"/>
          </a:xfrm>
          <a:prstGeom prst="roundRect">
            <a:avLst>
              <a:gd name="adj" fmla="val 4000"/>
            </a:avLst>
          </a:prstGeom>
          <a:effectLst>
            <a:outerShdw blurRad="177800" dist="38100" dir="5400000" algn="t" rotWithShape="0">
              <a:srgbClr val="1A0507">
                <a:alpha val="14000"/>
              </a:srgbClr>
            </a:outerShdw>
          </a:effectLst>
        </p:spPr>
      </p:pic>
      <p:sp>
        <p:nvSpPr>
          <p:cNvPr id="4" name="!!Title"/>
          <p:cNvSpPr txBox="1"/>
          <p:nvPr/>
        </p:nvSpPr>
        <p:spPr>
          <a:xfrm>
            <a:off x="685800" y="914400"/>
            <a:ext cx="8229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Les interdits</a:t>
            </a:r>
          </a:p>
        </p:txBody>
      </p:sp>
      <p:sp>
        <p:nvSpPr>
          <p:cNvPr id="5" name="!!Body"/>
          <p:cNvSpPr txBox="1"/>
          <p:nvPr/>
        </p:nvSpPr>
        <p:spPr>
          <a:xfrm>
            <a:off x="685800" y="5349240"/>
            <a:ext cx="10820400" cy="411480"/>
          </a:xfrm>
          <a:prstGeom prst="rect">
            <a:avLst/>
          </a:prstGeom>
          <a:noFill/>
        </p:spPr>
        <p:txBody>
          <a:bodyPr wrap="square" lIns="0" rIns="0" tIns="0" bIns="0" anchor="t">
            <a:noAutofit/>
          </a:bodyPr>
          <a:lstStyle/>
          <a:p>
            <a:pPr algn="ctr">
              <a:lnSpc>
                <a:spcPct val="112000"/>
              </a:lnSpc>
              <a:spcAft>
                <a:spcPts val="800"/>
              </a:spcAft>
            </a:pPr>
            <a:r>
              <a:rPr sz="1500">
                <a:solidFill>
                  <a:srgbClr val="2A070D"/>
                </a:solidFill>
                <a:latin typeface="Montserrat Medium"/>
              </a:rPr>
              <a:t>Les manipulations à éviter pour préserver l'intégrité du logotype.</a:t>
            </a:r>
          </a:p>
        </p:txBody>
      </p:sp>
      <p:sp>
        <p:nvSpPr>
          <p:cNvPr id="6" name="!!Accent"/>
          <p:cNvSpPr/>
          <p:nvPr/>
        </p:nvSpPr>
        <p:spPr>
          <a:xfrm>
            <a:off x="685800" y="338328"/>
            <a:ext cx="384048" cy="32004"/>
          </a:xfrm>
          <a:prstGeom prst="rect">
            <a:avLst/>
          </a:prstGeom>
          <a:solidFill>
            <a:srgbClr val="F9A825"/>
          </a:solidFill>
          <a:ln>
            <a:noFill/>
          </a:ln>
        </p:spPr>
        <p:txBody>
          <a:bodyPr rtlCol="0" anchor="ctr"/>
          <a:lstStyle/>
          <a:p/>
        </p:txBody>
      </p:sp>
      <p:sp>
        <p:nvSpPr>
          <p:cNvPr id="7"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03 · Charte graphique</a:t>
            </a:r>
          </a:p>
        </p:txBody>
      </p:sp>
      <p:sp>
        <p:nvSpPr>
          <p:cNvPr id="8"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22</a:t>
            </a:r>
          </a:p>
        </p:txBody>
      </p:sp>
      <p:sp>
        <p:nvSpPr>
          <p:cNvPr id="9"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10"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11"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12" name="!!Logo" descr="Logo Marin'Or Ivoire"/>
          <p:cNvPicPr>
            <a:picLocks noChangeAspect="1"/>
          </p:cNvPicPr>
          <p:nvPr/>
        </p:nvPicPr>
        <p:blipFill>
          <a:blip r:embed="rId3"/>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decel="100000"/>
                                        <p:tgtEl>
                                          <p:spTgt spid="4"/>
                                        </p:tgtEl>
                                      </p:cBhvr>
                                    </p:animEffect>
                                    <p:anim calcmode="lin" valueType="num">
                                      <p:cBhvr>
                                        <p:cTn id="8" dur="500" decel="100000" fill="hold"/>
                                        <p:tgtEl>
                                          <p:spTgt spid="4"/>
                                        </p:tgtEl>
                                        <p:attrNameLst>
                                          <p:attrName>ppt_x</p:attrName>
                                        </p:attrNameLst>
                                      </p:cBhvr>
                                      <p:tavLst>
                                        <p:tav tm="0">
                                          <p:val>
                                            <p:strVal val="#ppt_x"/>
                                          </p:val>
                                        </p:tav>
                                        <p:tav tm="100000">
                                          <p:val>
                                            <p:strVal val="#ppt_x"/>
                                          </p:val>
                                        </p:tav>
                                      </p:tavLst>
                                    </p:anim>
                                    <p:anim calcmode="lin" valueType="num">
                                      <p:cBhvr>
                                        <p:cTn id="9" dur="500" decel="100000" fill="hold"/>
                                        <p:tgtEl>
                                          <p:spTgt spid="4"/>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decel="100000"/>
                                        <p:tgtEl>
                                          <p:spTgt spid="7"/>
                                        </p:tgtEl>
                                      </p:cBhvr>
                                    </p:animEffect>
                                    <p:anim calcmode="lin" valueType="num">
                                      <p:cBhvr>
                                        <p:cTn id="13" dur="500" decel="100000" fill="hold"/>
                                        <p:tgtEl>
                                          <p:spTgt spid="7"/>
                                        </p:tgtEl>
                                        <p:attrNameLst>
                                          <p:attrName>ppt_x</p:attrName>
                                        </p:attrNameLst>
                                      </p:cBhvr>
                                      <p:tavLst>
                                        <p:tav tm="0">
                                          <p:val>
                                            <p:strVal val="#ppt_x"/>
                                          </p:val>
                                        </p:tav>
                                        <p:tav tm="100000">
                                          <p:val>
                                            <p:strVal val="#ppt_x"/>
                                          </p:val>
                                        </p:tav>
                                      </p:tavLst>
                                    </p:anim>
                                    <p:anim calcmode="lin" valueType="num">
                                      <p:cBhvr>
                                        <p:cTn id="14" dur="500" decel="100000" fill="hold"/>
                                        <p:tgtEl>
                                          <p:spTgt spid="7"/>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9"/>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10"/>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11"/>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4" dur="400" decel="1000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500" decel="100000"/>
                                        <p:tgtEl>
                                          <p:spTgt spid="3"/>
                                        </p:tgtEl>
                                      </p:cBhvr>
                                    </p:animEffect>
                                    <p:anim calcmode="lin" valueType="num">
                                      <p:cBhvr>
                                        <p:cTn id="31" dur="500" decel="100000" fill="hold"/>
                                        <p:tgtEl>
                                          <p:spTgt spid="3"/>
                                        </p:tgtEl>
                                        <p:attrNameLst>
                                          <p:attrName>ppt_x</p:attrName>
                                        </p:attrNameLst>
                                      </p:cBhvr>
                                      <p:tavLst>
                                        <p:tav tm="0">
                                          <p:val>
                                            <p:strVal val="#ppt_x"/>
                                          </p:val>
                                        </p:tav>
                                        <p:tav tm="100000">
                                          <p:val>
                                            <p:strVal val="#ppt_x"/>
                                          </p:val>
                                        </p:tav>
                                      </p:tavLst>
                                    </p:anim>
                                    <p:anim calcmode="lin" valueType="num">
                                      <p:cBhvr>
                                        <p:cTn id="32" dur="500" decel="100000" fill="hold"/>
                                        <p:tgtEl>
                                          <p:spTgt spid="3"/>
                                        </p:tgtEl>
                                        <p:attrNameLst>
                                          <p:attrName>ppt_y</p:attrName>
                                        </p:attrNameLst>
                                      </p:cBhvr>
                                      <p:tavLst>
                                        <p:tav tm="0">
                                          <p:val>
                                            <p:strVal val="#ppt_y+0.027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decel="100000"/>
                                        <p:tgtEl>
                                          <p:spTgt spid="5"/>
                                        </p:tgtEl>
                                      </p:cBhvr>
                                    </p:animEffect>
                                    <p:anim calcmode="lin" valueType="num">
                                      <p:cBhvr>
                                        <p:cTn id="36" dur="500" decel="100000" fill="hold"/>
                                        <p:tgtEl>
                                          <p:spTgt spid="5"/>
                                        </p:tgtEl>
                                        <p:attrNameLst>
                                          <p:attrName>ppt_x</p:attrName>
                                        </p:attrNameLst>
                                      </p:cBhvr>
                                      <p:tavLst>
                                        <p:tav tm="0">
                                          <p:val>
                                            <p:strVal val="#ppt_x"/>
                                          </p:val>
                                        </p:tav>
                                        <p:tav tm="100000">
                                          <p:val>
                                            <p:strVal val="#ppt_x"/>
                                          </p:val>
                                        </p:tav>
                                      </p:tavLst>
                                    </p:anim>
                                    <p:anim calcmode="lin" valueType="num">
                                      <p:cBhvr>
                                        <p:cTn id="37" dur="500" decel="100000" fill="hold"/>
                                        <p:tgtEl>
                                          <p:spTgt spid="5"/>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9" grpId="0" animBg="1"/>
      <p:bldP spid="10" grpId="0" animBg="1"/>
      <p:bldP spid="11"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sp>
        <p:nvSpPr>
          <p:cNvPr id="3" name="!!Title"/>
          <p:cNvSpPr txBox="1"/>
          <p:nvPr/>
        </p:nvSpPr>
        <p:spPr>
          <a:xfrm>
            <a:off x="685800" y="914400"/>
            <a:ext cx="8229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Typographie</a:t>
            </a:r>
          </a:p>
        </p:txBody>
      </p:sp>
      <p:sp>
        <p:nvSpPr>
          <p:cNvPr id="4" name="!!Card0"/>
          <p:cNvSpPr/>
          <p:nvPr/>
        </p:nvSpPr>
        <p:spPr>
          <a:xfrm>
            <a:off x="685800" y="2011680"/>
            <a:ext cx="3383280" cy="3108960"/>
          </a:xfrm>
          <a:prstGeom prst="roundRect">
            <a:avLst>
              <a:gd name="adj" fmla="val 7000"/>
            </a:avLst>
          </a:prstGeom>
          <a:solidFill>
            <a:srgbClr val="F6E8EA"/>
          </a:solidFill>
          <a:ln>
            <a:noFill/>
          </a:ln>
        </p:spPr>
        <p:txBody>
          <a:bodyPr rtlCol="0" anchor="ctr"/>
          <a:lstStyle/>
          <a:p/>
        </p:txBody>
      </p:sp>
      <p:sp>
        <p:nvSpPr>
          <p:cNvPr id="5" name="!!Aa0"/>
          <p:cNvSpPr txBox="1"/>
          <p:nvPr/>
        </p:nvSpPr>
        <p:spPr>
          <a:xfrm>
            <a:off x="1005840" y="2194560"/>
            <a:ext cx="2743200" cy="1463040"/>
          </a:xfrm>
          <a:prstGeom prst="rect">
            <a:avLst/>
          </a:prstGeom>
          <a:noFill/>
        </p:spPr>
        <p:txBody>
          <a:bodyPr wrap="square" lIns="0" rIns="0" tIns="0" bIns="0" anchor="t">
            <a:noAutofit/>
          </a:bodyPr>
          <a:lstStyle/>
          <a:p>
            <a:pPr algn="l"/>
            <a:r>
              <a:rPr sz="7200">
                <a:solidFill>
                  <a:srgbClr val="7B1421"/>
                </a:solidFill>
                <a:latin typeface="Montserrat SemiBold"/>
              </a:rPr>
              <a:t>Aa</a:t>
            </a:r>
          </a:p>
        </p:txBody>
      </p:sp>
      <p:sp>
        <p:nvSpPr>
          <p:cNvPr id="6" name="!!CardT0"/>
          <p:cNvSpPr txBox="1"/>
          <p:nvPr/>
        </p:nvSpPr>
        <p:spPr>
          <a:xfrm>
            <a:off x="1005840" y="3794760"/>
            <a:ext cx="2834640" cy="365760"/>
          </a:xfrm>
          <a:prstGeom prst="rect">
            <a:avLst/>
          </a:prstGeom>
          <a:noFill/>
        </p:spPr>
        <p:txBody>
          <a:bodyPr wrap="square" lIns="0" rIns="0" tIns="0" bIns="0" anchor="t">
            <a:noAutofit/>
          </a:bodyPr>
          <a:lstStyle/>
          <a:p>
            <a:pPr algn="l"/>
            <a:r>
              <a:rPr sz="1600">
                <a:solidFill>
                  <a:srgbClr val="2A070D"/>
                </a:solidFill>
                <a:latin typeface="Montserrat SemiBold"/>
              </a:rPr>
              <a:t>Montserrat</a:t>
            </a:r>
          </a:p>
        </p:txBody>
      </p:sp>
      <p:sp>
        <p:nvSpPr>
          <p:cNvPr id="7" name="!!CardD0"/>
          <p:cNvSpPr txBox="1"/>
          <p:nvPr/>
        </p:nvSpPr>
        <p:spPr>
          <a:xfrm>
            <a:off x="1005840" y="4206240"/>
            <a:ext cx="2834640" cy="365760"/>
          </a:xfrm>
          <a:prstGeom prst="rect">
            <a:avLst/>
          </a:prstGeom>
          <a:noFill/>
        </p:spPr>
        <p:txBody>
          <a:bodyPr wrap="square" lIns="0" rIns="0" tIns="0" bIns="0" anchor="t">
            <a:noAutofit/>
          </a:bodyPr>
          <a:lstStyle/>
          <a:p>
            <a:pPr algn="l"/>
            <a:r>
              <a:rPr sz="1300">
                <a:solidFill>
                  <a:srgbClr val="6E5A5D"/>
                </a:solidFill>
                <a:latin typeface="Montserrat Medium"/>
              </a:rPr>
              <a:t>Titres, sous-titres et textes</a:t>
            </a:r>
          </a:p>
        </p:txBody>
      </p:sp>
      <p:sp>
        <p:nvSpPr>
          <p:cNvPr id="8" name="!!Card1"/>
          <p:cNvSpPr/>
          <p:nvPr/>
        </p:nvSpPr>
        <p:spPr>
          <a:xfrm>
            <a:off x="4297680" y="2011680"/>
            <a:ext cx="3383280" cy="3108960"/>
          </a:xfrm>
          <a:prstGeom prst="roundRect">
            <a:avLst>
              <a:gd name="adj" fmla="val 7000"/>
            </a:avLst>
          </a:prstGeom>
          <a:solidFill>
            <a:srgbClr val="F6E8EA"/>
          </a:solidFill>
          <a:ln>
            <a:noFill/>
          </a:ln>
        </p:spPr>
        <p:txBody>
          <a:bodyPr rtlCol="0" anchor="ctr"/>
          <a:lstStyle/>
          <a:p/>
        </p:txBody>
      </p:sp>
      <p:sp>
        <p:nvSpPr>
          <p:cNvPr id="9" name="!!Aa1"/>
          <p:cNvSpPr txBox="1"/>
          <p:nvPr/>
        </p:nvSpPr>
        <p:spPr>
          <a:xfrm>
            <a:off x="4617720" y="2194560"/>
            <a:ext cx="2743200" cy="1463040"/>
          </a:xfrm>
          <a:prstGeom prst="rect">
            <a:avLst/>
          </a:prstGeom>
          <a:noFill/>
        </p:spPr>
        <p:txBody>
          <a:bodyPr wrap="square" lIns="0" rIns="0" tIns="0" bIns="0" anchor="t">
            <a:noAutofit/>
          </a:bodyPr>
          <a:lstStyle/>
          <a:p>
            <a:pPr algn="l"/>
            <a:r>
              <a:rPr sz="7200">
                <a:solidFill>
                  <a:srgbClr val="7B1421"/>
                </a:solidFill>
                <a:latin typeface="Cream Heavy"/>
              </a:rPr>
              <a:t>Aa</a:t>
            </a:r>
          </a:p>
        </p:txBody>
      </p:sp>
      <p:sp>
        <p:nvSpPr>
          <p:cNvPr id="10" name="!!CardT1"/>
          <p:cNvSpPr txBox="1"/>
          <p:nvPr/>
        </p:nvSpPr>
        <p:spPr>
          <a:xfrm>
            <a:off x="4617720" y="3794760"/>
            <a:ext cx="2834640" cy="365760"/>
          </a:xfrm>
          <a:prstGeom prst="rect">
            <a:avLst/>
          </a:prstGeom>
          <a:noFill/>
        </p:spPr>
        <p:txBody>
          <a:bodyPr wrap="square" lIns="0" rIns="0" tIns="0" bIns="0" anchor="t">
            <a:noAutofit/>
          </a:bodyPr>
          <a:lstStyle/>
          <a:p>
            <a:pPr algn="l"/>
            <a:r>
              <a:rPr sz="1600">
                <a:solidFill>
                  <a:srgbClr val="2A070D"/>
                </a:solidFill>
                <a:latin typeface="Montserrat SemiBold"/>
              </a:rPr>
              <a:t>Cream Heavy</a:t>
            </a:r>
          </a:p>
        </p:txBody>
      </p:sp>
      <p:sp>
        <p:nvSpPr>
          <p:cNvPr id="11" name="!!CardD1"/>
          <p:cNvSpPr txBox="1"/>
          <p:nvPr/>
        </p:nvSpPr>
        <p:spPr>
          <a:xfrm>
            <a:off x="4617720" y="4206240"/>
            <a:ext cx="2834640" cy="365760"/>
          </a:xfrm>
          <a:prstGeom prst="rect">
            <a:avLst/>
          </a:prstGeom>
          <a:noFill/>
        </p:spPr>
        <p:txBody>
          <a:bodyPr wrap="square" lIns="0" rIns="0" tIns="0" bIns="0" anchor="t">
            <a:noAutofit/>
          </a:bodyPr>
          <a:lstStyle/>
          <a:p>
            <a:pPr algn="l"/>
            <a:r>
              <a:rPr sz="1300">
                <a:solidFill>
                  <a:srgbClr val="6E5A5D"/>
                </a:solidFill>
                <a:latin typeface="Montserrat Medium"/>
              </a:rPr>
              <a:t>Accroches et titres forts</a:t>
            </a:r>
          </a:p>
        </p:txBody>
      </p:sp>
      <p:sp>
        <p:nvSpPr>
          <p:cNvPr id="12" name="!!Card2"/>
          <p:cNvSpPr/>
          <p:nvPr/>
        </p:nvSpPr>
        <p:spPr>
          <a:xfrm>
            <a:off x="7909560" y="2011680"/>
            <a:ext cx="3383280" cy="3108960"/>
          </a:xfrm>
          <a:prstGeom prst="roundRect">
            <a:avLst>
              <a:gd name="adj" fmla="val 7000"/>
            </a:avLst>
          </a:prstGeom>
          <a:solidFill>
            <a:srgbClr val="F6E8EA"/>
          </a:solidFill>
          <a:ln>
            <a:noFill/>
          </a:ln>
        </p:spPr>
        <p:txBody>
          <a:bodyPr rtlCol="0" anchor="ctr"/>
          <a:lstStyle/>
          <a:p/>
        </p:txBody>
      </p:sp>
      <p:pic>
        <p:nvPicPr>
          <p:cNvPr id="13" name="!!Spec" descr="Wordmark en RadioTime Tooled"/>
          <p:cNvPicPr>
            <a:picLocks noChangeAspect="1"/>
          </p:cNvPicPr>
          <p:nvPr/>
        </p:nvPicPr>
        <p:blipFill>
          <a:blip r:embed="rId2"/>
          <a:stretch>
            <a:fillRect/>
          </a:stretch>
        </p:blipFill>
        <p:spPr>
          <a:xfrm>
            <a:off x="8412480" y="2333186"/>
            <a:ext cx="2377440" cy="1245503"/>
          </a:xfrm>
          <a:prstGeom prst="rect">
            <a:avLst/>
          </a:prstGeom>
        </p:spPr>
      </p:pic>
      <p:sp>
        <p:nvSpPr>
          <p:cNvPr id="14" name="!!CardT2"/>
          <p:cNvSpPr txBox="1"/>
          <p:nvPr/>
        </p:nvSpPr>
        <p:spPr>
          <a:xfrm>
            <a:off x="8229600" y="3794760"/>
            <a:ext cx="2834640" cy="365760"/>
          </a:xfrm>
          <a:prstGeom prst="rect">
            <a:avLst/>
          </a:prstGeom>
          <a:noFill/>
        </p:spPr>
        <p:txBody>
          <a:bodyPr wrap="square" lIns="0" rIns="0" tIns="0" bIns="0" anchor="t">
            <a:noAutofit/>
          </a:bodyPr>
          <a:lstStyle/>
          <a:p>
            <a:pPr algn="l"/>
            <a:r>
              <a:rPr sz="1600">
                <a:solidFill>
                  <a:srgbClr val="2A070D"/>
                </a:solidFill>
                <a:latin typeface="Montserrat SemiBold"/>
              </a:rPr>
              <a:t>RadioTime Tooled</a:t>
            </a:r>
          </a:p>
        </p:txBody>
      </p:sp>
      <p:sp>
        <p:nvSpPr>
          <p:cNvPr id="15" name="!!CardD2"/>
          <p:cNvSpPr txBox="1"/>
          <p:nvPr/>
        </p:nvSpPr>
        <p:spPr>
          <a:xfrm>
            <a:off x="8229600" y="4206240"/>
            <a:ext cx="2834640" cy="365760"/>
          </a:xfrm>
          <a:prstGeom prst="rect">
            <a:avLst/>
          </a:prstGeom>
          <a:noFill/>
        </p:spPr>
        <p:txBody>
          <a:bodyPr wrap="square" lIns="0" rIns="0" tIns="0" bIns="0" anchor="t">
            <a:noAutofit/>
          </a:bodyPr>
          <a:lstStyle/>
          <a:p>
            <a:pPr algn="l"/>
            <a:r>
              <a:rPr sz="1300">
                <a:solidFill>
                  <a:srgbClr val="6E5A5D"/>
                </a:solidFill>
                <a:latin typeface="Montserrat Medium"/>
              </a:rPr>
              <a:t>Réservée au logotype</a:t>
            </a:r>
          </a:p>
        </p:txBody>
      </p:sp>
      <p:sp>
        <p:nvSpPr>
          <p:cNvPr id="16" name="!!Accent"/>
          <p:cNvSpPr/>
          <p:nvPr/>
        </p:nvSpPr>
        <p:spPr>
          <a:xfrm>
            <a:off x="685800" y="338328"/>
            <a:ext cx="384048" cy="32004"/>
          </a:xfrm>
          <a:prstGeom prst="rect">
            <a:avLst/>
          </a:prstGeom>
          <a:solidFill>
            <a:srgbClr val="F9A825"/>
          </a:solidFill>
          <a:ln>
            <a:noFill/>
          </a:ln>
        </p:spPr>
        <p:txBody>
          <a:bodyPr rtlCol="0" anchor="ctr"/>
          <a:lstStyle/>
          <a:p/>
        </p:txBody>
      </p:sp>
      <p:sp>
        <p:nvSpPr>
          <p:cNvPr id="17"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03 · Charte graphique</a:t>
            </a:r>
          </a:p>
        </p:txBody>
      </p:sp>
      <p:sp>
        <p:nvSpPr>
          <p:cNvPr id="18"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23</a:t>
            </a:r>
          </a:p>
        </p:txBody>
      </p:sp>
      <p:sp>
        <p:nvSpPr>
          <p:cNvPr id="19"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20"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21"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22" name="!!Logo" descr="Logo Marin'Or Ivoire"/>
          <p:cNvPicPr>
            <a:picLocks noChangeAspect="1"/>
          </p:cNvPicPr>
          <p:nvPr/>
        </p:nvPicPr>
        <p:blipFill>
          <a:blip r:embed="rId2"/>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decel="1000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decel="100000"/>
                                        <p:tgtEl>
                                          <p:spTgt spid="17"/>
                                        </p:tgtEl>
                                      </p:cBhvr>
                                    </p:animEffect>
                                    <p:anim calcmode="lin" valueType="num">
                                      <p:cBhvr>
                                        <p:cTn id="13" dur="500" decel="100000" fill="hold"/>
                                        <p:tgtEl>
                                          <p:spTgt spid="17"/>
                                        </p:tgtEl>
                                        <p:attrNameLst>
                                          <p:attrName>ppt_x</p:attrName>
                                        </p:attrNameLst>
                                      </p:cBhvr>
                                      <p:tavLst>
                                        <p:tav tm="0">
                                          <p:val>
                                            <p:strVal val="#ppt_x"/>
                                          </p:val>
                                        </p:tav>
                                        <p:tav tm="100000">
                                          <p:val>
                                            <p:strVal val="#ppt_x"/>
                                          </p:val>
                                        </p:tav>
                                      </p:tavLst>
                                    </p:anim>
                                    <p:anim calcmode="lin" valueType="num">
                                      <p:cBhvr>
                                        <p:cTn id="14" dur="500" decel="100000" fill="hold"/>
                                        <p:tgtEl>
                                          <p:spTgt spid="17"/>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19"/>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20"/>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21"/>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left)">
                                      <p:cBhvr>
                                        <p:cTn id="24" dur="400" decel="1000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decel="100000"/>
                                        <p:tgtEl>
                                          <p:spTgt spid="4"/>
                                        </p:tgtEl>
                                      </p:cBhvr>
                                    </p:animEffect>
                                    <p:anim calcmode="lin" valueType="num">
                                      <p:cBhvr>
                                        <p:cTn id="31" dur="500" decel="100000" fill="hold"/>
                                        <p:tgtEl>
                                          <p:spTgt spid="4"/>
                                        </p:tgtEl>
                                        <p:attrNameLst>
                                          <p:attrName>ppt_x</p:attrName>
                                        </p:attrNameLst>
                                      </p:cBhvr>
                                      <p:tavLst>
                                        <p:tav tm="0">
                                          <p:val>
                                            <p:strVal val="#ppt_x"/>
                                          </p:val>
                                        </p:tav>
                                        <p:tav tm="100000">
                                          <p:val>
                                            <p:strVal val="#ppt_x"/>
                                          </p:val>
                                        </p:tav>
                                      </p:tavLst>
                                    </p:anim>
                                    <p:anim calcmode="lin" valueType="num">
                                      <p:cBhvr>
                                        <p:cTn id="32" dur="500" decel="100000" fill="hold"/>
                                        <p:tgtEl>
                                          <p:spTgt spid="4"/>
                                        </p:tgtEl>
                                        <p:attrNameLst>
                                          <p:attrName>ppt_y</p:attrName>
                                        </p:attrNameLst>
                                      </p:cBhvr>
                                      <p:tavLst>
                                        <p:tav tm="0">
                                          <p:val>
                                            <p:strVal val="#ppt_y+0.027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decel="100000"/>
                                        <p:tgtEl>
                                          <p:spTgt spid="5"/>
                                        </p:tgtEl>
                                      </p:cBhvr>
                                    </p:animEffect>
                                    <p:anim calcmode="lin" valueType="num">
                                      <p:cBhvr>
                                        <p:cTn id="36" dur="500" decel="100000" fill="hold"/>
                                        <p:tgtEl>
                                          <p:spTgt spid="5"/>
                                        </p:tgtEl>
                                        <p:attrNameLst>
                                          <p:attrName>ppt_x</p:attrName>
                                        </p:attrNameLst>
                                      </p:cBhvr>
                                      <p:tavLst>
                                        <p:tav tm="0">
                                          <p:val>
                                            <p:strVal val="#ppt_x"/>
                                          </p:val>
                                        </p:tav>
                                        <p:tav tm="100000">
                                          <p:val>
                                            <p:strVal val="#ppt_x"/>
                                          </p:val>
                                        </p:tav>
                                      </p:tavLst>
                                    </p:anim>
                                    <p:anim calcmode="lin" valueType="num">
                                      <p:cBhvr>
                                        <p:cTn id="37" dur="500" decel="100000" fill="hold"/>
                                        <p:tgtEl>
                                          <p:spTgt spid="5"/>
                                        </p:tgtEl>
                                        <p:attrNameLst>
                                          <p:attrName>ppt_y</p:attrName>
                                        </p:attrNameLst>
                                      </p:cBhvr>
                                      <p:tavLst>
                                        <p:tav tm="0">
                                          <p:val>
                                            <p:strVal val="#ppt_y+0.0278"/>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500" decel="100000"/>
                                        <p:tgtEl>
                                          <p:spTgt spid="6"/>
                                        </p:tgtEl>
                                      </p:cBhvr>
                                    </p:animEffect>
                                    <p:anim calcmode="lin" valueType="num">
                                      <p:cBhvr>
                                        <p:cTn id="41" dur="500" decel="100000" fill="hold"/>
                                        <p:tgtEl>
                                          <p:spTgt spid="6"/>
                                        </p:tgtEl>
                                        <p:attrNameLst>
                                          <p:attrName>ppt_x</p:attrName>
                                        </p:attrNameLst>
                                      </p:cBhvr>
                                      <p:tavLst>
                                        <p:tav tm="0">
                                          <p:val>
                                            <p:strVal val="#ppt_x"/>
                                          </p:val>
                                        </p:tav>
                                        <p:tav tm="100000">
                                          <p:val>
                                            <p:strVal val="#ppt_x"/>
                                          </p:val>
                                        </p:tav>
                                      </p:tavLst>
                                    </p:anim>
                                    <p:anim calcmode="lin" valueType="num">
                                      <p:cBhvr>
                                        <p:cTn id="42" dur="500" decel="100000" fill="hold"/>
                                        <p:tgtEl>
                                          <p:spTgt spid="6"/>
                                        </p:tgtEl>
                                        <p:attrNameLst>
                                          <p:attrName>ppt_y</p:attrName>
                                        </p:attrNameLst>
                                      </p:cBhvr>
                                      <p:tavLst>
                                        <p:tav tm="0">
                                          <p:val>
                                            <p:strVal val="#ppt_y+0.0278"/>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decel="100000"/>
                                        <p:tgtEl>
                                          <p:spTgt spid="7"/>
                                        </p:tgtEl>
                                      </p:cBhvr>
                                    </p:animEffect>
                                    <p:anim calcmode="lin" valueType="num">
                                      <p:cBhvr>
                                        <p:cTn id="46" dur="500" decel="100000" fill="hold"/>
                                        <p:tgtEl>
                                          <p:spTgt spid="7"/>
                                        </p:tgtEl>
                                        <p:attrNameLst>
                                          <p:attrName>ppt_x</p:attrName>
                                        </p:attrNameLst>
                                      </p:cBhvr>
                                      <p:tavLst>
                                        <p:tav tm="0">
                                          <p:val>
                                            <p:strVal val="#ppt_x"/>
                                          </p:val>
                                        </p:tav>
                                        <p:tav tm="100000">
                                          <p:val>
                                            <p:strVal val="#ppt_x"/>
                                          </p:val>
                                        </p:tav>
                                      </p:tavLst>
                                    </p:anim>
                                    <p:anim calcmode="lin" valueType="num">
                                      <p:cBhvr>
                                        <p:cTn id="47" dur="500" decel="100000" fill="hold"/>
                                        <p:tgtEl>
                                          <p:spTgt spid="7"/>
                                        </p:tgtEl>
                                        <p:attrNameLst>
                                          <p:attrName>ppt_y</p:attrName>
                                        </p:attrNameLst>
                                      </p:cBhvr>
                                      <p:tavLst>
                                        <p:tav tm="0">
                                          <p:val>
                                            <p:strVal val="#ppt_y+0.0278"/>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fade">
                                      <p:cBhvr>
                                        <p:cTn id="52" dur="500" decel="100000"/>
                                        <p:tgtEl>
                                          <p:spTgt spid="8"/>
                                        </p:tgtEl>
                                      </p:cBhvr>
                                    </p:animEffect>
                                    <p:anim calcmode="lin" valueType="num">
                                      <p:cBhvr>
                                        <p:cTn id="53" dur="500" decel="100000" fill="hold"/>
                                        <p:tgtEl>
                                          <p:spTgt spid="8"/>
                                        </p:tgtEl>
                                        <p:attrNameLst>
                                          <p:attrName>ppt_x</p:attrName>
                                        </p:attrNameLst>
                                      </p:cBhvr>
                                      <p:tavLst>
                                        <p:tav tm="0">
                                          <p:val>
                                            <p:strVal val="#ppt_x"/>
                                          </p:val>
                                        </p:tav>
                                        <p:tav tm="100000">
                                          <p:val>
                                            <p:strVal val="#ppt_x"/>
                                          </p:val>
                                        </p:tav>
                                      </p:tavLst>
                                    </p:anim>
                                    <p:anim calcmode="lin" valueType="num">
                                      <p:cBhvr>
                                        <p:cTn id="54" dur="500" decel="100000" fill="hold"/>
                                        <p:tgtEl>
                                          <p:spTgt spid="8"/>
                                        </p:tgtEl>
                                        <p:attrNameLst>
                                          <p:attrName>ppt_y</p:attrName>
                                        </p:attrNameLst>
                                      </p:cBhvr>
                                      <p:tavLst>
                                        <p:tav tm="0">
                                          <p:val>
                                            <p:strVal val="#ppt_y+0.0278"/>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fade">
                                      <p:cBhvr>
                                        <p:cTn id="57" dur="500" decel="100000"/>
                                        <p:tgtEl>
                                          <p:spTgt spid="9"/>
                                        </p:tgtEl>
                                      </p:cBhvr>
                                    </p:animEffect>
                                    <p:anim calcmode="lin" valueType="num">
                                      <p:cBhvr>
                                        <p:cTn id="58" dur="500" decel="100000" fill="hold"/>
                                        <p:tgtEl>
                                          <p:spTgt spid="9"/>
                                        </p:tgtEl>
                                        <p:attrNameLst>
                                          <p:attrName>ppt_x</p:attrName>
                                        </p:attrNameLst>
                                      </p:cBhvr>
                                      <p:tavLst>
                                        <p:tav tm="0">
                                          <p:val>
                                            <p:strVal val="#ppt_x"/>
                                          </p:val>
                                        </p:tav>
                                        <p:tav tm="100000">
                                          <p:val>
                                            <p:strVal val="#ppt_x"/>
                                          </p:val>
                                        </p:tav>
                                      </p:tavLst>
                                    </p:anim>
                                    <p:anim calcmode="lin" valueType="num">
                                      <p:cBhvr>
                                        <p:cTn id="59" dur="500" decel="100000" fill="hold"/>
                                        <p:tgtEl>
                                          <p:spTgt spid="9"/>
                                        </p:tgtEl>
                                        <p:attrNameLst>
                                          <p:attrName>ppt_y</p:attrName>
                                        </p:attrNameLst>
                                      </p:cBhvr>
                                      <p:tavLst>
                                        <p:tav tm="0">
                                          <p:val>
                                            <p:strVal val="#ppt_y+0.0278"/>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fade">
                                      <p:cBhvr>
                                        <p:cTn id="62" dur="500" decel="100000"/>
                                        <p:tgtEl>
                                          <p:spTgt spid="10"/>
                                        </p:tgtEl>
                                      </p:cBhvr>
                                    </p:animEffect>
                                    <p:anim calcmode="lin" valueType="num">
                                      <p:cBhvr>
                                        <p:cTn id="63" dur="500" decel="100000" fill="hold"/>
                                        <p:tgtEl>
                                          <p:spTgt spid="10"/>
                                        </p:tgtEl>
                                        <p:attrNameLst>
                                          <p:attrName>ppt_x</p:attrName>
                                        </p:attrNameLst>
                                      </p:cBhvr>
                                      <p:tavLst>
                                        <p:tav tm="0">
                                          <p:val>
                                            <p:strVal val="#ppt_x"/>
                                          </p:val>
                                        </p:tav>
                                        <p:tav tm="100000">
                                          <p:val>
                                            <p:strVal val="#ppt_x"/>
                                          </p:val>
                                        </p:tav>
                                      </p:tavLst>
                                    </p:anim>
                                    <p:anim calcmode="lin" valueType="num">
                                      <p:cBhvr>
                                        <p:cTn id="64" dur="500" decel="100000" fill="hold"/>
                                        <p:tgtEl>
                                          <p:spTgt spid="10"/>
                                        </p:tgtEl>
                                        <p:attrNameLst>
                                          <p:attrName>ppt_y</p:attrName>
                                        </p:attrNameLst>
                                      </p:cBhvr>
                                      <p:tavLst>
                                        <p:tav tm="0">
                                          <p:val>
                                            <p:strVal val="#ppt_y+0.0278"/>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fade">
                                      <p:cBhvr>
                                        <p:cTn id="67" dur="500" decel="100000"/>
                                        <p:tgtEl>
                                          <p:spTgt spid="11"/>
                                        </p:tgtEl>
                                      </p:cBhvr>
                                    </p:animEffect>
                                    <p:anim calcmode="lin" valueType="num">
                                      <p:cBhvr>
                                        <p:cTn id="68" dur="500" decel="100000" fill="hold"/>
                                        <p:tgtEl>
                                          <p:spTgt spid="11"/>
                                        </p:tgtEl>
                                        <p:attrNameLst>
                                          <p:attrName>ppt_x</p:attrName>
                                        </p:attrNameLst>
                                      </p:cBhvr>
                                      <p:tavLst>
                                        <p:tav tm="0">
                                          <p:val>
                                            <p:strVal val="#ppt_x"/>
                                          </p:val>
                                        </p:tav>
                                        <p:tav tm="100000">
                                          <p:val>
                                            <p:strVal val="#ppt_x"/>
                                          </p:val>
                                        </p:tav>
                                      </p:tavLst>
                                    </p:anim>
                                    <p:anim calcmode="lin" valueType="num">
                                      <p:cBhvr>
                                        <p:cTn id="69" dur="500" decel="100000" fill="hold"/>
                                        <p:tgtEl>
                                          <p:spTgt spid="11"/>
                                        </p:tgtEl>
                                        <p:attrNameLst>
                                          <p:attrName>ppt_y</p:attrName>
                                        </p:attrNameLst>
                                      </p:cBhvr>
                                      <p:tavLst>
                                        <p:tav tm="0">
                                          <p:val>
                                            <p:strVal val="#ppt_y+0.0278"/>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grpId="0" nodeType="clickEffect">
                                  <p:stCondLst>
                                    <p:cond delay="0"/>
                                  </p:stCondLst>
                                  <p:childTnLst>
                                    <p:set>
                                      <p:cBhvr>
                                        <p:cTn id="73" dur="1" fill="hold">
                                          <p:stCondLst>
                                            <p:cond delay="0"/>
                                          </p:stCondLst>
                                        </p:cTn>
                                        <p:tgtEl>
                                          <p:spTgt spid="12"/>
                                        </p:tgtEl>
                                        <p:attrNameLst>
                                          <p:attrName>style.visibility</p:attrName>
                                        </p:attrNameLst>
                                      </p:cBhvr>
                                      <p:to>
                                        <p:strVal val="visible"/>
                                      </p:to>
                                    </p:set>
                                    <p:animEffect transition="in" filter="fade">
                                      <p:cBhvr>
                                        <p:cTn id="74" dur="500" decel="100000"/>
                                        <p:tgtEl>
                                          <p:spTgt spid="12"/>
                                        </p:tgtEl>
                                      </p:cBhvr>
                                    </p:animEffect>
                                    <p:anim calcmode="lin" valueType="num">
                                      <p:cBhvr>
                                        <p:cTn id="75" dur="500" decel="100000" fill="hold"/>
                                        <p:tgtEl>
                                          <p:spTgt spid="12"/>
                                        </p:tgtEl>
                                        <p:attrNameLst>
                                          <p:attrName>ppt_x</p:attrName>
                                        </p:attrNameLst>
                                      </p:cBhvr>
                                      <p:tavLst>
                                        <p:tav tm="0">
                                          <p:val>
                                            <p:strVal val="#ppt_x"/>
                                          </p:val>
                                        </p:tav>
                                        <p:tav tm="100000">
                                          <p:val>
                                            <p:strVal val="#ppt_x"/>
                                          </p:val>
                                        </p:tav>
                                      </p:tavLst>
                                    </p:anim>
                                    <p:anim calcmode="lin" valueType="num">
                                      <p:cBhvr>
                                        <p:cTn id="76" dur="500" decel="100000" fill="hold"/>
                                        <p:tgtEl>
                                          <p:spTgt spid="12"/>
                                        </p:tgtEl>
                                        <p:attrNameLst>
                                          <p:attrName>ppt_y</p:attrName>
                                        </p:attrNameLst>
                                      </p:cBhvr>
                                      <p:tavLst>
                                        <p:tav tm="0">
                                          <p:val>
                                            <p:strVal val="#ppt_y+0.0278"/>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3"/>
                                        </p:tgtEl>
                                        <p:attrNameLst>
                                          <p:attrName>style.visibility</p:attrName>
                                        </p:attrNameLst>
                                      </p:cBhvr>
                                      <p:to>
                                        <p:strVal val="visible"/>
                                      </p:to>
                                    </p:set>
                                    <p:animEffect transition="in" filter="fade">
                                      <p:cBhvr>
                                        <p:cTn id="79" dur="500" decel="100000"/>
                                        <p:tgtEl>
                                          <p:spTgt spid="13"/>
                                        </p:tgtEl>
                                      </p:cBhvr>
                                    </p:animEffect>
                                    <p:anim calcmode="lin" valueType="num">
                                      <p:cBhvr>
                                        <p:cTn id="80" dur="500" decel="100000" fill="hold"/>
                                        <p:tgtEl>
                                          <p:spTgt spid="13"/>
                                        </p:tgtEl>
                                        <p:attrNameLst>
                                          <p:attrName>ppt_x</p:attrName>
                                        </p:attrNameLst>
                                      </p:cBhvr>
                                      <p:tavLst>
                                        <p:tav tm="0">
                                          <p:val>
                                            <p:strVal val="#ppt_x"/>
                                          </p:val>
                                        </p:tav>
                                        <p:tav tm="100000">
                                          <p:val>
                                            <p:strVal val="#ppt_x"/>
                                          </p:val>
                                        </p:tav>
                                      </p:tavLst>
                                    </p:anim>
                                    <p:anim calcmode="lin" valueType="num">
                                      <p:cBhvr>
                                        <p:cTn id="81" dur="500" decel="100000" fill="hold"/>
                                        <p:tgtEl>
                                          <p:spTgt spid="13"/>
                                        </p:tgtEl>
                                        <p:attrNameLst>
                                          <p:attrName>ppt_y</p:attrName>
                                        </p:attrNameLst>
                                      </p:cBhvr>
                                      <p:tavLst>
                                        <p:tav tm="0">
                                          <p:val>
                                            <p:strVal val="#ppt_y+0.0278"/>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4"/>
                                        </p:tgtEl>
                                        <p:attrNameLst>
                                          <p:attrName>style.visibility</p:attrName>
                                        </p:attrNameLst>
                                      </p:cBhvr>
                                      <p:to>
                                        <p:strVal val="visible"/>
                                      </p:to>
                                    </p:set>
                                    <p:animEffect transition="in" filter="fade">
                                      <p:cBhvr>
                                        <p:cTn id="84" dur="500" decel="100000"/>
                                        <p:tgtEl>
                                          <p:spTgt spid="14"/>
                                        </p:tgtEl>
                                      </p:cBhvr>
                                    </p:animEffect>
                                    <p:anim calcmode="lin" valueType="num">
                                      <p:cBhvr>
                                        <p:cTn id="85" dur="500" decel="100000" fill="hold"/>
                                        <p:tgtEl>
                                          <p:spTgt spid="14"/>
                                        </p:tgtEl>
                                        <p:attrNameLst>
                                          <p:attrName>ppt_x</p:attrName>
                                        </p:attrNameLst>
                                      </p:cBhvr>
                                      <p:tavLst>
                                        <p:tav tm="0">
                                          <p:val>
                                            <p:strVal val="#ppt_x"/>
                                          </p:val>
                                        </p:tav>
                                        <p:tav tm="100000">
                                          <p:val>
                                            <p:strVal val="#ppt_x"/>
                                          </p:val>
                                        </p:tav>
                                      </p:tavLst>
                                    </p:anim>
                                    <p:anim calcmode="lin" valueType="num">
                                      <p:cBhvr>
                                        <p:cTn id="86" dur="500" decel="100000" fill="hold"/>
                                        <p:tgtEl>
                                          <p:spTgt spid="14"/>
                                        </p:tgtEl>
                                        <p:attrNameLst>
                                          <p:attrName>ppt_y</p:attrName>
                                        </p:attrNameLst>
                                      </p:cBhvr>
                                      <p:tavLst>
                                        <p:tav tm="0">
                                          <p:val>
                                            <p:strVal val="#ppt_y+0.0278"/>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15"/>
                                        </p:tgtEl>
                                        <p:attrNameLst>
                                          <p:attrName>style.visibility</p:attrName>
                                        </p:attrNameLst>
                                      </p:cBhvr>
                                      <p:to>
                                        <p:strVal val="visible"/>
                                      </p:to>
                                    </p:set>
                                    <p:animEffect transition="in" filter="fade">
                                      <p:cBhvr>
                                        <p:cTn id="89" dur="500" decel="100000"/>
                                        <p:tgtEl>
                                          <p:spTgt spid="15"/>
                                        </p:tgtEl>
                                      </p:cBhvr>
                                    </p:animEffect>
                                    <p:anim calcmode="lin" valueType="num">
                                      <p:cBhvr>
                                        <p:cTn id="90" dur="500" decel="100000" fill="hold"/>
                                        <p:tgtEl>
                                          <p:spTgt spid="15"/>
                                        </p:tgtEl>
                                        <p:attrNameLst>
                                          <p:attrName>ppt_x</p:attrName>
                                        </p:attrNameLst>
                                      </p:cBhvr>
                                      <p:tavLst>
                                        <p:tav tm="0">
                                          <p:val>
                                            <p:strVal val="#ppt_x"/>
                                          </p:val>
                                        </p:tav>
                                        <p:tav tm="100000">
                                          <p:val>
                                            <p:strVal val="#ppt_x"/>
                                          </p:val>
                                        </p:tav>
                                      </p:tavLst>
                                    </p:anim>
                                    <p:anim calcmode="lin" valueType="num">
                                      <p:cBhvr>
                                        <p:cTn id="91" dur="500" decel="100000" fill="hold"/>
                                        <p:tgtEl>
                                          <p:spTgt spid="15"/>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p:bldP spid="7" grpId="0"/>
      <p:bldP spid="8" grpId="0" animBg="1"/>
      <p:bldP spid="9" grpId="0"/>
      <p:bldP spid="10" grpId="0"/>
      <p:bldP spid="11" grpId="0"/>
      <p:bldP spid="12" grpId="0" animBg="1"/>
      <p:bldP spid="14" grpId="0"/>
      <p:bldP spid="15" grpId="0"/>
      <p:bldP spid="16" grpId="0" animBg="1"/>
      <p:bldP spid="17" grpId="0"/>
      <p:bldP spid="19" grpId="0" animBg="1"/>
      <p:bldP spid="20" grpId="0" animBg="1"/>
      <p:bldP spid="21"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sp>
        <p:nvSpPr>
          <p:cNvPr id="3" name="!!Title"/>
          <p:cNvSpPr txBox="1"/>
          <p:nvPr/>
        </p:nvSpPr>
        <p:spPr>
          <a:xfrm>
            <a:off x="685800" y="914400"/>
            <a:ext cx="8229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Colorimétrie</a:t>
            </a:r>
          </a:p>
        </p:txBody>
      </p:sp>
      <p:sp>
        <p:nvSpPr>
          <p:cNvPr id="4" name="!!Sw0"/>
          <p:cNvSpPr/>
          <p:nvPr/>
        </p:nvSpPr>
        <p:spPr>
          <a:xfrm>
            <a:off x="685800" y="1965960"/>
            <a:ext cx="1965960" cy="1143000"/>
          </a:xfrm>
          <a:prstGeom prst="roundRect">
            <a:avLst>
              <a:gd name="adj" fmla="val 10000"/>
            </a:avLst>
          </a:prstGeom>
          <a:solidFill>
            <a:srgbClr val="7B1421"/>
          </a:solidFill>
          <a:ln>
            <a:noFill/>
          </a:ln>
        </p:spPr>
        <p:txBody>
          <a:bodyPr rtlCol="0" anchor="ctr"/>
          <a:lstStyle/>
          <a:p/>
        </p:txBody>
      </p:sp>
      <p:sp>
        <p:nvSpPr>
          <p:cNvPr id="5" name="!!SwN0"/>
          <p:cNvSpPr txBox="1"/>
          <p:nvPr/>
        </p:nvSpPr>
        <p:spPr>
          <a:xfrm>
            <a:off x="685800" y="3200400"/>
            <a:ext cx="2011680" cy="274320"/>
          </a:xfrm>
          <a:prstGeom prst="rect">
            <a:avLst/>
          </a:prstGeom>
          <a:noFill/>
        </p:spPr>
        <p:txBody>
          <a:bodyPr wrap="square" lIns="0" rIns="0" tIns="0" bIns="0" anchor="t">
            <a:noAutofit/>
          </a:bodyPr>
          <a:lstStyle/>
          <a:p>
            <a:pPr algn="l"/>
            <a:r>
              <a:rPr sz="1250">
                <a:solidFill>
                  <a:srgbClr val="2A070D"/>
                </a:solidFill>
                <a:latin typeface="Montserrat SemiBold"/>
              </a:rPr>
              <a:t>Bordeaux Profond</a:t>
            </a:r>
          </a:p>
        </p:txBody>
      </p:sp>
      <p:sp>
        <p:nvSpPr>
          <p:cNvPr id="6" name="!!SwH0"/>
          <p:cNvSpPr txBox="1"/>
          <p:nvPr/>
        </p:nvSpPr>
        <p:spPr>
          <a:xfrm>
            <a:off x="685800" y="3465576"/>
            <a:ext cx="2011680" cy="256032"/>
          </a:xfrm>
          <a:prstGeom prst="rect">
            <a:avLst/>
          </a:prstGeom>
          <a:noFill/>
        </p:spPr>
        <p:txBody>
          <a:bodyPr wrap="square" lIns="0" rIns="0" tIns="0" bIns="0" anchor="t">
            <a:noAutofit/>
          </a:bodyPr>
          <a:lstStyle/>
          <a:p>
            <a:pPr algn="l"/>
            <a:r>
              <a:rPr sz="1100" spc="80">
                <a:solidFill>
                  <a:srgbClr val="6E5A5D"/>
                </a:solidFill>
                <a:latin typeface="Montserrat Medium"/>
              </a:rPr>
              <a:t>#7B1421</a:t>
            </a:r>
          </a:p>
        </p:txBody>
      </p:sp>
      <p:sp>
        <p:nvSpPr>
          <p:cNvPr id="7" name="!!Sw1"/>
          <p:cNvSpPr/>
          <p:nvPr/>
        </p:nvSpPr>
        <p:spPr>
          <a:xfrm>
            <a:off x="2880360" y="1965960"/>
            <a:ext cx="1965960" cy="1143000"/>
          </a:xfrm>
          <a:prstGeom prst="roundRect">
            <a:avLst>
              <a:gd name="adj" fmla="val 10000"/>
            </a:avLst>
          </a:prstGeom>
          <a:solidFill>
            <a:srgbClr val="A40C21"/>
          </a:solidFill>
          <a:ln>
            <a:noFill/>
          </a:ln>
        </p:spPr>
        <p:txBody>
          <a:bodyPr rtlCol="0" anchor="ctr"/>
          <a:lstStyle/>
          <a:p/>
        </p:txBody>
      </p:sp>
      <p:sp>
        <p:nvSpPr>
          <p:cNvPr id="8" name="!!SwN1"/>
          <p:cNvSpPr txBox="1"/>
          <p:nvPr/>
        </p:nvSpPr>
        <p:spPr>
          <a:xfrm>
            <a:off x="2880360" y="3200400"/>
            <a:ext cx="2011680" cy="274320"/>
          </a:xfrm>
          <a:prstGeom prst="rect">
            <a:avLst/>
          </a:prstGeom>
          <a:noFill/>
        </p:spPr>
        <p:txBody>
          <a:bodyPr wrap="square" lIns="0" rIns="0" tIns="0" bIns="0" anchor="t">
            <a:noAutofit/>
          </a:bodyPr>
          <a:lstStyle/>
          <a:p>
            <a:pPr algn="l"/>
            <a:r>
              <a:rPr sz="1250">
                <a:solidFill>
                  <a:srgbClr val="2A070D"/>
                </a:solidFill>
                <a:latin typeface="Montserrat SemiBold"/>
              </a:rPr>
              <a:t>Rouge Passion</a:t>
            </a:r>
          </a:p>
        </p:txBody>
      </p:sp>
      <p:sp>
        <p:nvSpPr>
          <p:cNvPr id="9" name="!!SwH1"/>
          <p:cNvSpPr txBox="1"/>
          <p:nvPr/>
        </p:nvSpPr>
        <p:spPr>
          <a:xfrm>
            <a:off x="2880360" y="3465576"/>
            <a:ext cx="2011680" cy="256032"/>
          </a:xfrm>
          <a:prstGeom prst="rect">
            <a:avLst/>
          </a:prstGeom>
          <a:noFill/>
        </p:spPr>
        <p:txBody>
          <a:bodyPr wrap="square" lIns="0" rIns="0" tIns="0" bIns="0" anchor="t">
            <a:noAutofit/>
          </a:bodyPr>
          <a:lstStyle/>
          <a:p>
            <a:pPr algn="l"/>
            <a:r>
              <a:rPr sz="1100" spc="80">
                <a:solidFill>
                  <a:srgbClr val="6E5A5D"/>
                </a:solidFill>
                <a:latin typeface="Montserrat Medium"/>
              </a:rPr>
              <a:t>#A40C21</a:t>
            </a:r>
          </a:p>
        </p:txBody>
      </p:sp>
      <p:sp>
        <p:nvSpPr>
          <p:cNvPr id="10" name="!!Sw2"/>
          <p:cNvSpPr/>
          <p:nvPr/>
        </p:nvSpPr>
        <p:spPr>
          <a:xfrm>
            <a:off x="5074920" y="1965960"/>
            <a:ext cx="1965960" cy="1143000"/>
          </a:xfrm>
          <a:prstGeom prst="roundRect">
            <a:avLst>
              <a:gd name="adj" fmla="val 10000"/>
            </a:avLst>
          </a:prstGeom>
          <a:solidFill>
            <a:srgbClr val="F9A825"/>
          </a:solidFill>
          <a:ln>
            <a:noFill/>
          </a:ln>
        </p:spPr>
        <p:txBody>
          <a:bodyPr rtlCol="0" anchor="ctr"/>
          <a:lstStyle/>
          <a:p/>
        </p:txBody>
      </p:sp>
      <p:sp>
        <p:nvSpPr>
          <p:cNvPr id="11" name="!!SwN2"/>
          <p:cNvSpPr txBox="1"/>
          <p:nvPr/>
        </p:nvSpPr>
        <p:spPr>
          <a:xfrm>
            <a:off x="5074920" y="3200400"/>
            <a:ext cx="2011680" cy="274320"/>
          </a:xfrm>
          <a:prstGeom prst="rect">
            <a:avLst/>
          </a:prstGeom>
          <a:noFill/>
        </p:spPr>
        <p:txBody>
          <a:bodyPr wrap="square" lIns="0" rIns="0" tIns="0" bIns="0" anchor="t">
            <a:noAutofit/>
          </a:bodyPr>
          <a:lstStyle/>
          <a:p>
            <a:pPr algn="l"/>
            <a:r>
              <a:rPr sz="1250">
                <a:solidFill>
                  <a:srgbClr val="2A070D"/>
                </a:solidFill>
                <a:latin typeface="Montserrat SemiBold"/>
              </a:rPr>
              <a:t>Or Épicé</a:t>
            </a:r>
          </a:p>
        </p:txBody>
      </p:sp>
      <p:sp>
        <p:nvSpPr>
          <p:cNvPr id="12" name="!!SwH2"/>
          <p:cNvSpPr txBox="1"/>
          <p:nvPr/>
        </p:nvSpPr>
        <p:spPr>
          <a:xfrm>
            <a:off x="5074920" y="3465576"/>
            <a:ext cx="2011680" cy="256032"/>
          </a:xfrm>
          <a:prstGeom prst="rect">
            <a:avLst/>
          </a:prstGeom>
          <a:noFill/>
        </p:spPr>
        <p:txBody>
          <a:bodyPr wrap="square" lIns="0" rIns="0" tIns="0" bIns="0" anchor="t">
            <a:noAutofit/>
          </a:bodyPr>
          <a:lstStyle/>
          <a:p>
            <a:pPr algn="l"/>
            <a:r>
              <a:rPr sz="1100" spc="80">
                <a:solidFill>
                  <a:srgbClr val="6E5A5D"/>
                </a:solidFill>
                <a:latin typeface="Montserrat Medium"/>
              </a:rPr>
              <a:t>#F9A825</a:t>
            </a:r>
          </a:p>
        </p:txBody>
      </p:sp>
      <p:sp>
        <p:nvSpPr>
          <p:cNvPr id="13" name="!!Sw3"/>
          <p:cNvSpPr/>
          <p:nvPr/>
        </p:nvSpPr>
        <p:spPr>
          <a:xfrm>
            <a:off x="7269480" y="1965960"/>
            <a:ext cx="1965960" cy="1143000"/>
          </a:xfrm>
          <a:prstGeom prst="roundRect">
            <a:avLst>
              <a:gd name="adj" fmla="val 10000"/>
            </a:avLst>
          </a:prstGeom>
          <a:solidFill>
            <a:srgbClr val="FBD021"/>
          </a:solidFill>
          <a:ln>
            <a:noFill/>
          </a:ln>
        </p:spPr>
        <p:txBody>
          <a:bodyPr rtlCol="0" anchor="ctr"/>
          <a:lstStyle/>
          <a:p/>
        </p:txBody>
      </p:sp>
      <p:sp>
        <p:nvSpPr>
          <p:cNvPr id="14" name="!!SwN3"/>
          <p:cNvSpPr txBox="1"/>
          <p:nvPr/>
        </p:nvSpPr>
        <p:spPr>
          <a:xfrm>
            <a:off x="7269480" y="3200400"/>
            <a:ext cx="2011680" cy="274320"/>
          </a:xfrm>
          <a:prstGeom prst="rect">
            <a:avLst/>
          </a:prstGeom>
          <a:noFill/>
        </p:spPr>
        <p:txBody>
          <a:bodyPr wrap="square" lIns="0" rIns="0" tIns="0" bIns="0" anchor="t">
            <a:noAutofit/>
          </a:bodyPr>
          <a:lstStyle/>
          <a:p>
            <a:pPr algn="l"/>
            <a:r>
              <a:rPr sz="1250">
                <a:solidFill>
                  <a:srgbClr val="2A070D"/>
                </a:solidFill>
                <a:latin typeface="Montserrat SemiBold"/>
              </a:rPr>
              <a:t>Jaune Soleil</a:t>
            </a:r>
          </a:p>
        </p:txBody>
      </p:sp>
      <p:sp>
        <p:nvSpPr>
          <p:cNvPr id="15" name="!!SwH3"/>
          <p:cNvSpPr txBox="1"/>
          <p:nvPr/>
        </p:nvSpPr>
        <p:spPr>
          <a:xfrm>
            <a:off x="7269480" y="3465576"/>
            <a:ext cx="2011680" cy="256032"/>
          </a:xfrm>
          <a:prstGeom prst="rect">
            <a:avLst/>
          </a:prstGeom>
          <a:noFill/>
        </p:spPr>
        <p:txBody>
          <a:bodyPr wrap="square" lIns="0" rIns="0" tIns="0" bIns="0" anchor="t">
            <a:noAutofit/>
          </a:bodyPr>
          <a:lstStyle/>
          <a:p>
            <a:pPr algn="l"/>
            <a:r>
              <a:rPr sz="1100" spc="80">
                <a:solidFill>
                  <a:srgbClr val="6E5A5D"/>
                </a:solidFill>
                <a:latin typeface="Montserrat Medium"/>
              </a:rPr>
              <a:t>#FBD021</a:t>
            </a:r>
          </a:p>
        </p:txBody>
      </p:sp>
      <p:sp>
        <p:nvSpPr>
          <p:cNvPr id="16" name="!!Sw4"/>
          <p:cNvSpPr/>
          <p:nvPr/>
        </p:nvSpPr>
        <p:spPr>
          <a:xfrm>
            <a:off x="9464040" y="1965960"/>
            <a:ext cx="1965960" cy="1143000"/>
          </a:xfrm>
          <a:prstGeom prst="roundRect">
            <a:avLst>
              <a:gd name="adj" fmla="val 10000"/>
            </a:avLst>
          </a:prstGeom>
          <a:solidFill>
            <a:srgbClr val="2A5519"/>
          </a:solidFill>
          <a:ln>
            <a:noFill/>
          </a:ln>
        </p:spPr>
        <p:txBody>
          <a:bodyPr rtlCol="0" anchor="ctr"/>
          <a:lstStyle/>
          <a:p/>
        </p:txBody>
      </p:sp>
      <p:sp>
        <p:nvSpPr>
          <p:cNvPr id="17" name="!!SwN4"/>
          <p:cNvSpPr txBox="1"/>
          <p:nvPr/>
        </p:nvSpPr>
        <p:spPr>
          <a:xfrm>
            <a:off x="9464040" y="3200400"/>
            <a:ext cx="2011680" cy="274320"/>
          </a:xfrm>
          <a:prstGeom prst="rect">
            <a:avLst/>
          </a:prstGeom>
          <a:noFill/>
        </p:spPr>
        <p:txBody>
          <a:bodyPr wrap="square" lIns="0" rIns="0" tIns="0" bIns="0" anchor="t">
            <a:noAutofit/>
          </a:bodyPr>
          <a:lstStyle/>
          <a:p>
            <a:pPr algn="l"/>
            <a:r>
              <a:rPr sz="1250">
                <a:solidFill>
                  <a:srgbClr val="2A070D"/>
                </a:solidFill>
                <a:latin typeface="Montserrat SemiBold"/>
              </a:rPr>
              <a:t>Vert Nature</a:t>
            </a:r>
          </a:p>
        </p:txBody>
      </p:sp>
      <p:sp>
        <p:nvSpPr>
          <p:cNvPr id="18" name="!!SwH4"/>
          <p:cNvSpPr txBox="1"/>
          <p:nvPr/>
        </p:nvSpPr>
        <p:spPr>
          <a:xfrm>
            <a:off x="9464040" y="3465576"/>
            <a:ext cx="2011680" cy="256032"/>
          </a:xfrm>
          <a:prstGeom prst="rect">
            <a:avLst/>
          </a:prstGeom>
          <a:noFill/>
        </p:spPr>
        <p:txBody>
          <a:bodyPr wrap="square" lIns="0" rIns="0" tIns="0" bIns="0" anchor="t">
            <a:noAutofit/>
          </a:bodyPr>
          <a:lstStyle/>
          <a:p>
            <a:pPr algn="l"/>
            <a:r>
              <a:rPr sz="1100" spc="80">
                <a:solidFill>
                  <a:srgbClr val="6E5A5D"/>
                </a:solidFill>
                <a:latin typeface="Montserrat Medium"/>
              </a:rPr>
              <a:t>#2A5519</a:t>
            </a:r>
          </a:p>
        </p:txBody>
      </p:sp>
      <p:sp>
        <p:nvSpPr>
          <p:cNvPr id="19" name="!!Sw5"/>
          <p:cNvSpPr/>
          <p:nvPr/>
        </p:nvSpPr>
        <p:spPr>
          <a:xfrm>
            <a:off x="685800" y="3931920"/>
            <a:ext cx="1965960" cy="1143000"/>
          </a:xfrm>
          <a:prstGeom prst="roundRect">
            <a:avLst>
              <a:gd name="adj" fmla="val 10000"/>
            </a:avLst>
          </a:prstGeom>
          <a:solidFill>
            <a:srgbClr val="376F23"/>
          </a:solidFill>
          <a:ln>
            <a:noFill/>
          </a:ln>
        </p:spPr>
        <p:txBody>
          <a:bodyPr rtlCol="0" anchor="ctr"/>
          <a:lstStyle/>
          <a:p/>
        </p:txBody>
      </p:sp>
      <p:sp>
        <p:nvSpPr>
          <p:cNvPr id="20" name="!!SwN5"/>
          <p:cNvSpPr txBox="1"/>
          <p:nvPr/>
        </p:nvSpPr>
        <p:spPr>
          <a:xfrm>
            <a:off x="685800" y="5166360"/>
            <a:ext cx="2011680" cy="274320"/>
          </a:xfrm>
          <a:prstGeom prst="rect">
            <a:avLst/>
          </a:prstGeom>
          <a:noFill/>
        </p:spPr>
        <p:txBody>
          <a:bodyPr wrap="square" lIns="0" rIns="0" tIns="0" bIns="0" anchor="t">
            <a:noAutofit/>
          </a:bodyPr>
          <a:lstStyle/>
          <a:p>
            <a:pPr algn="l"/>
            <a:r>
              <a:rPr sz="1250">
                <a:solidFill>
                  <a:srgbClr val="2A070D"/>
                </a:solidFill>
                <a:latin typeface="Montserrat SemiBold"/>
              </a:rPr>
              <a:t>Vert Vif</a:t>
            </a:r>
          </a:p>
        </p:txBody>
      </p:sp>
      <p:sp>
        <p:nvSpPr>
          <p:cNvPr id="21" name="!!SwH5"/>
          <p:cNvSpPr txBox="1"/>
          <p:nvPr/>
        </p:nvSpPr>
        <p:spPr>
          <a:xfrm>
            <a:off x="685800" y="5431536"/>
            <a:ext cx="2011680" cy="256032"/>
          </a:xfrm>
          <a:prstGeom prst="rect">
            <a:avLst/>
          </a:prstGeom>
          <a:noFill/>
        </p:spPr>
        <p:txBody>
          <a:bodyPr wrap="square" lIns="0" rIns="0" tIns="0" bIns="0" anchor="t">
            <a:noAutofit/>
          </a:bodyPr>
          <a:lstStyle/>
          <a:p>
            <a:pPr algn="l"/>
            <a:r>
              <a:rPr sz="1100" spc="80">
                <a:solidFill>
                  <a:srgbClr val="6E5A5D"/>
                </a:solidFill>
                <a:latin typeface="Montserrat Medium"/>
              </a:rPr>
              <a:t>#376F23</a:t>
            </a:r>
          </a:p>
        </p:txBody>
      </p:sp>
      <p:sp>
        <p:nvSpPr>
          <p:cNvPr id="22" name="!!Sw6"/>
          <p:cNvSpPr/>
          <p:nvPr/>
        </p:nvSpPr>
        <p:spPr>
          <a:xfrm>
            <a:off x="2880360" y="3931920"/>
            <a:ext cx="1965960" cy="1143000"/>
          </a:xfrm>
          <a:prstGeom prst="roundRect">
            <a:avLst>
              <a:gd name="adj" fmla="val 10000"/>
            </a:avLst>
          </a:prstGeom>
          <a:solidFill>
            <a:srgbClr val="FFECD1"/>
          </a:solidFill>
          <a:ln w="9525">
            <a:solidFill>
              <a:srgbClr val="E3CED1"/>
            </a:solidFill>
          </a:ln>
        </p:spPr>
        <p:txBody>
          <a:bodyPr rtlCol="0" anchor="ctr"/>
          <a:lstStyle/>
          <a:p/>
        </p:txBody>
      </p:sp>
      <p:sp>
        <p:nvSpPr>
          <p:cNvPr id="23" name="!!SwN6"/>
          <p:cNvSpPr txBox="1"/>
          <p:nvPr/>
        </p:nvSpPr>
        <p:spPr>
          <a:xfrm>
            <a:off x="2880360" y="5166360"/>
            <a:ext cx="2011680" cy="274320"/>
          </a:xfrm>
          <a:prstGeom prst="rect">
            <a:avLst/>
          </a:prstGeom>
          <a:noFill/>
        </p:spPr>
        <p:txBody>
          <a:bodyPr wrap="square" lIns="0" rIns="0" tIns="0" bIns="0" anchor="t">
            <a:noAutofit/>
          </a:bodyPr>
          <a:lstStyle/>
          <a:p>
            <a:pPr algn="l"/>
            <a:r>
              <a:rPr sz="1250">
                <a:solidFill>
                  <a:srgbClr val="2A070D"/>
                </a:solidFill>
                <a:latin typeface="Montserrat SemiBold"/>
              </a:rPr>
              <a:t>Crème Douce</a:t>
            </a:r>
          </a:p>
        </p:txBody>
      </p:sp>
      <p:sp>
        <p:nvSpPr>
          <p:cNvPr id="24" name="!!SwH6"/>
          <p:cNvSpPr txBox="1"/>
          <p:nvPr/>
        </p:nvSpPr>
        <p:spPr>
          <a:xfrm>
            <a:off x="2880360" y="5431536"/>
            <a:ext cx="2011680" cy="256032"/>
          </a:xfrm>
          <a:prstGeom prst="rect">
            <a:avLst/>
          </a:prstGeom>
          <a:noFill/>
        </p:spPr>
        <p:txBody>
          <a:bodyPr wrap="square" lIns="0" rIns="0" tIns="0" bIns="0" anchor="t">
            <a:noAutofit/>
          </a:bodyPr>
          <a:lstStyle/>
          <a:p>
            <a:pPr algn="l"/>
            <a:r>
              <a:rPr sz="1100" spc="80">
                <a:solidFill>
                  <a:srgbClr val="6E5A5D"/>
                </a:solidFill>
                <a:latin typeface="Montserrat Medium"/>
              </a:rPr>
              <a:t>#FFECD1</a:t>
            </a:r>
          </a:p>
        </p:txBody>
      </p:sp>
      <p:sp>
        <p:nvSpPr>
          <p:cNvPr id="25" name="!!Sw7"/>
          <p:cNvSpPr/>
          <p:nvPr/>
        </p:nvSpPr>
        <p:spPr>
          <a:xfrm>
            <a:off x="5074920" y="3931920"/>
            <a:ext cx="1965960" cy="1143000"/>
          </a:xfrm>
          <a:prstGeom prst="roundRect">
            <a:avLst>
              <a:gd name="adj" fmla="val 10000"/>
            </a:avLst>
          </a:prstGeom>
          <a:solidFill>
            <a:srgbClr val="F6E8EA"/>
          </a:solidFill>
          <a:ln w="9525">
            <a:solidFill>
              <a:srgbClr val="E3CED1"/>
            </a:solidFill>
          </a:ln>
        </p:spPr>
        <p:txBody>
          <a:bodyPr rtlCol="0" anchor="ctr"/>
          <a:lstStyle/>
          <a:p/>
        </p:txBody>
      </p:sp>
      <p:sp>
        <p:nvSpPr>
          <p:cNvPr id="26" name="!!SwN7"/>
          <p:cNvSpPr txBox="1"/>
          <p:nvPr/>
        </p:nvSpPr>
        <p:spPr>
          <a:xfrm>
            <a:off x="5074920" y="5166360"/>
            <a:ext cx="2011680" cy="274320"/>
          </a:xfrm>
          <a:prstGeom prst="rect">
            <a:avLst/>
          </a:prstGeom>
          <a:noFill/>
        </p:spPr>
        <p:txBody>
          <a:bodyPr wrap="square" lIns="0" rIns="0" tIns="0" bIns="0" anchor="t">
            <a:noAutofit/>
          </a:bodyPr>
          <a:lstStyle/>
          <a:p>
            <a:pPr algn="l"/>
            <a:r>
              <a:rPr sz="1250">
                <a:solidFill>
                  <a:srgbClr val="2A070D"/>
                </a:solidFill>
                <a:latin typeface="Montserrat SemiBold"/>
              </a:rPr>
              <a:t>Rose Poudre</a:t>
            </a:r>
          </a:p>
        </p:txBody>
      </p:sp>
      <p:sp>
        <p:nvSpPr>
          <p:cNvPr id="27" name="!!SwH7"/>
          <p:cNvSpPr txBox="1"/>
          <p:nvPr/>
        </p:nvSpPr>
        <p:spPr>
          <a:xfrm>
            <a:off x="5074920" y="5431536"/>
            <a:ext cx="2011680" cy="256032"/>
          </a:xfrm>
          <a:prstGeom prst="rect">
            <a:avLst/>
          </a:prstGeom>
          <a:noFill/>
        </p:spPr>
        <p:txBody>
          <a:bodyPr wrap="square" lIns="0" rIns="0" tIns="0" bIns="0" anchor="t">
            <a:noAutofit/>
          </a:bodyPr>
          <a:lstStyle/>
          <a:p>
            <a:pPr algn="l"/>
            <a:r>
              <a:rPr sz="1100" spc="80">
                <a:solidFill>
                  <a:srgbClr val="6E5A5D"/>
                </a:solidFill>
                <a:latin typeface="Montserrat Medium"/>
              </a:rPr>
              <a:t>#F6E8EA</a:t>
            </a:r>
          </a:p>
        </p:txBody>
      </p:sp>
      <p:sp>
        <p:nvSpPr>
          <p:cNvPr id="28" name="!!Sw8"/>
          <p:cNvSpPr/>
          <p:nvPr/>
        </p:nvSpPr>
        <p:spPr>
          <a:xfrm>
            <a:off x="7269480" y="3931920"/>
            <a:ext cx="1965960" cy="1143000"/>
          </a:xfrm>
          <a:prstGeom prst="roundRect">
            <a:avLst>
              <a:gd name="adj" fmla="val 10000"/>
            </a:avLst>
          </a:prstGeom>
          <a:solidFill>
            <a:srgbClr val="FFFFFF"/>
          </a:solidFill>
          <a:ln w="9525">
            <a:solidFill>
              <a:srgbClr val="E3CED1"/>
            </a:solidFill>
          </a:ln>
        </p:spPr>
        <p:txBody>
          <a:bodyPr rtlCol="0" anchor="ctr"/>
          <a:lstStyle/>
          <a:p/>
        </p:txBody>
      </p:sp>
      <p:sp>
        <p:nvSpPr>
          <p:cNvPr id="29" name="!!SwN8"/>
          <p:cNvSpPr txBox="1"/>
          <p:nvPr/>
        </p:nvSpPr>
        <p:spPr>
          <a:xfrm>
            <a:off x="7269480" y="5166360"/>
            <a:ext cx="2011680" cy="274320"/>
          </a:xfrm>
          <a:prstGeom prst="rect">
            <a:avLst/>
          </a:prstGeom>
          <a:noFill/>
        </p:spPr>
        <p:txBody>
          <a:bodyPr wrap="square" lIns="0" rIns="0" tIns="0" bIns="0" anchor="t">
            <a:noAutofit/>
          </a:bodyPr>
          <a:lstStyle/>
          <a:p>
            <a:pPr algn="l"/>
            <a:r>
              <a:rPr sz="1250">
                <a:solidFill>
                  <a:srgbClr val="2A070D"/>
                </a:solidFill>
                <a:latin typeface="Montserrat SemiBold"/>
              </a:rPr>
              <a:t>Blanc Pureté</a:t>
            </a:r>
          </a:p>
        </p:txBody>
      </p:sp>
      <p:sp>
        <p:nvSpPr>
          <p:cNvPr id="30" name="!!SwH8"/>
          <p:cNvSpPr txBox="1"/>
          <p:nvPr/>
        </p:nvSpPr>
        <p:spPr>
          <a:xfrm>
            <a:off x="7269480" y="5431536"/>
            <a:ext cx="2011680" cy="256032"/>
          </a:xfrm>
          <a:prstGeom prst="rect">
            <a:avLst/>
          </a:prstGeom>
          <a:noFill/>
        </p:spPr>
        <p:txBody>
          <a:bodyPr wrap="square" lIns="0" rIns="0" tIns="0" bIns="0" anchor="t">
            <a:noAutofit/>
          </a:bodyPr>
          <a:lstStyle/>
          <a:p>
            <a:pPr algn="l"/>
            <a:r>
              <a:rPr sz="1100" spc="80">
                <a:solidFill>
                  <a:srgbClr val="6E5A5D"/>
                </a:solidFill>
                <a:latin typeface="Montserrat Medium"/>
              </a:rPr>
              <a:t>#FFFFFF</a:t>
            </a:r>
          </a:p>
        </p:txBody>
      </p:sp>
      <p:sp>
        <p:nvSpPr>
          <p:cNvPr id="31" name="!!Sw9"/>
          <p:cNvSpPr/>
          <p:nvPr/>
        </p:nvSpPr>
        <p:spPr>
          <a:xfrm>
            <a:off x="9464040" y="3931920"/>
            <a:ext cx="1965960" cy="1143000"/>
          </a:xfrm>
          <a:prstGeom prst="roundRect">
            <a:avLst>
              <a:gd name="adj" fmla="val 10000"/>
            </a:avLst>
          </a:prstGeom>
          <a:solidFill>
            <a:srgbClr val="000000"/>
          </a:solidFill>
          <a:ln>
            <a:noFill/>
          </a:ln>
        </p:spPr>
        <p:txBody>
          <a:bodyPr rtlCol="0" anchor="ctr"/>
          <a:lstStyle/>
          <a:p/>
        </p:txBody>
      </p:sp>
      <p:sp>
        <p:nvSpPr>
          <p:cNvPr id="32" name="!!SwN9"/>
          <p:cNvSpPr txBox="1"/>
          <p:nvPr/>
        </p:nvSpPr>
        <p:spPr>
          <a:xfrm>
            <a:off x="9464040" y="5166360"/>
            <a:ext cx="2011680" cy="274320"/>
          </a:xfrm>
          <a:prstGeom prst="rect">
            <a:avLst/>
          </a:prstGeom>
          <a:noFill/>
        </p:spPr>
        <p:txBody>
          <a:bodyPr wrap="square" lIns="0" rIns="0" tIns="0" bIns="0" anchor="t">
            <a:noAutofit/>
          </a:bodyPr>
          <a:lstStyle/>
          <a:p>
            <a:pPr algn="l"/>
            <a:r>
              <a:rPr sz="1250">
                <a:solidFill>
                  <a:srgbClr val="2A070D"/>
                </a:solidFill>
                <a:latin typeface="Montserrat SemiBold"/>
              </a:rPr>
              <a:t>Noir Intense</a:t>
            </a:r>
          </a:p>
        </p:txBody>
      </p:sp>
      <p:sp>
        <p:nvSpPr>
          <p:cNvPr id="33" name="!!SwH9"/>
          <p:cNvSpPr txBox="1"/>
          <p:nvPr/>
        </p:nvSpPr>
        <p:spPr>
          <a:xfrm>
            <a:off x="9464040" y="5431536"/>
            <a:ext cx="2011680" cy="256032"/>
          </a:xfrm>
          <a:prstGeom prst="rect">
            <a:avLst/>
          </a:prstGeom>
          <a:noFill/>
        </p:spPr>
        <p:txBody>
          <a:bodyPr wrap="square" lIns="0" rIns="0" tIns="0" bIns="0" anchor="t">
            <a:noAutofit/>
          </a:bodyPr>
          <a:lstStyle/>
          <a:p>
            <a:pPr algn="l"/>
            <a:r>
              <a:rPr sz="1100" spc="80">
                <a:solidFill>
                  <a:srgbClr val="6E5A5D"/>
                </a:solidFill>
                <a:latin typeface="Montserrat Medium"/>
              </a:rPr>
              <a:t>#000000</a:t>
            </a:r>
          </a:p>
        </p:txBody>
      </p:sp>
      <p:sp>
        <p:nvSpPr>
          <p:cNvPr id="34" name="!!Accent"/>
          <p:cNvSpPr/>
          <p:nvPr/>
        </p:nvSpPr>
        <p:spPr>
          <a:xfrm>
            <a:off x="685800" y="338328"/>
            <a:ext cx="384048" cy="32004"/>
          </a:xfrm>
          <a:prstGeom prst="rect">
            <a:avLst/>
          </a:prstGeom>
          <a:solidFill>
            <a:srgbClr val="F9A825"/>
          </a:solidFill>
          <a:ln>
            <a:noFill/>
          </a:ln>
        </p:spPr>
        <p:txBody>
          <a:bodyPr rtlCol="0" anchor="ctr"/>
          <a:lstStyle/>
          <a:p/>
        </p:txBody>
      </p:sp>
      <p:sp>
        <p:nvSpPr>
          <p:cNvPr id="35"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03 · Charte graphique</a:t>
            </a:r>
          </a:p>
        </p:txBody>
      </p:sp>
      <p:sp>
        <p:nvSpPr>
          <p:cNvPr id="36"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24</a:t>
            </a:r>
          </a:p>
        </p:txBody>
      </p:sp>
      <p:sp>
        <p:nvSpPr>
          <p:cNvPr id="37"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38"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39"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40" name="!!Logo" descr="Logo Marin'Or Ivoire"/>
          <p:cNvPicPr>
            <a:picLocks noChangeAspect="1"/>
          </p:cNvPicPr>
          <p:nvPr/>
        </p:nvPicPr>
        <p:blipFill>
          <a:blip r:embed="rId2"/>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decel="1000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decel="100000"/>
                                        <p:tgtEl>
                                          <p:spTgt spid="35"/>
                                        </p:tgtEl>
                                      </p:cBhvr>
                                    </p:animEffect>
                                    <p:anim calcmode="lin" valueType="num">
                                      <p:cBhvr>
                                        <p:cTn id="13" dur="500" decel="100000" fill="hold"/>
                                        <p:tgtEl>
                                          <p:spTgt spid="35"/>
                                        </p:tgtEl>
                                        <p:attrNameLst>
                                          <p:attrName>ppt_x</p:attrName>
                                        </p:attrNameLst>
                                      </p:cBhvr>
                                      <p:tavLst>
                                        <p:tav tm="0">
                                          <p:val>
                                            <p:strVal val="#ppt_x"/>
                                          </p:val>
                                        </p:tav>
                                        <p:tav tm="100000">
                                          <p:val>
                                            <p:strVal val="#ppt_x"/>
                                          </p:val>
                                        </p:tav>
                                      </p:tavLst>
                                    </p:anim>
                                    <p:anim calcmode="lin" valueType="num">
                                      <p:cBhvr>
                                        <p:cTn id="14" dur="500" decel="100000" fill="hold"/>
                                        <p:tgtEl>
                                          <p:spTgt spid="35"/>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37"/>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38"/>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39"/>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wipe(left)">
                                      <p:cBhvr>
                                        <p:cTn id="24" dur="400" decel="100000"/>
                                        <p:tgtEl>
                                          <p:spTgt spid="34"/>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decel="100000"/>
                                        <p:tgtEl>
                                          <p:spTgt spid="4"/>
                                        </p:tgtEl>
                                      </p:cBhvr>
                                    </p:animEffect>
                                    <p:anim calcmode="lin" valueType="num">
                                      <p:cBhvr>
                                        <p:cTn id="31" dur="500" decel="100000" fill="hold"/>
                                        <p:tgtEl>
                                          <p:spTgt spid="4"/>
                                        </p:tgtEl>
                                        <p:attrNameLst>
                                          <p:attrName>ppt_x</p:attrName>
                                        </p:attrNameLst>
                                      </p:cBhvr>
                                      <p:tavLst>
                                        <p:tav tm="0">
                                          <p:val>
                                            <p:strVal val="#ppt_x"/>
                                          </p:val>
                                        </p:tav>
                                        <p:tav tm="100000">
                                          <p:val>
                                            <p:strVal val="#ppt_x"/>
                                          </p:val>
                                        </p:tav>
                                      </p:tavLst>
                                    </p:anim>
                                    <p:anim calcmode="lin" valueType="num">
                                      <p:cBhvr>
                                        <p:cTn id="32" dur="500" decel="100000" fill="hold"/>
                                        <p:tgtEl>
                                          <p:spTgt spid="4"/>
                                        </p:tgtEl>
                                        <p:attrNameLst>
                                          <p:attrName>ppt_y</p:attrName>
                                        </p:attrNameLst>
                                      </p:cBhvr>
                                      <p:tavLst>
                                        <p:tav tm="0">
                                          <p:val>
                                            <p:strVal val="#ppt_y+0.027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decel="100000"/>
                                        <p:tgtEl>
                                          <p:spTgt spid="5"/>
                                        </p:tgtEl>
                                      </p:cBhvr>
                                    </p:animEffect>
                                    <p:anim calcmode="lin" valueType="num">
                                      <p:cBhvr>
                                        <p:cTn id="36" dur="500" decel="100000" fill="hold"/>
                                        <p:tgtEl>
                                          <p:spTgt spid="5"/>
                                        </p:tgtEl>
                                        <p:attrNameLst>
                                          <p:attrName>ppt_x</p:attrName>
                                        </p:attrNameLst>
                                      </p:cBhvr>
                                      <p:tavLst>
                                        <p:tav tm="0">
                                          <p:val>
                                            <p:strVal val="#ppt_x"/>
                                          </p:val>
                                        </p:tav>
                                        <p:tav tm="100000">
                                          <p:val>
                                            <p:strVal val="#ppt_x"/>
                                          </p:val>
                                        </p:tav>
                                      </p:tavLst>
                                    </p:anim>
                                    <p:anim calcmode="lin" valueType="num">
                                      <p:cBhvr>
                                        <p:cTn id="37" dur="500" decel="100000" fill="hold"/>
                                        <p:tgtEl>
                                          <p:spTgt spid="5"/>
                                        </p:tgtEl>
                                        <p:attrNameLst>
                                          <p:attrName>ppt_y</p:attrName>
                                        </p:attrNameLst>
                                      </p:cBhvr>
                                      <p:tavLst>
                                        <p:tav tm="0">
                                          <p:val>
                                            <p:strVal val="#ppt_y+0.0278"/>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500" decel="100000"/>
                                        <p:tgtEl>
                                          <p:spTgt spid="6"/>
                                        </p:tgtEl>
                                      </p:cBhvr>
                                    </p:animEffect>
                                    <p:anim calcmode="lin" valueType="num">
                                      <p:cBhvr>
                                        <p:cTn id="41" dur="500" decel="100000" fill="hold"/>
                                        <p:tgtEl>
                                          <p:spTgt spid="6"/>
                                        </p:tgtEl>
                                        <p:attrNameLst>
                                          <p:attrName>ppt_x</p:attrName>
                                        </p:attrNameLst>
                                      </p:cBhvr>
                                      <p:tavLst>
                                        <p:tav tm="0">
                                          <p:val>
                                            <p:strVal val="#ppt_x"/>
                                          </p:val>
                                        </p:tav>
                                        <p:tav tm="100000">
                                          <p:val>
                                            <p:strVal val="#ppt_x"/>
                                          </p:val>
                                        </p:tav>
                                      </p:tavLst>
                                    </p:anim>
                                    <p:anim calcmode="lin" valueType="num">
                                      <p:cBhvr>
                                        <p:cTn id="42" dur="500" decel="100000" fill="hold"/>
                                        <p:tgtEl>
                                          <p:spTgt spid="6"/>
                                        </p:tgtEl>
                                        <p:attrNameLst>
                                          <p:attrName>ppt_y</p:attrName>
                                        </p:attrNameLst>
                                      </p:cBhvr>
                                      <p:tavLst>
                                        <p:tav tm="0">
                                          <p:val>
                                            <p:strVal val="#ppt_y+0.0278"/>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decel="100000"/>
                                        <p:tgtEl>
                                          <p:spTgt spid="7"/>
                                        </p:tgtEl>
                                      </p:cBhvr>
                                    </p:animEffect>
                                    <p:anim calcmode="lin" valueType="num">
                                      <p:cBhvr>
                                        <p:cTn id="46" dur="500" decel="100000" fill="hold"/>
                                        <p:tgtEl>
                                          <p:spTgt spid="7"/>
                                        </p:tgtEl>
                                        <p:attrNameLst>
                                          <p:attrName>ppt_x</p:attrName>
                                        </p:attrNameLst>
                                      </p:cBhvr>
                                      <p:tavLst>
                                        <p:tav tm="0">
                                          <p:val>
                                            <p:strVal val="#ppt_x"/>
                                          </p:val>
                                        </p:tav>
                                        <p:tav tm="100000">
                                          <p:val>
                                            <p:strVal val="#ppt_x"/>
                                          </p:val>
                                        </p:tav>
                                      </p:tavLst>
                                    </p:anim>
                                    <p:anim calcmode="lin" valueType="num">
                                      <p:cBhvr>
                                        <p:cTn id="47" dur="500" decel="100000" fill="hold"/>
                                        <p:tgtEl>
                                          <p:spTgt spid="7"/>
                                        </p:tgtEl>
                                        <p:attrNameLst>
                                          <p:attrName>ppt_y</p:attrName>
                                        </p:attrNameLst>
                                      </p:cBhvr>
                                      <p:tavLst>
                                        <p:tav tm="0">
                                          <p:val>
                                            <p:strVal val="#ppt_y+0.0278"/>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fade">
                                      <p:cBhvr>
                                        <p:cTn id="50" dur="500" decel="100000"/>
                                        <p:tgtEl>
                                          <p:spTgt spid="8"/>
                                        </p:tgtEl>
                                      </p:cBhvr>
                                    </p:animEffect>
                                    <p:anim calcmode="lin" valueType="num">
                                      <p:cBhvr>
                                        <p:cTn id="51" dur="500" decel="100000" fill="hold"/>
                                        <p:tgtEl>
                                          <p:spTgt spid="8"/>
                                        </p:tgtEl>
                                        <p:attrNameLst>
                                          <p:attrName>ppt_x</p:attrName>
                                        </p:attrNameLst>
                                      </p:cBhvr>
                                      <p:tavLst>
                                        <p:tav tm="0">
                                          <p:val>
                                            <p:strVal val="#ppt_x"/>
                                          </p:val>
                                        </p:tav>
                                        <p:tav tm="100000">
                                          <p:val>
                                            <p:strVal val="#ppt_x"/>
                                          </p:val>
                                        </p:tav>
                                      </p:tavLst>
                                    </p:anim>
                                    <p:anim calcmode="lin" valueType="num">
                                      <p:cBhvr>
                                        <p:cTn id="52" dur="500" decel="100000" fill="hold"/>
                                        <p:tgtEl>
                                          <p:spTgt spid="8"/>
                                        </p:tgtEl>
                                        <p:attrNameLst>
                                          <p:attrName>ppt_y</p:attrName>
                                        </p:attrNameLst>
                                      </p:cBhvr>
                                      <p:tavLst>
                                        <p:tav tm="0">
                                          <p:val>
                                            <p:strVal val="#ppt_y+0.0278"/>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fade">
                                      <p:cBhvr>
                                        <p:cTn id="55" dur="500" decel="100000"/>
                                        <p:tgtEl>
                                          <p:spTgt spid="9"/>
                                        </p:tgtEl>
                                      </p:cBhvr>
                                    </p:animEffect>
                                    <p:anim calcmode="lin" valueType="num">
                                      <p:cBhvr>
                                        <p:cTn id="56" dur="500" decel="100000" fill="hold"/>
                                        <p:tgtEl>
                                          <p:spTgt spid="9"/>
                                        </p:tgtEl>
                                        <p:attrNameLst>
                                          <p:attrName>ppt_x</p:attrName>
                                        </p:attrNameLst>
                                      </p:cBhvr>
                                      <p:tavLst>
                                        <p:tav tm="0">
                                          <p:val>
                                            <p:strVal val="#ppt_x"/>
                                          </p:val>
                                        </p:tav>
                                        <p:tav tm="100000">
                                          <p:val>
                                            <p:strVal val="#ppt_x"/>
                                          </p:val>
                                        </p:tav>
                                      </p:tavLst>
                                    </p:anim>
                                    <p:anim calcmode="lin" valueType="num">
                                      <p:cBhvr>
                                        <p:cTn id="57" dur="500" decel="100000" fill="hold"/>
                                        <p:tgtEl>
                                          <p:spTgt spid="9"/>
                                        </p:tgtEl>
                                        <p:attrNameLst>
                                          <p:attrName>ppt_y</p:attrName>
                                        </p:attrNameLst>
                                      </p:cBhvr>
                                      <p:tavLst>
                                        <p:tav tm="0">
                                          <p:val>
                                            <p:strVal val="#ppt_y+0.0278"/>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fade">
                                      <p:cBhvr>
                                        <p:cTn id="60" dur="500" decel="100000"/>
                                        <p:tgtEl>
                                          <p:spTgt spid="10"/>
                                        </p:tgtEl>
                                      </p:cBhvr>
                                    </p:animEffect>
                                    <p:anim calcmode="lin" valueType="num">
                                      <p:cBhvr>
                                        <p:cTn id="61" dur="500" decel="100000" fill="hold"/>
                                        <p:tgtEl>
                                          <p:spTgt spid="10"/>
                                        </p:tgtEl>
                                        <p:attrNameLst>
                                          <p:attrName>ppt_x</p:attrName>
                                        </p:attrNameLst>
                                      </p:cBhvr>
                                      <p:tavLst>
                                        <p:tav tm="0">
                                          <p:val>
                                            <p:strVal val="#ppt_x"/>
                                          </p:val>
                                        </p:tav>
                                        <p:tav tm="100000">
                                          <p:val>
                                            <p:strVal val="#ppt_x"/>
                                          </p:val>
                                        </p:tav>
                                      </p:tavLst>
                                    </p:anim>
                                    <p:anim calcmode="lin" valueType="num">
                                      <p:cBhvr>
                                        <p:cTn id="62" dur="500" decel="100000" fill="hold"/>
                                        <p:tgtEl>
                                          <p:spTgt spid="10"/>
                                        </p:tgtEl>
                                        <p:attrNameLst>
                                          <p:attrName>ppt_y</p:attrName>
                                        </p:attrNameLst>
                                      </p:cBhvr>
                                      <p:tavLst>
                                        <p:tav tm="0">
                                          <p:val>
                                            <p:strVal val="#ppt_y+0.0278"/>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11"/>
                                        </p:tgtEl>
                                        <p:attrNameLst>
                                          <p:attrName>style.visibility</p:attrName>
                                        </p:attrNameLst>
                                      </p:cBhvr>
                                      <p:to>
                                        <p:strVal val="visible"/>
                                      </p:to>
                                    </p:set>
                                    <p:animEffect transition="in" filter="fade">
                                      <p:cBhvr>
                                        <p:cTn id="65" dur="500" decel="100000"/>
                                        <p:tgtEl>
                                          <p:spTgt spid="11"/>
                                        </p:tgtEl>
                                      </p:cBhvr>
                                    </p:animEffect>
                                    <p:anim calcmode="lin" valueType="num">
                                      <p:cBhvr>
                                        <p:cTn id="66" dur="500" decel="100000" fill="hold"/>
                                        <p:tgtEl>
                                          <p:spTgt spid="11"/>
                                        </p:tgtEl>
                                        <p:attrNameLst>
                                          <p:attrName>ppt_x</p:attrName>
                                        </p:attrNameLst>
                                      </p:cBhvr>
                                      <p:tavLst>
                                        <p:tav tm="0">
                                          <p:val>
                                            <p:strVal val="#ppt_x"/>
                                          </p:val>
                                        </p:tav>
                                        <p:tav tm="100000">
                                          <p:val>
                                            <p:strVal val="#ppt_x"/>
                                          </p:val>
                                        </p:tav>
                                      </p:tavLst>
                                    </p:anim>
                                    <p:anim calcmode="lin" valueType="num">
                                      <p:cBhvr>
                                        <p:cTn id="67" dur="500" decel="100000" fill="hold"/>
                                        <p:tgtEl>
                                          <p:spTgt spid="11"/>
                                        </p:tgtEl>
                                        <p:attrNameLst>
                                          <p:attrName>ppt_y</p:attrName>
                                        </p:attrNameLst>
                                      </p:cBhvr>
                                      <p:tavLst>
                                        <p:tav tm="0">
                                          <p:val>
                                            <p:strVal val="#ppt_y+0.0278"/>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2"/>
                                        </p:tgtEl>
                                        <p:attrNameLst>
                                          <p:attrName>style.visibility</p:attrName>
                                        </p:attrNameLst>
                                      </p:cBhvr>
                                      <p:to>
                                        <p:strVal val="visible"/>
                                      </p:to>
                                    </p:set>
                                    <p:animEffect transition="in" filter="fade">
                                      <p:cBhvr>
                                        <p:cTn id="70" dur="500" decel="100000"/>
                                        <p:tgtEl>
                                          <p:spTgt spid="12"/>
                                        </p:tgtEl>
                                      </p:cBhvr>
                                    </p:animEffect>
                                    <p:anim calcmode="lin" valueType="num">
                                      <p:cBhvr>
                                        <p:cTn id="71" dur="500" decel="100000" fill="hold"/>
                                        <p:tgtEl>
                                          <p:spTgt spid="12"/>
                                        </p:tgtEl>
                                        <p:attrNameLst>
                                          <p:attrName>ppt_x</p:attrName>
                                        </p:attrNameLst>
                                      </p:cBhvr>
                                      <p:tavLst>
                                        <p:tav tm="0">
                                          <p:val>
                                            <p:strVal val="#ppt_x"/>
                                          </p:val>
                                        </p:tav>
                                        <p:tav tm="100000">
                                          <p:val>
                                            <p:strVal val="#ppt_x"/>
                                          </p:val>
                                        </p:tav>
                                      </p:tavLst>
                                    </p:anim>
                                    <p:anim calcmode="lin" valueType="num">
                                      <p:cBhvr>
                                        <p:cTn id="72" dur="500" decel="100000" fill="hold"/>
                                        <p:tgtEl>
                                          <p:spTgt spid="12"/>
                                        </p:tgtEl>
                                        <p:attrNameLst>
                                          <p:attrName>ppt_y</p:attrName>
                                        </p:attrNameLst>
                                      </p:cBhvr>
                                      <p:tavLst>
                                        <p:tav tm="0">
                                          <p:val>
                                            <p:strVal val="#ppt_y+0.0278"/>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13"/>
                                        </p:tgtEl>
                                        <p:attrNameLst>
                                          <p:attrName>style.visibility</p:attrName>
                                        </p:attrNameLst>
                                      </p:cBhvr>
                                      <p:to>
                                        <p:strVal val="visible"/>
                                      </p:to>
                                    </p:set>
                                    <p:animEffect transition="in" filter="fade">
                                      <p:cBhvr>
                                        <p:cTn id="75" dur="500" decel="100000"/>
                                        <p:tgtEl>
                                          <p:spTgt spid="13"/>
                                        </p:tgtEl>
                                      </p:cBhvr>
                                    </p:animEffect>
                                    <p:anim calcmode="lin" valueType="num">
                                      <p:cBhvr>
                                        <p:cTn id="76" dur="500" decel="100000" fill="hold"/>
                                        <p:tgtEl>
                                          <p:spTgt spid="13"/>
                                        </p:tgtEl>
                                        <p:attrNameLst>
                                          <p:attrName>ppt_x</p:attrName>
                                        </p:attrNameLst>
                                      </p:cBhvr>
                                      <p:tavLst>
                                        <p:tav tm="0">
                                          <p:val>
                                            <p:strVal val="#ppt_x"/>
                                          </p:val>
                                        </p:tav>
                                        <p:tav tm="100000">
                                          <p:val>
                                            <p:strVal val="#ppt_x"/>
                                          </p:val>
                                        </p:tav>
                                      </p:tavLst>
                                    </p:anim>
                                    <p:anim calcmode="lin" valueType="num">
                                      <p:cBhvr>
                                        <p:cTn id="77" dur="500" decel="100000" fill="hold"/>
                                        <p:tgtEl>
                                          <p:spTgt spid="13"/>
                                        </p:tgtEl>
                                        <p:attrNameLst>
                                          <p:attrName>ppt_y</p:attrName>
                                        </p:attrNameLst>
                                      </p:cBhvr>
                                      <p:tavLst>
                                        <p:tav tm="0">
                                          <p:val>
                                            <p:strVal val="#ppt_y+0.0278"/>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14"/>
                                        </p:tgtEl>
                                        <p:attrNameLst>
                                          <p:attrName>style.visibility</p:attrName>
                                        </p:attrNameLst>
                                      </p:cBhvr>
                                      <p:to>
                                        <p:strVal val="visible"/>
                                      </p:to>
                                    </p:set>
                                    <p:animEffect transition="in" filter="fade">
                                      <p:cBhvr>
                                        <p:cTn id="80" dur="500" decel="100000"/>
                                        <p:tgtEl>
                                          <p:spTgt spid="14"/>
                                        </p:tgtEl>
                                      </p:cBhvr>
                                    </p:animEffect>
                                    <p:anim calcmode="lin" valueType="num">
                                      <p:cBhvr>
                                        <p:cTn id="81" dur="500" decel="100000" fill="hold"/>
                                        <p:tgtEl>
                                          <p:spTgt spid="14"/>
                                        </p:tgtEl>
                                        <p:attrNameLst>
                                          <p:attrName>ppt_x</p:attrName>
                                        </p:attrNameLst>
                                      </p:cBhvr>
                                      <p:tavLst>
                                        <p:tav tm="0">
                                          <p:val>
                                            <p:strVal val="#ppt_x"/>
                                          </p:val>
                                        </p:tav>
                                        <p:tav tm="100000">
                                          <p:val>
                                            <p:strVal val="#ppt_x"/>
                                          </p:val>
                                        </p:tav>
                                      </p:tavLst>
                                    </p:anim>
                                    <p:anim calcmode="lin" valueType="num">
                                      <p:cBhvr>
                                        <p:cTn id="82" dur="500" decel="100000" fill="hold"/>
                                        <p:tgtEl>
                                          <p:spTgt spid="14"/>
                                        </p:tgtEl>
                                        <p:attrNameLst>
                                          <p:attrName>ppt_y</p:attrName>
                                        </p:attrNameLst>
                                      </p:cBhvr>
                                      <p:tavLst>
                                        <p:tav tm="0">
                                          <p:val>
                                            <p:strVal val="#ppt_y+0.0278"/>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15"/>
                                        </p:tgtEl>
                                        <p:attrNameLst>
                                          <p:attrName>style.visibility</p:attrName>
                                        </p:attrNameLst>
                                      </p:cBhvr>
                                      <p:to>
                                        <p:strVal val="visible"/>
                                      </p:to>
                                    </p:set>
                                    <p:animEffect transition="in" filter="fade">
                                      <p:cBhvr>
                                        <p:cTn id="85" dur="500" decel="100000"/>
                                        <p:tgtEl>
                                          <p:spTgt spid="15"/>
                                        </p:tgtEl>
                                      </p:cBhvr>
                                    </p:animEffect>
                                    <p:anim calcmode="lin" valueType="num">
                                      <p:cBhvr>
                                        <p:cTn id="86" dur="500" decel="100000" fill="hold"/>
                                        <p:tgtEl>
                                          <p:spTgt spid="15"/>
                                        </p:tgtEl>
                                        <p:attrNameLst>
                                          <p:attrName>ppt_x</p:attrName>
                                        </p:attrNameLst>
                                      </p:cBhvr>
                                      <p:tavLst>
                                        <p:tav tm="0">
                                          <p:val>
                                            <p:strVal val="#ppt_x"/>
                                          </p:val>
                                        </p:tav>
                                        <p:tav tm="100000">
                                          <p:val>
                                            <p:strVal val="#ppt_x"/>
                                          </p:val>
                                        </p:tav>
                                      </p:tavLst>
                                    </p:anim>
                                    <p:anim calcmode="lin" valueType="num">
                                      <p:cBhvr>
                                        <p:cTn id="87" dur="500" decel="100000" fill="hold"/>
                                        <p:tgtEl>
                                          <p:spTgt spid="15"/>
                                        </p:tgtEl>
                                        <p:attrNameLst>
                                          <p:attrName>ppt_y</p:attrName>
                                        </p:attrNameLst>
                                      </p:cBhvr>
                                      <p:tavLst>
                                        <p:tav tm="0">
                                          <p:val>
                                            <p:strVal val="#ppt_y+0.0278"/>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16"/>
                                        </p:tgtEl>
                                        <p:attrNameLst>
                                          <p:attrName>style.visibility</p:attrName>
                                        </p:attrNameLst>
                                      </p:cBhvr>
                                      <p:to>
                                        <p:strVal val="visible"/>
                                      </p:to>
                                    </p:set>
                                    <p:animEffect transition="in" filter="fade">
                                      <p:cBhvr>
                                        <p:cTn id="90" dur="500" decel="100000"/>
                                        <p:tgtEl>
                                          <p:spTgt spid="16"/>
                                        </p:tgtEl>
                                      </p:cBhvr>
                                    </p:animEffect>
                                    <p:anim calcmode="lin" valueType="num">
                                      <p:cBhvr>
                                        <p:cTn id="91" dur="500" decel="100000" fill="hold"/>
                                        <p:tgtEl>
                                          <p:spTgt spid="16"/>
                                        </p:tgtEl>
                                        <p:attrNameLst>
                                          <p:attrName>ppt_x</p:attrName>
                                        </p:attrNameLst>
                                      </p:cBhvr>
                                      <p:tavLst>
                                        <p:tav tm="0">
                                          <p:val>
                                            <p:strVal val="#ppt_x"/>
                                          </p:val>
                                        </p:tav>
                                        <p:tav tm="100000">
                                          <p:val>
                                            <p:strVal val="#ppt_x"/>
                                          </p:val>
                                        </p:tav>
                                      </p:tavLst>
                                    </p:anim>
                                    <p:anim calcmode="lin" valueType="num">
                                      <p:cBhvr>
                                        <p:cTn id="92" dur="500" decel="100000" fill="hold"/>
                                        <p:tgtEl>
                                          <p:spTgt spid="16"/>
                                        </p:tgtEl>
                                        <p:attrNameLst>
                                          <p:attrName>ppt_y</p:attrName>
                                        </p:attrNameLst>
                                      </p:cBhvr>
                                      <p:tavLst>
                                        <p:tav tm="0">
                                          <p:val>
                                            <p:strVal val="#ppt_y+0.0278"/>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17"/>
                                        </p:tgtEl>
                                        <p:attrNameLst>
                                          <p:attrName>style.visibility</p:attrName>
                                        </p:attrNameLst>
                                      </p:cBhvr>
                                      <p:to>
                                        <p:strVal val="visible"/>
                                      </p:to>
                                    </p:set>
                                    <p:animEffect transition="in" filter="fade">
                                      <p:cBhvr>
                                        <p:cTn id="95" dur="500" decel="100000"/>
                                        <p:tgtEl>
                                          <p:spTgt spid="17"/>
                                        </p:tgtEl>
                                      </p:cBhvr>
                                    </p:animEffect>
                                    <p:anim calcmode="lin" valueType="num">
                                      <p:cBhvr>
                                        <p:cTn id="96" dur="500" decel="100000" fill="hold"/>
                                        <p:tgtEl>
                                          <p:spTgt spid="17"/>
                                        </p:tgtEl>
                                        <p:attrNameLst>
                                          <p:attrName>ppt_x</p:attrName>
                                        </p:attrNameLst>
                                      </p:cBhvr>
                                      <p:tavLst>
                                        <p:tav tm="0">
                                          <p:val>
                                            <p:strVal val="#ppt_x"/>
                                          </p:val>
                                        </p:tav>
                                        <p:tav tm="100000">
                                          <p:val>
                                            <p:strVal val="#ppt_x"/>
                                          </p:val>
                                        </p:tav>
                                      </p:tavLst>
                                    </p:anim>
                                    <p:anim calcmode="lin" valueType="num">
                                      <p:cBhvr>
                                        <p:cTn id="97" dur="500" decel="100000" fill="hold"/>
                                        <p:tgtEl>
                                          <p:spTgt spid="17"/>
                                        </p:tgtEl>
                                        <p:attrNameLst>
                                          <p:attrName>ppt_y</p:attrName>
                                        </p:attrNameLst>
                                      </p:cBhvr>
                                      <p:tavLst>
                                        <p:tav tm="0">
                                          <p:val>
                                            <p:strVal val="#ppt_y+0.0278"/>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18"/>
                                        </p:tgtEl>
                                        <p:attrNameLst>
                                          <p:attrName>style.visibility</p:attrName>
                                        </p:attrNameLst>
                                      </p:cBhvr>
                                      <p:to>
                                        <p:strVal val="visible"/>
                                      </p:to>
                                    </p:set>
                                    <p:animEffect transition="in" filter="fade">
                                      <p:cBhvr>
                                        <p:cTn id="100" dur="500" decel="100000"/>
                                        <p:tgtEl>
                                          <p:spTgt spid="18"/>
                                        </p:tgtEl>
                                      </p:cBhvr>
                                    </p:animEffect>
                                    <p:anim calcmode="lin" valueType="num">
                                      <p:cBhvr>
                                        <p:cTn id="101" dur="500" decel="100000" fill="hold"/>
                                        <p:tgtEl>
                                          <p:spTgt spid="18"/>
                                        </p:tgtEl>
                                        <p:attrNameLst>
                                          <p:attrName>ppt_x</p:attrName>
                                        </p:attrNameLst>
                                      </p:cBhvr>
                                      <p:tavLst>
                                        <p:tav tm="0">
                                          <p:val>
                                            <p:strVal val="#ppt_x"/>
                                          </p:val>
                                        </p:tav>
                                        <p:tav tm="100000">
                                          <p:val>
                                            <p:strVal val="#ppt_x"/>
                                          </p:val>
                                        </p:tav>
                                      </p:tavLst>
                                    </p:anim>
                                    <p:anim calcmode="lin" valueType="num">
                                      <p:cBhvr>
                                        <p:cTn id="102" dur="500" decel="100000" fill="hold"/>
                                        <p:tgtEl>
                                          <p:spTgt spid="18"/>
                                        </p:tgtEl>
                                        <p:attrNameLst>
                                          <p:attrName>ppt_y</p:attrName>
                                        </p:attrNameLst>
                                      </p:cBhvr>
                                      <p:tavLst>
                                        <p:tav tm="0">
                                          <p:val>
                                            <p:strVal val="#ppt_y+0.0278"/>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42" presetClass="entr" presetSubtype="0" fill="hold" grpId="0" nodeType="clickEffect">
                                  <p:stCondLst>
                                    <p:cond delay="0"/>
                                  </p:stCondLst>
                                  <p:childTnLst>
                                    <p:set>
                                      <p:cBhvr>
                                        <p:cTn id="106" dur="1" fill="hold">
                                          <p:stCondLst>
                                            <p:cond delay="0"/>
                                          </p:stCondLst>
                                        </p:cTn>
                                        <p:tgtEl>
                                          <p:spTgt spid="19"/>
                                        </p:tgtEl>
                                        <p:attrNameLst>
                                          <p:attrName>style.visibility</p:attrName>
                                        </p:attrNameLst>
                                      </p:cBhvr>
                                      <p:to>
                                        <p:strVal val="visible"/>
                                      </p:to>
                                    </p:set>
                                    <p:animEffect transition="in" filter="fade">
                                      <p:cBhvr>
                                        <p:cTn id="107" dur="500" decel="100000"/>
                                        <p:tgtEl>
                                          <p:spTgt spid="19"/>
                                        </p:tgtEl>
                                      </p:cBhvr>
                                    </p:animEffect>
                                    <p:anim calcmode="lin" valueType="num">
                                      <p:cBhvr>
                                        <p:cTn id="108" dur="500" decel="100000" fill="hold"/>
                                        <p:tgtEl>
                                          <p:spTgt spid="19"/>
                                        </p:tgtEl>
                                        <p:attrNameLst>
                                          <p:attrName>ppt_x</p:attrName>
                                        </p:attrNameLst>
                                      </p:cBhvr>
                                      <p:tavLst>
                                        <p:tav tm="0">
                                          <p:val>
                                            <p:strVal val="#ppt_x"/>
                                          </p:val>
                                        </p:tav>
                                        <p:tav tm="100000">
                                          <p:val>
                                            <p:strVal val="#ppt_x"/>
                                          </p:val>
                                        </p:tav>
                                      </p:tavLst>
                                    </p:anim>
                                    <p:anim calcmode="lin" valueType="num">
                                      <p:cBhvr>
                                        <p:cTn id="109" dur="500" decel="100000" fill="hold"/>
                                        <p:tgtEl>
                                          <p:spTgt spid="19"/>
                                        </p:tgtEl>
                                        <p:attrNameLst>
                                          <p:attrName>ppt_y</p:attrName>
                                        </p:attrNameLst>
                                      </p:cBhvr>
                                      <p:tavLst>
                                        <p:tav tm="0">
                                          <p:val>
                                            <p:strVal val="#ppt_y+0.0278"/>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20"/>
                                        </p:tgtEl>
                                        <p:attrNameLst>
                                          <p:attrName>style.visibility</p:attrName>
                                        </p:attrNameLst>
                                      </p:cBhvr>
                                      <p:to>
                                        <p:strVal val="visible"/>
                                      </p:to>
                                    </p:set>
                                    <p:animEffect transition="in" filter="fade">
                                      <p:cBhvr>
                                        <p:cTn id="112" dur="500" decel="100000"/>
                                        <p:tgtEl>
                                          <p:spTgt spid="20"/>
                                        </p:tgtEl>
                                      </p:cBhvr>
                                    </p:animEffect>
                                    <p:anim calcmode="lin" valueType="num">
                                      <p:cBhvr>
                                        <p:cTn id="113" dur="500" decel="100000" fill="hold"/>
                                        <p:tgtEl>
                                          <p:spTgt spid="20"/>
                                        </p:tgtEl>
                                        <p:attrNameLst>
                                          <p:attrName>ppt_x</p:attrName>
                                        </p:attrNameLst>
                                      </p:cBhvr>
                                      <p:tavLst>
                                        <p:tav tm="0">
                                          <p:val>
                                            <p:strVal val="#ppt_x"/>
                                          </p:val>
                                        </p:tav>
                                        <p:tav tm="100000">
                                          <p:val>
                                            <p:strVal val="#ppt_x"/>
                                          </p:val>
                                        </p:tav>
                                      </p:tavLst>
                                    </p:anim>
                                    <p:anim calcmode="lin" valueType="num">
                                      <p:cBhvr>
                                        <p:cTn id="114" dur="500" decel="100000" fill="hold"/>
                                        <p:tgtEl>
                                          <p:spTgt spid="20"/>
                                        </p:tgtEl>
                                        <p:attrNameLst>
                                          <p:attrName>ppt_y</p:attrName>
                                        </p:attrNameLst>
                                      </p:cBhvr>
                                      <p:tavLst>
                                        <p:tav tm="0">
                                          <p:val>
                                            <p:strVal val="#ppt_y+0.0278"/>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21"/>
                                        </p:tgtEl>
                                        <p:attrNameLst>
                                          <p:attrName>style.visibility</p:attrName>
                                        </p:attrNameLst>
                                      </p:cBhvr>
                                      <p:to>
                                        <p:strVal val="visible"/>
                                      </p:to>
                                    </p:set>
                                    <p:animEffect transition="in" filter="fade">
                                      <p:cBhvr>
                                        <p:cTn id="117" dur="500" decel="100000"/>
                                        <p:tgtEl>
                                          <p:spTgt spid="21"/>
                                        </p:tgtEl>
                                      </p:cBhvr>
                                    </p:animEffect>
                                    <p:anim calcmode="lin" valueType="num">
                                      <p:cBhvr>
                                        <p:cTn id="118" dur="500" decel="100000" fill="hold"/>
                                        <p:tgtEl>
                                          <p:spTgt spid="21"/>
                                        </p:tgtEl>
                                        <p:attrNameLst>
                                          <p:attrName>ppt_x</p:attrName>
                                        </p:attrNameLst>
                                      </p:cBhvr>
                                      <p:tavLst>
                                        <p:tav tm="0">
                                          <p:val>
                                            <p:strVal val="#ppt_x"/>
                                          </p:val>
                                        </p:tav>
                                        <p:tav tm="100000">
                                          <p:val>
                                            <p:strVal val="#ppt_x"/>
                                          </p:val>
                                        </p:tav>
                                      </p:tavLst>
                                    </p:anim>
                                    <p:anim calcmode="lin" valueType="num">
                                      <p:cBhvr>
                                        <p:cTn id="119" dur="500" decel="100000" fill="hold"/>
                                        <p:tgtEl>
                                          <p:spTgt spid="21"/>
                                        </p:tgtEl>
                                        <p:attrNameLst>
                                          <p:attrName>ppt_y</p:attrName>
                                        </p:attrNameLst>
                                      </p:cBhvr>
                                      <p:tavLst>
                                        <p:tav tm="0">
                                          <p:val>
                                            <p:strVal val="#ppt_y+0.0278"/>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22"/>
                                        </p:tgtEl>
                                        <p:attrNameLst>
                                          <p:attrName>style.visibility</p:attrName>
                                        </p:attrNameLst>
                                      </p:cBhvr>
                                      <p:to>
                                        <p:strVal val="visible"/>
                                      </p:to>
                                    </p:set>
                                    <p:animEffect transition="in" filter="fade">
                                      <p:cBhvr>
                                        <p:cTn id="122" dur="500" decel="100000"/>
                                        <p:tgtEl>
                                          <p:spTgt spid="22"/>
                                        </p:tgtEl>
                                      </p:cBhvr>
                                    </p:animEffect>
                                    <p:anim calcmode="lin" valueType="num">
                                      <p:cBhvr>
                                        <p:cTn id="123" dur="500" decel="100000" fill="hold"/>
                                        <p:tgtEl>
                                          <p:spTgt spid="22"/>
                                        </p:tgtEl>
                                        <p:attrNameLst>
                                          <p:attrName>ppt_x</p:attrName>
                                        </p:attrNameLst>
                                      </p:cBhvr>
                                      <p:tavLst>
                                        <p:tav tm="0">
                                          <p:val>
                                            <p:strVal val="#ppt_x"/>
                                          </p:val>
                                        </p:tav>
                                        <p:tav tm="100000">
                                          <p:val>
                                            <p:strVal val="#ppt_x"/>
                                          </p:val>
                                        </p:tav>
                                      </p:tavLst>
                                    </p:anim>
                                    <p:anim calcmode="lin" valueType="num">
                                      <p:cBhvr>
                                        <p:cTn id="124" dur="500" decel="100000" fill="hold"/>
                                        <p:tgtEl>
                                          <p:spTgt spid="22"/>
                                        </p:tgtEl>
                                        <p:attrNameLst>
                                          <p:attrName>ppt_y</p:attrName>
                                        </p:attrNameLst>
                                      </p:cBhvr>
                                      <p:tavLst>
                                        <p:tav tm="0">
                                          <p:val>
                                            <p:strVal val="#ppt_y+0.0278"/>
                                          </p:val>
                                        </p:tav>
                                        <p:tav tm="100000">
                                          <p:val>
                                            <p:strVal val="#ppt_y"/>
                                          </p:val>
                                        </p:tav>
                                      </p:tavLst>
                                    </p:anim>
                                  </p:childTnLst>
                                </p:cTn>
                              </p:par>
                              <p:par>
                                <p:cTn id="125" presetID="42" presetClass="entr" presetSubtype="0" fill="hold" grpId="0" nodeType="withEffect">
                                  <p:stCondLst>
                                    <p:cond delay="0"/>
                                  </p:stCondLst>
                                  <p:childTnLst>
                                    <p:set>
                                      <p:cBhvr>
                                        <p:cTn id="126" dur="1" fill="hold">
                                          <p:stCondLst>
                                            <p:cond delay="0"/>
                                          </p:stCondLst>
                                        </p:cTn>
                                        <p:tgtEl>
                                          <p:spTgt spid="23"/>
                                        </p:tgtEl>
                                        <p:attrNameLst>
                                          <p:attrName>style.visibility</p:attrName>
                                        </p:attrNameLst>
                                      </p:cBhvr>
                                      <p:to>
                                        <p:strVal val="visible"/>
                                      </p:to>
                                    </p:set>
                                    <p:animEffect transition="in" filter="fade">
                                      <p:cBhvr>
                                        <p:cTn id="127" dur="500" decel="100000"/>
                                        <p:tgtEl>
                                          <p:spTgt spid="23"/>
                                        </p:tgtEl>
                                      </p:cBhvr>
                                    </p:animEffect>
                                    <p:anim calcmode="lin" valueType="num">
                                      <p:cBhvr>
                                        <p:cTn id="128" dur="500" decel="100000" fill="hold"/>
                                        <p:tgtEl>
                                          <p:spTgt spid="23"/>
                                        </p:tgtEl>
                                        <p:attrNameLst>
                                          <p:attrName>ppt_x</p:attrName>
                                        </p:attrNameLst>
                                      </p:cBhvr>
                                      <p:tavLst>
                                        <p:tav tm="0">
                                          <p:val>
                                            <p:strVal val="#ppt_x"/>
                                          </p:val>
                                        </p:tav>
                                        <p:tav tm="100000">
                                          <p:val>
                                            <p:strVal val="#ppt_x"/>
                                          </p:val>
                                        </p:tav>
                                      </p:tavLst>
                                    </p:anim>
                                    <p:anim calcmode="lin" valueType="num">
                                      <p:cBhvr>
                                        <p:cTn id="129" dur="500" decel="100000" fill="hold"/>
                                        <p:tgtEl>
                                          <p:spTgt spid="23"/>
                                        </p:tgtEl>
                                        <p:attrNameLst>
                                          <p:attrName>ppt_y</p:attrName>
                                        </p:attrNameLst>
                                      </p:cBhvr>
                                      <p:tavLst>
                                        <p:tav tm="0">
                                          <p:val>
                                            <p:strVal val="#ppt_y+0.0278"/>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24"/>
                                        </p:tgtEl>
                                        <p:attrNameLst>
                                          <p:attrName>style.visibility</p:attrName>
                                        </p:attrNameLst>
                                      </p:cBhvr>
                                      <p:to>
                                        <p:strVal val="visible"/>
                                      </p:to>
                                    </p:set>
                                    <p:animEffect transition="in" filter="fade">
                                      <p:cBhvr>
                                        <p:cTn id="132" dur="500" decel="100000"/>
                                        <p:tgtEl>
                                          <p:spTgt spid="24"/>
                                        </p:tgtEl>
                                      </p:cBhvr>
                                    </p:animEffect>
                                    <p:anim calcmode="lin" valueType="num">
                                      <p:cBhvr>
                                        <p:cTn id="133" dur="500" decel="100000" fill="hold"/>
                                        <p:tgtEl>
                                          <p:spTgt spid="24"/>
                                        </p:tgtEl>
                                        <p:attrNameLst>
                                          <p:attrName>ppt_x</p:attrName>
                                        </p:attrNameLst>
                                      </p:cBhvr>
                                      <p:tavLst>
                                        <p:tav tm="0">
                                          <p:val>
                                            <p:strVal val="#ppt_x"/>
                                          </p:val>
                                        </p:tav>
                                        <p:tav tm="100000">
                                          <p:val>
                                            <p:strVal val="#ppt_x"/>
                                          </p:val>
                                        </p:tav>
                                      </p:tavLst>
                                    </p:anim>
                                    <p:anim calcmode="lin" valueType="num">
                                      <p:cBhvr>
                                        <p:cTn id="134" dur="500" decel="100000" fill="hold"/>
                                        <p:tgtEl>
                                          <p:spTgt spid="24"/>
                                        </p:tgtEl>
                                        <p:attrNameLst>
                                          <p:attrName>ppt_y</p:attrName>
                                        </p:attrNameLst>
                                      </p:cBhvr>
                                      <p:tavLst>
                                        <p:tav tm="0">
                                          <p:val>
                                            <p:strVal val="#ppt_y+0.0278"/>
                                          </p:val>
                                        </p:tav>
                                        <p:tav tm="100000">
                                          <p:val>
                                            <p:strVal val="#ppt_y"/>
                                          </p:val>
                                        </p:tav>
                                      </p:tavLst>
                                    </p:anim>
                                  </p:childTnLst>
                                </p:cTn>
                              </p:par>
                              <p:par>
                                <p:cTn id="135" presetID="42" presetClass="entr" presetSubtype="0" fill="hold" grpId="0" nodeType="withEffect">
                                  <p:stCondLst>
                                    <p:cond delay="0"/>
                                  </p:stCondLst>
                                  <p:childTnLst>
                                    <p:set>
                                      <p:cBhvr>
                                        <p:cTn id="136" dur="1" fill="hold">
                                          <p:stCondLst>
                                            <p:cond delay="0"/>
                                          </p:stCondLst>
                                        </p:cTn>
                                        <p:tgtEl>
                                          <p:spTgt spid="25"/>
                                        </p:tgtEl>
                                        <p:attrNameLst>
                                          <p:attrName>style.visibility</p:attrName>
                                        </p:attrNameLst>
                                      </p:cBhvr>
                                      <p:to>
                                        <p:strVal val="visible"/>
                                      </p:to>
                                    </p:set>
                                    <p:animEffect transition="in" filter="fade">
                                      <p:cBhvr>
                                        <p:cTn id="137" dur="500" decel="100000"/>
                                        <p:tgtEl>
                                          <p:spTgt spid="25"/>
                                        </p:tgtEl>
                                      </p:cBhvr>
                                    </p:animEffect>
                                    <p:anim calcmode="lin" valueType="num">
                                      <p:cBhvr>
                                        <p:cTn id="138" dur="500" decel="100000" fill="hold"/>
                                        <p:tgtEl>
                                          <p:spTgt spid="25"/>
                                        </p:tgtEl>
                                        <p:attrNameLst>
                                          <p:attrName>ppt_x</p:attrName>
                                        </p:attrNameLst>
                                      </p:cBhvr>
                                      <p:tavLst>
                                        <p:tav tm="0">
                                          <p:val>
                                            <p:strVal val="#ppt_x"/>
                                          </p:val>
                                        </p:tav>
                                        <p:tav tm="100000">
                                          <p:val>
                                            <p:strVal val="#ppt_x"/>
                                          </p:val>
                                        </p:tav>
                                      </p:tavLst>
                                    </p:anim>
                                    <p:anim calcmode="lin" valueType="num">
                                      <p:cBhvr>
                                        <p:cTn id="139" dur="500" decel="100000" fill="hold"/>
                                        <p:tgtEl>
                                          <p:spTgt spid="25"/>
                                        </p:tgtEl>
                                        <p:attrNameLst>
                                          <p:attrName>ppt_y</p:attrName>
                                        </p:attrNameLst>
                                      </p:cBhvr>
                                      <p:tavLst>
                                        <p:tav tm="0">
                                          <p:val>
                                            <p:strVal val="#ppt_y+0.0278"/>
                                          </p:val>
                                        </p:tav>
                                        <p:tav tm="100000">
                                          <p:val>
                                            <p:strVal val="#ppt_y"/>
                                          </p:val>
                                        </p:tav>
                                      </p:tavLst>
                                    </p:anim>
                                  </p:childTnLst>
                                </p:cTn>
                              </p:par>
                              <p:par>
                                <p:cTn id="140" presetID="42" presetClass="entr" presetSubtype="0" fill="hold" grpId="0" nodeType="withEffect">
                                  <p:stCondLst>
                                    <p:cond delay="0"/>
                                  </p:stCondLst>
                                  <p:childTnLst>
                                    <p:set>
                                      <p:cBhvr>
                                        <p:cTn id="141" dur="1" fill="hold">
                                          <p:stCondLst>
                                            <p:cond delay="0"/>
                                          </p:stCondLst>
                                        </p:cTn>
                                        <p:tgtEl>
                                          <p:spTgt spid="26"/>
                                        </p:tgtEl>
                                        <p:attrNameLst>
                                          <p:attrName>style.visibility</p:attrName>
                                        </p:attrNameLst>
                                      </p:cBhvr>
                                      <p:to>
                                        <p:strVal val="visible"/>
                                      </p:to>
                                    </p:set>
                                    <p:animEffect transition="in" filter="fade">
                                      <p:cBhvr>
                                        <p:cTn id="142" dur="500" decel="100000"/>
                                        <p:tgtEl>
                                          <p:spTgt spid="26"/>
                                        </p:tgtEl>
                                      </p:cBhvr>
                                    </p:animEffect>
                                    <p:anim calcmode="lin" valueType="num">
                                      <p:cBhvr>
                                        <p:cTn id="143" dur="500" decel="100000" fill="hold"/>
                                        <p:tgtEl>
                                          <p:spTgt spid="26"/>
                                        </p:tgtEl>
                                        <p:attrNameLst>
                                          <p:attrName>ppt_x</p:attrName>
                                        </p:attrNameLst>
                                      </p:cBhvr>
                                      <p:tavLst>
                                        <p:tav tm="0">
                                          <p:val>
                                            <p:strVal val="#ppt_x"/>
                                          </p:val>
                                        </p:tav>
                                        <p:tav tm="100000">
                                          <p:val>
                                            <p:strVal val="#ppt_x"/>
                                          </p:val>
                                        </p:tav>
                                      </p:tavLst>
                                    </p:anim>
                                    <p:anim calcmode="lin" valueType="num">
                                      <p:cBhvr>
                                        <p:cTn id="144" dur="500" decel="100000" fill="hold"/>
                                        <p:tgtEl>
                                          <p:spTgt spid="26"/>
                                        </p:tgtEl>
                                        <p:attrNameLst>
                                          <p:attrName>ppt_y</p:attrName>
                                        </p:attrNameLst>
                                      </p:cBhvr>
                                      <p:tavLst>
                                        <p:tav tm="0">
                                          <p:val>
                                            <p:strVal val="#ppt_y+0.0278"/>
                                          </p:val>
                                        </p:tav>
                                        <p:tav tm="100000">
                                          <p:val>
                                            <p:strVal val="#ppt_y"/>
                                          </p:val>
                                        </p:tav>
                                      </p:tavLst>
                                    </p:anim>
                                  </p:childTnLst>
                                </p:cTn>
                              </p:par>
                              <p:par>
                                <p:cTn id="145" presetID="42" presetClass="entr" presetSubtype="0" fill="hold" grpId="0" nodeType="withEffect">
                                  <p:stCondLst>
                                    <p:cond delay="0"/>
                                  </p:stCondLst>
                                  <p:childTnLst>
                                    <p:set>
                                      <p:cBhvr>
                                        <p:cTn id="146" dur="1" fill="hold">
                                          <p:stCondLst>
                                            <p:cond delay="0"/>
                                          </p:stCondLst>
                                        </p:cTn>
                                        <p:tgtEl>
                                          <p:spTgt spid="27"/>
                                        </p:tgtEl>
                                        <p:attrNameLst>
                                          <p:attrName>style.visibility</p:attrName>
                                        </p:attrNameLst>
                                      </p:cBhvr>
                                      <p:to>
                                        <p:strVal val="visible"/>
                                      </p:to>
                                    </p:set>
                                    <p:animEffect transition="in" filter="fade">
                                      <p:cBhvr>
                                        <p:cTn id="147" dur="500" decel="100000"/>
                                        <p:tgtEl>
                                          <p:spTgt spid="27"/>
                                        </p:tgtEl>
                                      </p:cBhvr>
                                    </p:animEffect>
                                    <p:anim calcmode="lin" valueType="num">
                                      <p:cBhvr>
                                        <p:cTn id="148" dur="500" decel="100000" fill="hold"/>
                                        <p:tgtEl>
                                          <p:spTgt spid="27"/>
                                        </p:tgtEl>
                                        <p:attrNameLst>
                                          <p:attrName>ppt_x</p:attrName>
                                        </p:attrNameLst>
                                      </p:cBhvr>
                                      <p:tavLst>
                                        <p:tav tm="0">
                                          <p:val>
                                            <p:strVal val="#ppt_x"/>
                                          </p:val>
                                        </p:tav>
                                        <p:tav tm="100000">
                                          <p:val>
                                            <p:strVal val="#ppt_x"/>
                                          </p:val>
                                        </p:tav>
                                      </p:tavLst>
                                    </p:anim>
                                    <p:anim calcmode="lin" valueType="num">
                                      <p:cBhvr>
                                        <p:cTn id="149" dur="500" decel="100000" fill="hold"/>
                                        <p:tgtEl>
                                          <p:spTgt spid="27"/>
                                        </p:tgtEl>
                                        <p:attrNameLst>
                                          <p:attrName>ppt_y</p:attrName>
                                        </p:attrNameLst>
                                      </p:cBhvr>
                                      <p:tavLst>
                                        <p:tav tm="0">
                                          <p:val>
                                            <p:strVal val="#ppt_y+0.0278"/>
                                          </p:val>
                                        </p:tav>
                                        <p:tav tm="100000">
                                          <p:val>
                                            <p:strVal val="#ppt_y"/>
                                          </p:val>
                                        </p:tav>
                                      </p:tavLst>
                                    </p:anim>
                                  </p:childTnLst>
                                </p:cTn>
                              </p:par>
                              <p:par>
                                <p:cTn id="150" presetID="42" presetClass="entr" presetSubtype="0" fill="hold" grpId="0" nodeType="withEffect">
                                  <p:stCondLst>
                                    <p:cond delay="0"/>
                                  </p:stCondLst>
                                  <p:childTnLst>
                                    <p:set>
                                      <p:cBhvr>
                                        <p:cTn id="151" dur="1" fill="hold">
                                          <p:stCondLst>
                                            <p:cond delay="0"/>
                                          </p:stCondLst>
                                        </p:cTn>
                                        <p:tgtEl>
                                          <p:spTgt spid="28"/>
                                        </p:tgtEl>
                                        <p:attrNameLst>
                                          <p:attrName>style.visibility</p:attrName>
                                        </p:attrNameLst>
                                      </p:cBhvr>
                                      <p:to>
                                        <p:strVal val="visible"/>
                                      </p:to>
                                    </p:set>
                                    <p:animEffect transition="in" filter="fade">
                                      <p:cBhvr>
                                        <p:cTn id="152" dur="500" decel="100000"/>
                                        <p:tgtEl>
                                          <p:spTgt spid="28"/>
                                        </p:tgtEl>
                                      </p:cBhvr>
                                    </p:animEffect>
                                    <p:anim calcmode="lin" valueType="num">
                                      <p:cBhvr>
                                        <p:cTn id="153" dur="500" decel="100000" fill="hold"/>
                                        <p:tgtEl>
                                          <p:spTgt spid="28"/>
                                        </p:tgtEl>
                                        <p:attrNameLst>
                                          <p:attrName>ppt_x</p:attrName>
                                        </p:attrNameLst>
                                      </p:cBhvr>
                                      <p:tavLst>
                                        <p:tav tm="0">
                                          <p:val>
                                            <p:strVal val="#ppt_x"/>
                                          </p:val>
                                        </p:tav>
                                        <p:tav tm="100000">
                                          <p:val>
                                            <p:strVal val="#ppt_x"/>
                                          </p:val>
                                        </p:tav>
                                      </p:tavLst>
                                    </p:anim>
                                    <p:anim calcmode="lin" valueType="num">
                                      <p:cBhvr>
                                        <p:cTn id="154" dur="500" decel="100000" fill="hold"/>
                                        <p:tgtEl>
                                          <p:spTgt spid="28"/>
                                        </p:tgtEl>
                                        <p:attrNameLst>
                                          <p:attrName>ppt_y</p:attrName>
                                        </p:attrNameLst>
                                      </p:cBhvr>
                                      <p:tavLst>
                                        <p:tav tm="0">
                                          <p:val>
                                            <p:strVal val="#ppt_y+0.0278"/>
                                          </p:val>
                                        </p:tav>
                                        <p:tav tm="100000">
                                          <p:val>
                                            <p:strVal val="#ppt_y"/>
                                          </p:val>
                                        </p:tav>
                                      </p:tavLst>
                                    </p:anim>
                                  </p:childTnLst>
                                </p:cTn>
                              </p:par>
                              <p:par>
                                <p:cTn id="155" presetID="42" presetClass="entr" presetSubtype="0" fill="hold" grpId="0" nodeType="withEffect">
                                  <p:stCondLst>
                                    <p:cond delay="0"/>
                                  </p:stCondLst>
                                  <p:childTnLst>
                                    <p:set>
                                      <p:cBhvr>
                                        <p:cTn id="156" dur="1" fill="hold">
                                          <p:stCondLst>
                                            <p:cond delay="0"/>
                                          </p:stCondLst>
                                        </p:cTn>
                                        <p:tgtEl>
                                          <p:spTgt spid="29"/>
                                        </p:tgtEl>
                                        <p:attrNameLst>
                                          <p:attrName>style.visibility</p:attrName>
                                        </p:attrNameLst>
                                      </p:cBhvr>
                                      <p:to>
                                        <p:strVal val="visible"/>
                                      </p:to>
                                    </p:set>
                                    <p:animEffect transition="in" filter="fade">
                                      <p:cBhvr>
                                        <p:cTn id="157" dur="500" decel="100000"/>
                                        <p:tgtEl>
                                          <p:spTgt spid="29"/>
                                        </p:tgtEl>
                                      </p:cBhvr>
                                    </p:animEffect>
                                    <p:anim calcmode="lin" valueType="num">
                                      <p:cBhvr>
                                        <p:cTn id="158" dur="500" decel="100000" fill="hold"/>
                                        <p:tgtEl>
                                          <p:spTgt spid="29"/>
                                        </p:tgtEl>
                                        <p:attrNameLst>
                                          <p:attrName>ppt_x</p:attrName>
                                        </p:attrNameLst>
                                      </p:cBhvr>
                                      <p:tavLst>
                                        <p:tav tm="0">
                                          <p:val>
                                            <p:strVal val="#ppt_x"/>
                                          </p:val>
                                        </p:tav>
                                        <p:tav tm="100000">
                                          <p:val>
                                            <p:strVal val="#ppt_x"/>
                                          </p:val>
                                        </p:tav>
                                      </p:tavLst>
                                    </p:anim>
                                    <p:anim calcmode="lin" valueType="num">
                                      <p:cBhvr>
                                        <p:cTn id="159" dur="500" decel="100000" fill="hold"/>
                                        <p:tgtEl>
                                          <p:spTgt spid="29"/>
                                        </p:tgtEl>
                                        <p:attrNameLst>
                                          <p:attrName>ppt_y</p:attrName>
                                        </p:attrNameLst>
                                      </p:cBhvr>
                                      <p:tavLst>
                                        <p:tav tm="0">
                                          <p:val>
                                            <p:strVal val="#ppt_y+0.0278"/>
                                          </p:val>
                                        </p:tav>
                                        <p:tav tm="100000">
                                          <p:val>
                                            <p:strVal val="#ppt_y"/>
                                          </p:val>
                                        </p:tav>
                                      </p:tavLst>
                                    </p:anim>
                                  </p:childTnLst>
                                </p:cTn>
                              </p:par>
                              <p:par>
                                <p:cTn id="160" presetID="42" presetClass="entr" presetSubtype="0" fill="hold" grpId="0" nodeType="withEffect">
                                  <p:stCondLst>
                                    <p:cond delay="0"/>
                                  </p:stCondLst>
                                  <p:childTnLst>
                                    <p:set>
                                      <p:cBhvr>
                                        <p:cTn id="161" dur="1" fill="hold">
                                          <p:stCondLst>
                                            <p:cond delay="0"/>
                                          </p:stCondLst>
                                        </p:cTn>
                                        <p:tgtEl>
                                          <p:spTgt spid="30"/>
                                        </p:tgtEl>
                                        <p:attrNameLst>
                                          <p:attrName>style.visibility</p:attrName>
                                        </p:attrNameLst>
                                      </p:cBhvr>
                                      <p:to>
                                        <p:strVal val="visible"/>
                                      </p:to>
                                    </p:set>
                                    <p:animEffect transition="in" filter="fade">
                                      <p:cBhvr>
                                        <p:cTn id="162" dur="500" decel="100000"/>
                                        <p:tgtEl>
                                          <p:spTgt spid="30"/>
                                        </p:tgtEl>
                                      </p:cBhvr>
                                    </p:animEffect>
                                    <p:anim calcmode="lin" valueType="num">
                                      <p:cBhvr>
                                        <p:cTn id="163" dur="500" decel="100000" fill="hold"/>
                                        <p:tgtEl>
                                          <p:spTgt spid="30"/>
                                        </p:tgtEl>
                                        <p:attrNameLst>
                                          <p:attrName>ppt_x</p:attrName>
                                        </p:attrNameLst>
                                      </p:cBhvr>
                                      <p:tavLst>
                                        <p:tav tm="0">
                                          <p:val>
                                            <p:strVal val="#ppt_x"/>
                                          </p:val>
                                        </p:tav>
                                        <p:tav tm="100000">
                                          <p:val>
                                            <p:strVal val="#ppt_x"/>
                                          </p:val>
                                        </p:tav>
                                      </p:tavLst>
                                    </p:anim>
                                    <p:anim calcmode="lin" valueType="num">
                                      <p:cBhvr>
                                        <p:cTn id="164" dur="500" decel="100000" fill="hold"/>
                                        <p:tgtEl>
                                          <p:spTgt spid="30"/>
                                        </p:tgtEl>
                                        <p:attrNameLst>
                                          <p:attrName>ppt_y</p:attrName>
                                        </p:attrNameLst>
                                      </p:cBhvr>
                                      <p:tavLst>
                                        <p:tav tm="0">
                                          <p:val>
                                            <p:strVal val="#ppt_y+0.0278"/>
                                          </p:val>
                                        </p:tav>
                                        <p:tav tm="100000">
                                          <p:val>
                                            <p:strVal val="#ppt_y"/>
                                          </p:val>
                                        </p:tav>
                                      </p:tavLst>
                                    </p:anim>
                                  </p:childTnLst>
                                </p:cTn>
                              </p:par>
                              <p:par>
                                <p:cTn id="165" presetID="42" presetClass="entr" presetSubtype="0" fill="hold" grpId="0" nodeType="withEffect">
                                  <p:stCondLst>
                                    <p:cond delay="0"/>
                                  </p:stCondLst>
                                  <p:childTnLst>
                                    <p:set>
                                      <p:cBhvr>
                                        <p:cTn id="166" dur="1" fill="hold">
                                          <p:stCondLst>
                                            <p:cond delay="0"/>
                                          </p:stCondLst>
                                        </p:cTn>
                                        <p:tgtEl>
                                          <p:spTgt spid="31"/>
                                        </p:tgtEl>
                                        <p:attrNameLst>
                                          <p:attrName>style.visibility</p:attrName>
                                        </p:attrNameLst>
                                      </p:cBhvr>
                                      <p:to>
                                        <p:strVal val="visible"/>
                                      </p:to>
                                    </p:set>
                                    <p:animEffect transition="in" filter="fade">
                                      <p:cBhvr>
                                        <p:cTn id="167" dur="500" decel="100000"/>
                                        <p:tgtEl>
                                          <p:spTgt spid="31"/>
                                        </p:tgtEl>
                                      </p:cBhvr>
                                    </p:animEffect>
                                    <p:anim calcmode="lin" valueType="num">
                                      <p:cBhvr>
                                        <p:cTn id="168" dur="500" decel="100000" fill="hold"/>
                                        <p:tgtEl>
                                          <p:spTgt spid="31"/>
                                        </p:tgtEl>
                                        <p:attrNameLst>
                                          <p:attrName>ppt_x</p:attrName>
                                        </p:attrNameLst>
                                      </p:cBhvr>
                                      <p:tavLst>
                                        <p:tav tm="0">
                                          <p:val>
                                            <p:strVal val="#ppt_x"/>
                                          </p:val>
                                        </p:tav>
                                        <p:tav tm="100000">
                                          <p:val>
                                            <p:strVal val="#ppt_x"/>
                                          </p:val>
                                        </p:tav>
                                      </p:tavLst>
                                    </p:anim>
                                    <p:anim calcmode="lin" valueType="num">
                                      <p:cBhvr>
                                        <p:cTn id="169" dur="500" decel="100000" fill="hold"/>
                                        <p:tgtEl>
                                          <p:spTgt spid="31"/>
                                        </p:tgtEl>
                                        <p:attrNameLst>
                                          <p:attrName>ppt_y</p:attrName>
                                        </p:attrNameLst>
                                      </p:cBhvr>
                                      <p:tavLst>
                                        <p:tav tm="0">
                                          <p:val>
                                            <p:strVal val="#ppt_y+0.0278"/>
                                          </p:val>
                                        </p:tav>
                                        <p:tav tm="100000">
                                          <p:val>
                                            <p:strVal val="#ppt_y"/>
                                          </p:val>
                                        </p:tav>
                                      </p:tavLst>
                                    </p:anim>
                                  </p:childTnLst>
                                </p:cTn>
                              </p:par>
                              <p:par>
                                <p:cTn id="170" presetID="42" presetClass="entr" presetSubtype="0" fill="hold" grpId="0" nodeType="withEffect">
                                  <p:stCondLst>
                                    <p:cond delay="0"/>
                                  </p:stCondLst>
                                  <p:childTnLst>
                                    <p:set>
                                      <p:cBhvr>
                                        <p:cTn id="171" dur="1" fill="hold">
                                          <p:stCondLst>
                                            <p:cond delay="0"/>
                                          </p:stCondLst>
                                        </p:cTn>
                                        <p:tgtEl>
                                          <p:spTgt spid="32"/>
                                        </p:tgtEl>
                                        <p:attrNameLst>
                                          <p:attrName>style.visibility</p:attrName>
                                        </p:attrNameLst>
                                      </p:cBhvr>
                                      <p:to>
                                        <p:strVal val="visible"/>
                                      </p:to>
                                    </p:set>
                                    <p:animEffect transition="in" filter="fade">
                                      <p:cBhvr>
                                        <p:cTn id="172" dur="500" decel="100000"/>
                                        <p:tgtEl>
                                          <p:spTgt spid="32"/>
                                        </p:tgtEl>
                                      </p:cBhvr>
                                    </p:animEffect>
                                    <p:anim calcmode="lin" valueType="num">
                                      <p:cBhvr>
                                        <p:cTn id="173" dur="500" decel="100000" fill="hold"/>
                                        <p:tgtEl>
                                          <p:spTgt spid="32"/>
                                        </p:tgtEl>
                                        <p:attrNameLst>
                                          <p:attrName>ppt_x</p:attrName>
                                        </p:attrNameLst>
                                      </p:cBhvr>
                                      <p:tavLst>
                                        <p:tav tm="0">
                                          <p:val>
                                            <p:strVal val="#ppt_x"/>
                                          </p:val>
                                        </p:tav>
                                        <p:tav tm="100000">
                                          <p:val>
                                            <p:strVal val="#ppt_x"/>
                                          </p:val>
                                        </p:tav>
                                      </p:tavLst>
                                    </p:anim>
                                    <p:anim calcmode="lin" valueType="num">
                                      <p:cBhvr>
                                        <p:cTn id="174" dur="500" decel="100000" fill="hold"/>
                                        <p:tgtEl>
                                          <p:spTgt spid="32"/>
                                        </p:tgtEl>
                                        <p:attrNameLst>
                                          <p:attrName>ppt_y</p:attrName>
                                        </p:attrNameLst>
                                      </p:cBhvr>
                                      <p:tavLst>
                                        <p:tav tm="0">
                                          <p:val>
                                            <p:strVal val="#ppt_y+0.0278"/>
                                          </p:val>
                                        </p:tav>
                                        <p:tav tm="100000">
                                          <p:val>
                                            <p:strVal val="#ppt_y"/>
                                          </p:val>
                                        </p:tav>
                                      </p:tavLst>
                                    </p:anim>
                                  </p:childTnLst>
                                </p:cTn>
                              </p:par>
                              <p:par>
                                <p:cTn id="175" presetID="42" presetClass="entr" presetSubtype="0" fill="hold" grpId="0" nodeType="withEffect">
                                  <p:stCondLst>
                                    <p:cond delay="0"/>
                                  </p:stCondLst>
                                  <p:childTnLst>
                                    <p:set>
                                      <p:cBhvr>
                                        <p:cTn id="176" dur="1" fill="hold">
                                          <p:stCondLst>
                                            <p:cond delay="0"/>
                                          </p:stCondLst>
                                        </p:cTn>
                                        <p:tgtEl>
                                          <p:spTgt spid="33"/>
                                        </p:tgtEl>
                                        <p:attrNameLst>
                                          <p:attrName>style.visibility</p:attrName>
                                        </p:attrNameLst>
                                      </p:cBhvr>
                                      <p:to>
                                        <p:strVal val="visible"/>
                                      </p:to>
                                    </p:set>
                                    <p:animEffect transition="in" filter="fade">
                                      <p:cBhvr>
                                        <p:cTn id="177" dur="500" decel="100000"/>
                                        <p:tgtEl>
                                          <p:spTgt spid="33"/>
                                        </p:tgtEl>
                                      </p:cBhvr>
                                    </p:animEffect>
                                    <p:anim calcmode="lin" valueType="num">
                                      <p:cBhvr>
                                        <p:cTn id="178" dur="500" decel="100000" fill="hold"/>
                                        <p:tgtEl>
                                          <p:spTgt spid="33"/>
                                        </p:tgtEl>
                                        <p:attrNameLst>
                                          <p:attrName>ppt_x</p:attrName>
                                        </p:attrNameLst>
                                      </p:cBhvr>
                                      <p:tavLst>
                                        <p:tav tm="0">
                                          <p:val>
                                            <p:strVal val="#ppt_x"/>
                                          </p:val>
                                        </p:tav>
                                        <p:tav tm="100000">
                                          <p:val>
                                            <p:strVal val="#ppt_x"/>
                                          </p:val>
                                        </p:tav>
                                      </p:tavLst>
                                    </p:anim>
                                    <p:anim calcmode="lin" valueType="num">
                                      <p:cBhvr>
                                        <p:cTn id="179" dur="500" decel="100000" fill="hold"/>
                                        <p:tgtEl>
                                          <p:spTgt spid="33"/>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p:bldP spid="7" grpId="0" animBg="1"/>
      <p:bldP spid="8" grpId="0"/>
      <p:bldP spid="9" grpId="0"/>
      <p:bldP spid="10" grpId="0" animBg="1"/>
      <p:bldP spid="11" grpId="0"/>
      <p:bldP spid="12" grpId="0"/>
      <p:bldP spid="13" grpId="0" animBg="1"/>
      <p:bldP spid="14" grpId="0"/>
      <p:bldP spid="15" grpId="0"/>
      <p:bldP spid="16" grpId="0" animBg="1"/>
      <p:bldP spid="17" grpId="0"/>
      <p:bldP spid="18" grpId="0"/>
      <p:bldP spid="19" grpId="0" animBg="1"/>
      <p:bldP spid="20" grpId="0"/>
      <p:bldP spid="21" grpId="0"/>
      <p:bldP spid="22" grpId="0" animBg="1"/>
      <p:bldP spid="23" grpId="0"/>
      <p:bldP spid="24" grpId="0"/>
      <p:bldP spid="25" grpId="0" animBg="1"/>
      <p:bldP spid="26" grpId="0"/>
      <p:bldP spid="27" grpId="0"/>
      <p:bldP spid="28" grpId="0" animBg="1"/>
      <p:bldP spid="29" grpId="0"/>
      <p:bldP spid="30" grpId="0"/>
      <p:bldP spid="31" grpId="0" animBg="1"/>
      <p:bldP spid="32" grpId="0"/>
      <p:bldP spid="33" grpId="0"/>
      <p:bldP spid="34" grpId="0" animBg="1"/>
      <p:bldP spid="35" grpId="0"/>
      <p:bldP spid="37" grpId="0" animBg="1"/>
      <p:bldP spid="38" grpId="0" animBg="1"/>
      <p:bldP spid="39"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sp>
        <p:nvSpPr>
          <p:cNvPr id="3" name="!!Title"/>
          <p:cNvSpPr txBox="1"/>
          <p:nvPr/>
        </p:nvSpPr>
        <p:spPr>
          <a:xfrm>
            <a:off x="685800" y="914400"/>
            <a:ext cx="8229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Mise en application</a:t>
            </a:r>
          </a:p>
        </p:txBody>
      </p:sp>
      <p:pic>
        <p:nvPicPr>
          <p:cNvPr id="4" name="!!M0" descr="Carte de visite"/>
          <p:cNvPicPr>
            <a:picLocks noChangeAspect="1"/>
          </p:cNvPicPr>
          <p:nvPr/>
        </p:nvPicPr>
        <p:blipFill>
          <a:blip r:embed="rId2"/>
          <a:srcRect t="12963" b="12963"/>
          <a:stretch>
            <a:fillRect/>
          </a:stretch>
        </p:blipFill>
        <p:spPr>
          <a:xfrm>
            <a:off x="685800" y="1828800"/>
            <a:ext cx="3456432" cy="1920240"/>
          </a:xfrm>
          <a:prstGeom prst="roundRect">
            <a:avLst>
              <a:gd name="adj" fmla="val 5000"/>
            </a:avLst>
          </a:prstGeom>
          <a:effectLst>
            <a:outerShdw blurRad="177800" dist="38100" dir="5400000" algn="t" rotWithShape="0">
              <a:srgbClr val="1A0507">
                <a:alpha val="14000"/>
              </a:srgbClr>
            </a:outerShdw>
          </a:effectLst>
        </p:spPr>
      </p:pic>
      <p:pic>
        <p:nvPicPr>
          <p:cNvPr id="5" name="!!M1" descr="Carnet"/>
          <p:cNvPicPr>
            <a:picLocks noChangeAspect="1"/>
          </p:cNvPicPr>
          <p:nvPr/>
        </p:nvPicPr>
        <p:blipFill>
          <a:blip r:embed="rId3"/>
          <a:srcRect t="1160" b="1160"/>
          <a:stretch>
            <a:fillRect/>
          </a:stretch>
        </p:blipFill>
        <p:spPr>
          <a:xfrm>
            <a:off x="4297680" y="1828800"/>
            <a:ext cx="3456432" cy="1920240"/>
          </a:xfrm>
          <a:prstGeom prst="roundRect">
            <a:avLst>
              <a:gd name="adj" fmla="val 5000"/>
            </a:avLst>
          </a:prstGeom>
          <a:effectLst>
            <a:outerShdw blurRad="177800" dist="38100" dir="5400000" algn="t" rotWithShape="0">
              <a:srgbClr val="1A0507">
                <a:alpha val="14000"/>
              </a:srgbClr>
            </a:outerShdw>
          </a:effectLst>
        </p:spPr>
      </p:pic>
      <p:pic>
        <p:nvPicPr>
          <p:cNvPr id="6" name="!!M2" descr="Polos"/>
          <p:cNvPicPr>
            <a:picLocks noChangeAspect="1"/>
          </p:cNvPicPr>
          <p:nvPr/>
        </p:nvPicPr>
        <p:blipFill>
          <a:blip r:embed="rId4"/>
          <a:srcRect t="341" b="341"/>
          <a:stretch>
            <a:fillRect/>
          </a:stretch>
        </p:blipFill>
        <p:spPr>
          <a:xfrm>
            <a:off x="7909560" y="1828800"/>
            <a:ext cx="3456432" cy="1920240"/>
          </a:xfrm>
          <a:prstGeom prst="roundRect">
            <a:avLst>
              <a:gd name="adj" fmla="val 5000"/>
            </a:avLst>
          </a:prstGeom>
          <a:effectLst>
            <a:outerShdw blurRad="177800" dist="38100" dir="5400000" algn="t" rotWithShape="0">
              <a:srgbClr val="1A0507">
                <a:alpha val="14000"/>
              </a:srgbClr>
            </a:outerShdw>
          </a:effectLst>
        </p:spPr>
      </p:pic>
      <p:pic>
        <p:nvPicPr>
          <p:cNvPr id="7" name="!!M3" descr="Tabliers"/>
          <p:cNvPicPr>
            <a:picLocks noChangeAspect="1"/>
          </p:cNvPicPr>
          <p:nvPr/>
        </p:nvPicPr>
        <p:blipFill>
          <a:blip r:embed="rId5"/>
          <a:srcRect t="9924" b="9924"/>
          <a:stretch>
            <a:fillRect/>
          </a:stretch>
        </p:blipFill>
        <p:spPr>
          <a:xfrm>
            <a:off x="685800" y="3931920"/>
            <a:ext cx="3456432" cy="1920240"/>
          </a:xfrm>
          <a:prstGeom prst="roundRect">
            <a:avLst>
              <a:gd name="adj" fmla="val 5000"/>
            </a:avLst>
          </a:prstGeom>
          <a:effectLst>
            <a:outerShdw blurRad="177800" dist="38100" dir="5400000" algn="t" rotWithShape="0">
              <a:srgbClr val="1A0507">
                <a:alpha val="14000"/>
              </a:srgbClr>
            </a:outerShdw>
          </a:effectLst>
        </p:spPr>
      </p:pic>
      <p:pic>
        <p:nvPicPr>
          <p:cNvPr id="8" name="!!M4" descr="Camion de livraison"/>
          <p:cNvPicPr>
            <a:picLocks noChangeAspect="1"/>
          </p:cNvPicPr>
          <p:nvPr/>
        </p:nvPicPr>
        <p:blipFill>
          <a:blip r:embed="rId6"/>
          <a:srcRect t="3019" b="3019"/>
          <a:stretch>
            <a:fillRect/>
          </a:stretch>
        </p:blipFill>
        <p:spPr>
          <a:xfrm>
            <a:off x="4297680" y="3931920"/>
            <a:ext cx="3456432" cy="1920240"/>
          </a:xfrm>
          <a:prstGeom prst="roundRect">
            <a:avLst>
              <a:gd name="adj" fmla="val 5000"/>
            </a:avLst>
          </a:prstGeom>
          <a:effectLst>
            <a:outerShdw blurRad="177800" dist="38100" dir="5400000" algn="t" rotWithShape="0">
              <a:srgbClr val="1A0507">
                <a:alpha val="14000"/>
              </a:srgbClr>
            </a:outerShdw>
          </a:effectLst>
        </p:spPr>
      </p:pic>
      <p:pic>
        <p:nvPicPr>
          <p:cNvPr id="9" name="!!M5" descr="Sac kraft"/>
          <p:cNvPicPr>
            <a:picLocks noChangeAspect="1"/>
          </p:cNvPicPr>
          <p:nvPr/>
        </p:nvPicPr>
        <p:blipFill>
          <a:blip r:embed="rId7"/>
          <a:srcRect l="15575" r="15575"/>
          <a:stretch>
            <a:fillRect/>
          </a:stretch>
        </p:blipFill>
        <p:spPr>
          <a:xfrm>
            <a:off x="7909560" y="3931920"/>
            <a:ext cx="3456432" cy="1920240"/>
          </a:xfrm>
          <a:prstGeom prst="roundRect">
            <a:avLst>
              <a:gd name="adj" fmla="val 5000"/>
            </a:avLst>
          </a:prstGeom>
          <a:effectLst>
            <a:outerShdw blurRad="177800" dist="38100" dir="5400000" algn="t" rotWithShape="0">
              <a:srgbClr val="1A0507">
                <a:alpha val="14000"/>
              </a:srgbClr>
            </a:outerShdw>
          </a:effectLst>
        </p:spPr>
      </p:pic>
      <p:sp>
        <p:nvSpPr>
          <p:cNvPr id="10" name="!!Accent"/>
          <p:cNvSpPr/>
          <p:nvPr/>
        </p:nvSpPr>
        <p:spPr>
          <a:xfrm>
            <a:off x="685800" y="338328"/>
            <a:ext cx="384048" cy="32004"/>
          </a:xfrm>
          <a:prstGeom prst="rect">
            <a:avLst/>
          </a:prstGeom>
          <a:solidFill>
            <a:srgbClr val="F9A825"/>
          </a:solidFill>
          <a:ln>
            <a:noFill/>
          </a:ln>
        </p:spPr>
        <p:txBody>
          <a:bodyPr rtlCol="0" anchor="ctr"/>
          <a:lstStyle/>
          <a:p/>
        </p:txBody>
      </p:sp>
      <p:sp>
        <p:nvSpPr>
          <p:cNvPr id="11"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03 · Identité appliquée</a:t>
            </a:r>
          </a:p>
        </p:txBody>
      </p:sp>
      <p:sp>
        <p:nvSpPr>
          <p:cNvPr id="12"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25</a:t>
            </a:r>
          </a:p>
        </p:txBody>
      </p:sp>
      <p:sp>
        <p:nvSpPr>
          <p:cNvPr id="13"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14"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15"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16" name="!!Logo" descr="Logo Marin'Or Ivoire"/>
          <p:cNvPicPr>
            <a:picLocks noChangeAspect="1"/>
          </p:cNvPicPr>
          <p:nvPr/>
        </p:nvPicPr>
        <p:blipFill>
          <a:blip r:embed="rId8"/>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decel="1000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decel="100000"/>
                                        <p:tgtEl>
                                          <p:spTgt spid="11"/>
                                        </p:tgtEl>
                                      </p:cBhvr>
                                    </p:animEffect>
                                    <p:anim calcmode="lin" valueType="num">
                                      <p:cBhvr>
                                        <p:cTn id="13" dur="500" decel="100000" fill="hold"/>
                                        <p:tgtEl>
                                          <p:spTgt spid="11"/>
                                        </p:tgtEl>
                                        <p:attrNameLst>
                                          <p:attrName>ppt_x</p:attrName>
                                        </p:attrNameLst>
                                      </p:cBhvr>
                                      <p:tavLst>
                                        <p:tav tm="0">
                                          <p:val>
                                            <p:strVal val="#ppt_x"/>
                                          </p:val>
                                        </p:tav>
                                        <p:tav tm="100000">
                                          <p:val>
                                            <p:strVal val="#ppt_x"/>
                                          </p:val>
                                        </p:tav>
                                      </p:tavLst>
                                    </p:anim>
                                    <p:anim calcmode="lin" valueType="num">
                                      <p:cBhvr>
                                        <p:cTn id="14" dur="500" decel="100000" fill="hold"/>
                                        <p:tgtEl>
                                          <p:spTgt spid="11"/>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13"/>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14"/>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15"/>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400" decel="1000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decel="100000"/>
                                        <p:tgtEl>
                                          <p:spTgt spid="4"/>
                                        </p:tgtEl>
                                      </p:cBhvr>
                                    </p:animEffect>
                                    <p:anim calcmode="lin" valueType="num">
                                      <p:cBhvr>
                                        <p:cTn id="31" dur="500" decel="100000" fill="hold"/>
                                        <p:tgtEl>
                                          <p:spTgt spid="4"/>
                                        </p:tgtEl>
                                        <p:attrNameLst>
                                          <p:attrName>ppt_x</p:attrName>
                                        </p:attrNameLst>
                                      </p:cBhvr>
                                      <p:tavLst>
                                        <p:tav tm="0">
                                          <p:val>
                                            <p:strVal val="#ppt_x"/>
                                          </p:val>
                                        </p:tav>
                                        <p:tav tm="100000">
                                          <p:val>
                                            <p:strVal val="#ppt_x"/>
                                          </p:val>
                                        </p:tav>
                                      </p:tavLst>
                                    </p:anim>
                                    <p:anim calcmode="lin" valueType="num">
                                      <p:cBhvr>
                                        <p:cTn id="32" dur="500" decel="100000" fill="hold"/>
                                        <p:tgtEl>
                                          <p:spTgt spid="4"/>
                                        </p:tgtEl>
                                        <p:attrNameLst>
                                          <p:attrName>ppt_y</p:attrName>
                                        </p:attrNameLst>
                                      </p:cBhvr>
                                      <p:tavLst>
                                        <p:tav tm="0">
                                          <p:val>
                                            <p:strVal val="#ppt_y+0.027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decel="100000"/>
                                        <p:tgtEl>
                                          <p:spTgt spid="5"/>
                                        </p:tgtEl>
                                      </p:cBhvr>
                                    </p:animEffect>
                                    <p:anim calcmode="lin" valueType="num">
                                      <p:cBhvr>
                                        <p:cTn id="36" dur="500" decel="100000" fill="hold"/>
                                        <p:tgtEl>
                                          <p:spTgt spid="5"/>
                                        </p:tgtEl>
                                        <p:attrNameLst>
                                          <p:attrName>ppt_x</p:attrName>
                                        </p:attrNameLst>
                                      </p:cBhvr>
                                      <p:tavLst>
                                        <p:tav tm="0">
                                          <p:val>
                                            <p:strVal val="#ppt_x"/>
                                          </p:val>
                                        </p:tav>
                                        <p:tav tm="100000">
                                          <p:val>
                                            <p:strVal val="#ppt_x"/>
                                          </p:val>
                                        </p:tav>
                                      </p:tavLst>
                                    </p:anim>
                                    <p:anim calcmode="lin" valueType="num">
                                      <p:cBhvr>
                                        <p:cTn id="37" dur="500" decel="100000" fill="hold"/>
                                        <p:tgtEl>
                                          <p:spTgt spid="5"/>
                                        </p:tgtEl>
                                        <p:attrNameLst>
                                          <p:attrName>ppt_y</p:attrName>
                                        </p:attrNameLst>
                                      </p:cBhvr>
                                      <p:tavLst>
                                        <p:tav tm="0">
                                          <p:val>
                                            <p:strVal val="#ppt_y+0.0278"/>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500" decel="100000"/>
                                        <p:tgtEl>
                                          <p:spTgt spid="6"/>
                                        </p:tgtEl>
                                      </p:cBhvr>
                                    </p:animEffect>
                                    <p:anim calcmode="lin" valueType="num">
                                      <p:cBhvr>
                                        <p:cTn id="41" dur="500" decel="100000" fill="hold"/>
                                        <p:tgtEl>
                                          <p:spTgt spid="6"/>
                                        </p:tgtEl>
                                        <p:attrNameLst>
                                          <p:attrName>ppt_x</p:attrName>
                                        </p:attrNameLst>
                                      </p:cBhvr>
                                      <p:tavLst>
                                        <p:tav tm="0">
                                          <p:val>
                                            <p:strVal val="#ppt_x"/>
                                          </p:val>
                                        </p:tav>
                                        <p:tav tm="100000">
                                          <p:val>
                                            <p:strVal val="#ppt_x"/>
                                          </p:val>
                                        </p:tav>
                                      </p:tavLst>
                                    </p:anim>
                                    <p:anim calcmode="lin" valueType="num">
                                      <p:cBhvr>
                                        <p:cTn id="42" dur="500" decel="100000" fill="hold"/>
                                        <p:tgtEl>
                                          <p:spTgt spid="6"/>
                                        </p:tgtEl>
                                        <p:attrNameLst>
                                          <p:attrName>ppt_y</p:attrName>
                                        </p:attrNameLst>
                                      </p:cBhvr>
                                      <p:tavLst>
                                        <p:tav tm="0">
                                          <p:val>
                                            <p:strVal val="#ppt_y+0.0278"/>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fade">
                                      <p:cBhvr>
                                        <p:cTn id="47" dur="500" decel="100000"/>
                                        <p:tgtEl>
                                          <p:spTgt spid="7"/>
                                        </p:tgtEl>
                                      </p:cBhvr>
                                    </p:animEffect>
                                    <p:anim calcmode="lin" valueType="num">
                                      <p:cBhvr>
                                        <p:cTn id="48" dur="500" decel="100000" fill="hold"/>
                                        <p:tgtEl>
                                          <p:spTgt spid="7"/>
                                        </p:tgtEl>
                                        <p:attrNameLst>
                                          <p:attrName>ppt_x</p:attrName>
                                        </p:attrNameLst>
                                      </p:cBhvr>
                                      <p:tavLst>
                                        <p:tav tm="0">
                                          <p:val>
                                            <p:strVal val="#ppt_x"/>
                                          </p:val>
                                        </p:tav>
                                        <p:tav tm="100000">
                                          <p:val>
                                            <p:strVal val="#ppt_x"/>
                                          </p:val>
                                        </p:tav>
                                      </p:tavLst>
                                    </p:anim>
                                    <p:anim calcmode="lin" valueType="num">
                                      <p:cBhvr>
                                        <p:cTn id="49" dur="500" decel="100000" fill="hold"/>
                                        <p:tgtEl>
                                          <p:spTgt spid="7"/>
                                        </p:tgtEl>
                                        <p:attrNameLst>
                                          <p:attrName>ppt_y</p:attrName>
                                        </p:attrNameLst>
                                      </p:cBhvr>
                                      <p:tavLst>
                                        <p:tav tm="0">
                                          <p:val>
                                            <p:strVal val="#ppt_y+0.0278"/>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fade">
                                      <p:cBhvr>
                                        <p:cTn id="52" dur="500" decel="100000"/>
                                        <p:tgtEl>
                                          <p:spTgt spid="8"/>
                                        </p:tgtEl>
                                      </p:cBhvr>
                                    </p:animEffect>
                                    <p:anim calcmode="lin" valueType="num">
                                      <p:cBhvr>
                                        <p:cTn id="53" dur="500" decel="100000" fill="hold"/>
                                        <p:tgtEl>
                                          <p:spTgt spid="8"/>
                                        </p:tgtEl>
                                        <p:attrNameLst>
                                          <p:attrName>ppt_x</p:attrName>
                                        </p:attrNameLst>
                                      </p:cBhvr>
                                      <p:tavLst>
                                        <p:tav tm="0">
                                          <p:val>
                                            <p:strVal val="#ppt_x"/>
                                          </p:val>
                                        </p:tav>
                                        <p:tav tm="100000">
                                          <p:val>
                                            <p:strVal val="#ppt_x"/>
                                          </p:val>
                                        </p:tav>
                                      </p:tavLst>
                                    </p:anim>
                                    <p:anim calcmode="lin" valueType="num">
                                      <p:cBhvr>
                                        <p:cTn id="54" dur="500" decel="100000" fill="hold"/>
                                        <p:tgtEl>
                                          <p:spTgt spid="8"/>
                                        </p:tgtEl>
                                        <p:attrNameLst>
                                          <p:attrName>ppt_y</p:attrName>
                                        </p:attrNameLst>
                                      </p:cBhvr>
                                      <p:tavLst>
                                        <p:tav tm="0">
                                          <p:val>
                                            <p:strVal val="#ppt_y+0.0278"/>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fade">
                                      <p:cBhvr>
                                        <p:cTn id="57" dur="500" decel="100000"/>
                                        <p:tgtEl>
                                          <p:spTgt spid="9"/>
                                        </p:tgtEl>
                                      </p:cBhvr>
                                    </p:animEffect>
                                    <p:anim calcmode="lin" valueType="num">
                                      <p:cBhvr>
                                        <p:cTn id="58" dur="500" decel="100000" fill="hold"/>
                                        <p:tgtEl>
                                          <p:spTgt spid="9"/>
                                        </p:tgtEl>
                                        <p:attrNameLst>
                                          <p:attrName>ppt_x</p:attrName>
                                        </p:attrNameLst>
                                      </p:cBhvr>
                                      <p:tavLst>
                                        <p:tav tm="0">
                                          <p:val>
                                            <p:strVal val="#ppt_x"/>
                                          </p:val>
                                        </p:tav>
                                        <p:tav tm="100000">
                                          <p:val>
                                            <p:strVal val="#ppt_x"/>
                                          </p:val>
                                        </p:tav>
                                      </p:tavLst>
                                    </p:anim>
                                    <p:anim calcmode="lin" valueType="num">
                                      <p:cBhvr>
                                        <p:cTn id="59" dur="500" decel="100000" fill="hold"/>
                                        <p:tgtEl>
                                          <p:spTgt spid="9"/>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animBg="1"/>
      <p:bldP spid="11" grpId="0"/>
      <p:bldP spid="13" grpId="0" animBg="1"/>
      <p:bldP spid="14" grpId="0" animBg="1"/>
      <p:bldP spid="15"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pic>
        <p:nvPicPr>
          <p:cNvPr id="3" name="!!Video">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120640" y="1508760"/>
            <a:ext cx="6400800" cy="3600450"/>
          </a:xfrm>
          <a:prstGeom prst="rect">
            <a:avLst/>
          </a:prstGeom>
        </p:spPr>
      </p:pic>
      <p:sp>
        <p:nvSpPr>
          <p:cNvPr id="4" name="!!Title"/>
          <p:cNvSpPr txBox="1"/>
          <p:nvPr/>
        </p:nvSpPr>
        <p:spPr>
          <a:xfrm>
            <a:off x="685800" y="914400"/>
            <a:ext cx="4206240" cy="1463040"/>
          </a:xfrm>
          <a:prstGeom prst="rect">
            <a:avLst/>
          </a:prstGeom>
          <a:noFill/>
        </p:spPr>
        <p:txBody>
          <a:bodyPr wrap="square" lIns="0" rIns="0" tIns="0" bIns="0" anchor="t">
            <a:noAutofit/>
          </a:bodyPr>
          <a:lstStyle/>
          <a:p>
            <a:pPr algn="l">
              <a:lnSpc>
                <a:spcPct val="95000"/>
              </a:lnSpc>
            </a:pPr>
            <a:r>
              <a:rPr sz="3600">
                <a:solidFill>
                  <a:srgbClr val="7B1421"/>
                </a:solidFill>
                <a:latin typeface="Cream Heavy"/>
              </a:rPr>
              <a:t>Animation du logotype</a:t>
            </a:r>
          </a:p>
        </p:txBody>
      </p:sp>
      <p:sp>
        <p:nvSpPr>
          <p:cNvPr id="5" name="!!Body"/>
          <p:cNvSpPr txBox="1"/>
          <p:nvPr/>
        </p:nvSpPr>
        <p:spPr>
          <a:xfrm>
            <a:off x="685800" y="2514600"/>
            <a:ext cx="4114800" cy="2377440"/>
          </a:xfrm>
          <a:prstGeom prst="rect">
            <a:avLst/>
          </a:prstGeom>
          <a:noFill/>
        </p:spPr>
        <p:txBody>
          <a:bodyPr wrap="square" lIns="0" rIns="0" tIns="0" bIns="0" anchor="t">
            <a:noAutofit/>
          </a:bodyPr>
          <a:lstStyle/>
          <a:p>
            <a:pPr algn="l">
              <a:lnSpc>
                <a:spcPct val="112000"/>
              </a:lnSpc>
              <a:spcAft>
                <a:spcPts val="1200"/>
              </a:spcAft>
            </a:pPr>
            <a:r>
              <a:rPr sz="1700">
                <a:solidFill>
                  <a:srgbClr val="2A070D"/>
                </a:solidFill>
                <a:latin typeface="Montserrat Medium"/>
              </a:rPr>
              <a:t>La signature audiovisuelle qui ouvre et clôt les spots.</a:t>
            </a:r>
          </a:p>
          <a:p>
            <a:pPr algn="l">
              <a:lnSpc>
                <a:spcPct val="112000"/>
              </a:lnSpc>
              <a:spcAft>
                <a:spcPts val="1200"/>
              </a:spcAft>
            </a:pPr>
            <a:r>
              <a:rPr sz="1700">
                <a:solidFill>
                  <a:srgbClr val="2A070D"/>
                </a:solidFill>
                <a:latin typeface="Montserrat Medium"/>
              </a:rPr>
              <a:t>Illustrator, puis After Effects · Full HD</a:t>
            </a:r>
          </a:p>
        </p:txBody>
      </p:sp>
      <p:sp>
        <p:nvSpPr>
          <p:cNvPr id="6" name="!!Accent"/>
          <p:cNvSpPr/>
          <p:nvPr/>
        </p:nvSpPr>
        <p:spPr>
          <a:xfrm>
            <a:off x="685800" y="338328"/>
            <a:ext cx="384048" cy="32004"/>
          </a:xfrm>
          <a:prstGeom prst="rect">
            <a:avLst/>
          </a:prstGeom>
          <a:solidFill>
            <a:srgbClr val="F9A825"/>
          </a:solidFill>
          <a:ln>
            <a:noFill/>
          </a:ln>
        </p:spPr>
        <p:txBody>
          <a:bodyPr rtlCol="0" anchor="ctr"/>
          <a:lstStyle/>
          <a:p/>
        </p:txBody>
      </p:sp>
      <p:sp>
        <p:nvSpPr>
          <p:cNvPr id="7"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03 · Motion design</a:t>
            </a:r>
          </a:p>
        </p:txBody>
      </p:sp>
      <p:sp>
        <p:nvSpPr>
          <p:cNvPr id="8"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26</a:t>
            </a:r>
          </a:p>
        </p:txBody>
      </p:sp>
      <p:sp>
        <p:nvSpPr>
          <p:cNvPr id="9"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10"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11"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12" name="!!Logo" descr="Logo Marin'Or Ivoire"/>
          <p:cNvPicPr>
            <a:picLocks noChangeAspect="1"/>
          </p:cNvPicPr>
          <p:nvPr/>
        </p:nvPicPr>
        <p:blipFill>
          <a:blip r:embed="rId5"/>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decel="100000"/>
                                        <p:tgtEl>
                                          <p:spTgt spid="4"/>
                                        </p:tgtEl>
                                      </p:cBhvr>
                                    </p:animEffect>
                                    <p:anim calcmode="lin" valueType="num">
                                      <p:cBhvr>
                                        <p:cTn id="8" dur="500" decel="100000" fill="hold"/>
                                        <p:tgtEl>
                                          <p:spTgt spid="4"/>
                                        </p:tgtEl>
                                        <p:attrNameLst>
                                          <p:attrName>ppt_x</p:attrName>
                                        </p:attrNameLst>
                                      </p:cBhvr>
                                      <p:tavLst>
                                        <p:tav tm="0">
                                          <p:val>
                                            <p:strVal val="#ppt_x"/>
                                          </p:val>
                                        </p:tav>
                                        <p:tav tm="100000">
                                          <p:val>
                                            <p:strVal val="#ppt_x"/>
                                          </p:val>
                                        </p:tav>
                                      </p:tavLst>
                                    </p:anim>
                                    <p:anim calcmode="lin" valueType="num">
                                      <p:cBhvr>
                                        <p:cTn id="9" dur="500" decel="100000" fill="hold"/>
                                        <p:tgtEl>
                                          <p:spTgt spid="4"/>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decel="100000"/>
                                        <p:tgtEl>
                                          <p:spTgt spid="7"/>
                                        </p:tgtEl>
                                      </p:cBhvr>
                                    </p:animEffect>
                                    <p:anim calcmode="lin" valueType="num">
                                      <p:cBhvr>
                                        <p:cTn id="13" dur="500" decel="100000" fill="hold"/>
                                        <p:tgtEl>
                                          <p:spTgt spid="7"/>
                                        </p:tgtEl>
                                        <p:attrNameLst>
                                          <p:attrName>ppt_x</p:attrName>
                                        </p:attrNameLst>
                                      </p:cBhvr>
                                      <p:tavLst>
                                        <p:tav tm="0">
                                          <p:val>
                                            <p:strVal val="#ppt_x"/>
                                          </p:val>
                                        </p:tav>
                                        <p:tav tm="100000">
                                          <p:val>
                                            <p:strVal val="#ppt_x"/>
                                          </p:val>
                                        </p:tav>
                                      </p:tavLst>
                                    </p:anim>
                                    <p:anim calcmode="lin" valueType="num">
                                      <p:cBhvr>
                                        <p:cTn id="14" dur="500" decel="100000" fill="hold"/>
                                        <p:tgtEl>
                                          <p:spTgt spid="7"/>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9"/>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10"/>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11"/>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4" dur="400" decel="1000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decel="100000"/>
                                        <p:tgtEl>
                                          <p:spTgt spid="5"/>
                                        </p:tgtEl>
                                      </p:cBhvr>
                                    </p:animEffect>
                                    <p:anim calcmode="lin" valueType="num">
                                      <p:cBhvr>
                                        <p:cTn id="31" dur="500" decel="100000" fill="hold"/>
                                        <p:tgtEl>
                                          <p:spTgt spid="5"/>
                                        </p:tgtEl>
                                        <p:attrNameLst>
                                          <p:attrName>ppt_x</p:attrName>
                                        </p:attrNameLst>
                                      </p:cBhvr>
                                      <p:tavLst>
                                        <p:tav tm="0">
                                          <p:val>
                                            <p:strVal val="#ppt_x"/>
                                          </p:val>
                                        </p:tav>
                                        <p:tav tm="100000">
                                          <p:val>
                                            <p:strVal val="#ppt_x"/>
                                          </p:val>
                                        </p:tav>
                                      </p:tavLst>
                                    </p:anim>
                                    <p:anim calcmode="lin" valueType="num">
                                      <p:cBhvr>
                                        <p:cTn id="32" dur="500" decel="100000" fill="hold"/>
                                        <p:tgtEl>
                                          <p:spTgt spid="5"/>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33" fill="hold" display="0">
                  <p:stCondLst>
                    <p:cond delay="indefinite"/>
                  </p:stCondLst>
                </p:cTn>
                <p:tgtEl>
                  <p:spTgt spid="3"/>
                </p:tgtEl>
              </p:cMediaNode>
            </p:video>
          </p:childTnLst>
        </p:cTn>
      </p:par>
    </p:tnLst>
    <p:bldLst>
      <p:bldP spid="4" grpId="0"/>
      <p:bldP spid="5" grpId="0"/>
      <p:bldP spid="6" grpId="0" animBg="1"/>
      <p:bldP spid="7" grpId="0"/>
      <p:bldP spid="9" grpId="0" animBg="1"/>
      <p:bldP spid="10" grpId="0" animBg="1"/>
      <p:bldP spid="11"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gradFill rotWithShape="1">
            <a:gsLst>
              <a:gs pos="0">
                <a:srgbClr val="8A1828"/>
              </a:gs>
              <a:gs pos="100000">
                <a:srgbClr val="68101C"/>
              </a:gs>
            </a:gsLst>
            <a:lin ang="2100000" scaled="0"/>
          </a:gradFill>
          <a:ln>
            <a:noFill/>
          </a:ln>
        </p:spPr>
        <p:txBody>
          <a:bodyPr rtlCol="0" anchor="ctr"/>
          <a:lstStyle/>
          <a:p/>
        </p:txBody>
      </p:sp>
      <p:pic>
        <p:nvPicPr>
          <p:cNvPr id="3" name="!!WM" descr="Filigrane : icône éléphant Marin’Or (décoratif)"/>
          <p:cNvPicPr>
            <a:picLocks noChangeAspect="1"/>
          </p:cNvPicPr>
          <p:nvPr/>
        </p:nvPicPr>
        <p:blipFill>
          <a:blip r:embed="rId2">
            <a:alphaModFix amt="7000"/>
          </a:blip>
          <a:srcRect/>
          <a:stretch>
            <a:fillRect/>
          </a:stretch>
        </p:blipFill>
        <p:spPr>
          <a:xfrm>
            <a:off x="7056729" y="3253165"/>
            <a:ext cx="6583680" cy="4506043"/>
          </a:xfrm>
          <a:prstGeom prst="rect">
            <a:avLst/>
          </a:prstGeom>
        </p:spPr>
      </p:pic>
      <p:sp>
        <p:nvSpPr>
          <p:cNvPr id="4" name="!!SecNum"/>
          <p:cNvSpPr txBox="1"/>
          <p:nvPr/>
        </p:nvSpPr>
        <p:spPr>
          <a:xfrm>
            <a:off x="3352800" y="868680"/>
            <a:ext cx="5486400" cy="1737360"/>
          </a:xfrm>
          <a:prstGeom prst="rect">
            <a:avLst/>
          </a:prstGeom>
          <a:noFill/>
        </p:spPr>
        <p:txBody>
          <a:bodyPr wrap="square" lIns="0" rIns="0" tIns="0" bIns="0" anchor="ctr">
            <a:noAutofit/>
          </a:bodyPr>
          <a:lstStyle/>
          <a:p>
            <a:pPr algn="ctr"/>
            <a:r>
              <a:rPr sz="12000">
                <a:solidFill>
                  <a:srgbClr val="F9A825"/>
                </a:solidFill>
                <a:latin typeface="Cream Heavy"/>
              </a:rPr>
              <a:t>04</a:t>
            </a:r>
          </a:p>
        </p:txBody>
      </p:sp>
      <p:sp>
        <p:nvSpPr>
          <p:cNvPr id="5" name="!!Title"/>
          <p:cNvSpPr txBox="1"/>
          <p:nvPr/>
        </p:nvSpPr>
        <p:spPr>
          <a:xfrm>
            <a:off x="914400" y="3017520"/>
            <a:ext cx="10363200" cy="822960"/>
          </a:xfrm>
          <a:prstGeom prst="rect">
            <a:avLst/>
          </a:prstGeom>
          <a:noFill/>
        </p:spPr>
        <p:txBody>
          <a:bodyPr wrap="square" lIns="0" rIns="0" tIns="0" bIns="0" anchor="ctr">
            <a:noAutofit/>
          </a:bodyPr>
          <a:lstStyle/>
          <a:p>
            <a:pPr algn="ctr">
              <a:lnSpc>
                <a:spcPct val="95000"/>
              </a:lnSpc>
            </a:pPr>
            <a:r>
              <a:rPr sz="4000">
                <a:solidFill>
                  <a:srgbClr val="FFFFFF"/>
                </a:solidFill>
                <a:latin typeface="Cream Heavy"/>
              </a:rPr>
              <a:t>Supports print et audiovisuels</a:t>
            </a:r>
          </a:p>
        </p:txBody>
      </p:sp>
      <p:sp>
        <p:nvSpPr>
          <p:cNvPr id="6" name="!!Accent"/>
          <p:cNvSpPr/>
          <p:nvPr/>
        </p:nvSpPr>
        <p:spPr>
          <a:xfrm>
            <a:off x="685800" y="338328"/>
            <a:ext cx="384048" cy="32004"/>
          </a:xfrm>
          <a:prstGeom prst="rect">
            <a:avLst/>
          </a:prstGeom>
          <a:solidFill>
            <a:srgbClr val="F9A825"/>
          </a:solidFill>
          <a:ln>
            <a:noFill/>
          </a:ln>
        </p:spPr>
        <p:txBody>
          <a:bodyPr rtlCol="0" anchor="ctr"/>
          <a:lstStyle/>
          <a:p/>
        </p:txBody>
      </p:sp>
      <p:sp>
        <p:nvSpPr>
          <p:cNvPr id="7"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F9A825"/>
                </a:solidFill>
                <a:latin typeface="Montserrat SemiBold"/>
              </a:rPr>
              <a:t>04 · Réalisations</a:t>
            </a:r>
          </a:p>
        </p:txBody>
      </p:sp>
      <p:sp>
        <p:nvSpPr>
          <p:cNvPr id="8"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F9A825"/>
                </a:solidFill>
                <a:latin typeface="Montserrat SemiBold"/>
              </a:rPr>
              <a:t>27</a:t>
            </a:r>
          </a:p>
        </p:txBody>
      </p:sp>
      <p:sp>
        <p:nvSpPr>
          <p:cNvPr id="9" name="!!Dot0"/>
          <p:cNvSpPr/>
          <p:nvPr/>
        </p:nvSpPr>
        <p:spPr>
          <a:xfrm>
            <a:off x="685800" y="6382512"/>
            <a:ext cx="68580" cy="68580"/>
          </a:xfrm>
          <a:prstGeom prst="ellipse">
            <a:avLst/>
          </a:prstGeom>
          <a:solidFill>
            <a:srgbClr val="F9A825">
              <a:alpha val="75000"/>
            </a:srgbClr>
          </a:solidFill>
          <a:ln>
            <a:noFill/>
          </a:ln>
        </p:spPr>
        <p:txBody>
          <a:bodyPr rtlCol="0" anchor="ctr"/>
          <a:lstStyle/>
          <a:p/>
        </p:txBody>
      </p:sp>
      <p:sp>
        <p:nvSpPr>
          <p:cNvPr id="10" name="!!Dot1"/>
          <p:cNvSpPr/>
          <p:nvPr/>
        </p:nvSpPr>
        <p:spPr>
          <a:xfrm>
            <a:off x="832104" y="6382512"/>
            <a:ext cx="68580" cy="68580"/>
          </a:xfrm>
          <a:prstGeom prst="ellipse">
            <a:avLst/>
          </a:prstGeom>
          <a:solidFill>
            <a:srgbClr val="FFECD1">
              <a:alpha val="75000"/>
            </a:srgbClr>
          </a:solidFill>
          <a:ln>
            <a:noFill/>
          </a:ln>
        </p:spPr>
        <p:txBody>
          <a:bodyPr rtlCol="0" anchor="ctr"/>
          <a:lstStyle/>
          <a:p/>
        </p:txBody>
      </p:sp>
      <p:sp>
        <p:nvSpPr>
          <p:cNvPr id="11" name="!!Dot2"/>
          <p:cNvSpPr/>
          <p:nvPr/>
        </p:nvSpPr>
        <p:spPr>
          <a:xfrm>
            <a:off x="978408" y="6382512"/>
            <a:ext cx="68580" cy="68580"/>
          </a:xfrm>
          <a:prstGeom prst="ellipse">
            <a:avLst/>
          </a:prstGeom>
          <a:solidFill>
            <a:srgbClr val="F9A825">
              <a:alpha val="75000"/>
            </a:srgbClr>
          </a:solidFill>
          <a:ln>
            <a:noFill/>
          </a:ln>
        </p:spPr>
        <p:txBody>
          <a:bodyPr rtlCol="0" anchor="ctr"/>
          <a:lstStyle/>
          <a:p/>
        </p:txBody>
      </p:sp>
      <p:pic>
        <p:nvPicPr>
          <p:cNvPr id="12" name="!!Logo" descr="Logo Marin'Or Ivoire"/>
          <p:cNvPicPr>
            <a:picLocks noChangeAspect="1"/>
          </p:cNvPicPr>
          <p:nvPr/>
        </p:nvPicPr>
        <p:blipFill>
          <a:blip r:embed="rId3"/>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decel="100000"/>
                                        <p:tgtEl>
                                          <p:spTgt spid="4"/>
                                        </p:tgtEl>
                                      </p:cBhvr>
                                    </p:animEffect>
                                    <p:anim calcmode="lin" valueType="num">
                                      <p:cBhvr>
                                        <p:cTn id="8" dur="500" decel="100000" fill="hold"/>
                                        <p:tgtEl>
                                          <p:spTgt spid="4"/>
                                        </p:tgtEl>
                                        <p:attrNameLst>
                                          <p:attrName>ppt_x</p:attrName>
                                        </p:attrNameLst>
                                      </p:cBhvr>
                                      <p:tavLst>
                                        <p:tav tm="0">
                                          <p:val>
                                            <p:strVal val="#ppt_x"/>
                                          </p:val>
                                        </p:tav>
                                        <p:tav tm="100000">
                                          <p:val>
                                            <p:strVal val="#ppt_x"/>
                                          </p:val>
                                        </p:tav>
                                      </p:tavLst>
                                    </p:anim>
                                    <p:anim calcmode="lin" valueType="num">
                                      <p:cBhvr>
                                        <p:cTn id="9" dur="500" decel="100000" fill="hold"/>
                                        <p:tgtEl>
                                          <p:spTgt spid="4"/>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decel="100000"/>
                                        <p:tgtEl>
                                          <p:spTgt spid="5"/>
                                        </p:tgtEl>
                                      </p:cBhvr>
                                    </p:animEffect>
                                    <p:anim calcmode="lin" valueType="num">
                                      <p:cBhvr>
                                        <p:cTn id="13" dur="500" decel="100000" fill="hold"/>
                                        <p:tgtEl>
                                          <p:spTgt spid="5"/>
                                        </p:tgtEl>
                                        <p:attrNameLst>
                                          <p:attrName>ppt_x</p:attrName>
                                        </p:attrNameLst>
                                      </p:cBhvr>
                                      <p:tavLst>
                                        <p:tav tm="0">
                                          <p:val>
                                            <p:strVal val="#ppt_x"/>
                                          </p:val>
                                        </p:tav>
                                        <p:tav tm="100000">
                                          <p:val>
                                            <p:strVal val="#ppt_x"/>
                                          </p:val>
                                        </p:tav>
                                      </p:tavLst>
                                    </p:anim>
                                    <p:anim calcmode="lin" valueType="num">
                                      <p:cBhvr>
                                        <p:cTn id="14" dur="500" decel="100000" fill="hold"/>
                                        <p:tgtEl>
                                          <p:spTgt spid="5"/>
                                        </p:tgtEl>
                                        <p:attrNameLst>
                                          <p:attrName>ppt_y</p:attrName>
                                        </p:attrNameLst>
                                      </p:cBhvr>
                                      <p:tavLst>
                                        <p:tav tm="0">
                                          <p:val>
                                            <p:strVal val="#ppt_y+0.0278"/>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decel="100000"/>
                                        <p:tgtEl>
                                          <p:spTgt spid="7"/>
                                        </p:tgtEl>
                                      </p:cBhvr>
                                    </p:animEffect>
                                    <p:anim calcmode="lin" valueType="num">
                                      <p:cBhvr>
                                        <p:cTn id="18" dur="500" decel="100000" fill="hold"/>
                                        <p:tgtEl>
                                          <p:spTgt spid="7"/>
                                        </p:tgtEl>
                                        <p:attrNameLst>
                                          <p:attrName>ppt_x</p:attrName>
                                        </p:attrNameLst>
                                      </p:cBhvr>
                                      <p:tavLst>
                                        <p:tav tm="0">
                                          <p:val>
                                            <p:strVal val="#ppt_x"/>
                                          </p:val>
                                        </p:tav>
                                        <p:tav tm="100000">
                                          <p:val>
                                            <p:strVal val="#ppt_x"/>
                                          </p:val>
                                        </p:tav>
                                      </p:tavLst>
                                    </p:anim>
                                    <p:anim calcmode="lin" valueType="num">
                                      <p:cBhvr>
                                        <p:cTn id="19" dur="500" decel="100000" fill="hold"/>
                                        <p:tgtEl>
                                          <p:spTgt spid="7"/>
                                        </p:tgtEl>
                                        <p:attrNameLst>
                                          <p:attrName>ppt_y</p:attrName>
                                        </p:attrNameLst>
                                      </p:cBhvr>
                                      <p:tavLst>
                                        <p:tav tm="0">
                                          <p:val>
                                            <p:strVal val="#ppt_y+0.0278"/>
                                          </p:val>
                                        </p:tav>
                                        <p:tav tm="100000">
                                          <p:val>
                                            <p:strVal val="#ppt_y"/>
                                          </p:val>
                                        </p:tav>
                                      </p:tavLst>
                                    </p:anim>
                                  </p:childTnLst>
                                </p:cTn>
                              </p:par>
                              <p:par>
                                <p:cTn id="20" presetID="0" presetClass="path" presetSubtype="0" repeatCount="indefinite" accel="50000" decel="50000" autoRev="1" fill="hold" grpId="0" nodeType="withEffect">
                                  <p:stCondLst>
                                    <p:cond delay="0"/>
                                  </p:stCondLst>
                                  <p:childTnLst>
                                    <p:animMotion origin="layout" path="M 0 0 L -0.0120 -0.0100 E" pathEditMode="relative" rAng="0" ptsTypes="AA">
                                      <p:cBhvr>
                                        <p:cTn id="21" dur="9000" fill="hold"/>
                                        <p:tgtEl>
                                          <p:spTgt spid="3"/>
                                        </p:tgtEl>
                                        <p:attrNameLst>
                                          <p:attrName>ppt_x</p:attrName>
                                          <p:attrName>ppt_y</p:attrName>
                                        </p:attrNameLst>
                                      </p:cBhvr>
                                      <p:rCtr x="0" y="0"/>
                                    </p:animMotion>
                                  </p:childTnLst>
                                </p:cTn>
                              </p:par>
                              <p:par>
                                <p:cTn id="22"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3" dur="2600" fill="hold"/>
                                        <p:tgtEl>
                                          <p:spTgt spid="9"/>
                                        </p:tgtEl>
                                        <p:attrNameLst>
                                          <p:attrName>ppt_x</p:attrName>
                                          <p:attrName>ppt_y</p:attrName>
                                        </p:attrNameLst>
                                      </p:cBhvr>
                                      <p:rCtr x="0" y="0"/>
                                    </p:animMotion>
                                  </p:childTnLst>
                                </p:cTn>
                              </p:par>
                              <p:par>
                                <p:cTn id="24"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5" dur="3150" fill="hold"/>
                                        <p:tgtEl>
                                          <p:spTgt spid="10"/>
                                        </p:tgtEl>
                                        <p:attrNameLst>
                                          <p:attrName>ppt_x</p:attrName>
                                          <p:attrName>ppt_y</p:attrName>
                                        </p:attrNameLst>
                                      </p:cBhvr>
                                      <p:rCtr x="0" y="0"/>
                                    </p:animMotion>
                                  </p:childTnLst>
                                </p:cTn>
                              </p:par>
                              <p:par>
                                <p:cTn id="26"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7" dur="3700" fill="hold"/>
                                        <p:tgtEl>
                                          <p:spTgt spid="11"/>
                                        </p:tgtEl>
                                        <p:attrNameLst>
                                          <p:attrName>ppt_x</p:attrName>
                                          <p:attrName>ppt_y</p:attrName>
                                        </p:attrNameLst>
                                      </p:cBhvr>
                                      <p:rCtr x="0" y="0"/>
                                    </p:animMotion>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left)">
                                      <p:cBhvr>
                                        <p:cTn id="31" dur="400" decel="100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9" grpId="0" animBg="1"/>
      <p:bldP spid="10" grpId="0" animBg="1"/>
      <p:bldP spid="11"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pic>
        <p:nvPicPr>
          <p:cNvPr id="3" name="!!Hero" descr="Affiche 1"/>
          <p:cNvPicPr>
            <a:picLocks noChangeAspect="1"/>
          </p:cNvPicPr>
          <p:nvPr/>
        </p:nvPicPr>
        <p:blipFill>
          <a:blip r:embed="rId2"/>
          <a:srcRect t="14" b="14"/>
          <a:stretch>
            <a:fillRect/>
          </a:stretch>
        </p:blipFill>
        <p:spPr>
          <a:xfrm>
            <a:off x="4434840" y="1325880"/>
            <a:ext cx="7086600" cy="4186348"/>
          </a:xfrm>
          <a:prstGeom prst="roundRect">
            <a:avLst>
              <a:gd name="adj" fmla="val 2500"/>
            </a:avLst>
          </a:prstGeom>
          <a:effectLst>
            <a:outerShdw blurRad="177800" dist="38100" dir="5400000" algn="t" rotWithShape="0">
              <a:srgbClr val="1A0507">
                <a:alpha val="14000"/>
              </a:srgbClr>
            </a:outerShdw>
          </a:effectLst>
        </p:spPr>
      </p:pic>
      <p:pic>
        <p:nvPicPr>
          <p:cNvPr id="4" name="!!Second" descr="Affiche 1 en situation"/>
          <p:cNvPicPr>
            <a:picLocks noChangeAspect="1"/>
          </p:cNvPicPr>
          <p:nvPr/>
        </p:nvPicPr>
        <p:blipFill>
          <a:blip r:embed="rId3"/>
          <a:srcRect t="14898" b="14898"/>
          <a:stretch>
            <a:fillRect/>
          </a:stretch>
        </p:blipFill>
        <p:spPr>
          <a:xfrm>
            <a:off x="685800" y="3520440"/>
            <a:ext cx="3429000" cy="2514600"/>
          </a:xfrm>
          <a:prstGeom prst="roundRect">
            <a:avLst>
              <a:gd name="adj" fmla="val 4000"/>
            </a:avLst>
          </a:prstGeom>
          <a:effectLst>
            <a:outerShdw blurRad="177800" dist="38100" dir="5400000" algn="t" rotWithShape="0">
              <a:srgbClr val="1A0507">
                <a:alpha val="14000"/>
              </a:srgbClr>
            </a:outerShdw>
          </a:effectLst>
        </p:spPr>
      </p:pic>
      <p:sp>
        <p:nvSpPr>
          <p:cNvPr id="5" name="!!Title"/>
          <p:cNvSpPr txBox="1"/>
          <p:nvPr/>
        </p:nvSpPr>
        <p:spPr>
          <a:xfrm>
            <a:off x="685800" y="914400"/>
            <a:ext cx="3520440" cy="1554480"/>
          </a:xfrm>
          <a:prstGeom prst="rect">
            <a:avLst/>
          </a:prstGeom>
          <a:noFill/>
        </p:spPr>
        <p:txBody>
          <a:bodyPr wrap="square" lIns="0" rIns="0" tIns="0" bIns="0" anchor="t">
            <a:noAutofit/>
          </a:bodyPr>
          <a:lstStyle/>
          <a:p>
            <a:pPr algn="l">
              <a:lnSpc>
                <a:spcPct val="95000"/>
              </a:lnSpc>
            </a:pPr>
            <a:r>
              <a:rPr sz="3000">
                <a:solidFill>
                  <a:srgbClr val="7B1421"/>
                </a:solidFill>
                <a:latin typeface="Cream Heavy"/>
              </a:rPr>
              <a:t>Le vrai goût de chez nous</a:t>
            </a:r>
          </a:p>
        </p:txBody>
      </p:sp>
      <p:sp>
        <p:nvSpPr>
          <p:cNvPr id="6" name="!!Axe"/>
          <p:cNvSpPr txBox="1"/>
          <p:nvPr/>
        </p:nvSpPr>
        <p:spPr>
          <a:xfrm>
            <a:off x="685800" y="2606040"/>
            <a:ext cx="3520440" cy="640080"/>
          </a:xfrm>
          <a:prstGeom prst="rect">
            <a:avLst/>
          </a:prstGeom>
          <a:noFill/>
        </p:spPr>
        <p:txBody>
          <a:bodyPr wrap="square" lIns="0" rIns="0" tIns="0" bIns="0" anchor="t">
            <a:noAutofit/>
          </a:bodyPr>
          <a:lstStyle/>
          <a:p>
            <a:pPr algn="l"/>
            <a:r>
              <a:rPr sz="1400">
                <a:solidFill>
                  <a:srgbClr val="A40C21"/>
                </a:solidFill>
                <a:latin typeface="Montserrat SemiBold"/>
              </a:rPr>
              <a:t>Axe 1 · L'authenticité des saveurs ivoiriennes</a:t>
            </a:r>
          </a:p>
        </p:txBody>
      </p:sp>
      <p:sp>
        <p:nvSpPr>
          <p:cNvPr id="7" name="!!Accent"/>
          <p:cNvSpPr/>
          <p:nvPr/>
        </p:nvSpPr>
        <p:spPr>
          <a:xfrm>
            <a:off x="685800" y="338328"/>
            <a:ext cx="384048" cy="32004"/>
          </a:xfrm>
          <a:prstGeom prst="rect">
            <a:avLst/>
          </a:prstGeom>
          <a:solidFill>
            <a:srgbClr val="F9A825"/>
          </a:solidFill>
          <a:ln>
            <a:noFill/>
          </a:ln>
        </p:spPr>
        <p:txBody>
          <a:bodyPr rtlCol="0" anchor="ctr"/>
          <a:lstStyle/>
          <a:p/>
        </p:txBody>
      </p:sp>
      <p:sp>
        <p:nvSpPr>
          <p:cNvPr id="8"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04 · Affiche 1</a:t>
            </a:r>
          </a:p>
        </p:txBody>
      </p:sp>
      <p:sp>
        <p:nvSpPr>
          <p:cNvPr id="9"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28</a:t>
            </a:r>
          </a:p>
        </p:txBody>
      </p:sp>
      <p:sp>
        <p:nvSpPr>
          <p:cNvPr id="10"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11"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12"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13" name="!!Logo" descr="Logo Marin'Or Ivoire"/>
          <p:cNvPicPr>
            <a:picLocks noChangeAspect="1"/>
          </p:cNvPicPr>
          <p:nvPr/>
        </p:nvPicPr>
        <p:blipFill>
          <a:blip r:embed="rId4"/>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decel="100000"/>
                                        <p:tgtEl>
                                          <p:spTgt spid="5"/>
                                        </p:tgtEl>
                                      </p:cBhvr>
                                    </p:animEffect>
                                    <p:anim calcmode="lin" valueType="num">
                                      <p:cBhvr>
                                        <p:cTn id="8" dur="500" decel="100000" fill="hold"/>
                                        <p:tgtEl>
                                          <p:spTgt spid="5"/>
                                        </p:tgtEl>
                                        <p:attrNameLst>
                                          <p:attrName>ppt_x</p:attrName>
                                        </p:attrNameLst>
                                      </p:cBhvr>
                                      <p:tavLst>
                                        <p:tav tm="0">
                                          <p:val>
                                            <p:strVal val="#ppt_x"/>
                                          </p:val>
                                        </p:tav>
                                        <p:tav tm="100000">
                                          <p:val>
                                            <p:strVal val="#ppt_x"/>
                                          </p:val>
                                        </p:tav>
                                      </p:tavLst>
                                    </p:anim>
                                    <p:anim calcmode="lin" valueType="num">
                                      <p:cBhvr>
                                        <p:cTn id="9" dur="500" decel="100000" fill="hold"/>
                                        <p:tgtEl>
                                          <p:spTgt spid="5"/>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decel="100000"/>
                                        <p:tgtEl>
                                          <p:spTgt spid="8"/>
                                        </p:tgtEl>
                                      </p:cBhvr>
                                    </p:animEffect>
                                    <p:anim calcmode="lin" valueType="num">
                                      <p:cBhvr>
                                        <p:cTn id="13" dur="500" decel="100000" fill="hold"/>
                                        <p:tgtEl>
                                          <p:spTgt spid="8"/>
                                        </p:tgtEl>
                                        <p:attrNameLst>
                                          <p:attrName>ppt_x</p:attrName>
                                        </p:attrNameLst>
                                      </p:cBhvr>
                                      <p:tavLst>
                                        <p:tav tm="0">
                                          <p:val>
                                            <p:strVal val="#ppt_x"/>
                                          </p:val>
                                        </p:tav>
                                        <p:tav tm="100000">
                                          <p:val>
                                            <p:strVal val="#ppt_x"/>
                                          </p:val>
                                        </p:tav>
                                      </p:tavLst>
                                    </p:anim>
                                    <p:anim calcmode="lin" valueType="num">
                                      <p:cBhvr>
                                        <p:cTn id="14" dur="500" decel="100000" fill="hold"/>
                                        <p:tgtEl>
                                          <p:spTgt spid="8"/>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10"/>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11"/>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12"/>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400" decel="1000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decel="100000"/>
                                        <p:tgtEl>
                                          <p:spTgt spid="6"/>
                                        </p:tgtEl>
                                      </p:cBhvr>
                                    </p:animEffect>
                                    <p:anim calcmode="lin" valueType="num">
                                      <p:cBhvr>
                                        <p:cTn id="31" dur="500" decel="100000" fill="hold"/>
                                        <p:tgtEl>
                                          <p:spTgt spid="6"/>
                                        </p:tgtEl>
                                        <p:attrNameLst>
                                          <p:attrName>ppt_x</p:attrName>
                                        </p:attrNameLst>
                                      </p:cBhvr>
                                      <p:tavLst>
                                        <p:tav tm="0">
                                          <p:val>
                                            <p:strVal val="#ppt_x"/>
                                          </p:val>
                                        </p:tav>
                                        <p:tav tm="100000">
                                          <p:val>
                                            <p:strVal val="#ppt_x"/>
                                          </p:val>
                                        </p:tav>
                                      </p:tavLst>
                                    </p:anim>
                                    <p:anim calcmode="lin" valueType="num">
                                      <p:cBhvr>
                                        <p:cTn id="32" dur="500" decel="100000" fill="hold"/>
                                        <p:tgtEl>
                                          <p:spTgt spid="6"/>
                                        </p:tgtEl>
                                        <p:attrNameLst>
                                          <p:attrName>ppt_y</p:attrName>
                                        </p:attrNameLst>
                                      </p:cBhvr>
                                      <p:tavLst>
                                        <p:tav tm="0">
                                          <p:val>
                                            <p:strVal val="#ppt_y+0.027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500" decel="100000"/>
                                        <p:tgtEl>
                                          <p:spTgt spid="3"/>
                                        </p:tgtEl>
                                      </p:cBhvr>
                                    </p:animEffect>
                                    <p:anim calcmode="lin" valueType="num">
                                      <p:cBhvr>
                                        <p:cTn id="36" dur="500" decel="100000" fill="hold"/>
                                        <p:tgtEl>
                                          <p:spTgt spid="3"/>
                                        </p:tgtEl>
                                        <p:attrNameLst>
                                          <p:attrName>ppt_x</p:attrName>
                                        </p:attrNameLst>
                                      </p:cBhvr>
                                      <p:tavLst>
                                        <p:tav tm="0">
                                          <p:val>
                                            <p:strVal val="#ppt_x"/>
                                          </p:val>
                                        </p:tav>
                                        <p:tav tm="100000">
                                          <p:val>
                                            <p:strVal val="#ppt_x"/>
                                          </p:val>
                                        </p:tav>
                                      </p:tavLst>
                                    </p:anim>
                                    <p:anim calcmode="lin" valueType="num">
                                      <p:cBhvr>
                                        <p:cTn id="37" dur="500" decel="100000" fill="hold"/>
                                        <p:tgtEl>
                                          <p:spTgt spid="3"/>
                                        </p:tgtEl>
                                        <p:attrNameLst>
                                          <p:attrName>ppt_y</p:attrName>
                                        </p:attrNameLst>
                                      </p:cBhvr>
                                      <p:tavLst>
                                        <p:tav tm="0">
                                          <p:val>
                                            <p:strVal val="#ppt_y+0.0278"/>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500" decel="100000"/>
                                        <p:tgtEl>
                                          <p:spTgt spid="4"/>
                                        </p:tgtEl>
                                      </p:cBhvr>
                                    </p:animEffect>
                                    <p:anim calcmode="lin" valueType="num">
                                      <p:cBhvr>
                                        <p:cTn id="43" dur="500" decel="100000" fill="hold"/>
                                        <p:tgtEl>
                                          <p:spTgt spid="4"/>
                                        </p:tgtEl>
                                        <p:attrNameLst>
                                          <p:attrName>ppt_x</p:attrName>
                                        </p:attrNameLst>
                                      </p:cBhvr>
                                      <p:tavLst>
                                        <p:tav tm="0">
                                          <p:val>
                                            <p:strVal val="#ppt_x"/>
                                          </p:val>
                                        </p:tav>
                                        <p:tav tm="100000">
                                          <p:val>
                                            <p:strVal val="#ppt_x"/>
                                          </p:val>
                                        </p:tav>
                                      </p:tavLst>
                                    </p:anim>
                                    <p:anim calcmode="lin" valueType="num">
                                      <p:cBhvr>
                                        <p:cTn id="44" dur="500" decel="100000" fill="hold"/>
                                        <p:tgtEl>
                                          <p:spTgt spid="4"/>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P spid="10" grpId="0" animBg="1"/>
      <p:bldP spid="11" grpId="0" animBg="1"/>
      <p:bldP spid="12"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pic>
        <p:nvPicPr>
          <p:cNvPr id="3" name="!!Hero" descr="Affiche 2"/>
          <p:cNvPicPr>
            <a:picLocks noChangeAspect="1"/>
          </p:cNvPicPr>
          <p:nvPr/>
        </p:nvPicPr>
        <p:blipFill>
          <a:blip r:embed="rId2"/>
          <a:srcRect t="14" b="14"/>
          <a:stretch>
            <a:fillRect/>
          </a:stretch>
        </p:blipFill>
        <p:spPr>
          <a:xfrm>
            <a:off x="4434840" y="1325880"/>
            <a:ext cx="7086600" cy="4186348"/>
          </a:xfrm>
          <a:prstGeom prst="roundRect">
            <a:avLst>
              <a:gd name="adj" fmla="val 2500"/>
            </a:avLst>
          </a:prstGeom>
          <a:effectLst>
            <a:outerShdw blurRad="177800" dist="38100" dir="5400000" algn="t" rotWithShape="0">
              <a:srgbClr val="1A0507">
                <a:alpha val="14000"/>
              </a:srgbClr>
            </a:outerShdw>
          </a:effectLst>
        </p:spPr>
      </p:pic>
      <p:pic>
        <p:nvPicPr>
          <p:cNvPr id="4" name="!!Second" descr="Affiche 2 en situation"/>
          <p:cNvPicPr>
            <a:picLocks noChangeAspect="1"/>
          </p:cNvPicPr>
          <p:nvPr/>
        </p:nvPicPr>
        <p:blipFill>
          <a:blip r:embed="rId3"/>
          <a:srcRect t="22392" b="22392"/>
          <a:stretch>
            <a:fillRect/>
          </a:stretch>
        </p:blipFill>
        <p:spPr>
          <a:xfrm>
            <a:off x="685800" y="3520440"/>
            <a:ext cx="3429000" cy="2514600"/>
          </a:xfrm>
          <a:prstGeom prst="roundRect">
            <a:avLst>
              <a:gd name="adj" fmla="val 4000"/>
            </a:avLst>
          </a:prstGeom>
          <a:effectLst>
            <a:outerShdw blurRad="177800" dist="38100" dir="5400000" algn="t" rotWithShape="0">
              <a:srgbClr val="1A0507">
                <a:alpha val="14000"/>
              </a:srgbClr>
            </a:outerShdw>
          </a:effectLst>
        </p:spPr>
      </p:pic>
      <p:sp>
        <p:nvSpPr>
          <p:cNvPr id="5" name="!!Title"/>
          <p:cNvSpPr txBox="1"/>
          <p:nvPr/>
        </p:nvSpPr>
        <p:spPr>
          <a:xfrm>
            <a:off x="685800" y="914400"/>
            <a:ext cx="3520440" cy="1554480"/>
          </a:xfrm>
          <a:prstGeom prst="rect">
            <a:avLst/>
          </a:prstGeom>
          <a:noFill/>
        </p:spPr>
        <p:txBody>
          <a:bodyPr wrap="square" lIns="0" rIns="0" tIns="0" bIns="0" anchor="t">
            <a:noAutofit/>
          </a:bodyPr>
          <a:lstStyle/>
          <a:p>
            <a:pPr algn="l">
              <a:lnSpc>
                <a:spcPct val="95000"/>
              </a:lnSpc>
            </a:pPr>
            <a:r>
              <a:rPr sz="3000">
                <a:solidFill>
                  <a:srgbClr val="7B1421"/>
                </a:solidFill>
                <a:latin typeface="Cream Heavy"/>
              </a:rPr>
              <a:t>Le goût qui rassemble</a:t>
            </a:r>
          </a:p>
        </p:txBody>
      </p:sp>
      <p:sp>
        <p:nvSpPr>
          <p:cNvPr id="6" name="!!Axe"/>
          <p:cNvSpPr txBox="1"/>
          <p:nvPr/>
        </p:nvSpPr>
        <p:spPr>
          <a:xfrm>
            <a:off x="685800" y="2606040"/>
            <a:ext cx="3520440" cy="640080"/>
          </a:xfrm>
          <a:prstGeom prst="rect">
            <a:avLst/>
          </a:prstGeom>
          <a:noFill/>
        </p:spPr>
        <p:txBody>
          <a:bodyPr wrap="square" lIns="0" rIns="0" tIns="0" bIns="0" anchor="t">
            <a:noAutofit/>
          </a:bodyPr>
          <a:lstStyle/>
          <a:p>
            <a:pPr algn="l"/>
            <a:r>
              <a:rPr sz="1400">
                <a:solidFill>
                  <a:srgbClr val="A40C21"/>
                </a:solidFill>
                <a:latin typeface="Montserrat SemiBold"/>
              </a:rPr>
              <a:t>Axe 2 · La convivialité et le partage</a:t>
            </a:r>
          </a:p>
        </p:txBody>
      </p:sp>
      <p:sp>
        <p:nvSpPr>
          <p:cNvPr id="7" name="!!Accent"/>
          <p:cNvSpPr/>
          <p:nvPr/>
        </p:nvSpPr>
        <p:spPr>
          <a:xfrm>
            <a:off x="685800" y="338328"/>
            <a:ext cx="384048" cy="32004"/>
          </a:xfrm>
          <a:prstGeom prst="rect">
            <a:avLst/>
          </a:prstGeom>
          <a:solidFill>
            <a:srgbClr val="F9A825"/>
          </a:solidFill>
          <a:ln>
            <a:noFill/>
          </a:ln>
        </p:spPr>
        <p:txBody>
          <a:bodyPr rtlCol="0" anchor="ctr"/>
          <a:lstStyle/>
          <a:p/>
        </p:txBody>
      </p:sp>
      <p:sp>
        <p:nvSpPr>
          <p:cNvPr id="8"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04 · Affiche 2</a:t>
            </a:r>
          </a:p>
        </p:txBody>
      </p:sp>
      <p:sp>
        <p:nvSpPr>
          <p:cNvPr id="9"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29</a:t>
            </a:r>
          </a:p>
        </p:txBody>
      </p:sp>
      <p:sp>
        <p:nvSpPr>
          <p:cNvPr id="10"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11"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12"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13" name="!!Logo" descr="Logo Marin'Or Ivoire"/>
          <p:cNvPicPr>
            <a:picLocks noChangeAspect="1"/>
          </p:cNvPicPr>
          <p:nvPr/>
        </p:nvPicPr>
        <p:blipFill>
          <a:blip r:embed="rId4"/>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decel="100000"/>
                                        <p:tgtEl>
                                          <p:spTgt spid="5"/>
                                        </p:tgtEl>
                                      </p:cBhvr>
                                    </p:animEffect>
                                    <p:anim calcmode="lin" valueType="num">
                                      <p:cBhvr>
                                        <p:cTn id="8" dur="500" decel="100000" fill="hold"/>
                                        <p:tgtEl>
                                          <p:spTgt spid="5"/>
                                        </p:tgtEl>
                                        <p:attrNameLst>
                                          <p:attrName>ppt_x</p:attrName>
                                        </p:attrNameLst>
                                      </p:cBhvr>
                                      <p:tavLst>
                                        <p:tav tm="0">
                                          <p:val>
                                            <p:strVal val="#ppt_x"/>
                                          </p:val>
                                        </p:tav>
                                        <p:tav tm="100000">
                                          <p:val>
                                            <p:strVal val="#ppt_x"/>
                                          </p:val>
                                        </p:tav>
                                      </p:tavLst>
                                    </p:anim>
                                    <p:anim calcmode="lin" valueType="num">
                                      <p:cBhvr>
                                        <p:cTn id="9" dur="500" decel="100000" fill="hold"/>
                                        <p:tgtEl>
                                          <p:spTgt spid="5"/>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decel="100000"/>
                                        <p:tgtEl>
                                          <p:spTgt spid="8"/>
                                        </p:tgtEl>
                                      </p:cBhvr>
                                    </p:animEffect>
                                    <p:anim calcmode="lin" valueType="num">
                                      <p:cBhvr>
                                        <p:cTn id="13" dur="500" decel="100000" fill="hold"/>
                                        <p:tgtEl>
                                          <p:spTgt spid="8"/>
                                        </p:tgtEl>
                                        <p:attrNameLst>
                                          <p:attrName>ppt_x</p:attrName>
                                        </p:attrNameLst>
                                      </p:cBhvr>
                                      <p:tavLst>
                                        <p:tav tm="0">
                                          <p:val>
                                            <p:strVal val="#ppt_x"/>
                                          </p:val>
                                        </p:tav>
                                        <p:tav tm="100000">
                                          <p:val>
                                            <p:strVal val="#ppt_x"/>
                                          </p:val>
                                        </p:tav>
                                      </p:tavLst>
                                    </p:anim>
                                    <p:anim calcmode="lin" valueType="num">
                                      <p:cBhvr>
                                        <p:cTn id="14" dur="500" decel="100000" fill="hold"/>
                                        <p:tgtEl>
                                          <p:spTgt spid="8"/>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10"/>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11"/>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12"/>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400" decel="1000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decel="100000"/>
                                        <p:tgtEl>
                                          <p:spTgt spid="6"/>
                                        </p:tgtEl>
                                      </p:cBhvr>
                                    </p:animEffect>
                                    <p:anim calcmode="lin" valueType="num">
                                      <p:cBhvr>
                                        <p:cTn id="31" dur="500" decel="100000" fill="hold"/>
                                        <p:tgtEl>
                                          <p:spTgt spid="6"/>
                                        </p:tgtEl>
                                        <p:attrNameLst>
                                          <p:attrName>ppt_x</p:attrName>
                                        </p:attrNameLst>
                                      </p:cBhvr>
                                      <p:tavLst>
                                        <p:tav tm="0">
                                          <p:val>
                                            <p:strVal val="#ppt_x"/>
                                          </p:val>
                                        </p:tav>
                                        <p:tav tm="100000">
                                          <p:val>
                                            <p:strVal val="#ppt_x"/>
                                          </p:val>
                                        </p:tav>
                                      </p:tavLst>
                                    </p:anim>
                                    <p:anim calcmode="lin" valueType="num">
                                      <p:cBhvr>
                                        <p:cTn id="32" dur="500" decel="100000" fill="hold"/>
                                        <p:tgtEl>
                                          <p:spTgt spid="6"/>
                                        </p:tgtEl>
                                        <p:attrNameLst>
                                          <p:attrName>ppt_y</p:attrName>
                                        </p:attrNameLst>
                                      </p:cBhvr>
                                      <p:tavLst>
                                        <p:tav tm="0">
                                          <p:val>
                                            <p:strVal val="#ppt_y+0.027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500" decel="100000"/>
                                        <p:tgtEl>
                                          <p:spTgt spid="3"/>
                                        </p:tgtEl>
                                      </p:cBhvr>
                                    </p:animEffect>
                                    <p:anim calcmode="lin" valueType="num">
                                      <p:cBhvr>
                                        <p:cTn id="36" dur="500" decel="100000" fill="hold"/>
                                        <p:tgtEl>
                                          <p:spTgt spid="3"/>
                                        </p:tgtEl>
                                        <p:attrNameLst>
                                          <p:attrName>ppt_x</p:attrName>
                                        </p:attrNameLst>
                                      </p:cBhvr>
                                      <p:tavLst>
                                        <p:tav tm="0">
                                          <p:val>
                                            <p:strVal val="#ppt_x"/>
                                          </p:val>
                                        </p:tav>
                                        <p:tav tm="100000">
                                          <p:val>
                                            <p:strVal val="#ppt_x"/>
                                          </p:val>
                                        </p:tav>
                                      </p:tavLst>
                                    </p:anim>
                                    <p:anim calcmode="lin" valueType="num">
                                      <p:cBhvr>
                                        <p:cTn id="37" dur="500" decel="100000" fill="hold"/>
                                        <p:tgtEl>
                                          <p:spTgt spid="3"/>
                                        </p:tgtEl>
                                        <p:attrNameLst>
                                          <p:attrName>ppt_y</p:attrName>
                                        </p:attrNameLst>
                                      </p:cBhvr>
                                      <p:tavLst>
                                        <p:tav tm="0">
                                          <p:val>
                                            <p:strVal val="#ppt_y+0.0278"/>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500" decel="100000"/>
                                        <p:tgtEl>
                                          <p:spTgt spid="4"/>
                                        </p:tgtEl>
                                      </p:cBhvr>
                                    </p:animEffect>
                                    <p:anim calcmode="lin" valueType="num">
                                      <p:cBhvr>
                                        <p:cTn id="43" dur="500" decel="100000" fill="hold"/>
                                        <p:tgtEl>
                                          <p:spTgt spid="4"/>
                                        </p:tgtEl>
                                        <p:attrNameLst>
                                          <p:attrName>ppt_x</p:attrName>
                                        </p:attrNameLst>
                                      </p:cBhvr>
                                      <p:tavLst>
                                        <p:tav tm="0">
                                          <p:val>
                                            <p:strVal val="#ppt_x"/>
                                          </p:val>
                                        </p:tav>
                                        <p:tav tm="100000">
                                          <p:val>
                                            <p:strVal val="#ppt_x"/>
                                          </p:val>
                                        </p:tav>
                                      </p:tavLst>
                                    </p:anim>
                                    <p:anim calcmode="lin" valueType="num">
                                      <p:cBhvr>
                                        <p:cTn id="44" dur="500" decel="100000" fill="hold"/>
                                        <p:tgtEl>
                                          <p:spTgt spid="4"/>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P spid="10" grpId="0" animBg="1"/>
      <p:bldP spid="11" grpId="0" animBg="1"/>
      <p:bldP spid="12"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pic>
        <p:nvPicPr>
          <p:cNvPr id="3" name="!!Hero" descr="Affiche 3"/>
          <p:cNvPicPr>
            <a:picLocks noChangeAspect="1"/>
          </p:cNvPicPr>
          <p:nvPr/>
        </p:nvPicPr>
        <p:blipFill>
          <a:blip r:embed="rId2"/>
          <a:srcRect t="14" b="14"/>
          <a:stretch>
            <a:fillRect/>
          </a:stretch>
        </p:blipFill>
        <p:spPr>
          <a:xfrm>
            <a:off x="4434840" y="1325880"/>
            <a:ext cx="7086600" cy="4186348"/>
          </a:xfrm>
          <a:prstGeom prst="roundRect">
            <a:avLst>
              <a:gd name="adj" fmla="val 2500"/>
            </a:avLst>
          </a:prstGeom>
          <a:effectLst>
            <a:outerShdw blurRad="177800" dist="38100" dir="5400000" algn="t" rotWithShape="0">
              <a:srgbClr val="1A0507">
                <a:alpha val="14000"/>
              </a:srgbClr>
            </a:outerShdw>
          </a:effectLst>
        </p:spPr>
      </p:pic>
      <p:pic>
        <p:nvPicPr>
          <p:cNvPr id="4" name="!!Second" descr="Affiche 3 en situation"/>
          <p:cNvPicPr>
            <a:picLocks noChangeAspect="1"/>
          </p:cNvPicPr>
          <p:nvPr/>
        </p:nvPicPr>
        <p:blipFill>
          <a:blip r:embed="rId3"/>
          <a:srcRect l="4273" r="4273"/>
          <a:stretch>
            <a:fillRect/>
          </a:stretch>
        </p:blipFill>
        <p:spPr>
          <a:xfrm>
            <a:off x="685800" y="3520440"/>
            <a:ext cx="3429000" cy="2514600"/>
          </a:xfrm>
          <a:prstGeom prst="roundRect">
            <a:avLst>
              <a:gd name="adj" fmla="val 4000"/>
            </a:avLst>
          </a:prstGeom>
          <a:effectLst>
            <a:outerShdw blurRad="177800" dist="38100" dir="5400000" algn="t" rotWithShape="0">
              <a:srgbClr val="1A0507">
                <a:alpha val="14000"/>
              </a:srgbClr>
            </a:outerShdw>
          </a:effectLst>
        </p:spPr>
      </p:pic>
      <p:sp>
        <p:nvSpPr>
          <p:cNvPr id="5" name="!!Title"/>
          <p:cNvSpPr txBox="1"/>
          <p:nvPr/>
        </p:nvSpPr>
        <p:spPr>
          <a:xfrm>
            <a:off x="685800" y="914400"/>
            <a:ext cx="3520440" cy="1554480"/>
          </a:xfrm>
          <a:prstGeom prst="rect">
            <a:avLst/>
          </a:prstGeom>
          <a:noFill/>
        </p:spPr>
        <p:txBody>
          <a:bodyPr wrap="square" lIns="0" rIns="0" tIns="0" bIns="0" anchor="t">
            <a:noAutofit/>
          </a:bodyPr>
          <a:lstStyle/>
          <a:p>
            <a:pPr algn="l">
              <a:lnSpc>
                <a:spcPct val="95000"/>
              </a:lnSpc>
            </a:pPr>
            <a:r>
              <a:rPr sz="3000">
                <a:solidFill>
                  <a:srgbClr val="7B1421"/>
                </a:solidFill>
                <a:latin typeface="Cream Heavy"/>
              </a:rPr>
              <a:t>Marinez, Cuisez, Régalez-vous</a:t>
            </a:r>
          </a:p>
        </p:txBody>
      </p:sp>
      <p:sp>
        <p:nvSpPr>
          <p:cNvPr id="6" name="!!Axe"/>
          <p:cNvSpPr txBox="1"/>
          <p:nvPr/>
        </p:nvSpPr>
        <p:spPr>
          <a:xfrm>
            <a:off x="685800" y="2606040"/>
            <a:ext cx="3520440" cy="640080"/>
          </a:xfrm>
          <a:prstGeom prst="rect">
            <a:avLst/>
          </a:prstGeom>
          <a:noFill/>
        </p:spPr>
        <p:txBody>
          <a:bodyPr wrap="square" lIns="0" rIns="0" tIns="0" bIns="0" anchor="t">
            <a:noAutofit/>
          </a:bodyPr>
          <a:lstStyle/>
          <a:p>
            <a:pPr algn="l"/>
            <a:r>
              <a:rPr sz="1400">
                <a:solidFill>
                  <a:srgbClr val="A40C21"/>
                </a:solidFill>
                <a:latin typeface="Montserrat SemiBold"/>
              </a:rPr>
              <a:t>Axe 3 · La simplicité accessible au quotidien</a:t>
            </a:r>
          </a:p>
        </p:txBody>
      </p:sp>
      <p:sp>
        <p:nvSpPr>
          <p:cNvPr id="7" name="!!Accent"/>
          <p:cNvSpPr/>
          <p:nvPr/>
        </p:nvSpPr>
        <p:spPr>
          <a:xfrm>
            <a:off x="685800" y="338328"/>
            <a:ext cx="384048" cy="32004"/>
          </a:xfrm>
          <a:prstGeom prst="rect">
            <a:avLst/>
          </a:prstGeom>
          <a:solidFill>
            <a:srgbClr val="F9A825"/>
          </a:solidFill>
          <a:ln>
            <a:noFill/>
          </a:ln>
        </p:spPr>
        <p:txBody>
          <a:bodyPr rtlCol="0" anchor="ctr"/>
          <a:lstStyle/>
          <a:p/>
        </p:txBody>
      </p:sp>
      <p:sp>
        <p:nvSpPr>
          <p:cNvPr id="8"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04 · Affiche 3</a:t>
            </a:r>
          </a:p>
        </p:txBody>
      </p:sp>
      <p:sp>
        <p:nvSpPr>
          <p:cNvPr id="9"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30</a:t>
            </a:r>
          </a:p>
        </p:txBody>
      </p:sp>
      <p:sp>
        <p:nvSpPr>
          <p:cNvPr id="10"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11"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12"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13" name="!!Logo" descr="Logo Marin'Or Ivoire"/>
          <p:cNvPicPr>
            <a:picLocks noChangeAspect="1"/>
          </p:cNvPicPr>
          <p:nvPr/>
        </p:nvPicPr>
        <p:blipFill>
          <a:blip r:embed="rId4"/>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decel="100000"/>
                                        <p:tgtEl>
                                          <p:spTgt spid="5"/>
                                        </p:tgtEl>
                                      </p:cBhvr>
                                    </p:animEffect>
                                    <p:anim calcmode="lin" valueType="num">
                                      <p:cBhvr>
                                        <p:cTn id="8" dur="500" decel="100000" fill="hold"/>
                                        <p:tgtEl>
                                          <p:spTgt spid="5"/>
                                        </p:tgtEl>
                                        <p:attrNameLst>
                                          <p:attrName>ppt_x</p:attrName>
                                        </p:attrNameLst>
                                      </p:cBhvr>
                                      <p:tavLst>
                                        <p:tav tm="0">
                                          <p:val>
                                            <p:strVal val="#ppt_x"/>
                                          </p:val>
                                        </p:tav>
                                        <p:tav tm="100000">
                                          <p:val>
                                            <p:strVal val="#ppt_x"/>
                                          </p:val>
                                        </p:tav>
                                      </p:tavLst>
                                    </p:anim>
                                    <p:anim calcmode="lin" valueType="num">
                                      <p:cBhvr>
                                        <p:cTn id="9" dur="500" decel="100000" fill="hold"/>
                                        <p:tgtEl>
                                          <p:spTgt spid="5"/>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decel="100000"/>
                                        <p:tgtEl>
                                          <p:spTgt spid="8"/>
                                        </p:tgtEl>
                                      </p:cBhvr>
                                    </p:animEffect>
                                    <p:anim calcmode="lin" valueType="num">
                                      <p:cBhvr>
                                        <p:cTn id="13" dur="500" decel="100000" fill="hold"/>
                                        <p:tgtEl>
                                          <p:spTgt spid="8"/>
                                        </p:tgtEl>
                                        <p:attrNameLst>
                                          <p:attrName>ppt_x</p:attrName>
                                        </p:attrNameLst>
                                      </p:cBhvr>
                                      <p:tavLst>
                                        <p:tav tm="0">
                                          <p:val>
                                            <p:strVal val="#ppt_x"/>
                                          </p:val>
                                        </p:tav>
                                        <p:tav tm="100000">
                                          <p:val>
                                            <p:strVal val="#ppt_x"/>
                                          </p:val>
                                        </p:tav>
                                      </p:tavLst>
                                    </p:anim>
                                    <p:anim calcmode="lin" valueType="num">
                                      <p:cBhvr>
                                        <p:cTn id="14" dur="500" decel="100000" fill="hold"/>
                                        <p:tgtEl>
                                          <p:spTgt spid="8"/>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10"/>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11"/>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12"/>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400" decel="1000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decel="100000"/>
                                        <p:tgtEl>
                                          <p:spTgt spid="6"/>
                                        </p:tgtEl>
                                      </p:cBhvr>
                                    </p:animEffect>
                                    <p:anim calcmode="lin" valueType="num">
                                      <p:cBhvr>
                                        <p:cTn id="31" dur="500" decel="100000" fill="hold"/>
                                        <p:tgtEl>
                                          <p:spTgt spid="6"/>
                                        </p:tgtEl>
                                        <p:attrNameLst>
                                          <p:attrName>ppt_x</p:attrName>
                                        </p:attrNameLst>
                                      </p:cBhvr>
                                      <p:tavLst>
                                        <p:tav tm="0">
                                          <p:val>
                                            <p:strVal val="#ppt_x"/>
                                          </p:val>
                                        </p:tav>
                                        <p:tav tm="100000">
                                          <p:val>
                                            <p:strVal val="#ppt_x"/>
                                          </p:val>
                                        </p:tav>
                                      </p:tavLst>
                                    </p:anim>
                                    <p:anim calcmode="lin" valueType="num">
                                      <p:cBhvr>
                                        <p:cTn id="32" dur="500" decel="100000" fill="hold"/>
                                        <p:tgtEl>
                                          <p:spTgt spid="6"/>
                                        </p:tgtEl>
                                        <p:attrNameLst>
                                          <p:attrName>ppt_y</p:attrName>
                                        </p:attrNameLst>
                                      </p:cBhvr>
                                      <p:tavLst>
                                        <p:tav tm="0">
                                          <p:val>
                                            <p:strVal val="#ppt_y+0.027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500" decel="100000"/>
                                        <p:tgtEl>
                                          <p:spTgt spid="3"/>
                                        </p:tgtEl>
                                      </p:cBhvr>
                                    </p:animEffect>
                                    <p:anim calcmode="lin" valueType="num">
                                      <p:cBhvr>
                                        <p:cTn id="36" dur="500" decel="100000" fill="hold"/>
                                        <p:tgtEl>
                                          <p:spTgt spid="3"/>
                                        </p:tgtEl>
                                        <p:attrNameLst>
                                          <p:attrName>ppt_x</p:attrName>
                                        </p:attrNameLst>
                                      </p:cBhvr>
                                      <p:tavLst>
                                        <p:tav tm="0">
                                          <p:val>
                                            <p:strVal val="#ppt_x"/>
                                          </p:val>
                                        </p:tav>
                                        <p:tav tm="100000">
                                          <p:val>
                                            <p:strVal val="#ppt_x"/>
                                          </p:val>
                                        </p:tav>
                                      </p:tavLst>
                                    </p:anim>
                                    <p:anim calcmode="lin" valueType="num">
                                      <p:cBhvr>
                                        <p:cTn id="37" dur="500" decel="100000" fill="hold"/>
                                        <p:tgtEl>
                                          <p:spTgt spid="3"/>
                                        </p:tgtEl>
                                        <p:attrNameLst>
                                          <p:attrName>ppt_y</p:attrName>
                                        </p:attrNameLst>
                                      </p:cBhvr>
                                      <p:tavLst>
                                        <p:tav tm="0">
                                          <p:val>
                                            <p:strVal val="#ppt_y+0.0278"/>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500" decel="100000"/>
                                        <p:tgtEl>
                                          <p:spTgt spid="4"/>
                                        </p:tgtEl>
                                      </p:cBhvr>
                                    </p:animEffect>
                                    <p:anim calcmode="lin" valueType="num">
                                      <p:cBhvr>
                                        <p:cTn id="43" dur="500" decel="100000" fill="hold"/>
                                        <p:tgtEl>
                                          <p:spTgt spid="4"/>
                                        </p:tgtEl>
                                        <p:attrNameLst>
                                          <p:attrName>ppt_x</p:attrName>
                                        </p:attrNameLst>
                                      </p:cBhvr>
                                      <p:tavLst>
                                        <p:tav tm="0">
                                          <p:val>
                                            <p:strVal val="#ppt_x"/>
                                          </p:val>
                                        </p:tav>
                                        <p:tav tm="100000">
                                          <p:val>
                                            <p:strVal val="#ppt_x"/>
                                          </p:val>
                                        </p:tav>
                                      </p:tavLst>
                                    </p:anim>
                                    <p:anim calcmode="lin" valueType="num">
                                      <p:cBhvr>
                                        <p:cTn id="44" dur="500" decel="100000" fill="hold"/>
                                        <p:tgtEl>
                                          <p:spTgt spid="4"/>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P spid="10" grpId="0" animBg="1"/>
      <p:bldP spid="11" grpId="0" animBg="1"/>
      <p:bldP spid="12"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pic>
        <p:nvPicPr>
          <p:cNvPr id="3" name="!!Hero" descr="Dépliant recto (extérieur)"/>
          <p:cNvPicPr>
            <a:picLocks noChangeAspect="1"/>
          </p:cNvPicPr>
          <p:nvPr/>
        </p:nvPicPr>
        <p:blipFill>
          <a:blip r:embed="rId2"/>
          <a:srcRect t="0" b="0"/>
          <a:stretch>
            <a:fillRect/>
          </a:stretch>
        </p:blipFill>
        <p:spPr>
          <a:xfrm>
            <a:off x="4434840" y="1051560"/>
            <a:ext cx="4572000" cy="3270213"/>
          </a:xfrm>
          <a:prstGeom prst="roundRect">
            <a:avLst>
              <a:gd name="adj" fmla="val 2000"/>
            </a:avLst>
          </a:prstGeom>
          <a:effectLst>
            <a:outerShdw blurRad="177800" dist="38100" dir="5400000" algn="t" rotWithShape="0">
              <a:srgbClr val="1A0507">
                <a:alpha val="14000"/>
              </a:srgbClr>
            </a:outerShdw>
          </a:effectLst>
        </p:spPr>
      </p:pic>
      <p:pic>
        <p:nvPicPr>
          <p:cNvPr id="4" name="!!Third" descr="Dépliant verso (intérieur)"/>
          <p:cNvPicPr>
            <a:picLocks noChangeAspect="1"/>
          </p:cNvPicPr>
          <p:nvPr/>
        </p:nvPicPr>
        <p:blipFill>
          <a:blip r:embed="rId3"/>
          <a:srcRect/>
          <a:stretch>
            <a:fillRect/>
          </a:stretch>
        </p:blipFill>
        <p:spPr>
          <a:xfrm>
            <a:off x="6949440" y="3154680"/>
            <a:ext cx="4572000" cy="3276949"/>
          </a:xfrm>
          <a:prstGeom prst="roundRect">
            <a:avLst>
              <a:gd name="adj" fmla="val 2000"/>
            </a:avLst>
          </a:prstGeom>
          <a:effectLst>
            <a:outerShdw blurRad="228600" dist="50800" dir="5400000" algn="t" rotWithShape="0">
              <a:srgbClr val="1A0507">
                <a:alpha val="18000"/>
              </a:srgbClr>
            </a:outerShdw>
          </a:effectLst>
        </p:spPr>
      </p:pic>
      <p:pic>
        <p:nvPicPr>
          <p:cNvPr id="5" name="!!Second" descr="Dépliant en situation"/>
          <p:cNvPicPr>
            <a:picLocks noChangeAspect="1"/>
          </p:cNvPicPr>
          <p:nvPr/>
        </p:nvPicPr>
        <p:blipFill>
          <a:blip r:embed="rId4"/>
          <a:srcRect t="1111" b="1111"/>
          <a:stretch>
            <a:fillRect/>
          </a:stretch>
        </p:blipFill>
        <p:spPr>
          <a:xfrm>
            <a:off x="685800" y="3520440"/>
            <a:ext cx="3429000" cy="2514600"/>
          </a:xfrm>
          <a:prstGeom prst="roundRect">
            <a:avLst>
              <a:gd name="adj" fmla="val 4000"/>
            </a:avLst>
          </a:prstGeom>
          <a:effectLst>
            <a:outerShdw blurRad="177800" dist="38100" dir="5400000" algn="t" rotWithShape="0">
              <a:srgbClr val="1A0507">
                <a:alpha val="14000"/>
              </a:srgbClr>
            </a:outerShdw>
          </a:effectLst>
        </p:spPr>
      </p:pic>
      <p:sp>
        <p:nvSpPr>
          <p:cNvPr id="6" name="!!Title"/>
          <p:cNvSpPr txBox="1"/>
          <p:nvPr/>
        </p:nvSpPr>
        <p:spPr>
          <a:xfrm>
            <a:off x="685800" y="914400"/>
            <a:ext cx="3520440" cy="1554480"/>
          </a:xfrm>
          <a:prstGeom prst="rect">
            <a:avLst/>
          </a:prstGeom>
          <a:noFill/>
        </p:spPr>
        <p:txBody>
          <a:bodyPr wrap="square" lIns="0" rIns="0" tIns="0" bIns="0" anchor="t">
            <a:noAutofit/>
          </a:bodyPr>
          <a:lstStyle/>
          <a:p>
            <a:pPr algn="l">
              <a:lnSpc>
                <a:spcPct val="95000"/>
              </a:lnSpc>
            </a:pPr>
            <a:r>
              <a:rPr sz="3000">
                <a:solidFill>
                  <a:srgbClr val="7B1421"/>
                </a:solidFill>
                <a:latin typeface="Cream Heavy"/>
              </a:rPr>
              <a:t>Dépliant trois volets</a:t>
            </a:r>
          </a:p>
        </p:txBody>
      </p:sp>
      <p:sp>
        <p:nvSpPr>
          <p:cNvPr id="7" name="!!Axe"/>
          <p:cNvSpPr txBox="1"/>
          <p:nvPr/>
        </p:nvSpPr>
        <p:spPr>
          <a:xfrm>
            <a:off x="685800" y="2606040"/>
            <a:ext cx="3520440" cy="640080"/>
          </a:xfrm>
          <a:prstGeom prst="rect">
            <a:avLst/>
          </a:prstGeom>
          <a:noFill/>
        </p:spPr>
        <p:txBody>
          <a:bodyPr wrap="square" lIns="0" rIns="0" tIns="0" bIns="0" anchor="t">
            <a:noAutofit/>
          </a:bodyPr>
          <a:lstStyle/>
          <a:p>
            <a:pPr algn="l"/>
            <a:r>
              <a:rPr sz="1400">
                <a:solidFill>
                  <a:srgbClr val="A40C21"/>
                </a:solidFill>
                <a:latin typeface="Montserrat SemiBold"/>
              </a:rPr>
              <a:t>Les trois axes · extérieur : la marque, intérieur : la gamme</a:t>
            </a:r>
          </a:p>
        </p:txBody>
      </p:sp>
      <p:sp>
        <p:nvSpPr>
          <p:cNvPr id="8" name="!!Accent"/>
          <p:cNvSpPr/>
          <p:nvPr/>
        </p:nvSpPr>
        <p:spPr>
          <a:xfrm>
            <a:off x="685800" y="338328"/>
            <a:ext cx="384048" cy="32004"/>
          </a:xfrm>
          <a:prstGeom prst="rect">
            <a:avLst/>
          </a:prstGeom>
          <a:solidFill>
            <a:srgbClr val="F9A825"/>
          </a:solidFill>
          <a:ln>
            <a:noFill/>
          </a:ln>
        </p:spPr>
        <p:txBody>
          <a:bodyPr rtlCol="0" anchor="ctr"/>
          <a:lstStyle/>
          <a:p/>
        </p:txBody>
      </p:sp>
      <p:sp>
        <p:nvSpPr>
          <p:cNvPr id="9"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04 · Dépliant</a:t>
            </a:r>
          </a:p>
        </p:txBody>
      </p:sp>
      <p:sp>
        <p:nvSpPr>
          <p:cNvPr id="10"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31</a:t>
            </a:r>
          </a:p>
        </p:txBody>
      </p:sp>
      <p:sp>
        <p:nvSpPr>
          <p:cNvPr id="11"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12"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13"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14" name="!!Logo" descr="Logo Marin'Or Ivoire"/>
          <p:cNvPicPr>
            <a:picLocks noChangeAspect="1"/>
          </p:cNvPicPr>
          <p:nvPr/>
        </p:nvPicPr>
        <p:blipFill>
          <a:blip r:embed="rId5"/>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decel="100000"/>
                                        <p:tgtEl>
                                          <p:spTgt spid="6"/>
                                        </p:tgtEl>
                                      </p:cBhvr>
                                    </p:animEffect>
                                    <p:anim calcmode="lin" valueType="num">
                                      <p:cBhvr>
                                        <p:cTn id="8" dur="500" decel="100000" fill="hold"/>
                                        <p:tgtEl>
                                          <p:spTgt spid="6"/>
                                        </p:tgtEl>
                                        <p:attrNameLst>
                                          <p:attrName>ppt_x</p:attrName>
                                        </p:attrNameLst>
                                      </p:cBhvr>
                                      <p:tavLst>
                                        <p:tav tm="0">
                                          <p:val>
                                            <p:strVal val="#ppt_x"/>
                                          </p:val>
                                        </p:tav>
                                        <p:tav tm="100000">
                                          <p:val>
                                            <p:strVal val="#ppt_x"/>
                                          </p:val>
                                        </p:tav>
                                      </p:tavLst>
                                    </p:anim>
                                    <p:anim calcmode="lin" valueType="num">
                                      <p:cBhvr>
                                        <p:cTn id="9" dur="500" decel="100000" fill="hold"/>
                                        <p:tgtEl>
                                          <p:spTgt spid="6"/>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decel="100000"/>
                                        <p:tgtEl>
                                          <p:spTgt spid="9"/>
                                        </p:tgtEl>
                                      </p:cBhvr>
                                    </p:animEffect>
                                    <p:anim calcmode="lin" valueType="num">
                                      <p:cBhvr>
                                        <p:cTn id="13" dur="500" decel="100000" fill="hold"/>
                                        <p:tgtEl>
                                          <p:spTgt spid="9"/>
                                        </p:tgtEl>
                                        <p:attrNameLst>
                                          <p:attrName>ppt_x</p:attrName>
                                        </p:attrNameLst>
                                      </p:cBhvr>
                                      <p:tavLst>
                                        <p:tav tm="0">
                                          <p:val>
                                            <p:strVal val="#ppt_x"/>
                                          </p:val>
                                        </p:tav>
                                        <p:tav tm="100000">
                                          <p:val>
                                            <p:strVal val="#ppt_x"/>
                                          </p:val>
                                        </p:tav>
                                      </p:tavLst>
                                    </p:anim>
                                    <p:anim calcmode="lin" valueType="num">
                                      <p:cBhvr>
                                        <p:cTn id="14" dur="500" decel="100000" fill="hold"/>
                                        <p:tgtEl>
                                          <p:spTgt spid="9"/>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11"/>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12"/>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13"/>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400" decel="1000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decel="100000"/>
                                        <p:tgtEl>
                                          <p:spTgt spid="7"/>
                                        </p:tgtEl>
                                      </p:cBhvr>
                                    </p:animEffect>
                                    <p:anim calcmode="lin" valueType="num">
                                      <p:cBhvr>
                                        <p:cTn id="31" dur="500" decel="100000" fill="hold"/>
                                        <p:tgtEl>
                                          <p:spTgt spid="7"/>
                                        </p:tgtEl>
                                        <p:attrNameLst>
                                          <p:attrName>ppt_x</p:attrName>
                                        </p:attrNameLst>
                                      </p:cBhvr>
                                      <p:tavLst>
                                        <p:tav tm="0">
                                          <p:val>
                                            <p:strVal val="#ppt_x"/>
                                          </p:val>
                                        </p:tav>
                                        <p:tav tm="100000">
                                          <p:val>
                                            <p:strVal val="#ppt_x"/>
                                          </p:val>
                                        </p:tav>
                                      </p:tavLst>
                                    </p:anim>
                                    <p:anim calcmode="lin" valueType="num">
                                      <p:cBhvr>
                                        <p:cTn id="32" dur="500" decel="100000" fill="hold"/>
                                        <p:tgtEl>
                                          <p:spTgt spid="7"/>
                                        </p:tgtEl>
                                        <p:attrNameLst>
                                          <p:attrName>ppt_y</p:attrName>
                                        </p:attrNameLst>
                                      </p:cBhvr>
                                      <p:tavLst>
                                        <p:tav tm="0">
                                          <p:val>
                                            <p:strVal val="#ppt_y+0.027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500" decel="100000"/>
                                        <p:tgtEl>
                                          <p:spTgt spid="3"/>
                                        </p:tgtEl>
                                      </p:cBhvr>
                                    </p:animEffect>
                                    <p:anim calcmode="lin" valueType="num">
                                      <p:cBhvr>
                                        <p:cTn id="36" dur="500" decel="100000" fill="hold"/>
                                        <p:tgtEl>
                                          <p:spTgt spid="3"/>
                                        </p:tgtEl>
                                        <p:attrNameLst>
                                          <p:attrName>ppt_x</p:attrName>
                                        </p:attrNameLst>
                                      </p:cBhvr>
                                      <p:tavLst>
                                        <p:tav tm="0">
                                          <p:val>
                                            <p:strVal val="#ppt_x"/>
                                          </p:val>
                                        </p:tav>
                                        <p:tav tm="100000">
                                          <p:val>
                                            <p:strVal val="#ppt_x"/>
                                          </p:val>
                                        </p:tav>
                                      </p:tavLst>
                                    </p:anim>
                                    <p:anim calcmode="lin" valueType="num">
                                      <p:cBhvr>
                                        <p:cTn id="37" dur="500" decel="100000" fill="hold"/>
                                        <p:tgtEl>
                                          <p:spTgt spid="3"/>
                                        </p:tgtEl>
                                        <p:attrNameLst>
                                          <p:attrName>ppt_y</p:attrName>
                                        </p:attrNameLst>
                                      </p:cBhvr>
                                      <p:tavLst>
                                        <p:tav tm="0">
                                          <p:val>
                                            <p:strVal val="#ppt_y+0.0278"/>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500" decel="100000"/>
                                        <p:tgtEl>
                                          <p:spTgt spid="4"/>
                                        </p:tgtEl>
                                      </p:cBhvr>
                                    </p:animEffect>
                                    <p:anim calcmode="lin" valueType="num">
                                      <p:cBhvr>
                                        <p:cTn id="43" dur="500" decel="100000" fill="hold"/>
                                        <p:tgtEl>
                                          <p:spTgt spid="4"/>
                                        </p:tgtEl>
                                        <p:attrNameLst>
                                          <p:attrName>ppt_x</p:attrName>
                                        </p:attrNameLst>
                                      </p:cBhvr>
                                      <p:tavLst>
                                        <p:tav tm="0">
                                          <p:val>
                                            <p:strVal val="#ppt_x"/>
                                          </p:val>
                                        </p:tav>
                                        <p:tav tm="100000">
                                          <p:val>
                                            <p:strVal val="#ppt_x"/>
                                          </p:val>
                                        </p:tav>
                                      </p:tavLst>
                                    </p:anim>
                                    <p:anim calcmode="lin" valueType="num">
                                      <p:cBhvr>
                                        <p:cTn id="44" dur="500" decel="100000" fill="hold"/>
                                        <p:tgtEl>
                                          <p:spTgt spid="4"/>
                                        </p:tgtEl>
                                        <p:attrNameLst>
                                          <p:attrName>ppt_y</p:attrName>
                                        </p:attrNameLst>
                                      </p:cBhvr>
                                      <p:tavLst>
                                        <p:tav tm="0">
                                          <p:val>
                                            <p:strVal val="#ppt_y+0.0278"/>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fade">
                                      <p:cBhvr>
                                        <p:cTn id="49" dur="500" decel="100000"/>
                                        <p:tgtEl>
                                          <p:spTgt spid="5"/>
                                        </p:tgtEl>
                                      </p:cBhvr>
                                    </p:animEffect>
                                    <p:anim calcmode="lin" valueType="num">
                                      <p:cBhvr>
                                        <p:cTn id="50" dur="500" decel="100000" fill="hold"/>
                                        <p:tgtEl>
                                          <p:spTgt spid="5"/>
                                        </p:tgtEl>
                                        <p:attrNameLst>
                                          <p:attrName>ppt_x</p:attrName>
                                        </p:attrNameLst>
                                      </p:cBhvr>
                                      <p:tavLst>
                                        <p:tav tm="0">
                                          <p:val>
                                            <p:strVal val="#ppt_x"/>
                                          </p:val>
                                        </p:tav>
                                        <p:tav tm="100000">
                                          <p:val>
                                            <p:strVal val="#ppt_x"/>
                                          </p:val>
                                        </p:tav>
                                      </p:tavLst>
                                    </p:anim>
                                    <p:anim calcmode="lin" valueType="num">
                                      <p:cBhvr>
                                        <p:cTn id="51" dur="500" decel="100000" fill="hold"/>
                                        <p:tgtEl>
                                          <p:spTgt spid="5"/>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animBg="1"/>
      <p:bldP spid="9" grpId="0"/>
      <p:bldP spid="11" grpId="0" animBg="1"/>
      <p:bldP spid="12" grpId="0" animBg="1"/>
      <p:bldP spid="13"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pic>
        <p:nvPicPr>
          <p:cNvPr id="3" name="!!Hero" descr="Flyer"/>
          <p:cNvPicPr>
            <a:picLocks noChangeAspect="1"/>
          </p:cNvPicPr>
          <p:nvPr/>
        </p:nvPicPr>
        <p:blipFill>
          <a:blip r:embed="rId2"/>
          <a:srcRect l="7" r="7"/>
          <a:stretch>
            <a:fillRect/>
          </a:stretch>
        </p:blipFill>
        <p:spPr>
          <a:xfrm>
            <a:off x="7726679" y="1051560"/>
            <a:ext cx="3502586" cy="4983480"/>
          </a:xfrm>
          <a:prstGeom prst="roundRect">
            <a:avLst>
              <a:gd name="adj" fmla="val 2000"/>
            </a:avLst>
          </a:prstGeom>
          <a:effectLst>
            <a:outerShdw blurRad="177800" dist="38100" dir="5400000" algn="t" rotWithShape="0">
              <a:srgbClr val="1A0507">
                <a:alpha val="14000"/>
              </a:srgbClr>
            </a:outerShdw>
          </a:effectLst>
        </p:spPr>
      </p:pic>
      <p:pic>
        <p:nvPicPr>
          <p:cNvPr id="4" name="!!Second" descr="Flyer en situation"/>
          <p:cNvPicPr>
            <a:picLocks noChangeAspect="1"/>
          </p:cNvPicPr>
          <p:nvPr/>
        </p:nvPicPr>
        <p:blipFill>
          <a:blip r:embed="rId3"/>
          <a:srcRect/>
          <a:stretch>
            <a:fillRect/>
          </a:stretch>
        </p:blipFill>
        <p:spPr>
          <a:xfrm>
            <a:off x="4434840" y="1463040"/>
            <a:ext cx="3017520" cy="4007643"/>
          </a:xfrm>
          <a:prstGeom prst="roundRect">
            <a:avLst>
              <a:gd name="adj" fmla="val 4000"/>
            </a:avLst>
          </a:prstGeom>
          <a:effectLst>
            <a:outerShdw blurRad="177800" dist="38100" dir="5400000" algn="t" rotWithShape="0">
              <a:srgbClr val="1A0507">
                <a:alpha val="14000"/>
              </a:srgbClr>
            </a:outerShdw>
          </a:effectLst>
        </p:spPr>
      </p:pic>
      <p:sp>
        <p:nvSpPr>
          <p:cNvPr id="5" name="!!Title"/>
          <p:cNvSpPr txBox="1"/>
          <p:nvPr/>
        </p:nvSpPr>
        <p:spPr>
          <a:xfrm>
            <a:off x="685800" y="914400"/>
            <a:ext cx="3520440" cy="1554480"/>
          </a:xfrm>
          <a:prstGeom prst="rect">
            <a:avLst/>
          </a:prstGeom>
          <a:noFill/>
        </p:spPr>
        <p:txBody>
          <a:bodyPr wrap="square" lIns="0" rIns="0" tIns="0" bIns="0" anchor="t">
            <a:noAutofit/>
          </a:bodyPr>
          <a:lstStyle/>
          <a:p>
            <a:pPr algn="l">
              <a:lnSpc>
                <a:spcPct val="95000"/>
              </a:lnSpc>
            </a:pPr>
            <a:r>
              <a:rPr sz="3000">
                <a:solidFill>
                  <a:srgbClr val="7B1421"/>
                </a:solidFill>
                <a:latin typeface="Cream Heavy"/>
              </a:rPr>
              <a:t>Marinez, Cuisez, Régalez-vous !</a:t>
            </a:r>
          </a:p>
        </p:txBody>
      </p:sp>
      <p:sp>
        <p:nvSpPr>
          <p:cNvPr id="6" name="!!Axe"/>
          <p:cNvSpPr txBox="1"/>
          <p:nvPr/>
        </p:nvSpPr>
        <p:spPr>
          <a:xfrm>
            <a:off x="685800" y="2606040"/>
            <a:ext cx="3520440" cy="640080"/>
          </a:xfrm>
          <a:prstGeom prst="rect">
            <a:avLst/>
          </a:prstGeom>
          <a:noFill/>
        </p:spPr>
        <p:txBody>
          <a:bodyPr wrap="square" lIns="0" rIns="0" tIns="0" bIns="0" anchor="t">
            <a:noAutofit/>
          </a:bodyPr>
          <a:lstStyle/>
          <a:p>
            <a:pPr algn="l"/>
            <a:r>
              <a:rPr sz="1400">
                <a:solidFill>
                  <a:srgbClr val="A40C21"/>
                </a:solidFill>
                <a:latin typeface="Montserrat SemiBold"/>
              </a:rPr>
              <a:t>Flyer · Axe 3 · « Le goût du chef, sans l'effort »</a:t>
            </a:r>
          </a:p>
        </p:txBody>
      </p:sp>
      <p:sp>
        <p:nvSpPr>
          <p:cNvPr id="7" name="!!Accent"/>
          <p:cNvSpPr/>
          <p:nvPr/>
        </p:nvSpPr>
        <p:spPr>
          <a:xfrm>
            <a:off x="685800" y="338328"/>
            <a:ext cx="384048" cy="32004"/>
          </a:xfrm>
          <a:prstGeom prst="rect">
            <a:avLst/>
          </a:prstGeom>
          <a:solidFill>
            <a:srgbClr val="F9A825"/>
          </a:solidFill>
          <a:ln>
            <a:noFill/>
          </a:ln>
        </p:spPr>
        <p:txBody>
          <a:bodyPr rtlCol="0" anchor="ctr"/>
          <a:lstStyle/>
          <a:p/>
        </p:txBody>
      </p:sp>
      <p:sp>
        <p:nvSpPr>
          <p:cNvPr id="8"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04 · Flyer</a:t>
            </a:r>
          </a:p>
        </p:txBody>
      </p:sp>
      <p:sp>
        <p:nvSpPr>
          <p:cNvPr id="9"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32</a:t>
            </a:r>
          </a:p>
        </p:txBody>
      </p:sp>
      <p:sp>
        <p:nvSpPr>
          <p:cNvPr id="10"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11"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12"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13" name="!!Logo" descr="Logo Marin'Or Ivoire"/>
          <p:cNvPicPr>
            <a:picLocks noChangeAspect="1"/>
          </p:cNvPicPr>
          <p:nvPr/>
        </p:nvPicPr>
        <p:blipFill>
          <a:blip r:embed="rId4"/>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decel="100000"/>
                                        <p:tgtEl>
                                          <p:spTgt spid="5"/>
                                        </p:tgtEl>
                                      </p:cBhvr>
                                    </p:animEffect>
                                    <p:anim calcmode="lin" valueType="num">
                                      <p:cBhvr>
                                        <p:cTn id="8" dur="500" decel="100000" fill="hold"/>
                                        <p:tgtEl>
                                          <p:spTgt spid="5"/>
                                        </p:tgtEl>
                                        <p:attrNameLst>
                                          <p:attrName>ppt_x</p:attrName>
                                        </p:attrNameLst>
                                      </p:cBhvr>
                                      <p:tavLst>
                                        <p:tav tm="0">
                                          <p:val>
                                            <p:strVal val="#ppt_x"/>
                                          </p:val>
                                        </p:tav>
                                        <p:tav tm="100000">
                                          <p:val>
                                            <p:strVal val="#ppt_x"/>
                                          </p:val>
                                        </p:tav>
                                      </p:tavLst>
                                    </p:anim>
                                    <p:anim calcmode="lin" valueType="num">
                                      <p:cBhvr>
                                        <p:cTn id="9" dur="500" decel="100000" fill="hold"/>
                                        <p:tgtEl>
                                          <p:spTgt spid="5"/>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decel="100000"/>
                                        <p:tgtEl>
                                          <p:spTgt spid="8"/>
                                        </p:tgtEl>
                                      </p:cBhvr>
                                    </p:animEffect>
                                    <p:anim calcmode="lin" valueType="num">
                                      <p:cBhvr>
                                        <p:cTn id="13" dur="500" decel="100000" fill="hold"/>
                                        <p:tgtEl>
                                          <p:spTgt spid="8"/>
                                        </p:tgtEl>
                                        <p:attrNameLst>
                                          <p:attrName>ppt_x</p:attrName>
                                        </p:attrNameLst>
                                      </p:cBhvr>
                                      <p:tavLst>
                                        <p:tav tm="0">
                                          <p:val>
                                            <p:strVal val="#ppt_x"/>
                                          </p:val>
                                        </p:tav>
                                        <p:tav tm="100000">
                                          <p:val>
                                            <p:strVal val="#ppt_x"/>
                                          </p:val>
                                        </p:tav>
                                      </p:tavLst>
                                    </p:anim>
                                    <p:anim calcmode="lin" valueType="num">
                                      <p:cBhvr>
                                        <p:cTn id="14" dur="500" decel="100000" fill="hold"/>
                                        <p:tgtEl>
                                          <p:spTgt spid="8"/>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10"/>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11"/>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12"/>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400" decel="1000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decel="100000"/>
                                        <p:tgtEl>
                                          <p:spTgt spid="6"/>
                                        </p:tgtEl>
                                      </p:cBhvr>
                                    </p:animEffect>
                                    <p:anim calcmode="lin" valueType="num">
                                      <p:cBhvr>
                                        <p:cTn id="31" dur="500" decel="100000" fill="hold"/>
                                        <p:tgtEl>
                                          <p:spTgt spid="6"/>
                                        </p:tgtEl>
                                        <p:attrNameLst>
                                          <p:attrName>ppt_x</p:attrName>
                                        </p:attrNameLst>
                                      </p:cBhvr>
                                      <p:tavLst>
                                        <p:tav tm="0">
                                          <p:val>
                                            <p:strVal val="#ppt_x"/>
                                          </p:val>
                                        </p:tav>
                                        <p:tav tm="100000">
                                          <p:val>
                                            <p:strVal val="#ppt_x"/>
                                          </p:val>
                                        </p:tav>
                                      </p:tavLst>
                                    </p:anim>
                                    <p:anim calcmode="lin" valueType="num">
                                      <p:cBhvr>
                                        <p:cTn id="32" dur="500" decel="100000" fill="hold"/>
                                        <p:tgtEl>
                                          <p:spTgt spid="6"/>
                                        </p:tgtEl>
                                        <p:attrNameLst>
                                          <p:attrName>ppt_y</p:attrName>
                                        </p:attrNameLst>
                                      </p:cBhvr>
                                      <p:tavLst>
                                        <p:tav tm="0">
                                          <p:val>
                                            <p:strVal val="#ppt_y+0.027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500" decel="100000"/>
                                        <p:tgtEl>
                                          <p:spTgt spid="3"/>
                                        </p:tgtEl>
                                      </p:cBhvr>
                                    </p:animEffect>
                                    <p:anim calcmode="lin" valueType="num">
                                      <p:cBhvr>
                                        <p:cTn id="36" dur="500" decel="100000" fill="hold"/>
                                        <p:tgtEl>
                                          <p:spTgt spid="3"/>
                                        </p:tgtEl>
                                        <p:attrNameLst>
                                          <p:attrName>ppt_x</p:attrName>
                                        </p:attrNameLst>
                                      </p:cBhvr>
                                      <p:tavLst>
                                        <p:tav tm="0">
                                          <p:val>
                                            <p:strVal val="#ppt_x"/>
                                          </p:val>
                                        </p:tav>
                                        <p:tav tm="100000">
                                          <p:val>
                                            <p:strVal val="#ppt_x"/>
                                          </p:val>
                                        </p:tav>
                                      </p:tavLst>
                                    </p:anim>
                                    <p:anim calcmode="lin" valueType="num">
                                      <p:cBhvr>
                                        <p:cTn id="37" dur="500" decel="100000" fill="hold"/>
                                        <p:tgtEl>
                                          <p:spTgt spid="3"/>
                                        </p:tgtEl>
                                        <p:attrNameLst>
                                          <p:attrName>ppt_y</p:attrName>
                                        </p:attrNameLst>
                                      </p:cBhvr>
                                      <p:tavLst>
                                        <p:tav tm="0">
                                          <p:val>
                                            <p:strVal val="#ppt_y+0.0278"/>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500" decel="100000"/>
                                        <p:tgtEl>
                                          <p:spTgt spid="4"/>
                                        </p:tgtEl>
                                      </p:cBhvr>
                                    </p:animEffect>
                                    <p:anim calcmode="lin" valueType="num">
                                      <p:cBhvr>
                                        <p:cTn id="43" dur="500" decel="100000" fill="hold"/>
                                        <p:tgtEl>
                                          <p:spTgt spid="4"/>
                                        </p:tgtEl>
                                        <p:attrNameLst>
                                          <p:attrName>ppt_x</p:attrName>
                                        </p:attrNameLst>
                                      </p:cBhvr>
                                      <p:tavLst>
                                        <p:tav tm="0">
                                          <p:val>
                                            <p:strVal val="#ppt_x"/>
                                          </p:val>
                                        </p:tav>
                                        <p:tav tm="100000">
                                          <p:val>
                                            <p:strVal val="#ppt_x"/>
                                          </p:val>
                                        </p:tav>
                                      </p:tavLst>
                                    </p:anim>
                                    <p:anim calcmode="lin" valueType="num">
                                      <p:cBhvr>
                                        <p:cTn id="44" dur="500" decel="100000" fill="hold"/>
                                        <p:tgtEl>
                                          <p:spTgt spid="4"/>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P spid="10" grpId="0" animBg="1"/>
      <p:bldP spid="11" grpId="0" animBg="1"/>
      <p:bldP spid="12"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pic>
        <p:nvPicPr>
          <p:cNvPr id="3" name="!!Hero" descr="Kakémono"/>
          <p:cNvPicPr>
            <a:picLocks noChangeAspect="1"/>
          </p:cNvPicPr>
          <p:nvPr/>
        </p:nvPicPr>
        <p:blipFill>
          <a:blip r:embed="rId2"/>
          <a:srcRect/>
          <a:stretch>
            <a:fillRect/>
          </a:stretch>
        </p:blipFill>
        <p:spPr>
          <a:xfrm>
            <a:off x="9418320" y="1005840"/>
            <a:ext cx="2048256" cy="5120640"/>
          </a:xfrm>
          <a:prstGeom prst="roundRect">
            <a:avLst>
              <a:gd name="adj" fmla="val 3000"/>
            </a:avLst>
          </a:prstGeom>
          <a:effectLst>
            <a:outerShdw blurRad="177800" dist="38100" dir="5400000" algn="t" rotWithShape="0">
              <a:srgbClr val="1A0507">
                <a:alpha val="14000"/>
              </a:srgbClr>
            </a:outerShdw>
          </a:effectLst>
        </p:spPr>
      </p:pic>
      <p:pic>
        <p:nvPicPr>
          <p:cNvPr id="4" name="!!Second" descr="Kakémono en situation"/>
          <p:cNvPicPr>
            <a:picLocks noChangeAspect="1"/>
          </p:cNvPicPr>
          <p:nvPr/>
        </p:nvPicPr>
        <p:blipFill>
          <a:blip r:embed="rId3"/>
          <a:srcRect/>
          <a:stretch>
            <a:fillRect/>
          </a:stretch>
        </p:blipFill>
        <p:spPr>
          <a:xfrm>
            <a:off x="4434840" y="1463040"/>
            <a:ext cx="4663440" cy="4273805"/>
          </a:xfrm>
          <a:prstGeom prst="roundRect">
            <a:avLst>
              <a:gd name="adj" fmla="val 4000"/>
            </a:avLst>
          </a:prstGeom>
          <a:effectLst>
            <a:outerShdw blurRad="177800" dist="38100" dir="5400000" algn="t" rotWithShape="0">
              <a:srgbClr val="1A0507">
                <a:alpha val="14000"/>
              </a:srgbClr>
            </a:outerShdw>
          </a:effectLst>
        </p:spPr>
      </p:pic>
      <p:sp>
        <p:nvSpPr>
          <p:cNvPr id="5" name="!!Title"/>
          <p:cNvSpPr txBox="1"/>
          <p:nvPr/>
        </p:nvSpPr>
        <p:spPr>
          <a:xfrm>
            <a:off x="685800" y="914400"/>
            <a:ext cx="3520440" cy="1554480"/>
          </a:xfrm>
          <a:prstGeom prst="rect">
            <a:avLst/>
          </a:prstGeom>
          <a:noFill/>
        </p:spPr>
        <p:txBody>
          <a:bodyPr wrap="square" lIns="0" rIns="0" tIns="0" bIns="0" anchor="t">
            <a:noAutofit/>
          </a:bodyPr>
          <a:lstStyle/>
          <a:p>
            <a:pPr algn="l">
              <a:lnSpc>
                <a:spcPct val="95000"/>
              </a:lnSpc>
            </a:pPr>
            <a:r>
              <a:rPr sz="3000">
                <a:solidFill>
                  <a:srgbClr val="7B1421"/>
                </a:solidFill>
                <a:latin typeface="Cream Heavy"/>
              </a:rPr>
              <a:t>Le goût qui rassemble !</a:t>
            </a:r>
          </a:p>
        </p:txBody>
      </p:sp>
      <p:sp>
        <p:nvSpPr>
          <p:cNvPr id="6" name="!!Axe"/>
          <p:cNvSpPr txBox="1"/>
          <p:nvPr/>
        </p:nvSpPr>
        <p:spPr>
          <a:xfrm>
            <a:off x="685800" y="2606040"/>
            <a:ext cx="3520440" cy="640080"/>
          </a:xfrm>
          <a:prstGeom prst="rect">
            <a:avLst/>
          </a:prstGeom>
          <a:noFill/>
        </p:spPr>
        <p:txBody>
          <a:bodyPr wrap="square" lIns="0" rIns="0" tIns="0" bIns="0" anchor="t">
            <a:noAutofit/>
          </a:bodyPr>
          <a:lstStyle/>
          <a:p>
            <a:pPr algn="l"/>
            <a:r>
              <a:rPr sz="1400">
                <a:solidFill>
                  <a:srgbClr val="A40C21"/>
                </a:solidFill>
                <a:latin typeface="Montserrat SemiBold"/>
              </a:rPr>
              <a:t>Kakémono · Axe 2 · point de vente et événements</a:t>
            </a:r>
          </a:p>
        </p:txBody>
      </p:sp>
      <p:sp>
        <p:nvSpPr>
          <p:cNvPr id="7" name="!!Accent"/>
          <p:cNvSpPr/>
          <p:nvPr/>
        </p:nvSpPr>
        <p:spPr>
          <a:xfrm>
            <a:off x="685800" y="338328"/>
            <a:ext cx="384048" cy="32004"/>
          </a:xfrm>
          <a:prstGeom prst="rect">
            <a:avLst/>
          </a:prstGeom>
          <a:solidFill>
            <a:srgbClr val="F9A825"/>
          </a:solidFill>
          <a:ln>
            <a:noFill/>
          </a:ln>
        </p:spPr>
        <p:txBody>
          <a:bodyPr rtlCol="0" anchor="ctr"/>
          <a:lstStyle/>
          <a:p/>
        </p:txBody>
      </p:sp>
      <p:sp>
        <p:nvSpPr>
          <p:cNvPr id="8"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04 · Kakémono</a:t>
            </a:r>
          </a:p>
        </p:txBody>
      </p:sp>
      <p:sp>
        <p:nvSpPr>
          <p:cNvPr id="9"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33</a:t>
            </a:r>
          </a:p>
        </p:txBody>
      </p:sp>
      <p:sp>
        <p:nvSpPr>
          <p:cNvPr id="10"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11"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12"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13" name="!!Logo" descr="Logo Marin'Or Ivoire"/>
          <p:cNvPicPr>
            <a:picLocks noChangeAspect="1"/>
          </p:cNvPicPr>
          <p:nvPr/>
        </p:nvPicPr>
        <p:blipFill>
          <a:blip r:embed="rId4"/>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decel="100000"/>
                                        <p:tgtEl>
                                          <p:spTgt spid="5"/>
                                        </p:tgtEl>
                                      </p:cBhvr>
                                    </p:animEffect>
                                    <p:anim calcmode="lin" valueType="num">
                                      <p:cBhvr>
                                        <p:cTn id="8" dur="500" decel="100000" fill="hold"/>
                                        <p:tgtEl>
                                          <p:spTgt spid="5"/>
                                        </p:tgtEl>
                                        <p:attrNameLst>
                                          <p:attrName>ppt_x</p:attrName>
                                        </p:attrNameLst>
                                      </p:cBhvr>
                                      <p:tavLst>
                                        <p:tav tm="0">
                                          <p:val>
                                            <p:strVal val="#ppt_x"/>
                                          </p:val>
                                        </p:tav>
                                        <p:tav tm="100000">
                                          <p:val>
                                            <p:strVal val="#ppt_x"/>
                                          </p:val>
                                        </p:tav>
                                      </p:tavLst>
                                    </p:anim>
                                    <p:anim calcmode="lin" valueType="num">
                                      <p:cBhvr>
                                        <p:cTn id="9" dur="500" decel="100000" fill="hold"/>
                                        <p:tgtEl>
                                          <p:spTgt spid="5"/>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decel="100000"/>
                                        <p:tgtEl>
                                          <p:spTgt spid="8"/>
                                        </p:tgtEl>
                                      </p:cBhvr>
                                    </p:animEffect>
                                    <p:anim calcmode="lin" valueType="num">
                                      <p:cBhvr>
                                        <p:cTn id="13" dur="500" decel="100000" fill="hold"/>
                                        <p:tgtEl>
                                          <p:spTgt spid="8"/>
                                        </p:tgtEl>
                                        <p:attrNameLst>
                                          <p:attrName>ppt_x</p:attrName>
                                        </p:attrNameLst>
                                      </p:cBhvr>
                                      <p:tavLst>
                                        <p:tav tm="0">
                                          <p:val>
                                            <p:strVal val="#ppt_x"/>
                                          </p:val>
                                        </p:tav>
                                        <p:tav tm="100000">
                                          <p:val>
                                            <p:strVal val="#ppt_x"/>
                                          </p:val>
                                        </p:tav>
                                      </p:tavLst>
                                    </p:anim>
                                    <p:anim calcmode="lin" valueType="num">
                                      <p:cBhvr>
                                        <p:cTn id="14" dur="500" decel="100000" fill="hold"/>
                                        <p:tgtEl>
                                          <p:spTgt spid="8"/>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10"/>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11"/>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12"/>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400" decel="1000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decel="100000"/>
                                        <p:tgtEl>
                                          <p:spTgt spid="6"/>
                                        </p:tgtEl>
                                      </p:cBhvr>
                                    </p:animEffect>
                                    <p:anim calcmode="lin" valueType="num">
                                      <p:cBhvr>
                                        <p:cTn id="31" dur="500" decel="100000" fill="hold"/>
                                        <p:tgtEl>
                                          <p:spTgt spid="6"/>
                                        </p:tgtEl>
                                        <p:attrNameLst>
                                          <p:attrName>ppt_x</p:attrName>
                                        </p:attrNameLst>
                                      </p:cBhvr>
                                      <p:tavLst>
                                        <p:tav tm="0">
                                          <p:val>
                                            <p:strVal val="#ppt_x"/>
                                          </p:val>
                                        </p:tav>
                                        <p:tav tm="100000">
                                          <p:val>
                                            <p:strVal val="#ppt_x"/>
                                          </p:val>
                                        </p:tav>
                                      </p:tavLst>
                                    </p:anim>
                                    <p:anim calcmode="lin" valueType="num">
                                      <p:cBhvr>
                                        <p:cTn id="32" dur="500" decel="100000" fill="hold"/>
                                        <p:tgtEl>
                                          <p:spTgt spid="6"/>
                                        </p:tgtEl>
                                        <p:attrNameLst>
                                          <p:attrName>ppt_y</p:attrName>
                                        </p:attrNameLst>
                                      </p:cBhvr>
                                      <p:tavLst>
                                        <p:tav tm="0">
                                          <p:val>
                                            <p:strVal val="#ppt_y+0.027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500" decel="100000"/>
                                        <p:tgtEl>
                                          <p:spTgt spid="3"/>
                                        </p:tgtEl>
                                      </p:cBhvr>
                                    </p:animEffect>
                                    <p:anim calcmode="lin" valueType="num">
                                      <p:cBhvr>
                                        <p:cTn id="36" dur="500" decel="100000" fill="hold"/>
                                        <p:tgtEl>
                                          <p:spTgt spid="3"/>
                                        </p:tgtEl>
                                        <p:attrNameLst>
                                          <p:attrName>ppt_x</p:attrName>
                                        </p:attrNameLst>
                                      </p:cBhvr>
                                      <p:tavLst>
                                        <p:tav tm="0">
                                          <p:val>
                                            <p:strVal val="#ppt_x"/>
                                          </p:val>
                                        </p:tav>
                                        <p:tav tm="100000">
                                          <p:val>
                                            <p:strVal val="#ppt_x"/>
                                          </p:val>
                                        </p:tav>
                                      </p:tavLst>
                                    </p:anim>
                                    <p:anim calcmode="lin" valueType="num">
                                      <p:cBhvr>
                                        <p:cTn id="37" dur="500" decel="100000" fill="hold"/>
                                        <p:tgtEl>
                                          <p:spTgt spid="3"/>
                                        </p:tgtEl>
                                        <p:attrNameLst>
                                          <p:attrName>ppt_y</p:attrName>
                                        </p:attrNameLst>
                                      </p:cBhvr>
                                      <p:tavLst>
                                        <p:tav tm="0">
                                          <p:val>
                                            <p:strVal val="#ppt_y+0.0278"/>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500" decel="100000"/>
                                        <p:tgtEl>
                                          <p:spTgt spid="4"/>
                                        </p:tgtEl>
                                      </p:cBhvr>
                                    </p:animEffect>
                                    <p:anim calcmode="lin" valueType="num">
                                      <p:cBhvr>
                                        <p:cTn id="43" dur="500" decel="100000" fill="hold"/>
                                        <p:tgtEl>
                                          <p:spTgt spid="4"/>
                                        </p:tgtEl>
                                        <p:attrNameLst>
                                          <p:attrName>ppt_x</p:attrName>
                                        </p:attrNameLst>
                                      </p:cBhvr>
                                      <p:tavLst>
                                        <p:tav tm="0">
                                          <p:val>
                                            <p:strVal val="#ppt_x"/>
                                          </p:val>
                                        </p:tav>
                                        <p:tav tm="100000">
                                          <p:val>
                                            <p:strVal val="#ppt_x"/>
                                          </p:val>
                                        </p:tav>
                                      </p:tavLst>
                                    </p:anim>
                                    <p:anim calcmode="lin" valueType="num">
                                      <p:cBhvr>
                                        <p:cTn id="44" dur="500" decel="100000" fill="hold"/>
                                        <p:tgtEl>
                                          <p:spTgt spid="4"/>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P spid="10" grpId="0" animBg="1"/>
      <p:bldP spid="11" grpId="0" animBg="1"/>
      <p:bldP spid="12"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pic>
        <p:nvPicPr>
          <p:cNvPr id="3" name="!!Video">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4663440" y="1417320"/>
            <a:ext cx="6858000" cy="3857625"/>
          </a:xfrm>
          <a:prstGeom prst="rect">
            <a:avLst/>
          </a:prstGeom>
        </p:spPr>
      </p:pic>
      <p:sp>
        <p:nvSpPr>
          <p:cNvPr id="4" name="!!Title"/>
          <p:cNvSpPr txBox="1"/>
          <p:nvPr/>
        </p:nvSpPr>
        <p:spPr>
          <a:xfrm>
            <a:off x="685800" y="914400"/>
            <a:ext cx="3657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Spot 2D</a:t>
            </a:r>
          </a:p>
        </p:txBody>
      </p:sp>
      <p:sp>
        <p:nvSpPr>
          <p:cNvPr id="5" name="!!Body"/>
          <p:cNvSpPr txBox="1"/>
          <p:nvPr/>
        </p:nvSpPr>
        <p:spPr>
          <a:xfrm>
            <a:off x="685800" y="2057400"/>
            <a:ext cx="3657600" cy="3200400"/>
          </a:xfrm>
          <a:prstGeom prst="rect">
            <a:avLst/>
          </a:prstGeom>
          <a:noFill/>
        </p:spPr>
        <p:txBody>
          <a:bodyPr wrap="square" lIns="0" rIns="0" tIns="0" bIns="0" anchor="t">
            <a:noAutofit/>
          </a:bodyPr>
          <a:lstStyle/>
          <a:p>
            <a:pPr algn="l">
              <a:lnSpc>
                <a:spcPct val="112000"/>
              </a:lnSpc>
              <a:spcAft>
                <a:spcPts val="1200"/>
              </a:spcAft>
            </a:pPr>
            <a:r>
              <a:rPr sz="1700">
                <a:solidFill>
                  <a:srgbClr val="2A070D"/>
                </a:solidFill>
                <a:latin typeface="Montserrat Medium"/>
              </a:rPr>
              <a:t>Une question, des solutions naturelles, la gamme complète, puis le repas en famille.</a:t>
            </a:r>
          </a:p>
          <a:p>
            <a:pPr algn="l">
              <a:lnSpc>
                <a:spcPct val="112000"/>
              </a:lnSpc>
              <a:spcAft>
                <a:spcPts val="1200"/>
              </a:spcAft>
            </a:pPr>
            <a:r>
              <a:rPr sz="1700">
                <a:solidFill>
                  <a:srgbClr val="2A070D"/>
                </a:solidFill>
                <a:latin typeface="Montserrat Medium"/>
              </a:rPr>
              <a:t>After Effects · 1920 × 1080</a:t>
            </a:r>
          </a:p>
        </p:txBody>
      </p:sp>
      <p:sp>
        <p:nvSpPr>
          <p:cNvPr id="6" name="!!Accent"/>
          <p:cNvSpPr/>
          <p:nvPr/>
        </p:nvSpPr>
        <p:spPr>
          <a:xfrm>
            <a:off x="685800" y="338328"/>
            <a:ext cx="384048" cy="32004"/>
          </a:xfrm>
          <a:prstGeom prst="rect">
            <a:avLst/>
          </a:prstGeom>
          <a:solidFill>
            <a:srgbClr val="F9A825"/>
          </a:solidFill>
          <a:ln>
            <a:noFill/>
          </a:ln>
        </p:spPr>
        <p:txBody>
          <a:bodyPr rtlCol="0" anchor="ctr"/>
          <a:lstStyle/>
          <a:p/>
        </p:txBody>
      </p:sp>
      <p:sp>
        <p:nvSpPr>
          <p:cNvPr id="7"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04 · Audiovisuel</a:t>
            </a:r>
          </a:p>
        </p:txBody>
      </p:sp>
      <p:sp>
        <p:nvSpPr>
          <p:cNvPr id="8"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34</a:t>
            </a:r>
          </a:p>
        </p:txBody>
      </p:sp>
      <p:sp>
        <p:nvSpPr>
          <p:cNvPr id="9"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10"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11"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12" name="!!Logo" descr="Logo Marin'Or Ivoire"/>
          <p:cNvPicPr>
            <a:picLocks noChangeAspect="1"/>
          </p:cNvPicPr>
          <p:nvPr/>
        </p:nvPicPr>
        <p:blipFill>
          <a:blip r:embed="rId5"/>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decel="100000"/>
                                        <p:tgtEl>
                                          <p:spTgt spid="4"/>
                                        </p:tgtEl>
                                      </p:cBhvr>
                                    </p:animEffect>
                                    <p:anim calcmode="lin" valueType="num">
                                      <p:cBhvr>
                                        <p:cTn id="8" dur="500" decel="100000" fill="hold"/>
                                        <p:tgtEl>
                                          <p:spTgt spid="4"/>
                                        </p:tgtEl>
                                        <p:attrNameLst>
                                          <p:attrName>ppt_x</p:attrName>
                                        </p:attrNameLst>
                                      </p:cBhvr>
                                      <p:tavLst>
                                        <p:tav tm="0">
                                          <p:val>
                                            <p:strVal val="#ppt_x"/>
                                          </p:val>
                                        </p:tav>
                                        <p:tav tm="100000">
                                          <p:val>
                                            <p:strVal val="#ppt_x"/>
                                          </p:val>
                                        </p:tav>
                                      </p:tavLst>
                                    </p:anim>
                                    <p:anim calcmode="lin" valueType="num">
                                      <p:cBhvr>
                                        <p:cTn id="9" dur="500" decel="100000" fill="hold"/>
                                        <p:tgtEl>
                                          <p:spTgt spid="4"/>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decel="100000"/>
                                        <p:tgtEl>
                                          <p:spTgt spid="7"/>
                                        </p:tgtEl>
                                      </p:cBhvr>
                                    </p:animEffect>
                                    <p:anim calcmode="lin" valueType="num">
                                      <p:cBhvr>
                                        <p:cTn id="13" dur="500" decel="100000" fill="hold"/>
                                        <p:tgtEl>
                                          <p:spTgt spid="7"/>
                                        </p:tgtEl>
                                        <p:attrNameLst>
                                          <p:attrName>ppt_x</p:attrName>
                                        </p:attrNameLst>
                                      </p:cBhvr>
                                      <p:tavLst>
                                        <p:tav tm="0">
                                          <p:val>
                                            <p:strVal val="#ppt_x"/>
                                          </p:val>
                                        </p:tav>
                                        <p:tav tm="100000">
                                          <p:val>
                                            <p:strVal val="#ppt_x"/>
                                          </p:val>
                                        </p:tav>
                                      </p:tavLst>
                                    </p:anim>
                                    <p:anim calcmode="lin" valueType="num">
                                      <p:cBhvr>
                                        <p:cTn id="14" dur="500" decel="100000" fill="hold"/>
                                        <p:tgtEl>
                                          <p:spTgt spid="7"/>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9"/>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10"/>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11"/>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4" dur="400" decel="1000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decel="100000"/>
                                        <p:tgtEl>
                                          <p:spTgt spid="5"/>
                                        </p:tgtEl>
                                      </p:cBhvr>
                                    </p:animEffect>
                                    <p:anim calcmode="lin" valueType="num">
                                      <p:cBhvr>
                                        <p:cTn id="31" dur="500" decel="100000" fill="hold"/>
                                        <p:tgtEl>
                                          <p:spTgt spid="5"/>
                                        </p:tgtEl>
                                        <p:attrNameLst>
                                          <p:attrName>ppt_x</p:attrName>
                                        </p:attrNameLst>
                                      </p:cBhvr>
                                      <p:tavLst>
                                        <p:tav tm="0">
                                          <p:val>
                                            <p:strVal val="#ppt_x"/>
                                          </p:val>
                                        </p:tav>
                                        <p:tav tm="100000">
                                          <p:val>
                                            <p:strVal val="#ppt_x"/>
                                          </p:val>
                                        </p:tav>
                                      </p:tavLst>
                                    </p:anim>
                                    <p:anim calcmode="lin" valueType="num">
                                      <p:cBhvr>
                                        <p:cTn id="32" dur="500" decel="100000" fill="hold"/>
                                        <p:tgtEl>
                                          <p:spTgt spid="5"/>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33" fill="hold" display="0">
                  <p:stCondLst>
                    <p:cond delay="indefinite"/>
                  </p:stCondLst>
                </p:cTn>
                <p:tgtEl>
                  <p:spTgt spid="3"/>
                </p:tgtEl>
              </p:cMediaNode>
            </p:video>
          </p:childTnLst>
        </p:cTn>
      </p:par>
    </p:tnLst>
    <p:bldLst>
      <p:bldP spid="4" grpId="0"/>
      <p:bldP spid="5" grpId="0"/>
      <p:bldP spid="6" grpId="0" animBg="1"/>
      <p:bldP spid="7" grpId="0"/>
      <p:bldP spid="9" grpId="0" animBg="1"/>
      <p:bldP spid="10" grpId="0" animBg="1"/>
      <p:bldP spid="11"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pic>
        <p:nvPicPr>
          <p:cNvPr id="3" name="!!Video">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4663440" y="1417320"/>
            <a:ext cx="6858000" cy="3857625"/>
          </a:xfrm>
          <a:prstGeom prst="rect">
            <a:avLst/>
          </a:prstGeom>
        </p:spPr>
      </p:pic>
      <p:sp>
        <p:nvSpPr>
          <p:cNvPr id="4" name="!!Title"/>
          <p:cNvSpPr txBox="1"/>
          <p:nvPr/>
        </p:nvSpPr>
        <p:spPr>
          <a:xfrm>
            <a:off x="685800" y="914400"/>
            <a:ext cx="3657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Spot 3D</a:t>
            </a:r>
          </a:p>
        </p:txBody>
      </p:sp>
      <p:sp>
        <p:nvSpPr>
          <p:cNvPr id="5" name="!!Body"/>
          <p:cNvSpPr txBox="1"/>
          <p:nvPr/>
        </p:nvSpPr>
        <p:spPr>
          <a:xfrm>
            <a:off x="685800" y="2057400"/>
            <a:ext cx="3657600" cy="3200400"/>
          </a:xfrm>
          <a:prstGeom prst="rect">
            <a:avLst/>
          </a:prstGeom>
          <a:noFill/>
        </p:spPr>
        <p:txBody>
          <a:bodyPr wrap="square" lIns="0" rIns="0" tIns="0" bIns="0" anchor="t">
            <a:noAutofit/>
          </a:bodyPr>
          <a:lstStyle/>
          <a:p>
            <a:pPr algn="l">
              <a:lnSpc>
                <a:spcPct val="112000"/>
              </a:lnSpc>
              <a:spcAft>
                <a:spcPts val="1200"/>
              </a:spcAft>
            </a:pPr>
            <a:r>
              <a:rPr sz="1700">
                <a:solidFill>
                  <a:srgbClr val="2A070D"/>
                </a:solidFill>
                <a:latin typeface="Montserrat Medium"/>
              </a:rPr>
              <a:t>Une visite immersive de la boutique virtuelle Marin'Or Ivoire, modélisée sous Blender.</a:t>
            </a:r>
          </a:p>
        </p:txBody>
      </p:sp>
      <p:sp>
        <p:nvSpPr>
          <p:cNvPr id="6" name="!!Accent"/>
          <p:cNvSpPr/>
          <p:nvPr/>
        </p:nvSpPr>
        <p:spPr>
          <a:xfrm>
            <a:off x="685800" y="338328"/>
            <a:ext cx="384048" cy="32004"/>
          </a:xfrm>
          <a:prstGeom prst="rect">
            <a:avLst/>
          </a:prstGeom>
          <a:solidFill>
            <a:srgbClr val="F9A825"/>
          </a:solidFill>
          <a:ln>
            <a:noFill/>
          </a:ln>
        </p:spPr>
        <p:txBody>
          <a:bodyPr rtlCol="0" anchor="ctr"/>
          <a:lstStyle/>
          <a:p/>
        </p:txBody>
      </p:sp>
      <p:sp>
        <p:nvSpPr>
          <p:cNvPr id="7"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04 · Audiovisuel</a:t>
            </a:r>
          </a:p>
        </p:txBody>
      </p:sp>
      <p:sp>
        <p:nvSpPr>
          <p:cNvPr id="8"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35</a:t>
            </a:r>
          </a:p>
        </p:txBody>
      </p:sp>
      <p:sp>
        <p:nvSpPr>
          <p:cNvPr id="9"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10"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11"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12" name="!!Logo" descr="Logo Marin'Or Ivoire"/>
          <p:cNvPicPr>
            <a:picLocks noChangeAspect="1"/>
          </p:cNvPicPr>
          <p:nvPr/>
        </p:nvPicPr>
        <p:blipFill>
          <a:blip r:embed="rId5"/>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decel="100000"/>
                                        <p:tgtEl>
                                          <p:spTgt spid="4"/>
                                        </p:tgtEl>
                                      </p:cBhvr>
                                    </p:animEffect>
                                    <p:anim calcmode="lin" valueType="num">
                                      <p:cBhvr>
                                        <p:cTn id="8" dur="500" decel="100000" fill="hold"/>
                                        <p:tgtEl>
                                          <p:spTgt spid="4"/>
                                        </p:tgtEl>
                                        <p:attrNameLst>
                                          <p:attrName>ppt_x</p:attrName>
                                        </p:attrNameLst>
                                      </p:cBhvr>
                                      <p:tavLst>
                                        <p:tav tm="0">
                                          <p:val>
                                            <p:strVal val="#ppt_x"/>
                                          </p:val>
                                        </p:tav>
                                        <p:tav tm="100000">
                                          <p:val>
                                            <p:strVal val="#ppt_x"/>
                                          </p:val>
                                        </p:tav>
                                      </p:tavLst>
                                    </p:anim>
                                    <p:anim calcmode="lin" valueType="num">
                                      <p:cBhvr>
                                        <p:cTn id="9" dur="500" decel="100000" fill="hold"/>
                                        <p:tgtEl>
                                          <p:spTgt spid="4"/>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decel="100000"/>
                                        <p:tgtEl>
                                          <p:spTgt spid="7"/>
                                        </p:tgtEl>
                                      </p:cBhvr>
                                    </p:animEffect>
                                    <p:anim calcmode="lin" valueType="num">
                                      <p:cBhvr>
                                        <p:cTn id="13" dur="500" decel="100000" fill="hold"/>
                                        <p:tgtEl>
                                          <p:spTgt spid="7"/>
                                        </p:tgtEl>
                                        <p:attrNameLst>
                                          <p:attrName>ppt_x</p:attrName>
                                        </p:attrNameLst>
                                      </p:cBhvr>
                                      <p:tavLst>
                                        <p:tav tm="0">
                                          <p:val>
                                            <p:strVal val="#ppt_x"/>
                                          </p:val>
                                        </p:tav>
                                        <p:tav tm="100000">
                                          <p:val>
                                            <p:strVal val="#ppt_x"/>
                                          </p:val>
                                        </p:tav>
                                      </p:tavLst>
                                    </p:anim>
                                    <p:anim calcmode="lin" valueType="num">
                                      <p:cBhvr>
                                        <p:cTn id="14" dur="500" decel="100000" fill="hold"/>
                                        <p:tgtEl>
                                          <p:spTgt spid="7"/>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9"/>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10"/>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11"/>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4" dur="400" decel="1000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decel="100000"/>
                                        <p:tgtEl>
                                          <p:spTgt spid="5"/>
                                        </p:tgtEl>
                                      </p:cBhvr>
                                    </p:animEffect>
                                    <p:anim calcmode="lin" valueType="num">
                                      <p:cBhvr>
                                        <p:cTn id="31" dur="500" decel="100000" fill="hold"/>
                                        <p:tgtEl>
                                          <p:spTgt spid="5"/>
                                        </p:tgtEl>
                                        <p:attrNameLst>
                                          <p:attrName>ppt_x</p:attrName>
                                        </p:attrNameLst>
                                      </p:cBhvr>
                                      <p:tavLst>
                                        <p:tav tm="0">
                                          <p:val>
                                            <p:strVal val="#ppt_x"/>
                                          </p:val>
                                        </p:tav>
                                        <p:tav tm="100000">
                                          <p:val>
                                            <p:strVal val="#ppt_x"/>
                                          </p:val>
                                        </p:tav>
                                      </p:tavLst>
                                    </p:anim>
                                    <p:anim calcmode="lin" valueType="num">
                                      <p:cBhvr>
                                        <p:cTn id="32" dur="500" decel="100000" fill="hold"/>
                                        <p:tgtEl>
                                          <p:spTgt spid="5"/>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33" fill="hold" display="0">
                  <p:stCondLst>
                    <p:cond delay="indefinite"/>
                  </p:stCondLst>
                </p:cTn>
                <p:tgtEl>
                  <p:spTgt spid="3"/>
                </p:tgtEl>
              </p:cMediaNode>
            </p:video>
          </p:childTnLst>
        </p:cTn>
      </p:par>
    </p:tnLst>
    <p:bldLst>
      <p:bldP spid="4" grpId="0"/>
      <p:bldP spid="5" grpId="0"/>
      <p:bldP spid="6" grpId="0" animBg="1"/>
      <p:bldP spid="7" grpId="0"/>
      <p:bldP spid="9" grpId="0" animBg="1"/>
      <p:bldP spid="10" grpId="0" animBg="1"/>
      <p:bldP spid="11"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gradFill rotWithShape="1">
            <a:gsLst>
              <a:gs pos="0">
                <a:srgbClr val="8A1828"/>
              </a:gs>
              <a:gs pos="100000">
                <a:srgbClr val="68101C"/>
              </a:gs>
            </a:gsLst>
            <a:lin ang="2100000" scaled="0"/>
          </a:gradFill>
          <a:ln>
            <a:noFill/>
          </a:ln>
        </p:spPr>
        <p:txBody>
          <a:bodyPr rtlCol="0" anchor="ctr"/>
          <a:lstStyle/>
          <a:p/>
        </p:txBody>
      </p:sp>
      <p:pic>
        <p:nvPicPr>
          <p:cNvPr id="3" name="!!WM" descr="Filigrane : icône éléphant Marin’Or (décoratif)"/>
          <p:cNvPicPr>
            <a:picLocks noChangeAspect="1"/>
          </p:cNvPicPr>
          <p:nvPr/>
        </p:nvPicPr>
        <p:blipFill>
          <a:blip r:embed="rId2">
            <a:alphaModFix amt="7000"/>
          </a:blip>
          <a:srcRect/>
          <a:stretch>
            <a:fillRect/>
          </a:stretch>
        </p:blipFill>
        <p:spPr>
          <a:xfrm>
            <a:off x="7056729" y="3253165"/>
            <a:ext cx="6583680" cy="4506043"/>
          </a:xfrm>
          <a:prstGeom prst="rect">
            <a:avLst/>
          </a:prstGeom>
        </p:spPr>
      </p:pic>
      <p:sp>
        <p:nvSpPr>
          <p:cNvPr id="4" name="!!SecNum"/>
          <p:cNvSpPr txBox="1"/>
          <p:nvPr/>
        </p:nvSpPr>
        <p:spPr>
          <a:xfrm>
            <a:off x="3352800" y="868680"/>
            <a:ext cx="5486400" cy="1737360"/>
          </a:xfrm>
          <a:prstGeom prst="rect">
            <a:avLst/>
          </a:prstGeom>
          <a:noFill/>
        </p:spPr>
        <p:txBody>
          <a:bodyPr wrap="square" lIns="0" rIns="0" tIns="0" bIns="0" anchor="ctr">
            <a:noAutofit/>
          </a:bodyPr>
          <a:lstStyle/>
          <a:p>
            <a:pPr algn="ctr"/>
            <a:r>
              <a:rPr sz="12000">
                <a:solidFill>
                  <a:srgbClr val="F9A825"/>
                </a:solidFill>
                <a:latin typeface="Cream Heavy"/>
              </a:rPr>
              <a:t>05</a:t>
            </a:r>
          </a:p>
        </p:txBody>
      </p:sp>
      <p:sp>
        <p:nvSpPr>
          <p:cNvPr id="5" name="!!Title"/>
          <p:cNvSpPr txBox="1"/>
          <p:nvPr/>
        </p:nvSpPr>
        <p:spPr>
          <a:xfrm>
            <a:off x="914400" y="3017520"/>
            <a:ext cx="10363200" cy="822960"/>
          </a:xfrm>
          <a:prstGeom prst="rect">
            <a:avLst/>
          </a:prstGeom>
          <a:noFill/>
        </p:spPr>
        <p:txBody>
          <a:bodyPr wrap="square" lIns="0" rIns="0" tIns="0" bIns="0" anchor="ctr">
            <a:noAutofit/>
          </a:bodyPr>
          <a:lstStyle/>
          <a:p>
            <a:pPr algn="ctr">
              <a:lnSpc>
                <a:spcPct val="95000"/>
              </a:lnSpc>
            </a:pPr>
            <a:r>
              <a:rPr sz="4000">
                <a:solidFill>
                  <a:srgbClr val="FFFFFF"/>
                </a:solidFill>
                <a:latin typeface="Cream Heavy"/>
              </a:rPr>
              <a:t>Le site web : une boutique en ligne</a:t>
            </a:r>
          </a:p>
        </p:txBody>
      </p:sp>
      <p:sp>
        <p:nvSpPr>
          <p:cNvPr id="6" name="!!Accent"/>
          <p:cNvSpPr/>
          <p:nvPr/>
        </p:nvSpPr>
        <p:spPr>
          <a:xfrm>
            <a:off x="685800" y="338328"/>
            <a:ext cx="384048" cy="32004"/>
          </a:xfrm>
          <a:prstGeom prst="rect">
            <a:avLst/>
          </a:prstGeom>
          <a:solidFill>
            <a:srgbClr val="F9A825"/>
          </a:solidFill>
          <a:ln>
            <a:noFill/>
          </a:ln>
        </p:spPr>
        <p:txBody>
          <a:bodyPr rtlCol="0" anchor="ctr"/>
          <a:lstStyle/>
          <a:p/>
        </p:txBody>
      </p:sp>
      <p:sp>
        <p:nvSpPr>
          <p:cNvPr id="7"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F9A825"/>
                </a:solidFill>
                <a:latin typeface="Montserrat SemiBold"/>
              </a:rPr>
              <a:t>05 · Site web</a:t>
            </a:r>
          </a:p>
        </p:txBody>
      </p:sp>
      <p:sp>
        <p:nvSpPr>
          <p:cNvPr id="8"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F9A825"/>
                </a:solidFill>
                <a:latin typeface="Montserrat SemiBold"/>
              </a:rPr>
              <a:t>36</a:t>
            </a:r>
          </a:p>
        </p:txBody>
      </p:sp>
      <p:sp>
        <p:nvSpPr>
          <p:cNvPr id="9" name="!!Dot0"/>
          <p:cNvSpPr/>
          <p:nvPr/>
        </p:nvSpPr>
        <p:spPr>
          <a:xfrm>
            <a:off x="685800" y="6382512"/>
            <a:ext cx="68580" cy="68580"/>
          </a:xfrm>
          <a:prstGeom prst="ellipse">
            <a:avLst/>
          </a:prstGeom>
          <a:solidFill>
            <a:srgbClr val="F9A825">
              <a:alpha val="75000"/>
            </a:srgbClr>
          </a:solidFill>
          <a:ln>
            <a:noFill/>
          </a:ln>
        </p:spPr>
        <p:txBody>
          <a:bodyPr rtlCol="0" anchor="ctr"/>
          <a:lstStyle/>
          <a:p/>
        </p:txBody>
      </p:sp>
      <p:sp>
        <p:nvSpPr>
          <p:cNvPr id="10" name="!!Dot1"/>
          <p:cNvSpPr/>
          <p:nvPr/>
        </p:nvSpPr>
        <p:spPr>
          <a:xfrm>
            <a:off x="832104" y="6382512"/>
            <a:ext cx="68580" cy="68580"/>
          </a:xfrm>
          <a:prstGeom prst="ellipse">
            <a:avLst/>
          </a:prstGeom>
          <a:solidFill>
            <a:srgbClr val="FFECD1">
              <a:alpha val="75000"/>
            </a:srgbClr>
          </a:solidFill>
          <a:ln>
            <a:noFill/>
          </a:ln>
        </p:spPr>
        <p:txBody>
          <a:bodyPr rtlCol="0" anchor="ctr"/>
          <a:lstStyle/>
          <a:p/>
        </p:txBody>
      </p:sp>
      <p:sp>
        <p:nvSpPr>
          <p:cNvPr id="11" name="!!Dot2"/>
          <p:cNvSpPr/>
          <p:nvPr/>
        </p:nvSpPr>
        <p:spPr>
          <a:xfrm>
            <a:off x="978408" y="6382512"/>
            <a:ext cx="68580" cy="68580"/>
          </a:xfrm>
          <a:prstGeom prst="ellipse">
            <a:avLst/>
          </a:prstGeom>
          <a:solidFill>
            <a:srgbClr val="F9A825">
              <a:alpha val="75000"/>
            </a:srgbClr>
          </a:solidFill>
          <a:ln>
            <a:noFill/>
          </a:ln>
        </p:spPr>
        <p:txBody>
          <a:bodyPr rtlCol="0" anchor="ctr"/>
          <a:lstStyle/>
          <a:p/>
        </p:txBody>
      </p:sp>
      <p:pic>
        <p:nvPicPr>
          <p:cNvPr id="12" name="!!Logo" descr="Logo Marin'Or Ivoire"/>
          <p:cNvPicPr>
            <a:picLocks noChangeAspect="1"/>
          </p:cNvPicPr>
          <p:nvPr/>
        </p:nvPicPr>
        <p:blipFill>
          <a:blip r:embed="rId3"/>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decel="100000"/>
                                        <p:tgtEl>
                                          <p:spTgt spid="4"/>
                                        </p:tgtEl>
                                      </p:cBhvr>
                                    </p:animEffect>
                                    <p:anim calcmode="lin" valueType="num">
                                      <p:cBhvr>
                                        <p:cTn id="8" dur="500" decel="100000" fill="hold"/>
                                        <p:tgtEl>
                                          <p:spTgt spid="4"/>
                                        </p:tgtEl>
                                        <p:attrNameLst>
                                          <p:attrName>ppt_x</p:attrName>
                                        </p:attrNameLst>
                                      </p:cBhvr>
                                      <p:tavLst>
                                        <p:tav tm="0">
                                          <p:val>
                                            <p:strVal val="#ppt_x"/>
                                          </p:val>
                                        </p:tav>
                                        <p:tav tm="100000">
                                          <p:val>
                                            <p:strVal val="#ppt_x"/>
                                          </p:val>
                                        </p:tav>
                                      </p:tavLst>
                                    </p:anim>
                                    <p:anim calcmode="lin" valueType="num">
                                      <p:cBhvr>
                                        <p:cTn id="9" dur="500" decel="100000" fill="hold"/>
                                        <p:tgtEl>
                                          <p:spTgt spid="4"/>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decel="100000"/>
                                        <p:tgtEl>
                                          <p:spTgt spid="5"/>
                                        </p:tgtEl>
                                      </p:cBhvr>
                                    </p:animEffect>
                                    <p:anim calcmode="lin" valueType="num">
                                      <p:cBhvr>
                                        <p:cTn id="13" dur="500" decel="100000" fill="hold"/>
                                        <p:tgtEl>
                                          <p:spTgt spid="5"/>
                                        </p:tgtEl>
                                        <p:attrNameLst>
                                          <p:attrName>ppt_x</p:attrName>
                                        </p:attrNameLst>
                                      </p:cBhvr>
                                      <p:tavLst>
                                        <p:tav tm="0">
                                          <p:val>
                                            <p:strVal val="#ppt_x"/>
                                          </p:val>
                                        </p:tav>
                                        <p:tav tm="100000">
                                          <p:val>
                                            <p:strVal val="#ppt_x"/>
                                          </p:val>
                                        </p:tav>
                                      </p:tavLst>
                                    </p:anim>
                                    <p:anim calcmode="lin" valueType="num">
                                      <p:cBhvr>
                                        <p:cTn id="14" dur="500" decel="100000" fill="hold"/>
                                        <p:tgtEl>
                                          <p:spTgt spid="5"/>
                                        </p:tgtEl>
                                        <p:attrNameLst>
                                          <p:attrName>ppt_y</p:attrName>
                                        </p:attrNameLst>
                                      </p:cBhvr>
                                      <p:tavLst>
                                        <p:tav tm="0">
                                          <p:val>
                                            <p:strVal val="#ppt_y+0.0278"/>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decel="100000"/>
                                        <p:tgtEl>
                                          <p:spTgt spid="7"/>
                                        </p:tgtEl>
                                      </p:cBhvr>
                                    </p:animEffect>
                                    <p:anim calcmode="lin" valueType="num">
                                      <p:cBhvr>
                                        <p:cTn id="18" dur="500" decel="100000" fill="hold"/>
                                        <p:tgtEl>
                                          <p:spTgt spid="7"/>
                                        </p:tgtEl>
                                        <p:attrNameLst>
                                          <p:attrName>ppt_x</p:attrName>
                                        </p:attrNameLst>
                                      </p:cBhvr>
                                      <p:tavLst>
                                        <p:tav tm="0">
                                          <p:val>
                                            <p:strVal val="#ppt_x"/>
                                          </p:val>
                                        </p:tav>
                                        <p:tav tm="100000">
                                          <p:val>
                                            <p:strVal val="#ppt_x"/>
                                          </p:val>
                                        </p:tav>
                                      </p:tavLst>
                                    </p:anim>
                                    <p:anim calcmode="lin" valueType="num">
                                      <p:cBhvr>
                                        <p:cTn id="19" dur="500" decel="100000" fill="hold"/>
                                        <p:tgtEl>
                                          <p:spTgt spid="7"/>
                                        </p:tgtEl>
                                        <p:attrNameLst>
                                          <p:attrName>ppt_y</p:attrName>
                                        </p:attrNameLst>
                                      </p:cBhvr>
                                      <p:tavLst>
                                        <p:tav tm="0">
                                          <p:val>
                                            <p:strVal val="#ppt_y+0.0278"/>
                                          </p:val>
                                        </p:tav>
                                        <p:tav tm="100000">
                                          <p:val>
                                            <p:strVal val="#ppt_y"/>
                                          </p:val>
                                        </p:tav>
                                      </p:tavLst>
                                    </p:anim>
                                  </p:childTnLst>
                                </p:cTn>
                              </p:par>
                              <p:par>
                                <p:cTn id="20" presetID="0" presetClass="path" presetSubtype="0" repeatCount="indefinite" accel="50000" decel="50000" autoRev="1" fill="hold" grpId="0" nodeType="withEffect">
                                  <p:stCondLst>
                                    <p:cond delay="0"/>
                                  </p:stCondLst>
                                  <p:childTnLst>
                                    <p:animMotion origin="layout" path="M 0 0 L -0.0120 -0.0100 E" pathEditMode="relative" rAng="0" ptsTypes="AA">
                                      <p:cBhvr>
                                        <p:cTn id="21" dur="9000" fill="hold"/>
                                        <p:tgtEl>
                                          <p:spTgt spid="3"/>
                                        </p:tgtEl>
                                        <p:attrNameLst>
                                          <p:attrName>ppt_x</p:attrName>
                                          <p:attrName>ppt_y</p:attrName>
                                        </p:attrNameLst>
                                      </p:cBhvr>
                                      <p:rCtr x="0" y="0"/>
                                    </p:animMotion>
                                  </p:childTnLst>
                                </p:cTn>
                              </p:par>
                              <p:par>
                                <p:cTn id="22"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3" dur="2600" fill="hold"/>
                                        <p:tgtEl>
                                          <p:spTgt spid="9"/>
                                        </p:tgtEl>
                                        <p:attrNameLst>
                                          <p:attrName>ppt_x</p:attrName>
                                          <p:attrName>ppt_y</p:attrName>
                                        </p:attrNameLst>
                                      </p:cBhvr>
                                      <p:rCtr x="0" y="0"/>
                                    </p:animMotion>
                                  </p:childTnLst>
                                </p:cTn>
                              </p:par>
                              <p:par>
                                <p:cTn id="24"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5" dur="3150" fill="hold"/>
                                        <p:tgtEl>
                                          <p:spTgt spid="10"/>
                                        </p:tgtEl>
                                        <p:attrNameLst>
                                          <p:attrName>ppt_x</p:attrName>
                                          <p:attrName>ppt_y</p:attrName>
                                        </p:attrNameLst>
                                      </p:cBhvr>
                                      <p:rCtr x="0" y="0"/>
                                    </p:animMotion>
                                  </p:childTnLst>
                                </p:cTn>
                              </p:par>
                              <p:par>
                                <p:cTn id="26"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7" dur="3700" fill="hold"/>
                                        <p:tgtEl>
                                          <p:spTgt spid="11"/>
                                        </p:tgtEl>
                                        <p:attrNameLst>
                                          <p:attrName>ppt_x</p:attrName>
                                          <p:attrName>ppt_y</p:attrName>
                                        </p:attrNameLst>
                                      </p:cBhvr>
                                      <p:rCtr x="0" y="0"/>
                                    </p:animMotion>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left)">
                                      <p:cBhvr>
                                        <p:cTn id="31" dur="400" decel="100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9" grpId="0" animBg="1"/>
      <p:bldP spid="10" grpId="0" animBg="1"/>
      <p:bldP spid="11"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sp>
        <p:nvSpPr>
          <p:cNvPr id="3" name="!!Title"/>
          <p:cNvSpPr txBox="1"/>
          <p:nvPr/>
        </p:nvSpPr>
        <p:spPr>
          <a:xfrm>
            <a:off x="685800" y="914400"/>
            <a:ext cx="8229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Structure de navigation</a:t>
            </a:r>
          </a:p>
        </p:txBody>
      </p:sp>
      <p:sp>
        <p:nvSpPr>
          <p:cNvPr id="4" name="!!Card0"/>
          <p:cNvSpPr/>
          <p:nvPr/>
        </p:nvSpPr>
        <p:spPr>
          <a:xfrm>
            <a:off x="685800" y="1920240"/>
            <a:ext cx="5257800" cy="3337560"/>
          </a:xfrm>
          <a:prstGeom prst="roundRect">
            <a:avLst>
              <a:gd name="adj" fmla="val 7000"/>
            </a:avLst>
          </a:prstGeom>
          <a:solidFill>
            <a:srgbClr val="F6E8EA"/>
          </a:solidFill>
          <a:ln>
            <a:noFill/>
          </a:ln>
        </p:spPr>
        <p:txBody>
          <a:bodyPr rtlCol="0" anchor="ctr"/>
          <a:lstStyle/>
          <a:p/>
        </p:txBody>
      </p:sp>
      <p:pic>
        <p:nvPicPr>
          <p:cNvPr id="5" name="!!Img0" descr="Partie clientèle"/>
          <p:cNvPicPr>
            <a:picLocks noChangeAspect="1"/>
          </p:cNvPicPr>
          <p:nvPr/>
        </p:nvPicPr>
        <p:blipFill>
          <a:blip r:embed="rId2"/>
          <a:stretch>
            <a:fillRect/>
          </a:stretch>
        </p:blipFill>
        <p:spPr>
          <a:xfrm>
            <a:off x="868680" y="2770826"/>
            <a:ext cx="4892040" cy="1636387"/>
          </a:xfrm>
          <a:prstGeom prst="rect">
            <a:avLst/>
          </a:prstGeom>
        </p:spPr>
      </p:pic>
      <p:sp>
        <p:nvSpPr>
          <p:cNvPr id="6" name="!!CardT0"/>
          <p:cNvSpPr txBox="1"/>
          <p:nvPr/>
        </p:nvSpPr>
        <p:spPr>
          <a:xfrm>
            <a:off x="685800" y="5440680"/>
            <a:ext cx="5257800" cy="365760"/>
          </a:xfrm>
          <a:prstGeom prst="rect">
            <a:avLst/>
          </a:prstGeom>
          <a:noFill/>
        </p:spPr>
        <p:txBody>
          <a:bodyPr wrap="square" lIns="0" rIns="0" tIns="0" bIns="0" anchor="t">
            <a:noAutofit/>
          </a:bodyPr>
          <a:lstStyle/>
          <a:p>
            <a:pPr algn="ctr"/>
            <a:r>
              <a:rPr sz="1500">
                <a:solidFill>
                  <a:srgbClr val="7B1421"/>
                </a:solidFill>
                <a:latin typeface="Montserrat SemiBold"/>
              </a:rPr>
              <a:t>Partie clientèle</a:t>
            </a:r>
          </a:p>
        </p:txBody>
      </p:sp>
      <p:sp>
        <p:nvSpPr>
          <p:cNvPr id="7" name="!!Card1"/>
          <p:cNvSpPr/>
          <p:nvPr/>
        </p:nvSpPr>
        <p:spPr>
          <a:xfrm>
            <a:off x="6217920" y="1920240"/>
            <a:ext cx="5257800" cy="3337560"/>
          </a:xfrm>
          <a:prstGeom prst="roundRect">
            <a:avLst>
              <a:gd name="adj" fmla="val 7000"/>
            </a:avLst>
          </a:prstGeom>
          <a:solidFill>
            <a:srgbClr val="F6E8EA"/>
          </a:solidFill>
          <a:ln>
            <a:noFill/>
          </a:ln>
        </p:spPr>
        <p:txBody>
          <a:bodyPr rtlCol="0" anchor="ctr"/>
          <a:lstStyle/>
          <a:p/>
        </p:txBody>
      </p:sp>
      <p:pic>
        <p:nvPicPr>
          <p:cNvPr id="8" name="!!Img1" descr="Back-office"/>
          <p:cNvPicPr>
            <a:picLocks noChangeAspect="1"/>
          </p:cNvPicPr>
          <p:nvPr/>
        </p:nvPicPr>
        <p:blipFill>
          <a:blip r:embed="rId3"/>
          <a:stretch>
            <a:fillRect/>
          </a:stretch>
        </p:blipFill>
        <p:spPr>
          <a:xfrm>
            <a:off x="6400800" y="2455738"/>
            <a:ext cx="4892040" cy="2266563"/>
          </a:xfrm>
          <a:prstGeom prst="rect">
            <a:avLst/>
          </a:prstGeom>
        </p:spPr>
      </p:pic>
      <p:sp>
        <p:nvSpPr>
          <p:cNvPr id="9" name="!!CardT1"/>
          <p:cNvSpPr txBox="1"/>
          <p:nvPr/>
        </p:nvSpPr>
        <p:spPr>
          <a:xfrm>
            <a:off x="6217920" y="5440680"/>
            <a:ext cx="5257800" cy="365760"/>
          </a:xfrm>
          <a:prstGeom prst="rect">
            <a:avLst/>
          </a:prstGeom>
          <a:noFill/>
        </p:spPr>
        <p:txBody>
          <a:bodyPr wrap="square" lIns="0" rIns="0" tIns="0" bIns="0" anchor="t">
            <a:noAutofit/>
          </a:bodyPr>
          <a:lstStyle/>
          <a:p>
            <a:pPr algn="ctr"/>
            <a:r>
              <a:rPr sz="1500">
                <a:solidFill>
                  <a:srgbClr val="7B1421"/>
                </a:solidFill>
                <a:latin typeface="Montserrat SemiBold"/>
              </a:rPr>
              <a:t>Back-office</a:t>
            </a:r>
          </a:p>
        </p:txBody>
      </p:sp>
      <p:sp>
        <p:nvSpPr>
          <p:cNvPr id="10" name="!!Accent"/>
          <p:cNvSpPr/>
          <p:nvPr/>
        </p:nvSpPr>
        <p:spPr>
          <a:xfrm>
            <a:off x="685800" y="338328"/>
            <a:ext cx="384048" cy="32004"/>
          </a:xfrm>
          <a:prstGeom prst="rect">
            <a:avLst/>
          </a:prstGeom>
          <a:solidFill>
            <a:srgbClr val="F9A825"/>
          </a:solidFill>
          <a:ln>
            <a:noFill/>
          </a:ln>
        </p:spPr>
        <p:txBody>
          <a:bodyPr rtlCol="0" anchor="ctr"/>
          <a:lstStyle/>
          <a:p/>
        </p:txBody>
      </p:sp>
      <p:sp>
        <p:nvSpPr>
          <p:cNvPr id="11"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05 · Conception</a:t>
            </a:r>
          </a:p>
        </p:txBody>
      </p:sp>
      <p:sp>
        <p:nvSpPr>
          <p:cNvPr id="12"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37</a:t>
            </a:r>
          </a:p>
        </p:txBody>
      </p:sp>
      <p:sp>
        <p:nvSpPr>
          <p:cNvPr id="13"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14"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15"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16" name="!!Logo" descr="Logo Marin'Or Ivoire"/>
          <p:cNvPicPr>
            <a:picLocks noChangeAspect="1"/>
          </p:cNvPicPr>
          <p:nvPr/>
        </p:nvPicPr>
        <p:blipFill>
          <a:blip r:embed="rId4"/>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decel="1000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decel="100000"/>
                                        <p:tgtEl>
                                          <p:spTgt spid="11"/>
                                        </p:tgtEl>
                                      </p:cBhvr>
                                    </p:animEffect>
                                    <p:anim calcmode="lin" valueType="num">
                                      <p:cBhvr>
                                        <p:cTn id="13" dur="500" decel="100000" fill="hold"/>
                                        <p:tgtEl>
                                          <p:spTgt spid="11"/>
                                        </p:tgtEl>
                                        <p:attrNameLst>
                                          <p:attrName>ppt_x</p:attrName>
                                        </p:attrNameLst>
                                      </p:cBhvr>
                                      <p:tavLst>
                                        <p:tav tm="0">
                                          <p:val>
                                            <p:strVal val="#ppt_x"/>
                                          </p:val>
                                        </p:tav>
                                        <p:tav tm="100000">
                                          <p:val>
                                            <p:strVal val="#ppt_x"/>
                                          </p:val>
                                        </p:tav>
                                      </p:tavLst>
                                    </p:anim>
                                    <p:anim calcmode="lin" valueType="num">
                                      <p:cBhvr>
                                        <p:cTn id="14" dur="500" decel="100000" fill="hold"/>
                                        <p:tgtEl>
                                          <p:spTgt spid="11"/>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13"/>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14"/>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15"/>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400" decel="1000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decel="100000"/>
                                        <p:tgtEl>
                                          <p:spTgt spid="4"/>
                                        </p:tgtEl>
                                      </p:cBhvr>
                                    </p:animEffect>
                                    <p:anim calcmode="lin" valueType="num">
                                      <p:cBhvr>
                                        <p:cTn id="31" dur="500" decel="100000" fill="hold"/>
                                        <p:tgtEl>
                                          <p:spTgt spid="4"/>
                                        </p:tgtEl>
                                        <p:attrNameLst>
                                          <p:attrName>ppt_x</p:attrName>
                                        </p:attrNameLst>
                                      </p:cBhvr>
                                      <p:tavLst>
                                        <p:tav tm="0">
                                          <p:val>
                                            <p:strVal val="#ppt_x"/>
                                          </p:val>
                                        </p:tav>
                                        <p:tav tm="100000">
                                          <p:val>
                                            <p:strVal val="#ppt_x"/>
                                          </p:val>
                                        </p:tav>
                                      </p:tavLst>
                                    </p:anim>
                                    <p:anim calcmode="lin" valueType="num">
                                      <p:cBhvr>
                                        <p:cTn id="32" dur="500" decel="100000" fill="hold"/>
                                        <p:tgtEl>
                                          <p:spTgt spid="4"/>
                                        </p:tgtEl>
                                        <p:attrNameLst>
                                          <p:attrName>ppt_y</p:attrName>
                                        </p:attrNameLst>
                                      </p:cBhvr>
                                      <p:tavLst>
                                        <p:tav tm="0">
                                          <p:val>
                                            <p:strVal val="#ppt_y+0.027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decel="100000"/>
                                        <p:tgtEl>
                                          <p:spTgt spid="5"/>
                                        </p:tgtEl>
                                      </p:cBhvr>
                                    </p:animEffect>
                                    <p:anim calcmode="lin" valueType="num">
                                      <p:cBhvr>
                                        <p:cTn id="36" dur="500" decel="100000" fill="hold"/>
                                        <p:tgtEl>
                                          <p:spTgt spid="5"/>
                                        </p:tgtEl>
                                        <p:attrNameLst>
                                          <p:attrName>ppt_x</p:attrName>
                                        </p:attrNameLst>
                                      </p:cBhvr>
                                      <p:tavLst>
                                        <p:tav tm="0">
                                          <p:val>
                                            <p:strVal val="#ppt_x"/>
                                          </p:val>
                                        </p:tav>
                                        <p:tav tm="100000">
                                          <p:val>
                                            <p:strVal val="#ppt_x"/>
                                          </p:val>
                                        </p:tav>
                                      </p:tavLst>
                                    </p:anim>
                                    <p:anim calcmode="lin" valueType="num">
                                      <p:cBhvr>
                                        <p:cTn id="37" dur="500" decel="100000" fill="hold"/>
                                        <p:tgtEl>
                                          <p:spTgt spid="5"/>
                                        </p:tgtEl>
                                        <p:attrNameLst>
                                          <p:attrName>ppt_y</p:attrName>
                                        </p:attrNameLst>
                                      </p:cBhvr>
                                      <p:tavLst>
                                        <p:tav tm="0">
                                          <p:val>
                                            <p:strVal val="#ppt_y+0.0278"/>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500" decel="100000"/>
                                        <p:tgtEl>
                                          <p:spTgt spid="6"/>
                                        </p:tgtEl>
                                      </p:cBhvr>
                                    </p:animEffect>
                                    <p:anim calcmode="lin" valueType="num">
                                      <p:cBhvr>
                                        <p:cTn id="41" dur="500" decel="100000" fill="hold"/>
                                        <p:tgtEl>
                                          <p:spTgt spid="6"/>
                                        </p:tgtEl>
                                        <p:attrNameLst>
                                          <p:attrName>ppt_x</p:attrName>
                                        </p:attrNameLst>
                                      </p:cBhvr>
                                      <p:tavLst>
                                        <p:tav tm="0">
                                          <p:val>
                                            <p:strVal val="#ppt_x"/>
                                          </p:val>
                                        </p:tav>
                                        <p:tav tm="100000">
                                          <p:val>
                                            <p:strVal val="#ppt_x"/>
                                          </p:val>
                                        </p:tav>
                                      </p:tavLst>
                                    </p:anim>
                                    <p:anim calcmode="lin" valueType="num">
                                      <p:cBhvr>
                                        <p:cTn id="42" dur="500" decel="100000" fill="hold"/>
                                        <p:tgtEl>
                                          <p:spTgt spid="6"/>
                                        </p:tgtEl>
                                        <p:attrNameLst>
                                          <p:attrName>ppt_y</p:attrName>
                                        </p:attrNameLst>
                                      </p:cBhvr>
                                      <p:tavLst>
                                        <p:tav tm="0">
                                          <p:val>
                                            <p:strVal val="#ppt_y+0.0278"/>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fade">
                                      <p:cBhvr>
                                        <p:cTn id="47" dur="500" decel="100000"/>
                                        <p:tgtEl>
                                          <p:spTgt spid="7"/>
                                        </p:tgtEl>
                                      </p:cBhvr>
                                    </p:animEffect>
                                    <p:anim calcmode="lin" valueType="num">
                                      <p:cBhvr>
                                        <p:cTn id="48" dur="500" decel="100000" fill="hold"/>
                                        <p:tgtEl>
                                          <p:spTgt spid="7"/>
                                        </p:tgtEl>
                                        <p:attrNameLst>
                                          <p:attrName>ppt_x</p:attrName>
                                        </p:attrNameLst>
                                      </p:cBhvr>
                                      <p:tavLst>
                                        <p:tav tm="0">
                                          <p:val>
                                            <p:strVal val="#ppt_x"/>
                                          </p:val>
                                        </p:tav>
                                        <p:tav tm="100000">
                                          <p:val>
                                            <p:strVal val="#ppt_x"/>
                                          </p:val>
                                        </p:tav>
                                      </p:tavLst>
                                    </p:anim>
                                    <p:anim calcmode="lin" valueType="num">
                                      <p:cBhvr>
                                        <p:cTn id="49" dur="500" decel="100000" fill="hold"/>
                                        <p:tgtEl>
                                          <p:spTgt spid="7"/>
                                        </p:tgtEl>
                                        <p:attrNameLst>
                                          <p:attrName>ppt_y</p:attrName>
                                        </p:attrNameLst>
                                      </p:cBhvr>
                                      <p:tavLst>
                                        <p:tav tm="0">
                                          <p:val>
                                            <p:strVal val="#ppt_y+0.0278"/>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fade">
                                      <p:cBhvr>
                                        <p:cTn id="52" dur="500" decel="100000"/>
                                        <p:tgtEl>
                                          <p:spTgt spid="8"/>
                                        </p:tgtEl>
                                      </p:cBhvr>
                                    </p:animEffect>
                                    <p:anim calcmode="lin" valueType="num">
                                      <p:cBhvr>
                                        <p:cTn id="53" dur="500" decel="100000" fill="hold"/>
                                        <p:tgtEl>
                                          <p:spTgt spid="8"/>
                                        </p:tgtEl>
                                        <p:attrNameLst>
                                          <p:attrName>ppt_x</p:attrName>
                                        </p:attrNameLst>
                                      </p:cBhvr>
                                      <p:tavLst>
                                        <p:tav tm="0">
                                          <p:val>
                                            <p:strVal val="#ppt_x"/>
                                          </p:val>
                                        </p:tav>
                                        <p:tav tm="100000">
                                          <p:val>
                                            <p:strVal val="#ppt_x"/>
                                          </p:val>
                                        </p:tav>
                                      </p:tavLst>
                                    </p:anim>
                                    <p:anim calcmode="lin" valueType="num">
                                      <p:cBhvr>
                                        <p:cTn id="54" dur="500" decel="100000" fill="hold"/>
                                        <p:tgtEl>
                                          <p:spTgt spid="8"/>
                                        </p:tgtEl>
                                        <p:attrNameLst>
                                          <p:attrName>ppt_y</p:attrName>
                                        </p:attrNameLst>
                                      </p:cBhvr>
                                      <p:tavLst>
                                        <p:tav tm="0">
                                          <p:val>
                                            <p:strVal val="#ppt_y+0.0278"/>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fade">
                                      <p:cBhvr>
                                        <p:cTn id="57" dur="500" decel="100000"/>
                                        <p:tgtEl>
                                          <p:spTgt spid="9"/>
                                        </p:tgtEl>
                                      </p:cBhvr>
                                    </p:animEffect>
                                    <p:anim calcmode="lin" valueType="num">
                                      <p:cBhvr>
                                        <p:cTn id="58" dur="500" decel="100000" fill="hold"/>
                                        <p:tgtEl>
                                          <p:spTgt spid="9"/>
                                        </p:tgtEl>
                                        <p:attrNameLst>
                                          <p:attrName>ppt_x</p:attrName>
                                        </p:attrNameLst>
                                      </p:cBhvr>
                                      <p:tavLst>
                                        <p:tav tm="0">
                                          <p:val>
                                            <p:strVal val="#ppt_x"/>
                                          </p:val>
                                        </p:tav>
                                        <p:tav tm="100000">
                                          <p:val>
                                            <p:strVal val="#ppt_x"/>
                                          </p:val>
                                        </p:tav>
                                      </p:tavLst>
                                    </p:anim>
                                    <p:anim calcmode="lin" valueType="num">
                                      <p:cBhvr>
                                        <p:cTn id="59" dur="500" decel="100000" fill="hold"/>
                                        <p:tgtEl>
                                          <p:spTgt spid="9"/>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6" grpId="0"/>
      <p:bldP spid="7" grpId="0" animBg="1"/>
      <p:bldP spid="9" grpId="0"/>
      <p:bldP spid="10" grpId="0" animBg="1"/>
      <p:bldP spid="11" grpId="0"/>
      <p:bldP spid="13" grpId="0" animBg="1"/>
      <p:bldP spid="14" grpId="0" animBg="1"/>
      <p:bldP spid="15"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pic>
        <p:nvPicPr>
          <p:cNvPr id="3" name="!!Hero" descr="Page d'accueil"/>
          <p:cNvPicPr>
            <a:picLocks noChangeAspect="1"/>
          </p:cNvPicPr>
          <p:nvPr/>
        </p:nvPicPr>
        <p:blipFill>
          <a:blip r:embed="rId2"/>
          <a:srcRect l="1556" r="1556"/>
          <a:stretch>
            <a:fillRect/>
          </a:stretch>
        </p:blipFill>
        <p:spPr>
          <a:xfrm>
            <a:off x="5120640" y="1783080"/>
            <a:ext cx="6400800" cy="3200400"/>
          </a:xfrm>
          <a:prstGeom prst="roundRect">
            <a:avLst>
              <a:gd name="adj" fmla="val 2000"/>
            </a:avLst>
          </a:prstGeom>
          <a:effectLst>
            <a:outerShdw blurRad="177800" dist="38100" dir="5400000" algn="t" rotWithShape="0">
              <a:srgbClr val="1A0507">
                <a:alpha val="14000"/>
              </a:srgbClr>
            </a:outerShdw>
          </a:effectLst>
        </p:spPr>
      </p:pic>
      <p:pic>
        <p:nvPicPr>
          <p:cNvPr id="4" name="!!Th0" descr="Gamme Marinades"/>
          <p:cNvPicPr>
            <a:picLocks noChangeAspect="1"/>
          </p:cNvPicPr>
          <p:nvPr/>
        </p:nvPicPr>
        <p:blipFill>
          <a:blip r:embed="rId3"/>
          <a:srcRect t="1021" b="1021"/>
          <a:stretch>
            <a:fillRect/>
          </a:stretch>
        </p:blipFill>
        <p:spPr>
          <a:xfrm>
            <a:off x="5120640" y="5102352"/>
            <a:ext cx="2011680" cy="960120"/>
          </a:xfrm>
          <a:prstGeom prst="roundRect">
            <a:avLst>
              <a:gd name="adj" fmla="val 4000"/>
            </a:avLst>
          </a:prstGeom>
          <a:effectLst>
            <a:outerShdw blurRad="177800" dist="38100" dir="5400000" algn="t" rotWithShape="0">
              <a:srgbClr val="1A0507">
                <a:alpha val="14000"/>
              </a:srgbClr>
            </a:outerShdw>
          </a:effectLst>
        </p:spPr>
      </p:pic>
      <p:pic>
        <p:nvPicPr>
          <p:cNvPr id="5" name="!!Th1" descr="Gamme Épices"/>
          <p:cNvPicPr>
            <a:picLocks noChangeAspect="1"/>
          </p:cNvPicPr>
          <p:nvPr/>
        </p:nvPicPr>
        <p:blipFill>
          <a:blip r:embed="rId4"/>
          <a:srcRect t="909" b="909"/>
          <a:stretch>
            <a:fillRect/>
          </a:stretch>
        </p:blipFill>
        <p:spPr>
          <a:xfrm>
            <a:off x="7315200" y="5102352"/>
            <a:ext cx="2011680" cy="960120"/>
          </a:xfrm>
          <a:prstGeom prst="roundRect">
            <a:avLst>
              <a:gd name="adj" fmla="val 4000"/>
            </a:avLst>
          </a:prstGeom>
          <a:effectLst>
            <a:outerShdw blurRad="177800" dist="38100" dir="5400000" algn="t" rotWithShape="0">
              <a:srgbClr val="1A0507">
                <a:alpha val="14000"/>
              </a:srgbClr>
            </a:outerShdw>
          </a:effectLst>
        </p:spPr>
      </p:pic>
      <p:pic>
        <p:nvPicPr>
          <p:cNvPr id="6" name="!!Th2" descr="Gamme Essentiels"/>
          <p:cNvPicPr>
            <a:picLocks noChangeAspect="1"/>
          </p:cNvPicPr>
          <p:nvPr/>
        </p:nvPicPr>
        <p:blipFill>
          <a:blip r:embed="rId5"/>
          <a:srcRect t="797" b="797"/>
          <a:stretch>
            <a:fillRect/>
          </a:stretch>
        </p:blipFill>
        <p:spPr>
          <a:xfrm>
            <a:off x="9509760" y="5102352"/>
            <a:ext cx="2011680" cy="960120"/>
          </a:xfrm>
          <a:prstGeom prst="roundRect">
            <a:avLst>
              <a:gd name="adj" fmla="val 4000"/>
            </a:avLst>
          </a:prstGeom>
          <a:effectLst>
            <a:outerShdw blurRad="177800" dist="38100" dir="5400000" algn="t" rotWithShape="0">
              <a:srgbClr val="1A0507">
                <a:alpha val="14000"/>
              </a:srgbClr>
            </a:outerShdw>
          </a:effectLst>
        </p:spPr>
      </p:pic>
      <p:sp>
        <p:nvSpPr>
          <p:cNvPr id="7" name="!!Title"/>
          <p:cNvSpPr txBox="1"/>
          <p:nvPr/>
        </p:nvSpPr>
        <p:spPr>
          <a:xfrm>
            <a:off x="685800" y="914400"/>
            <a:ext cx="8229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Accueil et gammes</a:t>
            </a:r>
          </a:p>
        </p:txBody>
      </p:sp>
      <p:sp>
        <p:nvSpPr>
          <p:cNvPr id="8" name="!!Body"/>
          <p:cNvSpPr txBox="1"/>
          <p:nvPr/>
        </p:nvSpPr>
        <p:spPr>
          <a:xfrm>
            <a:off x="685800" y="2057400"/>
            <a:ext cx="3931920" cy="2743200"/>
          </a:xfrm>
          <a:prstGeom prst="rect">
            <a:avLst/>
          </a:prstGeom>
          <a:noFill/>
        </p:spPr>
        <p:txBody>
          <a:bodyPr wrap="square" lIns="0" rIns="0" tIns="0" bIns="0" anchor="t">
            <a:noAutofit/>
          </a:bodyPr>
          <a:lstStyle/>
          <a:p>
            <a:pPr algn="l">
              <a:lnSpc>
                <a:spcPct val="112000"/>
              </a:lnSpc>
              <a:spcAft>
                <a:spcPts val="1200"/>
              </a:spcAft>
            </a:pPr>
            <a:r>
              <a:rPr sz="1650">
                <a:solidFill>
                  <a:srgbClr val="2A070D"/>
                </a:solidFill>
                <a:latin typeface="Montserrat Medium"/>
              </a:rPr>
              <a:t>Une couleur par gamme : bordeaux, or, vert.</a:t>
            </a:r>
          </a:p>
        </p:txBody>
      </p:sp>
      <p:sp>
        <p:nvSpPr>
          <p:cNvPr id="9" name="!!Accent"/>
          <p:cNvSpPr/>
          <p:nvPr/>
        </p:nvSpPr>
        <p:spPr>
          <a:xfrm>
            <a:off x="685800" y="338328"/>
            <a:ext cx="384048" cy="32004"/>
          </a:xfrm>
          <a:prstGeom prst="rect">
            <a:avLst/>
          </a:prstGeom>
          <a:solidFill>
            <a:srgbClr val="F9A825"/>
          </a:solidFill>
          <a:ln>
            <a:noFill/>
          </a:ln>
        </p:spPr>
        <p:txBody>
          <a:bodyPr rtlCol="0" anchor="ctr"/>
          <a:lstStyle/>
          <a:p/>
        </p:txBody>
      </p:sp>
      <p:sp>
        <p:nvSpPr>
          <p:cNvPr id="10"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05 · Interfaces</a:t>
            </a:r>
          </a:p>
        </p:txBody>
      </p:sp>
      <p:sp>
        <p:nvSpPr>
          <p:cNvPr id="11"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38</a:t>
            </a:r>
          </a:p>
        </p:txBody>
      </p:sp>
      <p:sp>
        <p:nvSpPr>
          <p:cNvPr id="12"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13"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14"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15" name="!!Logo" descr="Logo Marin'Or Ivoire"/>
          <p:cNvPicPr>
            <a:picLocks noChangeAspect="1"/>
          </p:cNvPicPr>
          <p:nvPr/>
        </p:nvPicPr>
        <p:blipFill>
          <a:blip r:embed="rId6"/>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decel="100000"/>
                                        <p:tgtEl>
                                          <p:spTgt spid="7"/>
                                        </p:tgtEl>
                                      </p:cBhvr>
                                    </p:animEffect>
                                    <p:anim calcmode="lin" valueType="num">
                                      <p:cBhvr>
                                        <p:cTn id="8" dur="500" decel="100000" fill="hold"/>
                                        <p:tgtEl>
                                          <p:spTgt spid="7"/>
                                        </p:tgtEl>
                                        <p:attrNameLst>
                                          <p:attrName>ppt_x</p:attrName>
                                        </p:attrNameLst>
                                      </p:cBhvr>
                                      <p:tavLst>
                                        <p:tav tm="0">
                                          <p:val>
                                            <p:strVal val="#ppt_x"/>
                                          </p:val>
                                        </p:tav>
                                        <p:tav tm="100000">
                                          <p:val>
                                            <p:strVal val="#ppt_x"/>
                                          </p:val>
                                        </p:tav>
                                      </p:tavLst>
                                    </p:anim>
                                    <p:anim calcmode="lin" valueType="num">
                                      <p:cBhvr>
                                        <p:cTn id="9" dur="500" decel="100000" fill="hold"/>
                                        <p:tgtEl>
                                          <p:spTgt spid="7"/>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decel="100000"/>
                                        <p:tgtEl>
                                          <p:spTgt spid="10"/>
                                        </p:tgtEl>
                                      </p:cBhvr>
                                    </p:animEffect>
                                    <p:anim calcmode="lin" valueType="num">
                                      <p:cBhvr>
                                        <p:cTn id="13" dur="500" decel="100000" fill="hold"/>
                                        <p:tgtEl>
                                          <p:spTgt spid="10"/>
                                        </p:tgtEl>
                                        <p:attrNameLst>
                                          <p:attrName>ppt_x</p:attrName>
                                        </p:attrNameLst>
                                      </p:cBhvr>
                                      <p:tavLst>
                                        <p:tav tm="0">
                                          <p:val>
                                            <p:strVal val="#ppt_x"/>
                                          </p:val>
                                        </p:tav>
                                        <p:tav tm="100000">
                                          <p:val>
                                            <p:strVal val="#ppt_x"/>
                                          </p:val>
                                        </p:tav>
                                      </p:tavLst>
                                    </p:anim>
                                    <p:anim calcmode="lin" valueType="num">
                                      <p:cBhvr>
                                        <p:cTn id="14" dur="500" decel="100000" fill="hold"/>
                                        <p:tgtEl>
                                          <p:spTgt spid="10"/>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12"/>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13"/>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14"/>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400" decel="1000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500" decel="100000"/>
                                        <p:tgtEl>
                                          <p:spTgt spid="3"/>
                                        </p:tgtEl>
                                      </p:cBhvr>
                                    </p:animEffect>
                                    <p:anim calcmode="lin" valueType="num">
                                      <p:cBhvr>
                                        <p:cTn id="31" dur="500" decel="100000" fill="hold"/>
                                        <p:tgtEl>
                                          <p:spTgt spid="3"/>
                                        </p:tgtEl>
                                        <p:attrNameLst>
                                          <p:attrName>ppt_x</p:attrName>
                                        </p:attrNameLst>
                                      </p:cBhvr>
                                      <p:tavLst>
                                        <p:tav tm="0">
                                          <p:val>
                                            <p:strVal val="#ppt_x"/>
                                          </p:val>
                                        </p:tav>
                                        <p:tav tm="100000">
                                          <p:val>
                                            <p:strVal val="#ppt_x"/>
                                          </p:val>
                                        </p:tav>
                                      </p:tavLst>
                                    </p:anim>
                                    <p:anim calcmode="lin" valueType="num">
                                      <p:cBhvr>
                                        <p:cTn id="32" dur="500" decel="100000" fill="hold"/>
                                        <p:tgtEl>
                                          <p:spTgt spid="3"/>
                                        </p:tgtEl>
                                        <p:attrNameLst>
                                          <p:attrName>ppt_y</p:attrName>
                                        </p:attrNameLst>
                                      </p:cBhvr>
                                      <p:tavLst>
                                        <p:tav tm="0">
                                          <p:val>
                                            <p:strVal val="#ppt_y+0.0278"/>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decel="100000"/>
                                        <p:tgtEl>
                                          <p:spTgt spid="8"/>
                                        </p:tgtEl>
                                      </p:cBhvr>
                                    </p:animEffect>
                                    <p:anim calcmode="lin" valueType="num">
                                      <p:cBhvr>
                                        <p:cTn id="38" dur="500" decel="100000" fill="hold"/>
                                        <p:tgtEl>
                                          <p:spTgt spid="8"/>
                                        </p:tgtEl>
                                        <p:attrNameLst>
                                          <p:attrName>ppt_x</p:attrName>
                                        </p:attrNameLst>
                                      </p:cBhvr>
                                      <p:tavLst>
                                        <p:tav tm="0">
                                          <p:val>
                                            <p:strVal val="#ppt_x"/>
                                          </p:val>
                                        </p:tav>
                                        <p:tav tm="100000">
                                          <p:val>
                                            <p:strVal val="#ppt_x"/>
                                          </p:val>
                                        </p:tav>
                                      </p:tavLst>
                                    </p:anim>
                                    <p:anim calcmode="lin" valueType="num">
                                      <p:cBhvr>
                                        <p:cTn id="39" dur="500" decel="100000" fill="hold"/>
                                        <p:tgtEl>
                                          <p:spTgt spid="8"/>
                                        </p:tgtEl>
                                        <p:attrNameLst>
                                          <p:attrName>ppt_y</p:attrName>
                                        </p:attrNameLst>
                                      </p:cBhvr>
                                      <p:tavLst>
                                        <p:tav tm="0">
                                          <p:val>
                                            <p:strVal val="#ppt_y+0.0278"/>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500" decel="100000"/>
                                        <p:tgtEl>
                                          <p:spTgt spid="4"/>
                                        </p:tgtEl>
                                      </p:cBhvr>
                                    </p:animEffect>
                                    <p:anim calcmode="lin" valueType="num">
                                      <p:cBhvr>
                                        <p:cTn id="43" dur="500" decel="100000" fill="hold"/>
                                        <p:tgtEl>
                                          <p:spTgt spid="4"/>
                                        </p:tgtEl>
                                        <p:attrNameLst>
                                          <p:attrName>ppt_x</p:attrName>
                                        </p:attrNameLst>
                                      </p:cBhvr>
                                      <p:tavLst>
                                        <p:tav tm="0">
                                          <p:val>
                                            <p:strVal val="#ppt_x"/>
                                          </p:val>
                                        </p:tav>
                                        <p:tav tm="100000">
                                          <p:val>
                                            <p:strVal val="#ppt_x"/>
                                          </p:val>
                                        </p:tav>
                                      </p:tavLst>
                                    </p:anim>
                                    <p:anim calcmode="lin" valueType="num">
                                      <p:cBhvr>
                                        <p:cTn id="44" dur="500" decel="100000" fill="hold"/>
                                        <p:tgtEl>
                                          <p:spTgt spid="4"/>
                                        </p:tgtEl>
                                        <p:attrNameLst>
                                          <p:attrName>ppt_y</p:attrName>
                                        </p:attrNameLst>
                                      </p:cBhvr>
                                      <p:tavLst>
                                        <p:tav tm="0">
                                          <p:val>
                                            <p:strVal val="#ppt_y+0.0278"/>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fade">
                                      <p:cBhvr>
                                        <p:cTn id="47" dur="500" decel="100000"/>
                                        <p:tgtEl>
                                          <p:spTgt spid="5"/>
                                        </p:tgtEl>
                                      </p:cBhvr>
                                    </p:animEffect>
                                    <p:anim calcmode="lin" valueType="num">
                                      <p:cBhvr>
                                        <p:cTn id="48" dur="500" decel="100000" fill="hold"/>
                                        <p:tgtEl>
                                          <p:spTgt spid="5"/>
                                        </p:tgtEl>
                                        <p:attrNameLst>
                                          <p:attrName>ppt_x</p:attrName>
                                        </p:attrNameLst>
                                      </p:cBhvr>
                                      <p:tavLst>
                                        <p:tav tm="0">
                                          <p:val>
                                            <p:strVal val="#ppt_x"/>
                                          </p:val>
                                        </p:tav>
                                        <p:tav tm="100000">
                                          <p:val>
                                            <p:strVal val="#ppt_x"/>
                                          </p:val>
                                        </p:tav>
                                      </p:tavLst>
                                    </p:anim>
                                    <p:anim calcmode="lin" valueType="num">
                                      <p:cBhvr>
                                        <p:cTn id="49" dur="500" decel="100000" fill="hold"/>
                                        <p:tgtEl>
                                          <p:spTgt spid="5"/>
                                        </p:tgtEl>
                                        <p:attrNameLst>
                                          <p:attrName>ppt_y</p:attrName>
                                        </p:attrNameLst>
                                      </p:cBhvr>
                                      <p:tavLst>
                                        <p:tav tm="0">
                                          <p:val>
                                            <p:strVal val="#ppt_y+0.0278"/>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fade">
                                      <p:cBhvr>
                                        <p:cTn id="52" dur="500" decel="100000"/>
                                        <p:tgtEl>
                                          <p:spTgt spid="6"/>
                                        </p:tgtEl>
                                      </p:cBhvr>
                                    </p:animEffect>
                                    <p:anim calcmode="lin" valueType="num">
                                      <p:cBhvr>
                                        <p:cTn id="53" dur="500" decel="100000" fill="hold"/>
                                        <p:tgtEl>
                                          <p:spTgt spid="6"/>
                                        </p:tgtEl>
                                        <p:attrNameLst>
                                          <p:attrName>ppt_x</p:attrName>
                                        </p:attrNameLst>
                                      </p:cBhvr>
                                      <p:tavLst>
                                        <p:tav tm="0">
                                          <p:val>
                                            <p:strVal val="#ppt_x"/>
                                          </p:val>
                                        </p:tav>
                                        <p:tav tm="100000">
                                          <p:val>
                                            <p:strVal val="#ppt_x"/>
                                          </p:val>
                                        </p:tav>
                                      </p:tavLst>
                                    </p:anim>
                                    <p:anim calcmode="lin" valueType="num">
                                      <p:cBhvr>
                                        <p:cTn id="54" dur="500" decel="100000" fill="hold"/>
                                        <p:tgtEl>
                                          <p:spTgt spid="6"/>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animBg="1"/>
      <p:bldP spid="10" grpId="0"/>
      <p:bldP spid="12" grpId="0" animBg="1"/>
      <p:bldP spid="13" grpId="0" animBg="1"/>
      <p:bldP spid="14" grpId="0" animBg="1"/>
    </p:bld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pic>
        <p:nvPicPr>
          <p:cNvPr id="3" name="!!Hero" descr="Livraison et paiement"/>
          <p:cNvPicPr>
            <a:picLocks noChangeAspect="1"/>
          </p:cNvPicPr>
          <p:nvPr/>
        </p:nvPicPr>
        <p:blipFill>
          <a:blip r:embed="rId2"/>
          <a:srcRect l="889" r="889"/>
          <a:stretch>
            <a:fillRect/>
          </a:stretch>
        </p:blipFill>
        <p:spPr>
          <a:xfrm>
            <a:off x="5120640" y="1783080"/>
            <a:ext cx="6400800" cy="3200400"/>
          </a:xfrm>
          <a:prstGeom prst="roundRect">
            <a:avLst>
              <a:gd name="adj" fmla="val 2000"/>
            </a:avLst>
          </a:prstGeom>
          <a:effectLst>
            <a:outerShdw blurRad="177800" dist="38100" dir="5400000" algn="t" rotWithShape="0">
              <a:srgbClr val="1A0507">
                <a:alpha val="14000"/>
              </a:srgbClr>
            </a:outerShdw>
          </a:effectLst>
        </p:spPr>
      </p:pic>
      <p:pic>
        <p:nvPicPr>
          <p:cNvPr id="4" name="!!Th0" descr="Panier"/>
          <p:cNvPicPr>
            <a:picLocks noChangeAspect="1"/>
          </p:cNvPicPr>
          <p:nvPr/>
        </p:nvPicPr>
        <p:blipFill>
          <a:blip r:embed="rId3"/>
          <a:srcRect t="18308" b="18308"/>
          <a:stretch>
            <a:fillRect/>
          </a:stretch>
        </p:blipFill>
        <p:spPr>
          <a:xfrm>
            <a:off x="5120640" y="5102352"/>
            <a:ext cx="3108960" cy="960120"/>
          </a:xfrm>
          <a:prstGeom prst="roundRect">
            <a:avLst>
              <a:gd name="adj" fmla="val 4000"/>
            </a:avLst>
          </a:prstGeom>
          <a:effectLst>
            <a:outerShdw blurRad="177800" dist="38100" dir="5400000" algn="t" rotWithShape="0">
              <a:srgbClr val="1A0507">
                <a:alpha val="14000"/>
              </a:srgbClr>
            </a:outerShdw>
          </a:effectLst>
        </p:spPr>
      </p:pic>
      <p:pic>
        <p:nvPicPr>
          <p:cNvPr id="5" name="!!Th1" descr="Paiement et confirmation"/>
          <p:cNvPicPr>
            <a:picLocks noChangeAspect="1"/>
          </p:cNvPicPr>
          <p:nvPr/>
        </p:nvPicPr>
        <p:blipFill>
          <a:blip r:embed="rId4"/>
          <a:srcRect t="17979" b="17979"/>
          <a:stretch>
            <a:fillRect/>
          </a:stretch>
        </p:blipFill>
        <p:spPr>
          <a:xfrm>
            <a:off x="8412480" y="5102352"/>
            <a:ext cx="3108960" cy="960120"/>
          </a:xfrm>
          <a:prstGeom prst="roundRect">
            <a:avLst>
              <a:gd name="adj" fmla="val 4000"/>
            </a:avLst>
          </a:prstGeom>
          <a:effectLst>
            <a:outerShdw blurRad="177800" dist="38100" dir="5400000" algn="t" rotWithShape="0">
              <a:srgbClr val="1A0507">
                <a:alpha val="14000"/>
              </a:srgbClr>
            </a:outerShdw>
          </a:effectLst>
        </p:spPr>
      </p:pic>
      <p:sp>
        <p:nvSpPr>
          <p:cNvPr id="6" name="!!Title"/>
          <p:cNvSpPr txBox="1"/>
          <p:nvPr/>
        </p:nvSpPr>
        <p:spPr>
          <a:xfrm>
            <a:off x="685800" y="914400"/>
            <a:ext cx="8229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Commander et payer</a:t>
            </a:r>
          </a:p>
        </p:txBody>
      </p:sp>
      <p:sp>
        <p:nvSpPr>
          <p:cNvPr id="7" name="!!Body"/>
          <p:cNvSpPr txBox="1"/>
          <p:nvPr/>
        </p:nvSpPr>
        <p:spPr>
          <a:xfrm>
            <a:off x="685800" y="2057400"/>
            <a:ext cx="3931920" cy="1371600"/>
          </a:xfrm>
          <a:prstGeom prst="rect">
            <a:avLst/>
          </a:prstGeom>
          <a:noFill/>
        </p:spPr>
        <p:txBody>
          <a:bodyPr wrap="square" lIns="0" rIns="0" tIns="0" bIns="0" anchor="t">
            <a:noAutofit/>
          </a:bodyPr>
          <a:lstStyle/>
          <a:p>
            <a:pPr algn="l">
              <a:lnSpc>
                <a:spcPct val="112000"/>
              </a:lnSpc>
              <a:spcAft>
                <a:spcPts val="800"/>
              </a:spcAft>
            </a:pPr>
            <a:r>
              <a:rPr sz="1650">
                <a:solidFill>
                  <a:srgbClr val="2A070D"/>
                </a:solidFill>
                <a:latin typeface="Montserrat Medium"/>
              </a:rPr>
              <a:t>Paiement mobile money, vérifié par l'administrateur.</a:t>
            </a:r>
          </a:p>
        </p:txBody>
      </p:sp>
      <p:sp>
        <p:nvSpPr>
          <p:cNvPr id="8" name="!!Pill0"/>
          <p:cNvSpPr/>
          <p:nvPr/>
        </p:nvSpPr>
        <p:spPr>
          <a:xfrm>
            <a:off x="685800" y="3977639"/>
            <a:ext cx="1664208" cy="438912"/>
          </a:xfrm>
          <a:prstGeom prst="roundRect">
            <a:avLst>
              <a:gd name="adj" fmla="val 50000"/>
            </a:avLst>
          </a:prstGeom>
          <a:solidFill>
            <a:srgbClr val="F6E8EA"/>
          </a:solidFill>
          <a:ln>
            <a:noFill/>
          </a:ln>
        </p:spPr>
        <p:txBody>
          <a:bodyPr rtlCol="0" anchor="ctr"/>
          <a:lstStyle/>
          <a:p/>
        </p:txBody>
      </p:sp>
      <p:sp>
        <p:nvSpPr>
          <p:cNvPr id="9" name="!!PillT0"/>
          <p:cNvSpPr txBox="1"/>
          <p:nvPr/>
        </p:nvSpPr>
        <p:spPr>
          <a:xfrm>
            <a:off x="685800" y="3977639"/>
            <a:ext cx="1664208" cy="438912"/>
          </a:xfrm>
          <a:prstGeom prst="rect">
            <a:avLst/>
          </a:prstGeom>
          <a:noFill/>
        </p:spPr>
        <p:txBody>
          <a:bodyPr wrap="square" lIns="0" rIns="0" tIns="0" bIns="0" anchor="ctr">
            <a:noAutofit/>
          </a:bodyPr>
          <a:lstStyle/>
          <a:p>
            <a:pPr algn="ctr"/>
            <a:r>
              <a:rPr sz="1200">
                <a:solidFill>
                  <a:srgbClr val="7B1421"/>
                </a:solidFill>
                <a:latin typeface="Montserrat SemiBold"/>
              </a:rPr>
              <a:t>Wave</a:t>
            </a:r>
          </a:p>
        </p:txBody>
      </p:sp>
      <p:sp>
        <p:nvSpPr>
          <p:cNvPr id="10" name="!!Pill1"/>
          <p:cNvSpPr/>
          <p:nvPr/>
        </p:nvSpPr>
        <p:spPr>
          <a:xfrm>
            <a:off x="2468880" y="3977639"/>
            <a:ext cx="1664208" cy="438912"/>
          </a:xfrm>
          <a:prstGeom prst="roundRect">
            <a:avLst>
              <a:gd name="adj" fmla="val 50000"/>
            </a:avLst>
          </a:prstGeom>
          <a:solidFill>
            <a:srgbClr val="F6E8EA"/>
          </a:solidFill>
          <a:ln>
            <a:noFill/>
          </a:ln>
        </p:spPr>
        <p:txBody>
          <a:bodyPr rtlCol="0" anchor="ctr"/>
          <a:lstStyle/>
          <a:p/>
        </p:txBody>
      </p:sp>
      <p:sp>
        <p:nvSpPr>
          <p:cNvPr id="11" name="!!PillT1"/>
          <p:cNvSpPr txBox="1"/>
          <p:nvPr/>
        </p:nvSpPr>
        <p:spPr>
          <a:xfrm>
            <a:off x="2468880" y="3977639"/>
            <a:ext cx="1664208" cy="438912"/>
          </a:xfrm>
          <a:prstGeom prst="rect">
            <a:avLst/>
          </a:prstGeom>
          <a:noFill/>
        </p:spPr>
        <p:txBody>
          <a:bodyPr wrap="square" lIns="0" rIns="0" tIns="0" bIns="0" anchor="ctr">
            <a:noAutofit/>
          </a:bodyPr>
          <a:lstStyle/>
          <a:p>
            <a:pPr algn="ctr"/>
            <a:r>
              <a:rPr sz="1200">
                <a:solidFill>
                  <a:srgbClr val="7B1421"/>
                </a:solidFill>
                <a:latin typeface="Montserrat SemiBold"/>
              </a:rPr>
              <a:t>Orange Money</a:t>
            </a:r>
          </a:p>
        </p:txBody>
      </p:sp>
      <p:sp>
        <p:nvSpPr>
          <p:cNvPr id="12" name="!!Pill2"/>
          <p:cNvSpPr/>
          <p:nvPr/>
        </p:nvSpPr>
        <p:spPr>
          <a:xfrm>
            <a:off x="685800" y="4544567"/>
            <a:ext cx="1664208" cy="438912"/>
          </a:xfrm>
          <a:prstGeom prst="roundRect">
            <a:avLst>
              <a:gd name="adj" fmla="val 50000"/>
            </a:avLst>
          </a:prstGeom>
          <a:solidFill>
            <a:srgbClr val="F6E8EA"/>
          </a:solidFill>
          <a:ln>
            <a:noFill/>
          </a:ln>
        </p:spPr>
        <p:txBody>
          <a:bodyPr rtlCol="0" anchor="ctr"/>
          <a:lstStyle/>
          <a:p/>
        </p:txBody>
      </p:sp>
      <p:sp>
        <p:nvSpPr>
          <p:cNvPr id="13" name="!!PillT2"/>
          <p:cNvSpPr txBox="1"/>
          <p:nvPr/>
        </p:nvSpPr>
        <p:spPr>
          <a:xfrm>
            <a:off x="685800" y="4544567"/>
            <a:ext cx="1664208" cy="438912"/>
          </a:xfrm>
          <a:prstGeom prst="rect">
            <a:avLst/>
          </a:prstGeom>
          <a:noFill/>
        </p:spPr>
        <p:txBody>
          <a:bodyPr wrap="square" lIns="0" rIns="0" tIns="0" bIns="0" anchor="ctr">
            <a:noAutofit/>
          </a:bodyPr>
          <a:lstStyle/>
          <a:p>
            <a:pPr algn="ctr"/>
            <a:r>
              <a:rPr sz="1200">
                <a:solidFill>
                  <a:srgbClr val="7B1421"/>
                </a:solidFill>
                <a:latin typeface="Montserrat SemiBold"/>
              </a:rPr>
              <a:t>Moov Money</a:t>
            </a:r>
          </a:p>
        </p:txBody>
      </p:sp>
      <p:sp>
        <p:nvSpPr>
          <p:cNvPr id="14" name="!!Pill3"/>
          <p:cNvSpPr/>
          <p:nvPr/>
        </p:nvSpPr>
        <p:spPr>
          <a:xfrm>
            <a:off x="2468880" y="4544567"/>
            <a:ext cx="1664208" cy="438912"/>
          </a:xfrm>
          <a:prstGeom prst="roundRect">
            <a:avLst>
              <a:gd name="adj" fmla="val 50000"/>
            </a:avLst>
          </a:prstGeom>
          <a:solidFill>
            <a:srgbClr val="F6E8EA"/>
          </a:solidFill>
          <a:ln>
            <a:noFill/>
          </a:ln>
        </p:spPr>
        <p:txBody>
          <a:bodyPr rtlCol="0" anchor="ctr"/>
          <a:lstStyle/>
          <a:p/>
        </p:txBody>
      </p:sp>
      <p:sp>
        <p:nvSpPr>
          <p:cNvPr id="15" name="!!PillT3"/>
          <p:cNvSpPr txBox="1"/>
          <p:nvPr/>
        </p:nvSpPr>
        <p:spPr>
          <a:xfrm>
            <a:off x="2468880" y="4544567"/>
            <a:ext cx="1664208" cy="438912"/>
          </a:xfrm>
          <a:prstGeom prst="rect">
            <a:avLst/>
          </a:prstGeom>
          <a:noFill/>
        </p:spPr>
        <p:txBody>
          <a:bodyPr wrap="square" lIns="0" rIns="0" tIns="0" bIns="0" anchor="ctr">
            <a:noAutofit/>
          </a:bodyPr>
          <a:lstStyle/>
          <a:p>
            <a:pPr algn="ctr"/>
            <a:r>
              <a:rPr sz="1200">
                <a:solidFill>
                  <a:srgbClr val="7B1421"/>
                </a:solidFill>
                <a:latin typeface="Montserrat SemiBold"/>
              </a:rPr>
              <a:t>Djamo</a:t>
            </a:r>
          </a:p>
        </p:txBody>
      </p:sp>
      <p:sp>
        <p:nvSpPr>
          <p:cNvPr id="16" name="!!Accent"/>
          <p:cNvSpPr/>
          <p:nvPr/>
        </p:nvSpPr>
        <p:spPr>
          <a:xfrm>
            <a:off x="685800" y="338328"/>
            <a:ext cx="384048" cy="32004"/>
          </a:xfrm>
          <a:prstGeom prst="rect">
            <a:avLst/>
          </a:prstGeom>
          <a:solidFill>
            <a:srgbClr val="F9A825"/>
          </a:solidFill>
          <a:ln>
            <a:noFill/>
          </a:ln>
        </p:spPr>
        <p:txBody>
          <a:bodyPr rtlCol="0" anchor="ctr"/>
          <a:lstStyle/>
          <a:p/>
        </p:txBody>
      </p:sp>
      <p:sp>
        <p:nvSpPr>
          <p:cNvPr id="17"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05 · Fonctionnalités</a:t>
            </a:r>
          </a:p>
        </p:txBody>
      </p:sp>
      <p:sp>
        <p:nvSpPr>
          <p:cNvPr id="18"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39</a:t>
            </a:r>
          </a:p>
        </p:txBody>
      </p:sp>
      <p:sp>
        <p:nvSpPr>
          <p:cNvPr id="19"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20"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21"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22" name="!!Logo" descr="Logo Marin'Or Ivoire"/>
          <p:cNvPicPr>
            <a:picLocks noChangeAspect="1"/>
          </p:cNvPicPr>
          <p:nvPr/>
        </p:nvPicPr>
        <p:blipFill>
          <a:blip r:embed="rId5"/>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decel="100000"/>
                                        <p:tgtEl>
                                          <p:spTgt spid="6"/>
                                        </p:tgtEl>
                                      </p:cBhvr>
                                    </p:animEffect>
                                    <p:anim calcmode="lin" valueType="num">
                                      <p:cBhvr>
                                        <p:cTn id="8" dur="500" decel="100000" fill="hold"/>
                                        <p:tgtEl>
                                          <p:spTgt spid="6"/>
                                        </p:tgtEl>
                                        <p:attrNameLst>
                                          <p:attrName>ppt_x</p:attrName>
                                        </p:attrNameLst>
                                      </p:cBhvr>
                                      <p:tavLst>
                                        <p:tav tm="0">
                                          <p:val>
                                            <p:strVal val="#ppt_x"/>
                                          </p:val>
                                        </p:tav>
                                        <p:tav tm="100000">
                                          <p:val>
                                            <p:strVal val="#ppt_x"/>
                                          </p:val>
                                        </p:tav>
                                      </p:tavLst>
                                    </p:anim>
                                    <p:anim calcmode="lin" valueType="num">
                                      <p:cBhvr>
                                        <p:cTn id="9" dur="500" decel="100000" fill="hold"/>
                                        <p:tgtEl>
                                          <p:spTgt spid="6"/>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decel="100000"/>
                                        <p:tgtEl>
                                          <p:spTgt spid="17"/>
                                        </p:tgtEl>
                                      </p:cBhvr>
                                    </p:animEffect>
                                    <p:anim calcmode="lin" valueType="num">
                                      <p:cBhvr>
                                        <p:cTn id="13" dur="500" decel="100000" fill="hold"/>
                                        <p:tgtEl>
                                          <p:spTgt spid="17"/>
                                        </p:tgtEl>
                                        <p:attrNameLst>
                                          <p:attrName>ppt_x</p:attrName>
                                        </p:attrNameLst>
                                      </p:cBhvr>
                                      <p:tavLst>
                                        <p:tav tm="0">
                                          <p:val>
                                            <p:strVal val="#ppt_x"/>
                                          </p:val>
                                        </p:tav>
                                        <p:tav tm="100000">
                                          <p:val>
                                            <p:strVal val="#ppt_x"/>
                                          </p:val>
                                        </p:tav>
                                      </p:tavLst>
                                    </p:anim>
                                    <p:anim calcmode="lin" valueType="num">
                                      <p:cBhvr>
                                        <p:cTn id="14" dur="500" decel="100000" fill="hold"/>
                                        <p:tgtEl>
                                          <p:spTgt spid="17"/>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19"/>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20"/>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21"/>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left)">
                                      <p:cBhvr>
                                        <p:cTn id="24" dur="400" decel="1000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500" decel="100000"/>
                                        <p:tgtEl>
                                          <p:spTgt spid="3"/>
                                        </p:tgtEl>
                                      </p:cBhvr>
                                    </p:animEffect>
                                    <p:anim calcmode="lin" valueType="num">
                                      <p:cBhvr>
                                        <p:cTn id="31" dur="500" decel="100000" fill="hold"/>
                                        <p:tgtEl>
                                          <p:spTgt spid="3"/>
                                        </p:tgtEl>
                                        <p:attrNameLst>
                                          <p:attrName>ppt_x</p:attrName>
                                        </p:attrNameLst>
                                      </p:cBhvr>
                                      <p:tavLst>
                                        <p:tav tm="0">
                                          <p:val>
                                            <p:strVal val="#ppt_x"/>
                                          </p:val>
                                        </p:tav>
                                        <p:tav tm="100000">
                                          <p:val>
                                            <p:strVal val="#ppt_x"/>
                                          </p:val>
                                        </p:tav>
                                      </p:tavLst>
                                    </p:anim>
                                    <p:anim calcmode="lin" valueType="num">
                                      <p:cBhvr>
                                        <p:cTn id="32" dur="500" decel="100000" fill="hold"/>
                                        <p:tgtEl>
                                          <p:spTgt spid="3"/>
                                        </p:tgtEl>
                                        <p:attrNameLst>
                                          <p:attrName>ppt_y</p:attrName>
                                        </p:attrNameLst>
                                      </p:cBhvr>
                                      <p:tavLst>
                                        <p:tav tm="0">
                                          <p:val>
                                            <p:strVal val="#ppt_y+0.027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decel="100000"/>
                                        <p:tgtEl>
                                          <p:spTgt spid="7"/>
                                        </p:tgtEl>
                                      </p:cBhvr>
                                    </p:animEffect>
                                    <p:anim calcmode="lin" valueType="num">
                                      <p:cBhvr>
                                        <p:cTn id="36" dur="500" decel="100000" fill="hold"/>
                                        <p:tgtEl>
                                          <p:spTgt spid="7"/>
                                        </p:tgtEl>
                                        <p:attrNameLst>
                                          <p:attrName>ppt_x</p:attrName>
                                        </p:attrNameLst>
                                      </p:cBhvr>
                                      <p:tavLst>
                                        <p:tav tm="0">
                                          <p:val>
                                            <p:strVal val="#ppt_x"/>
                                          </p:val>
                                        </p:tav>
                                        <p:tav tm="100000">
                                          <p:val>
                                            <p:strVal val="#ppt_x"/>
                                          </p:val>
                                        </p:tav>
                                      </p:tavLst>
                                    </p:anim>
                                    <p:anim calcmode="lin" valueType="num">
                                      <p:cBhvr>
                                        <p:cTn id="37" dur="500" decel="100000" fill="hold"/>
                                        <p:tgtEl>
                                          <p:spTgt spid="7"/>
                                        </p:tgtEl>
                                        <p:attrNameLst>
                                          <p:attrName>ppt_y</p:attrName>
                                        </p:attrNameLst>
                                      </p:cBhvr>
                                      <p:tavLst>
                                        <p:tav tm="0">
                                          <p:val>
                                            <p:strVal val="#ppt_y+0.0278"/>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500" decel="100000"/>
                                        <p:tgtEl>
                                          <p:spTgt spid="8"/>
                                        </p:tgtEl>
                                      </p:cBhvr>
                                    </p:animEffect>
                                    <p:anim calcmode="lin" valueType="num">
                                      <p:cBhvr>
                                        <p:cTn id="43" dur="500" decel="100000" fill="hold"/>
                                        <p:tgtEl>
                                          <p:spTgt spid="8"/>
                                        </p:tgtEl>
                                        <p:attrNameLst>
                                          <p:attrName>ppt_x</p:attrName>
                                        </p:attrNameLst>
                                      </p:cBhvr>
                                      <p:tavLst>
                                        <p:tav tm="0">
                                          <p:val>
                                            <p:strVal val="#ppt_x"/>
                                          </p:val>
                                        </p:tav>
                                        <p:tav tm="100000">
                                          <p:val>
                                            <p:strVal val="#ppt_x"/>
                                          </p:val>
                                        </p:tav>
                                      </p:tavLst>
                                    </p:anim>
                                    <p:anim calcmode="lin" valueType="num">
                                      <p:cBhvr>
                                        <p:cTn id="44" dur="500" decel="100000" fill="hold"/>
                                        <p:tgtEl>
                                          <p:spTgt spid="8"/>
                                        </p:tgtEl>
                                        <p:attrNameLst>
                                          <p:attrName>ppt_y</p:attrName>
                                        </p:attrNameLst>
                                      </p:cBhvr>
                                      <p:tavLst>
                                        <p:tav tm="0">
                                          <p:val>
                                            <p:strVal val="#ppt_y+0.0278"/>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00" decel="100000"/>
                                        <p:tgtEl>
                                          <p:spTgt spid="9"/>
                                        </p:tgtEl>
                                      </p:cBhvr>
                                    </p:animEffect>
                                    <p:anim calcmode="lin" valueType="num">
                                      <p:cBhvr>
                                        <p:cTn id="48" dur="500" decel="100000" fill="hold"/>
                                        <p:tgtEl>
                                          <p:spTgt spid="9"/>
                                        </p:tgtEl>
                                        <p:attrNameLst>
                                          <p:attrName>ppt_x</p:attrName>
                                        </p:attrNameLst>
                                      </p:cBhvr>
                                      <p:tavLst>
                                        <p:tav tm="0">
                                          <p:val>
                                            <p:strVal val="#ppt_x"/>
                                          </p:val>
                                        </p:tav>
                                        <p:tav tm="100000">
                                          <p:val>
                                            <p:strVal val="#ppt_x"/>
                                          </p:val>
                                        </p:tav>
                                      </p:tavLst>
                                    </p:anim>
                                    <p:anim calcmode="lin" valueType="num">
                                      <p:cBhvr>
                                        <p:cTn id="49" dur="500" decel="100000" fill="hold"/>
                                        <p:tgtEl>
                                          <p:spTgt spid="9"/>
                                        </p:tgtEl>
                                        <p:attrNameLst>
                                          <p:attrName>ppt_y</p:attrName>
                                        </p:attrNameLst>
                                      </p:cBhvr>
                                      <p:tavLst>
                                        <p:tav tm="0">
                                          <p:val>
                                            <p:strVal val="#ppt_y+0.0278"/>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fade">
                                      <p:cBhvr>
                                        <p:cTn id="52" dur="500" decel="100000"/>
                                        <p:tgtEl>
                                          <p:spTgt spid="10"/>
                                        </p:tgtEl>
                                      </p:cBhvr>
                                    </p:animEffect>
                                    <p:anim calcmode="lin" valueType="num">
                                      <p:cBhvr>
                                        <p:cTn id="53" dur="500" decel="100000" fill="hold"/>
                                        <p:tgtEl>
                                          <p:spTgt spid="10"/>
                                        </p:tgtEl>
                                        <p:attrNameLst>
                                          <p:attrName>ppt_x</p:attrName>
                                        </p:attrNameLst>
                                      </p:cBhvr>
                                      <p:tavLst>
                                        <p:tav tm="0">
                                          <p:val>
                                            <p:strVal val="#ppt_x"/>
                                          </p:val>
                                        </p:tav>
                                        <p:tav tm="100000">
                                          <p:val>
                                            <p:strVal val="#ppt_x"/>
                                          </p:val>
                                        </p:tav>
                                      </p:tavLst>
                                    </p:anim>
                                    <p:anim calcmode="lin" valueType="num">
                                      <p:cBhvr>
                                        <p:cTn id="54" dur="500" decel="100000" fill="hold"/>
                                        <p:tgtEl>
                                          <p:spTgt spid="10"/>
                                        </p:tgtEl>
                                        <p:attrNameLst>
                                          <p:attrName>ppt_y</p:attrName>
                                        </p:attrNameLst>
                                      </p:cBhvr>
                                      <p:tavLst>
                                        <p:tav tm="0">
                                          <p:val>
                                            <p:strVal val="#ppt_y+0.0278"/>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fade">
                                      <p:cBhvr>
                                        <p:cTn id="57" dur="500" decel="100000"/>
                                        <p:tgtEl>
                                          <p:spTgt spid="11"/>
                                        </p:tgtEl>
                                      </p:cBhvr>
                                    </p:animEffect>
                                    <p:anim calcmode="lin" valueType="num">
                                      <p:cBhvr>
                                        <p:cTn id="58" dur="500" decel="100000" fill="hold"/>
                                        <p:tgtEl>
                                          <p:spTgt spid="11"/>
                                        </p:tgtEl>
                                        <p:attrNameLst>
                                          <p:attrName>ppt_x</p:attrName>
                                        </p:attrNameLst>
                                      </p:cBhvr>
                                      <p:tavLst>
                                        <p:tav tm="0">
                                          <p:val>
                                            <p:strVal val="#ppt_x"/>
                                          </p:val>
                                        </p:tav>
                                        <p:tav tm="100000">
                                          <p:val>
                                            <p:strVal val="#ppt_x"/>
                                          </p:val>
                                        </p:tav>
                                      </p:tavLst>
                                    </p:anim>
                                    <p:anim calcmode="lin" valueType="num">
                                      <p:cBhvr>
                                        <p:cTn id="59" dur="500" decel="100000" fill="hold"/>
                                        <p:tgtEl>
                                          <p:spTgt spid="11"/>
                                        </p:tgtEl>
                                        <p:attrNameLst>
                                          <p:attrName>ppt_y</p:attrName>
                                        </p:attrNameLst>
                                      </p:cBhvr>
                                      <p:tavLst>
                                        <p:tav tm="0">
                                          <p:val>
                                            <p:strVal val="#ppt_y+0.0278"/>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fade">
                                      <p:cBhvr>
                                        <p:cTn id="62" dur="500" decel="100000"/>
                                        <p:tgtEl>
                                          <p:spTgt spid="12"/>
                                        </p:tgtEl>
                                      </p:cBhvr>
                                    </p:animEffect>
                                    <p:anim calcmode="lin" valueType="num">
                                      <p:cBhvr>
                                        <p:cTn id="63" dur="500" decel="100000" fill="hold"/>
                                        <p:tgtEl>
                                          <p:spTgt spid="12"/>
                                        </p:tgtEl>
                                        <p:attrNameLst>
                                          <p:attrName>ppt_x</p:attrName>
                                        </p:attrNameLst>
                                      </p:cBhvr>
                                      <p:tavLst>
                                        <p:tav tm="0">
                                          <p:val>
                                            <p:strVal val="#ppt_x"/>
                                          </p:val>
                                        </p:tav>
                                        <p:tav tm="100000">
                                          <p:val>
                                            <p:strVal val="#ppt_x"/>
                                          </p:val>
                                        </p:tav>
                                      </p:tavLst>
                                    </p:anim>
                                    <p:anim calcmode="lin" valueType="num">
                                      <p:cBhvr>
                                        <p:cTn id="64" dur="500" decel="100000" fill="hold"/>
                                        <p:tgtEl>
                                          <p:spTgt spid="12"/>
                                        </p:tgtEl>
                                        <p:attrNameLst>
                                          <p:attrName>ppt_y</p:attrName>
                                        </p:attrNameLst>
                                      </p:cBhvr>
                                      <p:tavLst>
                                        <p:tav tm="0">
                                          <p:val>
                                            <p:strVal val="#ppt_y+0.0278"/>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fade">
                                      <p:cBhvr>
                                        <p:cTn id="67" dur="500" decel="100000"/>
                                        <p:tgtEl>
                                          <p:spTgt spid="13"/>
                                        </p:tgtEl>
                                      </p:cBhvr>
                                    </p:animEffect>
                                    <p:anim calcmode="lin" valueType="num">
                                      <p:cBhvr>
                                        <p:cTn id="68" dur="500" decel="100000" fill="hold"/>
                                        <p:tgtEl>
                                          <p:spTgt spid="13"/>
                                        </p:tgtEl>
                                        <p:attrNameLst>
                                          <p:attrName>ppt_x</p:attrName>
                                        </p:attrNameLst>
                                      </p:cBhvr>
                                      <p:tavLst>
                                        <p:tav tm="0">
                                          <p:val>
                                            <p:strVal val="#ppt_x"/>
                                          </p:val>
                                        </p:tav>
                                        <p:tav tm="100000">
                                          <p:val>
                                            <p:strVal val="#ppt_x"/>
                                          </p:val>
                                        </p:tav>
                                      </p:tavLst>
                                    </p:anim>
                                    <p:anim calcmode="lin" valueType="num">
                                      <p:cBhvr>
                                        <p:cTn id="69" dur="500" decel="100000" fill="hold"/>
                                        <p:tgtEl>
                                          <p:spTgt spid="13"/>
                                        </p:tgtEl>
                                        <p:attrNameLst>
                                          <p:attrName>ppt_y</p:attrName>
                                        </p:attrNameLst>
                                      </p:cBhvr>
                                      <p:tavLst>
                                        <p:tav tm="0">
                                          <p:val>
                                            <p:strVal val="#ppt_y+0.0278"/>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fade">
                                      <p:cBhvr>
                                        <p:cTn id="72" dur="500" decel="100000"/>
                                        <p:tgtEl>
                                          <p:spTgt spid="14"/>
                                        </p:tgtEl>
                                      </p:cBhvr>
                                    </p:animEffect>
                                    <p:anim calcmode="lin" valueType="num">
                                      <p:cBhvr>
                                        <p:cTn id="73" dur="500" decel="100000" fill="hold"/>
                                        <p:tgtEl>
                                          <p:spTgt spid="14"/>
                                        </p:tgtEl>
                                        <p:attrNameLst>
                                          <p:attrName>ppt_x</p:attrName>
                                        </p:attrNameLst>
                                      </p:cBhvr>
                                      <p:tavLst>
                                        <p:tav tm="0">
                                          <p:val>
                                            <p:strVal val="#ppt_x"/>
                                          </p:val>
                                        </p:tav>
                                        <p:tav tm="100000">
                                          <p:val>
                                            <p:strVal val="#ppt_x"/>
                                          </p:val>
                                        </p:tav>
                                      </p:tavLst>
                                    </p:anim>
                                    <p:anim calcmode="lin" valueType="num">
                                      <p:cBhvr>
                                        <p:cTn id="74" dur="500" decel="100000" fill="hold"/>
                                        <p:tgtEl>
                                          <p:spTgt spid="14"/>
                                        </p:tgtEl>
                                        <p:attrNameLst>
                                          <p:attrName>ppt_y</p:attrName>
                                        </p:attrNameLst>
                                      </p:cBhvr>
                                      <p:tavLst>
                                        <p:tav tm="0">
                                          <p:val>
                                            <p:strVal val="#ppt_y+0.0278"/>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Effect transition="in" filter="fade">
                                      <p:cBhvr>
                                        <p:cTn id="77" dur="500" decel="100000"/>
                                        <p:tgtEl>
                                          <p:spTgt spid="15"/>
                                        </p:tgtEl>
                                      </p:cBhvr>
                                    </p:animEffect>
                                    <p:anim calcmode="lin" valueType="num">
                                      <p:cBhvr>
                                        <p:cTn id="78" dur="500" decel="100000" fill="hold"/>
                                        <p:tgtEl>
                                          <p:spTgt spid="15"/>
                                        </p:tgtEl>
                                        <p:attrNameLst>
                                          <p:attrName>ppt_x</p:attrName>
                                        </p:attrNameLst>
                                      </p:cBhvr>
                                      <p:tavLst>
                                        <p:tav tm="0">
                                          <p:val>
                                            <p:strVal val="#ppt_x"/>
                                          </p:val>
                                        </p:tav>
                                        <p:tav tm="100000">
                                          <p:val>
                                            <p:strVal val="#ppt_x"/>
                                          </p:val>
                                        </p:tav>
                                      </p:tavLst>
                                    </p:anim>
                                    <p:anim calcmode="lin" valueType="num">
                                      <p:cBhvr>
                                        <p:cTn id="79" dur="500" decel="100000" fill="hold"/>
                                        <p:tgtEl>
                                          <p:spTgt spid="15"/>
                                        </p:tgtEl>
                                        <p:attrNameLst>
                                          <p:attrName>ppt_y</p:attrName>
                                        </p:attrNameLst>
                                      </p:cBhvr>
                                      <p:tavLst>
                                        <p:tav tm="0">
                                          <p:val>
                                            <p:strVal val="#ppt_y+0.0278"/>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4"/>
                                        </p:tgtEl>
                                        <p:attrNameLst>
                                          <p:attrName>style.visibility</p:attrName>
                                        </p:attrNameLst>
                                      </p:cBhvr>
                                      <p:to>
                                        <p:strVal val="visible"/>
                                      </p:to>
                                    </p:set>
                                    <p:animEffect transition="in" filter="fade">
                                      <p:cBhvr>
                                        <p:cTn id="84" dur="500" decel="100000"/>
                                        <p:tgtEl>
                                          <p:spTgt spid="4"/>
                                        </p:tgtEl>
                                      </p:cBhvr>
                                    </p:animEffect>
                                    <p:anim calcmode="lin" valueType="num">
                                      <p:cBhvr>
                                        <p:cTn id="85" dur="500" decel="100000" fill="hold"/>
                                        <p:tgtEl>
                                          <p:spTgt spid="4"/>
                                        </p:tgtEl>
                                        <p:attrNameLst>
                                          <p:attrName>ppt_x</p:attrName>
                                        </p:attrNameLst>
                                      </p:cBhvr>
                                      <p:tavLst>
                                        <p:tav tm="0">
                                          <p:val>
                                            <p:strVal val="#ppt_x"/>
                                          </p:val>
                                        </p:tav>
                                        <p:tav tm="100000">
                                          <p:val>
                                            <p:strVal val="#ppt_x"/>
                                          </p:val>
                                        </p:tav>
                                      </p:tavLst>
                                    </p:anim>
                                    <p:anim calcmode="lin" valueType="num">
                                      <p:cBhvr>
                                        <p:cTn id="86" dur="500" decel="100000" fill="hold"/>
                                        <p:tgtEl>
                                          <p:spTgt spid="4"/>
                                        </p:tgtEl>
                                        <p:attrNameLst>
                                          <p:attrName>ppt_y</p:attrName>
                                        </p:attrNameLst>
                                      </p:cBhvr>
                                      <p:tavLst>
                                        <p:tav tm="0">
                                          <p:val>
                                            <p:strVal val="#ppt_y+0.0278"/>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5"/>
                                        </p:tgtEl>
                                        <p:attrNameLst>
                                          <p:attrName>style.visibility</p:attrName>
                                        </p:attrNameLst>
                                      </p:cBhvr>
                                      <p:to>
                                        <p:strVal val="visible"/>
                                      </p:to>
                                    </p:set>
                                    <p:animEffect transition="in" filter="fade">
                                      <p:cBhvr>
                                        <p:cTn id="89" dur="500" decel="100000"/>
                                        <p:tgtEl>
                                          <p:spTgt spid="5"/>
                                        </p:tgtEl>
                                      </p:cBhvr>
                                    </p:animEffect>
                                    <p:anim calcmode="lin" valueType="num">
                                      <p:cBhvr>
                                        <p:cTn id="90" dur="500" decel="100000" fill="hold"/>
                                        <p:tgtEl>
                                          <p:spTgt spid="5"/>
                                        </p:tgtEl>
                                        <p:attrNameLst>
                                          <p:attrName>ppt_x</p:attrName>
                                        </p:attrNameLst>
                                      </p:cBhvr>
                                      <p:tavLst>
                                        <p:tav tm="0">
                                          <p:val>
                                            <p:strVal val="#ppt_x"/>
                                          </p:val>
                                        </p:tav>
                                        <p:tav tm="100000">
                                          <p:val>
                                            <p:strVal val="#ppt_x"/>
                                          </p:val>
                                        </p:tav>
                                      </p:tavLst>
                                    </p:anim>
                                    <p:anim calcmode="lin" valueType="num">
                                      <p:cBhvr>
                                        <p:cTn id="91" dur="500" decel="100000" fill="hold"/>
                                        <p:tgtEl>
                                          <p:spTgt spid="5"/>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animBg="1"/>
      <p:bldP spid="9" grpId="0"/>
      <p:bldP spid="10" grpId="0" animBg="1"/>
      <p:bldP spid="11" grpId="0"/>
      <p:bldP spid="12" grpId="0" animBg="1"/>
      <p:bldP spid="13" grpId="0"/>
      <p:bldP spid="14" grpId="0" animBg="1"/>
      <p:bldP spid="15" grpId="0"/>
      <p:bldP spid="16" grpId="0" animBg="1"/>
      <p:bldP spid="17" grpId="0"/>
      <p:bldP spid="19" grpId="0" animBg="1"/>
      <p:bldP spid="20" grpId="0" animBg="1"/>
      <p:bldP spid="21"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pic>
        <p:nvPicPr>
          <p:cNvPr id="3" name="!!Hero" descr="Tableau de bord de l'administrateur"/>
          <p:cNvPicPr>
            <a:picLocks noChangeAspect="1"/>
          </p:cNvPicPr>
          <p:nvPr/>
        </p:nvPicPr>
        <p:blipFill>
          <a:blip r:embed="rId2"/>
          <a:srcRect l="1444" r="1444"/>
          <a:stretch>
            <a:fillRect/>
          </a:stretch>
        </p:blipFill>
        <p:spPr>
          <a:xfrm>
            <a:off x="5120640" y="1783080"/>
            <a:ext cx="6400800" cy="3200400"/>
          </a:xfrm>
          <a:prstGeom prst="roundRect">
            <a:avLst>
              <a:gd name="adj" fmla="val 2000"/>
            </a:avLst>
          </a:prstGeom>
          <a:effectLst>
            <a:outerShdw blurRad="177800" dist="38100" dir="5400000" algn="t" rotWithShape="0">
              <a:srgbClr val="1A0507">
                <a:alpha val="14000"/>
              </a:srgbClr>
            </a:outerShdw>
          </a:effectLst>
        </p:spPr>
      </p:pic>
      <p:pic>
        <p:nvPicPr>
          <p:cNvPr id="4" name="!!Th0" descr="Liste des commandes"/>
          <p:cNvPicPr>
            <a:picLocks noChangeAspect="1"/>
          </p:cNvPicPr>
          <p:nvPr/>
        </p:nvPicPr>
        <p:blipFill>
          <a:blip r:embed="rId3"/>
          <a:srcRect t="18487" b="18487"/>
          <a:stretch>
            <a:fillRect/>
          </a:stretch>
        </p:blipFill>
        <p:spPr>
          <a:xfrm>
            <a:off x="5120640" y="5102352"/>
            <a:ext cx="3108960" cy="960120"/>
          </a:xfrm>
          <a:prstGeom prst="roundRect">
            <a:avLst>
              <a:gd name="adj" fmla="val 4000"/>
            </a:avLst>
          </a:prstGeom>
          <a:effectLst>
            <a:outerShdw blurRad="177800" dist="38100" dir="5400000" algn="t" rotWithShape="0">
              <a:srgbClr val="1A0507">
                <a:alpha val="14000"/>
              </a:srgbClr>
            </a:outerShdw>
          </a:effectLst>
        </p:spPr>
      </p:pic>
      <p:pic>
        <p:nvPicPr>
          <p:cNvPr id="5" name="!!Th1" descr="Liste des produits"/>
          <p:cNvPicPr>
            <a:picLocks noChangeAspect="1"/>
          </p:cNvPicPr>
          <p:nvPr/>
        </p:nvPicPr>
        <p:blipFill>
          <a:blip r:embed="rId4"/>
          <a:srcRect t="18344" b="18344"/>
          <a:stretch>
            <a:fillRect/>
          </a:stretch>
        </p:blipFill>
        <p:spPr>
          <a:xfrm>
            <a:off x="8412480" y="5102352"/>
            <a:ext cx="3108960" cy="960120"/>
          </a:xfrm>
          <a:prstGeom prst="roundRect">
            <a:avLst>
              <a:gd name="adj" fmla="val 4000"/>
            </a:avLst>
          </a:prstGeom>
          <a:effectLst>
            <a:outerShdw blurRad="177800" dist="38100" dir="5400000" algn="t" rotWithShape="0">
              <a:srgbClr val="1A0507">
                <a:alpha val="14000"/>
              </a:srgbClr>
            </a:outerShdw>
          </a:effectLst>
        </p:spPr>
      </p:pic>
      <p:sp>
        <p:nvSpPr>
          <p:cNvPr id="6" name="!!Title"/>
          <p:cNvSpPr txBox="1"/>
          <p:nvPr/>
        </p:nvSpPr>
        <p:spPr>
          <a:xfrm>
            <a:off x="685800" y="914400"/>
            <a:ext cx="8229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Le back-office</a:t>
            </a:r>
          </a:p>
        </p:txBody>
      </p:sp>
      <p:sp>
        <p:nvSpPr>
          <p:cNvPr id="7" name="!!Body"/>
          <p:cNvSpPr txBox="1"/>
          <p:nvPr/>
        </p:nvSpPr>
        <p:spPr>
          <a:xfrm>
            <a:off x="685800" y="2057400"/>
            <a:ext cx="3931920" cy="2286000"/>
          </a:xfrm>
          <a:prstGeom prst="rect">
            <a:avLst/>
          </a:prstGeom>
          <a:noFill/>
        </p:spPr>
        <p:txBody>
          <a:bodyPr wrap="square" lIns="0" rIns="0" tIns="0" bIns="0" anchor="t">
            <a:noAutofit/>
          </a:bodyPr>
          <a:lstStyle/>
          <a:p>
            <a:pPr algn="l">
              <a:lnSpc>
                <a:spcPct val="112000"/>
              </a:lnSpc>
              <a:spcAft>
                <a:spcPts val="800"/>
              </a:spcAft>
            </a:pPr>
            <a:r>
              <a:rPr sz="1650">
                <a:solidFill>
                  <a:srgbClr val="2A070D"/>
                </a:solidFill>
                <a:latin typeface="Montserrat Medium"/>
              </a:rPr>
              <a:t>Paiements à vérifier, commandes à préparer, ventes encaissées, clients inscrits.</a:t>
            </a:r>
          </a:p>
        </p:txBody>
      </p:sp>
      <p:sp>
        <p:nvSpPr>
          <p:cNvPr id="8" name="!!Accent"/>
          <p:cNvSpPr/>
          <p:nvPr/>
        </p:nvSpPr>
        <p:spPr>
          <a:xfrm>
            <a:off x="685800" y="338328"/>
            <a:ext cx="384048" cy="32004"/>
          </a:xfrm>
          <a:prstGeom prst="rect">
            <a:avLst/>
          </a:prstGeom>
          <a:solidFill>
            <a:srgbClr val="F9A825"/>
          </a:solidFill>
          <a:ln>
            <a:noFill/>
          </a:ln>
        </p:spPr>
        <p:txBody>
          <a:bodyPr rtlCol="0" anchor="ctr"/>
          <a:lstStyle/>
          <a:p/>
        </p:txBody>
      </p:sp>
      <p:sp>
        <p:nvSpPr>
          <p:cNvPr id="9"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05 · Administration</a:t>
            </a:r>
          </a:p>
        </p:txBody>
      </p:sp>
      <p:sp>
        <p:nvSpPr>
          <p:cNvPr id="10"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40</a:t>
            </a:r>
          </a:p>
        </p:txBody>
      </p:sp>
      <p:sp>
        <p:nvSpPr>
          <p:cNvPr id="11"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12"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13"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14" name="!!Logo" descr="Logo Marin'Or Ivoire"/>
          <p:cNvPicPr>
            <a:picLocks noChangeAspect="1"/>
          </p:cNvPicPr>
          <p:nvPr/>
        </p:nvPicPr>
        <p:blipFill>
          <a:blip r:embed="rId5"/>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decel="100000"/>
                                        <p:tgtEl>
                                          <p:spTgt spid="6"/>
                                        </p:tgtEl>
                                      </p:cBhvr>
                                    </p:animEffect>
                                    <p:anim calcmode="lin" valueType="num">
                                      <p:cBhvr>
                                        <p:cTn id="8" dur="500" decel="100000" fill="hold"/>
                                        <p:tgtEl>
                                          <p:spTgt spid="6"/>
                                        </p:tgtEl>
                                        <p:attrNameLst>
                                          <p:attrName>ppt_x</p:attrName>
                                        </p:attrNameLst>
                                      </p:cBhvr>
                                      <p:tavLst>
                                        <p:tav tm="0">
                                          <p:val>
                                            <p:strVal val="#ppt_x"/>
                                          </p:val>
                                        </p:tav>
                                        <p:tav tm="100000">
                                          <p:val>
                                            <p:strVal val="#ppt_x"/>
                                          </p:val>
                                        </p:tav>
                                      </p:tavLst>
                                    </p:anim>
                                    <p:anim calcmode="lin" valueType="num">
                                      <p:cBhvr>
                                        <p:cTn id="9" dur="500" decel="100000" fill="hold"/>
                                        <p:tgtEl>
                                          <p:spTgt spid="6"/>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decel="100000"/>
                                        <p:tgtEl>
                                          <p:spTgt spid="9"/>
                                        </p:tgtEl>
                                      </p:cBhvr>
                                    </p:animEffect>
                                    <p:anim calcmode="lin" valueType="num">
                                      <p:cBhvr>
                                        <p:cTn id="13" dur="500" decel="100000" fill="hold"/>
                                        <p:tgtEl>
                                          <p:spTgt spid="9"/>
                                        </p:tgtEl>
                                        <p:attrNameLst>
                                          <p:attrName>ppt_x</p:attrName>
                                        </p:attrNameLst>
                                      </p:cBhvr>
                                      <p:tavLst>
                                        <p:tav tm="0">
                                          <p:val>
                                            <p:strVal val="#ppt_x"/>
                                          </p:val>
                                        </p:tav>
                                        <p:tav tm="100000">
                                          <p:val>
                                            <p:strVal val="#ppt_x"/>
                                          </p:val>
                                        </p:tav>
                                      </p:tavLst>
                                    </p:anim>
                                    <p:anim calcmode="lin" valueType="num">
                                      <p:cBhvr>
                                        <p:cTn id="14" dur="500" decel="100000" fill="hold"/>
                                        <p:tgtEl>
                                          <p:spTgt spid="9"/>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11"/>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12"/>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13"/>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400" decel="1000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500" decel="100000"/>
                                        <p:tgtEl>
                                          <p:spTgt spid="3"/>
                                        </p:tgtEl>
                                      </p:cBhvr>
                                    </p:animEffect>
                                    <p:anim calcmode="lin" valueType="num">
                                      <p:cBhvr>
                                        <p:cTn id="31" dur="500" decel="100000" fill="hold"/>
                                        <p:tgtEl>
                                          <p:spTgt spid="3"/>
                                        </p:tgtEl>
                                        <p:attrNameLst>
                                          <p:attrName>ppt_x</p:attrName>
                                        </p:attrNameLst>
                                      </p:cBhvr>
                                      <p:tavLst>
                                        <p:tav tm="0">
                                          <p:val>
                                            <p:strVal val="#ppt_x"/>
                                          </p:val>
                                        </p:tav>
                                        <p:tav tm="100000">
                                          <p:val>
                                            <p:strVal val="#ppt_x"/>
                                          </p:val>
                                        </p:tav>
                                      </p:tavLst>
                                    </p:anim>
                                    <p:anim calcmode="lin" valueType="num">
                                      <p:cBhvr>
                                        <p:cTn id="32" dur="500" decel="100000" fill="hold"/>
                                        <p:tgtEl>
                                          <p:spTgt spid="3"/>
                                        </p:tgtEl>
                                        <p:attrNameLst>
                                          <p:attrName>ppt_y</p:attrName>
                                        </p:attrNameLst>
                                      </p:cBhvr>
                                      <p:tavLst>
                                        <p:tav tm="0">
                                          <p:val>
                                            <p:strVal val="#ppt_y+0.027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decel="100000"/>
                                        <p:tgtEl>
                                          <p:spTgt spid="7"/>
                                        </p:tgtEl>
                                      </p:cBhvr>
                                    </p:animEffect>
                                    <p:anim calcmode="lin" valueType="num">
                                      <p:cBhvr>
                                        <p:cTn id="36" dur="500" decel="100000" fill="hold"/>
                                        <p:tgtEl>
                                          <p:spTgt spid="7"/>
                                        </p:tgtEl>
                                        <p:attrNameLst>
                                          <p:attrName>ppt_x</p:attrName>
                                        </p:attrNameLst>
                                      </p:cBhvr>
                                      <p:tavLst>
                                        <p:tav tm="0">
                                          <p:val>
                                            <p:strVal val="#ppt_x"/>
                                          </p:val>
                                        </p:tav>
                                        <p:tav tm="100000">
                                          <p:val>
                                            <p:strVal val="#ppt_x"/>
                                          </p:val>
                                        </p:tav>
                                      </p:tavLst>
                                    </p:anim>
                                    <p:anim calcmode="lin" valueType="num">
                                      <p:cBhvr>
                                        <p:cTn id="37" dur="500" decel="100000" fill="hold"/>
                                        <p:tgtEl>
                                          <p:spTgt spid="7"/>
                                        </p:tgtEl>
                                        <p:attrNameLst>
                                          <p:attrName>ppt_y</p:attrName>
                                        </p:attrNameLst>
                                      </p:cBhvr>
                                      <p:tavLst>
                                        <p:tav tm="0">
                                          <p:val>
                                            <p:strVal val="#ppt_y+0.0278"/>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500" decel="100000"/>
                                        <p:tgtEl>
                                          <p:spTgt spid="4"/>
                                        </p:tgtEl>
                                      </p:cBhvr>
                                    </p:animEffect>
                                    <p:anim calcmode="lin" valueType="num">
                                      <p:cBhvr>
                                        <p:cTn id="43" dur="500" decel="100000" fill="hold"/>
                                        <p:tgtEl>
                                          <p:spTgt spid="4"/>
                                        </p:tgtEl>
                                        <p:attrNameLst>
                                          <p:attrName>ppt_x</p:attrName>
                                        </p:attrNameLst>
                                      </p:cBhvr>
                                      <p:tavLst>
                                        <p:tav tm="0">
                                          <p:val>
                                            <p:strVal val="#ppt_x"/>
                                          </p:val>
                                        </p:tav>
                                        <p:tav tm="100000">
                                          <p:val>
                                            <p:strVal val="#ppt_x"/>
                                          </p:val>
                                        </p:tav>
                                      </p:tavLst>
                                    </p:anim>
                                    <p:anim calcmode="lin" valueType="num">
                                      <p:cBhvr>
                                        <p:cTn id="44" dur="500" decel="100000" fill="hold"/>
                                        <p:tgtEl>
                                          <p:spTgt spid="4"/>
                                        </p:tgtEl>
                                        <p:attrNameLst>
                                          <p:attrName>ppt_y</p:attrName>
                                        </p:attrNameLst>
                                      </p:cBhvr>
                                      <p:tavLst>
                                        <p:tav tm="0">
                                          <p:val>
                                            <p:strVal val="#ppt_y+0.0278"/>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fade">
                                      <p:cBhvr>
                                        <p:cTn id="47" dur="500" decel="100000"/>
                                        <p:tgtEl>
                                          <p:spTgt spid="5"/>
                                        </p:tgtEl>
                                      </p:cBhvr>
                                    </p:animEffect>
                                    <p:anim calcmode="lin" valueType="num">
                                      <p:cBhvr>
                                        <p:cTn id="48" dur="500" decel="100000" fill="hold"/>
                                        <p:tgtEl>
                                          <p:spTgt spid="5"/>
                                        </p:tgtEl>
                                        <p:attrNameLst>
                                          <p:attrName>ppt_x</p:attrName>
                                        </p:attrNameLst>
                                      </p:cBhvr>
                                      <p:tavLst>
                                        <p:tav tm="0">
                                          <p:val>
                                            <p:strVal val="#ppt_x"/>
                                          </p:val>
                                        </p:tav>
                                        <p:tav tm="100000">
                                          <p:val>
                                            <p:strVal val="#ppt_x"/>
                                          </p:val>
                                        </p:tav>
                                      </p:tavLst>
                                    </p:anim>
                                    <p:anim calcmode="lin" valueType="num">
                                      <p:cBhvr>
                                        <p:cTn id="49" dur="500" decel="100000" fill="hold"/>
                                        <p:tgtEl>
                                          <p:spTgt spid="5"/>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animBg="1"/>
      <p:bldP spid="9" grpId="0"/>
      <p:bldP spid="11" grpId="0" animBg="1"/>
      <p:bldP spid="12" grpId="0" animBg="1"/>
      <p:bldP spid="13" grpId="0" animBg="1"/>
    </p:bld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sp>
        <p:nvSpPr>
          <p:cNvPr id="3" name="!!Card0"/>
          <p:cNvSpPr/>
          <p:nvPr/>
        </p:nvSpPr>
        <p:spPr>
          <a:xfrm>
            <a:off x="4846320" y="1783080"/>
            <a:ext cx="6675120" cy="4251960"/>
          </a:xfrm>
          <a:prstGeom prst="roundRect">
            <a:avLst>
              <a:gd name="adj" fmla="val 7000"/>
            </a:avLst>
          </a:prstGeom>
          <a:solidFill>
            <a:srgbClr val="FFFFFF"/>
          </a:solidFill>
          <a:ln w="12700">
            <a:solidFill>
              <a:srgbClr val="E8D3D6"/>
            </a:solidFill>
          </a:ln>
        </p:spPr>
        <p:txBody>
          <a:bodyPr rtlCol="0" anchor="ctr"/>
          <a:lstStyle/>
          <a:p/>
        </p:txBody>
      </p:sp>
      <p:pic>
        <p:nvPicPr>
          <p:cNvPr id="4" name="!!Hero" descr="Modèle conceptuel de données"/>
          <p:cNvPicPr>
            <a:picLocks noChangeAspect="1"/>
          </p:cNvPicPr>
          <p:nvPr/>
        </p:nvPicPr>
        <p:blipFill>
          <a:blip r:embed="rId2"/>
          <a:stretch>
            <a:fillRect/>
          </a:stretch>
        </p:blipFill>
        <p:spPr>
          <a:xfrm>
            <a:off x="4983480" y="2008021"/>
            <a:ext cx="6400800" cy="3802075"/>
          </a:xfrm>
          <a:prstGeom prst="rect">
            <a:avLst/>
          </a:prstGeom>
        </p:spPr>
      </p:pic>
      <p:sp>
        <p:nvSpPr>
          <p:cNvPr id="5" name="!!Title"/>
          <p:cNvSpPr txBox="1"/>
          <p:nvPr/>
        </p:nvSpPr>
        <p:spPr>
          <a:xfrm>
            <a:off x="685800" y="914400"/>
            <a:ext cx="8229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Base de données</a:t>
            </a:r>
          </a:p>
        </p:txBody>
      </p:sp>
      <p:sp>
        <p:nvSpPr>
          <p:cNvPr id="6" name="!!Stat0"/>
          <p:cNvSpPr txBox="1"/>
          <p:nvPr/>
        </p:nvSpPr>
        <p:spPr>
          <a:xfrm>
            <a:off x="685800" y="2057400"/>
            <a:ext cx="3931920" cy="914400"/>
          </a:xfrm>
          <a:prstGeom prst="rect">
            <a:avLst/>
          </a:prstGeom>
          <a:noFill/>
        </p:spPr>
        <p:txBody>
          <a:bodyPr wrap="square" lIns="0" rIns="0" tIns="0" bIns="0" anchor="ctr">
            <a:noAutofit/>
          </a:bodyPr>
          <a:lstStyle/>
          <a:p>
            <a:pPr algn="l"/>
            <a:r>
              <a:rPr sz="4800">
                <a:solidFill>
                  <a:srgbClr val="7B1421"/>
                </a:solidFill>
                <a:latin typeface="Cream Heavy"/>
              </a:rPr>
              <a:t>10 </a:t>
            </a:r>
            <a:r>
              <a:rPr sz="1700">
                <a:solidFill>
                  <a:srgbClr val="2A070D"/>
                </a:solidFill>
                <a:latin typeface="Montserrat SemiBold"/>
              </a:rPr>
              <a:t>tables</a:t>
            </a:r>
          </a:p>
        </p:txBody>
      </p:sp>
      <p:sp>
        <p:nvSpPr>
          <p:cNvPr id="7" name="!!Stat1"/>
          <p:cNvSpPr txBox="1"/>
          <p:nvPr/>
        </p:nvSpPr>
        <p:spPr>
          <a:xfrm>
            <a:off x="685800" y="3108960"/>
            <a:ext cx="3931920" cy="914400"/>
          </a:xfrm>
          <a:prstGeom prst="rect">
            <a:avLst/>
          </a:prstGeom>
          <a:noFill/>
        </p:spPr>
        <p:txBody>
          <a:bodyPr wrap="square" lIns="0" rIns="0" tIns="0" bIns="0" anchor="ctr">
            <a:noAutofit/>
          </a:bodyPr>
          <a:lstStyle/>
          <a:p>
            <a:pPr algn="l"/>
            <a:r>
              <a:rPr sz="4800">
                <a:solidFill>
                  <a:srgbClr val="7B1421"/>
                </a:solidFill>
                <a:latin typeface="Cream Heavy"/>
              </a:rPr>
              <a:t>11 </a:t>
            </a:r>
            <a:r>
              <a:rPr sz="1700">
                <a:solidFill>
                  <a:srgbClr val="2A070D"/>
                </a:solidFill>
                <a:latin typeface="Montserrat SemiBold"/>
              </a:rPr>
              <a:t>règles de gestion</a:t>
            </a:r>
          </a:p>
        </p:txBody>
      </p:sp>
      <p:sp>
        <p:nvSpPr>
          <p:cNvPr id="8" name="!!Body"/>
          <p:cNvSpPr txBox="1"/>
          <p:nvPr/>
        </p:nvSpPr>
        <p:spPr>
          <a:xfrm>
            <a:off x="685800" y="4251960"/>
            <a:ext cx="3657600" cy="457200"/>
          </a:xfrm>
          <a:prstGeom prst="rect">
            <a:avLst/>
          </a:prstGeom>
          <a:noFill/>
        </p:spPr>
        <p:txBody>
          <a:bodyPr wrap="square" lIns="0" rIns="0" tIns="0" bIns="0" anchor="t">
            <a:noAutofit/>
          </a:bodyPr>
          <a:lstStyle/>
          <a:p>
            <a:pPr algn="l">
              <a:lnSpc>
                <a:spcPct val="112000"/>
              </a:lnSpc>
              <a:spcAft>
                <a:spcPts val="800"/>
              </a:spcAft>
            </a:pPr>
            <a:r>
              <a:rPr sz="1650">
                <a:solidFill>
                  <a:srgbClr val="6E5A5D"/>
                </a:solidFill>
                <a:latin typeface="Montserrat Medium"/>
              </a:rPr>
              <a:t>Méthode MERISE · MySQL</a:t>
            </a:r>
          </a:p>
        </p:txBody>
      </p:sp>
      <p:sp>
        <p:nvSpPr>
          <p:cNvPr id="9" name="!!Accent"/>
          <p:cNvSpPr/>
          <p:nvPr/>
        </p:nvSpPr>
        <p:spPr>
          <a:xfrm>
            <a:off x="685800" y="338328"/>
            <a:ext cx="384048" cy="32004"/>
          </a:xfrm>
          <a:prstGeom prst="rect">
            <a:avLst/>
          </a:prstGeom>
          <a:solidFill>
            <a:srgbClr val="F9A825"/>
          </a:solidFill>
          <a:ln>
            <a:noFill/>
          </a:ln>
        </p:spPr>
        <p:txBody>
          <a:bodyPr rtlCol="0" anchor="ctr"/>
          <a:lstStyle/>
          <a:p/>
        </p:txBody>
      </p:sp>
      <p:sp>
        <p:nvSpPr>
          <p:cNvPr id="10"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05 · Base de données</a:t>
            </a:r>
          </a:p>
        </p:txBody>
      </p:sp>
      <p:sp>
        <p:nvSpPr>
          <p:cNvPr id="11"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41</a:t>
            </a:r>
          </a:p>
        </p:txBody>
      </p:sp>
      <p:sp>
        <p:nvSpPr>
          <p:cNvPr id="12"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13"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14"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15" name="!!Logo" descr="Logo Marin'Or Ivoire"/>
          <p:cNvPicPr>
            <a:picLocks noChangeAspect="1"/>
          </p:cNvPicPr>
          <p:nvPr/>
        </p:nvPicPr>
        <p:blipFill>
          <a:blip r:embed="rId3"/>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decel="100000"/>
                                        <p:tgtEl>
                                          <p:spTgt spid="5"/>
                                        </p:tgtEl>
                                      </p:cBhvr>
                                    </p:animEffect>
                                    <p:anim calcmode="lin" valueType="num">
                                      <p:cBhvr>
                                        <p:cTn id="8" dur="500" decel="100000" fill="hold"/>
                                        <p:tgtEl>
                                          <p:spTgt spid="5"/>
                                        </p:tgtEl>
                                        <p:attrNameLst>
                                          <p:attrName>ppt_x</p:attrName>
                                        </p:attrNameLst>
                                      </p:cBhvr>
                                      <p:tavLst>
                                        <p:tav tm="0">
                                          <p:val>
                                            <p:strVal val="#ppt_x"/>
                                          </p:val>
                                        </p:tav>
                                        <p:tav tm="100000">
                                          <p:val>
                                            <p:strVal val="#ppt_x"/>
                                          </p:val>
                                        </p:tav>
                                      </p:tavLst>
                                    </p:anim>
                                    <p:anim calcmode="lin" valueType="num">
                                      <p:cBhvr>
                                        <p:cTn id="9" dur="500" decel="100000" fill="hold"/>
                                        <p:tgtEl>
                                          <p:spTgt spid="5"/>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decel="100000"/>
                                        <p:tgtEl>
                                          <p:spTgt spid="10"/>
                                        </p:tgtEl>
                                      </p:cBhvr>
                                    </p:animEffect>
                                    <p:anim calcmode="lin" valueType="num">
                                      <p:cBhvr>
                                        <p:cTn id="13" dur="500" decel="100000" fill="hold"/>
                                        <p:tgtEl>
                                          <p:spTgt spid="10"/>
                                        </p:tgtEl>
                                        <p:attrNameLst>
                                          <p:attrName>ppt_x</p:attrName>
                                        </p:attrNameLst>
                                      </p:cBhvr>
                                      <p:tavLst>
                                        <p:tav tm="0">
                                          <p:val>
                                            <p:strVal val="#ppt_x"/>
                                          </p:val>
                                        </p:tav>
                                        <p:tav tm="100000">
                                          <p:val>
                                            <p:strVal val="#ppt_x"/>
                                          </p:val>
                                        </p:tav>
                                      </p:tavLst>
                                    </p:anim>
                                    <p:anim calcmode="lin" valueType="num">
                                      <p:cBhvr>
                                        <p:cTn id="14" dur="500" decel="100000" fill="hold"/>
                                        <p:tgtEl>
                                          <p:spTgt spid="10"/>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12"/>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13"/>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14"/>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400" decel="1000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500" decel="100000"/>
                                        <p:tgtEl>
                                          <p:spTgt spid="3"/>
                                        </p:tgtEl>
                                      </p:cBhvr>
                                    </p:animEffect>
                                    <p:anim calcmode="lin" valueType="num">
                                      <p:cBhvr>
                                        <p:cTn id="31" dur="500" decel="100000" fill="hold"/>
                                        <p:tgtEl>
                                          <p:spTgt spid="3"/>
                                        </p:tgtEl>
                                        <p:attrNameLst>
                                          <p:attrName>ppt_x</p:attrName>
                                        </p:attrNameLst>
                                      </p:cBhvr>
                                      <p:tavLst>
                                        <p:tav tm="0">
                                          <p:val>
                                            <p:strVal val="#ppt_x"/>
                                          </p:val>
                                        </p:tav>
                                        <p:tav tm="100000">
                                          <p:val>
                                            <p:strVal val="#ppt_x"/>
                                          </p:val>
                                        </p:tav>
                                      </p:tavLst>
                                    </p:anim>
                                    <p:anim calcmode="lin" valueType="num">
                                      <p:cBhvr>
                                        <p:cTn id="32" dur="500" decel="100000" fill="hold"/>
                                        <p:tgtEl>
                                          <p:spTgt spid="3"/>
                                        </p:tgtEl>
                                        <p:attrNameLst>
                                          <p:attrName>ppt_y</p:attrName>
                                        </p:attrNameLst>
                                      </p:cBhvr>
                                      <p:tavLst>
                                        <p:tav tm="0">
                                          <p:val>
                                            <p:strVal val="#ppt_y+0.027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500" decel="100000"/>
                                        <p:tgtEl>
                                          <p:spTgt spid="4"/>
                                        </p:tgtEl>
                                      </p:cBhvr>
                                    </p:animEffect>
                                    <p:anim calcmode="lin" valueType="num">
                                      <p:cBhvr>
                                        <p:cTn id="36" dur="500" decel="100000" fill="hold"/>
                                        <p:tgtEl>
                                          <p:spTgt spid="4"/>
                                        </p:tgtEl>
                                        <p:attrNameLst>
                                          <p:attrName>ppt_x</p:attrName>
                                        </p:attrNameLst>
                                      </p:cBhvr>
                                      <p:tavLst>
                                        <p:tav tm="0">
                                          <p:val>
                                            <p:strVal val="#ppt_x"/>
                                          </p:val>
                                        </p:tav>
                                        <p:tav tm="100000">
                                          <p:val>
                                            <p:strVal val="#ppt_x"/>
                                          </p:val>
                                        </p:tav>
                                      </p:tavLst>
                                    </p:anim>
                                    <p:anim calcmode="lin" valueType="num">
                                      <p:cBhvr>
                                        <p:cTn id="37" dur="500" decel="100000" fill="hold"/>
                                        <p:tgtEl>
                                          <p:spTgt spid="4"/>
                                        </p:tgtEl>
                                        <p:attrNameLst>
                                          <p:attrName>ppt_y</p:attrName>
                                        </p:attrNameLst>
                                      </p:cBhvr>
                                      <p:tavLst>
                                        <p:tav tm="0">
                                          <p:val>
                                            <p:strVal val="#ppt_y+0.0278"/>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500" decel="100000"/>
                                        <p:tgtEl>
                                          <p:spTgt spid="6"/>
                                        </p:tgtEl>
                                      </p:cBhvr>
                                    </p:animEffect>
                                    <p:anim calcmode="lin" valueType="num">
                                      <p:cBhvr>
                                        <p:cTn id="43" dur="500" decel="100000" fill="hold"/>
                                        <p:tgtEl>
                                          <p:spTgt spid="6"/>
                                        </p:tgtEl>
                                        <p:attrNameLst>
                                          <p:attrName>ppt_x</p:attrName>
                                        </p:attrNameLst>
                                      </p:cBhvr>
                                      <p:tavLst>
                                        <p:tav tm="0">
                                          <p:val>
                                            <p:strVal val="#ppt_x"/>
                                          </p:val>
                                        </p:tav>
                                        <p:tav tm="100000">
                                          <p:val>
                                            <p:strVal val="#ppt_x"/>
                                          </p:val>
                                        </p:tav>
                                      </p:tavLst>
                                    </p:anim>
                                    <p:anim calcmode="lin" valueType="num">
                                      <p:cBhvr>
                                        <p:cTn id="44" dur="500" decel="100000" fill="hold"/>
                                        <p:tgtEl>
                                          <p:spTgt spid="6"/>
                                        </p:tgtEl>
                                        <p:attrNameLst>
                                          <p:attrName>ppt_y</p:attrName>
                                        </p:attrNameLst>
                                      </p:cBhvr>
                                      <p:tavLst>
                                        <p:tav tm="0">
                                          <p:val>
                                            <p:strVal val="#ppt_y+0.0278"/>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fade">
                                      <p:cBhvr>
                                        <p:cTn id="49" dur="500" decel="100000"/>
                                        <p:tgtEl>
                                          <p:spTgt spid="7"/>
                                        </p:tgtEl>
                                      </p:cBhvr>
                                    </p:animEffect>
                                    <p:anim calcmode="lin" valueType="num">
                                      <p:cBhvr>
                                        <p:cTn id="50" dur="500" decel="100000" fill="hold"/>
                                        <p:tgtEl>
                                          <p:spTgt spid="7"/>
                                        </p:tgtEl>
                                        <p:attrNameLst>
                                          <p:attrName>ppt_x</p:attrName>
                                        </p:attrNameLst>
                                      </p:cBhvr>
                                      <p:tavLst>
                                        <p:tav tm="0">
                                          <p:val>
                                            <p:strVal val="#ppt_x"/>
                                          </p:val>
                                        </p:tav>
                                        <p:tav tm="100000">
                                          <p:val>
                                            <p:strVal val="#ppt_x"/>
                                          </p:val>
                                        </p:tav>
                                      </p:tavLst>
                                    </p:anim>
                                    <p:anim calcmode="lin" valueType="num">
                                      <p:cBhvr>
                                        <p:cTn id="51" dur="500" decel="100000" fill="hold"/>
                                        <p:tgtEl>
                                          <p:spTgt spid="7"/>
                                        </p:tgtEl>
                                        <p:attrNameLst>
                                          <p:attrName>ppt_y</p:attrName>
                                        </p:attrNameLst>
                                      </p:cBhvr>
                                      <p:tavLst>
                                        <p:tav tm="0">
                                          <p:val>
                                            <p:strVal val="#ppt_y+0.0278"/>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8"/>
                                        </p:tgtEl>
                                        <p:attrNameLst>
                                          <p:attrName>style.visibility</p:attrName>
                                        </p:attrNameLst>
                                      </p:cBhvr>
                                      <p:to>
                                        <p:strVal val="visible"/>
                                      </p:to>
                                    </p:set>
                                    <p:animEffect transition="in" filter="fade">
                                      <p:cBhvr>
                                        <p:cTn id="54" dur="500" decel="100000"/>
                                        <p:tgtEl>
                                          <p:spTgt spid="8"/>
                                        </p:tgtEl>
                                      </p:cBhvr>
                                    </p:animEffect>
                                    <p:anim calcmode="lin" valueType="num">
                                      <p:cBhvr>
                                        <p:cTn id="55" dur="500" decel="100000" fill="hold"/>
                                        <p:tgtEl>
                                          <p:spTgt spid="8"/>
                                        </p:tgtEl>
                                        <p:attrNameLst>
                                          <p:attrName>ppt_x</p:attrName>
                                        </p:attrNameLst>
                                      </p:cBhvr>
                                      <p:tavLst>
                                        <p:tav tm="0">
                                          <p:val>
                                            <p:strVal val="#ppt_x"/>
                                          </p:val>
                                        </p:tav>
                                        <p:tav tm="100000">
                                          <p:val>
                                            <p:strVal val="#ppt_x"/>
                                          </p:val>
                                        </p:tav>
                                      </p:tavLst>
                                    </p:anim>
                                    <p:anim calcmode="lin" valueType="num">
                                      <p:cBhvr>
                                        <p:cTn id="56" dur="500" decel="100000" fill="hold"/>
                                        <p:tgtEl>
                                          <p:spTgt spid="8"/>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6" grpId="0"/>
      <p:bldP spid="7" grpId="0"/>
      <p:bldP spid="8" grpId="0"/>
      <p:bldP spid="9" grpId="0" animBg="1"/>
      <p:bldP spid="10" grpId="0"/>
      <p:bldP spid="12" grpId="0" animBg="1"/>
      <p:bldP spid="13" grpId="0" animBg="1"/>
      <p:bldP spid="14" grpId="0" animBg="1"/>
    </p:bld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sp>
        <p:nvSpPr>
          <p:cNvPr id="3" name="!!Title"/>
          <p:cNvSpPr txBox="1"/>
          <p:nvPr/>
        </p:nvSpPr>
        <p:spPr>
          <a:xfrm>
            <a:off x="685800" y="914400"/>
            <a:ext cx="8229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Tests fonctionnels</a:t>
            </a:r>
          </a:p>
        </p:txBody>
      </p:sp>
      <p:sp>
        <p:nvSpPr>
          <p:cNvPr id="4" name="!!Card0"/>
          <p:cNvSpPr/>
          <p:nvPr/>
        </p:nvSpPr>
        <p:spPr>
          <a:xfrm>
            <a:off x="685800" y="1965960"/>
            <a:ext cx="3383280" cy="2331720"/>
          </a:xfrm>
          <a:prstGeom prst="roundRect">
            <a:avLst>
              <a:gd name="adj" fmla="val 7000"/>
            </a:avLst>
          </a:prstGeom>
          <a:solidFill>
            <a:srgbClr val="F6E8EA"/>
          </a:solidFill>
          <a:ln>
            <a:noFill/>
          </a:ln>
        </p:spPr>
        <p:txBody>
          <a:bodyPr rtlCol="0" anchor="ctr"/>
          <a:lstStyle/>
          <a:p/>
        </p:txBody>
      </p:sp>
      <p:sp>
        <p:nvSpPr>
          <p:cNvPr id="5" name="!!StatN0"/>
          <p:cNvSpPr txBox="1"/>
          <p:nvPr/>
        </p:nvSpPr>
        <p:spPr>
          <a:xfrm>
            <a:off x="685800" y="2103120"/>
            <a:ext cx="3383280" cy="1188720"/>
          </a:xfrm>
          <a:prstGeom prst="rect">
            <a:avLst/>
          </a:prstGeom>
          <a:noFill/>
        </p:spPr>
        <p:txBody>
          <a:bodyPr wrap="square" lIns="0" rIns="0" tIns="0" bIns="0" anchor="ctr">
            <a:noAutofit/>
          </a:bodyPr>
          <a:lstStyle/>
          <a:p>
            <a:pPr algn="ctr"/>
            <a:r>
              <a:rPr sz="7200">
                <a:solidFill>
                  <a:srgbClr val="2A5519"/>
                </a:solidFill>
                <a:latin typeface="Cream Heavy"/>
              </a:rPr>
              <a:t>14</a:t>
            </a:r>
          </a:p>
        </p:txBody>
      </p:sp>
      <p:sp>
        <p:nvSpPr>
          <p:cNvPr id="6" name="!!StatT0"/>
          <p:cNvSpPr txBox="1"/>
          <p:nvPr/>
        </p:nvSpPr>
        <p:spPr>
          <a:xfrm>
            <a:off x="685800" y="3429000"/>
            <a:ext cx="3383280" cy="411480"/>
          </a:xfrm>
          <a:prstGeom prst="rect">
            <a:avLst/>
          </a:prstGeom>
          <a:noFill/>
        </p:spPr>
        <p:txBody>
          <a:bodyPr wrap="square" lIns="0" rIns="0" tIns="0" bIns="0" anchor="t">
            <a:noAutofit/>
          </a:bodyPr>
          <a:lstStyle/>
          <a:p>
            <a:pPr algn="ctr"/>
            <a:r>
              <a:rPr sz="1700">
                <a:solidFill>
                  <a:srgbClr val="2A070D"/>
                </a:solidFill>
                <a:latin typeface="Montserrat SemiBold"/>
              </a:rPr>
              <a:t>conformes</a:t>
            </a:r>
          </a:p>
        </p:txBody>
      </p:sp>
      <p:sp>
        <p:nvSpPr>
          <p:cNvPr id="7" name="!!Card1"/>
          <p:cNvSpPr/>
          <p:nvPr/>
        </p:nvSpPr>
        <p:spPr>
          <a:xfrm>
            <a:off x="4297680" y="1965960"/>
            <a:ext cx="3383280" cy="2331720"/>
          </a:xfrm>
          <a:prstGeom prst="roundRect">
            <a:avLst>
              <a:gd name="adj" fmla="val 7000"/>
            </a:avLst>
          </a:prstGeom>
          <a:solidFill>
            <a:srgbClr val="F6E8EA"/>
          </a:solidFill>
          <a:ln>
            <a:noFill/>
          </a:ln>
        </p:spPr>
        <p:txBody>
          <a:bodyPr rtlCol="0" anchor="ctr"/>
          <a:lstStyle/>
          <a:p/>
        </p:txBody>
      </p:sp>
      <p:sp>
        <p:nvSpPr>
          <p:cNvPr id="8" name="!!StatN1"/>
          <p:cNvSpPr txBox="1"/>
          <p:nvPr/>
        </p:nvSpPr>
        <p:spPr>
          <a:xfrm>
            <a:off x="4297680" y="2103120"/>
            <a:ext cx="3383280" cy="1188720"/>
          </a:xfrm>
          <a:prstGeom prst="rect">
            <a:avLst/>
          </a:prstGeom>
          <a:noFill/>
        </p:spPr>
        <p:txBody>
          <a:bodyPr wrap="square" lIns="0" rIns="0" tIns="0" bIns="0" anchor="ctr">
            <a:noAutofit/>
          </a:bodyPr>
          <a:lstStyle/>
          <a:p>
            <a:pPr algn="ctr"/>
            <a:r>
              <a:rPr sz="7200">
                <a:solidFill>
                  <a:srgbClr val="7B1421"/>
                </a:solidFill>
                <a:latin typeface="Cream Heavy"/>
              </a:rPr>
              <a:t>2</a:t>
            </a:r>
          </a:p>
        </p:txBody>
      </p:sp>
      <p:sp>
        <p:nvSpPr>
          <p:cNvPr id="9" name="!!StatT1"/>
          <p:cNvSpPr txBox="1"/>
          <p:nvPr/>
        </p:nvSpPr>
        <p:spPr>
          <a:xfrm>
            <a:off x="4297680" y="3429000"/>
            <a:ext cx="3383280" cy="411480"/>
          </a:xfrm>
          <a:prstGeom prst="rect">
            <a:avLst/>
          </a:prstGeom>
          <a:noFill/>
        </p:spPr>
        <p:txBody>
          <a:bodyPr wrap="square" lIns="0" rIns="0" tIns="0" bIns="0" anchor="t">
            <a:noAutofit/>
          </a:bodyPr>
          <a:lstStyle/>
          <a:p>
            <a:pPr algn="ctr"/>
            <a:r>
              <a:rPr sz="1700">
                <a:solidFill>
                  <a:srgbClr val="2A070D"/>
                </a:solidFill>
                <a:latin typeface="Montserrat SemiBold"/>
              </a:rPr>
              <a:t>à vérifier</a:t>
            </a:r>
          </a:p>
        </p:txBody>
      </p:sp>
      <p:sp>
        <p:nvSpPr>
          <p:cNvPr id="10" name="!!Card2"/>
          <p:cNvSpPr/>
          <p:nvPr/>
        </p:nvSpPr>
        <p:spPr>
          <a:xfrm>
            <a:off x="7909560" y="1965960"/>
            <a:ext cx="3383280" cy="2331720"/>
          </a:xfrm>
          <a:prstGeom prst="roundRect">
            <a:avLst>
              <a:gd name="adj" fmla="val 7000"/>
            </a:avLst>
          </a:prstGeom>
          <a:solidFill>
            <a:srgbClr val="F6E8EA"/>
          </a:solidFill>
          <a:ln>
            <a:noFill/>
          </a:ln>
        </p:spPr>
        <p:txBody>
          <a:bodyPr rtlCol="0" anchor="ctr"/>
          <a:lstStyle/>
          <a:p/>
        </p:txBody>
      </p:sp>
      <p:sp>
        <p:nvSpPr>
          <p:cNvPr id="11" name="!!StatN2"/>
          <p:cNvSpPr txBox="1"/>
          <p:nvPr/>
        </p:nvSpPr>
        <p:spPr>
          <a:xfrm>
            <a:off x="7909560" y="2103120"/>
            <a:ext cx="3383280" cy="1188720"/>
          </a:xfrm>
          <a:prstGeom prst="rect">
            <a:avLst/>
          </a:prstGeom>
          <a:noFill/>
        </p:spPr>
        <p:txBody>
          <a:bodyPr wrap="square" lIns="0" rIns="0" tIns="0" bIns="0" anchor="ctr">
            <a:noAutofit/>
          </a:bodyPr>
          <a:lstStyle/>
          <a:p>
            <a:pPr algn="ctr"/>
            <a:r>
              <a:rPr sz="7200">
                <a:solidFill>
                  <a:srgbClr val="A40C21"/>
                </a:solidFill>
                <a:latin typeface="Cream Heavy"/>
              </a:rPr>
              <a:t>1</a:t>
            </a:r>
          </a:p>
        </p:txBody>
      </p:sp>
      <p:sp>
        <p:nvSpPr>
          <p:cNvPr id="12" name="!!StatT2"/>
          <p:cNvSpPr txBox="1"/>
          <p:nvPr/>
        </p:nvSpPr>
        <p:spPr>
          <a:xfrm>
            <a:off x="7909560" y="3429000"/>
            <a:ext cx="3383280" cy="411480"/>
          </a:xfrm>
          <a:prstGeom prst="rect">
            <a:avLst/>
          </a:prstGeom>
          <a:noFill/>
        </p:spPr>
        <p:txBody>
          <a:bodyPr wrap="square" lIns="0" rIns="0" tIns="0" bIns="0" anchor="t">
            <a:noAutofit/>
          </a:bodyPr>
          <a:lstStyle/>
          <a:p>
            <a:pPr algn="ctr"/>
            <a:r>
              <a:rPr sz="1700">
                <a:solidFill>
                  <a:srgbClr val="2A070D"/>
                </a:solidFill>
                <a:latin typeface="Montserrat SemiBold"/>
              </a:rPr>
              <a:t>non conforme</a:t>
            </a:r>
          </a:p>
        </p:txBody>
      </p:sp>
      <p:sp>
        <p:nvSpPr>
          <p:cNvPr id="13" name="!!Body"/>
          <p:cNvSpPr txBox="1"/>
          <p:nvPr/>
        </p:nvSpPr>
        <p:spPr>
          <a:xfrm>
            <a:off x="685800" y="4663440"/>
            <a:ext cx="10820400" cy="822960"/>
          </a:xfrm>
          <a:prstGeom prst="rect">
            <a:avLst/>
          </a:prstGeom>
          <a:noFill/>
        </p:spPr>
        <p:txBody>
          <a:bodyPr wrap="square" lIns="0" rIns="0" tIns="0" bIns="0" anchor="t">
            <a:noAutofit/>
          </a:bodyPr>
          <a:lstStyle/>
          <a:p>
            <a:pPr algn="ctr">
              <a:lnSpc>
                <a:spcPct val="112000"/>
              </a:lnSpc>
              <a:spcAft>
                <a:spcPts val="800"/>
              </a:spcAft>
            </a:pPr>
            <a:r>
              <a:rPr sz="1550">
                <a:solidFill>
                  <a:srgbClr val="6E5A5D"/>
                </a:solidFill>
                <a:latin typeface="Montserrat Medium"/>
              </a:rPr>
              <a:t>17 tests en local, parcours client puis administrateur. Non conforme : affichage sur smartphone.</a:t>
            </a:r>
          </a:p>
        </p:txBody>
      </p:sp>
      <p:sp>
        <p:nvSpPr>
          <p:cNvPr id="14" name="!!Accent"/>
          <p:cNvSpPr/>
          <p:nvPr/>
        </p:nvSpPr>
        <p:spPr>
          <a:xfrm>
            <a:off x="685800" y="338328"/>
            <a:ext cx="384048" cy="32004"/>
          </a:xfrm>
          <a:prstGeom prst="rect">
            <a:avLst/>
          </a:prstGeom>
          <a:solidFill>
            <a:srgbClr val="F9A825"/>
          </a:solidFill>
          <a:ln>
            <a:noFill/>
          </a:ln>
        </p:spPr>
        <p:txBody>
          <a:bodyPr rtlCol="0" anchor="ctr"/>
          <a:lstStyle/>
          <a:p/>
        </p:txBody>
      </p:sp>
      <p:sp>
        <p:nvSpPr>
          <p:cNvPr id="15"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05 · Tests</a:t>
            </a:r>
          </a:p>
        </p:txBody>
      </p:sp>
      <p:sp>
        <p:nvSpPr>
          <p:cNvPr id="16"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42</a:t>
            </a:r>
          </a:p>
        </p:txBody>
      </p:sp>
      <p:sp>
        <p:nvSpPr>
          <p:cNvPr id="17"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18"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19"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20" name="!!Logo" descr="Logo Marin'Or Ivoire"/>
          <p:cNvPicPr>
            <a:picLocks noChangeAspect="1"/>
          </p:cNvPicPr>
          <p:nvPr/>
        </p:nvPicPr>
        <p:blipFill>
          <a:blip r:embed="rId2"/>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decel="1000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decel="100000"/>
                                        <p:tgtEl>
                                          <p:spTgt spid="15"/>
                                        </p:tgtEl>
                                      </p:cBhvr>
                                    </p:animEffect>
                                    <p:anim calcmode="lin" valueType="num">
                                      <p:cBhvr>
                                        <p:cTn id="13" dur="500" decel="100000" fill="hold"/>
                                        <p:tgtEl>
                                          <p:spTgt spid="15"/>
                                        </p:tgtEl>
                                        <p:attrNameLst>
                                          <p:attrName>ppt_x</p:attrName>
                                        </p:attrNameLst>
                                      </p:cBhvr>
                                      <p:tavLst>
                                        <p:tav tm="0">
                                          <p:val>
                                            <p:strVal val="#ppt_x"/>
                                          </p:val>
                                        </p:tav>
                                        <p:tav tm="100000">
                                          <p:val>
                                            <p:strVal val="#ppt_x"/>
                                          </p:val>
                                        </p:tav>
                                      </p:tavLst>
                                    </p:anim>
                                    <p:anim calcmode="lin" valueType="num">
                                      <p:cBhvr>
                                        <p:cTn id="14" dur="500" decel="100000" fill="hold"/>
                                        <p:tgtEl>
                                          <p:spTgt spid="15"/>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17"/>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18"/>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19"/>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left)">
                                      <p:cBhvr>
                                        <p:cTn id="24" dur="400" decel="1000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decel="100000"/>
                                        <p:tgtEl>
                                          <p:spTgt spid="4"/>
                                        </p:tgtEl>
                                      </p:cBhvr>
                                    </p:animEffect>
                                    <p:anim calcmode="lin" valueType="num">
                                      <p:cBhvr>
                                        <p:cTn id="31" dur="500" decel="100000" fill="hold"/>
                                        <p:tgtEl>
                                          <p:spTgt spid="4"/>
                                        </p:tgtEl>
                                        <p:attrNameLst>
                                          <p:attrName>ppt_x</p:attrName>
                                        </p:attrNameLst>
                                      </p:cBhvr>
                                      <p:tavLst>
                                        <p:tav tm="0">
                                          <p:val>
                                            <p:strVal val="#ppt_x"/>
                                          </p:val>
                                        </p:tav>
                                        <p:tav tm="100000">
                                          <p:val>
                                            <p:strVal val="#ppt_x"/>
                                          </p:val>
                                        </p:tav>
                                      </p:tavLst>
                                    </p:anim>
                                    <p:anim calcmode="lin" valueType="num">
                                      <p:cBhvr>
                                        <p:cTn id="32" dur="500" decel="100000" fill="hold"/>
                                        <p:tgtEl>
                                          <p:spTgt spid="4"/>
                                        </p:tgtEl>
                                        <p:attrNameLst>
                                          <p:attrName>ppt_y</p:attrName>
                                        </p:attrNameLst>
                                      </p:cBhvr>
                                      <p:tavLst>
                                        <p:tav tm="0">
                                          <p:val>
                                            <p:strVal val="#ppt_y+0.027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decel="100000"/>
                                        <p:tgtEl>
                                          <p:spTgt spid="5"/>
                                        </p:tgtEl>
                                      </p:cBhvr>
                                    </p:animEffect>
                                    <p:anim calcmode="lin" valueType="num">
                                      <p:cBhvr>
                                        <p:cTn id="36" dur="500" decel="100000" fill="hold"/>
                                        <p:tgtEl>
                                          <p:spTgt spid="5"/>
                                        </p:tgtEl>
                                        <p:attrNameLst>
                                          <p:attrName>ppt_x</p:attrName>
                                        </p:attrNameLst>
                                      </p:cBhvr>
                                      <p:tavLst>
                                        <p:tav tm="0">
                                          <p:val>
                                            <p:strVal val="#ppt_x"/>
                                          </p:val>
                                        </p:tav>
                                        <p:tav tm="100000">
                                          <p:val>
                                            <p:strVal val="#ppt_x"/>
                                          </p:val>
                                        </p:tav>
                                      </p:tavLst>
                                    </p:anim>
                                    <p:anim calcmode="lin" valueType="num">
                                      <p:cBhvr>
                                        <p:cTn id="37" dur="500" decel="100000" fill="hold"/>
                                        <p:tgtEl>
                                          <p:spTgt spid="5"/>
                                        </p:tgtEl>
                                        <p:attrNameLst>
                                          <p:attrName>ppt_y</p:attrName>
                                        </p:attrNameLst>
                                      </p:cBhvr>
                                      <p:tavLst>
                                        <p:tav tm="0">
                                          <p:val>
                                            <p:strVal val="#ppt_y+0.0278"/>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500" decel="100000"/>
                                        <p:tgtEl>
                                          <p:spTgt spid="6"/>
                                        </p:tgtEl>
                                      </p:cBhvr>
                                    </p:animEffect>
                                    <p:anim calcmode="lin" valueType="num">
                                      <p:cBhvr>
                                        <p:cTn id="41" dur="500" decel="100000" fill="hold"/>
                                        <p:tgtEl>
                                          <p:spTgt spid="6"/>
                                        </p:tgtEl>
                                        <p:attrNameLst>
                                          <p:attrName>ppt_x</p:attrName>
                                        </p:attrNameLst>
                                      </p:cBhvr>
                                      <p:tavLst>
                                        <p:tav tm="0">
                                          <p:val>
                                            <p:strVal val="#ppt_x"/>
                                          </p:val>
                                        </p:tav>
                                        <p:tav tm="100000">
                                          <p:val>
                                            <p:strVal val="#ppt_x"/>
                                          </p:val>
                                        </p:tav>
                                      </p:tavLst>
                                    </p:anim>
                                    <p:anim calcmode="lin" valueType="num">
                                      <p:cBhvr>
                                        <p:cTn id="42" dur="500" decel="100000" fill="hold"/>
                                        <p:tgtEl>
                                          <p:spTgt spid="6"/>
                                        </p:tgtEl>
                                        <p:attrNameLst>
                                          <p:attrName>ppt_y</p:attrName>
                                        </p:attrNameLst>
                                      </p:cBhvr>
                                      <p:tavLst>
                                        <p:tav tm="0">
                                          <p:val>
                                            <p:strVal val="#ppt_y+0.0278"/>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fade">
                                      <p:cBhvr>
                                        <p:cTn id="47" dur="500" decel="100000"/>
                                        <p:tgtEl>
                                          <p:spTgt spid="7"/>
                                        </p:tgtEl>
                                      </p:cBhvr>
                                    </p:animEffect>
                                    <p:anim calcmode="lin" valueType="num">
                                      <p:cBhvr>
                                        <p:cTn id="48" dur="500" decel="100000" fill="hold"/>
                                        <p:tgtEl>
                                          <p:spTgt spid="7"/>
                                        </p:tgtEl>
                                        <p:attrNameLst>
                                          <p:attrName>ppt_x</p:attrName>
                                        </p:attrNameLst>
                                      </p:cBhvr>
                                      <p:tavLst>
                                        <p:tav tm="0">
                                          <p:val>
                                            <p:strVal val="#ppt_x"/>
                                          </p:val>
                                        </p:tav>
                                        <p:tav tm="100000">
                                          <p:val>
                                            <p:strVal val="#ppt_x"/>
                                          </p:val>
                                        </p:tav>
                                      </p:tavLst>
                                    </p:anim>
                                    <p:anim calcmode="lin" valueType="num">
                                      <p:cBhvr>
                                        <p:cTn id="49" dur="500" decel="100000" fill="hold"/>
                                        <p:tgtEl>
                                          <p:spTgt spid="7"/>
                                        </p:tgtEl>
                                        <p:attrNameLst>
                                          <p:attrName>ppt_y</p:attrName>
                                        </p:attrNameLst>
                                      </p:cBhvr>
                                      <p:tavLst>
                                        <p:tav tm="0">
                                          <p:val>
                                            <p:strVal val="#ppt_y+0.0278"/>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fade">
                                      <p:cBhvr>
                                        <p:cTn id="52" dur="500" decel="100000"/>
                                        <p:tgtEl>
                                          <p:spTgt spid="8"/>
                                        </p:tgtEl>
                                      </p:cBhvr>
                                    </p:animEffect>
                                    <p:anim calcmode="lin" valueType="num">
                                      <p:cBhvr>
                                        <p:cTn id="53" dur="500" decel="100000" fill="hold"/>
                                        <p:tgtEl>
                                          <p:spTgt spid="8"/>
                                        </p:tgtEl>
                                        <p:attrNameLst>
                                          <p:attrName>ppt_x</p:attrName>
                                        </p:attrNameLst>
                                      </p:cBhvr>
                                      <p:tavLst>
                                        <p:tav tm="0">
                                          <p:val>
                                            <p:strVal val="#ppt_x"/>
                                          </p:val>
                                        </p:tav>
                                        <p:tav tm="100000">
                                          <p:val>
                                            <p:strVal val="#ppt_x"/>
                                          </p:val>
                                        </p:tav>
                                      </p:tavLst>
                                    </p:anim>
                                    <p:anim calcmode="lin" valueType="num">
                                      <p:cBhvr>
                                        <p:cTn id="54" dur="500" decel="100000" fill="hold"/>
                                        <p:tgtEl>
                                          <p:spTgt spid="8"/>
                                        </p:tgtEl>
                                        <p:attrNameLst>
                                          <p:attrName>ppt_y</p:attrName>
                                        </p:attrNameLst>
                                      </p:cBhvr>
                                      <p:tavLst>
                                        <p:tav tm="0">
                                          <p:val>
                                            <p:strVal val="#ppt_y+0.0278"/>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fade">
                                      <p:cBhvr>
                                        <p:cTn id="57" dur="500" decel="100000"/>
                                        <p:tgtEl>
                                          <p:spTgt spid="9"/>
                                        </p:tgtEl>
                                      </p:cBhvr>
                                    </p:animEffect>
                                    <p:anim calcmode="lin" valueType="num">
                                      <p:cBhvr>
                                        <p:cTn id="58" dur="500" decel="100000" fill="hold"/>
                                        <p:tgtEl>
                                          <p:spTgt spid="9"/>
                                        </p:tgtEl>
                                        <p:attrNameLst>
                                          <p:attrName>ppt_x</p:attrName>
                                        </p:attrNameLst>
                                      </p:cBhvr>
                                      <p:tavLst>
                                        <p:tav tm="0">
                                          <p:val>
                                            <p:strVal val="#ppt_x"/>
                                          </p:val>
                                        </p:tav>
                                        <p:tav tm="100000">
                                          <p:val>
                                            <p:strVal val="#ppt_x"/>
                                          </p:val>
                                        </p:tav>
                                      </p:tavLst>
                                    </p:anim>
                                    <p:anim calcmode="lin" valueType="num">
                                      <p:cBhvr>
                                        <p:cTn id="59" dur="500" decel="100000" fill="hold"/>
                                        <p:tgtEl>
                                          <p:spTgt spid="9"/>
                                        </p:tgtEl>
                                        <p:attrNameLst>
                                          <p:attrName>ppt_y</p:attrName>
                                        </p:attrNameLst>
                                      </p:cBhvr>
                                      <p:tavLst>
                                        <p:tav tm="0">
                                          <p:val>
                                            <p:strVal val="#ppt_y+0.0278"/>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10"/>
                                        </p:tgtEl>
                                        <p:attrNameLst>
                                          <p:attrName>style.visibility</p:attrName>
                                        </p:attrNameLst>
                                      </p:cBhvr>
                                      <p:to>
                                        <p:strVal val="visible"/>
                                      </p:to>
                                    </p:set>
                                    <p:animEffect transition="in" filter="fade">
                                      <p:cBhvr>
                                        <p:cTn id="64" dur="500" decel="100000"/>
                                        <p:tgtEl>
                                          <p:spTgt spid="10"/>
                                        </p:tgtEl>
                                      </p:cBhvr>
                                    </p:animEffect>
                                    <p:anim calcmode="lin" valueType="num">
                                      <p:cBhvr>
                                        <p:cTn id="65" dur="500" decel="100000" fill="hold"/>
                                        <p:tgtEl>
                                          <p:spTgt spid="10"/>
                                        </p:tgtEl>
                                        <p:attrNameLst>
                                          <p:attrName>ppt_x</p:attrName>
                                        </p:attrNameLst>
                                      </p:cBhvr>
                                      <p:tavLst>
                                        <p:tav tm="0">
                                          <p:val>
                                            <p:strVal val="#ppt_x"/>
                                          </p:val>
                                        </p:tav>
                                        <p:tav tm="100000">
                                          <p:val>
                                            <p:strVal val="#ppt_x"/>
                                          </p:val>
                                        </p:tav>
                                      </p:tavLst>
                                    </p:anim>
                                    <p:anim calcmode="lin" valueType="num">
                                      <p:cBhvr>
                                        <p:cTn id="66" dur="500" decel="100000" fill="hold"/>
                                        <p:tgtEl>
                                          <p:spTgt spid="10"/>
                                        </p:tgtEl>
                                        <p:attrNameLst>
                                          <p:attrName>ppt_y</p:attrName>
                                        </p:attrNameLst>
                                      </p:cBhvr>
                                      <p:tavLst>
                                        <p:tav tm="0">
                                          <p:val>
                                            <p:strVal val="#ppt_y+0.0278"/>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1"/>
                                        </p:tgtEl>
                                        <p:attrNameLst>
                                          <p:attrName>style.visibility</p:attrName>
                                        </p:attrNameLst>
                                      </p:cBhvr>
                                      <p:to>
                                        <p:strVal val="visible"/>
                                      </p:to>
                                    </p:set>
                                    <p:animEffect transition="in" filter="fade">
                                      <p:cBhvr>
                                        <p:cTn id="69" dur="500" decel="100000"/>
                                        <p:tgtEl>
                                          <p:spTgt spid="11"/>
                                        </p:tgtEl>
                                      </p:cBhvr>
                                    </p:animEffect>
                                    <p:anim calcmode="lin" valueType="num">
                                      <p:cBhvr>
                                        <p:cTn id="70" dur="500" decel="100000" fill="hold"/>
                                        <p:tgtEl>
                                          <p:spTgt spid="11"/>
                                        </p:tgtEl>
                                        <p:attrNameLst>
                                          <p:attrName>ppt_x</p:attrName>
                                        </p:attrNameLst>
                                      </p:cBhvr>
                                      <p:tavLst>
                                        <p:tav tm="0">
                                          <p:val>
                                            <p:strVal val="#ppt_x"/>
                                          </p:val>
                                        </p:tav>
                                        <p:tav tm="100000">
                                          <p:val>
                                            <p:strVal val="#ppt_x"/>
                                          </p:val>
                                        </p:tav>
                                      </p:tavLst>
                                    </p:anim>
                                    <p:anim calcmode="lin" valueType="num">
                                      <p:cBhvr>
                                        <p:cTn id="71" dur="500" decel="100000" fill="hold"/>
                                        <p:tgtEl>
                                          <p:spTgt spid="11"/>
                                        </p:tgtEl>
                                        <p:attrNameLst>
                                          <p:attrName>ppt_y</p:attrName>
                                        </p:attrNameLst>
                                      </p:cBhvr>
                                      <p:tavLst>
                                        <p:tav tm="0">
                                          <p:val>
                                            <p:strVal val="#ppt_y+0.0278"/>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2"/>
                                        </p:tgtEl>
                                        <p:attrNameLst>
                                          <p:attrName>style.visibility</p:attrName>
                                        </p:attrNameLst>
                                      </p:cBhvr>
                                      <p:to>
                                        <p:strVal val="visible"/>
                                      </p:to>
                                    </p:set>
                                    <p:animEffect transition="in" filter="fade">
                                      <p:cBhvr>
                                        <p:cTn id="74" dur="500" decel="100000"/>
                                        <p:tgtEl>
                                          <p:spTgt spid="12"/>
                                        </p:tgtEl>
                                      </p:cBhvr>
                                    </p:animEffect>
                                    <p:anim calcmode="lin" valueType="num">
                                      <p:cBhvr>
                                        <p:cTn id="75" dur="500" decel="100000" fill="hold"/>
                                        <p:tgtEl>
                                          <p:spTgt spid="12"/>
                                        </p:tgtEl>
                                        <p:attrNameLst>
                                          <p:attrName>ppt_x</p:attrName>
                                        </p:attrNameLst>
                                      </p:cBhvr>
                                      <p:tavLst>
                                        <p:tav tm="0">
                                          <p:val>
                                            <p:strVal val="#ppt_x"/>
                                          </p:val>
                                        </p:tav>
                                        <p:tav tm="100000">
                                          <p:val>
                                            <p:strVal val="#ppt_x"/>
                                          </p:val>
                                        </p:tav>
                                      </p:tavLst>
                                    </p:anim>
                                    <p:anim calcmode="lin" valueType="num">
                                      <p:cBhvr>
                                        <p:cTn id="76" dur="500" decel="100000" fill="hold"/>
                                        <p:tgtEl>
                                          <p:spTgt spid="12"/>
                                        </p:tgtEl>
                                        <p:attrNameLst>
                                          <p:attrName>ppt_y</p:attrName>
                                        </p:attrNameLst>
                                      </p:cBhvr>
                                      <p:tavLst>
                                        <p:tav tm="0">
                                          <p:val>
                                            <p:strVal val="#ppt_y+0.0278"/>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grpId="0" nodeType="clickEffect">
                                  <p:stCondLst>
                                    <p:cond delay="0"/>
                                  </p:stCondLst>
                                  <p:childTnLst>
                                    <p:set>
                                      <p:cBhvr>
                                        <p:cTn id="80" dur="1" fill="hold">
                                          <p:stCondLst>
                                            <p:cond delay="0"/>
                                          </p:stCondLst>
                                        </p:cTn>
                                        <p:tgtEl>
                                          <p:spTgt spid="13"/>
                                        </p:tgtEl>
                                        <p:attrNameLst>
                                          <p:attrName>style.visibility</p:attrName>
                                        </p:attrNameLst>
                                      </p:cBhvr>
                                      <p:to>
                                        <p:strVal val="visible"/>
                                      </p:to>
                                    </p:set>
                                    <p:animEffect transition="in" filter="fade">
                                      <p:cBhvr>
                                        <p:cTn id="81" dur="500" decel="100000"/>
                                        <p:tgtEl>
                                          <p:spTgt spid="13"/>
                                        </p:tgtEl>
                                      </p:cBhvr>
                                    </p:animEffect>
                                    <p:anim calcmode="lin" valueType="num">
                                      <p:cBhvr>
                                        <p:cTn id="82" dur="500" decel="100000" fill="hold"/>
                                        <p:tgtEl>
                                          <p:spTgt spid="13"/>
                                        </p:tgtEl>
                                        <p:attrNameLst>
                                          <p:attrName>ppt_x</p:attrName>
                                        </p:attrNameLst>
                                      </p:cBhvr>
                                      <p:tavLst>
                                        <p:tav tm="0">
                                          <p:val>
                                            <p:strVal val="#ppt_x"/>
                                          </p:val>
                                        </p:tav>
                                        <p:tav tm="100000">
                                          <p:val>
                                            <p:strVal val="#ppt_x"/>
                                          </p:val>
                                        </p:tav>
                                      </p:tavLst>
                                    </p:anim>
                                    <p:anim calcmode="lin" valueType="num">
                                      <p:cBhvr>
                                        <p:cTn id="83" dur="500" decel="100000" fill="hold"/>
                                        <p:tgtEl>
                                          <p:spTgt spid="13"/>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p:bldP spid="7" grpId="0" animBg="1"/>
      <p:bldP spid="8" grpId="0"/>
      <p:bldP spid="9" grpId="0"/>
      <p:bldP spid="10" grpId="0" animBg="1"/>
      <p:bldP spid="11" grpId="0"/>
      <p:bldP spid="12" grpId="0"/>
      <p:bldP spid="13" grpId="0"/>
      <p:bldP spid="14" grpId="0" animBg="1"/>
      <p:bldP spid="15" grpId="0"/>
      <p:bldP spid="17" grpId="0" animBg="1"/>
      <p:bldP spid="18" grpId="0" animBg="1"/>
      <p:bldP spid="19" grpId="0" animBg="1"/>
    </p:bld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sp>
        <p:nvSpPr>
          <p:cNvPr id="3" name="!!Title"/>
          <p:cNvSpPr txBox="1"/>
          <p:nvPr/>
        </p:nvSpPr>
        <p:spPr>
          <a:xfrm>
            <a:off x="685800" y="868680"/>
            <a:ext cx="9144000" cy="868680"/>
          </a:xfrm>
          <a:prstGeom prst="rect">
            <a:avLst/>
          </a:prstGeom>
          <a:noFill/>
        </p:spPr>
        <p:txBody>
          <a:bodyPr wrap="square" lIns="0" rIns="0" tIns="0" bIns="0" anchor="b">
            <a:noAutofit/>
          </a:bodyPr>
          <a:lstStyle/>
          <a:p>
            <a:pPr algn="l"/>
            <a:r>
              <a:rPr sz="4600">
                <a:solidFill>
                  <a:srgbClr val="7B1421"/>
                </a:solidFill>
                <a:latin typeface="Cream Heavy"/>
              </a:rPr>
              <a:t>63 jours</a:t>
            </a:r>
            <a:r>
              <a:rPr sz="1600">
                <a:solidFill>
                  <a:srgbClr val="6E5A5D"/>
                </a:solidFill>
                <a:latin typeface="Montserrat Medium"/>
              </a:rPr>
              <a:t>   soit 9 semaines de réalisation</a:t>
            </a:r>
          </a:p>
        </p:txBody>
      </p:sp>
      <p:sp>
        <p:nvSpPr>
          <p:cNvPr id="4" name="!!Grid0"/>
          <p:cNvSpPr/>
          <p:nvPr/>
        </p:nvSpPr>
        <p:spPr>
          <a:xfrm>
            <a:off x="3246120" y="2011680"/>
            <a:ext cx="9144" cy="3675888"/>
          </a:xfrm>
          <a:prstGeom prst="rect">
            <a:avLst/>
          </a:prstGeom>
          <a:solidFill>
            <a:srgbClr val="7B1421">
              <a:alpha val="12000"/>
            </a:srgbClr>
          </a:solidFill>
          <a:ln>
            <a:noFill/>
          </a:ln>
        </p:spPr>
        <p:txBody>
          <a:bodyPr rtlCol="0" anchor="ctr"/>
          <a:lstStyle/>
          <a:p/>
        </p:txBody>
      </p:sp>
      <p:sp>
        <p:nvSpPr>
          <p:cNvPr id="5" name="!!Grid1"/>
          <p:cNvSpPr/>
          <p:nvPr/>
        </p:nvSpPr>
        <p:spPr>
          <a:xfrm>
            <a:off x="5097780" y="2011680"/>
            <a:ext cx="9144" cy="3675888"/>
          </a:xfrm>
          <a:prstGeom prst="rect">
            <a:avLst/>
          </a:prstGeom>
          <a:solidFill>
            <a:srgbClr val="7B1421">
              <a:alpha val="12000"/>
            </a:srgbClr>
          </a:solidFill>
          <a:ln>
            <a:noFill/>
          </a:ln>
        </p:spPr>
        <p:txBody>
          <a:bodyPr rtlCol="0" anchor="ctr"/>
          <a:lstStyle/>
          <a:p/>
        </p:txBody>
      </p:sp>
      <p:sp>
        <p:nvSpPr>
          <p:cNvPr id="6" name="!!Grid2"/>
          <p:cNvSpPr/>
          <p:nvPr/>
        </p:nvSpPr>
        <p:spPr>
          <a:xfrm>
            <a:off x="6949440" y="2011680"/>
            <a:ext cx="9144" cy="3675888"/>
          </a:xfrm>
          <a:prstGeom prst="rect">
            <a:avLst/>
          </a:prstGeom>
          <a:solidFill>
            <a:srgbClr val="7B1421">
              <a:alpha val="12000"/>
            </a:srgbClr>
          </a:solidFill>
          <a:ln>
            <a:noFill/>
          </a:ln>
        </p:spPr>
        <p:txBody>
          <a:bodyPr rtlCol="0" anchor="ctr"/>
          <a:lstStyle/>
          <a:p/>
        </p:txBody>
      </p:sp>
      <p:sp>
        <p:nvSpPr>
          <p:cNvPr id="7" name="!!Grid3"/>
          <p:cNvSpPr/>
          <p:nvPr/>
        </p:nvSpPr>
        <p:spPr>
          <a:xfrm>
            <a:off x="8801100" y="2011680"/>
            <a:ext cx="9144" cy="3675888"/>
          </a:xfrm>
          <a:prstGeom prst="rect">
            <a:avLst/>
          </a:prstGeom>
          <a:solidFill>
            <a:srgbClr val="7B1421">
              <a:alpha val="12000"/>
            </a:srgbClr>
          </a:solidFill>
          <a:ln>
            <a:noFill/>
          </a:ln>
        </p:spPr>
        <p:txBody>
          <a:bodyPr rtlCol="0" anchor="ctr"/>
          <a:lstStyle/>
          <a:p/>
        </p:txBody>
      </p:sp>
      <p:sp>
        <p:nvSpPr>
          <p:cNvPr id="8" name="!!Grid4"/>
          <p:cNvSpPr/>
          <p:nvPr/>
        </p:nvSpPr>
        <p:spPr>
          <a:xfrm>
            <a:off x="10652760" y="2011680"/>
            <a:ext cx="9144" cy="3675888"/>
          </a:xfrm>
          <a:prstGeom prst="rect">
            <a:avLst/>
          </a:prstGeom>
          <a:solidFill>
            <a:srgbClr val="7B1421">
              <a:alpha val="12000"/>
            </a:srgbClr>
          </a:solidFill>
          <a:ln>
            <a:noFill/>
          </a:ln>
        </p:spPr>
        <p:txBody>
          <a:bodyPr rtlCol="0" anchor="ctr"/>
          <a:lstStyle/>
          <a:p/>
        </p:txBody>
      </p:sp>
      <p:sp>
        <p:nvSpPr>
          <p:cNvPr id="9" name="!!BarL0"/>
          <p:cNvSpPr txBox="1"/>
          <p:nvPr/>
        </p:nvSpPr>
        <p:spPr>
          <a:xfrm>
            <a:off x="685800" y="2240280"/>
            <a:ext cx="2468880" cy="457200"/>
          </a:xfrm>
          <a:prstGeom prst="rect">
            <a:avLst/>
          </a:prstGeom>
          <a:noFill/>
        </p:spPr>
        <p:txBody>
          <a:bodyPr wrap="square" lIns="0" rIns="0" tIns="0" bIns="0" anchor="ctr">
            <a:noAutofit/>
          </a:bodyPr>
          <a:lstStyle/>
          <a:p>
            <a:pPr algn="l"/>
            <a:r>
              <a:rPr sz="1500">
                <a:solidFill>
                  <a:srgbClr val="2A070D"/>
                </a:solidFill>
                <a:latin typeface="Montserrat SemiBold"/>
              </a:rPr>
              <a:t>Identité visuelle</a:t>
            </a:r>
          </a:p>
        </p:txBody>
      </p:sp>
      <p:sp>
        <p:nvSpPr>
          <p:cNvPr id="10" name="!!Seg0_0"/>
          <p:cNvSpPr/>
          <p:nvPr/>
        </p:nvSpPr>
        <p:spPr>
          <a:xfrm>
            <a:off x="3246120" y="2295144"/>
            <a:ext cx="497041" cy="347472"/>
          </a:xfrm>
          <a:prstGeom prst="roundRect">
            <a:avLst>
              <a:gd name="adj" fmla="val 35000"/>
            </a:avLst>
          </a:prstGeom>
          <a:solidFill>
            <a:srgbClr val="7B1421"/>
          </a:solidFill>
          <a:ln>
            <a:noFill/>
          </a:ln>
        </p:spPr>
        <p:txBody>
          <a:bodyPr rtlCol="0" anchor="ctr"/>
          <a:lstStyle/>
          <a:p/>
        </p:txBody>
      </p:sp>
      <p:sp>
        <p:nvSpPr>
          <p:cNvPr id="11" name="!!Seg0_1"/>
          <p:cNvSpPr/>
          <p:nvPr/>
        </p:nvSpPr>
        <p:spPr>
          <a:xfrm>
            <a:off x="3775165" y="2295144"/>
            <a:ext cx="1819656" cy="347472"/>
          </a:xfrm>
          <a:prstGeom prst="roundRect">
            <a:avLst>
              <a:gd name="adj" fmla="val 35000"/>
            </a:avLst>
          </a:prstGeom>
          <a:solidFill>
            <a:srgbClr val="D9AEB5"/>
          </a:solidFill>
          <a:ln>
            <a:noFill/>
          </a:ln>
        </p:spPr>
        <p:txBody>
          <a:bodyPr rtlCol="0" anchor="ctr"/>
          <a:lstStyle/>
          <a:p/>
        </p:txBody>
      </p:sp>
      <p:sp>
        <p:nvSpPr>
          <p:cNvPr id="12" name="!!BarV0"/>
          <p:cNvSpPr txBox="1"/>
          <p:nvPr/>
        </p:nvSpPr>
        <p:spPr>
          <a:xfrm>
            <a:off x="5736553" y="2240280"/>
            <a:ext cx="914400" cy="457200"/>
          </a:xfrm>
          <a:prstGeom prst="rect">
            <a:avLst/>
          </a:prstGeom>
          <a:noFill/>
        </p:spPr>
        <p:txBody>
          <a:bodyPr wrap="square" lIns="0" rIns="0" tIns="0" bIns="0" anchor="ctr">
            <a:noAutofit/>
          </a:bodyPr>
          <a:lstStyle/>
          <a:p>
            <a:pPr algn="l"/>
            <a:r>
              <a:rPr sz="2000">
                <a:solidFill>
                  <a:srgbClr val="7B1421"/>
                </a:solidFill>
                <a:latin typeface="Cream Heavy"/>
              </a:rPr>
              <a:t>9 j</a:t>
            </a:r>
          </a:p>
        </p:txBody>
      </p:sp>
      <p:sp>
        <p:nvSpPr>
          <p:cNvPr id="13" name="!!BarL1"/>
          <p:cNvSpPr txBox="1"/>
          <p:nvPr/>
        </p:nvSpPr>
        <p:spPr>
          <a:xfrm>
            <a:off x="685800" y="3136392"/>
            <a:ext cx="2468880" cy="457200"/>
          </a:xfrm>
          <a:prstGeom prst="rect">
            <a:avLst/>
          </a:prstGeom>
          <a:noFill/>
        </p:spPr>
        <p:txBody>
          <a:bodyPr wrap="square" lIns="0" rIns="0" tIns="0" bIns="0" anchor="ctr">
            <a:noAutofit/>
          </a:bodyPr>
          <a:lstStyle/>
          <a:p>
            <a:pPr algn="l"/>
            <a:r>
              <a:rPr sz="1500">
                <a:solidFill>
                  <a:srgbClr val="2A070D"/>
                </a:solidFill>
                <a:latin typeface="Montserrat SemiBold"/>
              </a:rPr>
              <a:t>Supports imprimés</a:t>
            </a:r>
          </a:p>
        </p:txBody>
      </p:sp>
      <p:sp>
        <p:nvSpPr>
          <p:cNvPr id="14" name="!!Seg1_0"/>
          <p:cNvSpPr/>
          <p:nvPr/>
        </p:nvSpPr>
        <p:spPr>
          <a:xfrm>
            <a:off x="3246120" y="3191256"/>
            <a:ext cx="761564" cy="347472"/>
          </a:xfrm>
          <a:prstGeom prst="roundRect">
            <a:avLst>
              <a:gd name="adj" fmla="val 35000"/>
            </a:avLst>
          </a:prstGeom>
          <a:solidFill>
            <a:srgbClr val="7B1421"/>
          </a:solidFill>
          <a:ln>
            <a:noFill/>
          </a:ln>
        </p:spPr>
        <p:txBody>
          <a:bodyPr rtlCol="0" anchor="ctr"/>
          <a:lstStyle/>
          <a:p/>
        </p:txBody>
      </p:sp>
      <p:sp>
        <p:nvSpPr>
          <p:cNvPr id="15" name="!!Seg1_1"/>
          <p:cNvSpPr/>
          <p:nvPr/>
        </p:nvSpPr>
        <p:spPr>
          <a:xfrm>
            <a:off x="4039688" y="3191256"/>
            <a:ext cx="232518" cy="347472"/>
          </a:xfrm>
          <a:prstGeom prst="roundRect">
            <a:avLst>
              <a:gd name="adj" fmla="val 35000"/>
            </a:avLst>
          </a:prstGeom>
          <a:solidFill>
            <a:srgbClr val="D9AEB5"/>
          </a:solidFill>
          <a:ln>
            <a:noFill/>
          </a:ln>
        </p:spPr>
        <p:txBody>
          <a:bodyPr rtlCol="0" anchor="ctr"/>
          <a:lstStyle/>
          <a:p/>
        </p:txBody>
      </p:sp>
      <p:sp>
        <p:nvSpPr>
          <p:cNvPr id="16" name="!!Seg1_2"/>
          <p:cNvSpPr/>
          <p:nvPr/>
        </p:nvSpPr>
        <p:spPr>
          <a:xfrm>
            <a:off x="4304211" y="3191256"/>
            <a:ext cx="232518" cy="347472"/>
          </a:xfrm>
          <a:prstGeom prst="roundRect">
            <a:avLst>
              <a:gd name="adj" fmla="val 35000"/>
            </a:avLst>
          </a:prstGeom>
          <a:solidFill>
            <a:srgbClr val="7B1421"/>
          </a:solidFill>
          <a:ln>
            <a:noFill/>
          </a:ln>
        </p:spPr>
        <p:txBody>
          <a:bodyPr rtlCol="0" anchor="ctr"/>
          <a:lstStyle/>
          <a:p/>
        </p:txBody>
      </p:sp>
      <p:sp>
        <p:nvSpPr>
          <p:cNvPr id="17" name="!!Seg1_3"/>
          <p:cNvSpPr/>
          <p:nvPr/>
        </p:nvSpPr>
        <p:spPr>
          <a:xfrm>
            <a:off x="4568734" y="3191256"/>
            <a:ext cx="232518" cy="347472"/>
          </a:xfrm>
          <a:prstGeom prst="roundRect">
            <a:avLst>
              <a:gd name="adj" fmla="val 35000"/>
            </a:avLst>
          </a:prstGeom>
          <a:solidFill>
            <a:srgbClr val="D9AEB5"/>
          </a:solidFill>
          <a:ln>
            <a:noFill/>
          </a:ln>
        </p:spPr>
        <p:txBody>
          <a:bodyPr rtlCol="0" anchor="ctr"/>
          <a:lstStyle/>
          <a:p/>
        </p:txBody>
      </p:sp>
      <p:sp>
        <p:nvSpPr>
          <p:cNvPr id="18" name="!!BarV1"/>
          <p:cNvSpPr txBox="1"/>
          <p:nvPr/>
        </p:nvSpPr>
        <p:spPr>
          <a:xfrm>
            <a:off x="4942985" y="3136392"/>
            <a:ext cx="914400" cy="457200"/>
          </a:xfrm>
          <a:prstGeom prst="rect">
            <a:avLst/>
          </a:prstGeom>
          <a:noFill/>
        </p:spPr>
        <p:txBody>
          <a:bodyPr wrap="square" lIns="0" rIns="0" tIns="0" bIns="0" anchor="ctr">
            <a:noAutofit/>
          </a:bodyPr>
          <a:lstStyle/>
          <a:p>
            <a:pPr algn="l"/>
            <a:r>
              <a:rPr sz="2000">
                <a:solidFill>
                  <a:srgbClr val="7B1421"/>
                </a:solidFill>
                <a:latin typeface="Cream Heavy"/>
              </a:rPr>
              <a:t>6 j</a:t>
            </a:r>
          </a:p>
        </p:txBody>
      </p:sp>
      <p:sp>
        <p:nvSpPr>
          <p:cNvPr id="19" name="!!BarL2"/>
          <p:cNvSpPr txBox="1"/>
          <p:nvPr/>
        </p:nvSpPr>
        <p:spPr>
          <a:xfrm>
            <a:off x="685800" y="4032504"/>
            <a:ext cx="2468880" cy="457200"/>
          </a:xfrm>
          <a:prstGeom prst="rect">
            <a:avLst/>
          </a:prstGeom>
          <a:noFill/>
        </p:spPr>
        <p:txBody>
          <a:bodyPr wrap="square" lIns="0" rIns="0" tIns="0" bIns="0" anchor="ctr">
            <a:noAutofit/>
          </a:bodyPr>
          <a:lstStyle/>
          <a:p>
            <a:pPr algn="l"/>
            <a:r>
              <a:rPr sz="1500">
                <a:solidFill>
                  <a:srgbClr val="2A070D"/>
                </a:solidFill>
                <a:latin typeface="Montserrat SemiBold"/>
              </a:rPr>
              <a:t>Spots animatiques</a:t>
            </a:r>
          </a:p>
        </p:txBody>
      </p:sp>
      <p:sp>
        <p:nvSpPr>
          <p:cNvPr id="20" name="!!Seg2_0"/>
          <p:cNvSpPr/>
          <p:nvPr/>
        </p:nvSpPr>
        <p:spPr>
          <a:xfrm>
            <a:off x="3246120" y="4087368"/>
            <a:ext cx="761564" cy="347472"/>
          </a:xfrm>
          <a:prstGeom prst="roundRect">
            <a:avLst>
              <a:gd name="adj" fmla="val 35000"/>
            </a:avLst>
          </a:prstGeom>
          <a:solidFill>
            <a:srgbClr val="7B1421"/>
          </a:solidFill>
          <a:ln>
            <a:noFill/>
          </a:ln>
        </p:spPr>
        <p:txBody>
          <a:bodyPr rtlCol="0" anchor="ctr"/>
          <a:lstStyle/>
          <a:p/>
        </p:txBody>
      </p:sp>
      <p:sp>
        <p:nvSpPr>
          <p:cNvPr id="21" name="!!Seg2_1"/>
          <p:cNvSpPr/>
          <p:nvPr/>
        </p:nvSpPr>
        <p:spPr>
          <a:xfrm>
            <a:off x="4039688" y="4087368"/>
            <a:ext cx="497041" cy="347472"/>
          </a:xfrm>
          <a:prstGeom prst="roundRect">
            <a:avLst>
              <a:gd name="adj" fmla="val 35000"/>
            </a:avLst>
          </a:prstGeom>
          <a:solidFill>
            <a:srgbClr val="D9AEB5"/>
          </a:solidFill>
          <a:ln>
            <a:noFill/>
          </a:ln>
        </p:spPr>
        <p:txBody>
          <a:bodyPr rtlCol="0" anchor="ctr"/>
          <a:lstStyle/>
          <a:p/>
        </p:txBody>
      </p:sp>
      <p:sp>
        <p:nvSpPr>
          <p:cNvPr id="22" name="!!Seg2_2"/>
          <p:cNvSpPr/>
          <p:nvPr/>
        </p:nvSpPr>
        <p:spPr>
          <a:xfrm>
            <a:off x="4568734" y="4087368"/>
            <a:ext cx="2613224" cy="347472"/>
          </a:xfrm>
          <a:prstGeom prst="roundRect">
            <a:avLst>
              <a:gd name="adj" fmla="val 35000"/>
            </a:avLst>
          </a:prstGeom>
          <a:solidFill>
            <a:srgbClr val="7B1421"/>
          </a:solidFill>
          <a:ln>
            <a:noFill/>
          </a:ln>
        </p:spPr>
        <p:txBody>
          <a:bodyPr rtlCol="0" anchor="ctr"/>
          <a:lstStyle/>
          <a:p/>
        </p:txBody>
      </p:sp>
      <p:sp>
        <p:nvSpPr>
          <p:cNvPr id="23" name="!!Seg2_3"/>
          <p:cNvSpPr/>
          <p:nvPr/>
        </p:nvSpPr>
        <p:spPr>
          <a:xfrm>
            <a:off x="7213962" y="4087368"/>
            <a:ext cx="1290610" cy="347472"/>
          </a:xfrm>
          <a:prstGeom prst="roundRect">
            <a:avLst>
              <a:gd name="adj" fmla="val 35000"/>
            </a:avLst>
          </a:prstGeom>
          <a:solidFill>
            <a:srgbClr val="D9AEB5"/>
          </a:solidFill>
          <a:ln>
            <a:noFill/>
          </a:ln>
        </p:spPr>
        <p:txBody>
          <a:bodyPr rtlCol="0" anchor="ctr"/>
          <a:lstStyle/>
          <a:p/>
        </p:txBody>
      </p:sp>
      <p:sp>
        <p:nvSpPr>
          <p:cNvPr id="24" name="!!BarV2"/>
          <p:cNvSpPr txBox="1"/>
          <p:nvPr/>
        </p:nvSpPr>
        <p:spPr>
          <a:xfrm>
            <a:off x="8646305" y="4032504"/>
            <a:ext cx="914400" cy="457200"/>
          </a:xfrm>
          <a:prstGeom prst="rect">
            <a:avLst/>
          </a:prstGeom>
          <a:noFill/>
        </p:spPr>
        <p:txBody>
          <a:bodyPr wrap="square" lIns="0" rIns="0" tIns="0" bIns="0" anchor="ctr">
            <a:noAutofit/>
          </a:bodyPr>
          <a:lstStyle/>
          <a:p>
            <a:pPr algn="l"/>
            <a:r>
              <a:rPr sz="2000">
                <a:solidFill>
                  <a:srgbClr val="7B1421"/>
                </a:solidFill>
                <a:latin typeface="Cream Heavy"/>
              </a:rPr>
              <a:t>20 j</a:t>
            </a:r>
          </a:p>
        </p:txBody>
      </p:sp>
      <p:sp>
        <p:nvSpPr>
          <p:cNvPr id="25" name="!!BarL3"/>
          <p:cNvSpPr txBox="1"/>
          <p:nvPr/>
        </p:nvSpPr>
        <p:spPr>
          <a:xfrm>
            <a:off x="685800" y="4928616"/>
            <a:ext cx="2468880" cy="457200"/>
          </a:xfrm>
          <a:prstGeom prst="rect">
            <a:avLst/>
          </a:prstGeom>
          <a:noFill/>
        </p:spPr>
        <p:txBody>
          <a:bodyPr wrap="square" lIns="0" rIns="0" tIns="0" bIns="0" anchor="ctr">
            <a:noAutofit/>
          </a:bodyPr>
          <a:lstStyle/>
          <a:p>
            <a:pPr algn="l"/>
            <a:r>
              <a:rPr sz="1500">
                <a:solidFill>
                  <a:srgbClr val="2A070D"/>
                </a:solidFill>
                <a:latin typeface="Montserrat SemiBold"/>
              </a:rPr>
              <a:t>Site web</a:t>
            </a:r>
          </a:p>
        </p:txBody>
      </p:sp>
      <p:sp>
        <p:nvSpPr>
          <p:cNvPr id="26" name="!!Seg3_0"/>
          <p:cNvSpPr/>
          <p:nvPr/>
        </p:nvSpPr>
        <p:spPr>
          <a:xfrm>
            <a:off x="3246120" y="4983480"/>
            <a:ext cx="2613224" cy="347472"/>
          </a:xfrm>
          <a:prstGeom prst="roundRect">
            <a:avLst>
              <a:gd name="adj" fmla="val 35000"/>
            </a:avLst>
          </a:prstGeom>
          <a:solidFill>
            <a:srgbClr val="7B1421"/>
          </a:solidFill>
          <a:ln>
            <a:noFill/>
          </a:ln>
        </p:spPr>
        <p:txBody>
          <a:bodyPr rtlCol="0" anchor="ctr"/>
          <a:lstStyle/>
          <a:p/>
        </p:txBody>
      </p:sp>
      <p:sp>
        <p:nvSpPr>
          <p:cNvPr id="27" name="!!Seg3_1"/>
          <p:cNvSpPr/>
          <p:nvPr/>
        </p:nvSpPr>
        <p:spPr>
          <a:xfrm>
            <a:off x="5891348" y="4983480"/>
            <a:ext cx="1026087" cy="347472"/>
          </a:xfrm>
          <a:prstGeom prst="roundRect">
            <a:avLst>
              <a:gd name="adj" fmla="val 35000"/>
            </a:avLst>
          </a:prstGeom>
          <a:solidFill>
            <a:srgbClr val="D9AEB5"/>
          </a:solidFill>
          <a:ln>
            <a:noFill/>
          </a:ln>
        </p:spPr>
        <p:txBody>
          <a:bodyPr rtlCol="0" anchor="ctr"/>
          <a:lstStyle/>
          <a:p/>
        </p:txBody>
      </p:sp>
      <p:sp>
        <p:nvSpPr>
          <p:cNvPr id="28" name="!!Seg3_2"/>
          <p:cNvSpPr/>
          <p:nvPr/>
        </p:nvSpPr>
        <p:spPr>
          <a:xfrm>
            <a:off x="6949440" y="4983480"/>
            <a:ext cx="1026087" cy="347472"/>
          </a:xfrm>
          <a:prstGeom prst="roundRect">
            <a:avLst>
              <a:gd name="adj" fmla="val 35000"/>
            </a:avLst>
          </a:prstGeom>
          <a:solidFill>
            <a:srgbClr val="7B1421"/>
          </a:solidFill>
          <a:ln>
            <a:noFill/>
          </a:ln>
        </p:spPr>
        <p:txBody>
          <a:bodyPr rtlCol="0" anchor="ctr"/>
          <a:lstStyle/>
          <a:p/>
        </p:txBody>
      </p:sp>
      <p:sp>
        <p:nvSpPr>
          <p:cNvPr id="29" name="!!Seg3_3"/>
          <p:cNvSpPr/>
          <p:nvPr/>
        </p:nvSpPr>
        <p:spPr>
          <a:xfrm>
            <a:off x="8007531" y="4983480"/>
            <a:ext cx="761564" cy="347472"/>
          </a:xfrm>
          <a:prstGeom prst="roundRect">
            <a:avLst>
              <a:gd name="adj" fmla="val 35000"/>
            </a:avLst>
          </a:prstGeom>
          <a:solidFill>
            <a:srgbClr val="D9AEB5"/>
          </a:solidFill>
          <a:ln>
            <a:noFill/>
          </a:ln>
        </p:spPr>
        <p:txBody>
          <a:bodyPr rtlCol="0" anchor="ctr"/>
          <a:lstStyle/>
          <a:p/>
        </p:txBody>
      </p:sp>
      <p:sp>
        <p:nvSpPr>
          <p:cNvPr id="30" name="!!Seg3_4"/>
          <p:cNvSpPr/>
          <p:nvPr/>
        </p:nvSpPr>
        <p:spPr>
          <a:xfrm>
            <a:off x="8801100" y="4983480"/>
            <a:ext cx="761564" cy="347472"/>
          </a:xfrm>
          <a:prstGeom prst="roundRect">
            <a:avLst>
              <a:gd name="adj" fmla="val 35000"/>
            </a:avLst>
          </a:prstGeom>
          <a:solidFill>
            <a:srgbClr val="7B1421"/>
          </a:solidFill>
          <a:ln>
            <a:noFill/>
          </a:ln>
        </p:spPr>
        <p:txBody>
          <a:bodyPr rtlCol="0" anchor="ctr"/>
          <a:lstStyle/>
          <a:p/>
        </p:txBody>
      </p:sp>
      <p:sp>
        <p:nvSpPr>
          <p:cNvPr id="31" name="!!Seg3_5"/>
          <p:cNvSpPr/>
          <p:nvPr/>
        </p:nvSpPr>
        <p:spPr>
          <a:xfrm>
            <a:off x="9594668" y="4983480"/>
            <a:ext cx="1026087" cy="347472"/>
          </a:xfrm>
          <a:prstGeom prst="roundRect">
            <a:avLst>
              <a:gd name="adj" fmla="val 35000"/>
            </a:avLst>
          </a:prstGeom>
          <a:solidFill>
            <a:srgbClr val="D9AEB5"/>
          </a:solidFill>
          <a:ln>
            <a:noFill/>
          </a:ln>
        </p:spPr>
        <p:txBody>
          <a:bodyPr rtlCol="0" anchor="ctr"/>
          <a:lstStyle/>
          <a:p/>
        </p:txBody>
      </p:sp>
      <p:sp>
        <p:nvSpPr>
          <p:cNvPr id="32" name="!!BarV3"/>
          <p:cNvSpPr txBox="1"/>
          <p:nvPr/>
        </p:nvSpPr>
        <p:spPr>
          <a:xfrm>
            <a:off x="10762488" y="4928616"/>
            <a:ext cx="914400" cy="457200"/>
          </a:xfrm>
          <a:prstGeom prst="rect">
            <a:avLst/>
          </a:prstGeom>
          <a:noFill/>
        </p:spPr>
        <p:txBody>
          <a:bodyPr wrap="square" lIns="0" rIns="0" tIns="0" bIns="0" anchor="ctr">
            <a:noAutofit/>
          </a:bodyPr>
          <a:lstStyle/>
          <a:p>
            <a:pPr algn="l"/>
            <a:r>
              <a:rPr sz="2000">
                <a:solidFill>
                  <a:srgbClr val="7B1421"/>
                </a:solidFill>
                <a:latin typeface="Cream Heavy"/>
              </a:rPr>
              <a:t>28 j</a:t>
            </a:r>
          </a:p>
        </p:txBody>
      </p:sp>
      <p:sp>
        <p:nvSpPr>
          <p:cNvPr id="33" name="!!Accent"/>
          <p:cNvSpPr/>
          <p:nvPr/>
        </p:nvSpPr>
        <p:spPr>
          <a:xfrm>
            <a:off x="685800" y="338328"/>
            <a:ext cx="384048" cy="32004"/>
          </a:xfrm>
          <a:prstGeom prst="rect">
            <a:avLst/>
          </a:prstGeom>
          <a:solidFill>
            <a:srgbClr val="F9A825"/>
          </a:solidFill>
          <a:ln>
            <a:noFill/>
          </a:ln>
        </p:spPr>
        <p:txBody>
          <a:bodyPr rtlCol="0" anchor="ctr"/>
          <a:lstStyle/>
          <a:p/>
        </p:txBody>
      </p:sp>
      <p:sp>
        <p:nvSpPr>
          <p:cNvPr id="34"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06 · Calendrier d’exécution</a:t>
            </a:r>
          </a:p>
        </p:txBody>
      </p:sp>
      <p:sp>
        <p:nvSpPr>
          <p:cNvPr id="35"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43</a:t>
            </a:r>
          </a:p>
        </p:txBody>
      </p:sp>
      <p:sp>
        <p:nvSpPr>
          <p:cNvPr id="36"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37"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38"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39" name="!!Logo" descr="Logo Marin'Or Ivoire"/>
          <p:cNvPicPr>
            <a:picLocks noChangeAspect="1"/>
          </p:cNvPicPr>
          <p:nvPr/>
        </p:nvPicPr>
        <p:blipFill>
          <a:blip r:embed="rId2"/>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decel="1000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decel="100000"/>
                                        <p:tgtEl>
                                          <p:spTgt spid="34"/>
                                        </p:tgtEl>
                                      </p:cBhvr>
                                    </p:animEffect>
                                    <p:anim calcmode="lin" valueType="num">
                                      <p:cBhvr>
                                        <p:cTn id="13" dur="500" decel="100000" fill="hold"/>
                                        <p:tgtEl>
                                          <p:spTgt spid="34"/>
                                        </p:tgtEl>
                                        <p:attrNameLst>
                                          <p:attrName>ppt_x</p:attrName>
                                        </p:attrNameLst>
                                      </p:cBhvr>
                                      <p:tavLst>
                                        <p:tav tm="0">
                                          <p:val>
                                            <p:strVal val="#ppt_x"/>
                                          </p:val>
                                        </p:tav>
                                        <p:tav tm="100000">
                                          <p:val>
                                            <p:strVal val="#ppt_x"/>
                                          </p:val>
                                        </p:tav>
                                      </p:tavLst>
                                    </p:anim>
                                    <p:anim calcmode="lin" valueType="num">
                                      <p:cBhvr>
                                        <p:cTn id="14" dur="500" decel="100000" fill="hold"/>
                                        <p:tgtEl>
                                          <p:spTgt spid="34"/>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36"/>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37"/>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38"/>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wipe(left)">
                                      <p:cBhvr>
                                        <p:cTn id="24" dur="400" decel="100000"/>
                                        <p:tgtEl>
                                          <p:spTgt spid="33"/>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00" decel="100000"/>
                                        <p:tgtEl>
                                          <p:spTgt spid="9"/>
                                        </p:tgtEl>
                                      </p:cBhvr>
                                    </p:animEffect>
                                    <p:anim calcmode="lin" valueType="num">
                                      <p:cBhvr>
                                        <p:cTn id="31" dur="400" decel="100000" fill="hold"/>
                                        <p:tgtEl>
                                          <p:spTgt spid="9"/>
                                        </p:tgtEl>
                                        <p:attrNameLst>
                                          <p:attrName>ppt_x</p:attrName>
                                        </p:attrNameLst>
                                      </p:cBhvr>
                                      <p:tavLst>
                                        <p:tav tm="0">
                                          <p:val>
                                            <p:strVal val="#ppt_x"/>
                                          </p:val>
                                        </p:tav>
                                        <p:tav tm="100000">
                                          <p:val>
                                            <p:strVal val="#ppt_x"/>
                                          </p:val>
                                        </p:tav>
                                      </p:tavLst>
                                    </p:anim>
                                    <p:anim calcmode="lin" valueType="num">
                                      <p:cBhvr>
                                        <p:cTn id="32" dur="400" decel="100000" fill="hold"/>
                                        <p:tgtEl>
                                          <p:spTgt spid="9"/>
                                        </p:tgtEl>
                                        <p:attrNameLst>
                                          <p:attrName>ppt_y</p:attrName>
                                        </p:attrNameLst>
                                      </p:cBhvr>
                                      <p:tavLst>
                                        <p:tav tm="0">
                                          <p:val>
                                            <p:strVal val="#ppt_y+0.0278"/>
                                          </p:val>
                                        </p:tav>
                                        <p:tav tm="100000">
                                          <p:val>
                                            <p:strVal val="#ppt_y"/>
                                          </p:val>
                                        </p:tav>
                                      </p:tavLst>
                                    </p:anim>
                                  </p:childTnLst>
                                </p:cTn>
                              </p:par>
                            </p:childTnLst>
                          </p:cTn>
                        </p:par>
                        <p:par>
                          <p:cTn id="33" fill="hold">
                            <p:stCondLst>
                              <p:cond delay="400"/>
                            </p:stCondLst>
                            <p:childTnLst>
                              <p:par>
                                <p:cTn id="34" presetID="22" presetClass="entr" presetSubtype="8" fill="hold" grpId="0"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6" dur="160" decel="100000"/>
                                        <p:tgtEl>
                                          <p:spTgt spid="10"/>
                                        </p:tgtEl>
                                      </p:cBhvr>
                                    </p:animEffect>
                                  </p:childTnLst>
                                </p:cTn>
                              </p:par>
                            </p:childTnLst>
                          </p:cTn>
                        </p:par>
                        <p:par>
                          <p:cTn id="38" fill="hold">
                            <p:stCondLst>
                              <p:cond delay="560"/>
                            </p:stCondLst>
                            <p:childTnLst>
                              <p:par>
                                <p:cTn id="39" presetID="22" presetClass="entr" presetSubtype="8" fill="hold" grpId="0" nodeType="after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left)">
                                      <p:cBhvr>
                                        <p:cTn id="41" dur="238" decel="100000"/>
                                        <p:tgtEl>
                                          <p:spTgt spid="11"/>
                                        </p:tgtEl>
                                      </p:cBhvr>
                                    </p:animEffect>
                                  </p:childTnLst>
                                </p:cTn>
                              </p:par>
                            </p:childTnLst>
                          </p:cTn>
                        </p:par>
                        <p:par>
                          <p:cTn id="43" fill="hold">
                            <p:stCondLst>
                              <p:cond delay="798"/>
                            </p:stCondLst>
                            <p:childTnLst>
                              <p:par>
                                <p:cTn id="44" presetID="10" presetClass="entr" presetSubtype="0" fill="hold" grpId="0" nodeType="after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300" decel="100000"/>
                                        <p:tgtEl>
                                          <p:spTgt spid="12"/>
                                        </p:tgtEl>
                                      </p:cBhvr>
                                    </p:animEffect>
                                  </p:childTnLst>
                                </p:cTn>
                              </p:par>
                            </p:childTnLst>
                          </p:cTn>
                        </p:par>
                        <p:par>
                          <p:cTn id="48" fill="hold">
                            <p:stCondLst>
                              <p:cond delay="1098"/>
                            </p:stCondLst>
                            <p:childTnLst>
                              <p:par>
                                <p:cTn id="49" presetID="42" presetClass="entr" presetSubtype="0" fill="hold" grpId="0" nodeType="after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400" decel="100000"/>
                                        <p:tgtEl>
                                          <p:spTgt spid="13"/>
                                        </p:tgtEl>
                                      </p:cBhvr>
                                    </p:animEffect>
                                    <p:anim calcmode="lin" valueType="num">
                                      <p:cBhvr>
                                        <p:cTn id="52" dur="400" decel="100000" fill="hold"/>
                                        <p:tgtEl>
                                          <p:spTgt spid="13"/>
                                        </p:tgtEl>
                                        <p:attrNameLst>
                                          <p:attrName>ppt_x</p:attrName>
                                        </p:attrNameLst>
                                      </p:cBhvr>
                                      <p:tavLst>
                                        <p:tav tm="0">
                                          <p:val>
                                            <p:strVal val="#ppt_x"/>
                                          </p:val>
                                        </p:tav>
                                        <p:tav tm="100000">
                                          <p:val>
                                            <p:strVal val="#ppt_x"/>
                                          </p:val>
                                        </p:tav>
                                      </p:tavLst>
                                    </p:anim>
                                    <p:anim calcmode="lin" valueType="num">
                                      <p:cBhvr>
                                        <p:cTn id="53" dur="400" decel="100000" fill="hold"/>
                                        <p:tgtEl>
                                          <p:spTgt spid="13"/>
                                        </p:tgtEl>
                                        <p:attrNameLst>
                                          <p:attrName>ppt_y</p:attrName>
                                        </p:attrNameLst>
                                      </p:cBhvr>
                                      <p:tavLst>
                                        <p:tav tm="0">
                                          <p:val>
                                            <p:strVal val="#ppt_y+0.0278"/>
                                          </p:val>
                                        </p:tav>
                                        <p:tav tm="100000">
                                          <p:val>
                                            <p:strVal val="#ppt_y"/>
                                          </p:val>
                                        </p:tav>
                                      </p:tavLst>
                                    </p:anim>
                                  </p:childTnLst>
                                </p:cTn>
                              </p:par>
                            </p:childTnLst>
                          </p:cTn>
                        </p:par>
                        <p:par>
                          <p:cTn id="54" fill="hold">
                            <p:stCondLst>
                              <p:cond delay="1498"/>
                            </p:stCondLst>
                            <p:childTnLst>
                              <p:par>
                                <p:cTn id="55" presetID="22" presetClass="entr" presetSubtype="8" fill="hold" grpId="0" nodeType="after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160" decel="100000"/>
                                        <p:tgtEl>
                                          <p:spTgt spid="14"/>
                                        </p:tgtEl>
                                      </p:cBhvr>
                                    </p:animEffect>
                                  </p:childTnLst>
                                </p:cTn>
                              </p:par>
                            </p:childTnLst>
                          </p:cTn>
                        </p:par>
                        <p:par>
                          <p:cTn id="59" fill="hold">
                            <p:stCondLst>
                              <p:cond delay="1658"/>
                            </p:stCondLst>
                            <p:childTnLst>
                              <p:par>
                                <p:cTn id="60" presetID="22" presetClass="entr" presetSubtype="8" fill="hold" grpId="0" nodeType="after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160" decel="100000"/>
                                        <p:tgtEl>
                                          <p:spTgt spid="15"/>
                                        </p:tgtEl>
                                      </p:cBhvr>
                                    </p:animEffect>
                                  </p:childTnLst>
                                </p:cTn>
                              </p:par>
                            </p:childTnLst>
                          </p:cTn>
                        </p:par>
                        <p:par>
                          <p:cTn id="64" fill="hold">
                            <p:stCondLst>
                              <p:cond delay="1818"/>
                            </p:stCondLst>
                            <p:childTnLst>
                              <p:par>
                                <p:cTn id="65" presetID="22" presetClass="entr" presetSubtype="8" fill="hold" grpId="0" nodeType="after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wipe(left)">
                                      <p:cBhvr>
                                        <p:cTn id="67" dur="160" decel="100000"/>
                                        <p:tgtEl>
                                          <p:spTgt spid="16"/>
                                        </p:tgtEl>
                                      </p:cBhvr>
                                    </p:animEffect>
                                  </p:childTnLst>
                                </p:cTn>
                              </p:par>
                            </p:childTnLst>
                          </p:cTn>
                        </p:par>
                        <p:par>
                          <p:cTn id="69" fill="hold">
                            <p:stCondLst>
                              <p:cond delay="1978"/>
                            </p:stCondLst>
                            <p:childTnLst>
                              <p:par>
                                <p:cTn id="70" presetID="22" presetClass="entr" presetSubtype="8" fill="hold" grpId="0" nodeType="after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wipe(left)">
                                      <p:cBhvr>
                                        <p:cTn id="72" dur="160" decel="100000"/>
                                        <p:tgtEl>
                                          <p:spTgt spid="17"/>
                                        </p:tgtEl>
                                      </p:cBhvr>
                                    </p:animEffect>
                                  </p:childTnLst>
                                </p:cTn>
                              </p:par>
                            </p:childTnLst>
                          </p:cTn>
                        </p:par>
                        <p:par>
                          <p:cTn id="74" fill="hold">
                            <p:stCondLst>
                              <p:cond delay="2138"/>
                            </p:stCondLst>
                            <p:childTnLst>
                              <p:par>
                                <p:cTn id="75" presetID="10" presetClass="entr" presetSubtype="0" fill="hold" grpId="0" nodeType="after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300" decel="100000"/>
                                        <p:tgtEl>
                                          <p:spTgt spid="18"/>
                                        </p:tgtEl>
                                      </p:cBhvr>
                                    </p:animEffect>
                                  </p:childTnLst>
                                </p:cTn>
                              </p:par>
                            </p:childTnLst>
                          </p:cTn>
                        </p:par>
                        <p:par>
                          <p:cTn id="79" fill="hold">
                            <p:stCondLst>
                              <p:cond delay="2438"/>
                            </p:stCondLst>
                            <p:childTnLst>
                              <p:par>
                                <p:cTn id="80" presetID="42" presetClass="entr" presetSubtype="0" fill="hold" grpId="0" nodeType="after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400" decel="100000"/>
                                        <p:tgtEl>
                                          <p:spTgt spid="19"/>
                                        </p:tgtEl>
                                      </p:cBhvr>
                                    </p:animEffect>
                                    <p:anim calcmode="lin" valueType="num">
                                      <p:cBhvr>
                                        <p:cTn id="83" dur="400" decel="100000" fill="hold"/>
                                        <p:tgtEl>
                                          <p:spTgt spid="19"/>
                                        </p:tgtEl>
                                        <p:attrNameLst>
                                          <p:attrName>ppt_x</p:attrName>
                                        </p:attrNameLst>
                                      </p:cBhvr>
                                      <p:tavLst>
                                        <p:tav tm="0">
                                          <p:val>
                                            <p:strVal val="#ppt_x"/>
                                          </p:val>
                                        </p:tav>
                                        <p:tav tm="100000">
                                          <p:val>
                                            <p:strVal val="#ppt_x"/>
                                          </p:val>
                                        </p:tav>
                                      </p:tavLst>
                                    </p:anim>
                                    <p:anim calcmode="lin" valueType="num">
                                      <p:cBhvr>
                                        <p:cTn id="84" dur="400" decel="100000" fill="hold"/>
                                        <p:tgtEl>
                                          <p:spTgt spid="19"/>
                                        </p:tgtEl>
                                        <p:attrNameLst>
                                          <p:attrName>ppt_y</p:attrName>
                                        </p:attrNameLst>
                                      </p:cBhvr>
                                      <p:tavLst>
                                        <p:tav tm="0">
                                          <p:val>
                                            <p:strVal val="#ppt_y+0.0278"/>
                                          </p:val>
                                        </p:tav>
                                        <p:tav tm="100000">
                                          <p:val>
                                            <p:strVal val="#ppt_y"/>
                                          </p:val>
                                        </p:tav>
                                      </p:tavLst>
                                    </p:anim>
                                  </p:childTnLst>
                                </p:cTn>
                              </p:par>
                            </p:childTnLst>
                          </p:cTn>
                        </p:par>
                        <p:par>
                          <p:cTn id="85" fill="hold">
                            <p:stCondLst>
                              <p:cond delay="2838"/>
                            </p:stCondLst>
                            <p:childTnLst>
                              <p:par>
                                <p:cTn id="86" presetID="22" presetClass="entr" presetSubtype="8" fill="hold" grpId="0" nodeType="afterEffect">
                                  <p:stCondLst>
                                    <p:cond delay="0"/>
                                  </p:stCondLst>
                                  <p:childTnLst>
                                    <p:set>
                                      <p:cBhvr>
                                        <p:cTn id="87" dur="1" fill="hold">
                                          <p:stCondLst>
                                            <p:cond delay="0"/>
                                          </p:stCondLst>
                                        </p:cTn>
                                        <p:tgtEl>
                                          <p:spTgt spid="20"/>
                                        </p:tgtEl>
                                        <p:attrNameLst>
                                          <p:attrName>style.visibility</p:attrName>
                                        </p:attrNameLst>
                                      </p:cBhvr>
                                      <p:to>
                                        <p:strVal val="visible"/>
                                      </p:to>
                                    </p:set>
                                    <p:animEffect transition="in" filter="wipe(left)">
                                      <p:cBhvr>
                                        <p:cTn id="88" dur="160" decel="100000"/>
                                        <p:tgtEl>
                                          <p:spTgt spid="20"/>
                                        </p:tgtEl>
                                      </p:cBhvr>
                                    </p:animEffect>
                                  </p:childTnLst>
                                </p:cTn>
                              </p:par>
                            </p:childTnLst>
                          </p:cTn>
                        </p:par>
                        <p:par>
                          <p:cTn id="90" fill="hold">
                            <p:stCondLst>
                              <p:cond delay="2998"/>
                            </p:stCondLst>
                            <p:childTnLst>
                              <p:par>
                                <p:cTn id="91" presetID="22" presetClass="entr" presetSubtype="8" fill="hold" grpId="0" nodeType="afterEffect">
                                  <p:stCondLst>
                                    <p:cond delay="0"/>
                                  </p:stCondLst>
                                  <p:childTnLst>
                                    <p:set>
                                      <p:cBhvr>
                                        <p:cTn id="92" dur="1" fill="hold">
                                          <p:stCondLst>
                                            <p:cond delay="0"/>
                                          </p:stCondLst>
                                        </p:cTn>
                                        <p:tgtEl>
                                          <p:spTgt spid="21"/>
                                        </p:tgtEl>
                                        <p:attrNameLst>
                                          <p:attrName>style.visibility</p:attrName>
                                        </p:attrNameLst>
                                      </p:cBhvr>
                                      <p:to>
                                        <p:strVal val="visible"/>
                                      </p:to>
                                    </p:set>
                                    <p:animEffect transition="in" filter="wipe(left)">
                                      <p:cBhvr>
                                        <p:cTn id="93" dur="160" decel="100000"/>
                                        <p:tgtEl>
                                          <p:spTgt spid="21"/>
                                        </p:tgtEl>
                                      </p:cBhvr>
                                    </p:animEffect>
                                  </p:childTnLst>
                                </p:cTn>
                              </p:par>
                            </p:childTnLst>
                          </p:cTn>
                        </p:par>
                        <p:par>
                          <p:cTn id="95" fill="hold">
                            <p:stCondLst>
                              <p:cond delay="3158"/>
                            </p:stCondLst>
                            <p:childTnLst>
                              <p:par>
                                <p:cTn id="96" presetID="22" presetClass="entr" presetSubtype="8" fill="hold" grpId="0" nodeType="afterEffect">
                                  <p:stCondLst>
                                    <p:cond delay="0"/>
                                  </p:stCondLst>
                                  <p:childTnLst>
                                    <p:set>
                                      <p:cBhvr>
                                        <p:cTn id="97" dur="1" fill="hold">
                                          <p:stCondLst>
                                            <p:cond delay="0"/>
                                          </p:stCondLst>
                                        </p:cTn>
                                        <p:tgtEl>
                                          <p:spTgt spid="22"/>
                                        </p:tgtEl>
                                        <p:attrNameLst>
                                          <p:attrName>style.visibility</p:attrName>
                                        </p:attrNameLst>
                                      </p:cBhvr>
                                      <p:to>
                                        <p:strVal val="visible"/>
                                      </p:to>
                                    </p:set>
                                    <p:animEffect transition="in" filter="wipe(left)">
                                      <p:cBhvr>
                                        <p:cTn id="98" dur="340" decel="100000"/>
                                        <p:tgtEl>
                                          <p:spTgt spid="22"/>
                                        </p:tgtEl>
                                      </p:cBhvr>
                                    </p:animEffect>
                                  </p:childTnLst>
                                </p:cTn>
                              </p:par>
                            </p:childTnLst>
                          </p:cTn>
                        </p:par>
                        <p:par>
                          <p:cTn id="100" fill="hold">
                            <p:stCondLst>
                              <p:cond delay="3498"/>
                            </p:stCondLst>
                            <p:childTnLst>
                              <p:par>
                                <p:cTn id="101" presetID="22" presetClass="entr" presetSubtype="8" fill="hold" grpId="0" nodeType="afterEffect">
                                  <p:stCondLst>
                                    <p:cond delay="0"/>
                                  </p:stCondLst>
                                  <p:childTnLst>
                                    <p:set>
                                      <p:cBhvr>
                                        <p:cTn id="102" dur="1" fill="hold">
                                          <p:stCondLst>
                                            <p:cond delay="0"/>
                                          </p:stCondLst>
                                        </p:cTn>
                                        <p:tgtEl>
                                          <p:spTgt spid="23"/>
                                        </p:tgtEl>
                                        <p:attrNameLst>
                                          <p:attrName>style.visibility</p:attrName>
                                        </p:attrNameLst>
                                      </p:cBhvr>
                                      <p:to>
                                        <p:strVal val="visible"/>
                                      </p:to>
                                    </p:set>
                                    <p:animEffect transition="in" filter="wipe(left)">
                                      <p:cBhvr>
                                        <p:cTn id="103" dur="170" decel="100000"/>
                                        <p:tgtEl>
                                          <p:spTgt spid="23"/>
                                        </p:tgtEl>
                                      </p:cBhvr>
                                    </p:animEffect>
                                  </p:childTnLst>
                                </p:cTn>
                              </p:par>
                            </p:childTnLst>
                          </p:cTn>
                        </p:par>
                        <p:par>
                          <p:cTn id="105" fill="hold">
                            <p:stCondLst>
                              <p:cond delay="3668"/>
                            </p:stCondLst>
                            <p:childTnLst>
                              <p:par>
                                <p:cTn id="106" presetID="10" presetClass="entr" presetSubtype="0" fill="hold" grpId="0" nodeType="afterEffect">
                                  <p:stCondLst>
                                    <p:cond delay="0"/>
                                  </p:stCondLst>
                                  <p:childTnLst>
                                    <p:set>
                                      <p:cBhvr>
                                        <p:cTn id="107" dur="1" fill="hold">
                                          <p:stCondLst>
                                            <p:cond delay="0"/>
                                          </p:stCondLst>
                                        </p:cTn>
                                        <p:tgtEl>
                                          <p:spTgt spid="24"/>
                                        </p:tgtEl>
                                        <p:attrNameLst>
                                          <p:attrName>style.visibility</p:attrName>
                                        </p:attrNameLst>
                                      </p:cBhvr>
                                      <p:to>
                                        <p:strVal val="visible"/>
                                      </p:to>
                                    </p:set>
                                    <p:animEffect transition="in" filter="fade">
                                      <p:cBhvr>
                                        <p:cTn id="108" dur="300" decel="100000"/>
                                        <p:tgtEl>
                                          <p:spTgt spid="24"/>
                                        </p:tgtEl>
                                      </p:cBhvr>
                                    </p:animEffect>
                                  </p:childTnLst>
                                </p:cTn>
                              </p:par>
                            </p:childTnLst>
                          </p:cTn>
                        </p:par>
                        <p:par>
                          <p:cTn id="110" fill="hold">
                            <p:stCondLst>
                              <p:cond delay="3968"/>
                            </p:stCondLst>
                            <p:childTnLst>
                              <p:par>
                                <p:cTn id="111" presetID="42" presetClass="entr" presetSubtype="0" fill="hold" grpId="0" nodeType="afterEffect">
                                  <p:stCondLst>
                                    <p:cond delay="0"/>
                                  </p:stCondLst>
                                  <p:childTnLst>
                                    <p:set>
                                      <p:cBhvr>
                                        <p:cTn id="112" dur="1" fill="hold">
                                          <p:stCondLst>
                                            <p:cond delay="0"/>
                                          </p:stCondLst>
                                        </p:cTn>
                                        <p:tgtEl>
                                          <p:spTgt spid="25"/>
                                        </p:tgtEl>
                                        <p:attrNameLst>
                                          <p:attrName>style.visibility</p:attrName>
                                        </p:attrNameLst>
                                      </p:cBhvr>
                                      <p:to>
                                        <p:strVal val="visible"/>
                                      </p:to>
                                    </p:set>
                                    <p:animEffect transition="in" filter="fade">
                                      <p:cBhvr>
                                        <p:cTn id="113" dur="400" decel="100000"/>
                                        <p:tgtEl>
                                          <p:spTgt spid="25"/>
                                        </p:tgtEl>
                                      </p:cBhvr>
                                    </p:animEffect>
                                    <p:anim calcmode="lin" valueType="num">
                                      <p:cBhvr>
                                        <p:cTn id="114" dur="400" decel="100000" fill="hold"/>
                                        <p:tgtEl>
                                          <p:spTgt spid="25"/>
                                        </p:tgtEl>
                                        <p:attrNameLst>
                                          <p:attrName>ppt_x</p:attrName>
                                        </p:attrNameLst>
                                      </p:cBhvr>
                                      <p:tavLst>
                                        <p:tav tm="0">
                                          <p:val>
                                            <p:strVal val="#ppt_x"/>
                                          </p:val>
                                        </p:tav>
                                        <p:tav tm="100000">
                                          <p:val>
                                            <p:strVal val="#ppt_x"/>
                                          </p:val>
                                        </p:tav>
                                      </p:tavLst>
                                    </p:anim>
                                    <p:anim calcmode="lin" valueType="num">
                                      <p:cBhvr>
                                        <p:cTn id="115" dur="400" decel="100000" fill="hold"/>
                                        <p:tgtEl>
                                          <p:spTgt spid="25"/>
                                        </p:tgtEl>
                                        <p:attrNameLst>
                                          <p:attrName>ppt_y</p:attrName>
                                        </p:attrNameLst>
                                      </p:cBhvr>
                                      <p:tavLst>
                                        <p:tav tm="0">
                                          <p:val>
                                            <p:strVal val="#ppt_y+0.0278"/>
                                          </p:val>
                                        </p:tav>
                                        <p:tav tm="100000">
                                          <p:val>
                                            <p:strVal val="#ppt_y"/>
                                          </p:val>
                                        </p:tav>
                                      </p:tavLst>
                                    </p:anim>
                                  </p:childTnLst>
                                </p:cTn>
                              </p:par>
                            </p:childTnLst>
                          </p:cTn>
                        </p:par>
                        <p:par>
                          <p:cTn id="116" fill="hold">
                            <p:stCondLst>
                              <p:cond delay="4368"/>
                            </p:stCondLst>
                            <p:childTnLst>
                              <p:par>
                                <p:cTn id="117" presetID="22" presetClass="entr" presetSubtype="8" fill="hold" grpId="0" nodeType="afterEffect">
                                  <p:stCondLst>
                                    <p:cond delay="0"/>
                                  </p:stCondLst>
                                  <p:childTnLst>
                                    <p:set>
                                      <p:cBhvr>
                                        <p:cTn id="118" dur="1" fill="hold">
                                          <p:stCondLst>
                                            <p:cond delay="0"/>
                                          </p:stCondLst>
                                        </p:cTn>
                                        <p:tgtEl>
                                          <p:spTgt spid="26"/>
                                        </p:tgtEl>
                                        <p:attrNameLst>
                                          <p:attrName>style.visibility</p:attrName>
                                        </p:attrNameLst>
                                      </p:cBhvr>
                                      <p:to>
                                        <p:strVal val="visible"/>
                                      </p:to>
                                    </p:set>
                                    <p:animEffect transition="in" filter="wipe(left)">
                                      <p:cBhvr>
                                        <p:cTn id="119" dur="340" decel="100000"/>
                                        <p:tgtEl>
                                          <p:spTgt spid="26"/>
                                        </p:tgtEl>
                                      </p:cBhvr>
                                    </p:animEffect>
                                  </p:childTnLst>
                                </p:cTn>
                              </p:par>
                            </p:childTnLst>
                          </p:cTn>
                        </p:par>
                        <p:par>
                          <p:cTn id="121" fill="hold">
                            <p:stCondLst>
                              <p:cond delay="4708"/>
                            </p:stCondLst>
                            <p:childTnLst>
                              <p:par>
                                <p:cTn id="122" presetID="22" presetClass="entr" presetSubtype="8" fill="hold" grpId="0" nodeType="afterEffect">
                                  <p:stCondLst>
                                    <p:cond delay="0"/>
                                  </p:stCondLst>
                                  <p:childTnLst>
                                    <p:set>
                                      <p:cBhvr>
                                        <p:cTn id="123" dur="1" fill="hold">
                                          <p:stCondLst>
                                            <p:cond delay="0"/>
                                          </p:stCondLst>
                                        </p:cTn>
                                        <p:tgtEl>
                                          <p:spTgt spid="27"/>
                                        </p:tgtEl>
                                        <p:attrNameLst>
                                          <p:attrName>style.visibility</p:attrName>
                                        </p:attrNameLst>
                                      </p:cBhvr>
                                      <p:to>
                                        <p:strVal val="visible"/>
                                      </p:to>
                                    </p:set>
                                    <p:animEffect transition="in" filter="wipe(left)">
                                      <p:cBhvr>
                                        <p:cTn id="124" dur="160" decel="100000"/>
                                        <p:tgtEl>
                                          <p:spTgt spid="27"/>
                                        </p:tgtEl>
                                      </p:cBhvr>
                                    </p:animEffect>
                                  </p:childTnLst>
                                </p:cTn>
                              </p:par>
                            </p:childTnLst>
                          </p:cTn>
                        </p:par>
                        <p:par>
                          <p:cTn id="126" fill="hold">
                            <p:stCondLst>
                              <p:cond delay="4868"/>
                            </p:stCondLst>
                            <p:childTnLst>
                              <p:par>
                                <p:cTn id="127" presetID="22" presetClass="entr" presetSubtype="8" fill="hold" grpId="0" nodeType="afterEffect">
                                  <p:stCondLst>
                                    <p:cond delay="0"/>
                                  </p:stCondLst>
                                  <p:childTnLst>
                                    <p:set>
                                      <p:cBhvr>
                                        <p:cTn id="128" dur="1" fill="hold">
                                          <p:stCondLst>
                                            <p:cond delay="0"/>
                                          </p:stCondLst>
                                        </p:cTn>
                                        <p:tgtEl>
                                          <p:spTgt spid="28"/>
                                        </p:tgtEl>
                                        <p:attrNameLst>
                                          <p:attrName>style.visibility</p:attrName>
                                        </p:attrNameLst>
                                      </p:cBhvr>
                                      <p:to>
                                        <p:strVal val="visible"/>
                                      </p:to>
                                    </p:set>
                                    <p:animEffect transition="in" filter="wipe(left)">
                                      <p:cBhvr>
                                        <p:cTn id="129" dur="160" decel="100000"/>
                                        <p:tgtEl>
                                          <p:spTgt spid="28"/>
                                        </p:tgtEl>
                                      </p:cBhvr>
                                    </p:animEffect>
                                  </p:childTnLst>
                                </p:cTn>
                              </p:par>
                            </p:childTnLst>
                          </p:cTn>
                        </p:par>
                        <p:par>
                          <p:cTn id="131" fill="hold">
                            <p:stCondLst>
                              <p:cond delay="5028"/>
                            </p:stCondLst>
                            <p:childTnLst>
                              <p:par>
                                <p:cTn id="132" presetID="22" presetClass="entr" presetSubtype="8" fill="hold" grpId="0" nodeType="afterEffect">
                                  <p:stCondLst>
                                    <p:cond delay="0"/>
                                  </p:stCondLst>
                                  <p:childTnLst>
                                    <p:set>
                                      <p:cBhvr>
                                        <p:cTn id="133" dur="1" fill="hold">
                                          <p:stCondLst>
                                            <p:cond delay="0"/>
                                          </p:stCondLst>
                                        </p:cTn>
                                        <p:tgtEl>
                                          <p:spTgt spid="29"/>
                                        </p:tgtEl>
                                        <p:attrNameLst>
                                          <p:attrName>style.visibility</p:attrName>
                                        </p:attrNameLst>
                                      </p:cBhvr>
                                      <p:to>
                                        <p:strVal val="visible"/>
                                      </p:to>
                                    </p:set>
                                    <p:animEffect transition="in" filter="wipe(left)">
                                      <p:cBhvr>
                                        <p:cTn id="134" dur="160" decel="100000"/>
                                        <p:tgtEl>
                                          <p:spTgt spid="29"/>
                                        </p:tgtEl>
                                      </p:cBhvr>
                                    </p:animEffect>
                                  </p:childTnLst>
                                </p:cTn>
                              </p:par>
                            </p:childTnLst>
                          </p:cTn>
                        </p:par>
                        <p:par>
                          <p:cTn id="136" fill="hold">
                            <p:stCondLst>
                              <p:cond delay="5188"/>
                            </p:stCondLst>
                            <p:childTnLst>
                              <p:par>
                                <p:cTn id="137" presetID="22" presetClass="entr" presetSubtype="8" fill="hold" grpId="0" nodeType="afterEffect">
                                  <p:stCondLst>
                                    <p:cond delay="0"/>
                                  </p:stCondLst>
                                  <p:childTnLst>
                                    <p:set>
                                      <p:cBhvr>
                                        <p:cTn id="138" dur="1" fill="hold">
                                          <p:stCondLst>
                                            <p:cond delay="0"/>
                                          </p:stCondLst>
                                        </p:cTn>
                                        <p:tgtEl>
                                          <p:spTgt spid="30"/>
                                        </p:tgtEl>
                                        <p:attrNameLst>
                                          <p:attrName>style.visibility</p:attrName>
                                        </p:attrNameLst>
                                      </p:cBhvr>
                                      <p:to>
                                        <p:strVal val="visible"/>
                                      </p:to>
                                    </p:set>
                                    <p:animEffect transition="in" filter="wipe(left)">
                                      <p:cBhvr>
                                        <p:cTn id="139" dur="160" decel="100000"/>
                                        <p:tgtEl>
                                          <p:spTgt spid="30"/>
                                        </p:tgtEl>
                                      </p:cBhvr>
                                    </p:animEffect>
                                  </p:childTnLst>
                                </p:cTn>
                              </p:par>
                            </p:childTnLst>
                          </p:cTn>
                        </p:par>
                        <p:par>
                          <p:cTn id="141" fill="hold">
                            <p:stCondLst>
                              <p:cond delay="5348"/>
                            </p:stCondLst>
                            <p:childTnLst>
                              <p:par>
                                <p:cTn id="142" presetID="22" presetClass="entr" presetSubtype="8" fill="hold" grpId="0" nodeType="afterEffect">
                                  <p:stCondLst>
                                    <p:cond delay="0"/>
                                  </p:stCondLst>
                                  <p:childTnLst>
                                    <p:set>
                                      <p:cBhvr>
                                        <p:cTn id="143" dur="1" fill="hold">
                                          <p:stCondLst>
                                            <p:cond delay="0"/>
                                          </p:stCondLst>
                                        </p:cTn>
                                        <p:tgtEl>
                                          <p:spTgt spid="31"/>
                                        </p:tgtEl>
                                        <p:attrNameLst>
                                          <p:attrName>style.visibility</p:attrName>
                                        </p:attrNameLst>
                                      </p:cBhvr>
                                      <p:to>
                                        <p:strVal val="visible"/>
                                      </p:to>
                                    </p:set>
                                    <p:animEffect transition="in" filter="wipe(left)">
                                      <p:cBhvr>
                                        <p:cTn id="144" dur="160" decel="100000"/>
                                        <p:tgtEl>
                                          <p:spTgt spid="31"/>
                                        </p:tgtEl>
                                      </p:cBhvr>
                                    </p:animEffect>
                                  </p:childTnLst>
                                </p:cTn>
                              </p:par>
                            </p:childTnLst>
                          </p:cTn>
                        </p:par>
                        <p:par>
                          <p:cTn id="146" fill="hold">
                            <p:stCondLst>
                              <p:cond delay="5508"/>
                            </p:stCondLst>
                            <p:childTnLst>
                              <p:par>
                                <p:cTn id="147" presetID="10" presetClass="entr" presetSubtype="0" fill="hold" grpId="0" nodeType="afterEffect">
                                  <p:stCondLst>
                                    <p:cond delay="0"/>
                                  </p:stCondLst>
                                  <p:childTnLst>
                                    <p:set>
                                      <p:cBhvr>
                                        <p:cTn id="148" dur="1" fill="hold">
                                          <p:stCondLst>
                                            <p:cond delay="0"/>
                                          </p:stCondLst>
                                        </p:cTn>
                                        <p:tgtEl>
                                          <p:spTgt spid="32"/>
                                        </p:tgtEl>
                                        <p:attrNameLst>
                                          <p:attrName>style.visibility</p:attrName>
                                        </p:attrNameLst>
                                      </p:cBhvr>
                                      <p:to>
                                        <p:strVal val="visible"/>
                                      </p:to>
                                    </p:set>
                                    <p:animEffect transition="in" filter="fade">
                                      <p:cBhvr>
                                        <p:cTn id="149" dur="300" decel="100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0" grpId="0" animBg="1"/>
      <p:bldP spid="11" grpId="0" animBg="1"/>
      <p:bldP spid="12" grpId="0"/>
      <p:bldP spid="13" grpId="0"/>
      <p:bldP spid="14" grpId="0" animBg="1"/>
      <p:bldP spid="15" grpId="0" animBg="1"/>
      <p:bldP spid="16" grpId="0" animBg="1"/>
      <p:bldP spid="17" grpId="0" animBg="1"/>
      <p:bldP spid="18" grpId="0"/>
      <p:bldP spid="19" grpId="0"/>
      <p:bldP spid="20" grpId="0" animBg="1"/>
      <p:bldP spid="21" grpId="0" animBg="1"/>
      <p:bldP spid="22" grpId="0" animBg="1"/>
      <p:bldP spid="23" grpId="0" animBg="1"/>
      <p:bldP spid="24" grpId="0"/>
      <p:bldP spid="25" grpId="0"/>
      <p:bldP spid="26" grpId="0" animBg="1"/>
      <p:bldP spid="27" grpId="0" animBg="1"/>
      <p:bldP spid="28" grpId="0" animBg="1"/>
      <p:bldP spid="29" grpId="0" animBg="1"/>
      <p:bldP spid="30" grpId="0" animBg="1"/>
      <p:bldP spid="31" grpId="0" animBg="1"/>
      <p:bldP spid="32" grpId="0"/>
      <p:bldP spid="33" grpId="0" animBg="1"/>
      <p:bldP spid="34" grpId="0"/>
      <p:bldP spid="36" grpId="0" animBg="1"/>
      <p:bldP spid="37" grpId="0" animBg="1"/>
      <p:bldP spid="38" grpId="0" animBg="1"/>
    </p:bld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sp>
        <p:nvSpPr>
          <p:cNvPr id="3" name="!!Title"/>
          <p:cNvSpPr txBox="1"/>
          <p:nvPr/>
        </p:nvSpPr>
        <p:spPr>
          <a:xfrm>
            <a:off x="685800" y="914400"/>
            <a:ext cx="100584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Coût estimatif : 7 000 000 FCFA</a:t>
            </a:r>
          </a:p>
        </p:txBody>
      </p:sp>
      <p:sp>
        <p:nvSpPr>
          <p:cNvPr id="4" name="!!ChartPanel"/>
          <p:cNvSpPr/>
          <p:nvPr/>
        </p:nvSpPr>
        <p:spPr>
          <a:xfrm>
            <a:off x="685800" y="1828800"/>
            <a:ext cx="5989320" cy="4480560"/>
          </a:xfrm>
          <a:prstGeom prst="roundRect">
            <a:avLst>
              <a:gd name="adj" fmla="val 6000"/>
            </a:avLst>
          </a:prstGeom>
          <a:solidFill>
            <a:srgbClr val="F6E8EA"/>
          </a:solidFill>
          <a:ln>
            <a:noFill/>
          </a:ln>
        </p:spPr>
        <p:txBody>
          <a:bodyPr rtlCol="0" anchor="ctr"/>
          <a:lstStyle/>
          <a:p/>
        </p:txBody>
      </p:sp>
      <p:sp>
        <p:nvSpPr>
          <p:cNvPr id="5" name="!!Orb"/>
          <p:cNvSpPr/>
          <p:nvPr/>
        </p:nvSpPr>
        <p:spPr>
          <a:xfrm>
            <a:off x="2057400" y="2468880"/>
            <a:ext cx="3200400" cy="3200400"/>
          </a:xfrm>
          <a:prstGeom prst="ellipse">
            <a:avLst/>
          </a:prstGeom>
          <a:gradFill rotWithShape="1">
            <a:gsLst>
              <a:gs pos="0">
                <a:srgbClr val="A40C21"/>
              </a:gs>
              <a:gs pos="38000">
                <a:srgbClr val="A40C21">
                  <a:alpha val="15000"/>
                </a:srgbClr>
              </a:gs>
              <a:gs pos="68000">
                <a:srgbClr val="7B1421">
                  <a:alpha val="55000"/>
                </a:srgbClr>
              </a:gs>
              <a:gs pos="100000">
                <a:srgbClr val="7B1421">
                  <a:alpha val="100000"/>
                </a:srgbClr>
              </a:gs>
            </a:gsLst>
            <a:path path="circle">
              <a:fillToRect l="50000" t="50000" r="50000" b="50000"/>
            </a:path>
          </a:gradFill>
          <a:ln>
            <a:noFill/>
          </a:ln>
        </p:spPr>
        <p:txBody>
          <a:bodyPr rtlCol="0" anchor="ctr"/>
          <a:lstStyle/>
          <a:p/>
        </p:txBody>
      </p:sp>
      <p:sp>
        <p:nvSpPr>
          <p:cNvPr id="6" name="!!Wedge0"/>
          <p:cNvSpPr/>
          <p:nvPr/>
        </p:nvSpPr>
        <p:spPr>
          <a:xfrm>
            <a:off x="1874520" y="2286000"/>
            <a:ext cx="3566160" cy="3566160"/>
          </a:xfrm>
          <a:prstGeom prst="pie">
            <a:avLst>
              <a:gd name="adj1" fmla="val 16272000"/>
              <a:gd name="adj2" fmla="val 17670857"/>
            </a:avLst>
          </a:prstGeom>
          <a:solidFill>
            <a:srgbClr val="FFFFFF">
              <a:alpha val="42000"/>
            </a:srgbClr>
          </a:solidFill>
          <a:ln w="19050">
            <a:solidFill>
              <a:srgbClr val="FFFFFF"/>
            </a:solidFill>
          </a:ln>
          <a:effectLst>
            <a:outerShdw blurRad="330200" dist="63500" dir="5400000" algn="t" rotWithShape="0">
              <a:srgbClr val="1A0507">
                <a:alpha val="20000"/>
              </a:srgbClr>
            </a:outerShdw>
          </a:effectLst>
        </p:spPr>
        <p:txBody>
          <a:bodyPr rtlCol="0" anchor="ctr"/>
          <a:lstStyle/>
          <a:p/>
        </p:txBody>
      </p:sp>
      <p:sp>
        <p:nvSpPr>
          <p:cNvPr id="7" name="!!Lead0"/>
          <p:cNvSpPr/>
          <p:nvPr/>
        </p:nvSpPr>
        <p:spPr>
          <a:xfrm>
            <a:off x="4054372" y="2152410"/>
            <a:ext cx="2556740" cy="178295"/>
          </a:xfrm>
          <a:custGeom>
            <a:avLst/>
            <a:gdLst/>
            <a:ahLst/>
            <a:cxnLst/>
            <a:rect l="l" t="t" r="r" b="b"/>
            <a:pathLst>
              <a:path w="2556740" h="178295">
                <a:moveTo>
                  <a:pt x="0" y="178295"/>
                </a:moveTo>
                <a:lnTo>
                  <a:pt x="40695" y="0"/>
                </a:lnTo>
                <a:lnTo>
                  <a:pt x="2556740" y="0"/>
                </a:lnTo>
              </a:path>
            </a:pathLst>
          </a:custGeom>
          <a:noFill/>
          <a:ln w="11430">
            <a:solidFill>
              <a:srgbClr val="6E5A5D">
                <a:alpha val="60000"/>
              </a:srgbClr>
            </a:solidFill>
          </a:ln>
        </p:spPr>
        <p:txBody>
          <a:bodyPr rtlCol="0" anchor="ctr"/>
          <a:lstStyle/>
          <a:p>
            <a:pPr algn="ctr"/>
          </a:p>
        </p:txBody>
      </p:sp>
      <p:sp>
        <p:nvSpPr>
          <p:cNvPr id="8" name="!!Lab0"/>
          <p:cNvSpPr txBox="1"/>
          <p:nvPr/>
        </p:nvSpPr>
        <p:spPr>
          <a:xfrm>
            <a:off x="6720840" y="1932954"/>
            <a:ext cx="4846320" cy="438912"/>
          </a:xfrm>
          <a:prstGeom prst="rect">
            <a:avLst/>
          </a:prstGeom>
          <a:noFill/>
        </p:spPr>
        <p:txBody>
          <a:bodyPr wrap="square" lIns="0" rIns="0" tIns="0" bIns="0" anchor="ctr">
            <a:noAutofit/>
          </a:bodyPr>
          <a:lstStyle/>
          <a:p>
            <a:pPr algn="l"/>
            <a:r>
              <a:rPr sz="2100">
                <a:solidFill>
                  <a:srgbClr val="7B1421"/>
                </a:solidFill>
                <a:latin typeface="Cream Heavy"/>
              </a:rPr>
              <a:t>7 %  </a:t>
            </a:r>
            <a:r>
              <a:rPr sz="1400">
                <a:solidFill>
                  <a:srgbClr val="2A070D"/>
                </a:solidFill>
                <a:latin typeface="Montserrat SemiBold"/>
              </a:rPr>
              <a:t>Logo et identité visuelle</a:t>
            </a:r>
            <a:r>
              <a:rPr sz="1400">
                <a:solidFill>
                  <a:srgbClr val="6E5A5D"/>
                </a:solidFill>
                <a:latin typeface="Montserrat Medium"/>
              </a:rPr>
              <a:t>  ·  500 000</a:t>
            </a:r>
          </a:p>
        </p:txBody>
      </p:sp>
      <p:sp>
        <p:nvSpPr>
          <p:cNvPr id="9" name="!!Wedge1"/>
          <p:cNvSpPr/>
          <p:nvPr/>
        </p:nvSpPr>
        <p:spPr>
          <a:xfrm>
            <a:off x="1874520" y="2286000"/>
            <a:ext cx="3566160" cy="3566160"/>
          </a:xfrm>
          <a:prstGeom prst="pie">
            <a:avLst>
              <a:gd name="adj1" fmla="val 17814857"/>
              <a:gd name="adj2" fmla="val 19522285"/>
            </a:avLst>
          </a:prstGeom>
          <a:solidFill>
            <a:srgbClr val="FFFFFF">
              <a:alpha val="42000"/>
            </a:srgbClr>
          </a:solidFill>
          <a:ln w="19050">
            <a:solidFill>
              <a:srgbClr val="FFFFFF"/>
            </a:solidFill>
          </a:ln>
          <a:effectLst>
            <a:outerShdw blurRad="330200" dist="63500" dir="5400000" algn="t" rotWithShape="0">
              <a:srgbClr val="1A0507">
                <a:alpha val="20000"/>
              </a:srgbClr>
            </a:outerShdw>
          </a:effectLst>
        </p:spPr>
        <p:txBody>
          <a:bodyPr rtlCol="0" anchor="ctr"/>
          <a:lstStyle/>
          <a:p/>
        </p:txBody>
      </p:sp>
      <p:sp>
        <p:nvSpPr>
          <p:cNvPr id="10" name="!!Lead1"/>
          <p:cNvSpPr/>
          <p:nvPr/>
        </p:nvSpPr>
        <p:spPr>
          <a:xfrm>
            <a:off x="4830757" y="2588571"/>
            <a:ext cx="1780355" cy="137722"/>
          </a:xfrm>
          <a:custGeom>
            <a:avLst/>
            <a:gdLst/>
            <a:ahLst/>
            <a:cxnLst/>
            <a:rect l="l" t="t" r="r" b="b"/>
            <a:pathLst>
              <a:path w="1780355" h="137722">
                <a:moveTo>
                  <a:pt x="0" y="137722"/>
                </a:moveTo>
                <a:lnTo>
                  <a:pt x="120324" y="0"/>
                </a:lnTo>
                <a:lnTo>
                  <a:pt x="1780355" y="0"/>
                </a:lnTo>
              </a:path>
            </a:pathLst>
          </a:custGeom>
          <a:noFill/>
          <a:ln w="11430">
            <a:solidFill>
              <a:srgbClr val="6E5A5D">
                <a:alpha val="60000"/>
              </a:srgbClr>
            </a:solidFill>
          </a:ln>
        </p:spPr>
        <p:txBody>
          <a:bodyPr rtlCol="0" anchor="ctr"/>
          <a:lstStyle/>
          <a:p>
            <a:pPr algn="ctr"/>
          </a:p>
        </p:txBody>
      </p:sp>
      <p:sp>
        <p:nvSpPr>
          <p:cNvPr id="11" name="!!Lab1"/>
          <p:cNvSpPr txBox="1"/>
          <p:nvPr/>
        </p:nvSpPr>
        <p:spPr>
          <a:xfrm>
            <a:off x="6720840" y="2369115"/>
            <a:ext cx="4846320" cy="438912"/>
          </a:xfrm>
          <a:prstGeom prst="rect">
            <a:avLst/>
          </a:prstGeom>
          <a:noFill/>
        </p:spPr>
        <p:txBody>
          <a:bodyPr wrap="square" lIns="0" rIns="0" tIns="0" bIns="0" anchor="ctr">
            <a:noAutofit/>
          </a:bodyPr>
          <a:lstStyle/>
          <a:p>
            <a:pPr algn="l"/>
            <a:r>
              <a:rPr sz="2100">
                <a:solidFill>
                  <a:srgbClr val="7B1421"/>
                </a:solidFill>
                <a:latin typeface="Cream Heavy"/>
              </a:rPr>
              <a:t>9 %  </a:t>
            </a:r>
            <a:r>
              <a:rPr sz="1400">
                <a:solidFill>
                  <a:srgbClr val="2A070D"/>
                </a:solidFill>
                <a:latin typeface="Montserrat SemiBold"/>
              </a:rPr>
              <a:t>Supports imprimés</a:t>
            </a:r>
            <a:r>
              <a:rPr sz="1400">
                <a:solidFill>
                  <a:srgbClr val="6E5A5D"/>
                </a:solidFill>
                <a:latin typeface="Montserrat Medium"/>
              </a:rPr>
              <a:t>  ·  600 000</a:t>
            </a:r>
          </a:p>
        </p:txBody>
      </p:sp>
      <p:sp>
        <p:nvSpPr>
          <p:cNvPr id="12" name="!!Wedge2"/>
          <p:cNvSpPr/>
          <p:nvPr/>
        </p:nvSpPr>
        <p:spPr>
          <a:xfrm>
            <a:off x="1874520" y="2286000"/>
            <a:ext cx="3566160" cy="3566160"/>
          </a:xfrm>
          <a:prstGeom prst="pie">
            <a:avLst>
              <a:gd name="adj1" fmla="val 19666285"/>
              <a:gd name="adj2" fmla="val 5328000"/>
            </a:avLst>
          </a:prstGeom>
          <a:solidFill>
            <a:srgbClr val="FFFFFF">
              <a:alpha val="42000"/>
            </a:srgbClr>
          </a:solidFill>
          <a:ln w="19050">
            <a:solidFill>
              <a:srgbClr val="FFFFFF"/>
            </a:solidFill>
          </a:ln>
          <a:effectLst>
            <a:outerShdw blurRad="330200" dist="63500" dir="5400000" algn="t" rotWithShape="0">
              <a:srgbClr val="1A0507">
                <a:alpha val="20000"/>
              </a:srgbClr>
            </a:outerShdw>
          </a:effectLst>
        </p:spPr>
        <p:txBody>
          <a:bodyPr rtlCol="0" anchor="ctr"/>
          <a:lstStyle/>
          <a:p/>
        </p:txBody>
      </p:sp>
      <p:sp>
        <p:nvSpPr>
          <p:cNvPr id="13" name="!!Lead2"/>
          <p:cNvSpPr/>
          <p:nvPr/>
        </p:nvSpPr>
        <p:spPr>
          <a:xfrm>
            <a:off x="5227772" y="4914025"/>
            <a:ext cx="1383340" cy="86661"/>
          </a:xfrm>
          <a:custGeom>
            <a:avLst/>
            <a:gdLst/>
            <a:ahLst/>
            <a:cxnLst/>
            <a:rect l="l" t="t" r="r" b="b"/>
            <a:pathLst>
              <a:path w="1383340" h="86661">
                <a:moveTo>
                  <a:pt x="0" y="0"/>
                </a:moveTo>
                <a:lnTo>
                  <a:pt x="161043" y="86661"/>
                </a:lnTo>
                <a:lnTo>
                  <a:pt x="1383340" y="86661"/>
                </a:lnTo>
              </a:path>
            </a:pathLst>
          </a:custGeom>
          <a:noFill/>
          <a:ln w="11430">
            <a:solidFill>
              <a:srgbClr val="6E5A5D">
                <a:alpha val="60000"/>
              </a:srgbClr>
            </a:solidFill>
          </a:ln>
        </p:spPr>
        <p:txBody>
          <a:bodyPr rtlCol="0" anchor="ctr"/>
          <a:lstStyle/>
          <a:p>
            <a:pPr algn="ctr"/>
          </a:p>
        </p:txBody>
      </p:sp>
      <p:sp>
        <p:nvSpPr>
          <p:cNvPr id="14" name="!!Lab2"/>
          <p:cNvSpPr txBox="1"/>
          <p:nvPr/>
        </p:nvSpPr>
        <p:spPr>
          <a:xfrm>
            <a:off x="6720840" y="4781230"/>
            <a:ext cx="4846320" cy="438912"/>
          </a:xfrm>
          <a:prstGeom prst="rect">
            <a:avLst/>
          </a:prstGeom>
          <a:noFill/>
        </p:spPr>
        <p:txBody>
          <a:bodyPr wrap="square" lIns="0" rIns="0" tIns="0" bIns="0" anchor="ctr">
            <a:noAutofit/>
          </a:bodyPr>
          <a:lstStyle/>
          <a:p>
            <a:pPr algn="l"/>
            <a:r>
              <a:rPr sz="2100">
                <a:solidFill>
                  <a:srgbClr val="7B1421"/>
                </a:solidFill>
                <a:latin typeface="Cream Heavy"/>
              </a:rPr>
              <a:t>34 %  </a:t>
            </a:r>
            <a:r>
              <a:rPr sz="1400">
                <a:solidFill>
                  <a:srgbClr val="2A070D"/>
                </a:solidFill>
                <a:latin typeface="Montserrat SemiBold"/>
              </a:rPr>
              <a:t>Spots 2D et 3D</a:t>
            </a:r>
            <a:r>
              <a:rPr sz="1400">
                <a:solidFill>
                  <a:srgbClr val="6E5A5D"/>
                </a:solidFill>
                <a:latin typeface="Montserrat Medium"/>
              </a:rPr>
              <a:t>  ·  2 400 000</a:t>
            </a:r>
          </a:p>
        </p:txBody>
      </p:sp>
      <p:sp>
        <p:nvSpPr>
          <p:cNvPr id="15" name="!!Wedge3"/>
          <p:cNvSpPr/>
          <p:nvPr/>
        </p:nvSpPr>
        <p:spPr>
          <a:xfrm>
            <a:off x="1874520" y="2286000"/>
            <a:ext cx="3566160" cy="3566160"/>
          </a:xfrm>
          <a:prstGeom prst="pie">
            <a:avLst>
              <a:gd name="adj1" fmla="val 5472000"/>
              <a:gd name="adj2" fmla="val 16128000"/>
            </a:avLst>
          </a:prstGeom>
          <a:solidFill>
            <a:srgbClr val="FFFFFF">
              <a:alpha val="42000"/>
            </a:srgbClr>
          </a:solidFill>
          <a:ln w="19050">
            <a:solidFill>
              <a:srgbClr val="FFFFFF"/>
            </a:solidFill>
          </a:ln>
          <a:effectLst>
            <a:outerShdw blurRad="330200" dist="63500" dir="5400000" algn="t" rotWithShape="0">
              <a:srgbClr val="1A0507">
                <a:alpha val="20000"/>
              </a:srgbClr>
            </a:outerShdw>
          </a:effectLst>
        </p:spPr>
        <p:txBody>
          <a:bodyPr rtlCol="0" anchor="ctr"/>
          <a:lstStyle/>
          <a:p/>
        </p:txBody>
      </p:sp>
      <p:sp>
        <p:nvSpPr>
          <p:cNvPr id="16" name="!!Lead3"/>
          <p:cNvSpPr/>
          <p:nvPr/>
        </p:nvSpPr>
        <p:spPr>
          <a:xfrm>
            <a:off x="3554709" y="5849716"/>
            <a:ext cx="3056403" cy="182629"/>
          </a:xfrm>
          <a:custGeom>
            <a:avLst/>
            <a:gdLst/>
            <a:ahLst/>
            <a:cxnLst/>
            <a:rect l="l" t="t" r="r" b="b"/>
            <a:pathLst>
              <a:path w="3056403" h="182629">
                <a:moveTo>
                  <a:pt x="9571" y="0"/>
                </a:moveTo>
                <a:lnTo>
                  <a:pt x="0" y="182629"/>
                </a:lnTo>
                <a:lnTo>
                  <a:pt x="3056403" y="182629"/>
                </a:lnTo>
              </a:path>
            </a:pathLst>
          </a:custGeom>
          <a:noFill/>
          <a:ln w="11430">
            <a:solidFill>
              <a:srgbClr val="6E5A5D">
                <a:alpha val="60000"/>
              </a:srgbClr>
            </a:solidFill>
          </a:ln>
        </p:spPr>
        <p:txBody>
          <a:bodyPr rtlCol="0" anchor="ctr"/>
          <a:lstStyle/>
          <a:p>
            <a:pPr algn="ctr"/>
          </a:p>
        </p:txBody>
      </p:sp>
      <p:sp>
        <p:nvSpPr>
          <p:cNvPr id="17" name="!!Lab3"/>
          <p:cNvSpPr txBox="1"/>
          <p:nvPr/>
        </p:nvSpPr>
        <p:spPr>
          <a:xfrm>
            <a:off x="6720840" y="5812889"/>
            <a:ext cx="4846320" cy="438912"/>
          </a:xfrm>
          <a:prstGeom prst="rect">
            <a:avLst/>
          </a:prstGeom>
          <a:noFill/>
        </p:spPr>
        <p:txBody>
          <a:bodyPr wrap="square" lIns="0" rIns="0" tIns="0" bIns="0" anchor="ctr">
            <a:noAutofit/>
          </a:bodyPr>
          <a:lstStyle/>
          <a:p>
            <a:pPr algn="l"/>
            <a:r>
              <a:rPr sz="2100">
                <a:solidFill>
                  <a:srgbClr val="7B1421"/>
                </a:solidFill>
                <a:latin typeface="Cream Heavy"/>
              </a:rPr>
              <a:t>50 %  </a:t>
            </a:r>
            <a:r>
              <a:rPr sz="1400">
                <a:solidFill>
                  <a:srgbClr val="2A070D"/>
                </a:solidFill>
                <a:latin typeface="Montserrat SemiBold"/>
              </a:rPr>
              <a:t>Site web</a:t>
            </a:r>
            <a:r>
              <a:rPr sz="1400">
                <a:solidFill>
                  <a:srgbClr val="6E5A5D"/>
                </a:solidFill>
                <a:latin typeface="Montserrat Medium"/>
              </a:rPr>
              <a:t>  ·  3 500 000</a:t>
            </a:r>
          </a:p>
        </p:txBody>
      </p:sp>
      <p:sp>
        <p:nvSpPr>
          <p:cNvPr id="18" name="!!Accent"/>
          <p:cNvSpPr/>
          <p:nvPr/>
        </p:nvSpPr>
        <p:spPr>
          <a:xfrm>
            <a:off x="685800" y="338328"/>
            <a:ext cx="384048" cy="32004"/>
          </a:xfrm>
          <a:prstGeom prst="rect">
            <a:avLst/>
          </a:prstGeom>
          <a:solidFill>
            <a:srgbClr val="F9A825"/>
          </a:solidFill>
          <a:ln>
            <a:noFill/>
          </a:ln>
        </p:spPr>
        <p:txBody>
          <a:bodyPr rtlCol="0" anchor="ctr"/>
          <a:lstStyle/>
          <a:p/>
        </p:txBody>
      </p:sp>
      <p:sp>
        <p:nvSpPr>
          <p:cNvPr id="19"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06 · Coût du projet</a:t>
            </a:r>
          </a:p>
        </p:txBody>
      </p:sp>
      <p:sp>
        <p:nvSpPr>
          <p:cNvPr id="20"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44</a:t>
            </a:r>
          </a:p>
        </p:txBody>
      </p:sp>
      <p:sp>
        <p:nvSpPr>
          <p:cNvPr id="21"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22"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23"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24" name="!!Logo" descr="Logo Marin'Or Ivoire"/>
          <p:cNvPicPr>
            <a:picLocks noChangeAspect="1"/>
          </p:cNvPicPr>
          <p:nvPr/>
        </p:nvPicPr>
        <p:blipFill>
          <a:blip r:embed="rId2"/>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decel="100000"/>
                                        <p:tgtEl>
                                          <p:spTgt spid="3"/>
                                        </p:tgtEl>
                                      </p:cBhvr>
                                    </p:animEffect>
                                    <p:anim calcmode="lin" valueType="num">
                                      <p:cBhvr>
                                        <p:cTn id="8" dur="500" decel="100000" fill="hold"/>
                                        <p:tgtEl>
                                          <p:spTgt spid="3"/>
                                        </p:tgtEl>
                                        <p:attrNameLst>
                                          <p:attrName>ppt_x</p:attrName>
                                        </p:attrNameLst>
                                      </p:cBhvr>
                                      <p:tavLst>
                                        <p:tav tm="0">
                                          <p:val>
                                            <p:strVal val="#ppt_x"/>
                                          </p:val>
                                        </p:tav>
                                        <p:tav tm="100000">
                                          <p:val>
                                            <p:strVal val="#ppt_x"/>
                                          </p:val>
                                        </p:tav>
                                      </p:tavLst>
                                    </p:anim>
                                    <p:anim calcmode="lin" valueType="num">
                                      <p:cBhvr>
                                        <p:cTn id="9" dur="500" decel="100000" fill="hold"/>
                                        <p:tgtEl>
                                          <p:spTgt spid="3"/>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decel="100000"/>
                                        <p:tgtEl>
                                          <p:spTgt spid="4"/>
                                        </p:tgtEl>
                                      </p:cBhvr>
                                    </p:animEffect>
                                    <p:anim calcmode="lin" valueType="num">
                                      <p:cBhvr>
                                        <p:cTn id="13" dur="500" decel="100000" fill="hold"/>
                                        <p:tgtEl>
                                          <p:spTgt spid="4"/>
                                        </p:tgtEl>
                                        <p:attrNameLst>
                                          <p:attrName>ppt_x</p:attrName>
                                        </p:attrNameLst>
                                      </p:cBhvr>
                                      <p:tavLst>
                                        <p:tav tm="0">
                                          <p:val>
                                            <p:strVal val="#ppt_x"/>
                                          </p:val>
                                        </p:tav>
                                        <p:tav tm="100000">
                                          <p:val>
                                            <p:strVal val="#ppt_x"/>
                                          </p:val>
                                        </p:tav>
                                      </p:tavLst>
                                    </p:anim>
                                    <p:anim calcmode="lin" valueType="num">
                                      <p:cBhvr>
                                        <p:cTn id="14" dur="500" decel="100000" fill="hold"/>
                                        <p:tgtEl>
                                          <p:spTgt spid="4"/>
                                        </p:tgtEl>
                                        <p:attrNameLst>
                                          <p:attrName>ppt_y</p:attrName>
                                        </p:attrNameLst>
                                      </p:cBhvr>
                                      <p:tavLst>
                                        <p:tav tm="0">
                                          <p:val>
                                            <p:strVal val="#ppt_y+0.0278"/>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decel="100000"/>
                                        <p:tgtEl>
                                          <p:spTgt spid="19"/>
                                        </p:tgtEl>
                                      </p:cBhvr>
                                    </p:animEffect>
                                    <p:anim calcmode="lin" valueType="num">
                                      <p:cBhvr>
                                        <p:cTn id="18" dur="500" decel="100000" fill="hold"/>
                                        <p:tgtEl>
                                          <p:spTgt spid="19"/>
                                        </p:tgtEl>
                                        <p:attrNameLst>
                                          <p:attrName>ppt_x</p:attrName>
                                        </p:attrNameLst>
                                      </p:cBhvr>
                                      <p:tavLst>
                                        <p:tav tm="0">
                                          <p:val>
                                            <p:strVal val="#ppt_x"/>
                                          </p:val>
                                        </p:tav>
                                        <p:tav tm="100000">
                                          <p:val>
                                            <p:strVal val="#ppt_x"/>
                                          </p:val>
                                        </p:tav>
                                      </p:tavLst>
                                    </p:anim>
                                    <p:anim calcmode="lin" valueType="num">
                                      <p:cBhvr>
                                        <p:cTn id="19" dur="500" decel="100000" fill="hold"/>
                                        <p:tgtEl>
                                          <p:spTgt spid="19"/>
                                        </p:tgtEl>
                                        <p:attrNameLst>
                                          <p:attrName>ppt_y</p:attrName>
                                        </p:attrNameLst>
                                      </p:cBhvr>
                                      <p:tavLst>
                                        <p:tav tm="0">
                                          <p:val>
                                            <p:strVal val="#ppt_y+0.0278"/>
                                          </p:val>
                                        </p:tav>
                                        <p:tav tm="100000">
                                          <p:val>
                                            <p:strVal val="#ppt_y"/>
                                          </p:val>
                                        </p:tav>
                                      </p:tavLst>
                                    </p:anim>
                                  </p:childTnLst>
                                </p:cTn>
                              </p:par>
                              <p:par>
                                <p:cTn id="20"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1" dur="2600" fill="hold"/>
                                        <p:tgtEl>
                                          <p:spTgt spid="21"/>
                                        </p:tgtEl>
                                        <p:attrNameLst>
                                          <p:attrName>ppt_x</p:attrName>
                                          <p:attrName>ppt_y</p:attrName>
                                        </p:attrNameLst>
                                      </p:cBhvr>
                                      <p:rCtr x="0" y="0"/>
                                    </p:animMotion>
                                  </p:childTnLst>
                                </p:cTn>
                              </p:par>
                              <p:par>
                                <p:cTn id="22"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3" dur="3150" fill="hold"/>
                                        <p:tgtEl>
                                          <p:spTgt spid="22"/>
                                        </p:tgtEl>
                                        <p:attrNameLst>
                                          <p:attrName>ppt_x</p:attrName>
                                          <p:attrName>ppt_y</p:attrName>
                                        </p:attrNameLst>
                                      </p:cBhvr>
                                      <p:rCtr x="0" y="0"/>
                                    </p:animMotion>
                                  </p:childTnLst>
                                </p:cTn>
                              </p:par>
                              <p:par>
                                <p:cTn id="24"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5" dur="3700" fill="hold"/>
                                        <p:tgtEl>
                                          <p:spTgt spid="23"/>
                                        </p:tgtEl>
                                        <p:attrNameLst>
                                          <p:attrName>ppt_x</p:attrName>
                                          <p:attrName>ppt_y</p:attrName>
                                        </p:attrNameLst>
                                      </p:cBhvr>
                                      <p:rCtr x="0" y="0"/>
                                    </p:animMotion>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wipe(left)">
                                      <p:cBhvr>
                                        <p:cTn id="29" dur="400" decel="1000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450" decel="100000"/>
                                        <p:tgtEl>
                                          <p:spTgt spid="5"/>
                                        </p:tgtEl>
                                      </p:cBhvr>
                                    </p:animEffect>
                                  </p:childTnLst>
                                </p:cTn>
                              </p:par>
                            </p:childTnLst>
                          </p:cTn>
                        </p:par>
                        <p:par>
                          <p:cTn id="37" fill="hold">
                            <p:stCondLst>
                              <p:cond delay="450"/>
                            </p:stCondLst>
                            <p:childTnLst>
                              <p:par>
                                <p:cTn id="38" presetID="21" presetClass="entr" presetSubtype="1"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heel(1)">
                                      <p:cBhvr>
                                        <p:cTn id="40" dur="520" decel="100000"/>
                                        <p:tgtEl>
                                          <p:spTgt spid="6"/>
                                        </p:tgtEl>
                                      </p:cBhvr>
                                    </p:animEffect>
                                  </p:childTnLst>
                                </p:cTn>
                              </p:par>
                            </p:childTnLst>
                          </p:cTn>
                        </p:par>
                        <p:par>
                          <p:cTn id="42" fill="hold">
                            <p:stCondLst>
                              <p:cond delay="970"/>
                            </p:stCondLst>
                            <p:childTnLst>
                              <p:par>
                                <p:cTn id="43" presetID="21" presetClass="entr" presetSubtype="1" fill="hold" grpId="0" nodeType="after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wheel(1)">
                                      <p:cBhvr>
                                        <p:cTn id="45" dur="520" decel="100000"/>
                                        <p:tgtEl>
                                          <p:spTgt spid="9"/>
                                        </p:tgtEl>
                                      </p:cBhvr>
                                    </p:animEffect>
                                  </p:childTnLst>
                                </p:cTn>
                              </p:par>
                            </p:childTnLst>
                          </p:cTn>
                        </p:par>
                        <p:par>
                          <p:cTn id="47" fill="hold">
                            <p:stCondLst>
                              <p:cond delay="1490"/>
                            </p:stCondLst>
                            <p:childTnLst>
                              <p:par>
                                <p:cTn id="48" presetID="21" presetClass="entr" presetSubtype="1" fill="hold" grpId="0" nodeType="after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wheel(1)">
                                      <p:cBhvr>
                                        <p:cTn id="50" dur="520" decel="100000"/>
                                        <p:tgtEl>
                                          <p:spTgt spid="12"/>
                                        </p:tgtEl>
                                      </p:cBhvr>
                                    </p:animEffect>
                                  </p:childTnLst>
                                </p:cTn>
                              </p:par>
                            </p:childTnLst>
                          </p:cTn>
                        </p:par>
                        <p:par>
                          <p:cTn id="52" fill="hold">
                            <p:stCondLst>
                              <p:cond delay="2010"/>
                            </p:stCondLst>
                            <p:childTnLst>
                              <p:par>
                                <p:cTn id="53" presetID="21" presetClass="entr" presetSubtype="1" fill="hold" grpId="0" nodeType="after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wheel(1)">
                                      <p:cBhvr>
                                        <p:cTn id="55" dur="520" decel="100000"/>
                                        <p:tgtEl>
                                          <p:spTgt spid="15"/>
                                        </p:tgtEl>
                                      </p:cBhvr>
                                    </p:animEffect>
                                  </p:childTnLst>
                                </p:cTn>
                              </p:par>
                            </p:childTnLst>
                          </p:cTn>
                        </p:par>
                        <p:par>
                          <p:cTn id="57" fill="hold">
                            <p:stCondLst>
                              <p:cond delay="2530"/>
                            </p:stCondLst>
                            <p:childTnLst>
                              <p:par>
                                <p:cTn id="58" presetID="22" presetClass="entr" presetSubtype="8" fill="hold" grpId="0" nodeType="after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wipe(left)">
                                      <p:cBhvr>
                                        <p:cTn id="60" dur="300" decel="100000"/>
                                        <p:tgtEl>
                                          <p:spTgt spid="7"/>
                                        </p:tgtEl>
                                      </p:cBhvr>
                                    </p:animEffect>
                                  </p:childTnLst>
                                </p:cTn>
                              </p:par>
                              <p:par>
                                <p:cTn id="62" presetID="42" presetClass="entr" presetSubtype="0" fill="hold" grpId="0" nodeType="with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fade">
                                      <p:cBhvr>
                                        <p:cTn id="64" dur="400" decel="100000"/>
                                        <p:tgtEl>
                                          <p:spTgt spid="8"/>
                                        </p:tgtEl>
                                      </p:cBhvr>
                                    </p:animEffect>
                                    <p:anim calcmode="lin" valueType="num">
                                      <p:cBhvr>
                                        <p:cTn id="65" dur="400" decel="100000" fill="hold"/>
                                        <p:tgtEl>
                                          <p:spTgt spid="8"/>
                                        </p:tgtEl>
                                        <p:attrNameLst>
                                          <p:attrName>ppt_x</p:attrName>
                                        </p:attrNameLst>
                                      </p:cBhvr>
                                      <p:tavLst>
                                        <p:tav tm="0">
                                          <p:val>
                                            <p:strVal val="#ppt_x"/>
                                          </p:val>
                                        </p:tav>
                                        <p:tav tm="100000">
                                          <p:val>
                                            <p:strVal val="#ppt_x"/>
                                          </p:val>
                                        </p:tav>
                                      </p:tavLst>
                                    </p:anim>
                                    <p:anim calcmode="lin" valueType="num">
                                      <p:cBhvr>
                                        <p:cTn id="66" dur="400" decel="100000" fill="hold"/>
                                        <p:tgtEl>
                                          <p:spTgt spid="8"/>
                                        </p:tgtEl>
                                        <p:attrNameLst>
                                          <p:attrName>ppt_y</p:attrName>
                                        </p:attrNameLst>
                                      </p:cBhvr>
                                      <p:tavLst>
                                        <p:tav tm="0">
                                          <p:val>
                                            <p:strVal val="#ppt_y+0.0278"/>
                                          </p:val>
                                        </p:tav>
                                        <p:tav tm="100000">
                                          <p:val>
                                            <p:strVal val="#ppt_y"/>
                                          </p:val>
                                        </p:tav>
                                      </p:tavLst>
                                    </p:anim>
                                  </p:childTnLst>
                                </p:cTn>
                              </p:par>
                            </p:childTnLst>
                          </p:cTn>
                        </p:par>
                        <p:par>
                          <p:cTn id="67" fill="hold">
                            <p:stCondLst>
                              <p:cond delay="2930"/>
                            </p:stCondLst>
                            <p:childTnLst>
                              <p:par>
                                <p:cTn id="68" presetID="22" presetClass="entr" presetSubtype="8" fill="hold" grpId="0" nodeType="afterEffect">
                                  <p:stCondLst>
                                    <p:cond delay="0"/>
                                  </p:stCondLst>
                                  <p:childTnLst>
                                    <p:set>
                                      <p:cBhvr>
                                        <p:cTn id="69" dur="1" fill="hold">
                                          <p:stCondLst>
                                            <p:cond delay="0"/>
                                          </p:stCondLst>
                                        </p:cTn>
                                        <p:tgtEl>
                                          <p:spTgt spid="10"/>
                                        </p:tgtEl>
                                        <p:attrNameLst>
                                          <p:attrName>style.visibility</p:attrName>
                                        </p:attrNameLst>
                                      </p:cBhvr>
                                      <p:to>
                                        <p:strVal val="visible"/>
                                      </p:to>
                                    </p:set>
                                    <p:animEffect transition="in" filter="wipe(left)">
                                      <p:cBhvr>
                                        <p:cTn id="70" dur="300" decel="100000"/>
                                        <p:tgtEl>
                                          <p:spTgt spid="10"/>
                                        </p:tgtEl>
                                      </p:cBhvr>
                                    </p:animEffect>
                                  </p:childTnLst>
                                </p:cTn>
                              </p:par>
                              <p:par>
                                <p:cTn id="72" presetID="42" presetClass="entr" presetSubtype="0" fill="hold" grpId="0" nodeType="withEffect">
                                  <p:stCondLst>
                                    <p:cond delay="0"/>
                                  </p:stCondLst>
                                  <p:childTnLst>
                                    <p:set>
                                      <p:cBhvr>
                                        <p:cTn id="73" dur="1" fill="hold">
                                          <p:stCondLst>
                                            <p:cond delay="0"/>
                                          </p:stCondLst>
                                        </p:cTn>
                                        <p:tgtEl>
                                          <p:spTgt spid="11"/>
                                        </p:tgtEl>
                                        <p:attrNameLst>
                                          <p:attrName>style.visibility</p:attrName>
                                        </p:attrNameLst>
                                      </p:cBhvr>
                                      <p:to>
                                        <p:strVal val="visible"/>
                                      </p:to>
                                    </p:set>
                                    <p:animEffect transition="in" filter="fade">
                                      <p:cBhvr>
                                        <p:cTn id="74" dur="400" decel="100000"/>
                                        <p:tgtEl>
                                          <p:spTgt spid="11"/>
                                        </p:tgtEl>
                                      </p:cBhvr>
                                    </p:animEffect>
                                    <p:anim calcmode="lin" valueType="num">
                                      <p:cBhvr>
                                        <p:cTn id="75" dur="400" decel="100000" fill="hold"/>
                                        <p:tgtEl>
                                          <p:spTgt spid="11"/>
                                        </p:tgtEl>
                                        <p:attrNameLst>
                                          <p:attrName>ppt_x</p:attrName>
                                        </p:attrNameLst>
                                      </p:cBhvr>
                                      <p:tavLst>
                                        <p:tav tm="0">
                                          <p:val>
                                            <p:strVal val="#ppt_x"/>
                                          </p:val>
                                        </p:tav>
                                        <p:tav tm="100000">
                                          <p:val>
                                            <p:strVal val="#ppt_x"/>
                                          </p:val>
                                        </p:tav>
                                      </p:tavLst>
                                    </p:anim>
                                    <p:anim calcmode="lin" valueType="num">
                                      <p:cBhvr>
                                        <p:cTn id="76" dur="400" decel="100000" fill="hold"/>
                                        <p:tgtEl>
                                          <p:spTgt spid="11"/>
                                        </p:tgtEl>
                                        <p:attrNameLst>
                                          <p:attrName>ppt_y</p:attrName>
                                        </p:attrNameLst>
                                      </p:cBhvr>
                                      <p:tavLst>
                                        <p:tav tm="0">
                                          <p:val>
                                            <p:strVal val="#ppt_y+0.0278"/>
                                          </p:val>
                                        </p:tav>
                                        <p:tav tm="100000">
                                          <p:val>
                                            <p:strVal val="#ppt_y"/>
                                          </p:val>
                                        </p:tav>
                                      </p:tavLst>
                                    </p:anim>
                                  </p:childTnLst>
                                </p:cTn>
                              </p:par>
                            </p:childTnLst>
                          </p:cTn>
                        </p:par>
                        <p:par>
                          <p:cTn id="77" fill="hold">
                            <p:stCondLst>
                              <p:cond delay="3330"/>
                            </p:stCondLst>
                            <p:childTnLst>
                              <p:par>
                                <p:cTn id="78" presetID="22" presetClass="entr" presetSubtype="8" fill="hold" grpId="0" nodeType="afterEffect">
                                  <p:stCondLst>
                                    <p:cond delay="0"/>
                                  </p:stCondLst>
                                  <p:childTnLst>
                                    <p:set>
                                      <p:cBhvr>
                                        <p:cTn id="79" dur="1" fill="hold">
                                          <p:stCondLst>
                                            <p:cond delay="0"/>
                                          </p:stCondLst>
                                        </p:cTn>
                                        <p:tgtEl>
                                          <p:spTgt spid="13"/>
                                        </p:tgtEl>
                                        <p:attrNameLst>
                                          <p:attrName>style.visibility</p:attrName>
                                        </p:attrNameLst>
                                      </p:cBhvr>
                                      <p:to>
                                        <p:strVal val="visible"/>
                                      </p:to>
                                    </p:set>
                                    <p:animEffect transition="in" filter="wipe(left)">
                                      <p:cBhvr>
                                        <p:cTn id="80" dur="300" decel="100000"/>
                                        <p:tgtEl>
                                          <p:spTgt spid="13"/>
                                        </p:tgtEl>
                                      </p:cBhvr>
                                    </p:animEffect>
                                  </p:childTnLst>
                                </p:cTn>
                              </p:par>
                              <p:par>
                                <p:cTn id="82" presetID="42" presetClass="entr" presetSubtype="0" fill="hold" grpId="0" nodeType="withEffect">
                                  <p:stCondLst>
                                    <p:cond delay="0"/>
                                  </p:stCondLst>
                                  <p:childTnLst>
                                    <p:set>
                                      <p:cBhvr>
                                        <p:cTn id="83" dur="1" fill="hold">
                                          <p:stCondLst>
                                            <p:cond delay="0"/>
                                          </p:stCondLst>
                                        </p:cTn>
                                        <p:tgtEl>
                                          <p:spTgt spid="14"/>
                                        </p:tgtEl>
                                        <p:attrNameLst>
                                          <p:attrName>style.visibility</p:attrName>
                                        </p:attrNameLst>
                                      </p:cBhvr>
                                      <p:to>
                                        <p:strVal val="visible"/>
                                      </p:to>
                                    </p:set>
                                    <p:animEffect transition="in" filter="fade">
                                      <p:cBhvr>
                                        <p:cTn id="84" dur="400" decel="100000"/>
                                        <p:tgtEl>
                                          <p:spTgt spid="14"/>
                                        </p:tgtEl>
                                      </p:cBhvr>
                                    </p:animEffect>
                                    <p:anim calcmode="lin" valueType="num">
                                      <p:cBhvr>
                                        <p:cTn id="85" dur="400" decel="100000" fill="hold"/>
                                        <p:tgtEl>
                                          <p:spTgt spid="14"/>
                                        </p:tgtEl>
                                        <p:attrNameLst>
                                          <p:attrName>ppt_x</p:attrName>
                                        </p:attrNameLst>
                                      </p:cBhvr>
                                      <p:tavLst>
                                        <p:tav tm="0">
                                          <p:val>
                                            <p:strVal val="#ppt_x"/>
                                          </p:val>
                                        </p:tav>
                                        <p:tav tm="100000">
                                          <p:val>
                                            <p:strVal val="#ppt_x"/>
                                          </p:val>
                                        </p:tav>
                                      </p:tavLst>
                                    </p:anim>
                                    <p:anim calcmode="lin" valueType="num">
                                      <p:cBhvr>
                                        <p:cTn id="86" dur="400" decel="100000" fill="hold"/>
                                        <p:tgtEl>
                                          <p:spTgt spid="14"/>
                                        </p:tgtEl>
                                        <p:attrNameLst>
                                          <p:attrName>ppt_y</p:attrName>
                                        </p:attrNameLst>
                                      </p:cBhvr>
                                      <p:tavLst>
                                        <p:tav tm="0">
                                          <p:val>
                                            <p:strVal val="#ppt_y+0.0278"/>
                                          </p:val>
                                        </p:tav>
                                        <p:tav tm="100000">
                                          <p:val>
                                            <p:strVal val="#ppt_y"/>
                                          </p:val>
                                        </p:tav>
                                      </p:tavLst>
                                    </p:anim>
                                  </p:childTnLst>
                                </p:cTn>
                              </p:par>
                            </p:childTnLst>
                          </p:cTn>
                        </p:par>
                        <p:par>
                          <p:cTn id="87" fill="hold">
                            <p:stCondLst>
                              <p:cond delay="3730"/>
                            </p:stCondLst>
                            <p:childTnLst>
                              <p:par>
                                <p:cTn id="88" presetID="22" presetClass="entr" presetSubtype="8" fill="hold" grpId="0" nodeType="afterEffect">
                                  <p:stCondLst>
                                    <p:cond delay="0"/>
                                  </p:stCondLst>
                                  <p:childTnLst>
                                    <p:set>
                                      <p:cBhvr>
                                        <p:cTn id="89" dur="1" fill="hold">
                                          <p:stCondLst>
                                            <p:cond delay="0"/>
                                          </p:stCondLst>
                                        </p:cTn>
                                        <p:tgtEl>
                                          <p:spTgt spid="16"/>
                                        </p:tgtEl>
                                        <p:attrNameLst>
                                          <p:attrName>style.visibility</p:attrName>
                                        </p:attrNameLst>
                                      </p:cBhvr>
                                      <p:to>
                                        <p:strVal val="visible"/>
                                      </p:to>
                                    </p:set>
                                    <p:animEffect transition="in" filter="wipe(left)">
                                      <p:cBhvr>
                                        <p:cTn id="90" dur="300" decel="100000"/>
                                        <p:tgtEl>
                                          <p:spTgt spid="16"/>
                                        </p:tgtEl>
                                      </p:cBhvr>
                                    </p:animEffect>
                                  </p:childTnLst>
                                </p:cTn>
                              </p:par>
                              <p:par>
                                <p:cTn id="92" presetID="42" presetClass="entr" presetSubtype="0" fill="hold" grpId="0" nodeType="withEffect">
                                  <p:stCondLst>
                                    <p:cond delay="0"/>
                                  </p:stCondLst>
                                  <p:childTnLst>
                                    <p:set>
                                      <p:cBhvr>
                                        <p:cTn id="93" dur="1" fill="hold">
                                          <p:stCondLst>
                                            <p:cond delay="0"/>
                                          </p:stCondLst>
                                        </p:cTn>
                                        <p:tgtEl>
                                          <p:spTgt spid="17"/>
                                        </p:tgtEl>
                                        <p:attrNameLst>
                                          <p:attrName>style.visibility</p:attrName>
                                        </p:attrNameLst>
                                      </p:cBhvr>
                                      <p:to>
                                        <p:strVal val="visible"/>
                                      </p:to>
                                    </p:set>
                                    <p:animEffect transition="in" filter="fade">
                                      <p:cBhvr>
                                        <p:cTn id="94" dur="400" decel="100000"/>
                                        <p:tgtEl>
                                          <p:spTgt spid="17"/>
                                        </p:tgtEl>
                                      </p:cBhvr>
                                    </p:animEffect>
                                    <p:anim calcmode="lin" valueType="num">
                                      <p:cBhvr>
                                        <p:cTn id="95" dur="400" decel="100000" fill="hold"/>
                                        <p:tgtEl>
                                          <p:spTgt spid="17"/>
                                        </p:tgtEl>
                                        <p:attrNameLst>
                                          <p:attrName>ppt_x</p:attrName>
                                        </p:attrNameLst>
                                      </p:cBhvr>
                                      <p:tavLst>
                                        <p:tav tm="0">
                                          <p:val>
                                            <p:strVal val="#ppt_x"/>
                                          </p:val>
                                        </p:tav>
                                        <p:tav tm="100000">
                                          <p:val>
                                            <p:strVal val="#ppt_x"/>
                                          </p:val>
                                        </p:tav>
                                      </p:tavLst>
                                    </p:anim>
                                    <p:anim calcmode="lin" valueType="num">
                                      <p:cBhvr>
                                        <p:cTn id="96" dur="400" decel="100000" fill="hold"/>
                                        <p:tgtEl>
                                          <p:spTgt spid="17"/>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6" grpId="0" animBg="1"/>
      <p:bldP spid="7" grpId="0" animBg="1"/>
      <p:bldP spid="8" grpId="0"/>
      <p:bldP spid="9" grpId="0" animBg="1"/>
      <p:bldP spid="10" grpId="0" animBg="1"/>
      <p:bldP spid="11" grpId="0"/>
      <p:bldP spid="12" grpId="0" animBg="1"/>
      <p:bldP spid="13" grpId="0" animBg="1"/>
      <p:bldP spid="14" grpId="0"/>
      <p:bldP spid="15" grpId="0" animBg="1"/>
      <p:bldP spid="16" grpId="0" animBg="1"/>
      <p:bldP spid="17" grpId="0"/>
      <p:bldP spid="18" grpId="0" animBg="1"/>
      <p:bldP spid="19" grpId="0"/>
      <p:bldP spid="21" grpId="0" animBg="1"/>
      <p:bldP spid="22" grpId="0" animBg="1"/>
      <p:bldP spid="23" grpId="0" animBg="1"/>
    </p:bldLst>
  </p:timing>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solidFill>
            <a:srgbClr val="FFFFFF"/>
          </a:solidFill>
          <a:ln>
            <a:noFill/>
          </a:ln>
        </p:spPr>
        <p:txBody>
          <a:bodyPr rtlCol="0" anchor="ctr"/>
          <a:lstStyle/>
          <a:p/>
        </p:txBody>
      </p:sp>
      <p:pic>
        <p:nvPicPr>
          <p:cNvPr id="3" name="!!Hero" descr="La gamme complète, spot 2D"/>
          <p:cNvPicPr>
            <a:picLocks noChangeAspect="1"/>
          </p:cNvPicPr>
          <p:nvPr/>
        </p:nvPicPr>
        <p:blipFill>
          <a:blip r:embed="rId2"/>
          <a:srcRect l="24662" r="24662"/>
          <a:stretch>
            <a:fillRect/>
          </a:stretch>
        </p:blipFill>
        <p:spPr>
          <a:xfrm>
            <a:off x="6949440" y="914400"/>
            <a:ext cx="4572000" cy="5074920"/>
          </a:xfrm>
          <a:prstGeom prst="roundRect">
            <a:avLst>
              <a:gd name="adj" fmla="val 5000"/>
            </a:avLst>
          </a:prstGeom>
          <a:effectLst>
            <a:outerShdw blurRad="177800" dist="38100" dir="5400000" algn="t" rotWithShape="0">
              <a:srgbClr val="1A0507">
                <a:alpha val="14000"/>
              </a:srgbClr>
            </a:outerShdw>
          </a:effectLst>
        </p:spPr>
      </p:pic>
      <p:sp>
        <p:nvSpPr>
          <p:cNvPr id="4" name="!!Title"/>
          <p:cNvSpPr txBox="1"/>
          <p:nvPr/>
        </p:nvSpPr>
        <p:spPr>
          <a:xfrm>
            <a:off x="685800" y="914400"/>
            <a:ext cx="5943600" cy="731520"/>
          </a:xfrm>
          <a:prstGeom prst="rect">
            <a:avLst/>
          </a:prstGeom>
          <a:noFill/>
        </p:spPr>
        <p:txBody>
          <a:bodyPr wrap="square" lIns="0" rIns="0" tIns="0" bIns="0" anchor="t">
            <a:noAutofit/>
          </a:bodyPr>
          <a:lstStyle/>
          <a:p>
            <a:pPr algn="l">
              <a:lnSpc>
                <a:spcPct val="95000"/>
              </a:lnSpc>
            </a:pPr>
            <a:r>
              <a:rPr sz="4000">
                <a:solidFill>
                  <a:srgbClr val="7B1421"/>
                </a:solidFill>
                <a:latin typeface="Cream Heavy"/>
              </a:rPr>
              <a:t>Conclusion</a:t>
            </a:r>
          </a:p>
        </p:txBody>
      </p:sp>
      <p:sp>
        <p:nvSpPr>
          <p:cNvPr id="5" name="!!Body"/>
          <p:cNvSpPr txBox="1"/>
          <p:nvPr/>
        </p:nvSpPr>
        <p:spPr>
          <a:xfrm>
            <a:off x="685800" y="2057400"/>
            <a:ext cx="5943600" cy="1463040"/>
          </a:xfrm>
          <a:prstGeom prst="rect">
            <a:avLst/>
          </a:prstGeom>
          <a:noFill/>
        </p:spPr>
        <p:txBody>
          <a:bodyPr wrap="square" lIns="0" rIns="0" tIns="0" bIns="0" anchor="t">
            <a:noAutofit/>
          </a:bodyPr>
          <a:lstStyle/>
          <a:p>
            <a:pPr algn="l">
              <a:lnSpc>
                <a:spcPct val="112000"/>
              </a:lnSpc>
              <a:spcAft>
                <a:spcPts val="800"/>
              </a:spcAft>
            </a:pPr>
            <a:r>
              <a:rPr sz="1750">
                <a:solidFill>
                  <a:srgbClr val="2A070D"/>
                </a:solidFill>
                <a:latin typeface="Montserrat Medium"/>
              </a:rPr>
              <a:t>Une identité cohérente, des supports print et audiovisuels adaptés, un site web fonctionnel.</a:t>
            </a:r>
          </a:p>
        </p:txBody>
      </p:sp>
      <p:sp>
        <p:nvSpPr>
          <p:cNvPr id="6" name="!!Body2"/>
          <p:cNvSpPr txBox="1"/>
          <p:nvPr/>
        </p:nvSpPr>
        <p:spPr>
          <a:xfrm>
            <a:off x="685800" y="3383280"/>
            <a:ext cx="5943600" cy="1463040"/>
          </a:xfrm>
          <a:prstGeom prst="rect">
            <a:avLst/>
          </a:prstGeom>
          <a:noFill/>
        </p:spPr>
        <p:txBody>
          <a:bodyPr wrap="square" lIns="0" rIns="0" tIns="0" bIns="0" anchor="t">
            <a:noAutofit/>
          </a:bodyPr>
          <a:lstStyle/>
          <a:p>
            <a:pPr algn="l">
              <a:lnSpc>
                <a:spcPct val="112000"/>
              </a:lnSpc>
              <a:spcAft>
                <a:spcPts val="800"/>
              </a:spcAft>
            </a:pPr>
            <a:r>
              <a:rPr sz="1750">
                <a:solidFill>
                  <a:srgbClr val="7B1421"/>
                </a:solidFill>
                <a:latin typeface="Montserrat SemiBold"/>
              </a:rPr>
              <a:t>Limites</a:t>
            </a:r>
            <a:r>
              <a:rPr sz="1750">
                <a:solidFill>
                  <a:srgbClr val="2A070D"/>
                </a:solidFill>
                <a:latin typeface="Montserrat Medium"/>
              </a:rPr>
              <a:t> : pas d'étude de marché à grande échelle ; impact réel à mesurer.</a:t>
            </a:r>
          </a:p>
        </p:txBody>
      </p:sp>
      <p:sp>
        <p:nvSpPr>
          <p:cNvPr id="7" name="!!Accent"/>
          <p:cNvSpPr/>
          <p:nvPr/>
        </p:nvSpPr>
        <p:spPr>
          <a:xfrm>
            <a:off x="685800" y="338328"/>
            <a:ext cx="384048" cy="32004"/>
          </a:xfrm>
          <a:prstGeom prst="rect">
            <a:avLst/>
          </a:prstGeom>
          <a:solidFill>
            <a:srgbClr val="F9A825"/>
          </a:solidFill>
          <a:ln>
            <a:noFill/>
          </a:ln>
        </p:spPr>
        <p:txBody>
          <a:bodyPr rtlCol="0" anchor="ctr"/>
          <a:lstStyle/>
          <a:p/>
        </p:txBody>
      </p:sp>
      <p:sp>
        <p:nvSpPr>
          <p:cNvPr id="8" name="!!Kicker"/>
          <p:cNvSpPr txBox="1"/>
          <p:nvPr/>
        </p:nvSpPr>
        <p:spPr>
          <a:xfrm>
            <a:off x="685800" y="475488"/>
            <a:ext cx="7863840" cy="274320"/>
          </a:xfrm>
          <a:prstGeom prst="rect">
            <a:avLst/>
          </a:prstGeom>
          <a:noFill/>
        </p:spPr>
        <p:txBody>
          <a:bodyPr wrap="square" lIns="0" rIns="0" tIns="0" bIns="0" anchor="t">
            <a:noAutofit/>
          </a:bodyPr>
          <a:lstStyle/>
          <a:p>
            <a:pPr algn="l"/>
            <a:r>
              <a:rPr sz="1050" spc="220" cap="all">
                <a:solidFill>
                  <a:srgbClr val="6E5A5D"/>
                </a:solidFill>
                <a:latin typeface="Montserrat SemiBold"/>
              </a:rPr>
              <a:t>06 · Bilan</a:t>
            </a:r>
          </a:p>
        </p:txBody>
      </p:sp>
      <p:sp>
        <p:nvSpPr>
          <p:cNvPr id="9"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6E5A5D"/>
                </a:solidFill>
                <a:latin typeface="Montserrat SemiBold"/>
              </a:rPr>
              <a:t>45</a:t>
            </a:r>
          </a:p>
        </p:txBody>
      </p:sp>
      <p:sp>
        <p:nvSpPr>
          <p:cNvPr id="10" name="!!Dot0"/>
          <p:cNvSpPr/>
          <p:nvPr/>
        </p:nvSpPr>
        <p:spPr>
          <a:xfrm>
            <a:off x="685800" y="6382512"/>
            <a:ext cx="68580" cy="68580"/>
          </a:xfrm>
          <a:prstGeom prst="ellipse">
            <a:avLst/>
          </a:prstGeom>
          <a:solidFill>
            <a:srgbClr val="A40C21">
              <a:alpha val="75000"/>
            </a:srgbClr>
          </a:solidFill>
          <a:ln>
            <a:noFill/>
          </a:ln>
        </p:spPr>
        <p:txBody>
          <a:bodyPr rtlCol="0" anchor="ctr"/>
          <a:lstStyle/>
          <a:p/>
        </p:txBody>
      </p:sp>
      <p:sp>
        <p:nvSpPr>
          <p:cNvPr id="11" name="!!Dot1"/>
          <p:cNvSpPr/>
          <p:nvPr/>
        </p:nvSpPr>
        <p:spPr>
          <a:xfrm>
            <a:off x="832104" y="6382512"/>
            <a:ext cx="68580" cy="68580"/>
          </a:xfrm>
          <a:prstGeom prst="ellipse">
            <a:avLst/>
          </a:prstGeom>
          <a:solidFill>
            <a:srgbClr val="F9A825">
              <a:alpha val="75000"/>
            </a:srgbClr>
          </a:solidFill>
          <a:ln>
            <a:noFill/>
          </a:ln>
        </p:spPr>
        <p:txBody>
          <a:bodyPr rtlCol="0" anchor="ctr"/>
          <a:lstStyle/>
          <a:p/>
        </p:txBody>
      </p:sp>
      <p:sp>
        <p:nvSpPr>
          <p:cNvPr id="12" name="!!Dot2"/>
          <p:cNvSpPr/>
          <p:nvPr/>
        </p:nvSpPr>
        <p:spPr>
          <a:xfrm>
            <a:off x="978408" y="6382512"/>
            <a:ext cx="68580" cy="68580"/>
          </a:xfrm>
          <a:prstGeom prst="ellipse">
            <a:avLst/>
          </a:prstGeom>
          <a:solidFill>
            <a:srgbClr val="2A5519">
              <a:alpha val="75000"/>
            </a:srgbClr>
          </a:solidFill>
          <a:ln>
            <a:noFill/>
          </a:ln>
        </p:spPr>
        <p:txBody>
          <a:bodyPr rtlCol="0" anchor="ctr"/>
          <a:lstStyle/>
          <a:p/>
        </p:txBody>
      </p:sp>
      <p:pic>
        <p:nvPicPr>
          <p:cNvPr id="13" name="!!Logo" descr="Logo Marin'Or Ivoire"/>
          <p:cNvPicPr>
            <a:picLocks noChangeAspect="1"/>
          </p:cNvPicPr>
          <p:nvPr/>
        </p:nvPicPr>
        <p:blipFill>
          <a:blip r:embed="rId3"/>
          <a:stretch>
            <a:fillRect/>
          </a:stretch>
        </p:blipFill>
        <p:spPr>
          <a:xfrm>
            <a:off x="10546080" y="311488"/>
            <a:ext cx="960120" cy="5029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decel="100000"/>
                                        <p:tgtEl>
                                          <p:spTgt spid="4"/>
                                        </p:tgtEl>
                                      </p:cBhvr>
                                    </p:animEffect>
                                    <p:anim calcmode="lin" valueType="num">
                                      <p:cBhvr>
                                        <p:cTn id="8" dur="500" decel="100000" fill="hold"/>
                                        <p:tgtEl>
                                          <p:spTgt spid="4"/>
                                        </p:tgtEl>
                                        <p:attrNameLst>
                                          <p:attrName>ppt_x</p:attrName>
                                        </p:attrNameLst>
                                      </p:cBhvr>
                                      <p:tavLst>
                                        <p:tav tm="0">
                                          <p:val>
                                            <p:strVal val="#ppt_x"/>
                                          </p:val>
                                        </p:tav>
                                        <p:tav tm="100000">
                                          <p:val>
                                            <p:strVal val="#ppt_x"/>
                                          </p:val>
                                        </p:tav>
                                      </p:tavLst>
                                    </p:anim>
                                    <p:anim calcmode="lin" valueType="num">
                                      <p:cBhvr>
                                        <p:cTn id="9" dur="500" decel="100000" fill="hold"/>
                                        <p:tgtEl>
                                          <p:spTgt spid="4"/>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decel="100000"/>
                                        <p:tgtEl>
                                          <p:spTgt spid="8"/>
                                        </p:tgtEl>
                                      </p:cBhvr>
                                    </p:animEffect>
                                    <p:anim calcmode="lin" valueType="num">
                                      <p:cBhvr>
                                        <p:cTn id="13" dur="500" decel="100000" fill="hold"/>
                                        <p:tgtEl>
                                          <p:spTgt spid="8"/>
                                        </p:tgtEl>
                                        <p:attrNameLst>
                                          <p:attrName>ppt_x</p:attrName>
                                        </p:attrNameLst>
                                      </p:cBhvr>
                                      <p:tavLst>
                                        <p:tav tm="0">
                                          <p:val>
                                            <p:strVal val="#ppt_x"/>
                                          </p:val>
                                        </p:tav>
                                        <p:tav tm="100000">
                                          <p:val>
                                            <p:strVal val="#ppt_x"/>
                                          </p:val>
                                        </p:tav>
                                      </p:tavLst>
                                    </p:anim>
                                    <p:anim calcmode="lin" valueType="num">
                                      <p:cBhvr>
                                        <p:cTn id="14" dur="500" decel="100000" fill="hold"/>
                                        <p:tgtEl>
                                          <p:spTgt spid="8"/>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6" dur="2600" fill="hold"/>
                                        <p:tgtEl>
                                          <p:spTgt spid="10"/>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3150" fill="hold"/>
                                        <p:tgtEl>
                                          <p:spTgt spid="11"/>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700" fill="hold"/>
                                        <p:tgtEl>
                                          <p:spTgt spid="12"/>
                                        </p:tgtEl>
                                        <p:attrNameLst>
                                          <p:attrName>ppt_x</p:attrName>
                                          <p:attrName>ppt_y</p:attrName>
                                        </p:attrNameLst>
                                      </p:cBhvr>
                                      <p:rCtr x="0" y="0"/>
                                    </p:animMotion>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400" decel="1000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decel="100000"/>
                                        <p:tgtEl>
                                          <p:spTgt spid="5"/>
                                        </p:tgtEl>
                                      </p:cBhvr>
                                    </p:animEffect>
                                    <p:anim calcmode="lin" valueType="num">
                                      <p:cBhvr>
                                        <p:cTn id="31" dur="500" decel="100000" fill="hold"/>
                                        <p:tgtEl>
                                          <p:spTgt spid="5"/>
                                        </p:tgtEl>
                                        <p:attrNameLst>
                                          <p:attrName>ppt_x</p:attrName>
                                        </p:attrNameLst>
                                      </p:cBhvr>
                                      <p:tavLst>
                                        <p:tav tm="0">
                                          <p:val>
                                            <p:strVal val="#ppt_x"/>
                                          </p:val>
                                        </p:tav>
                                        <p:tav tm="100000">
                                          <p:val>
                                            <p:strVal val="#ppt_x"/>
                                          </p:val>
                                        </p:tav>
                                      </p:tavLst>
                                    </p:anim>
                                    <p:anim calcmode="lin" valueType="num">
                                      <p:cBhvr>
                                        <p:cTn id="32" dur="500" decel="100000" fill="hold"/>
                                        <p:tgtEl>
                                          <p:spTgt spid="5"/>
                                        </p:tgtEl>
                                        <p:attrNameLst>
                                          <p:attrName>ppt_y</p:attrName>
                                        </p:attrNameLst>
                                      </p:cBhvr>
                                      <p:tavLst>
                                        <p:tav tm="0">
                                          <p:val>
                                            <p:strVal val="#ppt_y+0.0278"/>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500" decel="100000"/>
                                        <p:tgtEl>
                                          <p:spTgt spid="3"/>
                                        </p:tgtEl>
                                      </p:cBhvr>
                                    </p:animEffect>
                                    <p:anim calcmode="lin" valueType="num">
                                      <p:cBhvr>
                                        <p:cTn id="36" dur="500" decel="100000" fill="hold"/>
                                        <p:tgtEl>
                                          <p:spTgt spid="3"/>
                                        </p:tgtEl>
                                        <p:attrNameLst>
                                          <p:attrName>ppt_x</p:attrName>
                                        </p:attrNameLst>
                                      </p:cBhvr>
                                      <p:tavLst>
                                        <p:tav tm="0">
                                          <p:val>
                                            <p:strVal val="#ppt_x"/>
                                          </p:val>
                                        </p:tav>
                                        <p:tav tm="100000">
                                          <p:val>
                                            <p:strVal val="#ppt_x"/>
                                          </p:val>
                                        </p:tav>
                                      </p:tavLst>
                                    </p:anim>
                                    <p:anim calcmode="lin" valueType="num">
                                      <p:cBhvr>
                                        <p:cTn id="37" dur="500" decel="100000" fill="hold"/>
                                        <p:tgtEl>
                                          <p:spTgt spid="3"/>
                                        </p:tgtEl>
                                        <p:attrNameLst>
                                          <p:attrName>ppt_y</p:attrName>
                                        </p:attrNameLst>
                                      </p:cBhvr>
                                      <p:tavLst>
                                        <p:tav tm="0">
                                          <p:val>
                                            <p:strVal val="#ppt_y+0.0278"/>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500" decel="100000"/>
                                        <p:tgtEl>
                                          <p:spTgt spid="6"/>
                                        </p:tgtEl>
                                      </p:cBhvr>
                                    </p:animEffect>
                                    <p:anim calcmode="lin" valueType="num">
                                      <p:cBhvr>
                                        <p:cTn id="43" dur="500" decel="100000" fill="hold"/>
                                        <p:tgtEl>
                                          <p:spTgt spid="6"/>
                                        </p:tgtEl>
                                        <p:attrNameLst>
                                          <p:attrName>ppt_x</p:attrName>
                                        </p:attrNameLst>
                                      </p:cBhvr>
                                      <p:tavLst>
                                        <p:tav tm="0">
                                          <p:val>
                                            <p:strVal val="#ppt_x"/>
                                          </p:val>
                                        </p:tav>
                                        <p:tav tm="100000">
                                          <p:val>
                                            <p:strVal val="#ppt_x"/>
                                          </p:val>
                                        </p:tav>
                                      </p:tavLst>
                                    </p:anim>
                                    <p:anim calcmode="lin" valueType="num">
                                      <p:cBhvr>
                                        <p:cTn id="44" dur="500" decel="100000" fill="hold"/>
                                        <p:tgtEl>
                                          <p:spTgt spid="6"/>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p:bldP spid="10" grpId="0" animBg="1"/>
      <p:bldP spid="11" grpId="0" animBg="1"/>
      <p:bldP spid="12" grpId="0" animBg="1"/>
    </p:bld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G"/>
          <p:cNvSpPr/>
          <p:nvPr/>
        </p:nvSpPr>
        <p:spPr>
          <a:xfrm>
            <a:off x="0" y="0"/>
            <a:ext cx="12192000" cy="6858000"/>
          </a:xfrm>
          <a:prstGeom prst="rect">
            <a:avLst/>
          </a:prstGeom>
          <a:gradFill rotWithShape="1">
            <a:gsLst>
              <a:gs pos="0">
                <a:srgbClr val="8A1828"/>
              </a:gs>
              <a:gs pos="100000">
                <a:srgbClr val="68101C"/>
              </a:gs>
            </a:gsLst>
            <a:lin ang="2100000" scaled="0"/>
          </a:gradFill>
          <a:ln>
            <a:noFill/>
          </a:ln>
        </p:spPr>
        <p:txBody>
          <a:bodyPr rtlCol="0" anchor="ctr"/>
          <a:lstStyle/>
          <a:p/>
        </p:txBody>
      </p:sp>
      <p:pic>
        <p:nvPicPr>
          <p:cNvPr id="3" name="!!WM" descr="Filigrane : icône éléphant Marin’Or (décoratif)"/>
          <p:cNvPicPr>
            <a:picLocks noChangeAspect="1"/>
          </p:cNvPicPr>
          <p:nvPr/>
        </p:nvPicPr>
        <p:blipFill>
          <a:blip r:embed="rId2">
            <a:alphaModFix amt="7000"/>
          </a:blip>
          <a:srcRect/>
          <a:stretch>
            <a:fillRect/>
          </a:stretch>
        </p:blipFill>
        <p:spPr>
          <a:xfrm>
            <a:off x="7056729" y="3253165"/>
            <a:ext cx="6583680" cy="4506043"/>
          </a:xfrm>
          <a:prstGeom prst="rect">
            <a:avLst/>
          </a:prstGeom>
        </p:spPr>
      </p:pic>
      <p:pic>
        <p:nvPicPr>
          <p:cNvPr id="4" name="!!LogoHero" descr="Logo Marin'Or Ivoire"/>
          <p:cNvPicPr>
            <a:picLocks noChangeAspect="1"/>
          </p:cNvPicPr>
          <p:nvPr/>
        </p:nvPicPr>
        <p:blipFill>
          <a:blip r:embed="rId3"/>
          <a:stretch>
            <a:fillRect/>
          </a:stretch>
        </p:blipFill>
        <p:spPr>
          <a:xfrm>
            <a:off x="4450080" y="779270"/>
            <a:ext cx="3291840" cy="1724542"/>
          </a:xfrm>
          <a:prstGeom prst="rect">
            <a:avLst/>
          </a:prstGeom>
        </p:spPr>
      </p:pic>
      <p:sp>
        <p:nvSpPr>
          <p:cNvPr id="5" name="!!Title"/>
          <p:cNvSpPr txBox="1"/>
          <p:nvPr/>
        </p:nvSpPr>
        <p:spPr>
          <a:xfrm>
            <a:off x="0" y="2788920"/>
            <a:ext cx="12192000" cy="822960"/>
          </a:xfrm>
          <a:prstGeom prst="rect">
            <a:avLst/>
          </a:prstGeom>
          <a:noFill/>
        </p:spPr>
        <p:txBody>
          <a:bodyPr wrap="square" lIns="0" rIns="0" tIns="0" bIns="0" anchor="t">
            <a:noAutofit/>
          </a:bodyPr>
          <a:lstStyle/>
          <a:p>
            <a:pPr algn="ctr">
              <a:lnSpc>
                <a:spcPct val="95000"/>
              </a:lnSpc>
            </a:pPr>
            <a:r>
              <a:rPr sz="4800">
                <a:solidFill>
                  <a:srgbClr val="FFFFFF"/>
                </a:solidFill>
                <a:latin typeface="Cream Heavy"/>
              </a:rPr>
              <a:t>Merci de votre attention</a:t>
            </a:r>
          </a:p>
        </p:txBody>
      </p:sp>
      <p:sp>
        <p:nvSpPr>
          <p:cNvPr id="6" name="!!Sub"/>
          <p:cNvSpPr txBox="1"/>
          <p:nvPr/>
        </p:nvSpPr>
        <p:spPr>
          <a:xfrm>
            <a:off x="2011680" y="3886200"/>
            <a:ext cx="8168640" cy="914400"/>
          </a:xfrm>
          <a:prstGeom prst="rect">
            <a:avLst/>
          </a:prstGeom>
          <a:noFill/>
        </p:spPr>
        <p:txBody>
          <a:bodyPr wrap="square" lIns="0" rIns="0" tIns="0" bIns="0" anchor="t">
            <a:noAutofit/>
          </a:bodyPr>
          <a:lstStyle/>
          <a:p>
            <a:pPr algn="ctr">
              <a:lnSpc>
                <a:spcPct val="112000"/>
              </a:lnSpc>
              <a:spcAft>
                <a:spcPts val="800"/>
              </a:spcAft>
            </a:pPr>
            <a:r>
              <a:rPr sz="1600">
                <a:solidFill>
                  <a:srgbClr val="FFECD1"/>
                </a:solidFill>
                <a:latin typeface="Montserrat Medium"/>
              </a:rPr>
              <a:t>Perspectives : une stratégie digitale (réseaux sociaux, campagnes ciblées) et l'export vers la sous-région ouest-africaine.</a:t>
            </a:r>
          </a:p>
        </p:txBody>
      </p:sp>
      <p:sp>
        <p:nvSpPr>
          <p:cNvPr id="7" name="!!PageNo"/>
          <p:cNvSpPr txBox="1"/>
          <p:nvPr/>
        </p:nvSpPr>
        <p:spPr>
          <a:xfrm>
            <a:off x="10957560" y="6309360"/>
            <a:ext cx="548640" cy="228600"/>
          </a:xfrm>
          <a:prstGeom prst="rect">
            <a:avLst/>
          </a:prstGeom>
          <a:noFill/>
        </p:spPr>
        <p:txBody>
          <a:bodyPr wrap="square" lIns="0" rIns="0" tIns="0" bIns="0" anchor="t">
            <a:noAutofit/>
          </a:bodyPr>
          <a:lstStyle/>
          <a:p>
            <a:pPr algn="r"/>
            <a:r>
              <a:rPr sz="1000" spc="150">
                <a:solidFill>
                  <a:srgbClr val="F9A825"/>
                </a:solidFill>
                <a:latin typeface="Montserrat SemiBold"/>
              </a:rPr>
              <a:t>46</a:t>
            </a:r>
          </a:p>
        </p:txBody>
      </p:sp>
      <p:sp>
        <p:nvSpPr>
          <p:cNvPr id="8" name="!!Dot0"/>
          <p:cNvSpPr/>
          <p:nvPr/>
        </p:nvSpPr>
        <p:spPr>
          <a:xfrm>
            <a:off x="685800" y="6382512"/>
            <a:ext cx="68580" cy="68580"/>
          </a:xfrm>
          <a:prstGeom prst="ellipse">
            <a:avLst/>
          </a:prstGeom>
          <a:solidFill>
            <a:srgbClr val="F9A825">
              <a:alpha val="75000"/>
            </a:srgbClr>
          </a:solidFill>
          <a:ln>
            <a:noFill/>
          </a:ln>
        </p:spPr>
        <p:txBody>
          <a:bodyPr rtlCol="0" anchor="ctr"/>
          <a:lstStyle/>
          <a:p/>
        </p:txBody>
      </p:sp>
      <p:sp>
        <p:nvSpPr>
          <p:cNvPr id="9" name="!!Dot1"/>
          <p:cNvSpPr/>
          <p:nvPr/>
        </p:nvSpPr>
        <p:spPr>
          <a:xfrm>
            <a:off x="832104" y="6382512"/>
            <a:ext cx="68580" cy="68580"/>
          </a:xfrm>
          <a:prstGeom prst="ellipse">
            <a:avLst/>
          </a:prstGeom>
          <a:solidFill>
            <a:srgbClr val="FFECD1">
              <a:alpha val="75000"/>
            </a:srgbClr>
          </a:solidFill>
          <a:ln>
            <a:noFill/>
          </a:ln>
        </p:spPr>
        <p:txBody>
          <a:bodyPr rtlCol="0" anchor="ctr"/>
          <a:lstStyle/>
          <a:p/>
        </p:txBody>
      </p:sp>
      <p:sp>
        <p:nvSpPr>
          <p:cNvPr id="10" name="!!Dot2"/>
          <p:cNvSpPr/>
          <p:nvPr/>
        </p:nvSpPr>
        <p:spPr>
          <a:xfrm>
            <a:off x="978408" y="6382512"/>
            <a:ext cx="68580" cy="68580"/>
          </a:xfrm>
          <a:prstGeom prst="ellipse">
            <a:avLst/>
          </a:prstGeom>
          <a:solidFill>
            <a:srgbClr val="F9A825">
              <a:alpha val="75000"/>
            </a:srgbClr>
          </a:solidFill>
          <a:ln>
            <a:noFill/>
          </a:ln>
        </p:spPr>
        <p:txBody>
          <a:bodyPr rtlCol="0" anchor="ct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decel="100000"/>
                                        <p:tgtEl>
                                          <p:spTgt spid="5"/>
                                        </p:tgtEl>
                                      </p:cBhvr>
                                    </p:animEffect>
                                    <p:anim calcmode="lin" valueType="num">
                                      <p:cBhvr>
                                        <p:cTn id="8" dur="500" decel="100000" fill="hold"/>
                                        <p:tgtEl>
                                          <p:spTgt spid="5"/>
                                        </p:tgtEl>
                                        <p:attrNameLst>
                                          <p:attrName>ppt_x</p:attrName>
                                        </p:attrNameLst>
                                      </p:cBhvr>
                                      <p:tavLst>
                                        <p:tav tm="0">
                                          <p:val>
                                            <p:strVal val="#ppt_x"/>
                                          </p:val>
                                        </p:tav>
                                        <p:tav tm="100000">
                                          <p:val>
                                            <p:strVal val="#ppt_x"/>
                                          </p:val>
                                        </p:tav>
                                      </p:tavLst>
                                    </p:anim>
                                    <p:anim calcmode="lin" valueType="num">
                                      <p:cBhvr>
                                        <p:cTn id="9" dur="500" decel="100000" fill="hold"/>
                                        <p:tgtEl>
                                          <p:spTgt spid="5"/>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decel="100000"/>
                                        <p:tgtEl>
                                          <p:spTgt spid="4"/>
                                        </p:tgtEl>
                                      </p:cBhvr>
                                    </p:animEffect>
                                    <p:anim calcmode="lin" valueType="num">
                                      <p:cBhvr>
                                        <p:cTn id="13" dur="500" decel="100000" fill="hold"/>
                                        <p:tgtEl>
                                          <p:spTgt spid="4"/>
                                        </p:tgtEl>
                                        <p:attrNameLst>
                                          <p:attrName>ppt_x</p:attrName>
                                        </p:attrNameLst>
                                      </p:cBhvr>
                                      <p:tavLst>
                                        <p:tav tm="0">
                                          <p:val>
                                            <p:strVal val="#ppt_x"/>
                                          </p:val>
                                        </p:tav>
                                        <p:tav tm="100000">
                                          <p:val>
                                            <p:strVal val="#ppt_x"/>
                                          </p:val>
                                        </p:tav>
                                      </p:tavLst>
                                    </p:anim>
                                    <p:anim calcmode="lin" valueType="num">
                                      <p:cBhvr>
                                        <p:cTn id="14" dur="500" decel="100000" fill="hold"/>
                                        <p:tgtEl>
                                          <p:spTgt spid="4"/>
                                        </p:tgtEl>
                                        <p:attrNameLst>
                                          <p:attrName>ppt_y</p:attrName>
                                        </p:attrNameLst>
                                      </p:cBhvr>
                                      <p:tavLst>
                                        <p:tav tm="0">
                                          <p:val>
                                            <p:strVal val="#ppt_y+0.0278"/>
                                          </p:val>
                                        </p:tav>
                                        <p:tav tm="100000">
                                          <p:val>
                                            <p:strVal val="#ppt_y"/>
                                          </p:val>
                                        </p:tav>
                                      </p:tavLst>
                                    </p:anim>
                                  </p:childTnLst>
                                </p:cTn>
                              </p:par>
                              <p:par>
                                <p:cTn id="15" presetID="0" presetClass="path" presetSubtype="0" repeatCount="indefinite" accel="50000" decel="50000" autoRev="1" fill="hold" grpId="0" nodeType="withEffect">
                                  <p:stCondLst>
                                    <p:cond delay="0"/>
                                  </p:stCondLst>
                                  <p:childTnLst>
                                    <p:animMotion origin="layout" path="M 0 0 L -0.0120 -0.0100 E" pathEditMode="relative" rAng="0" ptsTypes="AA">
                                      <p:cBhvr>
                                        <p:cTn id="16" dur="9000" fill="hold"/>
                                        <p:tgtEl>
                                          <p:spTgt spid="3"/>
                                        </p:tgtEl>
                                        <p:attrNameLst>
                                          <p:attrName>ppt_x</p:attrName>
                                          <p:attrName>ppt_y</p:attrName>
                                        </p:attrNameLst>
                                      </p:cBhvr>
                                      <p:rCtr x="0" y="0"/>
                                    </p:animMotion>
                                  </p:childTnLst>
                                </p:cTn>
                              </p:par>
                              <p:par>
                                <p:cTn id="17"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18" dur="2600" fill="hold"/>
                                        <p:tgtEl>
                                          <p:spTgt spid="8"/>
                                        </p:tgtEl>
                                        <p:attrNameLst>
                                          <p:attrName>ppt_x</p:attrName>
                                          <p:attrName>ppt_y</p:attrName>
                                        </p:attrNameLst>
                                      </p:cBhvr>
                                      <p:rCtr x="0" y="0"/>
                                    </p:animMotion>
                                  </p:childTnLst>
                                </p:cTn>
                              </p:par>
                              <p:par>
                                <p:cTn id="19"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0" dur="3150" fill="hold"/>
                                        <p:tgtEl>
                                          <p:spTgt spid="9"/>
                                        </p:tgtEl>
                                        <p:attrNameLst>
                                          <p:attrName>ppt_x</p:attrName>
                                          <p:attrName>ppt_y</p:attrName>
                                        </p:attrNameLst>
                                      </p:cBhvr>
                                      <p:rCtr x="0" y="0"/>
                                    </p:animMotion>
                                  </p:childTnLst>
                                </p:cTn>
                              </p:par>
                              <p:par>
                                <p:cTn id="21" presetID="0" presetClass="path" presetSubtype="0" repeatCount="indefinite" accel="50000" decel="50000" autoRev="1" fill="hold" grpId="0" nodeType="withEffect">
                                  <p:stCondLst>
                                    <p:cond delay="0"/>
                                  </p:stCondLst>
                                  <p:childTnLst>
                                    <p:animMotion origin="layout" path="M 0 0 L 0.0000 -0.0070 E" pathEditMode="relative" rAng="0" ptsTypes="AA">
                                      <p:cBhvr>
                                        <p:cTn id="22" dur="3700" fill="hold"/>
                                        <p:tgtEl>
                                          <p:spTgt spid="10"/>
                                        </p:tgtEl>
                                        <p:attrNameLst>
                                          <p:attrName>ppt_x</p:attrName>
                                          <p:attrName>ppt_y</p:attrName>
                                        </p:attrNameLst>
                                      </p:cBhvr>
                                      <p:rCtr x="0" y="0"/>
                                    </p:animMotion>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decel="100000"/>
                                        <p:tgtEl>
                                          <p:spTgt spid="6"/>
                                        </p:tgtEl>
                                      </p:cBhvr>
                                    </p:animEffect>
                                    <p:anim calcmode="lin" valueType="num">
                                      <p:cBhvr>
                                        <p:cTn id="28" dur="500" decel="100000" fill="hold"/>
                                        <p:tgtEl>
                                          <p:spTgt spid="6"/>
                                        </p:tgtEl>
                                        <p:attrNameLst>
                                          <p:attrName>ppt_x</p:attrName>
                                        </p:attrNameLst>
                                      </p:cBhvr>
                                      <p:tavLst>
                                        <p:tav tm="0">
                                          <p:val>
                                            <p:strVal val="#ppt_x"/>
                                          </p:val>
                                        </p:tav>
                                        <p:tav tm="100000">
                                          <p:val>
                                            <p:strVal val="#ppt_x"/>
                                          </p:val>
                                        </p:tav>
                                      </p:tavLst>
                                    </p:anim>
                                    <p:anim calcmode="lin" valueType="num">
                                      <p:cBhvr>
                                        <p:cTn id="29" dur="500" decel="100000" fill="hold"/>
                                        <p:tgtEl>
                                          <p:spTgt spid="6"/>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animBg="1"/>
      <p:bldP spid="9" grpId="0" animBg="1"/>
      <p:bldP spid="10" grpId="0" animBg="1"/>
    </p:bldLst>
  </p:timing>
</p:sld>
</file>

<file path=ppt/theme/theme1.xml><?xml version="1.0" encoding="utf-8"?>
<a:theme xmlns:a="http://schemas.openxmlformats.org/drawingml/2006/main" name="Office Theme">
  <a:themeElements>
    <a:clrScheme name="Marin'Or Ivoire">
      <a:dk1>
        <a:srgbClr val="000000"/>
      </a:dk1>
      <a:lt1>
        <a:srgbClr val="FFFFFF"/>
      </a:lt1>
      <a:dk2>
        <a:srgbClr val="7B1421"/>
      </a:dk2>
      <a:lt2>
        <a:srgbClr val="F6E8EA"/>
      </a:lt2>
      <a:accent1>
        <a:srgbClr val="7B1421"/>
      </a:accent1>
      <a:accent2>
        <a:srgbClr val="F9A825"/>
      </a:accent2>
      <a:accent3>
        <a:srgbClr val="2A5519"/>
      </a:accent3>
      <a:accent4>
        <a:srgbClr val="A40C21"/>
      </a:accent4>
      <a:accent5>
        <a:srgbClr val="FBD021"/>
      </a:accent5>
      <a:accent6>
        <a:srgbClr val="376F23"/>
      </a:accent6>
      <a:hlink>
        <a:srgbClr val="0000FF"/>
      </a:hlink>
      <a:folHlink>
        <a:srgbClr val="800080"/>
      </a:folHlink>
    </a:clrScheme>
    <a:fontScheme name="Office">
      <a:majorFont>
        <a:latin typeface="Cream Heavy"/>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ontserrat Medium"/>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Conception et réalisation de supports de communication pour la promotion de Marin'Or Ivoire</dc:title>
  <dc:subject>Soutenance de mémoire — Licence professionnelle Arts et Images Numériques</dc:subject>
  <dc:creator>Ekien Kouadio Constant Ephrem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