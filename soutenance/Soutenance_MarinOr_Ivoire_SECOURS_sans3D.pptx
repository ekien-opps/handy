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s] Bonjour. Mesdames et Messieurs les membres du jury, je vous remercie de votre présence pour cette soutenance consacrée à Marin'Or Ivoire.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 Mon mémoire s'intitule : « Conception et réalisation de supports de communication pour la promotion de Marin'Or Ivoire ». Il a été réalisé sous la direction du Dr Tayoro Gnewa Gérard et sous la supervision de M. TOA Agnini Jules Evariste, Professeur Titulaire.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s] Mon exposé suit six temps : l'introduction et la problématique, les produits, l'identité visuelle, les supports print et audiovisuels, le site web, puis le bilan.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 Dans nos sociétés, la recherche de saveurs authentiques grandit. Les consommateurs se tournent vers des marques capables de valoriser leur patrimoine culinaire. Pourtant, nombre de jeunes marques locales peinent à se faire une place, faute de moyens ou de structuration (Introduction, p. 16).</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 Marin'Or Ivoire est un projet porté par M. Moustapha : des marinades et épices préparées, authentiques et accessibles (p. 20). J'ai conçu ses premiers supports lors d'un stage ; ce travail restait ponctuel, sans stratégie globale.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 L'analyse fait ressortir quatre constats (p. 25) : une identité visuelle incomplète, sans charte formalisée ; une visibilité restreinte ; aucun site web ; un potentiel sous-exploité. La communication est assurée par le porteur du projet lui-même, avec des moyens limités.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 D'où la question centrale (p. 17) : comment concevoir et réaliser des supports de communication efficaces, permettant à Marin'Or Ivoire de construire une identité de marque forte et durable dans le contexte concurrentiel ivoirien ?</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 Nous formulons l'hypothèse qu'une stratégie combinant supports imprimés, contenus audiovisuels et présence numérique permettrait à la marque de gagner significativement en visibilité et en crédibilité auprès de son public cible (p. 17).</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 Démarche qualitative à Abidjan (p. 23) : recherche documentaire, observation directe pendant le stage, entretiens semi-directifs avec le porteur du projet et des consommateurs. Conformément aux objectifs d'une licence professionnelle, l'étude repose sur un diagnostic de terrain empirique et une analyse comparative des marques concurrentes, plutôt que sur une étude de marché quantitative. (Cette dernière phrase n'est pas dans le mémoire : à assumer à l'oral.)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 Objectif général (p. 21) : doter Marin'Or Ivoire d'une identité visuelle forte et de supports adaptés. Quatre objectifs spécifiques : accroître la visibilité, construire une identité cohérente, produire des supports imprimés, audiovisuels et numériques, poser les bases d'une présence numérique.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 La cible prioritaire (p. 27) : les ménages d'Abidjan, femmes et hommes de 25 à 50 ans qui cuisinent régulièrement. Plus largement : consommateurs sensibles aux produits locaux, distributeurs, restaurateurs et passionnés de cuisine.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 Trois axes guident tous les supports (p. 28) : l'authenticité des saveurs ivoiriennes, la convivialité et le partage, la simplicité accessible au quotidien.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s] Passons aux produits. Les quinze références de la gamme apparaissent ensemble (p. 24).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 Au moment de notre intervention, la marque disposait de quinze produits répartis en trois familles (Tableau 1, p. 24) : dix épices et condiments, trois marinades, deux essentiels de la cuisine ivoirienne.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 s] Les marinades, prêtes à l'emploi, en pot : poulet (braisé, rôti ou grillé), poisson (braisé, frit ou fumé) et mixte (viandes et poissons). Source : Tableau 1, p. 24.</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 s] Dix épices et condiments, majoritairement en sachet (Tableau 1) : épices spéciales poulet et poisson, paprika, piment, graines d'akpi, poudres de djoumblé, de crevettes et de poisson, purée d'ail, bouillon de poulet. Ils servent à relever le goût, colorer, parfumer et lier les sauces.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 s] Les essentiels de la cuisine ivoirienne : la pâte d'arachide pour la sauce arachide, l'huile rouge pour les sauces traditionnelles (Tableau 1).</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s] « Le vrai goût de chez nous » : des marinades et épices à base d'ingrédients 100 % naturels (accroche et sous-texte de l'affiche 1, p. 47). C'est cette promesse que l'identité visuelle doit porter.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s] Troisième temps : l'identité visuelle.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 s] Trois pistes (p. 34-35). La piste 1 reprenait l'ordre des couleurs du drapeau : l'Accord de Bangui interdit de reproduire les emblèmes d'un État sans autorisation. La piste 2, éléphant et lignes de vapeur, était difficile à identifier. La piste 3, éléphant et feuille, a été retenue, la plus narrative et la plus symbolique.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 Le logo associe une tête d'éléphant de profil à une feuille qui en forme l'oreille (p. 35-37). L'éléphant renvoie au mot « Ivoire » : force, mémoire, ancrage local. La feuille évoque l'univers culinaire. Le bordeaux profond donne un caractère premium et gourmand ; le doré, noblesse et qualité.</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s] Une zone de protection entoure le logotype. Trois versions : couleur pour les fonds clairs, blanche pour les fonds sombres et les photos, noire pour l'impression en une couleur (p. 37-38). Cette présentation applique la règle : logo couleur sur fond clair, blanc sur fond sombre.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s] Certaines manipulations sont proscrites pour préserver l'intégrité et la reconnaissance du logotype (p. 38).</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 s] Trois familles (p. 39) : Montserrat pour la lisibilité sur tous les supports ; Cream Heavy, généreuse et gourmande, pour les accroches ; RadioTime Tooled, calligraphique, réservée au logotype. Cette présentation utilise elle-même Cream Heavy et Montserrat.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 s] Dix couleurs (p. 40). Le bordeaux profond, couleur du logotype ; le rouge passion ; l'or épicé et le jaune soleil, gourmands ; les deux verts pour la naturalité ; la crème douce et le rose poudre pour les respirations ; le noir et le blanc pour la lisibilité.</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s] Pour vérifier que l'identité fonctionne en situation réelle (p. 41-44), elle a été appliquée à une carte de visite, un carnet, des polos, des tabliers de cuisine, un camion de livraison et un sac kraft.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 s] Cliquer sur la vidéo pour la lancer. L'animation du logotype est la signature audiovisuelle de la marque : elle ouvre ou clôt les spots et vidéos (p. 44). Préparation sous Illustrator, animation sous After Effects.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s] Quatrième temps : les supports réalisés.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 s] Affiche 1 (p. 47, 86) : accroche « Le vrai goût de chez nous », sous-texte « Marinades et épices à base d'ingrédients 100 % naturels », un jeune homme goûtant une sauce, trois produits mis en avant, un QR code et la barre de contacts. Axe : authenticité.</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s] Affiche 2 (p. 47, 87) : « Le goût qui rassemble », « Invitez Marin'Or Ivoire à votre table ! », des mains se servant dans un grand plat traditionnel, les trois marinades. Axe : convivialité et partage.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s] Affiche 3 (p. 47, 89) : « Marinez, Cuisez, Régalez-vous », « Aussi facile que de former une boule d'attiéké ! », deux produits. Axe : simplicité au quotidien.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 Dépliant A4 trois volets (p. 47-48) : à l'extérieur, la marque, « Qui sommes-nous ? », « Pourquoi nous choisir ? » et les contacts ; à l'intérieur, la gamme en deux colonnes, Marinades et Épices &amp; Essentiels. Il porte les trois axes.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s] Le flyer (p. 48, 93) reprend « Marinez, Cuisez, Régalez-vous ! » et « Le goût du chef, sans l'effort », avec une sélection de produits alignés en bas. Axe : simplicité au quotidien.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s] Le kakémono (p. 48-49, 96) sert en point de vente et lors d'événements : « Le goût qui rassemble ! », « Profitez-en ! », le plat partagé et les trois gammes. Axe : convivialité et partage.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 Cliquer sur la vidéo pour la lancer (extrait de 14 s). Le spot 2D (p. 49-50, 98) part d'une question au spectateur, présente les solutions naturelles Marin'Or, anime toute la gamme, illustre la simplicité d'usage et se clôt sur un repas en famille et le slogan « Marin'Or Ivoire, le goût en or ».</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 Cliquer sur la vidéo pour la lancer (extrait de 15 s). Le spot 3D (p. 50-51, 99) propose une visite de la boutique virtuelle : la caméra entre, découvre les rayonnages, s'attarde sur les marinades, les épices et les essentiels, puis termine sur le logo et l'appel à l'action.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s] Cinquième temps : le site web.</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 Deux espaces (p. 52-53) : la partie clientèle, ouverte à tout visiteur (boutique, gammes, fiches, panier, tunnel de commande, compte), et le back-office réservé à l'administrateur, avec un tableau de bord et six rubriques de gestion.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 L'accueil s'ouvre sur une bannière bordeaux avec l'accroche « Le vrai goût de chez nous » (p. 101). Chaque gamme a sa couleur de charte : bordeaux pour les Marinades, or pour les Épices, vert pour les Essentiels. Filtres, recherche et tri sont disponibles.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 Le tunnel de commande compte trois étapes (p. 65-66). Le client choisit Wave, Orange Money, Moov Money ou Djamo, effectue le transfert, saisit le numéro payeur et la référence. Le paiement passe « à vérifier » ; l'administrateur le valide et la commande devient « payée ». Il n'y a pas de paiement automatique : il faudrait un compte marchand, mais la base est prête pour cette évolution.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 s] Le back-office (p. 106-110) : un tableau de bord à quatre indicateurs, la gestion des commandes, des produits, des gammes, des clients, des messages et des paramètres. Le logo envoyé depuis les paramètres s'affiche sur tout le site.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 La base marinor_db a été conçue avec MERISE (p. 68-83) : MCD, MLD puis MPD. Onze règles de gestion, un dictionnaire de 74 données, dix entités devenues dix tables MySQL (moteur InnoDB, encodage utf8mb4). Sécurité : requêtes préparées, mots de passe hachés, jetons CSRF.</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 Dix-sept tests en local (Tableau 16, p. 111) : 14 conformes. Deux restent « à vérifier » : la saisie et la validation du paiement. Un est non conforme : l'affichage sur smartphone, à corriger avant la mise en ligne. ATTENTION : vérifier ces deux résultats avant la soutenance.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 Le projet a demandé 63 jours, soit 9 semaines (Tableau 2, p. 31) : 9 jours pour l'identité visuelle, 6 pour les supports imprimés, 20 pour les spots, 28 pour le site web.</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 Le coût est estimé à 7 000 000 FCFA (Tableau 3, p. 32) : site web 3 500 000 ; spot 3D 1 500 000 et spot 2D 900 000 ; logo et identité 500 000 ; affiches 300 000, flyer, dépliant et kakémono 100 000 chacun. Les regroupements de la diapositive sont des sommes de ces lignes.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 s] Ce travail aboutit à une identité visuelle cohérente, à des supports imprimés et audiovisuels adaptés au public cible et à un site web fonctionnel, appuyé sur un modèle de données MERISE (p. 112). Limites : pas d'étude de marché approfondie à grande échelle, des choix graphiques à confronter à un panel plus large, un impact réel à mesurer une fois les supports diffusés.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s] En ouverture (p. 113) : une véritable stratégie de communication digitale, des campagnes ciblées et l'export vers la sous-région ouest-africaine. Je vous remercie de votre attention et me tiens à votre disposition pour vos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jpg"/><Relationship Id="rId4" Type="http://schemas.openxmlformats.org/officeDocument/2006/relationships/image" Target="../media/image5.png"/><Relationship Id="rId5" Type="http://schemas.openxmlformats.org/officeDocument/2006/relationships/image" Target="../media/image8.png"/><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5.png"/><Relationship Id="rId4" Type="http://schemas.openxmlformats.org/officeDocument/2006/relationships/image" Target="../media/image8.png"/><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9.jpg"/><Relationship Id="rId4" Type="http://schemas.openxmlformats.org/officeDocument/2006/relationships/image" Target="../media/image5.png"/><Relationship Id="rId5" Type="http://schemas.openxmlformats.org/officeDocument/2006/relationships/image" Target="../media/image8.png"/><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5.png"/><Relationship Id="rId4" Type="http://schemas.openxmlformats.org/officeDocument/2006/relationships/image" Target="../media/image8.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5.png"/><Relationship Id="rId4" Type="http://schemas.openxmlformats.org/officeDocument/2006/relationships/image" Target="../media/image8.pn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5.png"/><Relationship Id="rId4" Type="http://schemas.openxmlformats.org/officeDocument/2006/relationships/image" Target="../media/image8.png"/><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10.jpg"/><Relationship Id="rId4" Type="http://schemas.openxmlformats.org/officeDocument/2006/relationships/image" Target="../media/image5.png"/><Relationship Id="rId5" Type="http://schemas.openxmlformats.org/officeDocument/2006/relationships/image" Target="../media/image8.png"/><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5.png"/><Relationship Id="rId4" Type="http://schemas.openxmlformats.org/officeDocument/2006/relationships/image" Target="../media/image8.png"/><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7.png"/><Relationship Id="rId11" Type="http://schemas.openxmlformats.org/officeDocument/2006/relationships/image" Target="../media/image18.png"/><Relationship Id="rId12" Type="http://schemas.openxmlformats.org/officeDocument/2006/relationships/image" Target="../media/image19.png"/><Relationship Id="rId13" Type="http://schemas.openxmlformats.org/officeDocument/2006/relationships/image" Target="../media/image20.png"/><Relationship Id="rId14" Type="http://schemas.openxmlformats.org/officeDocument/2006/relationships/image" Target="../media/image21.png"/><Relationship Id="rId15" Type="http://schemas.openxmlformats.org/officeDocument/2006/relationships/image" Target="../media/image22.png"/><Relationship Id="rId16" Type="http://schemas.openxmlformats.org/officeDocument/2006/relationships/image" Target="../media/image23.png"/><Relationship Id="rId17" Type="http://schemas.openxmlformats.org/officeDocument/2006/relationships/image" Target="../media/image24.png"/><Relationship Id="rId18" Type="http://schemas.openxmlformats.org/officeDocument/2006/relationships/image" Target="../media/image25.png"/><Relationship Id="rId19" Type="http://schemas.openxmlformats.org/officeDocument/2006/relationships/image" Target="../media/image5.png"/><Relationship Id="rId2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image" Target="../media/image30.png"/><Relationship Id="rId8" Type="http://schemas.openxmlformats.org/officeDocument/2006/relationships/image" Target="../media/image31.png"/><Relationship Id="rId9" Type="http://schemas.openxmlformats.org/officeDocument/2006/relationships/image" Target="../media/image32.png"/><Relationship Id="rId10" Type="http://schemas.openxmlformats.org/officeDocument/2006/relationships/image" Target="../media/image33.png"/><Relationship Id="rId11" Type="http://schemas.openxmlformats.org/officeDocument/2006/relationships/image" Target="../media/image34.png"/><Relationship Id="rId12" Type="http://schemas.openxmlformats.org/officeDocument/2006/relationships/image" Target="../media/image35.png"/><Relationship Id="rId13" Type="http://schemas.openxmlformats.org/officeDocument/2006/relationships/image" Target="../media/image36.png"/><Relationship Id="rId14" Type="http://schemas.openxmlformats.org/officeDocument/2006/relationships/image" Target="../media/image37.png"/><Relationship Id="rId15" Type="http://schemas.openxmlformats.org/officeDocument/2006/relationships/image" Target="../media/image38.png"/><Relationship Id="rId16" Type="http://schemas.openxmlformats.org/officeDocument/2006/relationships/image" Target="../media/image39.png"/><Relationship Id="rId17" Type="http://schemas.openxmlformats.org/officeDocument/2006/relationships/image" Target="../media/image40.png"/><Relationship Id="rId18" Type="http://schemas.openxmlformats.org/officeDocument/2006/relationships/image" Target="../media/image5.png"/><Relationship Id="rId19" Type="http://schemas.openxmlformats.org/officeDocument/2006/relationships/image" Target="../media/image8.png"/><Relationship Id="rId20"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44.png"/><Relationship Id="rId7" Type="http://schemas.openxmlformats.org/officeDocument/2006/relationships/image" Target="../media/image45.png"/><Relationship Id="rId8" Type="http://schemas.openxmlformats.org/officeDocument/2006/relationships/image" Target="../media/image46.png"/><Relationship Id="rId9" Type="http://schemas.openxmlformats.org/officeDocument/2006/relationships/image" Target="../media/image47.png"/><Relationship Id="rId10" Type="http://schemas.openxmlformats.org/officeDocument/2006/relationships/image" Target="../media/image48.png"/><Relationship Id="rId11" Type="http://schemas.openxmlformats.org/officeDocument/2006/relationships/image" Target="../media/image49.png"/><Relationship Id="rId12" Type="http://schemas.openxmlformats.org/officeDocument/2006/relationships/image" Target="../media/image50.png"/><Relationship Id="rId13" Type="http://schemas.openxmlformats.org/officeDocument/2006/relationships/image" Target="../media/image51.png"/><Relationship Id="rId14" Type="http://schemas.openxmlformats.org/officeDocument/2006/relationships/image" Target="../media/image52.png"/><Relationship Id="rId15" Type="http://schemas.openxmlformats.org/officeDocument/2006/relationships/image" Target="../media/image53.png"/><Relationship Id="rId16" Type="http://schemas.openxmlformats.org/officeDocument/2006/relationships/image" Target="../media/image54.png"/><Relationship Id="rId17" Type="http://schemas.openxmlformats.org/officeDocument/2006/relationships/image" Target="../media/image55.png"/><Relationship Id="rId18" Type="http://schemas.openxmlformats.org/officeDocument/2006/relationships/image" Target="../media/image5.png"/><Relationship Id="rId19" Type="http://schemas.openxmlformats.org/officeDocument/2006/relationships/image" Target="../media/image8.png"/><Relationship Id="rId20"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56.png"/><Relationship Id="rId4" Type="http://schemas.openxmlformats.org/officeDocument/2006/relationships/image" Target="../media/image57.png"/><Relationship Id="rId5" Type="http://schemas.openxmlformats.org/officeDocument/2006/relationships/image" Target="../media/image58.png"/><Relationship Id="rId6" Type="http://schemas.openxmlformats.org/officeDocument/2006/relationships/image" Target="../media/image59.png"/><Relationship Id="rId7" Type="http://schemas.openxmlformats.org/officeDocument/2006/relationships/image" Target="../media/image60.png"/><Relationship Id="rId8" Type="http://schemas.openxmlformats.org/officeDocument/2006/relationships/image" Target="../media/image61.png"/><Relationship Id="rId9" Type="http://schemas.openxmlformats.org/officeDocument/2006/relationships/image" Target="../media/image62.png"/><Relationship Id="rId10" Type="http://schemas.openxmlformats.org/officeDocument/2006/relationships/image" Target="../media/image63.png"/><Relationship Id="rId11" Type="http://schemas.openxmlformats.org/officeDocument/2006/relationships/image" Target="../media/image64.png"/><Relationship Id="rId12" Type="http://schemas.openxmlformats.org/officeDocument/2006/relationships/image" Target="../media/image65.png"/><Relationship Id="rId13" Type="http://schemas.openxmlformats.org/officeDocument/2006/relationships/image" Target="../media/image66.png"/><Relationship Id="rId14" Type="http://schemas.openxmlformats.org/officeDocument/2006/relationships/image" Target="../media/image67.png"/><Relationship Id="rId15" Type="http://schemas.openxmlformats.org/officeDocument/2006/relationships/image" Target="../media/image68.png"/><Relationship Id="rId16" Type="http://schemas.openxmlformats.org/officeDocument/2006/relationships/image" Target="../media/image69.png"/><Relationship Id="rId17" Type="http://schemas.openxmlformats.org/officeDocument/2006/relationships/image" Target="../media/image70.png"/><Relationship Id="rId18" Type="http://schemas.openxmlformats.org/officeDocument/2006/relationships/image" Target="../media/image5.png"/><Relationship Id="rId19" Type="http://schemas.openxmlformats.org/officeDocument/2006/relationships/image" Target="../media/image8.png"/><Relationship Id="rId20"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56.png"/><Relationship Id="rId4" Type="http://schemas.openxmlformats.org/officeDocument/2006/relationships/image" Target="../media/image57.png"/><Relationship Id="rId5" Type="http://schemas.openxmlformats.org/officeDocument/2006/relationships/image" Target="../media/image58.png"/><Relationship Id="rId6" Type="http://schemas.openxmlformats.org/officeDocument/2006/relationships/image" Target="../media/image59.png"/><Relationship Id="rId7" Type="http://schemas.openxmlformats.org/officeDocument/2006/relationships/image" Target="../media/image60.png"/><Relationship Id="rId8" Type="http://schemas.openxmlformats.org/officeDocument/2006/relationships/image" Target="../media/image61.png"/><Relationship Id="rId9" Type="http://schemas.openxmlformats.org/officeDocument/2006/relationships/image" Target="../media/image62.png"/><Relationship Id="rId10" Type="http://schemas.openxmlformats.org/officeDocument/2006/relationships/image" Target="../media/image63.png"/><Relationship Id="rId11" Type="http://schemas.openxmlformats.org/officeDocument/2006/relationships/image" Target="../media/image64.png"/><Relationship Id="rId12" Type="http://schemas.openxmlformats.org/officeDocument/2006/relationships/image" Target="../media/image65.png"/><Relationship Id="rId13" Type="http://schemas.openxmlformats.org/officeDocument/2006/relationships/image" Target="../media/image71.png"/><Relationship Id="rId14" Type="http://schemas.openxmlformats.org/officeDocument/2006/relationships/image" Target="../media/image72.png"/><Relationship Id="rId15" Type="http://schemas.openxmlformats.org/officeDocument/2006/relationships/image" Target="../media/image73.png"/><Relationship Id="rId16" Type="http://schemas.openxmlformats.org/officeDocument/2006/relationships/image" Target="../media/image74.png"/><Relationship Id="rId17" Type="http://schemas.openxmlformats.org/officeDocument/2006/relationships/image" Target="../media/image75.png"/><Relationship Id="rId18" Type="http://schemas.openxmlformats.org/officeDocument/2006/relationships/image" Target="../media/image5.png"/><Relationship Id="rId19" Type="http://schemas.openxmlformats.org/officeDocument/2006/relationships/image" Target="../media/image8.png"/><Relationship Id="rId20"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76.jpg"/><Relationship Id="rId4" Type="http://schemas.openxmlformats.org/officeDocument/2006/relationships/image" Target="../media/image3.png"/><Relationship Id="rId5" Type="http://schemas.openxmlformats.org/officeDocument/2006/relationships/image" Target="../media/image77.png"/><Relationship Id="rId6" Type="http://schemas.openxmlformats.org/officeDocument/2006/relationships/image" Target="../media/image78.png"/><Relationship Id="rId7" Type="http://schemas.openxmlformats.org/officeDocument/2006/relationships/image" Target="../media/image79.png"/><Relationship Id="rId8" Type="http://schemas.openxmlformats.org/officeDocument/2006/relationships/image" Target="../media/image80.png"/><Relationship Id="rId9" Type="http://schemas.openxmlformats.org/officeDocument/2006/relationships/image" Target="../media/image81.png"/><Relationship Id="rId10" Type="http://schemas.openxmlformats.org/officeDocument/2006/relationships/image" Target="../media/image82.png"/><Relationship Id="rId11" Type="http://schemas.openxmlformats.org/officeDocument/2006/relationships/image" Target="../media/image83.png"/><Relationship Id="rId12" Type="http://schemas.openxmlformats.org/officeDocument/2006/relationships/image" Target="../media/image84.png"/><Relationship Id="rId13" Type="http://schemas.openxmlformats.org/officeDocument/2006/relationships/image" Target="../media/image85.png"/><Relationship Id="rId14" Type="http://schemas.openxmlformats.org/officeDocument/2006/relationships/image" Target="../media/image86.png"/><Relationship Id="rId15" Type="http://schemas.openxmlformats.org/officeDocument/2006/relationships/image" Target="../media/image87.png"/><Relationship Id="rId16" Type="http://schemas.openxmlformats.org/officeDocument/2006/relationships/image" Target="../media/image88.png"/><Relationship Id="rId17" Type="http://schemas.openxmlformats.org/officeDocument/2006/relationships/image" Target="../media/image89.png"/><Relationship Id="rId18" Type="http://schemas.openxmlformats.org/officeDocument/2006/relationships/image" Target="../media/image90.png"/><Relationship Id="rId19" Type="http://schemas.openxmlformats.org/officeDocument/2006/relationships/image" Target="../media/image91.png"/><Relationship Id="rId20" Type="http://schemas.openxmlformats.org/officeDocument/2006/relationships/image" Target="../media/image5.png"/><Relationship Id="rId21"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92.jpg"/><Relationship Id="rId4" Type="http://schemas.openxmlformats.org/officeDocument/2006/relationships/image" Target="../media/image93.jpg"/><Relationship Id="rId5" Type="http://schemas.openxmlformats.org/officeDocument/2006/relationships/image" Target="../media/image94.jpg"/><Relationship Id="rId6" Type="http://schemas.openxmlformats.org/officeDocument/2006/relationships/image" Target="../media/image5.png"/><Relationship Id="rId7" Type="http://schemas.openxmlformats.org/officeDocument/2006/relationships/image" Target="../media/image8.png"/><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95.jpg"/><Relationship Id="rId4" Type="http://schemas.openxmlformats.org/officeDocument/2006/relationships/image" Target="../media/image96.jpg"/><Relationship Id="rId5" Type="http://schemas.openxmlformats.org/officeDocument/2006/relationships/image" Target="../media/image5.png"/><Relationship Id="rId6" Type="http://schemas.openxmlformats.org/officeDocument/2006/relationships/image" Target="../media/image8.png"/><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97.jpg"/><Relationship Id="rId4" Type="http://schemas.openxmlformats.org/officeDocument/2006/relationships/image" Target="../media/image5.png"/><Relationship Id="rId5" Type="http://schemas.openxmlformats.org/officeDocument/2006/relationships/image" Target="../media/image8.png"/><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98.png"/><Relationship Id="rId4" Type="http://schemas.openxmlformats.org/officeDocument/2006/relationships/image" Target="../media/image5.png"/><Relationship Id="rId5" Type="http://schemas.openxmlformats.org/officeDocument/2006/relationships/image" Target="../media/image8.png"/><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5.png"/><Relationship Id="rId4" Type="http://schemas.openxmlformats.org/officeDocument/2006/relationships/image" Target="../media/image8.png"/><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99.jpg"/><Relationship Id="rId4" Type="http://schemas.openxmlformats.org/officeDocument/2006/relationships/image" Target="../media/image100.jpg"/><Relationship Id="rId5" Type="http://schemas.openxmlformats.org/officeDocument/2006/relationships/image" Target="../media/image101.jpg"/><Relationship Id="rId6" Type="http://schemas.openxmlformats.org/officeDocument/2006/relationships/image" Target="../media/image102.jpg"/><Relationship Id="rId7" Type="http://schemas.openxmlformats.org/officeDocument/2006/relationships/image" Target="../media/image103.jpg"/><Relationship Id="rId8" Type="http://schemas.openxmlformats.org/officeDocument/2006/relationships/image" Target="../media/image104.jpg"/><Relationship Id="rId9" Type="http://schemas.openxmlformats.org/officeDocument/2006/relationships/image" Target="../media/image5.png"/><Relationship Id="rId10" Type="http://schemas.openxmlformats.org/officeDocument/2006/relationships/image" Target="../media/image8.png"/><Relationship Id="rId11"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105.jpg"/><Relationship Id="rId6" Type="http://schemas.openxmlformats.org/officeDocument/2006/relationships/image" Target="../media/image5.png"/><Relationship Id="rId7" Type="http://schemas.openxmlformats.org/officeDocument/2006/relationships/image" Target="../media/image8.png"/><Relationship Id="rId8"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106.jpg"/><Relationship Id="rId4" Type="http://schemas.openxmlformats.org/officeDocument/2006/relationships/image" Target="../media/image107.jpg"/><Relationship Id="rId5" Type="http://schemas.openxmlformats.org/officeDocument/2006/relationships/image" Target="../media/image5.png"/><Relationship Id="rId6" Type="http://schemas.openxmlformats.org/officeDocument/2006/relationships/image" Target="../media/image8.png"/><Relationship Id="rId7"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108.jpg"/><Relationship Id="rId4" Type="http://schemas.openxmlformats.org/officeDocument/2006/relationships/image" Target="../media/image10.jpg"/><Relationship Id="rId5" Type="http://schemas.openxmlformats.org/officeDocument/2006/relationships/image" Target="../media/image5.png"/><Relationship Id="rId6" Type="http://schemas.openxmlformats.org/officeDocument/2006/relationships/image" Target="../media/image8.png"/><Relationship Id="rId7"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109.jpg"/><Relationship Id="rId4" Type="http://schemas.openxmlformats.org/officeDocument/2006/relationships/image" Target="../media/image110.jpg"/><Relationship Id="rId5" Type="http://schemas.openxmlformats.org/officeDocument/2006/relationships/image" Target="../media/image5.png"/><Relationship Id="rId6" Type="http://schemas.openxmlformats.org/officeDocument/2006/relationships/image" Target="../media/image8.png"/><Relationship Id="rId7"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111.jpg"/><Relationship Id="rId4" Type="http://schemas.openxmlformats.org/officeDocument/2006/relationships/image" Target="../media/image112.jpg"/><Relationship Id="rId5" Type="http://schemas.openxmlformats.org/officeDocument/2006/relationships/image" Target="../media/image113.jpg"/><Relationship Id="rId6" Type="http://schemas.openxmlformats.org/officeDocument/2006/relationships/image" Target="../media/image5.png"/><Relationship Id="rId7" Type="http://schemas.openxmlformats.org/officeDocument/2006/relationships/image" Target="../media/image8.png"/><Relationship Id="rId8"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114.jpg"/><Relationship Id="rId4" Type="http://schemas.openxmlformats.org/officeDocument/2006/relationships/image" Target="../media/image115.jpg"/><Relationship Id="rId5" Type="http://schemas.openxmlformats.org/officeDocument/2006/relationships/image" Target="../media/image5.png"/><Relationship Id="rId6" Type="http://schemas.openxmlformats.org/officeDocument/2006/relationships/image" Target="../media/image8.png"/><Relationship Id="rId7"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116.jpg"/><Relationship Id="rId4" Type="http://schemas.openxmlformats.org/officeDocument/2006/relationships/image" Target="../media/image117.jpg"/><Relationship Id="rId5" Type="http://schemas.openxmlformats.org/officeDocument/2006/relationships/image" Target="../media/image5.png"/><Relationship Id="rId6" Type="http://schemas.openxmlformats.org/officeDocument/2006/relationships/image" Target="../media/image8.png"/><Relationship Id="rId7"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microsoft.com/office/2007/relationships/media" Target="../media/media2.mp4"/><Relationship Id="rId4" Type="http://schemas.openxmlformats.org/officeDocument/2006/relationships/video" Target="../media/media2.mp4"/><Relationship Id="rId5" Type="http://schemas.openxmlformats.org/officeDocument/2006/relationships/image" Target="../media/image118.jpg"/><Relationship Id="rId6" Type="http://schemas.openxmlformats.org/officeDocument/2006/relationships/image" Target="../media/image5.png"/><Relationship Id="rId7" Type="http://schemas.openxmlformats.org/officeDocument/2006/relationships/image" Target="../media/image8.png"/><Relationship Id="rId8"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microsoft.com/office/2007/relationships/media" Target="../media/media3.mp4"/><Relationship Id="rId4" Type="http://schemas.openxmlformats.org/officeDocument/2006/relationships/video" Target="../media/media3.mp4"/><Relationship Id="rId5" Type="http://schemas.openxmlformats.org/officeDocument/2006/relationships/image" Target="../media/image119.jpg"/><Relationship Id="rId6" Type="http://schemas.openxmlformats.org/officeDocument/2006/relationships/image" Target="../media/image5.png"/><Relationship Id="rId7" Type="http://schemas.openxmlformats.org/officeDocument/2006/relationships/image" Target="../media/image8.png"/><Relationship Id="rId8"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120.jpg"/><Relationship Id="rId4" Type="http://schemas.openxmlformats.org/officeDocument/2006/relationships/image" Target="../media/image121.jpg"/><Relationship Id="rId5" Type="http://schemas.openxmlformats.org/officeDocument/2006/relationships/image" Target="../media/image5.png"/><Relationship Id="rId6" Type="http://schemas.openxmlformats.org/officeDocument/2006/relationships/image" Target="../media/image8.png"/><Relationship Id="rId7"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122.jpg"/><Relationship Id="rId4" Type="http://schemas.openxmlformats.org/officeDocument/2006/relationships/image" Target="../media/image123.jpg"/><Relationship Id="rId5" Type="http://schemas.openxmlformats.org/officeDocument/2006/relationships/image" Target="../media/image124.jpg"/><Relationship Id="rId6" Type="http://schemas.openxmlformats.org/officeDocument/2006/relationships/image" Target="../media/image125.jpg"/><Relationship Id="rId7" Type="http://schemas.openxmlformats.org/officeDocument/2006/relationships/image" Target="../media/image5.png"/><Relationship Id="rId8" Type="http://schemas.openxmlformats.org/officeDocument/2006/relationships/image" Target="../media/image8.png"/><Relationship Id="rId9"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126.jpg"/><Relationship Id="rId4" Type="http://schemas.openxmlformats.org/officeDocument/2006/relationships/image" Target="../media/image127.jpg"/><Relationship Id="rId5" Type="http://schemas.openxmlformats.org/officeDocument/2006/relationships/image" Target="../media/image128.jpg"/><Relationship Id="rId6" Type="http://schemas.openxmlformats.org/officeDocument/2006/relationships/image" Target="../media/image5.png"/><Relationship Id="rId7" Type="http://schemas.openxmlformats.org/officeDocument/2006/relationships/image" Target="../media/image8.png"/><Relationship Id="rId8"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129.jpg"/><Relationship Id="rId4" Type="http://schemas.openxmlformats.org/officeDocument/2006/relationships/image" Target="../media/image130.jpg"/><Relationship Id="rId5" Type="http://schemas.openxmlformats.org/officeDocument/2006/relationships/image" Target="../media/image131.jpg"/><Relationship Id="rId6" Type="http://schemas.openxmlformats.org/officeDocument/2006/relationships/image" Target="../media/image5.png"/><Relationship Id="rId7" Type="http://schemas.openxmlformats.org/officeDocument/2006/relationships/image" Target="../media/image8.png"/><Relationship Id="rId8"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132.jpg"/><Relationship Id="rId4" Type="http://schemas.openxmlformats.org/officeDocument/2006/relationships/image" Target="../media/image5.png"/><Relationship Id="rId5" Type="http://schemas.openxmlformats.org/officeDocument/2006/relationships/image" Target="../media/image8.png"/><Relationship Id="rId6"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5.png"/><Relationship Id="rId4" Type="http://schemas.openxmlformats.org/officeDocument/2006/relationships/image" Target="../media/image8.png"/><Relationship Id="rId5"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5.png"/><Relationship Id="rId4" Type="http://schemas.openxmlformats.org/officeDocument/2006/relationships/image" Target="../media/image8.png"/><Relationship Id="rId5"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5.png"/><Relationship Id="rId4" Type="http://schemas.openxmlformats.org/officeDocument/2006/relationships/image" Target="../media/image8.png"/><Relationship Id="rId5"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133.jpg"/><Relationship Id="rId4" Type="http://schemas.openxmlformats.org/officeDocument/2006/relationships/image" Target="../media/image5.png"/><Relationship Id="rId5" Type="http://schemas.openxmlformats.org/officeDocument/2006/relationships/image" Target="../media/image8.png"/><Relationship Id="rId6"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notesSlide" Target="../notesSlides/notesSlide4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2A070D"/>
          </a:solidFill>
          <a:ln>
            <a:noFill/>
          </a:ln>
        </p:spPr>
        <p:txBody>
          <a:bodyPr rtlCol="0" anchor="ctr"/>
          <a:lstStyle/>
          <a:p/>
        </p:txBody>
      </p:sp>
      <p:pic>
        <p:nvPicPr>
          <p:cNvPr id="3" name="!!PlateD" descr="motif_creme.png"/>
          <p:cNvPicPr>
            <a:picLocks noChangeAspect="1"/>
          </p:cNvPicPr>
          <p:nvPr/>
        </p:nvPicPr>
        <p:blipFill>
          <a:blip r:embed="rId2"/>
          <a:srcRect t="0" b="0"/>
          <a:stretch>
            <a:fillRect/>
          </a:stretch>
        </p:blipFill>
        <p:spPr>
          <a:xfrm>
            <a:off x="-1956880" y="-3153672"/>
            <a:ext cx="24749760" cy="13921739"/>
          </a:xfrm>
          <a:prstGeom prst="rect">
            <a:avLst/>
          </a:prstGeom>
        </p:spPr>
      </p:pic>
      <p:sp>
        <p:nvSpPr>
          <p:cNvPr id="4" name="!!Glow"/>
          <p:cNvSpPr/>
          <p:nvPr/>
        </p:nvSpPr>
        <p:spPr>
          <a:xfrm>
            <a:off x="1828918" y="-1515066"/>
            <a:ext cx="9601200" cy="9601200"/>
          </a:xfrm>
          <a:prstGeom prst="ellipse">
            <a:avLst/>
          </a:prstGeom>
          <a:gradFill rotWithShape="1">
            <a:gsLst>
              <a:gs pos="0">
                <a:srgbClr val="B3222F">
                  <a:alpha val="55000"/>
                </a:srgbClr>
              </a:gs>
              <a:gs pos="45000">
                <a:srgbClr val="7B1421">
                  <a:alpha val="22000"/>
                </a:srgbClr>
              </a:gs>
              <a:gs pos="100000">
                <a:srgbClr val="7B1421">
                  <a:alpha val="0"/>
                </a:srgbClr>
              </a:gs>
            </a:gsLst>
            <a:path path="circle">
              <a:fillToRect l="50000" t="50000" r="50000" b="50000"/>
            </a:path>
          </a:gradFill>
          <a:ln>
            <a:noFill/>
          </a:ln>
        </p:spPr>
        <p:txBody>
          <a:bodyPr rtlCol="0" anchor="ctr"/>
          <a:lstStyle/>
          <a:p/>
        </p:txBody>
      </p:sp>
      <p:sp>
        <p:nvSpPr>
          <p:cNvPr id="5" name="!!Glow2"/>
          <p:cNvSpPr/>
          <p:nvPr/>
        </p:nvSpPr>
        <p:spPr>
          <a:xfrm>
            <a:off x="2202061" y="212046"/>
            <a:ext cx="6720840" cy="6720840"/>
          </a:xfrm>
          <a:prstGeom prst="ellipse">
            <a:avLst/>
          </a:prstGeom>
          <a:gradFill rotWithShape="1">
            <a:gsLst>
              <a:gs pos="0">
                <a:srgbClr val="F9A825">
                  <a:alpha val="16000"/>
                </a:srgbClr>
              </a:gs>
              <a:gs pos="100000">
                <a:srgbClr val="F9A825">
                  <a:alpha val="0"/>
                </a:srgbClr>
              </a:gs>
            </a:gsLst>
            <a:path path="circle">
              <a:fillToRect l="50000" t="50000" r="50000" b="50000"/>
            </a:path>
          </a:gradFill>
          <a:ln>
            <a:noFill/>
          </a:ln>
        </p:spPr>
        <p:txBody>
          <a:bodyPr rtlCol="0" anchor="ctr"/>
          <a:lstStyle/>
          <a:p/>
        </p:txBody>
      </p:sp>
      <p:pic>
        <p:nvPicPr>
          <p:cNvPr id="6" name="!!Vignette" descr="vignette.png"/>
          <p:cNvPicPr>
            <a:picLocks noChangeAspect="1"/>
          </p:cNvPicPr>
          <p:nvPr/>
        </p:nvPicPr>
        <p:blipFill>
          <a:blip r:embed="rId3"/>
          <a:srcRect/>
          <a:stretch>
            <a:fillRect/>
          </a:stretch>
        </p:blipFill>
        <p:spPr>
          <a:xfrm>
            <a:off x="0" y="0"/>
            <a:ext cx="12192000" cy="6858000"/>
          </a:xfrm>
          <a:prstGeom prst="rect">
            <a:avLst/>
          </a:prstGeom>
        </p:spPr>
      </p:pic>
      <p:sp>
        <p:nvSpPr>
          <p:cNvPr id="7" name="!!Ring"/>
          <p:cNvSpPr/>
          <p:nvPr/>
        </p:nvSpPr>
        <p:spPr>
          <a:xfrm>
            <a:off x="3535680" y="777240"/>
            <a:ext cx="5120640" cy="5120640"/>
          </a:xfrm>
          <a:prstGeom prst="ellipse">
            <a:avLst/>
          </a:prstGeom>
          <a:noFill/>
          <a:ln w="12700">
            <a:solidFill>
              <a:srgbClr val="F9A825">
                <a:alpha val="70000"/>
              </a:srgbClr>
            </a:solidFill>
          </a:ln>
        </p:spPr>
        <p:txBody>
          <a:bodyPr rtlCol="0" anchor="ctr"/>
          <a:lstStyle/>
          <a:p/>
        </p:txBody>
      </p:sp>
      <p:pic>
        <p:nvPicPr>
          <p:cNvPr id="8" name="!!Bokeh" descr="bokeh.png"/>
          <p:cNvPicPr>
            <a:picLocks noChangeAspect="1"/>
          </p:cNvPicPr>
          <p:nvPr/>
        </p:nvPicPr>
        <p:blipFill>
          <a:blip r:embed="rId4">
            <a:alphaModFix amt="55000"/>
          </a:blip>
          <a:srcRect/>
          <a:stretch>
            <a:fillRect/>
          </a:stretch>
        </p:blipFill>
        <p:spPr>
          <a:xfrm>
            <a:off x="0" y="0"/>
            <a:ext cx="12192000" cy="6858000"/>
          </a:xfrm>
          <a:prstGeom prst="rect">
            <a:avLst/>
          </a:prstGeom>
        </p:spPr>
      </p:pic>
      <p:pic>
        <p:nvPicPr>
          <p:cNvPr id="9" name="!!Logo" descr="Logo Marin'Or Ivoire"/>
          <p:cNvPicPr>
            <a:picLocks noChangeAspect="1"/>
          </p:cNvPicPr>
          <p:nvPr/>
        </p:nvPicPr>
        <p:blipFill>
          <a:blip r:embed="rId5"/>
          <a:stretch>
            <a:fillRect/>
          </a:stretch>
        </p:blipFill>
        <p:spPr>
          <a:xfrm>
            <a:off x="3855720" y="960120"/>
            <a:ext cx="4480560" cy="2352821"/>
          </a:xfrm>
          <a:prstGeom prst="rect">
            <a:avLst/>
          </a:prstGeom>
        </p:spPr>
      </p:pic>
      <p:pic>
        <p:nvPicPr>
          <p:cNvPr id="10" name="!!Grain" descr="grain.png"/>
          <p:cNvPicPr>
            <a:picLocks noChangeAspect="1"/>
          </p:cNvPicPr>
          <p:nvPr/>
        </p:nvPicPr>
        <p:blipFill>
          <a:blip r:embed="rId6"/>
          <a:srcRect/>
          <a:stretch>
            <a:fillRect/>
          </a:stretch>
        </p:blipFill>
        <p:spPr>
          <a:xfrm>
            <a:off x="0" y="0"/>
            <a:ext cx="12192000" cy="6858000"/>
          </a:xfrm>
          <a:prstGeom prst="rect">
            <a:avLst/>
          </a:prstGeom>
        </p:spPr>
      </p:pic>
      <p:sp>
        <p:nvSpPr>
          <p:cNvPr id="11" name="!!TitleCA1"/>
          <p:cNvSpPr txBox="1"/>
          <p:nvPr/>
        </p:nvSpPr>
        <p:spPr>
          <a:xfrm>
            <a:off x="-20116" y="3657600"/>
            <a:ext cx="12192000" cy="914400"/>
          </a:xfrm>
          <a:prstGeom prst="rect">
            <a:avLst/>
          </a:prstGeom>
          <a:noFill/>
        </p:spPr>
        <p:txBody>
          <a:bodyPr wrap="square" lIns="0" rIns="0" tIns="0" bIns="0" anchor="t">
            <a:noAutofit/>
          </a:bodyPr>
          <a:lstStyle/>
          <a:p>
            <a:pPr algn="ctr">
              <a:lnSpc>
                <a:spcPct val="95000"/>
              </a:lnSpc>
            </a:pPr>
            <a:r>
              <a:rPr sz="5400">
                <a:solidFill>
                  <a:srgbClr val="A40C21">
                    <a:alpha val="40000"/>
                  </a:srgbClr>
                </a:solidFill>
                <a:latin typeface="Cream Heavy"/>
              </a:rPr>
              <a:t>Bienvenue</a:t>
            </a:r>
          </a:p>
        </p:txBody>
      </p:sp>
      <p:sp>
        <p:nvSpPr>
          <p:cNvPr id="12" name="!!TitleCA2"/>
          <p:cNvSpPr txBox="1"/>
          <p:nvPr/>
        </p:nvSpPr>
        <p:spPr>
          <a:xfrm>
            <a:off x="20116" y="3657600"/>
            <a:ext cx="12192000" cy="914400"/>
          </a:xfrm>
          <a:prstGeom prst="rect">
            <a:avLst/>
          </a:prstGeom>
          <a:noFill/>
        </p:spPr>
        <p:txBody>
          <a:bodyPr wrap="square" lIns="0" rIns="0" tIns="0" bIns="0" anchor="t">
            <a:noAutofit/>
          </a:bodyPr>
          <a:lstStyle/>
          <a:p>
            <a:pPr algn="ctr">
              <a:lnSpc>
                <a:spcPct val="95000"/>
              </a:lnSpc>
            </a:pPr>
            <a:r>
              <a:rPr sz="5400">
                <a:solidFill>
                  <a:srgbClr val="FBD021">
                    <a:alpha val="30000"/>
                  </a:srgbClr>
                </a:solidFill>
                <a:latin typeface="Cream Heavy"/>
              </a:rPr>
              <a:t>Bienvenue</a:t>
            </a:r>
          </a:p>
        </p:txBody>
      </p:sp>
      <p:sp>
        <p:nvSpPr>
          <p:cNvPr id="13" name="!!Title"/>
          <p:cNvSpPr txBox="1"/>
          <p:nvPr/>
        </p:nvSpPr>
        <p:spPr>
          <a:xfrm>
            <a:off x="0" y="3657600"/>
            <a:ext cx="12192000" cy="914400"/>
          </a:xfrm>
          <a:prstGeom prst="rect">
            <a:avLst/>
          </a:prstGeom>
          <a:noFill/>
        </p:spPr>
        <p:txBody>
          <a:bodyPr wrap="square" lIns="0" rIns="0" tIns="0" bIns="0" anchor="t">
            <a:noAutofit/>
          </a:bodyPr>
          <a:lstStyle/>
          <a:p>
            <a:pPr algn="ctr">
              <a:lnSpc>
                <a:spcPct val="95000"/>
              </a:lnSpc>
            </a:pPr>
            <a:r>
              <a:rPr sz="5400">
                <a:gradFill rotWithShape="1">
                  <a:gsLst>
                    <a:gs pos="0">
                      <a:srgbClr val="FFF8EE"/>
                    </a:gs>
                    <a:gs pos="55000">
                      <a:srgbClr val="FFECD1"/>
                    </a:gs>
                    <a:gs pos="100000">
                      <a:srgbClr val="F6C77A"/>
                    </a:gs>
                  </a:gsLst>
                  <a:lin ang="5400000" scaled="0"/>
                </a:gradFill>
                <a:latin typeface="Cream Heavy"/>
              </a:rPr>
              <a:t>Bienvenue</a:t>
            </a:r>
          </a:p>
        </p:txBody>
      </p:sp>
      <p:sp>
        <p:nvSpPr>
          <p:cNvPr id="14" name="!!Sub"/>
          <p:cNvSpPr txBox="1"/>
          <p:nvPr/>
        </p:nvSpPr>
        <p:spPr>
          <a:xfrm>
            <a:off x="0" y="4617720"/>
            <a:ext cx="12192000" cy="365760"/>
          </a:xfrm>
          <a:prstGeom prst="rect">
            <a:avLst/>
          </a:prstGeom>
          <a:noFill/>
        </p:spPr>
        <p:txBody>
          <a:bodyPr wrap="square" lIns="0" rIns="0" tIns="0" bIns="0" anchor="t">
            <a:noAutofit/>
          </a:bodyPr>
          <a:lstStyle/>
          <a:p>
            <a:pPr algn="ctr">
              <a:lnSpc>
                <a:spcPct val="112000"/>
              </a:lnSpc>
              <a:spcAft>
                <a:spcPts val="800"/>
              </a:spcAft>
            </a:pPr>
            <a:r>
              <a:rPr sz="1700">
                <a:solidFill>
                  <a:srgbClr val="F3D9C4"/>
                </a:solidFill>
                <a:latin typeface="Montserrat Medium"/>
              </a:rPr>
              <a:t>Soutenance de mémoire de fin de cycle</a:t>
            </a:r>
          </a:p>
        </p:txBody>
      </p:sp>
      <p:sp>
        <p:nvSpPr>
          <p:cNvPr id="15"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F9A825"/>
                </a:solidFill>
                <a:latin typeface="Montserrat SemiBold"/>
              </a:rPr>
              <a:t>01</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FF6EA"/>
          </a:solidFill>
          <a:ln>
            <a:noFill/>
          </a:ln>
        </p:spPr>
        <p:txBody>
          <a:bodyPr rtlCol="0" anchor="ctr"/>
          <a:lstStyle/>
          <a:p/>
        </p:txBody>
      </p:sp>
      <p:pic>
        <p:nvPicPr>
          <p:cNvPr id="3" name="!!PlateL" descr="motif_bord.png"/>
          <p:cNvPicPr>
            <a:picLocks noChangeAspect="1"/>
          </p:cNvPicPr>
          <p:nvPr/>
        </p:nvPicPr>
        <p:blipFill>
          <a:blip r:embed="rId2"/>
          <a:srcRect/>
          <a:stretch>
            <a:fillRect/>
          </a:stretch>
        </p:blipFill>
        <p:spPr>
          <a:xfrm>
            <a:off x="-430000" y="-1875571"/>
            <a:ext cx="21336000" cy="12001500"/>
          </a:xfrm>
          <a:prstGeom prst="rect">
            <a:avLst/>
          </a:prstGeom>
        </p:spPr>
      </p:pic>
      <p:sp>
        <p:nvSpPr>
          <p:cNvPr id="4" name="!!Glow"/>
          <p:cNvSpPr/>
          <p:nvPr/>
        </p:nvSpPr>
        <p:spPr>
          <a:xfrm>
            <a:off x="552347" y="-1035990"/>
            <a:ext cx="9601200" cy="9601200"/>
          </a:xfrm>
          <a:prstGeom prst="ellipse">
            <a:avLst/>
          </a:prstGeom>
          <a:gradFill rotWithShape="1">
            <a:gsLst>
              <a:gs pos="0">
                <a:srgbClr val="FFFFFF">
                  <a:alpha val="85000"/>
                </a:srgbClr>
              </a:gs>
              <a:gs pos="100000">
                <a:srgbClr val="FFFFFF">
                  <a:alpha val="0"/>
                </a:srgbClr>
              </a:gs>
            </a:gsLst>
            <a:path path="circle">
              <a:fillToRect l="50000" t="50000" r="50000" b="50000"/>
            </a:path>
          </a:gradFill>
          <a:ln>
            <a:noFill/>
          </a:ln>
        </p:spPr>
        <p:txBody>
          <a:bodyPr rtlCol="0" anchor="ctr"/>
          <a:lstStyle/>
          <a:p/>
        </p:txBody>
      </p:sp>
      <p:sp>
        <p:nvSpPr>
          <p:cNvPr id="5" name="!!Glow2"/>
          <p:cNvSpPr/>
          <p:nvPr/>
        </p:nvSpPr>
        <p:spPr>
          <a:xfrm>
            <a:off x="3478632" y="-267029"/>
            <a:ext cx="6720840" cy="6720840"/>
          </a:xfrm>
          <a:prstGeom prst="ellipse">
            <a:avLst/>
          </a:prstGeom>
          <a:gradFill rotWithShape="1">
            <a:gsLst>
              <a:gs pos="0">
                <a:srgbClr val="F9A825">
                  <a:alpha val="14000"/>
                </a:srgbClr>
              </a:gs>
              <a:gs pos="100000">
                <a:srgbClr val="F9A825">
                  <a:alpha val="0"/>
                </a:srgbClr>
              </a:gs>
            </a:gsLst>
            <a:path path="circle">
              <a:fillToRect l="50000" t="50000" r="50000" b="50000"/>
            </a:path>
          </a:gradFill>
          <a:ln>
            <a:noFill/>
          </a:ln>
        </p:spPr>
        <p:txBody>
          <a:bodyPr rtlCol="0" anchor="ctr"/>
          <a:lstStyle/>
          <a:p/>
        </p:txBody>
      </p:sp>
      <p:sp>
        <p:nvSpPr>
          <p:cNvPr id="6" name="!!Ring"/>
          <p:cNvSpPr/>
          <p:nvPr/>
        </p:nvSpPr>
        <p:spPr>
          <a:xfrm>
            <a:off x="9860143" y="-3885294"/>
            <a:ext cx="7132320" cy="7132320"/>
          </a:xfrm>
          <a:prstGeom prst="ellipse">
            <a:avLst/>
          </a:prstGeom>
          <a:noFill/>
          <a:ln w="12700">
            <a:solidFill>
              <a:srgbClr val="F9A825">
                <a:alpha val="85000"/>
              </a:srgbClr>
            </a:solidFill>
          </a:ln>
        </p:spPr>
        <p:txBody>
          <a:bodyPr rtlCol="0" anchor="ctr"/>
          <a:lstStyle/>
          <a:p/>
        </p:txBody>
      </p:sp>
      <p:pic>
        <p:nvPicPr>
          <p:cNvPr id="7" name="!!Hero" descr="Packshot : Graines d'akpi, Huile rouge, Poudre de crevettes"/>
          <p:cNvPicPr>
            <a:picLocks noChangeAspect="1"/>
          </p:cNvPicPr>
          <p:nvPr/>
        </p:nvPicPr>
        <p:blipFill>
          <a:blip r:embed="rId3"/>
          <a:srcRect l="13416" r="13416"/>
          <a:stretch>
            <a:fillRect/>
          </a:stretch>
        </p:blipFill>
        <p:spPr>
          <a:xfrm>
            <a:off x="8412480" y="1143000"/>
            <a:ext cx="3090672" cy="3886200"/>
          </a:xfrm>
          <a:prstGeom prst="roundRect">
            <a:avLst>
              <a:gd name="adj" fmla="val 5000"/>
            </a:avLst>
          </a:prstGeom>
          <a:effectLst>
            <a:outerShdw blurRad="381000" dist="101600" dir="5400000" algn="t" rotWithShape="0">
              <a:srgbClr val="1A0507">
                <a:alpha val="28000"/>
              </a:srgbClr>
            </a:outerShdw>
          </a:effectLst>
        </p:spPr>
      </p:pic>
      <p:pic>
        <p:nvPicPr>
          <p:cNvPr id="8" name="!!Grain" descr="grain.png"/>
          <p:cNvPicPr>
            <a:picLocks noChangeAspect="1"/>
          </p:cNvPicPr>
          <p:nvPr/>
        </p:nvPicPr>
        <p:blipFill>
          <a:blip r:embed="rId4"/>
          <a:srcRect/>
          <a:stretch>
            <a:fillRect/>
          </a:stretch>
        </p:blipFill>
        <p:spPr>
          <a:xfrm>
            <a:off x="0" y="0"/>
            <a:ext cx="12192000" cy="6858000"/>
          </a:xfrm>
          <a:prstGeom prst="rect">
            <a:avLst/>
          </a:prstGeom>
        </p:spPr>
      </p:pic>
      <p:sp>
        <p:nvSpPr>
          <p:cNvPr id="9" name="!!Title"/>
          <p:cNvSpPr txBox="1"/>
          <p:nvPr/>
        </p:nvSpPr>
        <p:spPr>
          <a:xfrm>
            <a:off x="685800" y="1600200"/>
            <a:ext cx="7498079" cy="2743200"/>
          </a:xfrm>
          <a:prstGeom prst="rect">
            <a:avLst/>
          </a:prstGeom>
          <a:noFill/>
        </p:spPr>
        <p:txBody>
          <a:bodyPr wrap="square" lIns="0" rIns="0" tIns="0" bIns="0" anchor="t">
            <a:noAutofit/>
          </a:bodyPr>
          <a:lstStyle/>
          <a:p>
            <a:pPr algn="l">
              <a:lnSpc>
                <a:spcPct val="95000"/>
              </a:lnSpc>
            </a:pPr>
            <a:r>
              <a:rPr sz="3000">
                <a:solidFill>
                  <a:srgbClr val="7B1421"/>
                </a:solidFill>
                <a:latin typeface="Cream Heavy"/>
              </a:rPr>
              <a:t>Conception et réalisation de supports de communication pour la promotion de Marin'Or Ivoire</a:t>
            </a:r>
          </a:p>
        </p:txBody>
      </p:sp>
      <p:sp>
        <p:nvSpPr>
          <p:cNvPr id="10" name="!!Rule0"/>
          <p:cNvSpPr/>
          <p:nvPr/>
        </p:nvSpPr>
        <p:spPr>
          <a:xfrm>
            <a:off x="685800" y="5230368"/>
            <a:ext cx="457200" cy="27432"/>
          </a:xfrm>
          <a:prstGeom prst="rect">
            <a:avLst/>
          </a:prstGeom>
          <a:solidFill>
            <a:srgbClr val="F9A825"/>
          </a:solidFill>
          <a:ln>
            <a:noFill/>
          </a:ln>
        </p:spPr>
        <p:txBody>
          <a:bodyPr rtlCol="0" anchor="ctr"/>
          <a:lstStyle/>
          <a:p/>
        </p:txBody>
      </p:sp>
      <p:sp>
        <p:nvSpPr>
          <p:cNvPr id="11" name="!!Lab0"/>
          <p:cNvSpPr txBox="1"/>
          <p:nvPr/>
        </p:nvSpPr>
        <p:spPr>
          <a:xfrm>
            <a:off x="685800" y="5358384"/>
            <a:ext cx="2926080" cy="228600"/>
          </a:xfrm>
          <a:prstGeom prst="rect">
            <a:avLst/>
          </a:prstGeom>
          <a:noFill/>
        </p:spPr>
        <p:txBody>
          <a:bodyPr wrap="square" lIns="0" rIns="0" tIns="0" bIns="0" anchor="t">
            <a:noAutofit/>
          </a:bodyPr>
          <a:lstStyle/>
          <a:p>
            <a:pPr algn="l"/>
            <a:r>
              <a:rPr sz="950" spc="150" cap="all">
                <a:solidFill>
                  <a:srgbClr val="A40C21"/>
                </a:solidFill>
                <a:latin typeface="Montserrat SemiBold"/>
              </a:rPr>
              <a:t>Présenté par</a:t>
            </a:r>
          </a:p>
        </p:txBody>
      </p:sp>
      <p:sp>
        <p:nvSpPr>
          <p:cNvPr id="12" name="!!Nm0"/>
          <p:cNvSpPr txBox="1"/>
          <p:nvPr/>
        </p:nvSpPr>
        <p:spPr>
          <a:xfrm>
            <a:off x="685800" y="5605272"/>
            <a:ext cx="2926080" cy="548640"/>
          </a:xfrm>
          <a:prstGeom prst="rect">
            <a:avLst/>
          </a:prstGeom>
          <a:noFill/>
        </p:spPr>
        <p:txBody>
          <a:bodyPr wrap="square" lIns="0" rIns="0" tIns="0" bIns="0" anchor="t">
            <a:noAutofit/>
          </a:bodyPr>
          <a:lstStyle/>
          <a:p>
            <a:pPr algn="l"/>
            <a:r>
              <a:rPr sz="1250">
                <a:solidFill>
                  <a:srgbClr val="000000"/>
                </a:solidFill>
                <a:latin typeface="Montserrat Medium"/>
              </a:rPr>
              <a:t>Ekien Kouadio Constant Ephrem</a:t>
            </a:r>
          </a:p>
        </p:txBody>
      </p:sp>
      <p:sp>
        <p:nvSpPr>
          <p:cNvPr id="13" name="!!Rule1"/>
          <p:cNvSpPr/>
          <p:nvPr/>
        </p:nvSpPr>
        <p:spPr>
          <a:xfrm>
            <a:off x="3749040" y="5230368"/>
            <a:ext cx="457200" cy="27432"/>
          </a:xfrm>
          <a:prstGeom prst="rect">
            <a:avLst/>
          </a:prstGeom>
          <a:solidFill>
            <a:srgbClr val="F9A825"/>
          </a:solidFill>
          <a:ln>
            <a:noFill/>
          </a:ln>
        </p:spPr>
        <p:txBody>
          <a:bodyPr rtlCol="0" anchor="ctr"/>
          <a:lstStyle/>
          <a:p/>
        </p:txBody>
      </p:sp>
      <p:sp>
        <p:nvSpPr>
          <p:cNvPr id="14" name="!!Lab1"/>
          <p:cNvSpPr txBox="1"/>
          <p:nvPr/>
        </p:nvSpPr>
        <p:spPr>
          <a:xfrm>
            <a:off x="3749040" y="5358384"/>
            <a:ext cx="2926080" cy="228600"/>
          </a:xfrm>
          <a:prstGeom prst="rect">
            <a:avLst/>
          </a:prstGeom>
          <a:noFill/>
        </p:spPr>
        <p:txBody>
          <a:bodyPr wrap="square" lIns="0" rIns="0" tIns="0" bIns="0" anchor="t">
            <a:noAutofit/>
          </a:bodyPr>
          <a:lstStyle/>
          <a:p>
            <a:pPr algn="l"/>
            <a:r>
              <a:rPr sz="950" spc="150" cap="all">
                <a:solidFill>
                  <a:srgbClr val="A40C21"/>
                </a:solidFill>
                <a:latin typeface="Montserrat SemiBold"/>
              </a:rPr>
              <a:t>Sous la direction de</a:t>
            </a:r>
          </a:p>
        </p:txBody>
      </p:sp>
      <p:sp>
        <p:nvSpPr>
          <p:cNvPr id="15" name="!!Nm1"/>
          <p:cNvSpPr txBox="1"/>
          <p:nvPr/>
        </p:nvSpPr>
        <p:spPr>
          <a:xfrm>
            <a:off x="3749040" y="5605272"/>
            <a:ext cx="2926080" cy="548640"/>
          </a:xfrm>
          <a:prstGeom prst="rect">
            <a:avLst/>
          </a:prstGeom>
          <a:noFill/>
        </p:spPr>
        <p:txBody>
          <a:bodyPr wrap="square" lIns="0" rIns="0" tIns="0" bIns="0" anchor="t">
            <a:noAutofit/>
          </a:bodyPr>
          <a:lstStyle/>
          <a:p>
            <a:pPr algn="l"/>
            <a:r>
              <a:rPr sz="1250">
                <a:solidFill>
                  <a:srgbClr val="000000"/>
                </a:solidFill>
                <a:latin typeface="Montserrat Medium"/>
              </a:rPr>
              <a:t>Dr Tayoro Gnewa Gérard</a:t>
            </a:r>
          </a:p>
        </p:txBody>
      </p:sp>
      <p:sp>
        <p:nvSpPr>
          <p:cNvPr id="16" name="!!Rule2"/>
          <p:cNvSpPr/>
          <p:nvPr/>
        </p:nvSpPr>
        <p:spPr>
          <a:xfrm>
            <a:off x="6812280" y="5230368"/>
            <a:ext cx="457200" cy="27432"/>
          </a:xfrm>
          <a:prstGeom prst="rect">
            <a:avLst/>
          </a:prstGeom>
          <a:solidFill>
            <a:srgbClr val="F9A825"/>
          </a:solidFill>
          <a:ln>
            <a:noFill/>
          </a:ln>
        </p:spPr>
        <p:txBody>
          <a:bodyPr rtlCol="0" anchor="ctr"/>
          <a:lstStyle/>
          <a:p/>
        </p:txBody>
      </p:sp>
      <p:sp>
        <p:nvSpPr>
          <p:cNvPr id="17" name="!!Lab2"/>
          <p:cNvSpPr txBox="1"/>
          <p:nvPr/>
        </p:nvSpPr>
        <p:spPr>
          <a:xfrm>
            <a:off x="6812280" y="5358384"/>
            <a:ext cx="4663440" cy="228600"/>
          </a:xfrm>
          <a:prstGeom prst="rect">
            <a:avLst/>
          </a:prstGeom>
          <a:noFill/>
        </p:spPr>
        <p:txBody>
          <a:bodyPr wrap="square" lIns="0" rIns="0" tIns="0" bIns="0" anchor="t">
            <a:noAutofit/>
          </a:bodyPr>
          <a:lstStyle/>
          <a:p>
            <a:pPr algn="l"/>
            <a:r>
              <a:rPr sz="950" spc="150" cap="all">
                <a:solidFill>
                  <a:srgbClr val="A40C21"/>
                </a:solidFill>
                <a:latin typeface="Montserrat SemiBold"/>
              </a:rPr>
              <a:t>Sous la supervision de</a:t>
            </a:r>
          </a:p>
        </p:txBody>
      </p:sp>
      <p:sp>
        <p:nvSpPr>
          <p:cNvPr id="18" name="!!Nm2"/>
          <p:cNvSpPr txBox="1"/>
          <p:nvPr/>
        </p:nvSpPr>
        <p:spPr>
          <a:xfrm>
            <a:off x="6812280" y="5605272"/>
            <a:ext cx="4663440" cy="548640"/>
          </a:xfrm>
          <a:prstGeom prst="rect">
            <a:avLst/>
          </a:prstGeom>
          <a:noFill/>
        </p:spPr>
        <p:txBody>
          <a:bodyPr wrap="square" lIns="0" rIns="0" tIns="0" bIns="0" anchor="t">
            <a:noAutofit/>
          </a:bodyPr>
          <a:lstStyle/>
          <a:p>
            <a:pPr algn="l"/>
            <a:r>
              <a:rPr sz="1250">
                <a:solidFill>
                  <a:srgbClr val="000000"/>
                </a:solidFill>
                <a:latin typeface="Montserrat Medium"/>
              </a:rPr>
              <a:t>TOA Agnini Jules Evariste, Professeur Titulaire</a:t>
            </a:r>
          </a:p>
        </p:txBody>
      </p:sp>
      <p:sp>
        <p:nvSpPr>
          <p:cNvPr id="19"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A40C21"/>
                </a:solidFill>
                <a:latin typeface="Montserrat SemiBold"/>
              </a:rPr>
              <a:t>ISTC Polytechnique · Année académique 2025-2026</a:t>
            </a:r>
          </a:p>
        </p:txBody>
      </p:sp>
      <p:sp>
        <p:nvSpPr>
          <p:cNvPr id="20"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A40C21"/>
                </a:solidFill>
                <a:latin typeface="Montserrat SemiBold"/>
              </a:rPr>
              <a:t>02</a:t>
            </a:r>
          </a:p>
        </p:txBody>
      </p:sp>
      <p:pic>
        <p:nvPicPr>
          <p:cNvPr id="21" name="!!Logo" descr="Logo Marin'Or Ivoire"/>
          <p:cNvPicPr>
            <a:picLocks noChangeAspect="1"/>
          </p:cNvPicPr>
          <p:nvPr/>
        </p:nvPicPr>
        <p:blipFill>
          <a:blip r:embed="rId5"/>
          <a:stretch>
            <a:fillRect/>
          </a:stretch>
        </p:blipFill>
        <p:spPr>
          <a:xfrm>
            <a:off x="10546080" y="311488"/>
            <a:ext cx="960120" cy="50299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FF6EA"/>
          </a:solidFill>
          <a:ln>
            <a:noFill/>
          </a:ln>
        </p:spPr>
        <p:txBody>
          <a:bodyPr rtlCol="0" anchor="ctr"/>
          <a:lstStyle/>
          <a:p/>
        </p:txBody>
      </p:sp>
      <p:pic>
        <p:nvPicPr>
          <p:cNvPr id="3" name="!!PlateL" descr="motif_bord.png"/>
          <p:cNvPicPr>
            <a:picLocks noChangeAspect="1"/>
          </p:cNvPicPr>
          <p:nvPr/>
        </p:nvPicPr>
        <p:blipFill>
          <a:blip r:embed="rId2"/>
          <a:srcRect/>
          <a:stretch>
            <a:fillRect/>
          </a:stretch>
        </p:blipFill>
        <p:spPr>
          <a:xfrm>
            <a:off x="-610000" y="-1630371"/>
            <a:ext cx="21336000" cy="12001500"/>
          </a:xfrm>
          <a:prstGeom prst="rect">
            <a:avLst/>
          </a:prstGeom>
        </p:spPr>
      </p:pic>
      <p:sp>
        <p:nvSpPr>
          <p:cNvPr id="4" name="!!Glow"/>
          <p:cNvSpPr/>
          <p:nvPr/>
        </p:nvSpPr>
        <p:spPr>
          <a:xfrm>
            <a:off x="-1152346" y="-898635"/>
            <a:ext cx="9601200" cy="9601200"/>
          </a:xfrm>
          <a:prstGeom prst="ellipse">
            <a:avLst/>
          </a:prstGeom>
          <a:gradFill rotWithShape="1">
            <a:gsLst>
              <a:gs pos="0">
                <a:srgbClr val="FFFFFF">
                  <a:alpha val="85000"/>
                </a:srgbClr>
              </a:gs>
              <a:gs pos="100000">
                <a:srgbClr val="FFFFFF">
                  <a:alpha val="0"/>
                </a:srgbClr>
              </a:gs>
            </a:gsLst>
            <a:path path="circle">
              <a:fillToRect l="50000" t="50000" r="50000" b="50000"/>
            </a:path>
          </a:gradFill>
          <a:ln>
            <a:noFill/>
          </a:ln>
        </p:spPr>
        <p:txBody>
          <a:bodyPr rtlCol="0" anchor="ctr"/>
          <a:lstStyle/>
          <a:p/>
        </p:txBody>
      </p:sp>
      <p:sp>
        <p:nvSpPr>
          <p:cNvPr id="5" name="!!Glow2"/>
          <p:cNvSpPr/>
          <p:nvPr/>
        </p:nvSpPr>
        <p:spPr>
          <a:xfrm>
            <a:off x="5183326" y="-404384"/>
            <a:ext cx="6720840" cy="6720840"/>
          </a:xfrm>
          <a:prstGeom prst="ellipse">
            <a:avLst/>
          </a:prstGeom>
          <a:gradFill rotWithShape="1">
            <a:gsLst>
              <a:gs pos="0">
                <a:srgbClr val="F9A825">
                  <a:alpha val="14000"/>
                </a:srgbClr>
              </a:gs>
              <a:gs pos="100000">
                <a:srgbClr val="F9A825">
                  <a:alpha val="0"/>
                </a:srgbClr>
              </a:gs>
            </a:gsLst>
            <a:path path="circle">
              <a:fillToRect l="50000" t="50000" r="50000" b="50000"/>
            </a:path>
          </a:gradFill>
          <a:ln>
            <a:noFill/>
          </a:ln>
        </p:spPr>
        <p:txBody>
          <a:bodyPr rtlCol="0" anchor="ctr"/>
          <a:lstStyle/>
          <a:p/>
        </p:txBody>
      </p:sp>
      <p:sp>
        <p:nvSpPr>
          <p:cNvPr id="6" name="!!Ring"/>
          <p:cNvSpPr/>
          <p:nvPr/>
        </p:nvSpPr>
        <p:spPr>
          <a:xfrm>
            <a:off x="9756415" y="-4070409"/>
            <a:ext cx="7132320" cy="7132320"/>
          </a:xfrm>
          <a:prstGeom prst="ellipse">
            <a:avLst/>
          </a:prstGeom>
          <a:noFill/>
          <a:ln w="12700">
            <a:solidFill>
              <a:srgbClr val="F9A825">
                <a:alpha val="85000"/>
              </a:srgbClr>
            </a:solidFill>
          </a:ln>
        </p:spPr>
        <p:txBody>
          <a:bodyPr rtlCol="0" anchor="ctr"/>
          <a:lstStyle/>
          <a:p/>
        </p:txBody>
      </p:sp>
      <p:pic>
        <p:nvPicPr>
          <p:cNvPr id="7" name="!!Grain" descr="grain.png"/>
          <p:cNvPicPr>
            <a:picLocks noChangeAspect="1"/>
          </p:cNvPicPr>
          <p:nvPr/>
        </p:nvPicPr>
        <p:blipFill>
          <a:blip r:embed="rId3"/>
          <a:srcRect/>
          <a:stretch>
            <a:fillRect/>
          </a:stretch>
        </p:blipFill>
        <p:spPr>
          <a:xfrm>
            <a:off x="0" y="0"/>
            <a:ext cx="12192000" cy="6858000"/>
          </a:xfrm>
          <a:prstGeom prst="rect">
            <a:avLst/>
          </a:prstGeom>
        </p:spPr>
      </p:pic>
      <p:sp>
        <p:nvSpPr>
          <p:cNvPr id="8" name="!!Title"/>
          <p:cNvSpPr txBox="1"/>
          <p:nvPr/>
        </p:nvSpPr>
        <p:spPr>
          <a:xfrm>
            <a:off x="685800" y="914400"/>
            <a:ext cx="7315200" cy="731520"/>
          </a:xfrm>
          <a:prstGeom prst="rect">
            <a:avLst/>
          </a:prstGeom>
          <a:noFill/>
        </p:spPr>
        <p:txBody>
          <a:bodyPr wrap="square" lIns="0" rIns="0" tIns="0" bIns="0" anchor="t">
            <a:noAutofit/>
          </a:bodyPr>
          <a:lstStyle/>
          <a:p>
            <a:pPr algn="l">
              <a:lnSpc>
                <a:spcPct val="95000"/>
              </a:lnSpc>
            </a:pPr>
            <a:r>
              <a:rPr sz="4000">
                <a:solidFill>
                  <a:srgbClr val="7B1421"/>
                </a:solidFill>
                <a:latin typeface="Cream Heavy"/>
              </a:rPr>
              <a:t>Plan de la présentation</a:t>
            </a:r>
          </a:p>
        </p:txBody>
      </p:sp>
      <p:sp>
        <p:nvSpPr>
          <p:cNvPr id="9" name="!!PlanLine0"/>
          <p:cNvSpPr/>
          <p:nvPr/>
        </p:nvSpPr>
        <p:spPr>
          <a:xfrm>
            <a:off x="685800" y="3227832"/>
            <a:ext cx="4572000" cy="10972"/>
          </a:xfrm>
          <a:prstGeom prst="rect">
            <a:avLst/>
          </a:prstGeom>
          <a:solidFill>
            <a:srgbClr val="7B1421">
              <a:alpha val="25000"/>
            </a:srgbClr>
          </a:solidFill>
          <a:ln>
            <a:noFill/>
          </a:ln>
        </p:spPr>
        <p:txBody>
          <a:bodyPr rtlCol="0" anchor="ctr"/>
          <a:lstStyle/>
          <a:p/>
        </p:txBody>
      </p:sp>
      <p:sp>
        <p:nvSpPr>
          <p:cNvPr id="10" name="!!PlanItem0"/>
          <p:cNvSpPr txBox="1"/>
          <p:nvPr/>
        </p:nvSpPr>
        <p:spPr>
          <a:xfrm>
            <a:off x="685800" y="2331720"/>
            <a:ext cx="4754880" cy="822960"/>
          </a:xfrm>
          <a:prstGeom prst="rect">
            <a:avLst/>
          </a:prstGeom>
          <a:noFill/>
        </p:spPr>
        <p:txBody>
          <a:bodyPr wrap="square" lIns="0" rIns="0" tIns="0" bIns="0" anchor="ctr">
            <a:noAutofit/>
          </a:bodyPr>
          <a:lstStyle/>
          <a:p>
            <a:pPr algn="l"/>
            <a:r>
              <a:rPr sz="3000">
                <a:solidFill>
                  <a:srgbClr val="F9A825"/>
                </a:solidFill>
                <a:latin typeface="Cream Heavy"/>
              </a:rPr>
              <a:t>01   </a:t>
            </a:r>
            <a:r>
              <a:rPr sz="1800">
                <a:solidFill>
                  <a:srgbClr val="000000"/>
                </a:solidFill>
                <a:latin typeface="Montserrat SemiBold"/>
              </a:rPr>
              <a:t>Introduction et problématique</a:t>
            </a:r>
          </a:p>
        </p:txBody>
      </p:sp>
      <p:sp>
        <p:nvSpPr>
          <p:cNvPr id="11" name="!!PlanLine1"/>
          <p:cNvSpPr/>
          <p:nvPr/>
        </p:nvSpPr>
        <p:spPr>
          <a:xfrm>
            <a:off x="685800" y="4370832"/>
            <a:ext cx="4572000" cy="10972"/>
          </a:xfrm>
          <a:prstGeom prst="rect">
            <a:avLst/>
          </a:prstGeom>
          <a:solidFill>
            <a:srgbClr val="7B1421">
              <a:alpha val="25000"/>
            </a:srgbClr>
          </a:solidFill>
          <a:ln>
            <a:noFill/>
          </a:ln>
        </p:spPr>
        <p:txBody>
          <a:bodyPr rtlCol="0" anchor="ctr"/>
          <a:lstStyle/>
          <a:p/>
        </p:txBody>
      </p:sp>
      <p:sp>
        <p:nvSpPr>
          <p:cNvPr id="12" name="!!PlanItem1"/>
          <p:cNvSpPr txBox="1"/>
          <p:nvPr/>
        </p:nvSpPr>
        <p:spPr>
          <a:xfrm>
            <a:off x="685800" y="3474720"/>
            <a:ext cx="4754880" cy="822960"/>
          </a:xfrm>
          <a:prstGeom prst="rect">
            <a:avLst/>
          </a:prstGeom>
          <a:noFill/>
        </p:spPr>
        <p:txBody>
          <a:bodyPr wrap="square" lIns="0" rIns="0" tIns="0" bIns="0" anchor="ctr">
            <a:noAutofit/>
          </a:bodyPr>
          <a:lstStyle/>
          <a:p>
            <a:pPr algn="l"/>
            <a:r>
              <a:rPr sz="3000">
                <a:solidFill>
                  <a:srgbClr val="F9A825"/>
                </a:solidFill>
                <a:latin typeface="Cream Heavy"/>
              </a:rPr>
              <a:t>02   </a:t>
            </a:r>
            <a:r>
              <a:rPr sz="1800">
                <a:solidFill>
                  <a:srgbClr val="000000"/>
                </a:solidFill>
                <a:latin typeface="Montserrat SemiBold"/>
              </a:rPr>
              <a:t>Les produits</a:t>
            </a:r>
          </a:p>
        </p:txBody>
      </p:sp>
      <p:sp>
        <p:nvSpPr>
          <p:cNvPr id="13" name="!!PlanLine2"/>
          <p:cNvSpPr/>
          <p:nvPr/>
        </p:nvSpPr>
        <p:spPr>
          <a:xfrm>
            <a:off x="685800" y="5513832"/>
            <a:ext cx="4572000" cy="10972"/>
          </a:xfrm>
          <a:prstGeom prst="rect">
            <a:avLst/>
          </a:prstGeom>
          <a:solidFill>
            <a:srgbClr val="7B1421">
              <a:alpha val="25000"/>
            </a:srgbClr>
          </a:solidFill>
          <a:ln>
            <a:noFill/>
          </a:ln>
        </p:spPr>
        <p:txBody>
          <a:bodyPr rtlCol="0" anchor="ctr"/>
          <a:lstStyle/>
          <a:p/>
        </p:txBody>
      </p:sp>
      <p:sp>
        <p:nvSpPr>
          <p:cNvPr id="14" name="!!PlanItem2"/>
          <p:cNvSpPr txBox="1"/>
          <p:nvPr/>
        </p:nvSpPr>
        <p:spPr>
          <a:xfrm>
            <a:off x="685800" y="4617720"/>
            <a:ext cx="4754880" cy="822960"/>
          </a:xfrm>
          <a:prstGeom prst="rect">
            <a:avLst/>
          </a:prstGeom>
          <a:noFill/>
        </p:spPr>
        <p:txBody>
          <a:bodyPr wrap="square" lIns="0" rIns="0" tIns="0" bIns="0" anchor="ctr">
            <a:noAutofit/>
          </a:bodyPr>
          <a:lstStyle/>
          <a:p>
            <a:pPr algn="l"/>
            <a:r>
              <a:rPr sz="3000">
                <a:solidFill>
                  <a:srgbClr val="F9A825"/>
                </a:solidFill>
                <a:latin typeface="Cream Heavy"/>
              </a:rPr>
              <a:t>03   </a:t>
            </a:r>
            <a:r>
              <a:rPr sz="1800">
                <a:solidFill>
                  <a:srgbClr val="000000"/>
                </a:solidFill>
                <a:latin typeface="Montserrat SemiBold"/>
              </a:rPr>
              <a:t>Identité visuelle</a:t>
            </a:r>
          </a:p>
        </p:txBody>
      </p:sp>
      <p:sp>
        <p:nvSpPr>
          <p:cNvPr id="15" name="!!PlanLine3"/>
          <p:cNvSpPr/>
          <p:nvPr/>
        </p:nvSpPr>
        <p:spPr>
          <a:xfrm>
            <a:off x="5897880" y="3227832"/>
            <a:ext cx="4572000" cy="10972"/>
          </a:xfrm>
          <a:prstGeom prst="rect">
            <a:avLst/>
          </a:prstGeom>
          <a:solidFill>
            <a:srgbClr val="7B1421">
              <a:alpha val="25000"/>
            </a:srgbClr>
          </a:solidFill>
          <a:ln>
            <a:noFill/>
          </a:ln>
        </p:spPr>
        <p:txBody>
          <a:bodyPr rtlCol="0" anchor="ctr"/>
          <a:lstStyle/>
          <a:p/>
        </p:txBody>
      </p:sp>
      <p:sp>
        <p:nvSpPr>
          <p:cNvPr id="16" name="!!PlanItem3"/>
          <p:cNvSpPr txBox="1"/>
          <p:nvPr/>
        </p:nvSpPr>
        <p:spPr>
          <a:xfrm>
            <a:off x="5897880" y="2331720"/>
            <a:ext cx="4754880" cy="822960"/>
          </a:xfrm>
          <a:prstGeom prst="rect">
            <a:avLst/>
          </a:prstGeom>
          <a:noFill/>
        </p:spPr>
        <p:txBody>
          <a:bodyPr wrap="square" lIns="0" rIns="0" tIns="0" bIns="0" anchor="ctr">
            <a:noAutofit/>
          </a:bodyPr>
          <a:lstStyle/>
          <a:p>
            <a:pPr algn="l"/>
            <a:r>
              <a:rPr sz="3000">
                <a:solidFill>
                  <a:srgbClr val="F9A825"/>
                </a:solidFill>
                <a:latin typeface="Cream Heavy"/>
              </a:rPr>
              <a:t>04   </a:t>
            </a:r>
            <a:r>
              <a:rPr sz="1800">
                <a:solidFill>
                  <a:srgbClr val="000000"/>
                </a:solidFill>
                <a:latin typeface="Montserrat SemiBold"/>
              </a:rPr>
              <a:t>Supports print et audiovisuels</a:t>
            </a:r>
          </a:p>
        </p:txBody>
      </p:sp>
      <p:sp>
        <p:nvSpPr>
          <p:cNvPr id="17" name="!!PlanLine4"/>
          <p:cNvSpPr/>
          <p:nvPr/>
        </p:nvSpPr>
        <p:spPr>
          <a:xfrm>
            <a:off x="5897880" y="4370832"/>
            <a:ext cx="4572000" cy="10972"/>
          </a:xfrm>
          <a:prstGeom prst="rect">
            <a:avLst/>
          </a:prstGeom>
          <a:solidFill>
            <a:srgbClr val="7B1421">
              <a:alpha val="25000"/>
            </a:srgbClr>
          </a:solidFill>
          <a:ln>
            <a:noFill/>
          </a:ln>
        </p:spPr>
        <p:txBody>
          <a:bodyPr rtlCol="0" anchor="ctr"/>
          <a:lstStyle/>
          <a:p/>
        </p:txBody>
      </p:sp>
      <p:sp>
        <p:nvSpPr>
          <p:cNvPr id="18" name="!!PlanItem4"/>
          <p:cNvSpPr txBox="1"/>
          <p:nvPr/>
        </p:nvSpPr>
        <p:spPr>
          <a:xfrm>
            <a:off x="5897880" y="3474720"/>
            <a:ext cx="4754880" cy="822960"/>
          </a:xfrm>
          <a:prstGeom prst="rect">
            <a:avLst/>
          </a:prstGeom>
          <a:noFill/>
        </p:spPr>
        <p:txBody>
          <a:bodyPr wrap="square" lIns="0" rIns="0" tIns="0" bIns="0" anchor="ctr">
            <a:noAutofit/>
          </a:bodyPr>
          <a:lstStyle/>
          <a:p>
            <a:pPr algn="l"/>
            <a:r>
              <a:rPr sz="3000">
                <a:solidFill>
                  <a:srgbClr val="F9A825"/>
                </a:solidFill>
                <a:latin typeface="Cream Heavy"/>
              </a:rPr>
              <a:t>05   </a:t>
            </a:r>
            <a:r>
              <a:rPr sz="1800">
                <a:solidFill>
                  <a:srgbClr val="000000"/>
                </a:solidFill>
                <a:latin typeface="Montserrat SemiBold"/>
              </a:rPr>
              <a:t>Le site web</a:t>
            </a:r>
          </a:p>
        </p:txBody>
      </p:sp>
      <p:sp>
        <p:nvSpPr>
          <p:cNvPr id="19" name="!!PlanLine5"/>
          <p:cNvSpPr/>
          <p:nvPr/>
        </p:nvSpPr>
        <p:spPr>
          <a:xfrm>
            <a:off x="5897880" y="5513832"/>
            <a:ext cx="4572000" cy="10972"/>
          </a:xfrm>
          <a:prstGeom prst="rect">
            <a:avLst/>
          </a:prstGeom>
          <a:solidFill>
            <a:srgbClr val="7B1421">
              <a:alpha val="25000"/>
            </a:srgbClr>
          </a:solidFill>
          <a:ln>
            <a:noFill/>
          </a:ln>
        </p:spPr>
        <p:txBody>
          <a:bodyPr rtlCol="0" anchor="ctr"/>
          <a:lstStyle/>
          <a:p/>
        </p:txBody>
      </p:sp>
      <p:sp>
        <p:nvSpPr>
          <p:cNvPr id="20" name="!!PlanItem5"/>
          <p:cNvSpPr txBox="1"/>
          <p:nvPr/>
        </p:nvSpPr>
        <p:spPr>
          <a:xfrm>
            <a:off x="5897880" y="4617720"/>
            <a:ext cx="4754880" cy="822960"/>
          </a:xfrm>
          <a:prstGeom prst="rect">
            <a:avLst/>
          </a:prstGeom>
          <a:noFill/>
        </p:spPr>
        <p:txBody>
          <a:bodyPr wrap="square" lIns="0" rIns="0" tIns="0" bIns="0" anchor="ctr">
            <a:noAutofit/>
          </a:bodyPr>
          <a:lstStyle/>
          <a:p>
            <a:pPr algn="l"/>
            <a:r>
              <a:rPr sz="3000">
                <a:solidFill>
                  <a:srgbClr val="F9A825"/>
                </a:solidFill>
                <a:latin typeface="Cream Heavy"/>
              </a:rPr>
              <a:t>06   </a:t>
            </a:r>
            <a:r>
              <a:rPr sz="1800">
                <a:solidFill>
                  <a:srgbClr val="000000"/>
                </a:solidFill>
                <a:latin typeface="Montserrat SemiBold"/>
              </a:rPr>
              <a:t>Bilan et conclusion</a:t>
            </a:r>
          </a:p>
        </p:txBody>
      </p:sp>
      <p:sp>
        <p:nvSpPr>
          <p:cNvPr id="21"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A40C21"/>
                </a:solidFill>
                <a:latin typeface="Montserrat SemiBold"/>
              </a:rPr>
              <a:t>Sommaire</a:t>
            </a:r>
          </a:p>
        </p:txBody>
      </p:sp>
      <p:sp>
        <p:nvSpPr>
          <p:cNvPr id="22"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A40C21"/>
                </a:solidFill>
                <a:latin typeface="Montserrat SemiBold"/>
              </a:rPr>
              <a:t>03</a:t>
            </a:r>
          </a:p>
        </p:txBody>
      </p:sp>
      <p:pic>
        <p:nvPicPr>
          <p:cNvPr id="23" name="!!Logo" descr="Logo Marin'Or Ivoire"/>
          <p:cNvPicPr>
            <a:picLocks noChangeAspect="1"/>
          </p:cNvPicPr>
          <p:nvPr/>
        </p:nvPicPr>
        <p:blipFill>
          <a:blip r:embed="rId4"/>
          <a:stretch>
            <a:fillRect/>
          </a:stretch>
        </p:blipFill>
        <p:spPr>
          <a:xfrm>
            <a:off x="10546080" y="311488"/>
            <a:ext cx="960120" cy="50299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FF6EA"/>
          </a:solidFill>
          <a:ln>
            <a:noFill/>
          </a:ln>
        </p:spPr>
        <p:txBody>
          <a:bodyPr rtlCol="0" anchor="ctr"/>
          <a:lstStyle/>
          <a:p/>
        </p:txBody>
      </p:sp>
      <p:pic>
        <p:nvPicPr>
          <p:cNvPr id="3" name="!!PlateL" descr="motif_bord.png"/>
          <p:cNvPicPr>
            <a:picLocks noChangeAspect="1"/>
          </p:cNvPicPr>
          <p:nvPr/>
        </p:nvPicPr>
        <p:blipFill>
          <a:blip r:embed="rId2"/>
          <a:srcRect/>
          <a:stretch>
            <a:fillRect/>
          </a:stretch>
        </p:blipFill>
        <p:spPr>
          <a:xfrm>
            <a:off x="-790000" y="-1484413"/>
            <a:ext cx="21336000" cy="12001500"/>
          </a:xfrm>
          <a:prstGeom prst="rect">
            <a:avLst/>
          </a:prstGeom>
        </p:spPr>
      </p:pic>
      <p:sp>
        <p:nvSpPr>
          <p:cNvPr id="4" name="!!Glow"/>
          <p:cNvSpPr/>
          <p:nvPr/>
        </p:nvSpPr>
        <p:spPr>
          <a:xfrm>
            <a:off x="-2782363" y="-1143514"/>
            <a:ext cx="9601200" cy="9601200"/>
          </a:xfrm>
          <a:prstGeom prst="ellipse">
            <a:avLst/>
          </a:prstGeom>
          <a:gradFill rotWithShape="1">
            <a:gsLst>
              <a:gs pos="0">
                <a:srgbClr val="FFFFFF">
                  <a:alpha val="85000"/>
                </a:srgbClr>
              </a:gs>
              <a:gs pos="100000">
                <a:srgbClr val="FFFFFF">
                  <a:alpha val="0"/>
                </a:srgbClr>
              </a:gs>
            </a:gsLst>
            <a:path path="circle">
              <a:fillToRect l="50000" t="50000" r="50000" b="50000"/>
            </a:path>
          </a:gradFill>
          <a:ln>
            <a:noFill/>
          </a:ln>
        </p:spPr>
        <p:txBody>
          <a:bodyPr rtlCol="0" anchor="ctr"/>
          <a:lstStyle/>
          <a:p/>
        </p:txBody>
      </p:sp>
      <p:sp>
        <p:nvSpPr>
          <p:cNvPr id="5" name="!!Glow2"/>
          <p:cNvSpPr/>
          <p:nvPr/>
        </p:nvSpPr>
        <p:spPr>
          <a:xfrm>
            <a:off x="6813343" y="-159505"/>
            <a:ext cx="6720840" cy="6720840"/>
          </a:xfrm>
          <a:prstGeom prst="ellipse">
            <a:avLst/>
          </a:prstGeom>
          <a:gradFill rotWithShape="1">
            <a:gsLst>
              <a:gs pos="0">
                <a:srgbClr val="F9A825">
                  <a:alpha val="14000"/>
                </a:srgbClr>
              </a:gs>
              <a:gs pos="100000">
                <a:srgbClr val="F9A825">
                  <a:alpha val="0"/>
                </a:srgbClr>
              </a:gs>
            </a:gsLst>
            <a:path path="circle">
              <a:fillToRect l="50000" t="50000" r="50000" b="50000"/>
            </a:path>
          </a:gradFill>
          <a:ln>
            <a:noFill/>
          </a:ln>
        </p:spPr>
        <p:txBody>
          <a:bodyPr rtlCol="0" anchor="ctr"/>
          <a:lstStyle/>
          <a:p/>
        </p:txBody>
      </p:sp>
      <p:sp>
        <p:nvSpPr>
          <p:cNvPr id="6" name="!!Ring"/>
          <p:cNvSpPr/>
          <p:nvPr/>
        </p:nvSpPr>
        <p:spPr>
          <a:xfrm>
            <a:off x="9521557" y="-4190390"/>
            <a:ext cx="7132320" cy="7132320"/>
          </a:xfrm>
          <a:prstGeom prst="ellipse">
            <a:avLst/>
          </a:prstGeom>
          <a:noFill/>
          <a:ln w="12700">
            <a:solidFill>
              <a:srgbClr val="F9A825">
                <a:alpha val="85000"/>
              </a:srgbClr>
            </a:solidFill>
          </a:ln>
        </p:spPr>
        <p:txBody>
          <a:bodyPr rtlCol="0" anchor="ctr"/>
          <a:lstStyle/>
          <a:p/>
        </p:txBody>
      </p:sp>
      <p:pic>
        <p:nvPicPr>
          <p:cNvPr id="7" name="!!Hero" descr="Plat traditionnel partagé"/>
          <p:cNvPicPr>
            <a:picLocks noChangeAspect="1"/>
          </p:cNvPicPr>
          <p:nvPr/>
        </p:nvPicPr>
        <p:blipFill>
          <a:blip r:embed="rId3"/>
          <a:srcRect l="2043" r="2043"/>
          <a:stretch>
            <a:fillRect/>
          </a:stretch>
        </p:blipFill>
        <p:spPr>
          <a:xfrm>
            <a:off x="6720840" y="914400"/>
            <a:ext cx="4800600" cy="5074920"/>
          </a:xfrm>
          <a:prstGeom prst="roundRect">
            <a:avLst>
              <a:gd name="adj" fmla="val 5000"/>
            </a:avLst>
          </a:prstGeom>
          <a:effectLst>
            <a:outerShdw blurRad="381000" dist="101600" dir="5400000" algn="t" rotWithShape="0">
              <a:srgbClr val="1A0507">
                <a:alpha val="28000"/>
              </a:srgbClr>
            </a:outerShdw>
          </a:effectLst>
        </p:spPr>
      </p:pic>
      <p:pic>
        <p:nvPicPr>
          <p:cNvPr id="8" name="!!Grain" descr="grain.png"/>
          <p:cNvPicPr>
            <a:picLocks noChangeAspect="1"/>
          </p:cNvPicPr>
          <p:nvPr/>
        </p:nvPicPr>
        <p:blipFill>
          <a:blip r:embed="rId4"/>
          <a:srcRect/>
          <a:stretch>
            <a:fillRect/>
          </a:stretch>
        </p:blipFill>
        <p:spPr>
          <a:xfrm>
            <a:off x="0" y="0"/>
            <a:ext cx="12192000" cy="6858000"/>
          </a:xfrm>
          <a:prstGeom prst="rect">
            <a:avLst/>
          </a:prstGeom>
        </p:spPr>
      </p:pic>
      <p:sp>
        <p:nvSpPr>
          <p:cNvPr id="9" name="!!Title"/>
          <p:cNvSpPr txBox="1"/>
          <p:nvPr/>
        </p:nvSpPr>
        <p:spPr>
          <a:xfrm>
            <a:off x="685800" y="914400"/>
            <a:ext cx="5669280" cy="731520"/>
          </a:xfrm>
          <a:prstGeom prst="rect">
            <a:avLst/>
          </a:prstGeom>
          <a:noFill/>
        </p:spPr>
        <p:txBody>
          <a:bodyPr wrap="square" lIns="0" rIns="0" tIns="0" bIns="0" anchor="t">
            <a:noAutofit/>
          </a:bodyPr>
          <a:lstStyle/>
          <a:p>
            <a:pPr algn="l">
              <a:lnSpc>
                <a:spcPct val="95000"/>
              </a:lnSpc>
            </a:pPr>
            <a:r>
              <a:rPr sz="4000">
                <a:solidFill>
                  <a:srgbClr val="7B1421"/>
                </a:solidFill>
                <a:latin typeface="Cream Heavy"/>
              </a:rPr>
              <a:t>Contexte</a:t>
            </a:r>
          </a:p>
        </p:txBody>
      </p:sp>
      <p:sp>
        <p:nvSpPr>
          <p:cNvPr id="10" name="!!Body"/>
          <p:cNvSpPr txBox="1"/>
          <p:nvPr/>
        </p:nvSpPr>
        <p:spPr>
          <a:xfrm>
            <a:off x="685800" y="2103120"/>
            <a:ext cx="5760720" cy="2926080"/>
          </a:xfrm>
          <a:prstGeom prst="rect">
            <a:avLst/>
          </a:prstGeom>
          <a:noFill/>
        </p:spPr>
        <p:txBody>
          <a:bodyPr wrap="square" lIns="0" rIns="0" tIns="0" bIns="0" anchor="t">
            <a:noAutofit/>
          </a:bodyPr>
          <a:lstStyle/>
          <a:p>
            <a:pPr algn="l">
              <a:lnSpc>
                <a:spcPct val="112000"/>
              </a:lnSpc>
              <a:spcAft>
                <a:spcPts val="1400"/>
              </a:spcAft>
            </a:pPr>
            <a:r>
              <a:rPr sz="1800">
                <a:solidFill>
                  <a:srgbClr val="000000"/>
                </a:solidFill>
                <a:latin typeface="Montserrat Medium"/>
              </a:rPr>
              <a:t>Les consommateurs recherchent des marques qui valorisent leur patrimoine culinaire.</a:t>
            </a:r>
          </a:p>
          <a:p>
            <a:pPr algn="l">
              <a:lnSpc>
                <a:spcPct val="112000"/>
              </a:lnSpc>
              <a:spcAft>
                <a:spcPts val="1400"/>
              </a:spcAft>
            </a:pPr>
            <a:r>
              <a:rPr sz="1800">
                <a:solidFill>
                  <a:srgbClr val="000000"/>
                </a:solidFill>
                <a:latin typeface="Montserrat Medium"/>
              </a:rPr>
              <a:t>De jeunes marques locales peinent pourtant à s'imposer, faute de moyens ou de structuration.</a:t>
            </a:r>
          </a:p>
        </p:txBody>
      </p:sp>
      <p:sp>
        <p:nvSpPr>
          <p:cNvPr id="11"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A40C21"/>
                </a:solidFill>
                <a:latin typeface="Montserrat SemiBold"/>
              </a:rPr>
              <a:t>01 · Introduction</a:t>
            </a:r>
          </a:p>
        </p:txBody>
      </p:sp>
      <p:sp>
        <p:nvSpPr>
          <p:cNvPr id="12"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A40C21"/>
                </a:solidFill>
                <a:latin typeface="Montserrat SemiBold"/>
              </a:rPr>
              <a:t>04</a:t>
            </a:r>
          </a:p>
        </p:txBody>
      </p:sp>
      <p:pic>
        <p:nvPicPr>
          <p:cNvPr id="13" name="!!Logo" descr="Logo Marin'Or Ivoire"/>
          <p:cNvPicPr>
            <a:picLocks noChangeAspect="1"/>
          </p:cNvPicPr>
          <p:nvPr/>
        </p:nvPicPr>
        <p:blipFill>
          <a:blip r:embed="rId5"/>
          <a:stretch>
            <a:fillRect/>
          </a:stretch>
        </p:blipFill>
        <p:spPr>
          <a:xfrm>
            <a:off x="10546080" y="311488"/>
            <a:ext cx="960120" cy="50299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FF6EA"/>
          </a:solidFill>
          <a:ln>
            <a:noFill/>
          </a:ln>
        </p:spPr>
        <p:txBody>
          <a:bodyPr rtlCol="0" anchor="ctr"/>
          <a:lstStyle/>
          <a:p/>
        </p:txBody>
      </p:sp>
      <p:pic>
        <p:nvPicPr>
          <p:cNvPr id="3" name="!!PlateL" descr="motif_bord.png"/>
          <p:cNvPicPr>
            <a:picLocks noChangeAspect="1"/>
          </p:cNvPicPr>
          <p:nvPr/>
        </p:nvPicPr>
        <p:blipFill>
          <a:blip r:embed="rId2"/>
          <a:srcRect/>
          <a:stretch>
            <a:fillRect/>
          </a:stretch>
        </p:blipFill>
        <p:spPr>
          <a:xfrm>
            <a:off x="-970000" y="-1453448"/>
            <a:ext cx="21336000" cy="12001500"/>
          </a:xfrm>
          <a:prstGeom prst="rect">
            <a:avLst/>
          </a:prstGeom>
        </p:spPr>
      </p:pic>
      <p:sp>
        <p:nvSpPr>
          <p:cNvPr id="4" name="!!Glow"/>
          <p:cNvSpPr/>
          <p:nvPr/>
        </p:nvSpPr>
        <p:spPr>
          <a:xfrm>
            <a:off x="-3856927" y="-1698400"/>
            <a:ext cx="9601200" cy="9601200"/>
          </a:xfrm>
          <a:prstGeom prst="ellipse">
            <a:avLst/>
          </a:prstGeom>
          <a:gradFill rotWithShape="1">
            <a:gsLst>
              <a:gs pos="0">
                <a:srgbClr val="FFFFFF">
                  <a:alpha val="85000"/>
                </a:srgbClr>
              </a:gs>
              <a:gs pos="100000">
                <a:srgbClr val="FFFFFF">
                  <a:alpha val="0"/>
                </a:srgbClr>
              </a:gs>
            </a:gsLst>
            <a:path path="circle">
              <a:fillToRect l="50000" t="50000" r="50000" b="50000"/>
            </a:path>
          </a:gradFill>
          <a:ln>
            <a:noFill/>
          </a:ln>
        </p:spPr>
        <p:txBody>
          <a:bodyPr rtlCol="0" anchor="ctr"/>
          <a:lstStyle/>
          <a:p/>
        </p:txBody>
      </p:sp>
      <p:sp>
        <p:nvSpPr>
          <p:cNvPr id="5" name="!!Glow2"/>
          <p:cNvSpPr/>
          <p:nvPr/>
        </p:nvSpPr>
        <p:spPr>
          <a:xfrm>
            <a:off x="7887907" y="395380"/>
            <a:ext cx="6720840" cy="6720840"/>
          </a:xfrm>
          <a:prstGeom prst="ellipse">
            <a:avLst/>
          </a:prstGeom>
          <a:gradFill rotWithShape="1">
            <a:gsLst>
              <a:gs pos="0">
                <a:srgbClr val="F9A825">
                  <a:alpha val="14000"/>
                </a:srgbClr>
              </a:gs>
              <a:gs pos="100000">
                <a:srgbClr val="F9A825">
                  <a:alpha val="0"/>
                </a:srgbClr>
              </a:gs>
            </a:gsLst>
            <a:path path="circle">
              <a:fillToRect l="50000" t="50000" r="50000" b="50000"/>
            </a:path>
          </a:gradFill>
          <a:ln>
            <a:noFill/>
          </a:ln>
        </p:spPr>
        <p:txBody>
          <a:bodyPr rtlCol="0" anchor="ctr"/>
          <a:lstStyle/>
          <a:p/>
        </p:txBody>
      </p:sp>
      <p:sp>
        <p:nvSpPr>
          <p:cNvPr id="6" name="!!Ring"/>
          <p:cNvSpPr/>
          <p:nvPr/>
        </p:nvSpPr>
        <p:spPr>
          <a:xfrm>
            <a:off x="9298032" y="-4188808"/>
            <a:ext cx="7132320" cy="7132320"/>
          </a:xfrm>
          <a:prstGeom prst="ellipse">
            <a:avLst/>
          </a:prstGeom>
          <a:noFill/>
          <a:ln w="12700">
            <a:solidFill>
              <a:srgbClr val="F9A825">
                <a:alpha val="85000"/>
              </a:srgbClr>
            </a:solidFill>
          </a:ln>
        </p:spPr>
        <p:txBody>
          <a:bodyPr rtlCol="0" anchor="ctr"/>
          <a:lstStyle/>
          <a:p/>
        </p:txBody>
      </p:sp>
      <p:sp>
        <p:nvSpPr>
          <p:cNvPr id="7" name="!!Panel"/>
          <p:cNvSpPr/>
          <p:nvPr/>
        </p:nvSpPr>
        <p:spPr>
          <a:xfrm>
            <a:off x="6675120" y="1143000"/>
            <a:ext cx="4846320" cy="4480560"/>
          </a:xfrm>
          <a:prstGeom prst="roundRect">
            <a:avLst>
              <a:gd name="adj" fmla="val 6000"/>
            </a:avLst>
          </a:prstGeom>
          <a:solidFill>
            <a:srgbClr val="FFFFFF"/>
          </a:solidFill>
          <a:ln w="9525">
            <a:solidFill>
              <a:srgbClr val="F9A825">
                <a:alpha val="55000"/>
              </a:srgbClr>
            </a:solidFill>
          </a:ln>
          <a:effectLst>
            <a:outerShdw blurRad="330200" dist="76200" dir="5400000" algn="t" rotWithShape="0">
              <a:srgbClr val="1A0507">
                <a:alpha val="18000"/>
              </a:srgbClr>
            </a:outerShdw>
          </a:effectLst>
        </p:spPr>
        <p:txBody>
          <a:bodyPr rtlCol="0" anchor="ctr"/>
          <a:lstStyle/>
          <a:p/>
        </p:txBody>
      </p:sp>
      <p:pic>
        <p:nvPicPr>
          <p:cNvPr id="8" name="!!Logo" descr="Logo Marin'Or Ivoire"/>
          <p:cNvPicPr>
            <a:picLocks noChangeAspect="1"/>
          </p:cNvPicPr>
          <p:nvPr/>
        </p:nvPicPr>
        <p:blipFill>
          <a:blip r:embed="rId3"/>
          <a:stretch>
            <a:fillRect/>
          </a:stretch>
        </p:blipFill>
        <p:spPr>
          <a:xfrm>
            <a:off x="7086600" y="2329392"/>
            <a:ext cx="4023359" cy="2107774"/>
          </a:xfrm>
          <a:prstGeom prst="rect">
            <a:avLst/>
          </a:prstGeom>
        </p:spPr>
      </p:pic>
      <p:pic>
        <p:nvPicPr>
          <p:cNvPr id="9" name="!!Grain" descr="grain.png"/>
          <p:cNvPicPr>
            <a:picLocks noChangeAspect="1"/>
          </p:cNvPicPr>
          <p:nvPr/>
        </p:nvPicPr>
        <p:blipFill>
          <a:blip r:embed="rId4"/>
          <a:srcRect/>
          <a:stretch>
            <a:fillRect/>
          </a:stretch>
        </p:blipFill>
        <p:spPr>
          <a:xfrm>
            <a:off x="0" y="0"/>
            <a:ext cx="12192000" cy="6858000"/>
          </a:xfrm>
          <a:prstGeom prst="rect">
            <a:avLst/>
          </a:prstGeom>
        </p:spPr>
      </p:pic>
      <p:sp>
        <p:nvSpPr>
          <p:cNvPr id="10" name="!!Title"/>
          <p:cNvSpPr txBox="1"/>
          <p:nvPr/>
        </p:nvSpPr>
        <p:spPr>
          <a:xfrm>
            <a:off x="685800" y="914400"/>
            <a:ext cx="5669280" cy="731520"/>
          </a:xfrm>
          <a:prstGeom prst="rect">
            <a:avLst/>
          </a:prstGeom>
          <a:noFill/>
        </p:spPr>
        <p:txBody>
          <a:bodyPr wrap="square" lIns="0" rIns="0" tIns="0" bIns="0" anchor="t">
            <a:noAutofit/>
          </a:bodyPr>
          <a:lstStyle/>
          <a:p>
            <a:pPr algn="l">
              <a:lnSpc>
                <a:spcPct val="95000"/>
              </a:lnSpc>
            </a:pPr>
            <a:r>
              <a:rPr sz="4000">
                <a:solidFill>
                  <a:srgbClr val="7B1421"/>
                </a:solidFill>
                <a:latin typeface="Cream Heavy"/>
              </a:rPr>
              <a:t>Marin'Or Ivoire</a:t>
            </a:r>
          </a:p>
        </p:txBody>
      </p:sp>
      <p:sp>
        <p:nvSpPr>
          <p:cNvPr id="11" name="!!Body"/>
          <p:cNvSpPr txBox="1"/>
          <p:nvPr/>
        </p:nvSpPr>
        <p:spPr>
          <a:xfrm>
            <a:off x="685800" y="2103120"/>
            <a:ext cx="5760720" cy="3474720"/>
          </a:xfrm>
          <a:prstGeom prst="rect">
            <a:avLst/>
          </a:prstGeom>
          <a:noFill/>
        </p:spPr>
        <p:txBody>
          <a:bodyPr wrap="square" lIns="0" rIns="0" tIns="0" bIns="0" anchor="t">
            <a:noAutofit/>
          </a:bodyPr>
          <a:lstStyle/>
          <a:p>
            <a:pPr algn="l">
              <a:lnSpc>
                <a:spcPct val="112000"/>
              </a:lnSpc>
              <a:spcAft>
                <a:spcPts val="1400"/>
              </a:spcAft>
            </a:pPr>
            <a:r>
              <a:rPr sz="1800">
                <a:solidFill>
                  <a:srgbClr val="000000"/>
                </a:solidFill>
                <a:latin typeface="Montserrat Medium"/>
              </a:rPr>
              <a:t>Des marinades et épices authentiques, portées par M. Moustapha.</a:t>
            </a:r>
          </a:p>
          <a:p>
            <a:pPr algn="l">
              <a:lnSpc>
                <a:spcPct val="112000"/>
              </a:lnSpc>
              <a:spcAft>
                <a:spcPts val="1400"/>
              </a:spcAft>
            </a:pPr>
            <a:r>
              <a:rPr sz="1800">
                <a:solidFill>
                  <a:srgbClr val="000000"/>
                </a:solidFill>
                <a:latin typeface="Montserrat Medium"/>
              </a:rPr>
              <a:t>Point de départ : un stage au lancement de la marque.</a:t>
            </a:r>
          </a:p>
        </p:txBody>
      </p:sp>
      <p:sp>
        <p:nvSpPr>
          <p:cNvPr id="12"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A40C21"/>
                </a:solidFill>
                <a:latin typeface="Montserrat SemiBold"/>
              </a:rPr>
              <a:t>01 · Introduction</a:t>
            </a:r>
          </a:p>
        </p:txBody>
      </p:sp>
      <p:sp>
        <p:nvSpPr>
          <p:cNvPr id="13"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A40C21"/>
                </a:solidFill>
                <a:latin typeface="Montserrat SemiBold"/>
              </a:rPr>
              <a:t>05</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FF6EA"/>
          </a:solidFill>
          <a:ln>
            <a:noFill/>
          </a:ln>
        </p:spPr>
        <p:txBody>
          <a:bodyPr rtlCol="0" anchor="ctr"/>
          <a:lstStyle/>
          <a:p/>
        </p:txBody>
      </p:sp>
      <p:pic>
        <p:nvPicPr>
          <p:cNvPr id="3" name="!!PlateL" descr="motif_bord.png"/>
          <p:cNvPicPr>
            <a:picLocks noChangeAspect="1"/>
          </p:cNvPicPr>
          <p:nvPr/>
        </p:nvPicPr>
        <p:blipFill>
          <a:blip r:embed="rId2"/>
          <a:srcRect/>
          <a:stretch>
            <a:fillRect/>
          </a:stretch>
        </p:blipFill>
        <p:spPr>
          <a:xfrm>
            <a:off x="-1150000" y="-1540818"/>
            <a:ext cx="21336000" cy="12001500"/>
          </a:xfrm>
          <a:prstGeom prst="rect">
            <a:avLst/>
          </a:prstGeom>
        </p:spPr>
      </p:pic>
      <p:sp>
        <p:nvSpPr>
          <p:cNvPr id="4" name="!!Glow"/>
          <p:cNvSpPr/>
          <p:nvPr/>
        </p:nvSpPr>
        <p:spPr>
          <a:xfrm>
            <a:off x="-4059095" y="-2399629"/>
            <a:ext cx="9601200" cy="9601200"/>
          </a:xfrm>
          <a:prstGeom prst="ellipse">
            <a:avLst/>
          </a:prstGeom>
          <a:gradFill rotWithShape="1">
            <a:gsLst>
              <a:gs pos="0">
                <a:srgbClr val="FFFFFF">
                  <a:alpha val="85000"/>
                </a:srgbClr>
              </a:gs>
              <a:gs pos="100000">
                <a:srgbClr val="FFFFFF">
                  <a:alpha val="0"/>
                </a:srgbClr>
              </a:gs>
            </a:gsLst>
            <a:path path="circle">
              <a:fillToRect l="50000" t="50000" r="50000" b="50000"/>
            </a:path>
          </a:gradFill>
          <a:ln>
            <a:noFill/>
          </a:ln>
        </p:spPr>
        <p:txBody>
          <a:bodyPr rtlCol="0" anchor="ctr"/>
          <a:lstStyle/>
          <a:p/>
        </p:txBody>
      </p:sp>
      <p:sp>
        <p:nvSpPr>
          <p:cNvPr id="5" name="!!Glow2"/>
          <p:cNvSpPr/>
          <p:nvPr/>
        </p:nvSpPr>
        <p:spPr>
          <a:xfrm>
            <a:off x="8090075" y="1096609"/>
            <a:ext cx="6720840" cy="6720840"/>
          </a:xfrm>
          <a:prstGeom prst="ellipse">
            <a:avLst/>
          </a:prstGeom>
          <a:gradFill rotWithShape="1">
            <a:gsLst>
              <a:gs pos="0">
                <a:srgbClr val="F9A825">
                  <a:alpha val="14000"/>
                </a:srgbClr>
              </a:gs>
              <a:gs pos="100000">
                <a:srgbClr val="F9A825">
                  <a:alpha val="0"/>
                </a:srgbClr>
              </a:gs>
            </a:gsLst>
            <a:path path="circle">
              <a:fillToRect l="50000" t="50000" r="50000" b="50000"/>
            </a:path>
          </a:gradFill>
          <a:ln>
            <a:noFill/>
          </a:ln>
        </p:spPr>
        <p:txBody>
          <a:bodyPr rtlCol="0" anchor="ctr"/>
          <a:lstStyle/>
          <a:p/>
        </p:txBody>
      </p:sp>
      <p:sp>
        <p:nvSpPr>
          <p:cNvPr id="6" name="!!Ring"/>
          <p:cNvSpPr/>
          <p:nvPr/>
        </p:nvSpPr>
        <p:spPr>
          <a:xfrm>
            <a:off x="9221427" y="-4066408"/>
            <a:ext cx="7132320" cy="7132320"/>
          </a:xfrm>
          <a:prstGeom prst="ellipse">
            <a:avLst/>
          </a:prstGeom>
          <a:noFill/>
          <a:ln w="12700">
            <a:solidFill>
              <a:srgbClr val="F9A825">
                <a:alpha val="85000"/>
              </a:srgbClr>
            </a:solidFill>
          </a:ln>
        </p:spPr>
        <p:txBody>
          <a:bodyPr rtlCol="0" anchor="ctr"/>
          <a:lstStyle/>
          <a:p/>
        </p:txBody>
      </p:sp>
      <p:sp>
        <p:nvSpPr>
          <p:cNvPr id="7" name="!!Card0"/>
          <p:cNvSpPr/>
          <p:nvPr/>
        </p:nvSpPr>
        <p:spPr>
          <a:xfrm>
            <a:off x="685800" y="2240280"/>
            <a:ext cx="5166360" cy="1325880"/>
          </a:xfrm>
          <a:prstGeom prst="roundRect">
            <a:avLst>
              <a:gd name="adj" fmla="val 8000"/>
            </a:avLst>
          </a:prstGeom>
          <a:solidFill>
            <a:srgbClr val="FFFFFF"/>
          </a:solidFill>
          <a:ln w="9525">
            <a:solidFill>
              <a:srgbClr val="F9A825">
                <a:alpha val="55000"/>
              </a:srgbClr>
            </a:solidFill>
          </a:ln>
          <a:effectLst>
            <a:outerShdw blurRad="228600" dist="50800" dir="5400000" algn="t" rotWithShape="0">
              <a:srgbClr val="1A0507">
                <a:alpha val="18000"/>
              </a:srgbClr>
            </a:outerShdw>
          </a:effectLst>
        </p:spPr>
        <p:txBody>
          <a:bodyPr rtlCol="0" anchor="ctr"/>
          <a:lstStyle/>
          <a:p/>
        </p:txBody>
      </p:sp>
      <p:sp>
        <p:nvSpPr>
          <p:cNvPr id="8" name="!!Card1"/>
          <p:cNvSpPr/>
          <p:nvPr/>
        </p:nvSpPr>
        <p:spPr>
          <a:xfrm>
            <a:off x="6126480" y="2240280"/>
            <a:ext cx="5166360" cy="1325880"/>
          </a:xfrm>
          <a:prstGeom prst="roundRect">
            <a:avLst>
              <a:gd name="adj" fmla="val 8000"/>
            </a:avLst>
          </a:prstGeom>
          <a:solidFill>
            <a:srgbClr val="FFFFFF"/>
          </a:solidFill>
          <a:ln w="9525">
            <a:solidFill>
              <a:srgbClr val="F9A825">
                <a:alpha val="55000"/>
              </a:srgbClr>
            </a:solidFill>
          </a:ln>
          <a:effectLst>
            <a:outerShdw blurRad="228600" dist="50800" dir="5400000" algn="t" rotWithShape="0">
              <a:srgbClr val="1A0507">
                <a:alpha val="18000"/>
              </a:srgbClr>
            </a:outerShdw>
          </a:effectLst>
        </p:spPr>
        <p:txBody>
          <a:bodyPr rtlCol="0" anchor="ctr"/>
          <a:lstStyle/>
          <a:p/>
        </p:txBody>
      </p:sp>
      <p:sp>
        <p:nvSpPr>
          <p:cNvPr id="9" name="!!Card2"/>
          <p:cNvSpPr/>
          <p:nvPr/>
        </p:nvSpPr>
        <p:spPr>
          <a:xfrm>
            <a:off x="685800" y="3840480"/>
            <a:ext cx="5166360" cy="1325880"/>
          </a:xfrm>
          <a:prstGeom prst="roundRect">
            <a:avLst>
              <a:gd name="adj" fmla="val 8000"/>
            </a:avLst>
          </a:prstGeom>
          <a:solidFill>
            <a:srgbClr val="FFFFFF"/>
          </a:solidFill>
          <a:ln w="9525">
            <a:solidFill>
              <a:srgbClr val="F9A825">
                <a:alpha val="55000"/>
              </a:srgbClr>
            </a:solidFill>
          </a:ln>
          <a:effectLst>
            <a:outerShdw blurRad="228600" dist="50800" dir="5400000" algn="t" rotWithShape="0">
              <a:srgbClr val="1A0507">
                <a:alpha val="18000"/>
              </a:srgbClr>
            </a:outerShdw>
          </a:effectLst>
        </p:spPr>
        <p:txBody>
          <a:bodyPr rtlCol="0" anchor="ctr"/>
          <a:lstStyle/>
          <a:p/>
        </p:txBody>
      </p:sp>
      <p:sp>
        <p:nvSpPr>
          <p:cNvPr id="10" name="!!Card3"/>
          <p:cNvSpPr/>
          <p:nvPr/>
        </p:nvSpPr>
        <p:spPr>
          <a:xfrm>
            <a:off x="6126480" y="3840480"/>
            <a:ext cx="5166360" cy="1325880"/>
          </a:xfrm>
          <a:prstGeom prst="roundRect">
            <a:avLst>
              <a:gd name="adj" fmla="val 8000"/>
            </a:avLst>
          </a:prstGeom>
          <a:solidFill>
            <a:srgbClr val="FFFFFF"/>
          </a:solidFill>
          <a:ln w="9525">
            <a:solidFill>
              <a:srgbClr val="F9A825">
                <a:alpha val="55000"/>
              </a:srgbClr>
            </a:solidFill>
          </a:ln>
          <a:effectLst>
            <a:outerShdw blurRad="228600" dist="50800" dir="5400000" algn="t" rotWithShape="0">
              <a:srgbClr val="1A0507">
                <a:alpha val="18000"/>
              </a:srgbClr>
            </a:outerShdw>
          </a:effectLst>
        </p:spPr>
        <p:txBody>
          <a:bodyPr rtlCol="0" anchor="ctr"/>
          <a:lstStyle/>
          <a:p/>
        </p:txBody>
      </p:sp>
      <p:pic>
        <p:nvPicPr>
          <p:cNvPr id="11" name="!!Grain" descr="grain.png"/>
          <p:cNvPicPr>
            <a:picLocks noChangeAspect="1"/>
          </p:cNvPicPr>
          <p:nvPr/>
        </p:nvPicPr>
        <p:blipFill>
          <a:blip r:embed="rId3"/>
          <a:srcRect/>
          <a:stretch>
            <a:fillRect/>
          </a:stretch>
        </p:blipFill>
        <p:spPr>
          <a:xfrm>
            <a:off x="0" y="0"/>
            <a:ext cx="12192000" cy="6858000"/>
          </a:xfrm>
          <a:prstGeom prst="rect">
            <a:avLst/>
          </a:prstGeom>
        </p:spPr>
      </p:pic>
      <p:sp>
        <p:nvSpPr>
          <p:cNvPr id="12" name="!!Title"/>
          <p:cNvSpPr txBox="1"/>
          <p:nvPr/>
        </p:nvSpPr>
        <p:spPr>
          <a:xfrm>
            <a:off x="685800" y="914400"/>
            <a:ext cx="8229600" cy="731520"/>
          </a:xfrm>
          <a:prstGeom prst="rect">
            <a:avLst/>
          </a:prstGeom>
          <a:noFill/>
        </p:spPr>
        <p:txBody>
          <a:bodyPr wrap="square" lIns="0" rIns="0" tIns="0" bIns="0" anchor="t">
            <a:noAutofit/>
          </a:bodyPr>
          <a:lstStyle/>
          <a:p>
            <a:pPr algn="l">
              <a:lnSpc>
                <a:spcPct val="95000"/>
              </a:lnSpc>
            </a:pPr>
            <a:r>
              <a:rPr sz="4000">
                <a:solidFill>
                  <a:srgbClr val="7B1421"/>
                </a:solidFill>
                <a:latin typeface="Cream Heavy"/>
              </a:rPr>
              <a:t>Constats de l'existant</a:t>
            </a:r>
          </a:p>
        </p:txBody>
      </p:sp>
      <p:sp>
        <p:nvSpPr>
          <p:cNvPr id="13" name="!!CardT0"/>
          <p:cNvSpPr txBox="1"/>
          <p:nvPr/>
        </p:nvSpPr>
        <p:spPr>
          <a:xfrm>
            <a:off x="1005840" y="2240280"/>
            <a:ext cx="4663440" cy="1325880"/>
          </a:xfrm>
          <a:prstGeom prst="rect">
            <a:avLst/>
          </a:prstGeom>
          <a:noFill/>
        </p:spPr>
        <p:txBody>
          <a:bodyPr wrap="square" lIns="0" rIns="0" tIns="0" bIns="0" anchor="ctr">
            <a:noAutofit/>
          </a:bodyPr>
          <a:lstStyle/>
          <a:p>
            <a:pPr algn="l"/>
            <a:r>
              <a:rPr sz="2600">
                <a:solidFill>
                  <a:srgbClr val="F9A825"/>
                </a:solidFill>
                <a:latin typeface="Cream Heavy"/>
              </a:rPr>
              <a:t>01  </a:t>
            </a:r>
            <a:r>
              <a:rPr sz="1800">
                <a:solidFill>
                  <a:srgbClr val="000000"/>
                </a:solidFill>
                <a:latin typeface="Montserrat SemiBold"/>
              </a:rPr>
              <a:t>Une identité visuelle incomplète</a:t>
            </a:r>
          </a:p>
        </p:txBody>
      </p:sp>
      <p:sp>
        <p:nvSpPr>
          <p:cNvPr id="14" name="!!CardT1"/>
          <p:cNvSpPr txBox="1"/>
          <p:nvPr/>
        </p:nvSpPr>
        <p:spPr>
          <a:xfrm>
            <a:off x="6446520" y="2240280"/>
            <a:ext cx="4663440" cy="1325880"/>
          </a:xfrm>
          <a:prstGeom prst="rect">
            <a:avLst/>
          </a:prstGeom>
          <a:noFill/>
        </p:spPr>
        <p:txBody>
          <a:bodyPr wrap="square" lIns="0" rIns="0" tIns="0" bIns="0" anchor="ctr">
            <a:noAutofit/>
          </a:bodyPr>
          <a:lstStyle/>
          <a:p>
            <a:pPr algn="l"/>
            <a:r>
              <a:rPr sz="2600">
                <a:solidFill>
                  <a:srgbClr val="F9A825"/>
                </a:solidFill>
                <a:latin typeface="Cream Heavy"/>
              </a:rPr>
              <a:t>02  </a:t>
            </a:r>
            <a:r>
              <a:rPr sz="1800">
                <a:solidFill>
                  <a:srgbClr val="000000"/>
                </a:solidFill>
                <a:latin typeface="Montserrat SemiBold"/>
              </a:rPr>
              <a:t>Une visibilité restreinte</a:t>
            </a:r>
          </a:p>
        </p:txBody>
      </p:sp>
      <p:sp>
        <p:nvSpPr>
          <p:cNvPr id="15" name="!!CardT2"/>
          <p:cNvSpPr txBox="1"/>
          <p:nvPr/>
        </p:nvSpPr>
        <p:spPr>
          <a:xfrm>
            <a:off x="1005840" y="3840480"/>
            <a:ext cx="4663440" cy="1325880"/>
          </a:xfrm>
          <a:prstGeom prst="rect">
            <a:avLst/>
          </a:prstGeom>
          <a:noFill/>
        </p:spPr>
        <p:txBody>
          <a:bodyPr wrap="square" lIns="0" rIns="0" tIns="0" bIns="0" anchor="ctr">
            <a:noAutofit/>
          </a:bodyPr>
          <a:lstStyle/>
          <a:p>
            <a:pPr algn="l"/>
            <a:r>
              <a:rPr sz="2600">
                <a:solidFill>
                  <a:srgbClr val="F9A825"/>
                </a:solidFill>
                <a:latin typeface="Cream Heavy"/>
              </a:rPr>
              <a:t>03  </a:t>
            </a:r>
            <a:r>
              <a:rPr sz="1800">
                <a:solidFill>
                  <a:srgbClr val="000000"/>
                </a:solidFill>
                <a:latin typeface="Montserrat SemiBold"/>
              </a:rPr>
              <a:t>Aucune plateforme numérique</a:t>
            </a:r>
          </a:p>
        </p:txBody>
      </p:sp>
      <p:sp>
        <p:nvSpPr>
          <p:cNvPr id="16" name="!!CardT3"/>
          <p:cNvSpPr txBox="1"/>
          <p:nvPr/>
        </p:nvSpPr>
        <p:spPr>
          <a:xfrm>
            <a:off x="6446520" y="3840480"/>
            <a:ext cx="4663440" cy="1325880"/>
          </a:xfrm>
          <a:prstGeom prst="rect">
            <a:avLst/>
          </a:prstGeom>
          <a:noFill/>
        </p:spPr>
        <p:txBody>
          <a:bodyPr wrap="square" lIns="0" rIns="0" tIns="0" bIns="0" anchor="ctr">
            <a:noAutofit/>
          </a:bodyPr>
          <a:lstStyle/>
          <a:p>
            <a:pPr algn="l"/>
            <a:r>
              <a:rPr sz="2600">
                <a:solidFill>
                  <a:srgbClr val="F9A825"/>
                </a:solidFill>
                <a:latin typeface="Cream Heavy"/>
              </a:rPr>
              <a:t>04  </a:t>
            </a:r>
            <a:r>
              <a:rPr sz="1800">
                <a:solidFill>
                  <a:srgbClr val="000000"/>
                </a:solidFill>
                <a:latin typeface="Montserrat SemiBold"/>
              </a:rPr>
              <a:t>Un potentiel sous-exploité</a:t>
            </a:r>
          </a:p>
        </p:txBody>
      </p:sp>
      <p:sp>
        <p:nvSpPr>
          <p:cNvPr id="17"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A40C21"/>
                </a:solidFill>
                <a:latin typeface="Montserrat SemiBold"/>
              </a:rPr>
              <a:t>01 · Analyse de l’existant</a:t>
            </a:r>
          </a:p>
        </p:txBody>
      </p:sp>
      <p:sp>
        <p:nvSpPr>
          <p:cNvPr id="18"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A40C21"/>
                </a:solidFill>
                <a:latin typeface="Montserrat SemiBold"/>
              </a:rPr>
              <a:t>06</a:t>
            </a:r>
          </a:p>
        </p:txBody>
      </p:sp>
      <p:pic>
        <p:nvPicPr>
          <p:cNvPr id="19" name="!!Logo" descr="Logo Marin'Or Ivoire"/>
          <p:cNvPicPr>
            <a:picLocks noChangeAspect="1"/>
          </p:cNvPicPr>
          <p:nvPr/>
        </p:nvPicPr>
        <p:blipFill>
          <a:blip r:embed="rId4"/>
          <a:stretch>
            <a:fillRect/>
          </a:stretch>
        </p:blipFill>
        <p:spPr>
          <a:xfrm>
            <a:off x="10546080" y="311488"/>
            <a:ext cx="960120" cy="50299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2A070D"/>
          </a:solidFill>
          <a:ln>
            <a:noFill/>
          </a:ln>
        </p:spPr>
        <p:txBody>
          <a:bodyPr rtlCol="0" anchor="ctr"/>
          <a:lstStyle/>
          <a:p/>
        </p:txBody>
      </p:sp>
      <p:pic>
        <p:nvPicPr>
          <p:cNvPr id="3" name="!!PlateD" descr="motif_creme.png"/>
          <p:cNvPicPr>
            <a:picLocks noChangeAspect="1"/>
          </p:cNvPicPr>
          <p:nvPr/>
        </p:nvPicPr>
        <p:blipFill>
          <a:blip r:embed="rId2"/>
          <a:srcRect t="0" b="0"/>
          <a:stretch>
            <a:fillRect/>
          </a:stretch>
        </p:blipFill>
        <p:spPr>
          <a:xfrm>
            <a:off x="-3036880" y="-2697214"/>
            <a:ext cx="24749760" cy="13921739"/>
          </a:xfrm>
          <a:prstGeom prst="rect">
            <a:avLst/>
          </a:prstGeom>
        </p:spPr>
      </p:pic>
      <p:sp>
        <p:nvSpPr>
          <p:cNvPr id="4" name="!!Glow"/>
          <p:cNvSpPr/>
          <p:nvPr/>
        </p:nvSpPr>
        <p:spPr>
          <a:xfrm>
            <a:off x="-3329236" y="-3040372"/>
            <a:ext cx="9601200" cy="9601200"/>
          </a:xfrm>
          <a:prstGeom prst="ellipse">
            <a:avLst/>
          </a:prstGeom>
          <a:gradFill rotWithShape="1">
            <a:gsLst>
              <a:gs pos="0">
                <a:srgbClr val="B3222F">
                  <a:alpha val="55000"/>
                </a:srgbClr>
              </a:gs>
              <a:gs pos="45000">
                <a:srgbClr val="7B1421">
                  <a:alpha val="22000"/>
                </a:srgbClr>
              </a:gs>
              <a:gs pos="100000">
                <a:srgbClr val="7B1421">
                  <a:alpha val="0"/>
                </a:srgbClr>
              </a:gs>
            </a:gsLst>
            <a:path path="circle">
              <a:fillToRect l="50000" t="50000" r="50000" b="50000"/>
            </a:path>
          </a:gradFill>
          <a:ln>
            <a:noFill/>
          </a:ln>
        </p:spPr>
        <p:txBody>
          <a:bodyPr rtlCol="0" anchor="ctr"/>
          <a:lstStyle/>
          <a:p/>
        </p:txBody>
      </p:sp>
      <p:sp>
        <p:nvSpPr>
          <p:cNvPr id="5" name="!!Glow2"/>
          <p:cNvSpPr/>
          <p:nvPr/>
        </p:nvSpPr>
        <p:spPr>
          <a:xfrm>
            <a:off x="7360216" y="1737352"/>
            <a:ext cx="6720840" cy="6720840"/>
          </a:xfrm>
          <a:prstGeom prst="ellipse">
            <a:avLst/>
          </a:prstGeom>
          <a:gradFill rotWithShape="1">
            <a:gsLst>
              <a:gs pos="0">
                <a:srgbClr val="F9A825">
                  <a:alpha val="16000"/>
                </a:srgbClr>
              </a:gs>
              <a:gs pos="100000">
                <a:srgbClr val="F9A825">
                  <a:alpha val="0"/>
                </a:srgbClr>
              </a:gs>
            </a:gsLst>
            <a:path path="circle">
              <a:fillToRect l="50000" t="50000" r="50000" b="50000"/>
            </a:path>
          </a:gradFill>
          <a:ln>
            <a:noFill/>
          </a:ln>
        </p:spPr>
        <p:txBody>
          <a:bodyPr rtlCol="0" anchor="ctr"/>
          <a:lstStyle/>
          <a:p/>
        </p:txBody>
      </p:sp>
      <p:pic>
        <p:nvPicPr>
          <p:cNvPr id="6" name="!!Vignette" descr="vignette.png"/>
          <p:cNvPicPr>
            <a:picLocks noChangeAspect="1"/>
          </p:cNvPicPr>
          <p:nvPr/>
        </p:nvPicPr>
        <p:blipFill>
          <a:blip r:embed="rId3"/>
          <a:srcRect/>
          <a:stretch>
            <a:fillRect/>
          </a:stretch>
        </p:blipFill>
        <p:spPr>
          <a:xfrm>
            <a:off x="0" y="0"/>
            <a:ext cx="12192000" cy="6858000"/>
          </a:xfrm>
          <a:prstGeom prst="rect">
            <a:avLst/>
          </a:prstGeom>
        </p:spPr>
      </p:pic>
      <p:sp>
        <p:nvSpPr>
          <p:cNvPr id="7" name="!!Ring"/>
          <p:cNvSpPr/>
          <p:nvPr/>
        </p:nvSpPr>
        <p:spPr>
          <a:xfrm>
            <a:off x="3535680" y="777240"/>
            <a:ext cx="5120640" cy="5120640"/>
          </a:xfrm>
          <a:prstGeom prst="ellipse">
            <a:avLst/>
          </a:prstGeom>
          <a:noFill/>
          <a:ln w="12700">
            <a:solidFill>
              <a:srgbClr val="F9A825">
                <a:alpha val="70000"/>
              </a:srgbClr>
            </a:solidFill>
          </a:ln>
        </p:spPr>
        <p:txBody>
          <a:bodyPr rtlCol="0" anchor="ctr"/>
          <a:lstStyle/>
          <a:p/>
        </p:txBody>
      </p:sp>
      <p:pic>
        <p:nvPicPr>
          <p:cNvPr id="8" name="!!Grain" descr="grain.png"/>
          <p:cNvPicPr>
            <a:picLocks noChangeAspect="1"/>
          </p:cNvPicPr>
          <p:nvPr/>
        </p:nvPicPr>
        <p:blipFill>
          <a:blip r:embed="rId4"/>
          <a:srcRect/>
          <a:stretch>
            <a:fillRect/>
          </a:stretch>
        </p:blipFill>
        <p:spPr>
          <a:xfrm>
            <a:off x="0" y="0"/>
            <a:ext cx="12192000" cy="6858000"/>
          </a:xfrm>
          <a:prstGeom prst="rect">
            <a:avLst/>
          </a:prstGeom>
        </p:spPr>
      </p:pic>
      <p:sp>
        <p:nvSpPr>
          <p:cNvPr id="9" name="!!Title"/>
          <p:cNvSpPr txBox="1"/>
          <p:nvPr/>
        </p:nvSpPr>
        <p:spPr>
          <a:xfrm>
            <a:off x="914400" y="1417320"/>
            <a:ext cx="10363200" cy="3840480"/>
          </a:xfrm>
          <a:prstGeom prst="rect">
            <a:avLst/>
          </a:prstGeom>
          <a:noFill/>
        </p:spPr>
        <p:txBody>
          <a:bodyPr wrap="square" lIns="0" rIns="0" tIns="0" bIns="0" anchor="ctr">
            <a:noAutofit/>
          </a:bodyPr>
          <a:lstStyle/>
          <a:p>
            <a:pPr algn="ctr">
              <a:lnSpc>
                <a:spcPct val="105000"/>
              </a:lnSpc>
            </a:pPr>
            <a:r>
              <a:rPr sz="2900">
                <a:gradFill rotWithShape="1">
                  <a:gsLst>
                    <a:gs pos="0">
                      <a:srgbClr val="FFF8EE"/>
                    </a:gs>
                    <a:gs pos="55000">
                      <a:srgbClr val="FFECD1"/>
                    </a:gs>
                    <a:gs pos="100000">
                      <a:srgbClr val="F6C77A"/>
                    </a:gs>
                  </a:gsLst>
                  <a:lin ang="5400000" scaled="0"/>
                </a:gradFill>
                <a:latin typeface="Cream Heavy"/>
              </a:rPr>
              <a:t>Comment concevoir et réaliser des supports de communication efficaces, permettant à Marin'Or Ivoire de construire une </a:t>
            </a:r>
            <a:r>
              <a:rPr sz="2900">
                <a:solidFill>
                  <a:srgbClr val="F9A825"/>
                </a:solidFill>
                <a:latin typeface="Cream Heavy"/>
              </a:rPr>
              <a:t>identité de marque forte et durable</a:t>
            </a:r>
            <a:r>
              <a:rPr sz="2900">
                <a:gradFill rotWithShape="1">
                  <a:gsLst>
                    <a:gs pos="0">
                      <a:srgbClr val="FFF8EE"/>
                    </a:gs>
                    <a:gs pos="55000">
                      <a:srgbClr val="FFECD1"/>
                    </a:gs>
                    <a:gs pos="100000">
                      <a:srgbClr val="F6C77A"/>
                    </a:gs>
                  </a:gsLst>
                  <a:lin ang="5400000" scaled="0"/>
                </a:gradFill>
                <a:latin typeface="Cream Heavy"/>
              </a:rPr>
              <a:t> dans le contexte concurrentiel ivoirien ?</a:t>
            </a:r>
          </a:p>
        </p:txBody>
      </p:sp>
      <p:sp>
        <p:nvSpPr>
          <p:cNvPr id="10"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F9A825"/>
                </a:solidFill>
                <a:latin typeface="Montserrat SemiBold"/>
              </a:rPr>
              <a:t>Problématique · question centrale</a:t>
            </a:r>
          </a:p>
        </p:txBody>
      </p:sp>
      <p:sp>
        <p:nvSpPr>
          <p:cNvPr id="11"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F9A825"/>
                </a:solidFill>
                <a:latin typeface="Montserrat SemiBold"/>
              </a:rPr>
              <a:t>07</a:t>
            </a:r>
          </a:p>
        </p:txBody>
      </p:sp>
      <p:pic>
        <p:nvPicPr>
          <p:cNvPr id="12" name="!!Logo" descr="Logo Marin'Or Ivoire"/>
          <p:cNvPicPr>
            <a:picLocks noChangeAspect="1"/>
          </p:cNvPicPr>
          <p:nvPr/>
        </p:nvPicPr>
        <p:blipFill>
          <a:blip r:embed="rId5"/>
          <a:stretch>
            <a:fillRect/>
          </a:stretch>
        </p:blipFill>
        <p:spPr>
          <a:xfrm>
            <a:off x="10546080" y="310896"/>
            <a:ext cx="960120" cy="504176"/>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2A070D"/>
          </a:solidFill>
          <a:ln>
            <a:noFill/>
          </a:ln>
        </p:spPr>
        <p:txBody>
          <a:bodyPr rtlCol="0" anchor="ctr"/>
          <a:lstStyle/>
          <a:p/>
        </p:txBody>
      </p:sp>
      <p:pic>
        <p:nvPicPr>
          <p:cNvPr id="3" name="!!PlateD" descr="motif_creme.png"/>
          <p:cNvPicPr>
            <a:picLocks noChangeAspect="1"/>
          </p:cNvPicPr>
          <p:nvPr/>
        </p:nvPicPr>
        <p:blipFill>
          <a:blip r:embed="rId2"/>
          <a:srcRect/>
          <a:stretch>
            <a:fillRect/>
          </a:stretch>
        </p:blipFill>
        <p:spPr>
          <a:xfrm>
            <a:off x="-1510000" y="-2021095"/>
            <a:ext cx="21336000" cy="12001500"/>
          </a:xfrm>
          <a:prstGeom prst="rect">
            <a:avLst/>
          </a:prstGeom>
        </p:spPr>
      </p:pic>
      <p:sp>
        <p:nvSpPr>
          <p:cNvPr id="4" name="!!Glow"/>
          <p:cNvSpPr/>
          <p:nvPr/>
        </p:nvSpPr>
        <p:spPr>
          <a:xfrm>
            <a:off x="-1882625" y="-3431642"/>
            <a:ext cx="9601200" cy="9601200"/>
          </a:xfrm>
          <a:prstGeom prst="ellipse">
            <a:avLst/>
          </a:prstGeom>
          <a:gradFill rotWithShape="1">
            <a:gsLst>
              <a:gs pos="0">
                <a:srgbClr val="B3222F">
                  <a:alpha val="55000"/>
                </a:srgbClr>
              </a:gs>
              <a:gs pos="45000">
                <a:srgbClr val="7B1421">
                  <a:alpha val="22000"/>
                </a:srgbClr>
              </a:gs>
              <a:gs pos="100000">
                <a:srgbClr val="7B1421">
                  <a:alpha val="0"/>
                </a:srgbClr>
              </a:gs>
            </a:gsLst>
            <a:path path="circle">
              <a:fillToRect l="50000" t="50000" r="50000" b="50000"/>
            </a:path>
          </a:gradFill>
          <a:ln>
            <a:noFill/>
          </a:ln>
        </p:spPr>
        <p:txBody>
          <a:bodyPr rtlCol="0" anchor="ctr"/>
          <a:lstStyle/>
          <a:p/>
        </p:txBody>
      </p:sp>
      <p:sp>
        <p:nvSpPr>
          <p:cNvPr id="5" name="!!Glow2"/>
          <p:cNvSpPr/>
          <p:nvPr/>
        </p:nvSpPr>
        <p:spPr>
          <a:xfrm>
            <a:off x="5913605" y="2128622"/>
            <a:ext cx="6720840" cy="6720840"/>
          </a:xfrm>
          <a:prstGeom prst="ellipse">
            <a:avLst/>
          </a:prstGeom>
          <a:gradFill rotWithShape="1">
            <a:gsLst>
              <a:gs pos="0">
                <a:srgbClr val="F9A825">
                  <a:alpha val="16000"/>
                </a:srgbClr>
              </a:gs>
              <a:gs pos="100000">
                <a:srgbClr val="F9A825">
                  <a:alpha val="0"/>
                </a:srgbClr>
              </a:gs>
            </a:gsLst>
            <a:path path="circle">
              <a:fillToRect l="50000" t="50000" r="50000" b="50000"/>
            </a:path>
          </a:gradFill>
          <a:ln>
            <a:noFill/>
          </a:ln>
        </p:spPr>
        <p:txBody>
          <a:bodyPr rtlCol="0" anchor="ctr"/>
          <a:lstStyle/>
          <a:p/>
        </p:txBody>
      </p:sp>
      <p:pic>
        <p:nvPicPr>
          <p:cNvPr id="6" name="!!Vignette" descr="vignette.png"/>
          <p:cNvPicPr>
            <a:picLocks noChangeAspect="1"/>
          </p:cNvPicPr>
          <p:nvPr/>
        </p:nvPicPr>
        <p:blipFill>
          <a:blip r:embed="rId3"/>
          <a:srcRect/>
          <a:stretch>
            <a:fillRect/>
          </a:stretch>
        </p:blipFill>
        <p:spPr>
          <a:xfrm>
            <a:off x="0" y="0"/>
            <a:ext cx="12192000" cy="6858000"/>
          </a:xfrm>
          <a:prstGeom prst="rect">
            <a:avLst/>
          </a:prstGeom>
        </p:spPr>
      </p:pic>
      <p:sp>
        <p:nvSpPr>
          <p:cNvPr id="7" name="!!Ring"/>
          <p:cNvSpPr/>
          <p:nvPr/>
        </p:nvSpPr>
        <p:spPr>
          <a:xfrm>
            <a:off x="9577540" y="-3719166"/>
            <a:ext cx="7132320" cy="7132320"/>
          </a:xfrm>
          <a:prstGeom prst="ellipse">
            <a:avLst/>
          </a:prstGeom>
          <a:noFill/>
          <a:ln w="12700">
            <a:solidFill>
              <a:srgbClr val="F9A825">
                <a:alpha val="70000"/>
              </a:srgbClr>
            </a:solidFill>
          </a:ln>
        </p:spPr>
        <p:txBody>
          <a:bodyPr rtlCol="0" anchor="ctr"/>
          <a:lstStyle/>
          <a:p/>
        </p:txBody>
      </p:sp>
      <p:pic>
        <p:nvPicPr>
          <p:cNvPr id="8" name="!!Grain" descr="grain.png"/>
          <p:cNvPicPr>
            <a:picLocks noChangeAspect="1"/>
          </p:cNvPicPr>
          <p:nvPr/>
        </p:nvPicPr>
        <p:blipFill>
          <a:blip r:embed="rId4"/>
          <a:srcRect/>
          <a:stretch>
            <a:fillRect/>
          </a:stretch>
        </p:blipFill>
        <p:spPr>
          <a:xfrm>
            <a:off x="0" y="0"/>
            <a:ext cx="12192000" cy="6858000"/>
          </a:xfrm>
          <a:prstGeom prst="rect">
            <a:avLst/>
          </a:prstGeom>
        </p:spPr>
      </p:pic>
      <p:sp>
        <p:nvSpPr>
          <p:cNvPr id="9" name="!!Title"/>
          <p:cNvSpPr txBox="1"/>
          <p:nvPr/>
        </p:nvSpPr>
        <p:spPr>
          <a:xfrm>
            <a:off x="685800" y="914400"/>
            <a:ext cx="7315200" cy="731520"/>
          </a:xfrm>
          <a:prstGeom prst="rect">
            <a:avLst/>
          </a:prstGeom>
          <a:noFill/>
        </p:spPr>
        <p:txBody>
          <a:bodyPr wrap="square" lIns="0" rIns="0" tIns="0" bIns="0" anchor="t">
            <a:noAutofit/>
          </a:bodyPr>
          <a:lstStyle/>
          <a:p>
            <a:pPr algn="l">
              <a:lnSpc>
                <a:spcPct val="95000"/>
              </a:lnSpc>
            </a:pPr>
            <a:r>
              <a:rPr sz="4000">
                <a:gradFill rotWithShape="1">
                  <a:gsLst>
                    <a:gs pos="0">
                      <a:srgbClr val="FFF8EE"/>
                    </a:gs>
                    <a:gs pos="55000">
                      <a:srgbClr val="FFECD1"/>
                    </a:gs>
                    <a:gs pos="100000">
                      <a:srgbClr val="F6C77A"/>
                    </a:gs>
                  </a:gsLst>
                  <a:lin ang="5400000" scaled="0"/>
                </a:gradFill>
                <a:latin typeface="Cream Heavy"/>
              </a:rPr>
              <a:t>Hypothèse</a:t>
            </a:r>
          </a:p>
        </p:txBody>
      </p:sp>
      <p:sp>
        <p:nvSpPr>
          <p:cNvPr id="10" name="!!Body"/>
          <p:cNvSpPr txBox="1"/>
          <p:nvPr/>
        </p:nvSpPr>
        <p:spPr>
          <a:xfrm>
            <a:off x="685800" y="2057400"/>
            <a:ext cx="8778240" cy="1737360"/>
          </a:xfrm>
          <a:prstGeom prst="rect">
            <a:avLst/>
          </a:prstGeom>
          <a:noFill/>
        </p:spPr>
        <p:txBody>
          <a:bodyPr wrap="square" lIns="0" rIns="0" tIns="0" bIns="0" anchor="t">
            <a:noAutofit/>
          </a:bodyPr>
          <a:lstStyle/>
          <a:p>
            <a:pPr algn="l">
              <a:lnSpc>
                <a:spcPct val="112000"/>
              </a:lnSpc>
              <a:spcAft>
                <a:spcPts val="800"/>
              </a:spcAft>
            </a:pPr>
            <a:r>
              <a:rPr sz="2100">
                <a:solidFill>
                  <a:srgbClr val="FFECD1"/>
                </a:solidFill>
                <a:latin typeface="Montserrat Medium"/>
              </a:rPr>
              <a:t>Une stratégie combinant supports imprimés, contenus audiovisuels et présence numérique permettrait à la marque de gagner en visibilité et en crédibilité.</a:t>
            </a:r>
          </a:p>
        </p:txBody>
      </p:sp>
      <p:sp>
        <p:nvSpPr>
          <p:cNvPr id="11" name="!!Pill0"/>
          <p:cNvSpPr/>
          <p:nvPr/>
        </p:nvSpPr>
        <p:spPr>
          <a:xfrm>
            <a:off x="685800" y="4343400"/>
            <a:ext cx="2240280" cy="566928"/>
          </a:xfrm>
          <a:prstGeom prst="roundRect">
            <a:avLst>
              <a:gd name="adj" fmla="val 50000"/>
            </a:avLst>
          </a:prstGeom>
          <a:solidFill>
            <a:srgbClr val="7B1421">
              <a:alpha val="55000"/>
            </a:srgbClr>
          </a:solidFill>
          <a:ln w="12700">
            <a:solidFill>
              <a:srgbClr val="F9A825">
                <a:alpha val="30000"/>
              </a:srgbClr>
            </a:solidFill>
          </a:ln>
        </p:spPr>
        <p:txBody>
          <a:bodyPr rtlCol="0" anchor="ctr"/>
          <a:lstStyle/>
          <a:p/>
        </p:txBody>
      </p:sp>
      <p:sp>
        <p:nvSpPr>
          <p:cNvPr id="12" name="!!PillT0"/>
          <p:cNvSpPr txBox="1"/>
          <p:nvPr/>
        </p:nvSpPr>
        <p:spPr>
          <a:xfrm>
            <a:off x="685800" y="4343400"/>
            <a:ext cx="2240280" cy="566928"/>
          </a:xfrm>
          <a:prstGeom prst="rect">
            <a:avLst/>
          </a:prstGeom>
          <a:noFill/>
        </p:spPr>
        <p:txBody>
          <a:bodyPr wrap="square" lIns="0" rIns="0" tIns="0" bIns="0" anchor="ctr">
            <a:noAutofit/>
          </a:bodyPr>
          <a:lstStyle/>
          <a:p>
            <a:pPr algn="ctr"/>
            <a:r>
              <a:rPr sz="1500" spc="100">
                <a:solidFill>
                  <a:srgbClr val="FFECD1"/>
                </a:solidFill>
                <a:latin typeface="Montserrat SemiBold"/>
              </a:rPr>
              <a:t>Imprimé</a:t>
            </a:r>
          </a:p>
        </p:txBody>
      </p:sp>
      <p:sp>
        <p:nvSpPr>
          <p:cNvPr id="13" name="!!Pill1"/>
          <p:cNvSpPr/>
          <p:nvPr/>
        </p:nvSpPr>
        <p:spPr>
          <a:xfrm>
            <a:off x="3200400" y="4343400"/>
            <a:ext cx="2240280" cy="566928"/>
          </a:xfrm>
          <a:prstGeom prst="roundRect">
            <a:avLst>
              <a:gd name="adj" fmla="val 50000"/>
            </a:avLst>
          </a:prstGeom>
          <a:solidFill>
            <a:srgbClr val="7B1421">
              <a:alpha val="55000"/>
            </a:srgbClr>
          </a:solidFill>
          <a:ln w="12700">
            <a:solidFill>
              <a:srgbClr val="F9A825">
                <a:alpha val="30000"/>
              </a:srgbClr>
            </a:solidFill>
          </a:ln>
        </p:spPr>
        <p:txBody>
          <a:bodyPr rtlCol="0" anchor="ctr"/>
          <a:lstStyle/>
          <a:p/>
        </p:txBody>
      </p:sp>
      <p:sp>
        <p:nvSpPr>
          <p:cNvPr id="14" name="!!PillT1"/>
          <p:cNvSpPr txBox="1"/>
          <p:nvPr/>
        </p:nvSpPr>
        <p:spPr>
          <a:xfrm>
            <a:off x="3200400" y="4343400"/>
            <a:ext cx="2240280" cy="566928"/>
          </a:xfrm>
          <a:prstGeom prst="rect">
            <a:avLst/>
          </a:prstGeom>
          <a:noFill/>
        </p:spPr>
        <p:txBody>
          <a:bodyPr wrap="square" lIns="0" rIns="0" tIns="0" bIns="0" anchor="ctr">
            <a:noAutofit/>
          </a:bodyPr>
          <a:lstStyle/>
          <a:p>
            <a:pPr algn="ctr"/>
            <a:r>
              <a:rPr sz="1500" spc="100">
                <a:solidFill>
                  <a:srgbClr val="FFECD1"/>
                </a:solidFill>
                <a:latin typeface="Montserrat SemiBold"/>
              </a:rPr>
              <a:t>Audiovisuel</a:t>
            </a:r>
          </a:p>
        </p:txBody>
      </p:sp>
      <p:sp>
        <p:nvSpPr>
          <p:cNvPr id="15" name="!!Pill2"/>
          <p:cNvSpPr/>
          <p:nvPr/>
        </p:nvSpPr>
        <p:spPr>
          <a:xfrm>
            <a:off x="5715000" y="4343400"/>
            <a:ext cx="2240280" cy="566928"/>
          </a:xfrm>
          <a:prstGeom prst="roundRect">
            <a:avLst>
              <a:gd name="adj" fmla="val 50000"/>
            </a:avLst>
          </a:prstGeom>
          <a:solidFill>
            <a:srgbClr val="7B1421">
              <a:alpha val="55000"/>
            </a:srgbClr>
          </a:solidFill>
          <a:ln w="12700">
            <a:solidFill>
              <a:srgbClr val="F9A825">
                <a:alpha val="30000"/>
              </a:srgbClr>
            </a:solidFill>
          </a:ln>
        </p:spPr>
        <p:txBody>
          <a:bodyPr rtlCol="0" anchor="ctr"/>
          <a:lstStyle/>
          <a:p/>
        </p:txBody>
      </p:sp>
      <p:sp>
        <p:nvSpPr>
          <p:cNvPr id="16" name="!!PillT2"/>
          <p:cNvSpPr txBox="1"/>
          <p:nvPr/>
        </p:nvSpPr>
        <p:spPr>
          <a:xfrm>
            <a:off x="5715000" y="4343400"/>
            <a:ext cx="2240280" cy="566928"/>
          </a:xfrm>
          <a:prstGeom prst="rect">
            <a:avLst/>
          </a:prstGeom>
          <a:noFill/>
        </p:spPr>
        <p:txBody>
          <a:bodyPr wrap="square" lIns="0" rIns="0" tIns="0" bIns="0" anchor="ctr">
            <a:noAutofit/>
          </a:bodyPr>
          <a:lstStyle/>
          <a:p>
            <a:pPr algn="ctr"/>
            <a:r>
              <a:rPr sz="1500" spc="100">
                <a:solidFill>
                  <a:srgbClr val="FFECD1"/>
                </a:solidFill>
                <a:latin typeface="Montserrat SemiBold"/>
              </a:rPr>
              <a:t>Numérique</a:t>
            </a:r>
          </a:p>
        </p:txBody>
      </p:sp>
      <p:sp>
        <p:nvSpPr>
          <p:cNvPr id="17"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F9A825"/>
                </a:solidFill>
                <a:latin typeface="Montserrat SemiBold"/>
              </a:rPr>
              <a:t>Problématique · hypothèse</a:t>
            </a:r>
          </a:p>
        </p:txBody>
      </p:sp>
      <p:sp>
        <p:nvSpPr>
          <p:cNvPr id="18"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F9A825"/>
                </a:solidFill>
                <a:latin typeface="Montserrat SemiBold"/>
              </a:rPr>
              <a:t>08</a:t>
            </a:r>
          </a:p>
        </p:txBody>
      </p:sp>
      <p:pic>
        <p:nvPicPr>
          <p:cNvPr id="19" name="!!Logo" descr="Logo Marin'Or Ivoire"/>
          <p:cNvPicPr>
            <a:picLocks noChangeAspect="1"/>
          </p:cNvPicPr>
          <p:nvPr/>
        </p:nvPicPr>
        <p:blipFill>
          <a:blip r:embed="rId5"/>
          <a:stretch>
            <a:fillRect/>
          </a:stretch>
        </p:blipFill>
        <p:spPr>
          <a:xfrm>
            <a:off x="10546080" y="310896"/>
            <a:ext cx="960120" cy="504176"/>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FF6EA"/>
          </a:solidFill>
          <a:ln>
            <a:noFill/>
          </a:ln>
        </p:spPr>
        <p:txBody>
          <a:bodyPr rtlCol="0" anchor="ctr"/>
          <a:lstStyle/>
          <a:p/>
        </p:txBody>
      </p:sp>
      <p:pic>
        <p:nvPicPr>
          <p:cNvPr id="3" name="!!PlateL" descr="motif_bord.png"/>
          <p:cNvPicPr>
            <a:picLocks noChangeAspect="1"/>
          </p:cNvPicPr>
          <p:nvPr/>
        </p:nvPicPr>
        <p:blipFill>
          <a:blip r:embed="rId2"/>
          <a:srcRect/>
          <a:stretch>
            <a:fillRect/>
          </a:stretch>
        </p:blipFill>
        <p:spPr>
          <a:xfrm>
            <a:off x="-1690000" y="-2362172"/>
            <a:ext cx="21336000" cy="12001500"/>
          </a:xfrm>
          <a:prstGeom prst="rect">
            <a:avLst/>
          </a:prstGeom>
        </p:spPr>
      </p:pic>
      <p:sp>
        <p:nvSpPr>
          <p:cNvPr id="4" name="!!Glow"/>
          <p:cNvSpPr/>
          <p:nvPr/>
        </p:nvSpPr>
        <p:spPr>
          <a:xfrm>
            <a:off x="-145939" y="-3458033"/>
            <a:ext cx="9601200" cy="9601200"/>
          </a:xfrm>
          <a:prstGeom prst="ellipse">
            <a:avLst/>
          </a:prstGeom>
          <a:gradFill rotWithShape="1">
            <a:gsLst>
              <a:gs pos="0">
                <a:srgbClr val="FFFFFF">
                  <a:alpha val="85000"/>
                </a:srgbClr>
              </a:gs>
              <a:gs pos="100000">
                <a:srgbClr val="FFFFFF">
                  <a:alpha val="0"/>
                </a:srgbClr>
              </a:gs>
            </a:gsLst>
            <a:path path="circle">
              <a:fillToRect l="50000" t="50000" r="50000" b="50000"/>
            </a:path>
          </a:gradFill>
          <a:ln>
            <a:noFill/>
          </a:ln>
        </p:spPr>
        <p:txBody>
          <a:bodyPr rtlCol="0" anchor="ctr"/>
          <a:lstStyle/>
          <a:p/>
        </p:txBody>
      </p:sp>
      <p:sp>
        <p:nvSpPr>
          <p:cNvPr id="5" name="!!Glow2"/>
          <p:cNvSpPr/>
          <p:nvPr/>
        </p:nvSpPr>
        <p:spPr>
          <a:xfrm>
            <a:off x="4176919" y="2155013"/>
            <a:ext cx="6720840" cy="6720840"/>
          </a:xfrm>
          <a:prstGeom prst="ellipse">
            <a:avLst/>
          </a:prstGeom>
          <a:gradFill rotWithShape="1">
            <a:gsLst>
              <a:gs pos="0">
                <a:srgbClr val="F9A825">
                  <a:alpha val="14000"/>
                </a:srgbClr>
              </a:gs>
              <a:gs pos="100000">
                <a:srgbClr val="F9A825">
                  <a:alpha val="0"/>
                </a:srgbClr>
              </a:gs>
            </a:gsLst>
            <a:path path="circle">
              <a:fillToRect l="50000" t="50000" r="50000" b="50000"/>
            </a:path>
          </a:gradFill>
          <a:ln>
            <a:noFill/>
          </a:ln>
        </p:spPr>
        <p:txBody>
          <a:bodyPr rtlCol="0" anchor="ctr"/>
          <a:lstStyle/>
          <a:p/>
        </p:txBody>
      </p:sp>
      <p:sp>
        <p:nvSpPr>
          <p:cNvPr id="6" name="!!Ring"/>
          <p:cNvSpPr/>
          <p:nvPr/>
        </p:nvSpPr>
        <p:spPr>
          <a:xfrm>
            <a:off x="9794245" y="-3657638"/>
            <a:ext cx="7132320" cy="7132320"/>
          </a:xfrm>
          <a:prstGeom prst="ellipse">
            <a:avLst/>
          </a:prstGeom>
          <a:noFill/>
          <a:ln w="12700">
            <a:solidFill>
              <a:srgbClr val="F9A825">
                <a:alpha val="85000"/>
              </a:srgbClr>
            </a:solidFill>
          </a:ln>
        </p:spPr>
        <p:txBody>
          <a:bodyPr rtlCol="0" anchor="ctr"/>
          <a:lstStyle/>
          <a:p/>
        </p:txBody>
      </p:sp>
      <p:sp>
        <p:nvSpPr>
          <p:cNvPr id="7" name="!!Card0"/>
          <p:cNvSpPr/>
          <p:nvPr/>
        </p:nvSpPr>
        <p:spPr>
          <a:xfrm>
            <a:off x="685800" y="2148840"/>
            <a:ext cx="3383280" cy="2148840"/>
          </a:xfrm>
          <a:prstGeom prst="roundRect">
            <a:avLst>
              <a:gd name="adj" fmla="val 8000"/>
            </a:avLst>
          </a:prstGeom>
          <a:solidFill>
            <a:srgbClr val="FFFFFF"/>
          </a:solidFill>
          <a:ln w="9525">
            <a:solidFill>
              <a:srgbClr val="F9A825">
                <a:alpha val="55000"/>
              </a:srgbClr>
            </a:solidFill>
          </a:ln>
          <a:effectLst>
            <a:outerShdw blurRad="228600" dist="50800" dir="5400000" algn="t" rotWithShape="0">
              <a:srgbClr val="1A0507">
                <a:alpha val="18000"/>
              </a:srgbClr>
            </a:outerShdw>
          </a:effectLst>
        </p:spPr>
        <p:txBody>
          <a:bodyPr rtlCol="0" anchor="ctr"/>
          <a:lstStyle/>
          <a:p/>
        </p:txBody>
      </p:sp>
      <p:sp>
        <p:nvSpPr>
          <p:cNvPr id="8" name="!!Card1"/>
          <p:cNvSpPr/>
          <p:nvPr/>
        </p:nvSpPr>
        <p:spPr>
          <a:xfrm>
            <a:off x="4297680" y="2148840"/>
            <a:ext cx="3383280" cy="2148840"/>
          </a:xfrm>
          <a:prstGeom prst="roundRect">
            <a:avLst>
              <a:gd name="adj" fmla="val 8000"/>
            </a:avLst>
          </a:prstGeom>
          <a:solidFill>
            <a:srgbClr val="FFFFFF"/>
          </a:solidFill>
          <a:ln w="9525">
            <a:solidFill>
              <a:srgbClr val="F9A825">
                <a:alpha val="55000"/>
              </a:srgbClr>
            </a:solidFill>
          </a:ln>
          <a:effectLst>
            <a:outerShdw blurRad="228600" dist="50800" dir="5400000" algn="t" rotWithShape="0">
              <a:srgbClr val="1A0507">
                <a:alpha val="18000"/>
              </a:srgbClr>
            </a:outerShdw>
          </a:effectLst>
        </p:spPr>
        <p:txBody>
          <a:bodyPr rtlCol="0" anchor="ctr"/>
          <a:lstStyle/>
          <a:p/>
        </p:txBody>
      </p:sp>
      <p:sp>
        <p:nvSpPr>
          <p:cNvPr id="9" name="!!Card2"/>
          <p:cNvSpPr/>
          <p:nvPr/>
        </p:nvSpPr>
        <p:spPr>
          <a:xfrm>
            <a:off x="7909560" y="2148840"/>
            <a:ext cx="3383280" cy="2148840"/>
          </a:xfrm>
          <a:prstGeom prst="roundRect">
            <a:avLst>
              <a:gd name="adj" fmla="val 8000"/>
            </a:avLst>
          </a:prstGeom>
          <a:solidFill>
            <a:srgbClr val="FFFFFF"/>
          </a:solidFill>
          <a:ln w="9525">
            <a:solidFill>
              <a:srgbClr val="F9A825">
                <a:alpha val="55000"/>
              </a:srgbClr>
            </a:solidFill>
          </a:ln>
          <a:effectLst>
            <a:outerShdw blurRad="228600" dist="50800" dir="5400000" algn="t" rotWithShape="0">
              <a:srgbClr val="1A0507">
                <a:alpha val="18000"/>
              </a:srgbClr>
            </a:outerShdw>
          </a:effectLst>
        </p:spPr>
        <p:txBody>
          <a:bodyPr rtlCol="0" anchor="ctr"/>
          <a:lstStyle/>
          <a:p/>
        </p:txBody>
      </p:sp>
      <p:pic>
        <p:nvPicPr>
          <p:cNvPr id="10" name="!!Grain" descr="grain.png"/>
          <p:cNvPicPr>
            <a:picLocks noChangeAspect="1"/>
          </p:cNvPicPr>
          <p:nvPr/>
        </p:nvPicPr>
        <p:blipFill>
          <a:blip r:embed="rId3"/>
          <a:srcRect/>
          <a:stretch>
            <a:fillRect/>
          </a:stretch>
        </p:blipFill>
        <p:spPr>
          <a:xfrm>
            <a:off x="0" y="0"/>
            <a:ext cx="12192000" cy="6858000"/>
          </a:xfrm>
          <a:prstGeom prst="rect">
            <a:avLst/>
          </a:prstGeom>
        </p:spPr>
      </p:pic>
      <p:sp>
        <p:nvSpPr>
          <p:cNvPr id="11" name="!!Title"/>
          <p:cNvSpPr txBox="1"/>
          <p:nvPr/>
        </p:nvSpPr>
        <p:spPr>
          <a:xfrm>
            <a:off x="685800" y="914400"/>
            <a:ext cx="8229600" cy="731520"/>
          </a:xfrm>
          <a:prstGeom prst="rect">
            <a:avLst/>
          </a:prstGeom>
          <a:noFill/>
        </p:spPr>
        <p:txBody>
          <a:bodyPr wrap="square" lIns="0" rIns="0" tIns="0" bIns="0" anchor="t">
            <a:noAutofit/>
          </a:bodyPr>
          <a:lstStyle/>
          <a:p>
            <a:pPr algn="l">
              <a:lnSpc>
                <a:spcPct val="95000"/>
              </a:lnSpc>
            </a:pPr>
            <a:r>
              <a:rPr sz="4000">
                <a:solidFill>
                  <a:srgbClr val="7B1421"/>
                </a:solidFill>
                <a:latin typeface="Cream Heavy"/>
              </a:rPr>
              <a:t>Méthodologie qualitative</a:t>
            </a:r>
          </a:p>
        </p:txBody>
      </p:sp>
      <p:sp>
        <p:nvSpPr>
          <p:cNvPr id="12" name="!!CardN0"/>
          <p:cNvSpPr txBox="1"/>
          <p:nvPr/>
        </p:nvSpPr>
        <p:spPr>
          <a:xfrm>
            <a:off x="960120" y="2331720"/>
            <a:ext cx="914400" cy="548640"/>
          </a:xfrm>
          <a:prstGeom prst="rect">
            <a:avLst/>
          </a:prstGeom>
          <a:noFill/>
        </p:spPr>
        <p:txBody>
          <a:bodyPr wrap="square" lIns="0" rIns="0" tIns="0" bIns="0" anchor="t">
            <a:noAutofit/>
          </a:bodyPr>
          <a:lstStyle/>
          <a:p>
            <a:pPr algn="l"/>
            <a:r>
              <a:rPr sz="2800">
                <a:solidFill>
                  <a:srgbClr val="F9A825"/>
                </a:solidFill>
                <a:latin typeface="Cream Heavy"/>
              </a:rPr>
              <a:t>01</a:t>
            </a:r>
          </a:p>
        </p:txBody>
      </p:sp>
      <p:sp>
        <p:nvSpPr>
          <p:cNvPr id="13" name="!!CardT0"/>
          <p:cNvSpPr txBox="1"/>
          <p:nvPr/>
        </p:nvSpPr>
        <p:spPr>
          <a:xfrm>
            <a:off x="960120" y="2971800"/>
            <a:ext cx="2926080" cy="411480"/>
          </a:xfrm>
          <a:prstGeom prst="rect">
            <a:avLst/>
          </a:prstGeom>
          <a:noFill/>
        </p:spPr>
        <p:txBody>
          <a:bodyPr wrap="square" lIns="0" rIns="0" tIns="0" bIns="0" anchor="t">
            <a:noAutofit/>
          </a:bodyPr>
          <a:lstStyle/>
          <a:p>
            <a:pPr algn="l"/>
            <a:r>
              <a:rPr sz="1550">
                <a:solidFill>
                  <a:srgbClr val="000000"/>
                </a:solidFill>
                <a:latin typeface="Montserrat SemiBold"/>
              </a:rPr>
              <a:t>Recherche documentaire</a:t>
            </a:r>
          </a:p>
        </p:txBody>
      </p:sp>
      <p:sp>
        <p:nvSpPr>
          <p:cNvPr id="14" name="!!CardD0"/>
          <p:cNvSpPr txBox="1"/>
          <p:nvPr/>
        </p:nvSpPr>
        <p:spPr>
          <a:xfrm>
            <a:off x="960120" y="3401568"/>
            <a:ext cx="2926080" cy="731520"/>
          </a:xfrm>
          <a:prstGeom prst="rect">
            <a:avLst/>
          </a:prstGeom>
          <a:noFill/>
        </p:spPr>
        <p:txBody>
          <a:bodyPr wrap="square" lIns="0" rIns="0" tIns="0" bIns="0" anchor="t">
            <a:noAutofit/>
          </a:bodyPr>
          <a:lstStyle/>
          <a:p>
            <a:pPr algn="l"/>
            <a:r>
              <a:rPr sz="1250">
                <a:solidFill>
                  <a:srgbClr val="5A3A3E"/>
                </a:solidFill>
                <a:latin typeface="Montserrat Medium"/>
              </a:rPr>
              <a:t>Ouvrages, mémoires antérieurs</a:t>
            </a:r>
          </a:p>
        </p:txBody>
      </p:sp>
      <p:sp>
        <p:nvSpPr>
          <p:cNvPr id="15" name="!!CardN1"/>
          <p:cNvSpPr txBox="1"/>
          <p:nvPr/>
        </p:nvSpPr>
        <p:spPr>
          <a:xfrm>
            <a:off x="4572000" y="2331720"/>
            <a:ext cx="914400" cy="548640"/>
          </a:xfrm>
          <a:prstGeom prst="rect">
            <a:avLst/>
          </a:prstGeom>
          <a:noFill/>
        </p:spPr>
        <p:txBody>
          <a:bodyPr wrap="square" lIns="0" rIns="0" tIns="0" bIns="0" anchor="t">
            <a:noAutofit/>
          </a:bodyPr>
          <a:lstStyle/>
          <a:p>
            <a:pPr algn="l"/>
            <a:r>
              <a:rPr sz="2800">
                <a:solidFill>
                  <a:srgbClr val="F9A825"/>
                </a:solidFill>
                <a:latin typeface="Cream Heavy"/>
              </a:rPr>
              <a:t>02</a:t>
            </a:r>
          </a:p>
        </p:txBody>
      </p:sp>
      <p:sp>
        <p:nvSpPr>
          <p:cNvPr id="16" name="!!CardT1"/>
          <p:cNvSpPr txBox="1"/>
          <p:nvPr/>
        </p:nvSpPr>
        <p:spPr>
          <a:xfrm>
            <a:off x="4572000" y="2971800"/>
            <a:ext cx="2926080" cy="411480"/>
          </a:xfrm>
          <a:prstGeom prst="rect">
            <a:avLst/>
          </a:prstGeom>
          <a:noFill/>
        </p:spPr>
        <p:txBody>
          <a:bodyPr wrap="square" lIns="0" rIns="0" tIns="0" bIns="0" anchor="t">
            <a:noAutofit/>
          </a:bodyPr>
          <a:lstStyle/>
          <a:p>
            <a:pPr algn="l"/>
            <a:r>
              <a:rPr sz="1550">
                <a:solidFill>
                  <a:srgbClr val="000000"/>
                </a:solidFill>
                <a:latin typeface="Montserrat SemiBold"/>
              </a:rPr>
              <a:t>Observation directe</a:t>
            </a:r>
          </a:p>
        </p:txBody>
      </p:sp>
      <p:sp>
        <p:nvSpPr>
          <p:cNvPr id="17" name="!!CardD1"/>
          <p:cNvSpPr txBox="1"/>
          <p:nvPr/>
        </p:nvSpPr>
        <p:spPr>
          <a:xfrm>
            <a:off x="4572000" y="3401568"/>
            <a:ext cx="2926080" cy="731520"/>
          </a:xfrm>
          <a:prstGeom prst="rect">
            <a:avLst/>
          </a:prstGeom>
          <a:noFill/>
        </p:spPr>
        <p:txBody>
          <a:bodyPr wrap="square" lIns="0" rIns="0" tIns="0" bIns="0" anchor="t">
            <a:noAutofit/>
          </a:bodyPr>
          <a:lstStyle/>
          <a:p>
            <a:pPr algn="l"/>
            <a:r>
              <a:rPr sz="1250">
                <a:solidFill>
                  <a:srgbClr val="5A3A3E"/>
                </a:solidFill>
                <a:latin typeface="Montserrat Medium"/>
              </a:rPr>
              <a:t>Pendant le stage</a:t>
            </a:r>
          </a:p>
        </p:txBody>
      </p:sp>
      <p:sp>
        <p:nvSpPr>
          <p:cNvPr id="18" name="!!CardN2"/>
          <p:cNvSpPr txBox="1"/>
          <p:nvPr/>
        </p:nvSpPr>
        <p:spPr>
          <a:xfrm>
            <a:off x="8183880" y="2331720"/>
            <a:ext cx="914400" cy="548640"/>
          </a:xfrm>
          <a:prstGeom prst="rect">
            <a:avLst/>
          </a:prstGeom>
          <a:noFill/>
        </p:spPr>
        <p:txBody>
          <a:bodyPr wrap="square" lIns="0" rIns="0" tIns="0" bIns="0" anchor="t">
            <a:noAutofit/>
          </a:bodyPr>
          <a:lstStyle/>
          <a:p>
            <a:pPr algn="l"/>
            <a:r>
              <a:rPr sz="2800">
                <a:solidFill>
                  <a:srgbClr val="F9A825"/>
                </a:solidFill>
                <a:latin typeface="Cream Heavy"/>
              </a:rPr>
              <a:t>03</a:t>
            </a:r>
          </a:p>
        </p:txBody>
      </p:sp>
      <p:sp>
        <p:nvSpPr>
          <p:cNvPr id="19" name="!!CardT2"/>
          <p:cNvSpPr txBox="1"/>
          <p:nvPr/>
        </p:nvSpPr>
        <p:spPr>
          <a:xfrm>
            <a:off x="8183880" y="2971800"/>
            <a:ext cx="2926080" cy="411480"/>
          </a:xfrm>
          <a:prstGeom prst="rect">
            <a:avLst/>
          </a:prstGeom>
          <a:noFill/>
        </p:spPr>
        <p:txBody>
          <a:bodyPr wrap="square" lIns="0" rIns="0" tIns="0" bIns="0" anchor="t">
            <a:noAutofit/>
          </a:bodyPr>
          <a:lstStyle/>
          <a:p>
            <a:pPr algn="l"/>
            <a:r>
              <a:rPr sz="1550">
                <a:solidFill>
                  <a:srgbClr val="000000"/>
                </a:solidFill>
                <a:latin typeface="Montserrat SemiBold"/>
              </a:rPr>
              <a:t>Entretiens semi-directifs</a:t>
            </a:r>
          </a:p>
        </p:txBody>
      </p:sp>
      <p:sp>
        <p:nvSpPr>
          <p:cNvPr id="20" name="!!CardD2"/>
          <p:cNvSpPr txBox="1"/>
          <p:nvPr/>
        </p:nvSpPr>
        <p:spPr>
          <a:xfrm>
            <a:off x="8183880" y="3401568"/>
            <a:ext cx="2926080" cy="731520"/>
          </a:xfrm>
          <a:prstGeom prst="rect">
            <a:avLst/>
          </a:prstGeom>
          <a:noFill/>
        </p:spPr>
        <p:txBody>
          <a:bodyPr wrap="square" lIns="0" rIns="0" tIns="0" bIns="0" anchor="t">
            <a:noAutofit/>
          </a:bodyPr>
          <a:lstStyle/>
          <a:p>
            <a:pPr algn="l"/>
            <a:r>
              <a:rPr sz="1250">
                <a:solidFill>
                  <a:srgbClr val="5A3A3E"/>
                </a:solidFill>
                <a:latin typeface="Montserrat Medium"/>
              </a:rPr>
              <a:t>Porteur du projet, consommateurs</a:t>
            </a:r>
          </a:p>
        </p:txBody>
      </p:sp>
      <p:sp>
        <p:nvSpPr>
          <p:cNvPr id="21" name="!!Foot"/>
          <p:cNvSpPr txBox="1"/>
          <p:nvPr/>
        </p:nvSpPr>
        <p:spPr>
          <a:xfrm>
            <a:off x="685800" y="4754880"/>
            <a:ext cx="10820400" cy="365760"/>
          </a:xfrm>
          <a:prstGeom prst="rect">
            <a:avLst/>
          </a:prstGeom>
          <a:noFill/>
        </p:spPr>
        <p:txBody>
          <a:bodyPr wrap="square" lIns="0" rIns="0" tIns="0" bIns="0" anchor="t">
            <a:noAutofit/>
          </a:bodyPr>
          <a:lstStyle/>
          <a:p>
            <a:pPr algn="l">
              <a:lnSpc>
                <a:spcPct val="112000"/>
              </a:lnSpc>
              <a:spcAft>
                <a:spcPts val="800"/>
              </a:spcAft>
            </a:pPr>
            <a:r>
              <a:rPr sz="1400">
                <a:solidFill>
                  <a:srgbClr val="7B1421"/>
                </a:solidFill>
                <a:latin typeface="Montserrat SemiBold"/>
              </a:rPr>
              <a:t>Terrain : Abidjan</a:t>
            </a:r>
            <a:r>
              <a:rPr sz="1400">
                <a:solidFill>
                  <a:srgbClr val="000000"/>
                </a:solidFill>
                <a:latin typeface="Montserrat Medium"/>
              </a:rPr>
              <a:t> · diagnostic empirique et analyse comparative des marques concurrentes</a:t>
            </a:r>
          </a:p>
        </p:txBody>
      </p:sp>
      <p:sp>
        <p:nvSpPr>
          <p:cNvPr id="22"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A40C21"/>
                </a:solidFill>
                <a:latin typeface="Montserrat SemiBold"/>
              </a:rPr>
              <a:t>01 · Méthodologie</a:t>
            </a:r>
          </a:p>
        </p:txBody>
      </p:sp>
      <p:sp>
        <p:nvSpPr>
          <p:cNvPr id="23"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A40C21"/>
                </a:solidFill>
                <a:latin typeface="Montserrat SemiBold"/>
              </a:rPr>
              <a:t>09</a:t>
            </a:r>
          </a:p>
        </p:txBody>
      </p:sp>
      <p:pic>
        <p:nvPicPr>
          <p:cNvPr id="24" name="!!Logo" descr="Logo Marin'Or Ivoire"/>
          <p:cNvPicPr>
            <a:picLocks noChangeAspect="1"/>
          </p:cNvPicPr>
          <p:nvPr/>
        </p:nvPicPr>
        <p:blipFill>
          <a:blip r:embed="rId4"/>
          <a:stretch>
            <a:fillRect/>
          </a:stretch>
        </p:blipFill>
        <p:spPr>
          <a:xfrm>
            <a:off x="10546080" y="311488"/>
            <a:ext cx="960120" cy="50299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FF6EA"/>
          </a:solidFill>
          <a:ln>
            <a:noFill/>
          </a:ln>
        </p:spPr>
        <p:txBody>
          <a:bodyPr rtlCol="0" anchor="ctr"/>
          <a:lstStyle/>
          <a:p/>
        </p:txBody>
      </p:sp>
      <p:pic>
        <p:nvPicPr>
          <p:cNvPr id="3" name="!!PlateL" descr="motif_bord.png"/>
          <p:cNvPicPr>
            <a:picLocks noChangeAspect="1"/>
          </p:cNvPicPr>
          <p:nvPr/>
        </p:nvPicPr>
        <p:blipFill>
          <a:blip r:embed="rId2"/>
          <a:srcRect/>
          <a:stretch>
            <a:fillRect/>
          </a:stretch>
        </p:blipFill>
        <p:spPr>
          <a:xfrm>
            <a:off x="-1870000" y="-2723520"/>
            <a:ext cx="21336000" cy="12001500"/>
          </a:xfrm>
          <a:prstGeom prst="rect">
            <a:avLst/>
          </a:prstGeom>
        </p:spPr>
      </p:pic>
      <p:sp>
        <p:nvSpPr>
          <p:cNvPr id="4" name="!!Glow"/>
          <p:cNvSpPr/>
          <p:nvPr/>
        </p:nvSpPr>
        <p:spPr>
          <a:xfrm>
            <a:off x="1368583" y="-3111762"/>
            <a:ext cx="9601200" cy="9601200"/>
          </a:xfrm>
          <a:prstGeom prst="ellipse">
            <a:avLst/>
          </a:prstGeom>
          <a:gradFill rotWithShape="1">
            <a:gsLst>
              <a:gs pos="0">
                <a:srgbClr val="FFFFFF">
                  <a:alpha val="85000"/>
                </a:srgbClr>
              </a:gs>
              <a:gs pos="100000">
                <a:srgbClr val="FFFFFF">
                  <a:alpha val="0"/>
                </a:srgbClr>
              </a:gs>
            </a:gsLst>
            <a:path path="circle">
              <a:fillToRect l="50000" t="50000" r="50000" b="50000"/>
            </a:path>
          </a:gradFill>
          <a:ln>
            <a:noFill/>
          </a:ln>
        </p:spPr>
        <p:txBody>
          <a:bodyPr rtlCol="0" anchor="ctr"/>
          <a:lstStyle/>
          <a:p/>
        </p:txBody>
      </p:sp>
      <p:sp>
        <p:nvSpPr>
          <p:cNvPr id="5" name="!!Glow2"/>
          <p:cNvSpPr/>
          <p:nvPr/>
        </p:nvSpPr>
        <p:spPr>
          <a:xfrm>
            <a:off x="2662396" y="1808742"/>
            <a:ext cx="6720840" cy="6720840"/>
          </a:xfrm>
          <a:prstGeom prst="ellipse">
            <a:avLst/>
          </a:prstGeom>
          <a:gradFill rotWithShape="1">
            <a:gsLst>
              <a:gs pos="0">
                <a:srgbClr val="F9A825">
                  <a:alpha val="14000"/>
                </a:srgbClr>
              </a:gs>
              <a:gs pos="100000">
                <a:srgbClr val="F9A825">
                  <a:alpha val="0"/>
                </a:srgbClr>
              </a:gs>
            </a:gsLst>
            <a:path path="circle">
              <a:fillToRect l="50000" t="50000" r="50000" b="50000"/>
            </a:path>
          </a:gradFill>
          <a:ln>
            <a:noFill/>
          </a:ln>
        </p:spPr>
        <p:txBody>
          <a:bodyPr rtlCol="0" anchor="ctr"/>
          <a:lstStyle/>
          <a:p/>
        </p:txBody>
      </p:sp>
      <p:sp>
        <p:nvSpPr>
          <p:cNvPr id="6" name="!!Ring"/>
          <p:cNvSpPr/>
          <p:nvPr/>
        </p:nvSpPr>
        <p:spPr>
          <a:xfrm>
            <a:off x="9856874" y="-3725109"/>
            <a:ext cx="7132320" cy="7132320"/>
          </a:xfrm>
          <a:prstGeom prst="ellipse">
            <a:avLst/>
          </a:prstGeom>
          <a:noFill/>
          <a:ln w="12700">
            <a:solidFill>
              <a:srgbClr val="F9A825">
                <a:alpha val="85000"/>
              </a:srgbClr>
            </a:solidFill>
          </a:ln>
        </p:spPr>
        <p:txBody>
          <a:bodyPr rtlCol="0" anchor="ctr"/>
          <a:lstStyle/>
          <a:p/>
        </p:txBody>
      </p:sp>
      <p:sp>
        <p:nvSpPr>
          <p:cNvPr id="7" name="!!Card0"/>
          <p:cNvSpPr/>
          <p:nvPr/>
        </p:nvSpPr>
        <p:spPr>
          <a:xfrm>
            <a:off x="685800" y="3337560"/>
            <a:ext cx="5166360" cy="841248"/>
          </a:xfrm>
          <a:prstGeom prst="roundRect">
            <a:avLst>
              <a:gd name="adj" fmla="val 8000"/>
            </a:avLst>
          </a:prstGeom>
          <a:solidFill>
            <a:srgbClr val="FFFFFF"/>
          </a:solidFill>
          <a:ln w="9525">
            <a:solidFill>
              <a:srgbClr val="F9A825">
                <a:alpha val="55000"/>
              </a:srgbClr>
            </a:solidFill>
          </a:ln>
          <a:effectLst>
            <a:outerShdw blurRad="228600" dist="50800" dir="5400000" algn="t" rotWithShape="0">
              <a:srgbClr val="1A0507">
                <a:alpha val="18000"/>
              </a:srgbClr>
            </a:outerShdw>
          </a:effectLst>
        </p:spPr>
        <p:txBody>
          <a:bodyPr rtlCol="0" anchor="ctr"/>
          <a:lstStyle/>
          <a:p/>
        </p:txBody>
      </p:sp>
      <p:sp>
        <p:nvSpPr>
          <p:cNvPr id="8" name="!!Card1"/>
          <p:cNvSpPr/>
          <p:nvPr/>
        </p:nvSpPr>
        <p:spPr>
          <a:xfrm>
            <a:off x="6126480" y="3337560"/>
            <a:ext cx="5166360" cy="841248"/>
          </a:xfrm>
          <a:prstGeom prst="roundRect">
            <a:avLst>
              <a:gd name="adj" fmla="val 8000"/>
            </a:avLst>
          </a:prstGeom>
          <a:solidFill>
            <a:srgbClr val="FFFFFF"/>
          </a:solidFill>
          <a:ln w="9525">
            <a:solidFill>
              <a:srgbClr val="F9A825">
                <a:alpha val="55000"/>
              </a:srgbClr>
            </a:solidFill>
          </a:ln>
          <a:effectLst>
            <a:outerShdw blurRad="228600" dist="50800" dir="5400000" algn="t" rotWithShape="0">
              <a:srgbClr val="1A0507">
                <a:alpha val="18000"/>
              </a:srgbClr>
            </a:outerShdw>
          </a:effectLst>
        </p:spPr>
        <p:txBody>
          <a:bodyPr rtlCol="0" anchor="ctr"/>
          <a:lstStyle/>
          <a:p/>
        </p:txBody>
      </p:sp>
      <p:sp>
        <p:nvSpPr>
          <p:cNvPr id="9" name="!!Card2"/>
          <p:cNvSpPr/>
          <p:nvPr/>
        </p:nvSpPr>
        <p:spPr>
          <a:xfrm>
            <a:off x="685800" y="4389120"/>
            <a:ext cx="5166360" cy="841248"/>
          </a:xfrm>
          <a:prstGeom prst="roundRect">
            <a:avLst>
              <a:gd name="adj" fmla="val 8000"/>
            </a:avLst>
          </a:prstGeom>
          <a:solidFill>
            <a:srgbClr val="FFFFFF"/>
          </a:solidFill>
          <a:ln w="9525">
            <a:solidFill>
              <a:srgbClr val="F9A825">
                <a:alpha val="55000"/>
              </a:srgbClr>
            </a:solidFill>
          </a:ln>
          <a:effectLst>
            <a:outerShdw blurRad="228600" dist="50800" dir="5400000" algn="t" rotWithShape="0">
              <a:srgbClr val="1A0507">
                <a:alpha val="18000"/>
              </a:srgbClr>
            </a:outerShdw>
          </a:effectLst>
        </p:spPr>
        <p:txBody>
          <a:bodyPr rtlCol="0" anchor="ctr"/>
          <a:lstStyle/>
          <a:p/>
        </p:txBody>
      </p:sp>
      <p:sp>
        <p:nvSpPr>
          <p:cNvPr id="10" name="!!Card3"/>
          <p:cNvSpPr/>
          <p:nvPr/>
        </p:nvSpPr>
        <p:spPr>
          <a:xfrm>
            <a:off x="6126480" y="4389120"/>
            <a:ext cx="5166360" cy="841248"/>
          </a:xfrm>
          <a:prstGeom prst="roundRect">
            <a:avLst>
              <a:gd name="adj" fmla="val 8000"/>
            </a:avLst>
          </a:prstGeom>
          <a:solidFill>
            <a:srgbClr val="FFFFFF"/>
          </a:solidFill>
          <a:ln w="9525">
            <a:solidFill>
              <a:srgbClr val="F9A825">
                <a:alpha val="55000"/>
              </a:srgbClr>
            </a:solidFill>
          </a:ln>
          <a:effectLst>
            <a:outerShdw blurRad="228600" dist="50800" dir="5400000" algn="t" rotWithShape="0">
              <a:srgbClr val="1A0507">
                <a:alpha val="18000"/>
              </a:srgbClr>
            </a:outerShdw>
          </a:effectLst>
        </p:spPr>
        <p:txBody>
          <a:bodyPr rtlCol="0" anchor="ctr"/>
          <a:lstStyle/>
          <a:p/>
        </p:txBody>
      </p:sp>
      <p:pic>
        <p:nvPicPr>
          <p:cNvPr id="11" name="!!Grain" descr="grain.png"/>
          <p:cNvPicPr>
            <a:picLocks noChangeAspect="1"/>
          </p:cNvPicPr>
          <p:nvPr/>
        </p:nvPicPr>
        <p:blipFill>
          <a:blip r:embed="rId3"/>
          <a:srcRect/>
          <a:stretch>
            <a:fillRect/>
          </a:stretch>
        </p:blipFill>
        <p:spPr>
          <a:xfrm>
            <a:off x="0" y="0"/>
            <a:ext cx="12192000" cy="6858000"/>
          </a:xfrm>
          <a:prstGeom prst="rect">
            <a:avLst/>
          </a:prstGeom>
        </p:spPr>
      </p:pic>
      <p:sp>
        <p:nvSpPr>
          <p:cNvPr id="12" name="!!Title"/>
          <p:cNvSpPr txBox="1"/>
          <p:nvPr/>
        </p:nvSpPr>
        <p:spPr>
          <a:xfrm>
            <a:off x="685800" y="914400"/>
            <a:ext cx="7315200" cy="731520"/>
          </a:xfrm>
          <a:prstGeom prst="rect">
            <a:avLst/>
          </a:prstGeom>
          <a:noFill/>
        </p:spPr>
        <p:txBody>
          <a:bodyPr wrap="square" lIns="0" rIns="0" tIns="0" bIns="0" anchor="t">
            <a:noAutofit/>
          </a:bodyPr>
          <a:lstStyle/>
          <a:p>
            <a:pPr algn="l">
              <a:lnSpc>
                <a:spcPct val="95000"/>
              </a:lnSpc>
            </a:pPr>
            <a:r>
              <a:rPr sz="4000">
                <a:solidFill>
                  <a:srgbClr val="7B1421"/>
                </a:solidFill>
                <a:latin typeface="Cream Heavy"/>
              </a:rPr>
              <a:t>Objectifs</a:t>
            </a:r>
          </a:p>
        </p:txBody>
      </p:sp>
      <p:sp>
        <p:nvSpPr>
          <p:cNvPr id="13" name="!!Body"/>
          <p:cNvSpPr txBox="1"/>
          <p:nvPr/>
        </p:nvSpPr>
        <p:spPr>
          <a:xfrm>
            <a:off x="685800" y="1965960"/>
            <a:ext cx="9509760" cy="1097280"/>
          </a:xfrm>
          <a:prstGeom prst="rect">
            <a:avLst/>
          </a:prstGeom>
          <a:noFill/>
        </p:spPr>
        <p:txBody>
          <a:bodyPr wrap="square" lIns="0" rIns="0" tIns="0" bIns="0" anchor="t">
            <a:noAutofit/>
          </a:bodyPr>
          <a:lstStyle/>
          <a:p>
            <a:pPr algn="l">
              <a:lnSpc>
                <a:spcPct val="112000"/>
              </a:lnSpc>
              <a:spcAft>
                <a:spcPts val="800"/>
              </a:spcAft>
            </a:pPr>
            <a:r>
              <a:rPr sz="2000">
                <a:solidFill>
                  <a:srgbClr val="000000"/>
                </a:solidFill>
                <a:latin typeface="Montserrat Medium"/>
              </a:rPr>
              <a:t>Doter Marin'Or Ivoire d'une identité visuelle forte et de supports adaptés, pour renforcer sa notoriété.</a:t>
            </a:r>
          </a:p>
        </p:txBody>
      </p:sp>
      <p:sp>
        <p:nvSpPr>
          <p:cNvPr id="14" name="!!CardT0"/>
          <p:cNvSpPr txBox="1"/>
          <p:nvPr/>
        </p:nvSpPr>
        <p:spPr>
          <a:xfrm>
            <a:off x="1005840" y="3337560"/>
            <a:ext cx="4663440" cy="841248"/>
          </a:xfrm>
          <a:prstGeom prst="rect">
            <a:avLst/>
          </a:prstGeom>
          <a:noFill/>
        </p:spPr>
        <p:txBody>
          <a:bodyPr wrap="square" lIns="0" rIns="0" tIns="0" bIns="0" anchor="ctr">
            <a:noAutofit/>
          </a:bodyPr>
          <a:lstStyle/>
          <a:p>
            <a:pPr algn="l"/>
            <a:r>
              <a:rPr sz="2000">
                <a:solidFill>
                  <a:srgbClr val="F9A825"/>
                </a:solidFill>
                <a:latin typeface="Cream Heavy"/>
              </a:rPr>
              <a:t>01  </a:t>
            </a:r>
            <a:r>
              <a:rPr sz="1400">
                <a:solidFill>
                  <a:srgbClr val="000000"/>
                </a:solidFill>
                <a:latin typeface="Montserrat SemiBold"/>
              </a:rPr>
              <a:t>Accroître la visibilité</a:t>
            </a:r>
          </a:p>
        </p:txBody>
      </p:sp>
      <p:sp>
        <p:nvSpPr>
          <p:cNvPr id="15" name="!!CardT1"/>
          <p:cNvSpPr txBox="1"/>
          <p:nvPr/>
        </p:nvSpPr>
        <p:spPr>
          <a:xfrm>
            <a:off x="6446520" y="3337560"/>
            <a:ext cx="4663440" cy="841248"/>
          </a:xfrm>
          <a:prstGeom prst="rect">
            <a:avLst/>
          </a:prstGeom>
          <a:noFill/>
        </p:spPr>
        <p:txBody>
          <a:bodyPr wrap="square" lIns="0" rIns="0" tIns="0" bIns="0" anchor="ctr">
            <a:noAutofit/>
          </a:bodyPr>
          <a:lstStyle/>
          <a:p>
            <a:pPr algn="l"/>
            <a:r>
              <a:rPr sz="2000">
                <a:solidFill>
                  <a:srgbClr val="F9A825"/>
                </a:solidFill>
                <a:latin typeface="Cream Heavy"/>
              </a:rPr>
              <a:t>02  </a:t>
            </a:r>
            <a:r>
              <a:rPr sz="1400">
                <a:solidFill>
                  <a:srgbClr val="000000"/>
                </a:solidFill>
                <a:latin typeface="Montserrat SemiBold"/>
              </a:rPr>
              <a:t>Construire une identité cohérente</a:t>
            </a:r>
          </a:p>
        </p:txBody>
      </p:sp>
      <p:sp>
        <p:nvSpPr>
          <p:cNvPr id="16" name="!!CardT2"/>
          <p:cNvSpPr txBox="1"/>
          <p:nvPr/>
        </p:nvSpPr>
        <p:spPr>
          <a:xfrm>
            <a:off x="1005840" y="4389120"/>
            <a:ext cx="4663440" cy="841248"/>
          </a:xfrm>
          <a:prstGeom prst="rect">
            <a:avLst/>
          </a:prstGeom>
          <a:noFill/>
        </p:spPr>
        <p:txBody>
          <a:bodyPr wrap="square" lIns="0" rIns="0" tIns="0" bIns="0" anchor="ctr">
            <a:noAutofit/>
          </a:bodyPr>
          <a:lstStyle/>
          <a:p>
            <a:pPr algn="l"/>
            <a:r>
              <a:rPr sz="2000">
                <a:solidFill>
                  <a:srgbClr val="F9A825"/>
                </a:solidFill>
                <a:latin typeface="Cream Heavy"/>
              </a:rPr>
              <a:t>03  </a:t>
            </a:r>
            <a:r>
              <a:rPr sz="1400">
                <a:solidFill>
                  <a:srgbClr val="000000"/>
                </a:solidFill>
                <a:latin typeface="Montserrat SemiBold"/>
              </a:rPr>
              <a:t>Produire imprimé, audiovisuel et web</a:t>
            </a:r>
          </a:p>
        </p:txBody>
      </p:sp>
      <p:sp>
        <p:nvSpPr>
          <p:cNvPr id="17" name="!!CardT3"/>
          <p:cNvSpPr txBox="1"/>
          <p:nvPr/>
        </p:nvSpPr>
        <p:spPr>
          <a:xfrm>
            <a:off x="6446520" y="4389120"/>
            <a:ext cx="4663440" cy="841248"/>
          </a:xfrm>
          <a:prstGeom prst="rect">
            <a:avLst/>
          </a:prstGeom>
          <a:noFill/>
        </p:spPr>
        <p:txBody>
          <a:bodyPr wrap="square" lIns="0" rIns="0" tIns="0" bIns="0" anchor="ctr">
            <a:noAutofit/>
          </a:bodyPr>
          <a:lstStyle/>
          <a:p>
            <a:pPr algn="l"/>
            <a:r>
              <a:rPr sz="2000">
                <a:solidFill>
                  <a:srgbClr val="F9A825"/>
                </a:solidFill>
                <a:latin typeface="Cream Heavy"/>
              </a:rPr>
              <a:t>04  </a:t>
            </a:r>
            <a:r>
              <a:rPr sz="1400">
                <a:solidFill>
                  <a:srgbClr val="000000"/>
                </a:solidFill>
                <a:latin typeface="Montserrat SemiBold"/>
              </a:rPr>
              <a:t>Poser les bases d’une présence numérique</a:t>
            </a:r>
          </a:p>
        </p:txBody>
      </p:sp>
      <p:sp>
        <p:nvSpPr>
          <p:cNvPr id="18"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A40C21"/>
                </a:solidFill>
                <a:latin typeface="Montserrat SemiBold"/>
              </a:rPr>
              <a:t>01 · Objectifs</a:t>
            </a:r>
          </a:p>
        </p:txBody>
      </p:sp>
      <p:sp>
        <p:nvSpPr>
          <p:cNvPr id="19"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A40C21"/>
                </a:solidFill>
                <a:latin typeface="Montserrat SemiBold"/>
              </a:rPr>
              <a:t>10</a:t>
            </a:r>
          </a:p>
        </p:txBody>
      </p:sp>
      <p:pic>
        <p:nvPicPr>
          <p:cNvPr id="20" name="!!Logo" descr="Logo Marin'Or Ivoire"/>
          <p:cNvPicPr>
            <a:picLocks noChangeAspect="1"/>
          </p:cNvPicPr>
          <p:nvPr/>
        </p:nvPicPr>
        <p:blipFill>
          <a:blip r:embed="rId4"/>
          <a:stretch>
            <a:fillRect/>
          </a:stretch>
        </p:blipFill>
        <p:spPr>
          <a:xfrm>
            <a:off x="10546080" y="311488"/>
            <a:ext cx="960120" cy="50299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FF6EA"/>
          </a:solidFill>
          <a:ln>
            <a:noFill/>
          </a:ln>
        </p:spPr>
        <p:txBody>
          <a:bodyPr rtlCol="0" anchor="ctr"/>
          <a:lstStyle/>
          <a:p/>
        </p:txBody>
      </p:sp>
      <p:pic>
        <p:nvPicPr>
          <p:cNvPr id="3" name="!!PlateL" descr="motif_bord.png"/>
          <p:cNvPicPr>
            <a:picLocks noChangeAspect="1"/>
          </p:cNvPicPr>
          <p:nvPr/>
        </p:nvPicPr>
        <p:blipFill>
          <a:blip r:embed="rId2"/>
          <a:srcRect/>
          <a:stretch>
            <a:fillRect/>
          </a:stretch>
        </p:blipFill>
        <p:spPr>
          <a:xfrm>
            <a:off x="-2050000" y="-3066142"/>
            <a:ext cx="21336000" cy="12001500"/>
          </a:xfrm>
          <a:prstGeom prst="rect">
            <a:avLst/>
          </a:prstGeom>
        </p:spPr>
      </p:pic>
      <p:sp>
        <p:nvSpPr>
          <p:cNvPr id="4" name="!!Glow"/>
          <p:cNvSpPr/>
          <p:nvPr/>
        </p:nvSpPr>
        <p:spPr>
          <a:xfrm>
            <a:off x="2214232" y="-2494961"/>
            <a:ext cx="9601200" cy="9601200"/>
          </a:xfrm>
          <a:prstGeom prst="ellipse">
            <a:avLst/>
          </a:prstGeom>
          <a:gradFill rotWithShape="1">
            <a:gsLst>
              <a:gs pos="0">
                <a:srgbClr val="FFFFFF">
                  <a:alpha val="85000"/>
                </a:srgbClr>
              </a:gs>
              <a:gs pos="100000">
                <a:srgbClr val="FFFFFF">
                  <a:alpha val="0"/>
                </a:srgbClr>
              </a:gs>
            </a:gsLst>
            <a:path path="circle">
              <a:fillToRect l="50000" t="50000" r="50000" b="50000"/>
            </a:path>
          </a:gradFill>
          <a:ln>
            <a:noFill/>
          </a:ln>
        </p:spPr>
        <p:txBody>
          <a:bodyPr rtlCol="0" anchor="ctr"/>
          <a:lstStyle/>
          <a:p/>
        </p:txBody>
      </p:sp>
      <p:sp>
        <p:nvSpPr>
          <p:cNvPr id="5" name="!!Glow2"/>
          <p:cNvSpPr/>
          <p:nvPr/>
        </p:nvSpPr>
        <p:spPr>
          <a:xfrm>
            <a:off x="1816747" y="1191941"/>
            <a:ext cx="6720840" cy="6720840"/>
          </a:xfrm>
          <a:prstGeom prst="ellipse">
            <a:avLst/>
          </a:prstGeom>
          <a:gradFill rotWithShape="1">
            <a:gsLst>
              <a:gs pos="0">
                <a:srgbClr val="F9A825">
                  <a:alpha val="14000"/>
                </a:srgbClr>
              </a:gs>
              <a:gs pos="100000">
                <a:srgbClr val="F9A825">
                  <a:alpha val="0"/>
                </a:srgbClr>
              </a:gs>
            </a:gsLst>
            <a:path path="circle">
              <a:fillToRect l="50000" t="50000" r="50000" b="50000"/>
            </a:path>
          </a:gradFill>
          <a:ln>
            <a:noFill/>
          </a:ln>
        </p:spPr>
        <p:txBody>
          <a:bodyPr rtlCol="0" anchor="ctr"/>
          <a:lstStyle/>
          <a:p/>
        </p:txBody>
      </p:sp>
      <p:sp>
        <p:nvSpPr>
          <p:cNvPr id="6" name="!!Ring"/>
          <p:cNvSpPr/>
          <p:nvPr/>
        </p:nvSpPr>
        <p:spPr>
          <a:xfrm>
            <a:off x="9727436" y="-3889846"/>
            <a:ext cx="7132320" cy="7132320"/>
          </a:xfrm>
          <a:prstGeom prst="ellipse">
            <a:avLst/>
          </a:prstGeom>
          <a:noFill/>
          <a:ln w="12700">
            <a:solidFill>
              <a:srgbClr val="F9A825">
                <a:alpha val="85000"/>
              </a:srgbClr>
            </a:solidFill>
          </a:ln>
        </p:spPr>
        <p:txBody>
          <a:bodyPr rtlCol="0" anchor="ctr"/>
          <a:lstStyle/>
          <a:p/>
        </p:txBody>
      </p:sp>
      <p:pic>
        <p:nvPicPr>
          <p:cNvPr id="7" name="!!Hero" descr="Affiche 2 en situation"/>
          <p:cNvPicPr>
            <a:picLocks noChangeAspect="1"/>
          </p:cNvPicPr>
          <p:nvPr/>
        </p:nvPicPr>
        <p:blipFill>
          <a:blip r:embed="rId3"/>
          <a:srcRect t="971" b="971"/>
          <a:stretch>
            <a:fillRect/>
          </a:stretch>
        </p:blipFill>
        <p:spPr>
          <a:xfrm>
            <a:off x="7589520" y="914400"/>
            <a:ext cx="3931920" cy="5120640"/>
          </a:xfrm>
          <a:prstGeom prst="roundRect">
            <a:avLst>
              <a:gd name="adj" fmla="val 5000"/>
            </a:avLst>
          </a:prstGeom>
          <a:effectLst>
            <a:outerShdw blurRad="381000" dist="101600" dir="5400000" algn="t" rotWithShape="0">
              <a:srgbClr val="1A0507">
                <a:alpha val="28000"/>
              </a:srgbClr>
            </a:outerShdw>
          </a:effectLst>
        </p:spPr>
      </p:pic>
      <p:pic>
        <p:nvPicPr>
          <p:cNvPr id="8" name="!!Grain" descr="grain.png"/>
          <p:cNvPicPr>
            <a:picLocks noChangeAspect="1"/>
          </p:cNvPicPr>
          <p:nvPr/>
        </p:nvPicPr>
        <p:blipFill>
          <a:blip r:embed="rId4"/>
          <a:srcRect/>
          <a:stretch>
            <a:fillRect/>
          </a:stretch>
        </p:blipFill>
        <p:spPr>
          <a:xfrm>
            <a:off x="0" y="0"/>
            <a:ext cx="12192000" cy="6858000"/>
          </a:xfrm>
          <a:prstGeom prst="rect">
            <a:avLst/>
          </a:prstGeom>
        </p:spPr>
      </p:pic>
      <p:sp>
        <p:nvSpPr>
          <p:cNvPr id="9" name="!!Title"/>
          <p:cNvSpPr txBox="1"/>
          <p:nvPr/>
        </p:nvSpPr>
        <p:spPr>
          <a:xfrm>
            <a:off x="685800" y="914400"/>
            <a:ext cx="6400800" cy="731520"/>
          </a:xfrm>
          <a:prstGeom prst="rect">
            <a:avLst/>
          </a:prstGeom>
          <a:noFill/>
        </p:spPr>
        <p:txBody>
          <a:bodyPr wrap="square" lIns="0" rIns="0" tIns="0" bIns="0" anchor="t">
            <a:noAutofit/>
          </a:bodyPr>
          <a:lstStyle/>
          <a:p>
            <a:pPr algn="l">
              <a:lnSpc>
                <a:spcPct val="95000"/>
              </a:lnSpc>
            </a:pPr>
            <a:r>
              <a:rPr sz="4000">
                <a:solidFill>
                  <a:srgbClr val="7B1421"/>
                </a:solidFill>
                <a:latin typeface="Cream Heavy"/>
              </a:rPr>
              <a:t>Public cible</a:t>
            </a:r>
          </a:p>
        </p:txBody>
      </p:sp>
      <p:sp>
        <p:nvSpPr>
          <p:cNvPr id="10" name="!!Big"/>
          <p:cNvSpPr txBox="1"/>
          <p:nvPr/>
        </p:nvSpPr>
        <p:spPr>
          <a:xfrm>
            <a:off x="685800" y="1874519"/>
            <a:ext cx="6400800" cy="1143000"/>
          </a:xfrm>
          <a:prstGeom prst="rect">
            <a:avLst/>
          </a:prstGeom>
          <a:noFill/>
        </p:spPr>
        <p:txBody>
          <a:bodyPr wrap="square" lIns="0" rIns="0" tIns="0" bIns="0" anchor="t">
            <a:noAutofit/>
          </a:bodyPr>
          <a:lstStyle/>
          <a:p>
            <a:pPr algn="l"/>
            <a:r>
              <a:rPr sz="6600">
                <a:solidFill>
                  <a:srgbClr val="F9A825"/>
                </a:solidFill>
                <a:latin typeface="Cream Heavy"/>
              </a:rPr>
              <a:t>25 – 50 ans</a:t>
            </a:r>
          </a:p>
        </p:txBody>
      </p:sp>
      <p:sp>
        <p:nvSpPr>
          <p:cNvPr id="11" name="!!Body"/>
          <p:cNvSpPr txBox="1"/>
          <p:nvPr/>
        </p:nvSpPr>
        <p:spPr>
          <a:xfrm>
            <a:off x="685800" y="3154680"/>
            <a:ext cx="6400800" cy="914400"/>
          </a:xfrm>
          <a:prstGeom prst="rect">
            <a:avLst/>
          </a:prstGeom>
          <a:noFill/>
        </p:spPr>
        <p:txBody>
          <a:bodyPr wrap="square" lIns="0" rIns="0" tIns="0" bIns="0" anchor="t">
            <a:noAutofit/>
          </a:bodyPr>
          <a:lstStyle/>
          <a:p>
            <a:pPr algn="l">
              <a:lnSpc>
                <a:spcPct val="112000"/>
              </a:lnSpc>
              <a:spcAft>
                <a:spcPts val="800"/>
              </a:spcAft>
            </a:pPr>
            <a:r>
              <a:rPr sz="1900">
                <a:solidFill>
                  <a:srgbClr val="000000"/>
                </a:solidFill>
                <a:latin typeface="Montserrat Medium"/>
              </a:rPr>
              <a:t>Les ménages d'Abidjan qui cuisinent régulièrement pour leur foyer.</a:t>
            </a:r>
          </a:p>
        </p:txBody>
      </p:sp>
      <p:sp>
        <p:nvSpPr>
          <p:cNvPr id="12" name="!!Body2"/>
          <p:cNvSpPr txBox="1"/>
          <p:nvPr/>
        </p:nvSpPr>
        <p:spPr>
          <a:xfrm>
            <a:off x="685800" y="4160520"/>
            <a:ext cx="6400800" cy="548640"/>
          </a:xfrm>
          <a:prstGeom prst="rect">
            <a:avLst/>
          </a:prstGeom>
          <a:noFill/>
        </p:spPr>
        <p:txBody>
          <a:bodyPr wrap="square" lIns="0" rIns="0" tIns="0" bIns="0" anchor="t">
            <a:noAutofit/>
          </a:bodyPr>
          <a:lstStyle/>
          <a:p>
            <a:pPr algn="l">
              <a:lnSpc>
                <a:spcPct val="112000"/>
              </a:lnSpc>
              <a:spcAft>
                <a:spcPts val="800"/>
              </a:spcAft>
            </a:pPr>
            <a:r>
              <a:rPr sz="1500">
                <a:solidFill>
                  <a:srgbClr val="5A3A3E"/>
                </a:solidFill>
                <a:latin typeface="Montserrat Medium"/>
              </a:rPr>
              <a:t>Aussi : distributeurs, restaurateurs, passionnés de cuisine.</a:t>
            </a:r>
          </a:p>
        </p:txBody>
      </p:sp>
      <p:sp>
        <p:nvSpPr>
          <p:cNvPr id="13"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A40C21"/>
                </a:solidFill>
                <a:latin typeface="Montserrat SemiBold"/>
              </a:rPr>
              <a:t>01 · Cahier des charges</a:t>
            </a:r>
          </a:p>
        </p:txBody>
      </p:sp>
      <p:sp>
        <p:nvSpPr>
          <p:cNvPr id="14"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A40C21"/>
                </a:solidFill>
                <a:latin typeface="Montserrat SemiBold"/>
              </a:rPr>
              <a:t>11</a:t>
            </a:r>
          </a:p>
        </p:txBody>
      </p:sp>
      <p:pic>
        <p:nvPicPr>
          <p:cNvPr id="15" name="!!Logo" descr="Logo Marin'Or Ivoire"/>
          <p:cNvPicPr>
            <a:picLocks noChangeAspect="1"/>
          </p:cNvPicPr>
          <p:nvPr/>
        </p:nvPicPr>
        <p:blipFill>
          <a:blip r:embed="rId5"/>
          <a:stretch>
            <a:fillRect/>
          </a:stretch>
        </p:blipFill>
        <p:spPr>
          <a:xfrm>
            <a:off x="10546080" y="311488"/>
            <a:ext cx="960120" cy="50299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FF6EA"/>
          </a:solidFill>
          <a:ln>
            <a:noFill/>
          </a:ln>
        </p:spPr>
        <p:txBody>
          <a:bodyPr rtlCol="0" anchor="ctr"/>
          <a:lstStyle/>
          <a:p/>
        </p:txBody>
      </p:sp>
      <p:pic>
        <p:nvPicPr>
          <p:cNvPr id="3" name="!!PlateL" descr="motif_bord.png"/>
          <p:cNvPicPr>
            <a:picLocks noChangeAspect="1"/>
          </p:cNvPicPr>
          <p:nvPr/>
        </p:nvPicPr>
        <p:blipFill>
          <a:blip r:embed="rId2"/>
          <a:srcRect/>
          <a:stretch>
            <a:fillRect/>
          </a:stretch>
        </p:blipFill>
        <p:spPr>
          <a:xfrm>
            <a:off x="-2230000" y="-3353064"/>
            <a:ext cx="21336000" cy="12001500"/>
          </a:xfrm>
          <a:prstGeom prst="rect">
            <a:avLst/>
          </a:prstGeom>
        </p:spPr>
      </p:pic>
      <p:sp>
        <p:nvSpPr>
          <p:cNvPr id="4" name="!!Glow"/>
          <p:cNvSpPr/>
          <p:nvPr/>
        </p:nvSpPr>
        <p:spPr>
          <a:xfrm>
            <a:off x="2141584" y="-1789556"/>
            <a:ext cx="9601200" cy="9601200"/>
          </a:xfrm>
          <a:prstGeom prst="ellipse">
            <a:avLst/>
          </a:prstGeom>
          <a:gradFill rotWithShape="1">
            <a:gsLst>
              <a:gs pos="0">
                <a:srgbClr val="FFFFFF">
                  <a:alpha val="85000"/>
                </a:srgbClr>
              </a:gs>
              <a:gs pos="100000">
                <a:srgbClr val="FFFFFF">
                  <a:alpha val="0"/>
                </a:srgbClr>
              </a:gs>
            </a:gsLst>
            <a:path path="circle">
              <a:fillToRect l="50000" t="50000" r="50000" b="50000"/>
            </a:path>
          </a:gradFill>
          <a:ln>
            <a:noFill/>
          </a:ln>
        </p:spPr>
        <p:txBody>
          <a:bodyPr rtlCol="0" anchor="ctr"/>
          <a:lstStyle/>
          <a:p/>
        </p:txBody>
      </p:sp>
      <p:sp>
        <p:nvSpPr>
          <p:cNvPr id="5" name="!!Glow2"/>
          <p:cNvSpPr/>
          <p:nvPr/>
        </p:nvSpPr>
        <p:spPr>
          <a:xfrm>
            <a:off x="1889395" y="486536"/>
            <a:ext cx="6720840" cy="6720840"/>
          </a:xfrm>
          <a:prstGeom prst="ellipse">
            <a:avLst/>
          </a:prstGeom>
          <a:gradFill rotWithShape="1">
            <a:gsLst>
              <a:gs pos="0">
                <a:srgbClr val="F9A825">
                  <a:alpha val="14000"/>
                </a:srgbClr>
              </a:gs>
              <a:gs pos="100000">
                <a:srgbClr val="F9A825">
                  <a:alpha val="0"/>
                </a:srgbClr>
              </a:gs>
            </a:gsLst>
            <a:path path="circle">
              <a:fillToRect l="50000" t="50000" r="50000" b="50000"/>
            </a:path>
          </a:gradFill>
          <a:ln>
            <a:noFill/>
          </a:ln>
        </p:spPr>
        <p:txBody>
          <a:bodyPr rtlCol="0" anchor="ctr"/>
          <a:lstStyle/>
          <a:p/>
        </p:txBody>
      </p:sp>
      <p:sp>
        <p:nvSpPr>
          <p:cNvPr id="6" name="!!Ring"/>
          <p:cNvSpPr/>
          <p:nvPr/>
        </p:nvSpPr>
        <p:spPr>
          <a:xfrm>
            <a:off x="9484448" y="-4074371"/>
            <a:ext cx="7132320" cy="7132320"/>
          </a:xfrm>
          <a:prstGeom prst="ellipse">
            <a:avLst/>
          </a:prstGeom>
          <a:noFill/>
          <a:ln w="12700">
            <a:solidFill>
              <a:srgbClr val="F9A825">
                <a:alpha val="85000"/>
              </a:srgbClr>
            </a:solidFill>
          </a:ln>
        </p:spPr>
        <p:txBody>
          <a:bodyPr rtlCol="0" anchor="ctr"/>
          <a:lstStyle/>
          <a:p/>
        </p:txBody>
      </p:sp>
      <p:sp>
        <p:nvSpPr>
          <p:cNvPr id="7" name="!!Card0"/>
          <p:cNvSpPr/>
          <p:nvPr/>
        </p:nvSpPr>
        <p:spPr>
          <a:xfrm>
            <a:off x="685800" y="2103120"/>
            <a:ext cx="3383280" cy="2743200"/>
          </a:xfrm>
          <a:prstGeom prst="roundRect">
            <a:avLst>
              <a:gd name="adj" fmla="val 8000"/>
            </a:avLst>
          </a:prstGeom>
          <a:solidFill>
            <a:srgbClr val="FFFFFF"/>
          </a:solidFill>
          <a:ln w="9525">
            <a:solidFill>
              <a:srgbClr val="F9A825">
                <a:alpha val="55000"/>
              </a:srgbClr>
            </a:solidFill>
          </a:ln>
          <a:effectLst>
            <a:outerShdw blurRad="228600" dist="50800" dir="5400000" algn="t" rotWithShape="0">
              <a:srgbClr val="1A0507">
                <a:alpha val="18000"/>
              </a:srgbClr>
            </a:outerShdw>
          </a:effectLst>
        </p:spPr>
        <p:txBody>
          <a:bodyPr rtlCol="0" anchor="ctr"/>
          <a:lstStyle/>
          <a:p/>
        </p:txBody>
      </p:sp>
      <p:sp>
        <p:nvSpPr>
          <p:cNvPr id="8" name="!!Card1"/>
          <p:cNvSpPr/>
          <p:nvPr/>
        </p:nvSpPr>
        <p:spPr>
          <a:xfrm>
            <a:off x="4297680" y="2103120"/>
            <a:ext cx="3383280" cy="2743200"/>
          </a:xfrm>
          <a:prstGeom prst="roundRect">
            <a:avLst>
              <a:gd name="adj" fmla="val 8000"/>
            </a:avLst>
          </a:prstGeom>
          <a:solidFill>
            <a:srgbClr val="FFFFFF"/>
          </a:solidFill>
          <a:ln w="9525">
            <a:solidFill>
              <a:srgbClr val="F9A825">
                <a:alpha val="55000"/>
              </a:srgbClr>
            </a:solidFill>
          </a:ln>
          <a:effectLst>
            <a:outerShdw blurRad="228600" dist="50800" dir="5400000" algn="t" rotWithShape="0">
              <a:srgbClr val="1A0507">
                <a:alpha val="18000"/>
              </a:srgbClr>
            </a:outerShdw>
          </a:effectLst>
        </p:spPr>
        <p:txBody>
          <a:bodyPr rtlCol="0" anchor="ctr"/>
          <a:lstStyle/>
          <a:p/>
        </p:txBody>
      </p:sp>
      <p:sp>
        <p:nvSpPr>
          <p:cNvPr id="9" name="!!Card2"/>
          <p:cNvSpPr/>
          <p:nvPr/>
        </p:nvSpPr>
        <p:spPr>
          <a:xfrm>
            <a:off x="7909560" y="2103120"/>
            <a:ext cx="3383280" cy="2743200"/>
          </a:xfrm>
          <a:prstGeom prst="roundRect">
            <a:avLst>
              <a:gd name="adj" fmla="val 8000"/>
            </a:avLst>
          </a:prstGeom>
          <a:solidFill>
            <a:srgbClr val="FFFFFF"/>
          </a:solidFill>
          <a:ln w="9525">
            <a:solidFill>
              <a:srgbClr val="F9A825">
                <a:alpha val="55000"/>
              </a:srgbClr>
            </a:solidFill>
          </a:ln>
          <a:effectLst>
            <a:outerShdw blurRad="228600" dist="50800" dir="5400000" algn="t" rotWithShape="0">
              <a:srgbClr val="1A0507">
                <a:alpha val="18000"/>
              </a:srgbClr>
            </a:outerShdw>
          </a:effectLst>
        </p:spPr>
        <p:txBody>
          <a:bodyPr rtlCol="0" anchor="ctr"/>
          <a:lstStyle/>
          <a:p/>
        </p:txBody>
      </p:sp>
      <p:pic>
        <p:nvPicPr>
          <p:cNvPr id="10" name="!!Grain" descr="grain.png"/>
          <p:cNvPicPr>
            <a:picLocks noChangeAspect="1"/>
          </p:cNvPicPr>
          <p:nvPr/>
        </p:nvPicPr>
        <p:blipFill>
          <a:blip r:embed="rId3"/>
          <a:srcRect/>
          <a:stretch>
            <a:fillRect/>
          </a:stretch>
        </p:blipFill>
        <p:spPr>
          <a:xfrm>
            <a:off x="0" y="0"/>
            <a:ext cx="12192000" cy="6858000"/>
          </a:xfrm>
          <a:prstGeom prst="rect">
            <a:avLst/>
          </a:prstGeom>
        </p:spPr>
      </p:pic>
      <p:sp>
        <p:nvSpPr>
          <p:cNvPr id="11" name="!!Title"/>
          <p:cNvSpPr txBox="1"/>
          <p:nvPr/>
        </p:nvSpPr>
        <p:spPr>
          <a:xfrm>
            <a:off x="685800" y="914400"/>
            <a:ext cx="8686800" cy="731520"/>
          </a:xfrm>
          <a:prstGeom prst="rect">
            <a:avLst/>
          </a:prstGeom>
          <a:noFill/>
        </p:spPr>
        <p:txBody>
          <a:bodyPr wrap="square" lIns="0" rIns="0" tIns="0" bIns="0" anchor="t">
            <a:noAutofit/>
          </a:bodyPr>
          <a:lstStyle/>
          <a:p>
            <a:pPr algn="l">
              <a:lnSpc>
                <a:spcPct val="95000"/>
              </a:lnSpc>
            </a:pPr>
            <a:r>
              <a:rPr sz="4000">
                <a:solidFill>
                  <a:srgbClr val="7B1421"/>
                </a:solidFill>
                <a:latin typeface="Cream Heavy"/>
              </a:rPr>
              <a:t>Trois axes de communication</a:t>
            </a:r>
          </a:p>
        </p:txBody>
      </p:sp>
      <p:sp>
        <p:nvSpPr>
          <p:cNvPr id="12" name="!!CardN0"/>
          <p:cNvSpPr txBox="1"/>
          <p:nvPr/>
        </p:nvSpPr>
        <p:spPr>
          <a:xfrm>
            <a:off x="1005840" y="2331720"/>
            <a:ext cx="1828800" cy="914400"/>
          </a:xfrm>
          <a:prstGeom prst="rect">
            <a:avLst/>
          </a:prstGeom>
          <a:noFill/>
        </p:spPr>
        <p:txBody>
          <a:bodyPr wrap="square" lIns="0" rIns="0" tIns="0" bIns="0" anchor="t">
            <a:noAutofit/>
          </a:bodyPr>
          <a:lstStyle/>
          <a:p>
            <a:pPr algn="l"/>
            <a:r>
              <a:rPr sz="5400">
                <a:ln w="15875">
                  <a:solidFill>
                    <a:srgbClr val="F9A825"/>
                  </a:solidFill>
                </a:ln>
                <a:noFill/>
                <a:latin typeface="Cream Heavy"/>
              </a:rPr>
              <a:t>01</a:t>
            </a:r>
          </a:p>
        </p:txBody>
      </p:sp>
      <p:sp>
        <p:nvSpPr>
          <p:cNvPr id="13" name="!!CardT0"/>
          <p:cNvSpPr txBox="1"/>
          <p:nvPr/>
        </p:nvSpPr>
        <p:spPr>
          <a:xfrm>
            <a:off x="1005840" y="3429000"/>
            <a:ext cx="2788920" cy="1097280"/>
          </a:xfrm>
          <a:prstGeom prst="rect">
            <a:avLst/>
          </a:prstGeom>
          <a:noFill/>
        </p:spPr>
        <p:txBody>
          <a:bodyPr wrap="square" lIns="0" rIns="0" tIns="0" bIns="0" anchor="t">
            <a:noAutofit/>
          </a:bodyPr>
          <a:lstStyle/>
          <a:p>
            <a:pPr algn="l"/>
            <a:r>
              <a:rPr sz="1700">
                <a:solidFill>
                  <a:srgbClr val="000000"/>
                </a:solidFill>
                <a:latin typeface="Montserrat SemiBold"/>
              </a:rPr>
              <a:t>L'authenticité des saveurs ivoiriennes</a:t>
            </a:r>
          </a:p>
        </p:txBody>
      </p:sp>
      <p:sp>
        <p:nvSpPr>
          <p:cNvPr id="14" name="!!CardN1"/>
          <p:cNvSpPr txBox="1"/>
          <p:nvPr/>
        </p:nvSpPr>
        <p:spPr>
          <a:xfrm>
            <a:off x="4617720" y="2331720"/>
            <a:ext cx="1828800" cy="914400"/>
          </a:xfrm>
          <a:prstGeom prst="rect">
            <a:avLst/>
          </a:prstGeom>
          <a:noFill/>
        </p:spPr>
        <p:txBody>
          <a:bodyPr wrap="square" lIns="0" rIns="0" tIns="0" bIns="0" anchor="t">
            <a:noAutofit/>
          </a:bodyPr>
          <a:lstStyle/>
          <a:p>
            <a:pPr algn="l"/>
            <a:r>
              <a:rPr sz="5400">
                <a:ln w="15875">
                  <a:solidFill>
                    <a:srgbClr val="F9A825"/>
                  </a:solidFill>
                </a:ln>
                <a:noFill/>
                <a:latin typeface="Cream Heavy"/>
              </a:rPr>
              <a:t>02</a:t>
            </a:r>
          </a:p>
        </p:txBody>
      </p:sp>
      <p:sp>
        <p:nvSpPr>
          <p:cNvPr id="15" name="!!CardT1"/>
          <p:cNvSpPr txBox="1"/>
          <p:nvPr/>
        </p:nvSpPr>
        <p:spPr>
          <a:xfrm>
            <a:off x="4617720" y="3429000"/>
            <a:ext cx="2788920" cy="1097280"/>
          </a:xfrm>
          <a:prstGeom prst="rect">
            <a:avLst/>
          </a:prstGeom>
          <a:noFill/>
        </p:spPr>
        <p:txBody>
          <a:bodyPr wrap="square" lIns="0" rIns="0" tIns="0" bIns="0" anchor="t">
            <a:noAutofit/>
          </a:bodyPr>
          <a:lstStyle/>
          <a:p>
            <a:pPr algn="l"/>
            <a:r>
              <a:rPr sz="1700">
                <a:solidFill>
                  <a:srgbClr val="000000"/>
                </a:solidFill>
                <a:latin typeface="Montserrat SemiBold"/>
              </a:rPr>
              <a:t>La convivialité et le partage</a:t>
            </a:r>
          </a:p>
        </p:txBody>
      </p:sp>
      <p:sp>
        <p:nvSpPr>
          <p:cNvPr id="16" name="!!CardN2"/>
          <p:cNvSpPr txBox="1"/>
          <p:nvPr/>
        </p:nvSpPr>
        <p:spPr>
          <a:xfrm>
            <a:off x="8229600" y="2331720"/>
            <a:ext cx="1828800" cy="914400"/>
          </a:xfrm>
          <a:prstGeom prst="rect">
            <a:avLst/>
          </a:prstGeom>
          <a:noFill/>
        </p:spPr>
        <p:txBody>
          <a:bodyPr wrap="square" lIns="0" rIns="0" tIns="0" bIns="0" anchor="t">
            <a:noAutofit/>
          </a:bodyPr>
          <a:lstStyle/>
          <a:p>
            <a:pPr algn="l"/>
            <a:r>
              <a:rPr sz="5400">
                <a:ln w="15875">
                  <a:solidFill>
                    <a:srgbClr val="F9A825"/>
                  </a:solidFill>
                </a:ln>
                <a:noFill/>
                <a:latin typeface="Cream Heavy"/>
              </a:rPr>
              <a:t>03</a:t>
            </a:r>
          </a:p>
        </p:txBody>
      </p:sp>
      <p:sp>
        <p:nvSpPr>
          <p:cNvPr id="17" name="!!CardT2"/>
          <p:cNvSpPr txBox="1"/>
          <p:nvPr/>
        </p:nvSpPr>
        <p:spPr>
          <a:xfrm>
            <a:off x="8229600" y="3429000"/>
            <a:ext cx="2788920" cy="1097280"/>
          </a:xfrm>
          <a:prstGeom prst="rect">
            <a:avLst/>
          </a:prstGeom>
          <a:noFill/>
        </p:spPr>
        <p:txBody>
          <a:bodyPr wrap="square" lIns="0" rIns="0" tIns="0" bIns="0" anchor="t">
            <a:noAutofit/>
          </a:bodyPr>
          <a:lstStyle/>
          <a:p>
            <a:pPr algn="l"/>
            <a:r>
              <a:rPr sz="1700">
                <a:solidFill>
                  <a:srgbClr val="000000"/>
                </a:solidFill>
                <a:latin typeface="Montserrat SemiBold"/>
              </a:rPr>
              <a:t>La simplicité accessible au quotidien</a:t>
            </a:r>
          </a:p>
        </p:txBody>
      </p:sp>
      <p:sp>
        <p:nvSpPr>
          <p:cNvPr id="18"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A40C21"/>
                </a:solidFill>
                <a:latin typeface="Montserrat SemiBold"/>
              </a:rPr>
              <a:t>01 · Axes de communication</a:t>
            </a:r>
          </a:p>
        </p:txBody>
      </p:sp>
      <p:sp>
        <p:nvSpPr>
          <p:cNvPr id="19"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A40C21"/>
                </a:solidFill>
                <a:latin typeface="Montserrat SemiBold"/>
              </a:rPr>
              <a:t>12</a:t>
            </a:r>
          </a:p>
        </p:txBody>
      </p:sp>
      <p:pic>
        <p:nvPicPr>
          <p:cNvPr id="20" name="!!Logo" descr="Logo Marin'Or Ivoire"/>
          <p:cNvPicPr>
            <a:picLocks noChangeAspect="1"/>
          </p:cNvPicPr>
          <p:nvPr/>
        </p:nvPicPr>
        <p:blipFill>
          <a:blip r:embed="rId4"/>
          <a:stretch>
            <a:fillRect/>
          </a:stretch>
        </p:blipFill>
        <p:spPr>
          <a:xfrm>
            <a:off x="10546080" y="311488"/>
            <a:ext cx="960120" cy="50299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2A070D"/>
          </a:solidFill>
          <a:ln>
            <a:noFill/>
          </a:ln>
        </p:spPr>
        <p:txBody>
          <a:bodyPr rtlCol="0" anchor="ctr"/>
          <a:lstStyle/>
          <a:p/>
        </p:txBody>
      </p:sp>
      <p:pic>
        <p:nvPicPr>
          <p:cNvPr id="3" name="!!PlateD" descr="motif_creme.png"/>
          <p:cNvPicPr>
            <a:picLocks noChangeAspect="1"/>
          </p:cNvPicPr>
          <p:nvPr/>
        </p:nvPicPr>
        <p:blipFill>
          <a:blip r:embed="rId2"/>
          <a:srcRect t="0" b="0"/>
          <a:stretch>
            <a:fillRect/>
          </a:stretch>
        </p:blipFill>
        <p:spPr>
          <a:xfrm>
            <a:off x="-4116880" y="-4513443"/>
            <a:ext cx="24749760" cy="13921739"/>
          </a:xfrm>
          <a:prstGeom prst="rect">
            <a:avLst/>
          </a:prstGeom>
        </p:spPr>
      </p:pic>
      <p:sp>
        <p:nvSpPr>
          <p:cNvPr id="4" name="!!Glow"/>
          <p:cNvSpPr/>
          <p:nvPr/>
        </p:nvSpPr>
        <p:spPr>
          <a:xfrm>
            <a:off x="1172065" y="-1203607"/>
            <a:ext cx="9601200" cy="9601200"/>
          </a:xfrm>
          <a:prstGeom prst="ellipse">
            <a:avLst/>
          </a:prstGeom>
          <a:gradFill rotWithShape="1">
            <a:gsLst>
              <a:gs pos="0">
                <a:srgbClr val="B3222F">
                  <a:alpha val="55000"/>
                </a:srgbClr>
              </a:gs>
              <a:gs pos="45000">
                <a:srgbClr val="7B1421">
                  <a:alpha val="22000"/>
                </a:srgbClr>
              </a:gs>
              <a:gs pos="100000">
                <a:srgbClr val="7B1421">
                  <a:alpha val="0"/>
                </a:srgbClr>
              </a:gs>
            </a:gsLst>
            <a:path path="circle">
              <a:fillToRect l="50000" t="50000" r="50000" b="50000"/>
            </a:path>
          </a:gradFill>
          <a:ln>
            <a:noFill/>
          </a:ln>
        </p:spPr>
        <p:txBody>
          <a:bodyPr rtlCol="0" anchor="ctr"/>
          <a:lstStyle/>
          <a:p/>
        </p:txBody>
      </p:sp>
      <p:sp>
        <p:nvSpPr>
          <p:cNvPr id="5" name="!!Glow2"/>
          <p:cNvSpPr/>
          <p:nvPr/>
        </p:nvSpPr>
        <p:spPr>
          <a:xfrm>
            <a:off x="2858914" y="-99412"/>
            <a:ext cx="6720840" cy="6720840"/>
          </a:xfrm>
          <a:prstGeom prst="ellipse">
            <a:avLst/>
          </a:prstGeom>
          <a:gradFill rotWithShape="1">
            <a:gsLst>
              <a:gs pos="0">
                <a:srgbClr val="F9A825">
                  <a:alpha val="16000"/>
                </a:srgbClr>
              </a:gs>
              <a:gs pos="100000">
                <a:srgbClr val="F9A825">
                  <a:alpha val="0"/>
                </a:srgbClr>
              </a:gs>
            </a:gsLst>
            <a:path path="circle">
              <a:fillToRect l="50000" t="50000" r="50000" b="50000"/>
            </a:path>
          </a:gradFill>
          <a:ln>
            <a:noFill/>
          </a:ln>
        </p:spPr>
        <p:txBody>
          <a:bodyPr rtlCol="0" anchor="ctr"/>
          <a:lstStyle/>
          <a:p/>
        </p:txBody>
      </p:sp>
      <p:pic>
        <p:nvPicPr>
          <p:cNvPr id="6" name="!!Vignette" descr="vignette.png"/>
          <p:cNvPicPr>
            <a:picLocks noChangeAspect="1"/>
          </p:cNvPicPr>
          <p:nvPr/>
        </p:nvPicPr>
        <p:blipFill>
          <a:blip r:embed="rId3"/>
          <a:srcRect/>
          <a:stretch>
            <a:fillRect/>
          </a:stretch>
        </p:blipFill>
        <p:spPr>
          <a:xfrm>
            <a:off x="0" y="0"/>
            <a:ext cx="12192000" cy="6858000"/>
          </a:xfrm>
          <a:prstGeom prst="rect">
            <a:avLst/>
          </a:prstGeom>
        </p:spPr>
      </p:pic>
      <p:sp>
        <p:nvSpPr>
          <p:cNvPr id="7" name="!!Ring"/>
          <p:cNvSpPr/>
          <p:nvPr/>
        </p:nvSpPr>
        <p:spPr>
          <a:xfrm>
            <a:off x="3535680" y="777240"/>
            <a:ext cx="5120640" cy="5120640"/>
          </a:xfrm>
          <a:prstGeom prst="ellipse">
            <a:avLst/>
          </a:prstGeom>
          <a:noFill/>
          <a:ln w="12700">
            <a:solidFill>
              <a:srgbClr val="F9A825">
                <a:alpha val="70000"/>
              </a:srgbClr>
            </a:solidFill>
          </a:ln>
        </p:spPr>
        <p:txBody>
          <a:bodyPr rtlCol="0" anchor="ctr"/>
          <a:lstStyle/>
          <a:p/>
        </p:txBody>
      </p:sp>
      <p:sp>
        <p:nvSpPr>
          <p:cNvPr id="8" name="!!SecNum"/>
          <p:cNvSpPr txBox="1"/>
          <p:nvPr/>
        </p:nvSpPr>
        <p:spPr>
          <a:xfrm>
            <a:off x="3352800" y="868680"/>
            <a:ext cx="5486400" cy="1737360"/>
          </a:xfrm>
          <a:prstGeom prst="rect">
            <a:avLst/>
          </a:prstGeom>
          <a:noFill/>
        </p:spPr>
        <p:txBody>
          <a:bodyPr wrap="square" lIns="0" rIns="0" tIns="0" bIns="0" anchor="ctr">
            <a:noAutofit/>
          </a:bodyPr>
          <a:lstStyle/>
          <a:p>
            <a:pPr algn="ctr"/>
            <a:r>
              <a:rPr sz="12000">
                <a:ln w="15875">
                  <a:solidFill>
                    <a:srgbClr val="F9A825">
                      <a:alpha val="30000"/>
                    </a:srgbClr>
                  </a:solidFill>
                </a:ln>
                <a:noFill/>
                <a:latin typeface="Cream Heavy"/>
              </a:rPr>
              <a:t>02</a:t>
            </a:r>
          </a:p>
        </p:txBody>
      </p:sp>
      <p:pic>
        <p:nvPicPr>
          <p:cNvPr id="9" name="!!P_arachide" descr="Pâte d'arachide"/>
          <p:cNvPicPr>
            <a:picLocks noChangeAspect="1"/>
          </p:cNvPicPr>
          <p:nvPr/>
        </p:nvPicPr>
        <p:blipFill>
          <a:blip r:embed="rId4"/>
          <a:stretch>
            <a:fillRect/>
          </a:stretch>
        </p:blipFill>
        <p:spPr>
          <a:xfrm>
            <a:off x="6715386" y="662857"/>
            <a:ext cx="843715" cy="904853"/>
          </a:xfrm>
          <a:prstGeom prst="rect">
            <a:avLst/>
          </a:prstGeom>
        </p:spPr>
      </p:pic>
      <p:pic>
        <p:nvPicPr>
          <p:cNvPr id="10" name="!!P_epice_poisson" descr="Épice spéciale poisson"/>
          <p:cNvPicPr>
            <a:picLocks noChangeAspect="1"/>
          </p:cNvPicPr>
          <p:nvPr/>
        </p:nvPicPr>
        <p:blipFill>
          <a:blip r:embed="rId5"/>
          <a:stretch>
            <a:fillRect/>
          </a:stretch>
        </p:blipFill>
        <p:spPr>
          <a:xfrm>
            <a:off x="4621228" y="690534"/>
            <a:ext cx="705538" cy="871186"/>
          </a:xfrm>
          <a:prstGeom prst="rect">
            <a:avLst/>
          </a:prstGeom>
        </p:spPr>
      </p:pic>
      <p:pic>
        <p:nvPicPr>
          <p:cNvPr id="11" name="!!P_bouillon" descr="Bouillon bio de poulet"/>
          <p:cNvPicPr>
            <a:picLocks noChangeAspect="1"/>
          </p:cNvPicPr>
          <p:nvPr/>
        </p:nvPicPr>
        <p:blipFill>
          <a:blip r:embed="rId6"/>
          <a:stretch>
            <a:fillRect/>
          </a:stretch>
        </p:blipFill>
        <p:spPr>
          <a:xfrm>
            <a:off x="2767256" y="1097727"/>
            <a:ext cx="690589" cy="922822"/>
          </a:xfrm>
          <a:prstGeom prst="rect">
            <a:avLst/>
          </a:prstGeom>
        </p:spPr>
      </p:pic>
      <p:pic>
        <p:nvPicPr>
          <p:cNvPr id="12" name="!!P_paprika" descr="Paprika"/>
          <p:cNvPicPr>
            <a:picLocks noChangeAspect="1"/>
          </p:cNvPicPr>
          <p:nvPr/>
        </p:nvPicPr>
        <p:blipFill>
          <a:blip r:embed="rId7"/>
          <a:stretch>
            <a:fillRect/>
          </a:stretch>
        </p:blipFill>
        <p:spPr>
          <a:xfrm>
            <a:off x="8830796" y="1095991"/>
            <a:ext cx="657151" cy="927381"/>
          </a:xfrm>
          <a:prstGeom prst="rect">
            <a:avLst/>
          </a:prstGeom>
        </p:spPr>
      </p:pic>
      <p:pic>
        <p:nvPicPr>
          <p:cNvPr id="13" name="!!P_marinade_mixte" descr="Marinade mixte"/>
          <p:cNvPicPr>
            <a:picLocks noChangeAspect="1"/>
          </p:cNvPicPr>
          <p:nvPr/>
        </p:nvPicPr>
        <p:blipFill>
          <a:blip r:embed="rId8"/>
          <a:stretch>
            <a:fillRect/>
          </a:stretch>
        </p:blipFill>
        <p:spPr>
          <a:xfrm>
            <a:off x="1338755" y="1851008"/>
            <a:ext cx="543135" cy="982525"/>
          </a:xfrm>
          <a:prstGeom prst="rect">
            <a:avLst/>
          </a:prstGeom>
        </p:spPr>
      </p:pic>
      <p:pic>
        <p:nvPicPr>
          <p:cNvPr id="14" name="!!P_marinade_poulet" descr="Marinade poulet"/>
          <p:cNvPicPr>
            <a:picLocks noChangeAspect="1"/>
          </p:cNvPicPr>
          <p:nvPr/>
        </p:nvPicPr>
        <p:blipFill>
          <a:blip r:embed="rId9"/>
          <a:stretch>
            <a:fillRect/>
          </a:stretch>
        </p:blipFill>
        <p:spPr>
          <a:xfrm>
            <a:off x="10181768" y="1865144"/>
            <a:ext cx="611725" cy="978760"/>
          </a:xfrm>
          <a:prstGeom prst="rect">
            <a:avLst/>
          </a:prstGeom>
        </p:spPr>
      </p:pic>
      <p:pic>
        <p:nvPicPr>
          <p:cNvPr id="15" name="!!P_epice_poulet" descr="Épice spéciale poulet"/>
          <p:cNvPicPr>
            <a:picLocks noChangeAspect="1"/>
          </p:cNvPicPr>
          <p:nvPr/>
        </p:nvPicPr>
        <p:blipFill>
          <a:blip r:embed="rId10"/>
          <a:stretch>
            <a:fillRect/>
          </a:stretch>
        </p:blipFill>
        <p:spPr>
          <a:xfrm>
            <a:off x="574829" y="2773423"/>
            <a:ext cx="967792" cy="1182176"/>
          </a:xfrm>
          <a:prstGeom prst="rect">
            <a:avLst/>
          </a:prstGeom>
        </p:spPr>
      </p:pic>
      <p:pic>
        <p:nvPicPr>
          <p:cNvPr id="16" name="!!P_piment" descr="Piment en poudre"/>
          <p:cNvPicPr>
            <a:picLocks noChangeAspect="1"/>
          </p:cNvPicPr>
          <p:nvPr/>
        </p:nvPicPr>
        <p:blipFill>
          <a:blip r:embed="rId11"/>
          <a:stretch>
            <a:fillRect/>
          </a:stretch>
        </p:blipFill>
        <p:spPr>
          <a:xfrm>
            <a:off x="10819663" y="2788084"/>
            <a:ext cx="939910" cy="1165732"/>
          </a:xfrm>
          <a:prstGeom prst="rect">
            <a:avLst/>
          </a:prstGeom>
        </p:spPr>
      </p:pic>
      <p:pic>
        <p:nvPicPr>
          <p:cNvPr id="17" name="!!P_ail" descr="Purée d'ail"/>
          <p:cNvPicPr>
            <a:picLocks noChangeAspect="1"/>
          </p:cNvPicPr>
          <p:nvPr/>
        </p:nvPicPr>
        <p:blipFill>
          <a:blip r:embed="rId12"/>
          <a:stretch>
            <a:fillRect/>
          </a:stretch>
        </p:blipFill>
        <p:spPr>
          <a:xfrm>
            <a:off x="687909" y="3771668"/>
            <a:ext cx="923966" cy="1309463"/>
          </a:xfrm>
          <a:prstGeom prst="rect">
            <a:avLst/>
          </a:prstGeom>
        </p:spPr>
      </p:pic>
      <p:pic>
        <p:nvPicPr>
          <p:cNvPr id="18" name="!!P_akpi" descr="Graines d'akpi"/>
          <p:cNvPicPr>
            <a:picLocks noChangeAspect="1"/>
          </p:cNvPicPr>
          <p:nvPr/>
        </p:nvPicPr>
        <p:blipFill>
          <a:blip r:embed="rId13"/>
          <a:stretch>
            <a:fillRect/>
          </a:stretch>
        </p:blipFill>
        <p:spPr>
          <a:xfrm>
            <a:off x="10526946" y="3768193"/>
            <a:ext cx="858396" cy="1318251"/>
          </a:xfrm>
          <a:prstGeom prst="rect">
            <a:avLst/>
          </a:prstGeom>
        </p:spPr>
      </p:pic>
      <p:pic>
        <p:nvPicPr>
          <p:cNvPr id="19" name="!!P_poudre_poisson" descr="Poudre de poisson sec"/>
          <p:cNvPicPr>
            <a:picLocks noChangeAspect="1"/>
          </p:cNvPicPr>
          <p:nvPr/>
        </p:nvPicPr>
        <p:blipFill>
          <a:blip r:embed="rId14"/>
          <a:stretch>
            <a:fillRect/>
          </a:stretch>
        </p:blipFill>
        <p:spPr>
          <a:xfrm>
            <a:off x="1786719" y="4648054"/>
            <a:ext cx="1111376" cy="1410592"/>
          </a:xfrm>
          <a:prstGeom prst="rect">
            <a:avLst/>
          </a:prstGeom>
        </p:spPr>
      </p:pic>
      <p:pic>
        <p:nvPicPr>
          <p:cNvPr id="20" name="!!P_huile" descr="Huile rouge"/>
          <p:cNvPicPr>
            <a:picLocks noChangeAspect="1"/>
          </p:cNvPicPr>
          <p:nvPr/>
        </p:nvPicPr>
        <p:blipFill>
          <a:blip r:embed="rId15"/>
          <a:stretch>
            <a:fillRect/>
          </a:stretch>
        </p:blipFill>
        <p:spPr>
          <a:xfrm>
            <a:off x="9683863" y="4595152"/>
            <a:ext cx="722445" cy="1542848"/>
          </a:xfrm>
          <a:prstGeom prst="rect">
            <a:avLst/>
          </a:prstGeom>
        </p:spPr>
      </p:pic>
      <p:pic>
        <p:nvPicPr>
          <p:cNvPr id="21" name="!!P_marinade_poisson" descr="Marinade poisson"/>
          <p:cNvPicPr>
            <a:picLocks noChangeAspect="1"/>
          </p:cNvPicPr>
          <p:nvPr/>
        </p:nvPicPr>
        <p:blipFill>
          <a:blip r:embed="rId16"/>
          <a:stretch>
            <a:fillRect/>
          </a:stretch>
        </p:blipFill>
        <p:spPr>
          <a:xfrm>
            <a:off x="3465368" y="5252990"/>
            <a:ext cx="875957" cy="1439509"/>
          </a:xfrm>
          <a:prstGeom prst="rect">
            <a:avLst/>
          </a:prstGeom>
        </p:spPr>
      </p:pic>
      <p:pic>
        <p:nvPicPr>
          <p:cNvPr id="22" name="!!P_djoumble" descr="Poudre de djoumblé"/>
          <p:cNvPicPr>
            <a:picLocks noChangeAspect="1"/>
          </p:cNvPicPr>
          <p:nvPr/>
        </p:nvPicPr>
        <p:blipFill>
          <a:blip r:embed="rId17"/>
          <a:stretch>
            <a:fillRect/>
          </a:stretch>
        </p:blipFill>
        <p:spPr>
          <a:xfrm>
            <a:off x="7555372" y="5229291"/>
            <a:ext cx="1130484" cy="1503238"/>
          </a:xfrm>
          <a:prstGeom prst="rect">
            <a:avLst/>
          </a:prstGeom>
        </p:spPr>
      </p:pic>
      <p:pic>
        <p:nvPicPr>
          <p:cNvPr id="23" name="!!P_crevette" descr="Poudre de crevettes séchées"/>
          <p:cNvPicPr>
            <a:picLocks noChangeAspect="1"/>
          </p:cNvPicPr>
          <p:nvPr/>
        </p:nvPicPr>
        <p:blipFill>
          <a:blip r:embed="rId18"/>
          <a:stretch>
            <a:fillRect/>
          </a:stretch>
        </p:blipFill>
        <p:spPr>
          <a:xfrm>
            <a:off x="5622290" y="5422906"/>
            <a:ext cx="1031261" cy="1549942"/>
          </a:xfrm>
          <a:prstGeom prst="rect">
            <a:avLst/>
          </a:prstGeom>
        </p:spPr>
      </p:pic>
      <p:pic>
        <p:nvPicPr>
          <p:cNvPr id="24" name="!!Grain" descr="grain.png"/>
          <p:cNvPicPr>
            <a:picLocks noChangeAspect="1"/>
          </p:cNvPicPr>
          <p:nvPr/>
        </p:nvPicPr>
        <p:blipFill>
          <a:blip r:embed="rId19"/>
          <a:srcRect/>
          <a:stretch>
            <a:fillRect/>
          </a:stretch>
        </p:blipFill>
        <p:spPr>
          <a:xfrm>
            <a:off x="0" y="0"/>
            <a:ext cx="12192000" cy="6858000"/>
          </a:xfrm>
          <a:prstGeom prst="rect">
            <a:avLst/>
          </a:prstGeom>
        </p:spPr>
      </p:pic>
      <p:sp>
        <p:nvSpPr>
          <p:cNvPr id="25" name="!!TitleCA1"/>
          <p:cNvSpPr txBox="1"/>
          <p:nvPr/>
        </p:nvSpPr>
        <p:spPr>
          <a:xfrm>
            <a:off x="-20116" y="3017520"/>
            <a:ext cx="12192000" cy="822960"/>
          </a:xfrm>
          <a:prstGeom prst="rect">
            <a:avLst/>
          </a:prstGeom>
          <a:noFill/>
        </p:spPr>
        <p:txBody>
          <a:bodyPr wrap="square" lIns="0" rIns="0" tIns="0" bIns="0" anchor="ctr">
            <a:noAutofit/>
          </a:bodyPr>
          <a:lstStyle/>
          <a:p>
            <a:pPr algn="ctr">
              <a:lnSpc>
                <a:spcPct val="95000"/>
              </a:lnSpc>
            </a:pPr>
            <a:r>
              <a:rPr sz="4400">
                <a:solidFill>
                  <a:srgbClr val="A40C21">
                    <a:alpha val="40000"/>
                  </a:srgbClr>
                </a:solidFill>
                <a:latin typeface="Cream Heavy"/>
              </a:rPr>
              <a:t>Présentation des produits</a:t>
            </a:r>
          </a:p>
        </p:txBody>
      </p:sp>
      <p:sp>
        <p:nvSpPr>
          <p:cNvPr id="26" name="!!TitleCA2"/>
          <p:cNvSpPr txBox="1"/>
          <p:nvPr/>
        </p:nvSpPr>
        <p:spPr>
          <a:xfrm>
            <a:off x="20116" y="3017520"/>
            <a:ext cx="12192000" cy="822960"/>
          </a:xfrm>
          <a:prstGeom prst="rect">
            <a:avLst/>
          </a:prstGeom>
          <a:noFill/>
        </p:spPr>
        <p:txBody>
          <a:bodyPr wrap="square" lIns="0" rIns="0" tIns="0" bIns="0" anchor="ctr">
            <a:noAutofit/>
          </a:bodyPr>
          <a:lstStyle/>
          <a:p>
            <a:pPr algn="ctr">
              <a:lnSpc>
                <a:spcPct val="95000"/>
              </a:lnSpc>
            </a:pPr>
            <a:r>
              <a:rPr sz="4400">
                <a:solidFill>
                  <a:srgbClr val="FBD021">
                    <a:alpha val="30000"/>
                  </a:srgbClr>
                </a:solidFill>
                <a:latin typeface="Cream Heavy"/>
              </a:rPr>
              <a:t>Présentation des produits</a:t>
            </a:r>
          </a:p>
        </p:txBody>
      </p:sp>
      <p:sp>
        <p:nvSpPr>
          <p:cNvPr id="27" name="!!Title"/>
          <p:cNvSpPr txBox="1"/>
          <p:nvPr/>
        </p:nvSpPr>
        <p:spPr>
          <a:xfrm>
            <a:off x="0" y="3017520"/>
            <a:ext cx="12192000" cy="822960"/>
          </a:xfrm>
          <a:prstGeom prst="rect">
            <a:avLst/>
          </a:prstGeom>
          <a:noFill/>
        </p:spPr>
        <p:txBody>
          <a:bodyPr wrap="square" lIns="0" rIns="0" tIns="0" bIns="0" anchor="ctr">
            <a:noAutofit/>
          </a:bodyPr>
          <a:lstStyle/>
          <a:p>
            <a:pPr algn="ctr">
              <a:lnSpc>
                <a:spcPct val="95000"/>
              </a:lnSpc>
            </a:pPr>
            <a:r>
              <a:rPr sz="4400">
                <a:gradFill rotWithShape="1">
                  <a:gsLst>
                    <a:gs pos="0">
                      <a:srgbClr val="FFF8EE"/>
                    </a:gs>
                    <a:gs pos="55000">
                      <a:srgbClr val="FFECD1"/>
                    </a:gs>
                    <a:gs pos="100000">
                      <a:srgbClr val="F6C77A"/>
                    </a:gs>
                  </a:gsLst>
                  <a:lin ang="5400000" scaled="0"/>
                </a:gradFill>
                <a:latin typeface="Cream Heavy"/>
              </a:rPr>
              <a:t>Présentation des produits</a:t>
            </a:r>
          </a:p>
        </p:txBody>
      </p:sp>
      <p:sp>
        <p:nvSpPr>
          <p:cNvPr id="28"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F9A825"/>
                </a:solidFill>
                <a:latin typeface="Montserrat SemiBold"/>
              </a:rPr>
              <a:t>02 · Les produits</a:t>
            </a:r>
          </a:p>
        </p:txBody>
      </p:sp>
      <p:sp>
        <p:nvSpPr>
          <p:cNvPr id="29"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F9A825"/>
                </a:solidFill>
                <a:latin typeface="Montserrat SemiBold"/>
              </a:rPr>
              <a:t>13</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600">
        <p159:morph option="byObject"/>
      </p:transition>
    </mc:Choice>
    <mc:Fallback>
      <p:transition spd="slow">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FF6EA"/>
          </a:solidFill>
          <a:ln>
            <a:noFill/>
          </a:ln>
        </p:spPr>
        <p:txBody>
          <a:bodyPr rtlCol="0" anchor="ctr"/>
          <a:lstStyle/>
          <a:p/>
        </p:txBody>
      </p:sp>
      <p:pic>
        <p:nvPicPr>
          <p:cNvPr id="3" name="!!PlateL" descr="motif_bord.png"/>
          <p:cNvPicPr>
            <a:picLocks noChangeAspect="1"/>
          </p:cNvPicPr>
          <p:nvPr/>
        </p:nvPicPr>
        <p:blipFill>
          <a:blip r:embed="rId2"/>
          <a:srcRect/>
          <a:stretch>
            <a:fillRect/>
          </a:stretch>
        </p:blipFill>
        <p:spPr>
          <a:xfrm>
            <a:off x="-2590000" y="-3645308"/>
            <a:ext cx="21336000" cy="12001500"/>
          </a:xfrm>
          <a:prstGeom prst="rect">
            <a:avLst/>
          </a:prstGeom>
        </p:spPr>
      </p:pic>
      <p:sp>
        <p:nvSpPr>
          <p:cNvPr id="4" name="!!Glow"/>
          <p:cNvSpPr/>
          <p:nvPr/>
        </p:nvSpPr>
        <p:spPr>
          <a:xfrm>
            <a:off x="-408363" y="-909941"/>
            <a:ext cx="9601200" cy="9601200"/>
          </a:xfrm>
          <a:prstGeom prst="ellipse">
            <a:avLst/>
          </a:prstGeom>
          <a:gradFill rotWithShape="1">
            <a:gsLst>
              <a:gs pos="0">
                <a:srgbClr val="FFFFFF">
                  <a:alpha val="85000"/>
                </a:srgbClr>
              </a:gs>
              <a:gs pos="100000">
                <a:srgbClr val="FFFFFF">
                  <a:alpha val="0"/>
                </a:srgbClr>
              </a:gs>
            </a:gsLst>
            <a:path path="circle">
              <a:fillToRect l="50000" t="50000" r="50000" b="50000"/>
            </a:path>
          </a:gradFill>
          <a:ln>
            <a:noFill/>
          </a:ln>
        </p:spPr>
        <p:txBody>
          <a:bodyPr rtlCol="0" anchor="ctr"/>
          <a:lstStyle/>
          <a:p/>
        </p:txBody>
      </p:sp>
      <p:sp>
        <p:nvSpPr>
          <p:cNvPr id="5" name="!!Glow2"/>
          <p:cNvSpPr/>
          <p:nvPr/>
        </p:nvSpPr>
        <p:spPr>
          <a:xfrm>
            <a:off x="4439343" y="-393078"/>
            <a:ext cx="6720840" cy="6720840"/>
          </a:xfrm>
          <a:prstGeom prst="ellipse">
            <a:avLst/>
          </a:prstGeom>
          <a:gradFill rotWithShape="1">
            <a:gsLst>
              <a:gs pos="0">
                <a:srgbClr val="F9A825">
                  <a:alpha val="14000"/>
                </a:srgbClr>
              </a:gs>
              <a:gs pos="100000">
                <a:srgbClr val="F9A825">
                  <a:alpha val="0"/>
                </a:srgbClr>
              </a:gs>
            </a:gsLst>
            <a:path path="circle">
              <a:fillToRect l="50000" t="50000" r="50000" b="50000"/>
            </a:path>
          </a:gradFill>
          <a:ln>
            <a:noFill/>
          </a:ln>
        </p:spPr>
        <p:txBody>
          <a:bodyPr rtlCol="0" anchor="ctr"/>
          <a:lstStyle/>
          <a:p/>
        </p:txBody>
      </p:sp>
      <p:sp>
        <p:nvSpPr>
          <p:cNvPr id="6" name="!!Table"/>
          <p:cNvSpPr/>
          <p:nvPr/>
        </p:nvSpPr>
        <p:spPr>
          <a:xfrm>
            <a:off x="0" y="5074920"/>
            <a:ext cx="12192000" cy="1783080"/>
          </a:xfrm>
          <a:prstGeom prst="rect">
            <a:avLst/>
          </a:prstGeom>
          <a:gradFill rotWithShape="1">
            <a:gsLst>
              <a:gs pos="0">
                <a:srgbClr val="F3DCC0">
                  <a:alpha val="0"/>
                </a:srgbClr>
              </a:gs>
              <a:gs pos="100000">
                <a:srgbClr val="EBCDA9">
                  <a:alpha val="70000"/>
                </a:srgbClr>
              </a:gs>
            </a:gsLst>
            <a:lin ang="5400000" scaled="0"/>
          </a:gradFill>
          <a:ln>
            <a:noFill/>
          </a:ln>
        </p:spPr>
        <p:txBody>
          <a:bodyPr rtlCol="0" anchor="ctr"/>
          <a:lstStyle/>
          <a:p/>
        </p:txBody>
      </p:sp>
      <p:sp>
        <p:nvSpPr>
          <p:cNvPr id="7" name="!!S_epice_poulet"/>
          <p:cNvSpPr/>
          <p:nvPr/>
        </p:nvSpPr>
        <p:spPr>
          <a:xfrm>
            <a:off x="1416075" y="3064582"/>
            <a:ext cx="1049250" cy="209850"/>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8" name="!!P_epice_poulet" descr="Épice spéciale poulet"/>
          <p:cNvPicPr>
            <a:picLocks noChangeAspect="1"/>
          </p:cNvPicPr>
          <p:nvPr/>
        </p:nvPicPr>
        <p:blipFill>
          <a:blip r:embed="rId3"/>
          <a:stretch>
            <a:fillRect/>
          </a:stretch>
        </p:blipFill>
        <p:spPr>
          <a:xfrm>
            <a:off x="1504917" y="1905203"/>
            <a:ext cx="871565" cy="1344174"/>
          </a:xfrm>
          <a:prstGeom prst="rect">
            <a:avLst/>
          </a:prstGeom>
        </p:spPr>
      </p:pic>
      <p:sp>
        <p:nvSpPr>
          <p:cNvPr id="9" name="!!S_epice_poisson"/>
          <p:cNvSpPr/>
          <p:nvPr/>
        </p:nvSpPr>
        <p:spPr>
          <a:xfrm>
            <a:off x="2339475" y="3064582"/>
            <a:ext cx="1049250" cy="209850"/>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10" name="!!P_epice_poisson" descr="Épice spéciale poisson"/>
          <p:cNvPicPr>
            <a:picLocks noChangeAspect="1"/>
          </p:cNvPicPr>
          <p:nvPr/>
        </p:nvPicPr>
        <p:blipFill>
          <a:blip r:embed="rId4"/>
          <a:stretch>
            <a:fillRect/>
          </a:stretch>
        </p:blipFill>
        <p:spPr>
          <a:xfrm>
            <a:off x="2428317" y="1905203"/>
            <a:ext cx="871565" cy="1344174"/>
          </a:xfrm>
          <a:prstGeom prst="rect">
            <a:avLst/>
          </a:prstGeom>
        </p:spPr>
      </p:pic>
      <p:sp>
        <p:nvSpPr>
          <p:cNvPr id="11" name="!!S_paprika"/>
          <p:cNvSpPr/>
          <p:nvPr/>
        </p:nvSpPr>
        <p:spPr>
          <a:xfrm>
            <a:off x="3262875" y="3064582"/>
            <a:ext cx="1049250" cy="209850"/>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12" name="!!P_paprika" descr="Paprika"/>
          <p:cNvPicPr>
            <a:picLocks noChangeAspect="1"/>
          </p:cNvPicPr>
          <p:nvPr/>
        </p:nvPicPr>
        <p:blipFill>
          <a:blip r:embed="rId5"/>
          <a:stretch>
            <a:fillRect/>
          </a:stretch>
        </p:blipFill>
        <p:spPr>
          <a:xfrm>
            <a:off x="3351717" y="1905203"/>
            <a:ext cx="871565" cy="1344174"/>
          </a:xfrm>
          <a:prstGeom prst="rect">
            <a:avLst/>
          </a:prstGeom>
        </p:spPr>
      </p:pic>
      <p:sp>
        <p:nvSpPr>
          <p:cNvPr id="13" name="!!S_piment"/>
          <p:cNvSpPr/>
          <p:nvPr/>
        </p:nvSpPr>
        <p:spPr>
          <a:xfrm>
            <a:off x="4186275" y="3064582"/>
            <a:ext cx="1049250" cy="209850"/>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14" name="!!P_piment" descr="Piment en poudre"/>
          <p:cNvPicPr>
            <a:picLocks noChangeAspect="1"/>
          </p:cNvPicPr>
          <p:nvPr/>
        </p:nvPicPr>
        <p:blipFill>
          <a:blip r:embed="rId6"/>
          <a:stretch>
            <a:fillRect/>
          </a:stretch>
        </p:blipFill>
        <p:spPr>
          <a:xfrm>
            <a:off x="4275117" y="1905203"/>
            <a:ext cx="871565" cy="1344174"/>
          </a:xfrm>
          <a:prstGeom prst="rect">
            <a:avLst/>
          </a:prstGeom>
        </p:spPr>
      </p:pic>
      <p:sp>
        <p:nvSpPr>
          <p:cNvPr id="15" name="!!S_akpi"/>
          <p:cNvSpPr/>
          <p:nvPr/>
        </p:nvSpPr>
        <p:spPr>
          <a:xfrm>
            <a:off x="5109675" y="3064582"/>
            <a:ext cx="1049250" cy="209850"/>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16" name="!!P_akpi" descr="Graines d'akpi"/>
          <p:cNvPicPr>
            <a:picLocks noChangeAspect="1"/>
          </p:cNvPicPr>
          <p:nvPr/>
        </p:nvPicPr>
        <p:blipFill>
          <a:blip r:embed="rId7"/>
          <a:stretch>
            <a:fillRect/>
          </a:stretch>
        </p:blipFill>
        <p:spPr>
          <a:xfrm>
            <a:off x="5198517" y="1905203"/>
            <a:ext cx="871565" cy="1344174"/>
          </a:xfrm>
          <a:prstGeom prst="rect">
            <a:avLst/>
          </a:prstGeom>
        </p:spPr>
      </p:pic>
      <p:sp>
        <p:nvSpPr>
          <p:cNvPr id="17" name="!!S_djoumble"/>
          <p:cNvSpPr/>
          <p:nvPr/>
        </p:nvSpPr>
        <p:spPr>
          <a:xfrm>
            <a:off x="6033075" y="3064582"/>
            <a:ext cx="1049250" cy="209850"/>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18" name="!!P_djoumble" descr="Poudre de djoumblé"/>
          <p:cNvPicPr>
            <a:picLocks noChangeAspect="1"/>
          </p:cNvPicPr>
          <p:nvPr/>
        </p:nvPicPr>
        <p:blipFill>
          <a:blip r:embed="rId8"/>
          <a:stretch>
            <a:fillRect/>
          </a:stretch>
        </p:blipFill>
        <p:spPr>
          <a:xfrm>
            <a:off x="6121917" y="1905203"/>
            <a:ext cx="871565" cy="1344174"/>
          </a:xfrm>
          <a:prstGeom prst="rect">
            <a:avLst/>
          </a:prstGeom>
        </p:spPr>
      </p:pic>
      <p:sp>
        <p:nvSpPr>
          <p:cNvPr id="19" name="!!S_crevette"/>
          <p:cNvSpPr/>
          <p:nvPr/>
        </p:nvSpPr>
        <p:spPr>
          <a:xfrm>
            <a:off x="6956475" y="3064582"/>
            <a:ext cx="1049250" cy="209850"/>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20" name="!!P_crevette" descr="Poudre de crevettes séchées"/>
          <p:cNvPicPr>
            <a:picLocks noChangeAspect="1"/>
          </p:cNvPicPr>
          <p:nvPr/>
        </p:nvPicPr>
        <p:blipFill>
          <a:blip r:embed="rId9"/>
          <a:stretch>
            <a:fillRect/>
          </a:stretch>
        </p:blipFill>
        <p:spPr>
          <a:xfrm>
            <a:off x="7045317" y="1905203"/>
            <a:ext cx="871565" cy="1344174"/>
          </a:xfrm>
          <a:prstGeom prst="rect">
            <a:avLst/>
          </a:prstGeom>
        </p:spPr>
      </p:pic>
      <p:sp>
        <p:nvSpPr>
          <p:cNvPr id="21" name="!!S_poudre_poisson"/>
          <p:cNvSpPr/>
          <p:nvPr/>
        </p:nvSpPr>
        <p:spPr>
          <a:xfrm>
            <a:off x="7879875" y="3064582"/>
            <a:ext cx="1049250" cy="209850"/>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22" name="!!P_poudre_poisson" descr="Poudre de poisson sec"/>
          <p:cNvPicPr>
            <a:picLocks noChangeAspect="1"/>
          </p:cNvPicPr>
          <p:nvPr/>
        </p:nvPicPr>
        <p:blipFill>
          <a:blip r:embed="rId10"/>
          <a:stretch>
            <a:fillRect/>
          </a:stretch>
        </p:blipFill>
        <p:spPr>
          <a:xfrm>
            <a:off x="7968717" y="1905203"/>
            <a:ext cx="871565" cy="1344174"/>
          </a:xfrm>
          <a:prstGeom prst="rect">
            <a:avLst/>
          </a:prstGeom>
        </p:spPr>
      </p:pic>
      <p:sp>
        <p:nvSpPr>
          <p:cNvPr id="23" name="!!S_ail"/>
          <p:cNvSpPr/>
          <p:nvPr/>
        </p:nvSpPr>
        <p:spPr>
          <a:xfrm>
            <a:off x="8803275" y="3064582"/>
            <a:ext cx="1049250" cy="209850"/>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24" name="!!P_ail" descr="Purée d'ail"/>
          <p:cNvPicPr>
            <a:picLocks noChangeAspect="1"/>
          </p:cNvPicPr>
          <p:nvPr/>
        </p:nvPicPr>
        <p:blipFill>
          <a:blip r:embed="rId11"/>
          <a:stretch>
            <a:fillRect/>
          </a:stretch>
        </p:blipFill>
        <p:spPr>
          <a:xfrm>
            <a:off x="8892117" y="1905203"/>
            <a:ext cx="871565" cy="1344174"/>
          </a:xfrm>
          <a:prstGeom prst="rect">
            <a:avLst/>
          </a:prstGeom>
        </p:spPr>
      </p:pic>
      <p:sp>
        <p:nvSpPr>
          <p:cNvPr id="25" name="!!S_bouillon"/>
          <p:cNvSpPr/>
          <p:nvPr/>
        </p:nvSpPr>
        <p:spPr>
          <a:xfrm>
            <a:off x="9726675" y="3064582"/>
            <a:ext cx="1049250" cy="209850"/>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26" name="!!P_bouillon" descr="Bouillon bio de poulet"/>
          <p:cNvPicPr>
            <a:picLocks noChangeAspect="1"/>
          </p:cNvPicPr>
          <p:nvPr/>
        </p:nvPicPr>
        <p:blipFill>
          <a:blip r:embed="rId12"/>
          <a:stretch>
            <a:fillRect/>
          </a:stretch>
        </p:blipFill>
        <p:spPr>
          <a:xfrm>
            <a:off x="9815517" y="1905203"/>
            <a:ext cx="871565" cy="1344174"/>
          </a:xfrm>
          <a:prstGeom prst="rect">
            <a:avLst/>
          </a:prstGeom>
        </p:spPr>
      </p:pic>
      <p:sp>
        <p:nvSpPr>
          <p:cNvPr id="27" name="!!S_huile"/>
          <p:cNvSpPr/>
          <p:nvPr/>
        </p:nvSpPr>
        <p:spPr>
          <a:xfrm>
            <a:off x="3557710" y="6101955"/>
            <a:ext cx="709500" cy="141900"/>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28" name="!!P_huile" descr="Huile rouge"/>
          <p:cNvPicPr>
            <a:picLocks noChangeAspect="1"/>
          </p:cNvPicPr>
          <p:nvPr/>
        </p:nvPicPr>
        <p:blipFill>
          <a:blip r:embed="rId13"/>
          <a:stretch>
            <a:fillRect/>
          </a:stretch>
        </p:blipFill>
        <p:spPr>
          <a:xfrm>
            <a:off x="3616365" y="4550109"/>
            <a:ext cx="592188" cy="1727723"/>
          </a:xfrm>
          <a:prstGeom prst="rect">
            <a:avLst/>
          </a:prstGeom>
        </p:spPr>
      </p:pic>
      <p:sp>
        <p:nvSpPr>
          <p:cNvPr id="29" name="!!S_marinade_poulet"/>
          <p:cNvSpPr/>
          <p:nvPr/>
        </p:nvSpPr>
        <p:spPr>
          <a:xfrm>
            <a:off x="4378365" y="6077595"/>
            <a:ext cx="930950" cy="186190"/>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30" name="!!P_marinade_poulet" descr="Marinade poulet"/>
          <p:cNvPicPr>
            <a:picLocks noChangeAspect="1"/>
          </p:cNvPicPr>
          <p:nvPr/>
        </p:nvPicPr>
        <p:blipFill>
          <a:blip r:embed="rId14"/>
          <a:stretch>
            <a:fillRect/>
          </a:stretch>
        </p:blipFill>
        <p:spPr>
          <a:xfrm>
            <a:off x="4455956" y="4757497"/>
            <a:ext cx="775766" cy="1514881"/>
          </a:xfrm>
          <a:prstGeom prst="rect">
            <a:avLst/>
          </a:prstGeom>
        </p:spPr>
      </p:pic>
      <p:sp>
        <p:nvSpPr>
          <p:cNvPr id="31" name="!!S_marinade_poisson"/>
          <p:cNvSpPr/>
          <p:nvPr/>
        </p:nvSpPr>
        <p:spPr>
          <a:xfrm>
            <a:off x="5398325" y="6077595"/>
            <a:ext cx="930950" cy="186190"/>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32" name="!!P_marinade_poisson" descr="Marinade poisson"/>
          <p:cNvPicPr>
            <a:picLocks noChangeAspect="1"/>
          </p:cNvPicPr>
          <p:nvPr/>
        </p:nvPicPr>
        <p:blipFill>
          <a:blip r:embed="rId15"/>
          <a:stretch>
            <a:fillRect/>
          </a:stretch>
        </p:blipFill>
        <p:spPr>
          <a:xfrm>
            <a:off x="5475916" y="4757497"/>
            <a:ext cx="775766" cy="1514881"/>
          </a:xfrm>
          <a:prstGeom prst="rect">
            <a:avLst/>
          </a:prstGeom>
        </p:spPr>
      </p:pic>
      <p:sp>
        <p:nvSpPr>
          <p:cNvPr id="33" name="!!S_marinade_mixte"/>
          <p:cNvSpPr/>
          <p:nvPr/>
        </p:nvSpPr>
        <p:spPr>
          <a:xfrm>
            <a:off x="6418285" y="6077595"/>
            <a:ext cx="930950" cy="186190"/>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34" name="!!P_marinade_mixte" descr="Marinade mixte"/>
          <p:cNvPicPr>
            <a:picLocks noChangeAspect="1"/>
          </p:cNvPicPr>
          <p:nvPr/>
        </p:nvPicPr>
        <p:blipFill>
          <a:blip r:embed="rId16"/>
          <a:stretch>
            <a:fillRect/>
          </a:stretch>
        </p:blipFill>
        <p:spPr>
          <a:xfrm>
            <a:off x="6495876" y="4757497"/>
            <a:ext cx="775766" cy="1514881"/>
          </a:xfrm>
          <a:prstGeom prst="rect">
            <a:avLst/>
          </a:prstGeom>
        </p:spPr>
      </p:pic>
      <p:sp>
        <p:nvSpPr>
          <p:cNvPr id="35" name="!!S_arachide"/>
          <p:cNvSpPr/>
          <p:nvPr/>
        </p:nvSpPr>
        <p:spPr>
          <a:xfrm>
            <a:off x="7402340" y="6038100"/>
            <a:ext cx="1290000" cy="258000"/>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36" name="!!P_arachide" descr="Pâte d'arachide"/>
          <p:cNvPicPr>
            <a:picLocks noChangeAspect="1"/>
          </p:cNvPicPr>
          <p:nvPr/>
        </p:nvPicPr>
        <p:blipFill>
          <a:blip r:embed="rId17"/>
          <a:stretch>
            <a:fillRect/>
          </a:stretch>
        </p:blipFill>
        <p:spPr>
          <a:xfrm>
            <a:off x="7314325" y="4942623"/>
            <a:ext cx="1466029" cy="1490462"/>
          </a:xfrm>
          <a:prstGeom prst="rect">
            <a:avLst/>
          </a:prstGeom>
        </p:spPr>
      </p:pic>
      <p:pic>
        <p:nvPicPr>
          <p:cNvPr id="37" name="!!Grain" descr="grain.png"/>
          <p:cNvPicPr>
            <a:picLocks noChangeAspect="1"/>
          </p:cNvPicPr>
          <p:nvPr/>
        </p:nvPicPr>
        <p:blipFill>
          <a:blip r:embed="rId18"/>
          <a:srcRect/>
          <a:stretch>
            <a:fillRect/>
          </a:stretch>
        </p:blipFill>
        <p:spPr>
          <a:xfrm>
            <a:off x="0" y="0"/>
            <a:ext cx="12192000" cy="6858000"/>
          </a:xfrm>
          <a:prstGeom prst="rect">
            <a:avLst/>
          </a:prstGeom>
        </p:spPr>
      </p:pic>
      <p:sp>
        <p:nvSpPr>
          <p:cNvPr id="38" name="!!Title"/>
          <p:cNvSpPr txBox="1"/>
          <p:nvPr/>
        </p:nvSpPr>
        <p:spPr>
          <a:xfrm>
            <a:off x="0" y="3291840"/>
            <a:ext cx="12192000" cy="566928"/>
          </a:xfrm>
          <a:prstGeom prst="rect">
            <a:avLst/>
          </a:prstGeom>
          <a:noFill/>
        </p:spPr>
        <p:txBody>
          <a:bodyPr wrap="square" lIns="0" rIns="0" tIns="0" bIns="0" anchor="t">
            <a:noAutofit/>
          </a:bodyPr>
          <a:lstStyle/>
          <a:p>
            <a:pPr algn="ctr">
              <a:lnSpc>
                <a:spcPct val="95000"/>
              </a:lnSpc>
            </a:pPr>
            <a:r>
              <a:rPr sz="3000">
                <a:solidFill>
                  <a:srgbClr val="7B1421"/>
                </a:solidFill>
                <a:latin typeface="Cream Heavy"/>
              </a:rPr>
              <a:t>15 produits, 3 familles</a:t>
            </a:r>
          </a:p>
        </p:txBody>
      </p:sp>
      <p:sp>
        <p:nvSpPr>
          <p:cNvPr id="39" name="!!Sub"/>
          <p:cNvSpPr txBox="1"/>
          <p:nvPr/>
        </p:nvSpPr>
        <p:spPr>
          <a:xfrm>
            <a:off x="0" y="3858768"/>
            <a:ext cx="12192000" cy="274320"/>
          </a:xfrm>
          <a:prstGeom prst="rect">
            <a:avLst/>
          </a:prstGeom>
          <a:noFill/>
        </p:spPr>
        <p:txBody>
          <a:bodyPr wrap="square" lIns="0" rIns="0" tIns="0" bIns="0" anchor="t">
            <a:noAutofit/>
          </a:bodyPr>
          <a:lstStyle/>
          <a:p>
            <a:pPr algn="ctr"/>
            <a:r>
              <a:rPr sz="1200" spc="250" cap="all">
                <a:solidFill>
                  <a:srgbClr val="A40C21"/>
                </a:solidFill>
                <a:latin typeface="Montserrat SemiBold"/>
              </a:rPr>
              <a:t>Épices  ·  Marinades  ·  Essentiels</a:t>
            </a:r>
          </a:p>
        </p:txBody>
      </p:sp>
      <p:sp>
        <p:nvSpPr>
          <p:cNvPr id="40"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A40C21"/>
                </a:solidFill>
                <a:latin typeface="Montserrat SemiBold"/>
              </a:rPr>
              <a:t>02 · La gamme</a:t>
            </a:r>
          </a:p>
        </p:txBody>
      </p:sp>
      <p:sp>
        <p:nvSpPr>
          <p:cNvPr id="41"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A40C21"/>
                </a:solidFill>
                <a:latin typeface="Montserrat SemiBold"/>
              </a:rPr>
              <a:t>14</a:t>
            </a:r>
          </a:p>
        </p:txBody>
      </p:sp>
      <p:pic>
        <p:nvPicPr>
          <p:cNvPr id="42" name="!!Logo" descr="Logo Marin'Or Ivoire"/>
          <p:cNvPicPr>
            <a:picLocks noChangeAspect="1"/>
          </p:cNvPicPr>
          <p:nvPr/>
        </p:nvPicPr>
        <p:blipFill>
          <a:blip r:embed="rId19"/>
          <a:stretch>
            <a:fillRect/>
          </a:stretch>
        </p:blipFill>
        <p:spPr>
          <a:xfrm>
            <a:off x="10546080" y="311488"/>
            <a:ext cx="960120" cy="50299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FF6EA"/>
          </a:solidFill>
          <a:ln>
            <a:noFill/>
          </a:ln>
        </p:spPr>
        <p:txBody>
          <a:bodyPr rtlCol="0" anchor="ctr"/>
          <a:lstStyle/>
          <a:p/>
        </p:txBody>
      </p:sp>
      <p:pic>
        <p:nvPicPr>
          <p:cNvPr id="3" name="!!PlateL" descr="motif_bord.png"/>
          <p:cNvPicPr>
            <a:picLocks noChangeAspect="1"/>
          </p:cNvPicPr>
          <p:nvPr/>
        </p:nvPicPr>
        <p:blipFill>
          <a:blip r:embed="rId2"/>
          <a:srcRect/>
          <a:stretch>
            <a:fillRect/>
          </a:stretch>
        </p:blipFill>
        <p:spPr>
          <a:xfrm>
            <a:off x="-2770000" y="-3619093"/>
            <a:ext cx="21336000" cy="12001500"/>
          </a:xfrm>
          <a:prstGeom prst="rect">
            <a:avLst/>
          </a:prstGeom>
        </p:spPr>
      </p:pic>
      <p:sp>
        <p:nvSpPr>
          <p:cNvPr id="4" name="!!Glow"/>
          <p:cNvSpPr/>
          <p:nvPr/>
        </p:nvSpPr>
        <p:spPr>
          <a:xfrm>
            <a:off x="-2133553" y="-995174"/>
            <a:ext cx="9601200" cy="9601200"/>
          </a:xfrm>
          <a:prstGeom prst="ellipse">
            <a:avLst/>
          </a:prstGeom>
          <a:gradFill rotWithShape="1">
            <a:gsLst>
              <a:gs pos="0">
                <a:srgbClr val="FFFFFF">
                  <a:alpha val="85000"/>
                </a:srgbClr>
              </a:gs>
              <a:gs pos="100000">
                <a:srgbClr val="FFFFFF">
                  <a:alpha val="0"/>
                </a:srgbClr>
              </a:gs>
            </a:gsLst>
            <a:path path="circle">
              <a:fillToRect l="50000" t="50000" r="50000" b="50000"/>
            </a:path>
          </a:gradFill>
          <a:ln>
            <a:noFill/>
          </a:ln>
        </p:spPr>
        <p:txBody>
          <a:bodyPr rtlCol="0" anchor="ctr"/>
          <a:lstStyle/>
          <a:p/>
        </p:txBody>
      </p:sp>
      <p:sp>
        <p:nvSpPr>
          <p:cNvPr id="5" name="!!Glow2"/>
          <p:cNvSpPr/>
          <p:nvPr/>
        </p:nvSpPr>
        <p:spPr>
          <a:xfrm>
            <a:off x="6164533" y="-307845"/>
            <a:ext cx="6720840" cy="6720840"/>
          </a:xfrm>
          <a:prstGeom prst="ellipse">
            <a:avLst/>
          </a:prstGeom>
          <a:gradFill rotWithShape="1">
            <a:gsLst>
              <a:gs pos="0">
                <a:srgbClr val="F9A825">
                  <a:alpha val="14000"/>
                </a:srgbClr>
              </a:gs>
              <a:gs pos="100000">
                <a:srgbClr val="F9A825">
                  <a:alpha val="0"/>
                </a:srgbClr>
              </a:gs>
            </a:gsLst>
            <a:path path="circle">
              <a:fillToRect l="50000" t="50000" r="50000" b="50000"/>
            </a:path>
          </a:gradFill>
          <a:ln>
            <a:noFill/>
          </a:ln>
        </p:spPr>
        <p:txBody>
          <a:bodyPr rtlCol="0" anchor="ctr"/>
          <a:lstStyle/>
          <a:p/>
        </p:txBody>
      </p:sp>
      <p:sp>
        <p:nvSpPr>
          <p:cNvPr id="6" name="!!Table"/>
          <p:cNvSpPr/>
          <p:nvPr/>
        </p:nvSpPr>
        <p:spPr>
          <a:xfrm>
            <a:off x="0" y="5852160"/>
            <a:ext cx="12192000" cy="1005840"/>
          </a:xfrm>
          <a:prstGeom prst="rect">
            <a:avLst/>
          </a:prstGeom>
          <a:gradFill rotWithShape="1">
            <a:gsLst>
              <a:gs pos="0">
                <a:srgbClr val="F3DCC0">
                  <a:alpha val="0"/>
                </a:srgbClr>
              </a:gs>
              <a:gs pos="100000">
                <a:srgbClr val="EBCDA9">
                  <a:alpha val="70000"/>
                </a:srgbClr>
              </a:gs>
            </a:gsLst>
            <a:lin ang="5400000" scaled="0"/>
          </a:gradFill>
          <a:ln>
            <a:noFill/>
          </a:ln>
        </p:spPr>
        <p:txBody>
          <a:bodyPr rtlCol="0" anchor="ctr"/>
          <a:lstStyle/>
          <a:p/>
        </p:txBody>
      </p:sp>
      <p:sp>
        <p:nvSpPr>
          <p:cNvPr id="7" name="!!S_epice_poulet"/>
          <p:cNvSpPr/>
          <p:nvPr/>
        </p:nvSpPr>
        <p:spPr>
          <a:xfrm>
            <a:off x="-812608" y="-1479116"/>
            <a:ext cx="2255887" cy="451177"/>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8" name="!!P_epice_poulet" descr="Épice spéciale poulet"/>
          <p:cNvPicPr>
            <a:picLocks noChangeAspect="1"/>
          </p:cNvPicPr>
          <p:nvPr/>
        </p:nvPicPr>
        <p:blipFill>
          <a:blip r:embed="rId3"/>
          <a:stretch>
            <a:fillRect/>
          </a:stretch>
        </p:blipFill>
        <p:spPr>
          <a:xfrm>
            <a:off x="-621598" y="-3973394"/>
            <a:ext cx="1873866" cy="2893200"/>
          </a:xfrm>
          <a:prstGeom prst="rect">
            <a:avLst/>
          </a:prstGeom>
        </p:spPr>
      </p:pic>
      <p:sp>
        <p:nvSpPr>
          <p:cNvPr id="9" name="!!S_epice_poisson"/>
          <p:cNvSpPr/>
          <p:nvPr/>
        </p:nvSpPr>
        <p:spPr>
          <a:xfrm>
            <a:off x="1172701" y="-1479116"/>
            <a:ext cx="2255887" cy="451177"/>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10" name="!!P_epice_poisson" descr="Épice spéciale poisson"/>
          <p:cNvPicPr>
            <a:picLocks noChangeAspect="1"/>
          </p:cNvPicPr>
          <p:nvPr/>
        </p:nvPicPr>
        <p:blipFill>
          <a:blip r:embed="rId4"/>
          <a:stretch>
            <a:fillRect/>
          </a:stretch>
        </p:blipFill>
        <p:spPr>
          <a:xfrm>
            <a:off x="1363711" y="-3973394"/>
            <a:ext cx="1873866" cy="2893200"/>
          </a:xfrm>
          <a:prstGeom prst="rect">
            <a:avLst/>
          </a:prstGeom>
        </p:spPr>
      </p:pic>
      <p:sp>
        <p:nvSpPr>
          <p:cNvPr id="11" name="!!S_paprika"/>
          <p:cNvSpPr/>
          <p:nvPr/>
        </p:nvSpPr>
        <p:spPr>
          <a:xfrm>
            <a:off x="3158011" y="-1479116"/>
            <a:ext cx="2255887" cy="451177"/>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12" name="!!P_paprika" descr="Paprika"/>
          <p:cNvPicPr>
            <a:picLocks noChangeAspect="1"/>
          </p:cNvPicPr>
          <p:nvPr/>
        </p:nvPicPr>
        <p:blipFill>
          <a:blip r:embed="rId5"/>
          <a:stretch>
            <a:fillRect/>
          </a:stretch>
        </p:blipFill>
        <p:spPr>
          <a:xfrm>
            <a:off x="3349021" y="-3973394"/>
            <a:ext cx="1873866" cy="2893200"/>
          </a:xfrm>
          <a:prstGeom prst="rect">
            <a:avLst/>
          </a:prstGeom>
        </p:spPr>
      </p:pic>
      <p:sp>
        <p:nvSpPr>
          <p:cNvPr id="13" name="!!S_piment"/>
          <p:cNvSpPr/>
          <p:nvPr/>
        </p:nvSpPr>
        <p:spPr>
          <a:xfrm>
            <a:off x="5143321" y="-1479116"/>
            <a:ext cx="2255887" cy="451177"/>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14" name="!!P_piment" descr="Piment en poudre"/>
          <p:cNvPicPr>
            <a:picLocks noChangeAspect="1"/>
          </p:cNvPicPr>
          <p:nvPr/>
        </p:nvPicPr>
        <p:blipFill>
          <a:blip r:embed="rId6"/>
          <a:stretch>
            <a:fillRect/>
          </a:stretch>
        </p:blipFill>
        <p:spPr>
          <a:xfrm>
            <a:off x="5334331" y="-3973394"/>
            <a:ext cx="1873866" cy="2893200"/>
          </a:xfrm>
          <a:prstGeom prst="rect">
            <a:avLst/>
          </a:prstGeom>
        </p:spPr>
      </p:pic>
      <p:sp>
        <p:nvSpPr>
          <p:cNvPr id="15" name="!!S_akpi"/>
          <p:cNvSpPr/>
          <p:nvPr/>
        </p:nvSpPr>
        <p:spPr>
          <a:xfrm>
            <a:off x="7128631" y="-1479116"/>
            <a:ext cx="2255887" cy="451177"/>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16" name="!!P_akpi" descr="Graines d'akpi"/>
          <p:cNvPicPr>
            <a:picLocks noChangeAspect="1"/>
          </p:cNvPicPr>
          <p:nvPr/>
        </p:nvPicPr>
        <p:blipFill>
          <a:blip r:embed="rId7"/>
          <a:stretch>
            <a:fillRect/>
          </a:stretch>
        </p:blipFill>
        <p:spPr>
          <a:xfrm>
            <a:off x="7319641" y="-3973394"/>
            <a:ext cx="1873866" cy="2893200"/>
          </a:xfrm>
          <a:prstGeom prst="rect">
            <a:avLst/>
          </a:prstGeom>
        </p:spPr>
      </p:pic>
      <p:sp>
        <p:nvSpPr>
          <p:cNvPr id="17" name="!!S_djoumble"/>
          <p:cNvSpPr/>
          <p:nvPr/>
        </p:nvSpPr>
        <p:spPr>
          <a:xfrm>
            <a:off x="9113941" y="-1479116"/>
            <a:ext cx="2255887" cy="451177"/>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18" name="!!P_djoumble" descr="Poudre de djoumblé"/>
          <p:cNvPicPr>
            <a:picLocks noChangeAspect="1"/>
          </p:cNvPicPr>
          <p:nvPr/>
        </p:nvPicPr>
        <p:blipFill>
          <a:blip r:embed="rId8"/>
          <a:stretch>
            <a:fillRect/>
          </a:stretch>
        </p:blipFill>
        <p:spPr>
          <a:xfrm>
            <a:off x="9304951" y="-3973394"/>
            <a:ext cx="1873866" cy="2893200"/>
          </a:xfrm>
          <a:prstGeom prst="rect">
            <a:avLst/>
          </a:prstGeom>
        </p:spPr>
      </p:pic>
      <p:sp>
        <p:nvSpPr>
          <p:cNvPr id="19" name="!!S_crevette"/>
          <p:cNvSpPr/>
          <p:nvPr/>
        </p:nvSpPr>
        <p:spPr>
          <a:xfrm>
            <a:off x="11099251" y="-1479116"/>
            <a:ext cx="2255887" cy="451177"/>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20" name="!!P_crevette" descr="Poudre de crevettes séchées"/>
          <p:cNvPicPr>
            <a:picLocks noChangeAspect="1"/>
          </p:cNvPicPr>
          <p:nvPr/>
        </p:nvPicPr>
        <p:blipFill>
          <a:blip r:embed="rId9"/>
          <a:stretch>
            <a:fillRect/>
          </a:stretch>
        </p:blipFill>
        <p:spPr>
          <a:xfrm>
            <a:off x="11290261" y="-3973394"/>
            <a:ext cx="1873866" cy="2893200"/>
          </a:xfrm>
          <a:prstGeom prst="rect">
            <a:avLst/>
          </a:prstGeom>
        </p:spPr>
      </p:pic>
      <p:sp>
        <p:nvSpPr>
          <p:cNvPr id="21" name="!!S_poudre_poisson"/>
          <p:cNvSpPr/>
          <p:nvPr/>
        </p:nvSpPr>
        <p:spPr>
          <a:xfrm>
            <a:off x="13084561" y="-1479116"/>
            <a:ext cx="2255887" cy="451177"/>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22" name="!!P_poudre_poisson" descr="Poudre de poisson sec"/>
          <p:cNvPicPr>
            <a:picLocks noChangeAspect="1"/>
          </p:cNvPicPr>
          <p:nvPr/>
        </p:nvPicPr>
        <p:blipFill>
          <a:blip r:embed="rId10"/>
          <a:stretch>
            <a:fillRect/>
          </a:stretch>
        </p:blipFill>
        <p:spPr>
          <a:xfrm>
            <a:off x="13275571" y="-3973394"/>
            <a:ext cx="1873866" cy="2893200"/>
          </a:xfrm>
          <a:prstGeom prst="rect">
            <a:avLst/>
          </a:prstGeom>
        </p:spPr>
      </p:pic>
      <p:sp>
        <p:nvSpPr>
          <p:cNvPr id="23" name="!!S_ail"/>
          <p:cNvSpPr/>
          <p:nvPr/>
        </p:nvSpPr>
        <p:spPr>
          <a:xfrm>
            <a:off x="15069871" y="-1479116"/>
            <a:ext cx="2255887" cy="451177"/>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24" name="!!P_ail" descr="Purée d'ail"/>
          <p:cNvPicPr>
            <a:picLocks noChangeAspect="1"/>
          </p:cNvPicPr>
          <p:nvPr/>
        </p:nvPicPr>
        <p:blipFill>
          <a:blip r:embed="rId11"/>
          <a:stretch>
            <a:fillRect/>
          </a:stretch>
        </p:blipFill>
        <p:spPr>
          <a:xfrm>
            <a:off x="15260881" y="-3973394"/>
            <a:ext cx="1873866" cy="2893200"/>
          </a:xfrm>
          <a:prstGeom prst="rect">
            <a:avLst/>
          </a:prstGeom>
        </p:spPr>
      </p:pic>
      <p:sp>
        <p:nvSpPr>
          <p:cNvPr id="25" name="!!S_bouillon"/>
          <p:cNvSpPr/>
          <p:nvPr/>
        </p:nvSpPr>
        <p:spPr>
          <a:xfrm>
            <a:off x="17055181" y="-1479116"/>
            <a:ext cx="2255887" cy="451177"/>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26" name="!!P_bouillon" descr="Bouillon bio de poulet"/>
          <p:cNvPicPr>
            <a:picLocks noChangeAspect="1"/>
          </p:cNvPicPr>
          <p:nvPr/>
        </p:nvPicPr>
        <p:blipFill>
          <a:blip r:embed="rId12"/>
          <a:stretch>
            <a:fillRect/>
          </a:stretch>
        </p:blipFill>
        <p:spPr>
          <a:xfrm>
            <a:off x="17246191" y="-3973394"/>
            <a:ext cx="1873866" cy="2893200"/>
          </a:xfrm>
          <a:prstGeom prst="rect">
            <a:avLst/>
          </a:prstGeom>
        </p:spPr>
      </p:pic>
      <p:sp>
        <p:nvSpPr>
          <p:cNvPr id="27" name="!!S_huile"/>
          <p:cNvSpPr/>
          <p:nvPr/>
        </p:nvSpPr>
        <p:spPr>
          <a:xfrm>
            <a:off x="-2362712" y="5051233"/>
            <a:ext cx="1525425" cy="305085"/>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28" name="!!P_huile" descr="Huile rouge"/>
          <p:cNvPicPr>
            <a:picLocks noChangeAspect="1"/>
          </p:cNvPicPr>
          <p:nvPr/>
        </p:nvPicPr>
        <p:blipFill>
          <a:blip r:embed="rId13"/>
          <a:stretch>
            <a:fillRect/>
          </a:stretch>
        </p:blipFill>
        <p:spPr>
          <a:xfrm>
            <a:off x="-2236602" y="1711233"/>
            <a:ext cx="1273204" cy="3721673"/>
          </a:xfrm>
          <a:prstGeom prst="rect">
            <a:avLst/>
          </a:prstGeom>
        </p:spPr>
      </p:pic>
      <p:sp>
        <p:nvSpPr>
          <p:cNvPr id="29" name="!!S_marinade_poulet"/>
          <p:cNvSpPr/>
          <p:nvPr/>
        </p:nvSpPr>
        <p:spPr>
          <a:xfrm>
            <a:off x="5556314" y="4998860"/>
            <a:ext cx="2001542" cy="400308"/>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30" name="!!P_marinade_poulet" descr="Marinade poulet"/>
          <p:cNvPicPr>
            <a:picLocks noChangeAspect="1"/>
          </p:cNvPicPr>
          <p:nvPr/>
        </p:nvPicPr>
        <p:blipFill>
          <a:blip r:embed="rId14"/>
          <a:stretch>
            <a:fillRect/>
          </a:stretch>
        </p:blipFill>
        <p:spPr>
          <a:xfrm>
            <a:off x="5723137" y="2160960"/>
            <a:ext cx="1667897" cy="3256370"/>
          </a:xfrm>
          <a:prstGeom prst="rect">
            <a:avLst/>
          </a:prstGeom>
        </p:spPr>
      </p:pic>
      <p:sp>
        <p:nvSpPr>
          <p:cNvPr id="31" name="!!S_marinade_poisson"/>
          <p:cNvSpPr/>
          <p:nvPr/>
        </p:nvSpPr>
        <p:spPr>
          <a:xfrm>
            <a:off x="7749228" y="4998860"/>
            <a:ext cx="2001542" cy="400308"/>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32" name="!!P_marinade_poisson" descr="Marinade poisson"/>
          <p:cNvPicPr>
            <a:picLocks noChangeAspect="1"/>
          </p:cNvPicPr>
          <p:nvPr/>
        </p:nvPicPr>
        <p:blipFill>
          <a:blip r:embed="rId15"/>
          <a:stretch>
            <a:fillRect/>
          </a:stretch>
        </p:blipFill>
        <p:spPr>
          <a:xfrm>
            <a:off x="7916051" y="2160960"/>
            <a:ext cx="1667897" cy="3256370"/>
          </a:xfrm>
          <a:prstGeom prst="rect">
            <a:avLst/>
          </a:prstGeom>
        </p:spPr>
      </p:pic>
      <p:sp>
        <p:nvSpPr>
          <p:cNvPr id="33" name="!!S_marinade_mixte"/>
          <p:cNvSpPr/>
          <p:nvPr/>
        </p:nvSpPr>
        <p:spPr>
          <a:xfrm>
            <a:off x="9942142" y="4998860"/>
            <a:ext cx="2001542" cy="400308"/>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34" name="!!P_marinade_mixte" descr="Marinade mixte"/>
          <p:cNvPicPr>
            <a:picLocks noChangeAspect="1"/>
          </p:cNvPicPr>
          <p:nvPr/>
        </p:nvPicPr>
        <p:blipFill>
          <a:blip r:embed="rId16"/>
          <a:stretch>
            <a:fillRect/>
          </a:stretch>
        </p:blipFill>
        <p:spPr>
          <a:xfrm>
            <a:off x="10108965" y="2160960"/>
            <a:ext cx="1667897" cy="3256370"/>
          </a:xfrm>
          <a:prstGeom prst="rect">
            <a:avLst/>
          </a:prstGeom>
        </p:spPr>
      </p:pic>
      <p:sp>
        <p:nvSpPr>
          <p:cNvPr id="35" name="!!S_arachide"/>
          <p:cNvSpPr/>
          <p:nvPr/>
        </p:nvSpPr>
        <p:spPr>
          <a:xfrm>
            <a:off x="13005250" y="4913945"/>
            <a:ext cx="2773500" cy="554700"/>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36" name="!!P_arachide" descr="Pâte d'arachide"/>
          <p:cNvPicPr>
            <a:picLocks noChangeAspect="1"/>
          </p:cNvPicPr>
          <p:nvPr/>
        </p:nvPicPr>
        <p:blipFill>
          <a:blip r:embed="rId17"/>
          <a:stretch>
            <a:fillRect/>
          </a:stretch>
        </p:blipFill>
        <p:spPr>
          <a:xfrm>
            <a:off x="12816017" y="2554453"/>
            <a:ext cx="3151964" cy="3212930"/>
          </a:xfrm>
          <a:prstGeom prst="rect">
            <a:avLst/>
          </a:prstGeom>
        </p:spPr>
      </p:pic>
      <p:sp>
        <p:nvSpPr>
          <p:cNvPr id="37" name="!!Veil"/>
          <p:cNvSpPr/>
          <p:nvPr/>
        </p:nvSpPr>
        <p:spPr>
          <a:xfrm>
            <a:off x="0" y="0"/>
            <a:ext cx="5852160" cy="6858000"/>
          </a:xfrm>
          <a:prstGeom prst="rect">
            <a:avLst/>
          </a:prstGeom>
          <a:gradFill rotWithShape="1">
            <a:gsLst>
              <a:gs pos="0">
                <a:srgbClr val="FFF6EA">
                  <a:alpha val="96000"/>
                </a:srgbClr>
              </a:gs>
              <a:gs pos="70000">
                <a:srgbClr val="FFF6EA">
                  <a:alpha val="80000"/>
                </a:srgbClr>
              </a:gs>
              <a:gs pos="100000">
                <a:srgbClr val="FFF6EA">
                  <a:alpha val="0"/>
                </a:srgbClr>
              </a:gs>
            </a:gsLst>
            <a:lin ang="0" scaled="0"/>
          </a:gradFill>
          <a:ln>
            <a:noFill/>
          </a:ln>
        </p:spPr>
        <p:txBody>
          <a:bodyPr rtlCol="0" anchor="ctr"/>
          <a:lstStyle/>
          <a:p/>
        </p:txBody>
      </p:sp>
      <p:pic>
        <p:nvPicPr>
          <p:cNvPr id="38" name="!!Grain" descr="grain.png"/>
          <p:cNvPicPr>
            <a:picLocks noChangeAspect="1"/>
          </p:cNvPicPr>
          <p:nvPr/>
        </p:nvPicPr>
        <p:blipFill>
          <a:blip r:embed="rId18"/>
          <a:srcRect/>
          <a:stretch>
            <a:fillRect/>
          </a:stretch>
        </p:blipFill>
        <p:spPr>
          <a:xfrm>
            <a:off x="0" y="0"/>
            <a:ext cx="12192000" cy="6858000"/>
          </a:xfrm>
          <a:prstGeom prst="rect">
            <a:avLst/>
          </a:prstGeom>
        </p:spPr>
      </p:pic>
      <p:sp>
        <p:nvSpPr>
          <p:cNvPr id="39" name="!!Title"/>
          <p:cNvSpPr txBox="1"/>
          <p:nvPr/>
        </p:nvSpPr>
        <p:spPr>
          <a:xfrm>
            <a:off x="685800" y="914400"/>
            <a:ext cx="5029200" cy="731520"/>
          </a:xfrm>
          <a:prstGeom prst="rect">
            <a:avLst/>
          </a:prstGeom>
          <a:noFill/>
        </p:spPr>
        <p:txBody>
          <a:bodyPr wrap="square" lIns="0" rIns="0" tIns="0" bIns="0" anchor="t">
            <a:noAutofit/>
          </a:bodyPr>
          <a:lstStyle/>
          <a:p>
            <a:pPr algn="l">
              <a:lnSpc>
                <a:spcPct val="95000"/>
              </a:lnSpc>
            </a:pPr>
            <a:r>
              <a:rPr sz="4000">
                <a:solidFill>
                  <a:srgbClr val="7B1421"/>
                </a:solidFill>
                <a:latin typeface="Cream Heavy"/>
              </a:rPr>
              <a:t>Les Marinades</a:t>
            </a:r>
          </a:p>
        </p:txBody>
      </p:sp>
      <p:sp>
        <p:nvSpPr>
          <p:cNvPr id="40" name="!!Body"/>
          <p:cNvSpPr txBox="1"/>
          <p:nvPr/>
        </p:nvSpPr>
        <p:spPr>
          <a:xfrm>
            <a:off x="685800" y="2057400"/>
            <a:ext cx="4846320" cy="2926080"/>
          </a:xfrm>
          <a:prstGeom prst="rect">
            <a:avLst/>
          </a:prstGeom>
          <a:noFill/>
        </p:spPr>
        <p:txBody>
          <a:bodyPr wrap="square" lIns="0" rIns="0" tIns="0" bIns="0" anchor="t">
            <a:noAutofit/>
          </a:bodyPr>
          <a:lstStyle/>
          <a:p>
            <a:pPr algn="l">
              <a:lnSpc>
                <a:spcPct val="112000"/>
              </a:lnSpc>
              <a:spcAft>
                <a:spcPts val="1000"/>
              </a:spcAft>
            </a:pPr>
            <a:r>
              <a:rPr sz="1800">
                <a:solidFill>
                  <a:srgbClr val="000000"/>
                </a:solidFill>
                <a:latin typeface="Montserrat Medium"/>
              </a:rPr>
              <a:t>Prêtes à l'emploi, en pot.</a:t>
            </a:r>
          </a:p>
          <a:p>
            <a:pPr algn="l">
              <a:lnSpc>
                <a:spcPct val="112000"/>
              </a:lnSpc>
              <a:spcAft>
                <a:spcPts val="1000"/>
              </a:spcAft>
            </a:pPr>
            <a:r>
              <a:rPr sz="1800">
                <a:solidFill>
                  <a:srgbClr val="7B1421"/>
                </a:solidFill>
                <a:latin typeface="Montserrat SemiBold"/>
              </a:rPr>
              <a:t>Poulet</a:t>
            </a:r>
            <a:r>
              <a:rPr sz="1800">
                <a:solidFill>
                  <a:srgbClr val="000000"/>
                </a:solidFill>
                <a:latin typeface="Montserrat Medium"/>
              </a:rPr>
              <a:t> : braisé, rôti ou grillé</a:t>
            </a:r>
          </a:p>
          <a:p>
            <a:pPr algn="l">
              <a:lnSpc>
                <a:spcPct val="112000"/>
              </a:lnSpc>
              <a:spcAft>
                <a:spcPts val="1000"/>
              </a:spcAft>
            </a:pPr>
            <a:r>
              <a:rPr sz="1800">
                <a:solidFill>
                  <a:srgbClr val="7B1421"/>
                </a:solidFill>
                <a:latin typeface="Montserrat SemiBold"/>
              </a:rPr>
              <a:t>Poisson</a:t>
            </a:r>
            <a:r>
              <a:rPr sz="1800">
                <a:solidFill>
                  <a:srgbClr val="000000"/>
                </a:solidFill>
                <a:latin typeface="Montserrat Medium"/>
              </a:rPr>
              <a:t> : braisé, frit ou fumé</a:t>
            </a:r>
          </a:p>
          <a:p>
            <a:pPr algn="l">
              <a:lnSpc>
                <a:spcPct val="112000"/>
              </a:lnSpc>
              <a:spcAft>
                <a:spcPts val="1000"/>
              </a:spcAft>
            </a:pPr>
            <a:r>
              <a:rPr sz="1800">
                <a:solidFill>
                  <a:srgbClr val="7B1421"/>
                </a:solidFill>
                <a:latin typeface="Montserrat SemiBold"/>
              </a:rPr>
              <a:t>Mixte</a:t>
            </a:r>
            <a:r>
              <a:rPr sz="1800">
                <a:solidFill>
                  <a:srgbClr val="000000"/>
                </a:solidFill>
                <a:latin typeface="Montserrat Medium"/>
              </a:rPr>
              <a:t> : viandes et poissons</a:t>
            </a:r>
          </a:p>
        </p:txBody>
      </p:sp>
      <p:sp>
        <p:nvSpPr>
          <p:cNvPr id="41"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A40C21"/>
                </a:solidFill>
                <a:latin typeface="Montserrat SemiBold"/>
              </a:rPr>
              <a:t>02 · Marinades · 3 produits</a:t>
            </a:r>
          </a:p>
        </p:txBody>
      </p:sp>
      <p:sp>
        <p:nvSpPr>
          <p:cNvPr id="42"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A40C21"/>
                </a:solidFill>
                <a:latin typeface="Montserrat SemiBold"/>
              </a:rPr>
              <a:t>15</a:t>
            </a:r>
          </a:p>
        </p:txBody>
      </p:sp>
      <p:pic>
        <p:nvPicPr>
          <p:cNvPr id="43" name="!!Logo" descr="Logo Marin'Or Ivoire"/>
          <p:cNvPicPr>
            <a:picLocks noChangeAspect="1"/>
          </p:cNvPicPr>
          <p:nvPr/>
        </p:nvPicPr>
        <p:blipFill>
          <a:blip r:embed="rId19"/>
          <a:stretch>
            <a:fillRect/>
          </a:stretch>
        </p:blipFill>
        <p:spPr>
          <a:xfrm>
            <a:off x="10546080" y="311488"/>
            <a:ext cx="960120" cy="50299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900">
        <p159:morph option="byObject"/>
      </p:transition>
    </mc:Choice>
    <mc:Fallback>
      <p:transition spd="slow">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FF6EA"/>
          </a:solidFill>
          <a:ln>
            <a:noFill/>
          </a:ln>
        </p:spPr>
        <p:txBody>
          <a:bodyPr rtlCol="0" anchor="ctr"/>
          <a:lstStyle/>
          <a:p/>
        </p:txBody>
      </p:sp>
      <p:pic>
        <p:nvPicPr>
          <p:cNvPr id="3" name="!!PlateL" descr="motif_bord.png"/>
          <p:cNvPicPr>
            <a:picLocks noChangeAspect="1"/>
          </p:cNvPicPr>
          <p:nvPr/>
        </p:nvPicPr>
        <p:blipFill>
          <a:blip r:embed="rId2"/>
          <a:srcRect/>
          <a:stretch>
            <a:fillRect/>
          </a:stretch>
        </p:blipFill>
        <p:spPr>
          <a:xfrm>
            <a:off x="-2950000" y="-3477506"/>
            <a:ext cx="21336000" cy="12001500"/>
          </a:xfrm>
          <a:prstGeom prst="rect">
            <a:avLst/>
          </a:prstGeom>
        </p:spPr>
      </p:pic>
      <p:sp>
        <p:nvSpPr>
          <p:cNvPr id="4" name="!!Glow"/>
          <p:cNvSpPr/>
          <p:nvPr/>
        </p:nvSpPr>
        <p:spPr>
          <a:xfrm>
            <a:off x="-3494657" y="-1434167"/>
            <a:ext cx="9601200" cy="9601200"/>
          </a:xfrm>
          <a:prstGeom prst="ellipse">
            <a:avLst/>
          </a:prstGeom>
          <a:gradFill rotWithShape="1">
            <a:gsLst>
              <a:gs pos="0">
                <a:srgbClr val="FFFFFF">
                  <a:alpha val="85000"/>
                </a:srgbClr>
              </a:gs>
              <a:gs pos="100000">
                <a:srgbClr val="FFFFFF">
                  <a:alpha val="0"/>
                </a:srgbClr>
              </a:gs>
            </a:gsLst>
            <a:path path="circle">
              <a:fillToRect l="50000" t="50000" r="50000" b="50000"/>
            </a:path>
          </a:gradFill>
          <a:ln>
            <a:noFill/>
          </a:ln>
        </p:spPr>
        <p:txBody>
          <a:bodyPr rtlCol="0" anchor="ctr"/>
          <a:lstStyle/>
          <a:p/>
        </p:txBody>
      </p:sp>
      <p:sp>
        <p:nvSpPr>
          <p:cNvPr id="5" name="!!Glow2"/>
          <p:cNvSpPr/>
          <p:nvPr/>
        </p:nvSpPr>
        <p:spPr>
          <a:xfrm>
            <a:off x="7525637" y="131147"/>
            <a:ext cx="6720840" cy="6720840"/>
          </a:xfrm>
          <a:prstGeom prst="ellipse">
            <a:avLst/>
          </a:prstGeom>
          <a:gradFill rotWithShape="1">
            <a:gsLst>
              <a:gs pos="0">
                <a:srgbClr val="F9A825">
                  <a:alpha val="14000"/>
                </a:srgbClr>
              </a:gs>
              <a:gs pos="100000">
                <a:srgbClr val="F9A825">
                  <a:alpha val="0"/>
                </a:srgbClr>
              </a:gs>
            </a:gsLst>
            <a:path path="circle">
              <a:fillToRect l="50000" t="50000" r="50000" b="50000"/>
            </a:path>
          </a:gradFill>
          <a:ln>
            <a:noFill/>
          </a:ln>
        </p:spPr>
        <p:txBody>
          <a:bodyPr rtlCol="0" anchor="ctr"/>
          <a:lstStyle/>
          <a:p/>
        </p:txBody>
      </p:sp>
      <p:sp>
        <p:nvSpPr>
          <p:cNvPr id="6" name="!!S_epice_poulet"/>
          <p:cNvSpPr/>
          <p:nvPr/>
        </p:nvSpPr>
        <p:spPr>
          <a:xfrm>
            <a:off x="4763062" y="3046873"/>
            <a:ext cx="1573875" cy="314775"/>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7" name="!!P_epice_poulet" descr="Épice spéciale poulet"/>
          <p:cNvPicPr>
            <a:picLocks noChangeAspect="1"/>
          </p:cNvPicPr>
          <p:nvPr/>
        </p:nvPicPr>
        <p:blipFill>
          <a:blip r:embed="rId3"/>
          <a:stretch>
            <a:fillRect/>
          </a:stretch>
        </p:blipFill>
        <p:spPr>
          <a:xfrm>
            <a:off x="4886047" y="1306239"/>
            <a:ext cx="1327904" cy="2019393"/>
          </a:xfrm>
          <a:prstGeom prst="rect">
            <a:avLst/>
          </a:prstGeom>
        </p:spPr>
      </p:pic>
      <p:sp>
        <p:nvSpPr>
          <p:cNvPr id="8" name="!!S_epice_poisson"/>
          <p:cNvSpPr/>
          <p:nvPr/>
        </p:nvSpPr>
        <p:spPr>
          <a:xfrm>
            <a:off x="6183062" y="3046873"/>
            <a:ext cx="1573875" cy="314775"/>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9" name="!!P_epice_poisson" descr="Épice spéciale poisson"/>
          <p:cNvPicPr>
            <a:picLocks noChangeAspect="1"/>
          </p:cNvPicPr>
          <p:nvPr/>
        </p:nvPicPr>
        <p:blipFill>
          <a:blip r:embed="rId4"/>
          <a:stretch>
            <a:fillRect/>
          </a:stretch>
        </p:blipFill>
        <p:spPr>
          <a:xfrm>
            <a:off x="6310158" y="1304790"/>
            <a:ext cx="1319682" cy="2022290"/>
          </a:xfrm>
          <a:prstGeom prst="rect">
            <a:avLst/>
          </a:prstGeom>
        </p:spPr>
      </p:pic>
      <p:sp>
        <p:nvSpPr>
          <p:cNvPr id="10" name="!!S_paprika"/>
          <p:cNvSpPr/>
          <p:nvPr/>
        </p:nvSpPr>
        <p:spPr>
          <a:xfrm>
            <a:off x="7603062" y="3046873"/>
            <a:ext cx="1573875" cy="314775"/>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11" name="!!P_paprika" descr="Paprika"/>
          <p:cNvPicPr>
            <a:picLocks noChangeAspect="1"/>
          </p:cNvPicPr>
          <p:nvPr/>
        </p:nvPicPr>
        <p:blipFill>
          <a:blip r:embed="rId5"/>
          <a:stretch>
            <a:fillRect/>
          </a:stretch>
        </p:blipFill>
        <p:spPr>
          <a:xfrm>
            <a:off x="7736325" y="1307933"/>
            <a:ext cx="1307348" cy="2016003"/>
          </a:xfrm>
          <a:prstGeom prst="rect">
            <a:avLst/>
          </a:prstGeom>
        </p:spPr>
      </p:pic>
      <p:sp>
        <p:nvSpPr>
          <p:cNvPr id="12" name="!!S_piment"/>
          <p:cNvSpPr/>
          <p:nvPr/>
        </p:nvSpPr>
        <p:spPr>
          <a:xfrm>
            <a:off x="9023062" y="3046873"/>
            <a:ext cx="1573875" cy="314775"/>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13" name="!!P_piment" descr="Piment en poudre"/>
          <p:cNvPicPr>
            <a:picLocks noChangeAspect="1"/>
          </p:cNvPicPr>
          <p:nvPr/>
        </p:nvPicPr>
        <p:blipFill>
          <a:blip r:embed="rId6"/>
          <a:stretch>
            <a:fillRect/>
          </a:stretch>
        </p:blipFill>
        <p:spPr>
          <a:xfrm>
            <a:off x="9148103" y="1306315"/>
            <a:ext cx="1323793" cy="2019241"/>
          </a:xfrm>
          <a:prstGeom prst="rect">
            <a:avLst/>
          </a:prstGeom>
        </p:spPr>
      </p:pic>
      <p:sp>
        <p:nvSpPr>
          <p:cNvPr id="14" name="!!S_akpi"/>
          <p:cNvSpPr/>
          <p:nvPr/>
        </p:nvSpPr>
        <p:spPr>
          <a:xfrm>
            <a:off x="10443062" y="3046873"/>
            <a:ext cx="1573875" cy="314775"/>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15" name="!!P_akpi" descr="Graines d'akpi"/>
          <p:cNvPicPr>
            <a:picLocks noChangeAspect="1"/>
          </p:cNvPicPr>
          <p:nvPr/>
        </p:nvPicPr>
        <p:blipFill>
          <a:blip r:embed="rId7"/>
          <a:stretch>
            <a:fillRect/>
          </a:stretch>
        </p:blipFill>
        <p:spPr>
          <a:xfrm>
            <a:off x="10563992" y="1304704"/>
            <a:ext cx="1332015" cy="2022463"/>
          </a:xfrm>
          <a:prstGeom prst="rect">
            <a:avLst/>
          </a:prstGeom>
        </p:spPr>
      </p:pic>
      <p:sp>
        <p:nvSpPr>
          <p:cNvPr id="16" name="!!S_djoumble"/>
          <p:cNvSpPr/>
          <p:nvPr/>
        </p:nvSpPr>
        <p:spPr>
          <a:xfrm>
            <a:off x="4763062" y="5806873"/>
            <a:ext cx="1573875" cy="314775"/>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17" name="!!P_djoumble" descr="Poudre de djoumblé"/>
          <p:cNvPicPr>
            <a:picLocks noChangeAspect="1"/>
          </p:cNvPicPr>
          <p:nvPr/>
        </p:nvPicPr>
        <p:blipFill>
          <a:blip r:embed="rId8"/>
          <a:stretch>
            <a:fillRect/>
          </a:stretch>
        </p:blipFill>
        <p:spPr>
          <a:xfrm>
            <a:off x="4886047" y="4066239"/>
            <a:ext cx="1327904" cy="2019393"/>
          </a:xfrm>
          <a:prstGeom prst="rect">
            <a:avLst/>
          </a:prstGeom>
        </p:spPr>
      </p:pic>
      <p:sp>
        <p:nvSpPr>
          <p:cNvPr id="18" name="!!S_crevette"/>
          <p:cNvSpPr/>
          <p:nvPr/>
        </p:nvSpPr>
        <p:spPr>
          <a:xfrm>
            <a:off x="6183062" y="5806873"/>
            <a:ext cx="1573875" cy="314775"/>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19" name="!!P_crevette" descr="Poudre de crevettes séchées"/>
          <p:cNvPicPr>
            <a:picLocks noChangeAspect="1"/>
          </p:cNvPicPr>
          <p:nvPr/>
        </p:nvPicPr>
        <p:blipFill>
          <a:blip r:embed="rId9"/>
          <a:stretch>
            <a:fillRect/>
          </a:stretch>
        </p:blipFill>
        <p:spPr>
          <a:xfrm>
            <a:off x="6310158" y="4064790"/>
            <a:ext cx="1319682" cy="2022290"/>
          </a:xfrm>
          <a:prstGeom prst="rect">
            <a:avLst/>
          </a:prstGeom>
        </p:spPr>
      </p:pic>
      <p:sp>
        <p:nvSpPr>
          <p:cNvPr id="20" name="!!S_poudre_poisson"/>
          <p:cNvSpPr/>
          <p:nvPr/>
        </p:nvSpPr>
        <p:spPr>
          <a:xfrm>
            <a:off x="7603062" y="5806873"/>
            <a:ext cx="1573875" cy="314775"/>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21" name="!!P_poudre_poisson" descr="Poudre de poisson sec"/>
          <p:cNvPicPr>
            <a:picLocks noChangeAspect="1"/>
          </p:cNvPicPr>
          <p:nvPr/>
        </p:nvPicPr>
        <p:blipFill>
          <a:blip r:embed="rId10"/>
          <a:stretch>
            <a:fillRect/>
          </a:stretch>
        </p:blipFill>
        <p:spPr>
          <a:xfrm>
            <a:off x="7736325" y="4067933"/>
            <a:ext cx="1307348" cy="2016003"/>
          </a:xfrm>
          <a:prstGeom prst="rect">
            <a:avLst/>
          </a:prstGeom>
        </p:spPr>
      </p:pic>
      <p:sp>
        <p:nvSpPr>
          <p:cNvPr id="22" name="!!S_ail"/>
          <p:cNvSpPr/>
          <p:nvPr/>
        </p:nvSpPr>
        <p:spPr>
          <a:xfrm>
            <a:off x="9023062" y="5806873"/>
            <a:ext cx="1573875" cy="314775"/>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23" name="!!P_ail" descr="Purée d'ail"/>
          <p:cNvPicPr>
            <a:picLocks noChangeAspect="1"/>
          </p:cNvPicPr>
          <p:nvPr/>
        </p:nvPicPr>
        <p:blipFill>
          <a:blip r:embed="rId11"/>
          <a:stretch>
            <a:fillRect/>
          </a:stretch>
        </p:blipFill>
        <p:spPr>
          <a:xfrm>
            <a:off x="9148103" y="4066315"/>
            <a:ext cx="1323793" cy="2019241"/>
          </a:xfrm>
          <a:prstGeom prst="rect">
            <a:avLst/>
          </a:prstGeom>
        </p:spPr>
      </p:pic>
      <p:sp>
        <p:nvSpPr>
          <p:cNvPr id="24" name="!!S_bouillon"/>
          <p:cNvSpPr/>
          <p:nvPr/>
        </p:nvSpPr>
        <p:spPr>
          <a:xfrm>
            <a:off x="10443062" y="5806873"/>
            <a:ext cx="1573875" cy="314775"/>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25" name="!!P_bouillon" descr="Bouillon bio de poulet"/>
          <p:cNvPicPr>
            <a:picLocks noChangeAspect="1"/>
          </p:cNvPicPr>
          <p:nvPr/>
        </p:nvPicPr>
        <p:blipFill>
          <a:blip r:embed="rId12"/>
          <a:stretch>
            <a:fillRect/>
          </a:stretch>
        </p:blipFill>
        <p:spPr>
          <a:xfrm>
            <a:off x="10563992" y="4064704"/>
            <a:ext cx="1332015" cy="2022463"/>
          </a:xfrm>
          <a:prstGeom prst="rect">
            <a:avLst/>
          </a:prstGeom>
        </p:spPr>
      </p:pic>
      <p:sp>
        <p:nvSpPr>
          <p:cNvPr id="26" name="!!S_huile"/>
          <p:cNvSpPr/>
          <p:nvPr/>
        </p:nvSpPr>
        <p:spPr>
          <a:xfrm>
            <a:off x="12532000" y="5854800"/>
            <a:ext cx="1320000" cy="264000"/>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27" name="!!P_huile" descr="Huile rouge"/>
          <p:cNvPicPr>
            <a:picLocks noChangeAspect="1"/>
          </p:cNvPicPr>
          <p:nvPr/>
        </p:nvPicPr>
        <p:blipFill>
          <a:blip r:embed="rId13"/>
          <a:stretch>
            <a:fillRect/>
          </a:stretch>
        </p:blipFill>
        <p:spPr>
          <a:xfrm>
            <a:off x="12641127" y="2965060"/>
            <a:ext cx="1101745" cy="3219543"/>
          </a:xfrm>
          <a:prstGeom prst="rect">
            <a:avLst/>
          </a:prstGeom>
        </p:spPr>
      </p:pic>
      <p:sp>
        <p:nvSpPr>
          <p:cNvPr id="28" name="!!S_arachide"/>
          <p:cNvSpPr/>
          <p:nvPr/>
        </p:nvSpPr>
        <p:spPr>
          <a:xfrm>
            <a:off x="12992000" y="5936000"/>
            <a:ext cx="2400000" cy="480000"/>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29" name="!!P_arachide" descr="Pâte d'arachide"/>
          <p:cNvPicPr>
            <a:picLocks noChangeAspect="1"/>
          </p:cNvPicPr>
          <p:nvPr/>
        </p:nvPicPr>
        <p:blipFill>
          <a:blip r:embed="rId14"/>
          <a:stretch>
            <a:fillRect/>
          </a:stretch>
        </p:blipFill>
        <p:spPr>
          <a:xfrm>
            <a:off x="12776788" y="3801069"/>
            <a:ext cx="2830422" cy="3001223"/>
          </a:xfrm>
          <a:prstGeom prst="rect">
            <a:avLst/>
          </a:prstGeom>
        </p:spPr>
      </p:pic>
      <p:sp>
        <p:nvSpPr>
          <p:cNvPr id="30" name="!!S_marinade_poulet"/>
          <p:cNvSpPr/>
          <p:nvPr/>
        </p:nvSpPr>
        <p:spPr>
          <a:xfrm>
            <a:off x="-2228375" y="10331757"/>
            <a:ext cx="2056750" cy="411350"/>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31" name="!!P_marinade_poulet" descr="Marinade poulet"/>
          <p:cNvPicPr>
            <a:picLocks noChangeAspect="1"/>
          </p:cNvPicPr>
          <p:nvPr/>
        </p:nvPicPr>
        <p:blipFill>
          <a:blip r:embed="rId15"/>
          <a:stretch>
            <a:fillRect/>
          </a:stretch>
        </p:blipFill>
        <p:spPr>
          <a:xfrm>
            <a:off x="-2056951" y="7417469"/>
            <a:ext cx="1713902" cy="3342413"/>
          </a:xfrm>
          <a:prstGeom prst="rect">
            <a:avLst/>
          </a:prstGeom>
        </p:spPr>
      </p:pic>
      <p:sp>
        <p:nvSpPr>
          <p:cNvPr id="32" name="!!S_marinade_mixte"/>
          <p:cNvSpPr/>
          <p:nvPr/>
        </p:nvSpPr>
        <p:spPr>
          <a:xfrm>
            <a:off x="1371625" y="10331757"/>
            <a:ext cx="2056750" cy="411350"/>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33" name="!!P_marinade_mixte" descr="Marinade mixte"/>
          <p:cNvPicPr>
            <a:picLocks noChangeAspect="1"/>
          </p:cNvPicPr>
          <p:nvPr/>
        </p:nvPicPr>
        <p:blipFill>
          <a:blip r:embed="rId16"/>
          <a:stretch>
            <a:fillRect/>
          </a:stretch>
        </p:blipFill>
        <p:spPr>
          <a:xfrm>
            <a:off x="1543048" y="7417469"/>
            <a:ext cx="1713902" cy="3342413"/>
          </a:xfrm>
          <a:prstGeom prst="rect">
            <a:avLst/>
          </a:prstGeom>
        </p:spPr>
      </p:pic>
      <p:sp>
        <p:nvSpPr>
          <p:cNvPr id="34" name="!!S_marinade_poisson"/>
          <p:cNvSpPr/>
          <p:nvPr/>
        </p:nvSpPr>
        <p:spPr>
          <a:xfrm>
            <a:off x="-509562" y="10613896"/>
            <a:ext cx="2219125" cy="443825"/>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35" name="!!P_marinade_poisson" descr="Marinade poisson"/>
          <p:cNvPicPr>
            <a:picLocks noChangeAspect="1"/>
          </p:cNvPicPr>
          <p:nvPr/>
        </p:nvPicPr>
        <p:blipFill>
          <a:blip r:embed="rId17"/>
          <a:stretch>
            <a:fillRect/>
          </a:stretch>
        </p:blipFill>
        <p:spPr>
          <a:xfrm>
            <a:off x="-324605" y="7469240"/>
            <a:ext cx="1849210" cy="3606874"/>
          </a:xfrm>
          <a:prstGeom prst="rect">
            <a:avLst/>
          </a:prstGeom>
        </p:spPr>
      </p:pic>
      <p:pic>
        <p:nvPicPr>
          <p:cNvPr id="36" name="!!Grain" descr="grain.png"/>
          <p:cNvPicPr>
            <a:picLocks noChangeAspect="1"/>
          </p:cNvPicPr>
          <p:nvPr/>
        </p:nvPicPr>
        <p:blipFill>
          <a:blip r:embed="rId18"/>
          <a:srcRect/>
          <a:stretch>
            <a:fillRect/>
          </a:stretch>
        </p:blipFill>
        <p:spPr>
          <a:xfrm>
            <a:off x="0" y="0"/>
            <a:ext cx="12192000" cy="6858000"/>
          </a:xfrm>
          <a:prstGeom prst="rect">
            <a:avLst/>
          </a:prstGeom>
        </p:spPr>
      </p:pic>
      <p:sp>
        <p:nvSpPr>
          <p:cNvPr id="37" name="!!Title"/>
          <p:cNvSpPr txBox="1"/>
          <p:nvPr/>
        </p:nvSpPr>
        <p:spPr>
          <a:xfrm>
            <a:off x="685800" y="914400"/>
            <a:ext cx="3840480" cy="731520"/>
          </a:xfrm>
          <a:prstGeom prst="rect">
            <a:avLst/>
          </a:prstGeom>
          <a:noFill/>
        </p:spPr>
        <p:txBody>
          <a:bodyPr wrap="square" lIns="0" rIns="0" tIns="0" bIns="0" anchor="t">
            <a:noAutofit/>
          </a:bodyPr>
          <a:lstStyle/>
          <a:p>
            <a:pPr algn="l">
              <a:lnSpc>
                <a:spcPct val="95000"/>
              </a:lnSpc>
            </a:pPr>
            <a:r>
              <a:rPr sz="4000">
                <a:solidFill>
                  <a:srgbClr val="7B1421"/>
                </a:solidFill>
                <a:latin typeface="Cream Heavy"/>
              </a:rPr>
              <a:t>Les Épices</a:t>
            </a:r>
          </a:p>
        </p:txBody>
      </p:sp>
      <p:sp>
        <p:nvSpPr>
          <p:cNvPr id="38" name="!!Body"/>
          <p:cNvSpPr txBox="1"/>
          <p:nvPr/>
        </p:nvSpPr>
        <p:spPr>
          <a:xfrm>
            <a:off x="685800" y="2057400"/>
            <a:ext cx="3657600" cy="1828800"/>
          </a:xfrm>
          <a:prstGeom prst="rect">
            <a:avLst/>
          </a:prstGeom>
          <a:noFill/>
        </p:spPr>
        <p:txBody>
          <a:bodyPr wrap="square" lIns="0" rIns="0" tIns="0" bIns="0" anchor="t">
            <a:noAutofit/>
          </a:bodyPr>
          <a:lstStyle/>
          <a:p>
            <a:pPr algn="l">
              <a:lnSpc>
                <a:spcPct val="112000"/>
              </a:lnSpc>
              <a:spcAft>
                <a:spcPts val="800"/>
              </a:spcAft>
            </a:pPr>
            <a:r>
              <a:rPr sz="1800">
                <a:solidFill>
                  <a:srgbClr val="000000"/>
                </a:solidFill>
                <a:latin typeface="Montserrat Medium"/>
              </a:rPr>
              <a:t>Dix produits en sachet, pour relever le goût, colorer, parfumer et lier les sauces.</a:t>
            </a:r>
          </a:p>
        </p:txBody>
      </p:sp>
      <p:sp>
        <p:nvSpPr>
          <p:cNvPr id="39"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A40C21"/>
                </a:solidFill>
                <a:latin typeface="Montserrat SemiBold"/>
              </a:rPr>
              <a:t>02 · Épices · 10 produits</a:t>
            </a:r>
          </a:p>
        </p:txBody>
      </p:sp>
      <p:sp>
        <p:nvSpPr>
          <p:cNvPr id="40"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A40C21"/>
                </a:solidFill>
                <a:latin typeface="Montserrat SemiBold"/>
              </a:rPr>
              <a:t>16</a:t>
            </a:r>
          </a:p>
        </p:txBody>
      </p:sp>
      <p:pic>
        <p:nvPicPr>
          <p:cNvPr id="41" name="!!Logo" descr="Logo Marin'Or Ivoire"/>
          <p:cNvPicPr>
            <a:picLocks noChangeAspect="1"/>
          </p:cNvPicPr>
          <p:nvPr/>
        </p:nvPicPr>
        <p:blipFill>
          <a:blip r:embed="rId19"/>
          <a:stretch>
            <a:fillRect/>
          </a:stretch>
        </p:blipFill>
        <p:spPr>
          <a:xfrm>
            <a:off x="10546080" y="311488"/>
            <a:ext cx="960120" cy="50299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900">
        <p159:morph option="byObject"/>
      </p:transition>
    </mc:Choice>
    <mc:Fallback>
      <p:transition spd="slow">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FF6EA"/>
          </a:solidFill>
          <a:ln>
            <a:noFill/>
          </a:ln>
        </p:spPr>
        <p:txBody>
          <a:bodyPr rtlCol="0" anchor="ctr"/>
          <a:lstStyle/>
          <a:p/>
        </p:txBody>
      </p:sp>
      <p:pic>
        <p:nvPicPr>
          <p:cNvPr id="3" name="!!PlateL" descr="motif_bord.png"/>
          <p:cNvPicPr>
            <a:picLocks noChangeAspect="1"/>
          </p:cNvPicPr>
          <p:nvPr/>
        </p:nvPicPr>
        <p:blipFill>
          <a:blip r:embed="rId2"/>
          <a:srcRect/>
          <a:stretch>
            <a:fillRect/>
          </a:stretch>
        </p:blipFill>
        <p:spPr>
          <a:xfrm>
            <a:off x="-3130000" y="-3235827"/>
            <a:ext cx="21336000" cy="12001500"/>
          </a:xfrm>
          <a:prstGeom prst="rect">
            <a:avLst/>
          </a:prstGeom>
        </p:spPr>
      </p:pic>
      <p:sp>
        <p:nvSpPr>
          <p:cNvPr id="4" name="!!Glow"/>
          <p:cNvSpPr/>
          <p:nvPr/>
        </p:nvSpPr>
        <p:spPr>
          <a:xfrm>
            <a:off x="-4090217" y="-2097439"/>
            <a:ext cx="9601200" cy="9601200"/>
          </a:xfrm>
          <a:prstGeom prst="ellipse">
            <a:avLst/>
          </a:prstGeom>
          <a:gradFill rotWithShape="1">
            <a:gsLst>
              <a:gs pos="0">
                <a:srgbClr val="FFFFFF">
                  <a:alpha val="85000"/>
                </a:srgbClr>
              </a:gs>
              <a:gs pos="100000">
                <a:srgbClr val="FFFFFF">
                  <a:alpha val="0"/>
                </a:srgbClr>
              </a:gs>
            </a:gsLst>
            <a:path path="circle">
              <a:fillToRect l="50000" t="50000" r="50000" b="50000"/>
            </a:path>
          </a:gradFill>
          <a:ln>
            <a:noFill/>
          </a:ln>
        </p:spPr>
        <p:txBody>
          <a:bodyPr rtlCol="0" anchor="ctr"/>
          <a:lstStyle/>
          <a:p/>
        </p:txBody>
      </p:sp>
      <p:sp>
        <p:nvSpPr>
          <p:cNvPr id="5" name="!!Glow2"/>
          <p:cNvSpPr/>
          <p:nvPr/>
        </p:nvSpPr>
        <p:spPr>
          <a:xfrm>
            <a:off x="8121197" y="794419"/>
            <a:ext cx="6720840" cy="6720840"/>
          </a:xfrm>
          <a:prstGeom prst="ellipse">
            <a:avLst/>
          </a:prstGeom>
          <a:gradFill rotWithShape="1">
            <a:gsLst>
              <a:gs pos="0">
                <a:srgbClr val="F9A825">
                  <a:alpha val="14000"/>
                </a:srgbClr>
              </a:gs>
              <a:gs pos="100000">
                <a:srgbClr val="F9A825">
                  <a:alpha val="0"/>
                </a:srgbClr>
              </a:gs>
            </a:gsLst>
            <a:path path="circle">
              <a:fillToRect l="50000" t="50000" r="50000" b="50000"/>
            </a:path>
          </a:gradFill>
          <a:ln>
            <a:noFill/>
          </a:ln>
        </p:spPr>
        <p:txBody>
          <a:bodyPr rtlCol="0" anchor="ctr"/>
          <a:lstStyle/>
          <a:p/>
        </p:txBody>
      </p:sp>
      <p:sp>
        <p:nvSpPr>
          <p:cNvPr id="6" name="!!Table"/>
          <p:cNvSpPr/>
          <p:nvPr/>
        </p:nvSpPr>
        <p:spPr>
          <a:xfrm>
            <a:off x="0" y="5852160"/>
            <a:ext cx="12192000" cy="1005840"/>
          </a:xfrm>
          <a:prstGeom prst="rect">
            <a:avLst/>
          </a:prstGeom>
          <a:gradFill rotWithShape="1">
            <a:gsLst>
              <a:gs pos="0">
                <a:srgbClr val="F3DCC0">
                  <a:alpha val="0"/>
                </a:srgbClr>
              </a:gs>
              <a:gs pos="100000">
                <a:srgbClr val="EBCDA9">
                  <a:alpha val="70000"/>
                </a:srgbClr>
              </a:gs>
            </a:gsLst>
            <a:lin ang="5400000" scaled="0"/>
          </a:gradFill>
          <a:ln>
            <a:noFill/>
          </a:ln>
        </p:spPr>
        <p:txBody>
          <a:bodyPr rtlCol="0" anchor="ctr"/>
          <a:lstStyle/>
          <a:p/>
        </p:txBody>
      </p:sp>
      <p:sp>
        <p:nvSpPr>
          <p:cNvPr id="7" name="!!S_epice_poulet"/>
          <p:cNvSpPr/>
          <p:nvPr/>
        </p:nvSpPr>
        <p:spPr>
          <a:xfrm>
            <a:off x="4763062" y="-4153126"/>
            <a:ext cx="1573875" cy="314775"/>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8" name="!!P_epice_poulet" descr="Épice spéciale poulet"/>
          <p:cNvPicPr>
            <a:picLocks noChangeAspect="1"/>
          </p:cNvPicPr>
          <p:nvPr/>
        </p:nvPicPr>
        <p:blipFill>
          <a:blip r:embed="rId3"/>
          <a:stretch>
            <a:fillRect/>
          </a:stretch>
        </p:blipFill>
        <p:spPr>
          <a:xfrm>
            <a:off x="4886047" y="-5893759"/>
            <a:ext cx="1327904" cy="2019393"/>
          </a:xfrm>
          <a:prstGeom prst="rect">
            <a:avLst/>
          </a:prstGeom>
        </p:spPr>
      </p:pic>
      <p:sp>
        <p:nvSpPr>
          <p:cNvPr id="9" name="!!S_epice_poisson"/>
          <p:cNvSpPr/>
          <p:nvPr/>
        </p:nvSpPr>
        <p:spPr>
          <a:xfrm>
            <a:off x="6183062" y="-4153126"/>
            <a:ext cx="1573875" cy="314775"/>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10" name="!!P_epice_poisson" descr="Épice spéciale poisson"/>
          <p:cNvPicPr>
            <a:picLocks noChangeAspect="1"/>
          </p:cNvPicPr>
          <p:nvPr/>
        </p:nvPicPr>
        <p:blipFill>
          <a:blip r:embed="rId4"/>
          <a:stretch>
            <a:fillRect/>
          </a:stretch>
        </p:blipFill>
        <p:spPr>
          <a:xfrm>
            <a:off x="6310158" y="-5895208"/>
            <a:ext cx="1319682" cy="2022290"/>
          </a:xfrm>
          <a:prstGeom prst="rect">
            <a:avLst/>
          </a:prstGeom>
        </p:spPr>
      </p:pic>
      <p:sp>
        <p:nvSpPr>
          <p:cNvPr id="11" name="!!S_paprika"/>
          <p:cNvSpPr/>
          <p:nvPr/>
        </p:nvSpPr>
        <p:spPr>
          <a:xfrm>
            <a:off x="7603062" y="-4153126"/>
            <a:ext cx="1573875" cy="314775"/>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12" name="!!P_paprika" descr="Paprika"/>
          <p:cNvPicPr>
            <a:picLocks noChangeAspect="1"/>
          </p:cNvPicPr>
          <p:nvPr/>
        </p:nvPicPr>
        <p:blipFill>
          <a:blip r:embed="rId5"/>
          <a:stretch>
            <a:fillRect/>
          </a:stretch>
        </p:blipFill>
        <p:spPr>
          <a:xfrm>
            <a:off x="7736325" y="-5892065"/>
            <a:ext cx="1307348" cy="2016003"/>
          </a:xfrm>
          <a:prstGeom prst="rect">
            <a:avLst/>
          </a:prstGeom>
        </p:spPr>
      </p:pic>
      <p:sp>
        <p:nvSpPr>
          <p:cNvPr id="13" name="!!S_piment"/>
          <p:cNvSpPr/>
          <p:nvPr/>
        </p:nvSpPr>
        <p:spPr>
          <a:xfrm>
            <a:off x="9023062" y="-4153126"/>
            <a:ext cx="1573875" cy="314775"/>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14" name="!!P_piment" descr="Piment en poudre"/>
          <p:cNvPicPr>
            <a:picLocks noChangeAspect="1"/>
          </p:cNvPicPr>
          <p:nvPr/>
        </p:nvPicPr>
        <p:blipFill>
          <a:blip r:embed="rId6"/>
          <a:stretch>
            <a:fillRect/>
          </a:stretch>
        </p:blipFill>
        <p:spPr>
          <a:xfrm>
            <a:off x="9148103" y="-5893683"/>
            <a:ext cx="1323793" cy="2019241"/>
          </a:xfrm>
          <a:prstGeom prst="rect">
            <a:avLst/>
          </a:prstGeom>
        </p:spPr>
      </p:pic>
      <p:sp>
        <p:nvSpPr>
          <p:cNvPr id="15" name="!!S_akpi"/>
          <p:cNvSpPr/>
          <p:nvPr/>
        </p:nvSpPr>
        <p:spPr>
          <a:xfrm>
            <a:off x="10443062" y="-4153126"/>
            <a:ext cx="1573875" cy="314775"/>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16" name="!!P_akpi" descr="Graines d'akpi"/>
          <p:cNvPicPr>
            <a:picLocks noChangeAspect="1"/>
          </p:cNvPicPr>
          <p:nvPr/>
        </p:nvPicPr>
        <p:blipFill>
          <a:blip r:embed="rId7"/>
          <a:stretch>
            <a:fillRect/>
          </a:stretch>
        </p:blipFill>
        <p:spPr>
          <a:xfrm>
            <a:off x="10563992" y="-5895294"/>
            <a:ext cx="1332015" cy="2022463"/>
          </a:xfrm>
          <a:prstGeom prst="rect">
            <a:avLst/>
          </a:prstGeom>
        </p:spPr>
      </p:pic>
      <p:sp>
        <p:nvSpPr>
          <p:cNvPr id="17" name="!!S_djoumble"/>
          <p:cNvSpPr/>
          <p:nvPr/>
        </p:nvSpPr>
        <p:spPr>
          <a:xfrm>
            <a:off x="4763062" y="-1393126"/>
            <a:ext cx="1573875" cy="314775"/>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18" name="!!P_djoumble" descr="Poudre de djoumblé"/>
          <p:cNvPicPr>
            <a:picLocks noChangeAspect="1"/>
          </p:cNvPicPr>
          <p:nvPr/>
        </p:nvPicPr>
        <p:blipFill>
          <a:blip r:embed="rId8"/>
          <a:stretch>
            <a:fillRect/>
          </a:stretch>
        </p:blipFill>
        <p:spPr>
          <a:xfrm>
            <a:off x="4886047" y="-3133759"/>
            <a:ext cx="1327904" cy="2019393"/>
          </a:xfrm>
          <a:prstGeom prst="rect">
            <a:avLst/>
          </a:prstGeom>
        </p:spPr>
      </p:pic>
      <p:sp>
        <p:nvSpPr>
          <p:cNvPr id="19" name="!!S_crevette"/>
          <p:cNvSpPr/>
          <p:nvPr/>
        </p:nvSpPr>
        <p:spPr>
          <a:xfrm>
            <a:off x="6183062" y="-1393126"/>
            <a:ext cx="1573875" cy="314775"/>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20" name="!!P_crevette" descr="Poudre de crevettes séchées"/>
          <p:cNvPicPr>
            <a:picLocks noChangeAspect="1"/>
          </p:cNvPicPr>
          <p:nvPr/>
        </p:nvPicPr>
        <p:blipFill>
          <a:blip r:embed="rId9"/>
          <a:stretch>
            <a:fillRect/>
          </a:stretch>
        </p:blipFill>
        <p:spPr>
          <a:xfrm>
            <a:off x="6310158" y="-3135208"/>
            <a:ext cx="1319682" cy="2022290"/>
          </a:xfrm>
          <a:prstGeom prst="rect">
            <a:avLst/>
          </a:prstGeom>
        </p:spPr>
      </p:pic>
      <p:sp>
        <p:nvSpPr>
          <p:cNvPr id="21" name="!!S_poudre_poisson"/>
          <p:cNvSpPr/>
          <p:nvPr/>
        </p:nvSpPr>
        <p:spPr>
          <a:xfrm>
            <a:off x="7603062" y="-1393126"/>
            <a:ext cx="1573875" cy="314775"/>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22" name="!!P_poudre_poisson" descr="Poudre de poisson sec"/>
          <p:cNvPicPr>
            <a:picLocks noChangeAspect="1"/>
          </p:cNvPicPr>
          <p:nvPr/>
        </p:nvPicPr>
        <p:blipFill>
          <a:blip r:embed="rId10"/>
          <a:stretch>
            <a:fillRect/>
          </a:stretch>
        </p:blipFill>
        <p:spPr>
          <a:xfrm>
            <a:off x="7736325" y="-3132065"/>
            <a:ext cx="1307348" cy="2016003"/>
          </a:xfrm>
          <a:prstGeom prst="rect">
            <a:avLst/>
          </a:prstGeom>
        </p:spPr>
      </p:pic>
      <p:sp>
        <p:nvSpPr>
          <p:cNvPr id="23" name="!!S_ail"/>
          <p:cNvSpPr/>
          <p:nvPr/>
        </p:nvSpPr>
        <p:spPr>
          <a:xfrm>
            <a:off x="9023062" y="-1393126"/>
            <a:ext cx="1573875" cy="314775"/>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24" name="!!P_ail" descr="Purée d'ail"/>
          <p:cNvPicPr>
            <a:picLocks noChangeAspect="1"/>
          </p:cNvPicPr>
          <p:nvPr/>
        </p:nvPicPr>
        <p:blipFill>
          <a:blip r:embed="rId11"/>
          <a:stretch>
            <a:fillRect/>
          </a:stretch>
        </p:blipFill>
        <p:spPr>
          <a:xfrm>
            <a:off x="9148103" y="-3133683"/>
            <a:ext cx="1323793" cy="2019241"/>
          </a:xfrm>
          <a:prstGeom prst="rect">
            <a:avLst/>
          </a:prstGeom>
        </p:spPr>
      </p:pic>
      <p:sp>
        <p:nvSpPr>
          <p:cNvPr id="25" name="!!S_bouillon"/>
          <p:cNvSpPr/>
          <p:nvPr/>
        </p:nvSpPr>
        <p:spPr>
          <a:xfrm>
            <a:off x="10443062" y="-1393126"/>
            <a:ext cx="1573875" cy="314775"/>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26" name="!!P_bouillon" descr="Bouillon bio de poulet"/>
          <p:cNvPicPr>
            <a:picLocks noChangeAspect="1"/>
          </p:cNvPicPr>
          <p:nvPr/>
        </p:nvPicPr>
        <p:blipFill>
          <a:blip r:embed="rId12"/>
          <a:stretch>
            <a:fillRect/>
          </a:stretch>
        </p:blipFill>
        <p:spPr>
          <a:xfrm>
            <a:off x="10563992" y="-3135294"/>
            <a:ext cx="1332015" cy="2022463"/>
          </a:xfrm>
          <a:prstGeom prst="rect">
            <a:avLst/>
          </a:prstGeom>
        </p:spPr>
      </p:pic>
      <p:sp>
        <p:nvSpPr>
          <p:cNvPr id="27" name="!!S_huile"/>
          <p:cNvSpPr/>
          <p:nvPr/>
        </p:nvSpPr>
        <p:spPr>
          <a:xfrm>
            <a:off x="8904375" y="5933962"/>
            <a:ext cx="1691250" cy="338250"/>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28" name="!!P_huile" descr="Huile rouge"/>
          <p:cNvPicPr>
            <a:picLocks noChangeAspect="1"/>
          </p:cNvPicPr>
          <p:nvPr/>
        </p:nvPicPr>
        <p:blipFill>
          <a:blip r:embed="rId13"/>
          <a:stretch>
            <a:fillRect/>
          </a:stretch>
        </p:blipFill>
        <p:spPr>
          <a:xfrm>
            <a:off x="9044194" y="2231585"/>
            <a:ext cx="1411611" cy="4124837"/>
          </a:xfrm>
          <a:prstGeom prst="rect">
            <a:avLst/>
          </a:prstGeom>
        </p:spPr>
      </p:pic>
      <p:sp>
        <p:nvSpPr>
          <p:cNvPr id="29" name="!!S_arachide"/>
          <p:cNvSpPr/>
          <p:nvPr/>
        </p:nvSpPr>
        <p:spPr>
          <a:xfrm>
            <a:off x="5775000" y="6073500"/>
            <a:ext cx="3150000" cy="630000"/>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30" name="!!P_arachide" descr="Pâte d'arachide"/>
          <p:cNvPicPr>
            <a:picLocks noChangeAspect="1"/>
          </p:cNvPicPr>
          <p:nvPr/>
        </p:nvPicPr>
        <p:blipFill>
          <a:blip r:embed="rId14"/>
          <a:stretch>
            <a:fillRect/>
          </a:stretch>
        </p:blipFill>
        <p:spPr>
          <a:xfrm>
            <a:off x="5484092" y="3267323"/>
            <a:ext cx="3731814" cy="3963527"/>
          </a:xfrm>
          <a:prstGeom prst="rect">
            <a:avLst/>
          </a:prstGeom>
        </p:spPr>
      </p:pic>
      <p:sp>
        <p:nvSpPr>
          <p:cNvPr id="31" name="!!S_marinade_poulet"/>
          <p:cNvSpPr/>
          <p:nvPr/>
        </p:nvSpPr>
        <p:spPr>
          <a:xfrm>
            <a:off x="-3011875" y="6421387"/>
            <a:ext cx="1623750" cy="324750"/>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32" name="!!P_marinade_poulet" descr="Marinade poulet"/>
          <p:cNvPicPr>
            <a:picLocks noChangeAspect="1"/>
          </p:cNvPicPr>
          <p:nvPr/>
        </p:nvPicPr>
        <p:blipFill>
          <a:blip r:embed="rId15"/>
          <a:stretch>
            <a:fillRect/>
          </a:stretch>
        </p:blipFill>
        <p:spPr>
          <a:xfrm>
            <a:off x="-2876540" y="4120601"/>
            <a:ext cx="1353080" cy="2638812"/>
          </a:xfrm>
          <a:prstGeom prst="rect">
            <a:avLst/>
          </a:prstGeom>
        </p:spPr>
      </p:pic>
      <p:sp>
        <p:nvSpPr>
          <p:cNvPr id="33" name="!!S_marinade_mixte"/>
          <p:cNvSpPr/>
          <p:nvPr/>
        </p:nvSpPr>
        <p:spPr>
          <a:xfrm>
            <a:off x="-4211875" y="6421387"/>
            <a:ext cx="1623750" cy="324750"/>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34" name="!!P_marinade_mixte" descr="Marinade mixte"/>
          <p:cNvPicPr>
            <a:picLocks noChangeAspect="1"/>
          </p:cNvPicPr>
          <p:nvPr/>
        </p:nvPicPr>
        <p:blipFill>
          <a:blip r:embed="rId16"/>
          <a:stretch>
            <a:fillRect/>
          </a:stretch>
        </p:blipFill>
        <p:spPr>
          <a:xfrm>
            <a:off x="-4076540" y="4120601"/>
            <a:ext cx="1353080" cy="2638812"/>
          </a:xfrm>
          <a:prstGeom prst="rect">
            <a:avLst/>
          </a:prstGeom>
        </p:spPr>
      </p:pic>
      <p:sp>
        <p:nvSpPr>
          <p:cNvPr id="35" name="!!S_marinade_poisson"/>
          <p:cNvSpPr/>
          <p:nvPr/>
        </p:nvSpPr>
        <p:spPr>
          <a:xfrm>
            <a:off x="-1866000" y="6709480"/>
            <a:ext cx="1732000" cy="346400"/>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36" name="!!P_marinade_poisson" descr="Marinade poisson"/>
          <p:cNvPicPr>
            <a:picLocks noChangeAspect="1"/>
          </p:cNvPicPr>
          <p:nvPr/>
        </p:nvPicPr>
        <p:blipFill>
          <a:blip r:embed="rId17"/>
          <a:stretch>
            <a:fillRect/>
          </a:stretch>
        </p:blipFill>
        <p:spPr>
          <a:xfrm>
            <a:off x="-1721643" y="4256082"/>
            <a:ext cx="1443286" cy="2813184"/>
          </a:xfrm>
          <a:prstGeom prst="rect">
            <a:avLst/>
          </a:prstGeom>
        </p:spPr>
      </p:pic>
      <p:pic>
        <p:nvPicPr>
          <p:cNvPr id="37" name="!!Grain" descr="grain.png"/>
          <p:cNvPicPr>
            <a:picLocks noChangeAspect="1"/>
          </p:cNvPicPr>
          <p:nvPr/>
        </p:nvPicPr>
        <p:blipFill>
          <a:blip r:embed="rId18"/>
          <a:srcRect/>
          <a:stretch>
            <a:fillRect/>
          </a:stretch>
        </p:blipFill>
        <p:spPr>
          <a:xfrm>
            <a:off x="0" y="0"/>
            <a:ext cx="12192000" cy="6858000"/>
          </a:xfrm>
          <a:prstGeom prst="rect">
            <a:avLst/>
          </a:prstGeom>
        </p:spPr>
      </p:pic>
      <p:sp>
        <p:nvSpPr>
          <p:cNvPr id="38" name="!!Title"/>
          <p:cNvSpPr txBox="1"/>
          <p:nvPr/>
        </p:nvSpPr>
        <p:spPr>
          <a:xfrm>
            <a:off x="685800" y="914400"/>
            <a:ext cx="5029200" cy="731520"/>
          </a:xfrm>
          <a:prstGeom prst="rect">
            <a:avLst/>
          </a:prstGeom>
          <a:noFill/>
        </p:spPr>
        <p:txBody>
          <a:bodyPr wrap="square" lIns="0" rIns="0" tIns="0" bIns="0" anchor="t">
            <a:noAutofit/>
          </a:bodyPr>
          <a:lstStyle/>
          <a:p>
            <a:pPr algn="l">
              <a:lnSpc>
                <a:spcPct val="95000"/>
              </a:lnSpc>
            </a:pPr>
            <a:r>
              <a:rPr sz="4000">
                <a:solidFill>
                  <a:srgbClr val="7B1421"/>
                </a:solidFill>
                <a:latin typeface="Cream Heavy"/>
              </a:rPr>
              <a:t>Les Essentiels</a:t>
            </a:r>
          </a:p>
        </p:txBody>
      </p:sp>
      <p:sp>
        <p:nvSpPr>
          <p:cNvPr id="39" name="!!Body"/>
          <p:cNvSpPr txBox="1"/>
          <p:nvPr/>
        </p:nvSpPr>
        <p:spPr>
          <a:xfrm>
            <a:off x="685800" y="2057400"/>
            <a:ext cx="4846320" cy="1463040"/>
          </a:xfrm>
          <a:prstGeom prst="rect">
            <a:avLst/>
          </a:prstGeom>
          <a:noFill/>
        </p:spPr>
        <p:txBody>
          <a:bodyPr wrap="square" lIns="0" rIns="0" tIns="0" bIns="0" anchor="t">
            <a:noAutofit/>
          </a:bodyPr>
          <a:lstStyle/>
          <a:p>
            <a:pPr algn="l">
              <a:lnSpc>
                <a:spcPct val="112000"/>
              </a:lnSpc>
              <a:spcAft>
                <a:spcPts val="1000"/>
              </a:spcAft>
            </a:pPr>
            <a:r>
              <a:rPr sz="1800">
                <a:solidFill>
                  <a:srgbClr val="7B1421"/>
                </a:solidFill>
                <a:latin typeface="Montserrat SemiBold"/>
              </a:rPr>
              <a:t>Pâte d'arachide</a:t>
            </a:r>
            <a:r>
              <a:rPr sz="1800">
                <a:solidFill>
                  <a:srgbClr val="000000"/>
                </a:solidFill>
                <a:latin typeface="Montserrat Medium"/>
              </a:rPr>
              <a:t> : la sauce arachide</a:t>
            </a:r>
          </a:p>
          <a:p>
            <a:pPr algn="l">
              <a:lnSpc>
                <a:spcPct val="112000"/>
              </a:lnSpc>
              <a:spcAft>
                <a:spcPts val="1000"/>
              </a:spcAft>
            </a:pPr>
            <a:r>
              <a:rPr sz="1800">
                <a:solidFill>
                  <a:srgbClr val="7B1421"/>
                </a:solidFill>
                <a:latin typeface="Montserrat SemiBold"/>
              </a:rPr>
              <a:t>Huile rouge</a:t>
            </a:r>
            <a:r>
              <a:rPr sz="1800">
                <a:solidFill>
                  <a:srgbClr val="000000"/>
                </a:solidFill>
                <a:latin typeface="Montserrat Medium"/>
              </a:rPr>
              <a:t> : les sauces traditionnelles</a:t>
            </a:r>
          </a:p>
        </p:txBody>
      </p:sp>
      <p:sp>
        <p:nvSpPr>
          <p:cNvPr id="40"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A40C21"/>
                </a:solidFill>
                <a:latin typeface="Montserrat SemiBold"/>
              </a:rPr>
              <a:t>02 · Essentiels · 2 produits</a:t>
            </a:r>
          </a:p>
        </p:txBody>
      </p:sp>
      <p:sp>
        <p:nvSpPr>
          <p:cNvPr id="41"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A40C21"/>
                </a:solidFill>
                <a:latin typeface="Montserrat SemiBold"/>
              </a:rPr>
              <a:t>17</a:t>
            </a:r>
          </a:p>
        </p:txBody>
      </p:sp>
      <p:pic>
        <p:nvPicPr>
          <p:cNvPr id="42" name="!!Logo" descr="Logo Marin'Or Ivoire"/>
          <p:cNvPicPr>
            <a:picLocks noChangeAspect="1"/>
          </p:cNvPicPr>
          <p:nvPr/>
        </p:nvPicPr>
        <p:blipFill>
          <a:blip r:embed="rId19"/>
          <a:stretch>
            <a:fillRect/>
          </a:stretch>
        </p:blipFill>
        <p:spPr>
          <a:xfrm>
            <a:off x="10546080" y="311488"/>
            <a:ext cx="960120" cy="50299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900">
        <p159:morph option="byObject"/>
      </p:transition>
    </mc:Choice>
    <mc:Fallback>
      <p:transition spd="slow">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2A070D"/>
          </a:solidFill>
          <a:ln>
            <a:noFill/>
          </a:ln>
        </p:spPr>
        <p:txBody>
          <a:bodyPr rtlCol="0" anchor="ctr"/>
          <a:lstStyle/>
          <a:p/>
        </p:txBody>
      </p:sp>
      <p:sp>
        <p:nvSpPr>
          <p:cNvPr id="3" name="!!Glow"/>
          <p:cNvSpPr/>
          <p:nvPr/>
        </p:nvSpPr>
        <p:spPr>
          <a:xfrm>
            <a:off x="-3744571" y="-2789356"/>
            <a:ext cx="9601200" cy="9601200"/>
          </a:xfrm>
          <a:prstGeom prst="ellipse">
            <a:avLst/>
          </a:prstGeom>
          <a:gradFill rotWithShape="1">
            <a:gsLst>
              <a:gs pos="0">
                <a:srgbClr val="B3222F">
                  <a:alpha val="55000"/>
                </a:srgbClr>
              </a:gs>
              <a:gs pos="45000">
                <a:srgbClr val="7B1421">
                  <a:alpha val="22000"/>
                </a:srgbClr>
              </a:gs>
              <a:gs pos="100000">
                <a:srgbClr val="7B1421">
                  <a:alpha val="0"/>
                </a:srgbClr>
              </a:gs>
            </a:gsLst>
            <a:path path="circle">
              <a:fillToRect l="50000" t="50000" r="50000" b="50000"/>
            </a:path>
          </a:gradFill>
          <a:ln>
            <a:noFill/>
          </a:ln>
        </p:spPr>
        <p:txBody>
          <a:bodyPr rtlCol="0" anchor="ctr"/>
          <a:lstStyle/>
          <a:p/>
        </p:txBody>
      </p:sp>
      <p:sp>
        <p:nvSpPr>
          <p:cNvPr id="4" name="!!Glow2"/>
          <p:cNvSpPr/>
          <p:nvPr/>
        </p:nvSpPr>
        <p:spPr>
          <a:xfrm>
            <a:off x="7775551" y="1486336"/>
            <a:ext cx="6720840" cy="6720840"/>
          </a:xfrm>
          <a:prstGeom prst="ellipse">
            <a:avLst/>
          </a:prstGeom>
          <a:gradFill rotWithShape="1">
            <a:gsLst>
              <a:gs pos="0">
                <a:srgbClr val="F9A825">
                  <a:alpha val="16000"/>
                </a:srgbClr>
              </a:gs>
              <a:gs pos="100000">
                <a:srgbClr val="F9A825">
                  <a:alpha val="0"/>
                </a:srgbClr>
              </a:gs>
            </a:gsLst>
            <a:path path="circle">
              <a:fillToRect l="50000" t="50000" r="50000" b="50000"/>
            </a:path>
          </a:gradFill>
          <a:ln>
            <a:noFill/>
          </a:ln>
        </p:spPr>
        <p:txBody>
          <a:bodyPr rtlCol="0" anchor="ctr"/>
          <a:lstStyle/>
          <a:p/>
        </p:txBody>
      </p:sp>
      <p:pic>
        <p:nvPicPr>
          <p:cNvPr id="5" name="!!Vignette" descr="vignette.png"/>
          <p:cNvPicPr>
            <a:picLocks noChangeAspect="1"/>
          </p:cNvPicPr>
          <p:nvPr/>
        </p:nvPicPr>
        <p:blipFill>
          <a:blip r:embed="rId2"/>
          <a:srcRect/>
          <a:stretch>
            <a:fillRect/>
          </a:stretch>
        </p:blipFill>
        <p:spPr>
          <a:xfrm>
            <a:off x="0" y="0"/>
            <a:ext cx="12192000" cy="6858000"/>
          </a:xfrm>
          <a:prstGeom prst="rect">
            <a:avLst/>
          </a:prstGeom>
        </p:spPr>
      </p:pic>
      <p:pic>
        <p:nvPicPr>
          <p:cNvPr id="6" name="!!Hero" descr="Plat traditionnel (flou)"/>
          <p:cNvPicPr>
            <a:picLocks noChangeAspect="1"/>
          </p:cNvPicPr>
          <p:nvPr/>
        </p:nvPicPr>
        <p:blipFill>
          <a:blip r:embed="rId3"/>
          <a:srcRect/>
          <a:stretch>
            <a:fillRect/>
          </a:stretch>
        </p:blipFill>
        <p:spPr>
          <a:xfrm>
            <a:off x="0" y="0"/>
            <a:ext cx="12192000" cy="6858000"/>
          </a:xfrm>
          <a:prstGeom prst="rect">
            <a:avLst/>
          </a:prstGeom>
        </p:spPr>
      </p:pic>
      <p:sp>
        <p:nvSpPr>
          <p:cNvPr id="7" name="!!Shade"/>
          <p:cNvSpPr/>
          <p:nvPr/>
        </p:nvSpPr>
        <p:spPr>
          <a:xfrm>
            <a:off x="0" y="0"/>
            <a:ext cx="12192000" cy="6858000"/>
          </a:xfrm>
          <a:prstGeom prst="rect">
            <a:avLst/>
          </a:prstGeom>
          <a:gradFill rotWithShape="1">
            <a:gsLst>
              <a:gs pos="0">
                <a:srgbClr val="2A070D">
                  <a:alpha val="35000"/>
                </a:srgbClr>
              </a:gs>
              <a:gs pos="55000">
                <a:srgbClr val="2A070D">
                  <a:alpha val="55000"/>
                </a:srgbClr>
              </a:gs>
              <a:gs pos="100000">
                <a:srgbClr val="2A070D">
                  <a:alpha val="92000"/>
                </a:srgbClr>
              </a:gs>
            </a:gsLst>
            <a:lin ang="5400000" scaled="0"/>
          </a:gradFill>
          <a:ln>
            <a:noFill/>
          </a:ln>
        </p:spPr>
        <p:txBody>
          <a:bodyPr rtlCol="0" anchor="ctr"/>
          <a:lstStyle/>
          <a:p/>
        </p:txBody>
      </p:sp>
      <p:pic>
        <p:nvPicPr>
          <p:cNvPr id="8" name="!!Bokeh" descr="bokeh.png"/>
          <p:cNvPicPr>
            <a:picLocks noChangeAspect="1"/>
          </p:cNvPicPr>
          <p:nvPr/>
        </p:nvPicPr>
        <p:blipFill>
          <a:blip r:embed="rId4">
            <a:alphaModFix amt="80000"/>
          </a:blip>
          <a:srcRect/>
          <a:stretch>
            <a:fillRect/>
          </a:stretch>
        </p:blipFill>
        <p:spPr>
          <a:xfrm>
            <a:off x="0" y="0"/>
            <a:ext cx="12192000" cy="6858000"/>
          </a:xfrm>
          <a:prstGeom prst="rect">
            <a:avLst/>
          </a:prstGeom>
        </p:spPr>
      </p:pic>
      <p:sp>
        <p:nvSpPr>
          <p:cNvPr id="9" name="!!Tier0"/>
          <p:cNvSpPr/>
          <p:nvPr/>
        </p:nvSpPr>
        <p:spPr>
          <a:xfrm>
            <a:off x="4533600" y="3014280"/>
            <a:ext cx="3124800" cy="3843720"/>
          </a:xfrm>
          <a:prstGeom prst="rect">
            <a:avLst/>
          </a:prstGeom>
          <a:gradFill rotWithShape="1">
            <a:gsLst>
              <a:gs pos="0">
                <a:srgbClr val="5C0F19"/>
              </a:gs>
              <a:gs pos="18000">
                <a:srgbClr val="3A0A11"/>
              </a:gs>
              <a:gs pos="100000">
                <a:srgbClr val="1E0408"/>
              </a:gs>
            </a:gsLst>
            <a:lin ang="5400000" scaled="0"/>
          </a:gradFill>
          <a:ln>
            <a:noFill/>
          </a:ln>
          <a:effectLst>
            <a:outerShdw blurRad="381000" dist="76200" dir="5400000" algn="t" rotWithShape="0">
              <a:srgbClr val="1A0507">
                <a:alpha val="40000"/>
              </a:srgbClr>
            </a:outerShdw>
          </a:effectLst>
        </p:spPr>
        <p:txBody>
          <a:bodyPr rtlCol="0" anchor="ctr"/>
          <a:lstStyle/>
          <a:p/>
        </p:txBody>
      </p:sp>
      <p:sp>
        <p:nvSpPr>
          <p:cNvPr id="10" name="!!TierEdge0"/>
          <p:cNvSpPr/>
          <p:nvPr/>
        </p:nvSpPr>
        <p:spPr>
          <a:xfrm>
            <a:off x="4533600" y="3014280"/>
            <a:ext cx="3124800" cy="22860"/>
          </a:xfrm>
          <a:prstGeom prst="rect">
            <a:avLst/>
          </a:prstGeom>
          <a:gradFill rotWithShape="1">
            <a:gsLst>
              <a:gs pos="0">
                <a:srgbClr val="F9A825">
                  <a:alpha val="0"/>
                </a:srgbClr>
              </a:gs>
              <a:gs pos="30000">
                <a:srgbClr val="FBD021">
                  <a:alpha val="85000"/>
                </a:srgbClr>
              </a:gs>
              <a:gs pos="70000">
                <a:srgbClr val="F9A825">
                  <a:alpha val="85000"/>
                </a:srgbClr>
              </a:gs>
              <a:gs pos="100000">
                <a:srgbClr val="F9A825">
                  <a:alpha val="0"/>
                </a:srgbClr>
              </a:gs>
            </a:gsLst>
            <a:lin ang="0" scaled="0"/>
          </a:gradFill>
          <a:ln>
            <a:noFill/>
          </a:ln>
        </p:spPr>
        <p:txBody>
          <a:bodyPr rtlCol="0" anchor="ctr"/>
          <a:lstStyle/>
          <a:p/>
        </p:txBody>
      </p:sp>
      <p:sp>
        <p:nvSpPr>
          <p:cNvPr id="11" name="!!S_paprika"/>
          <p:cNvSpPr/>
          <p:nvPr/>
        </p:nvSpPr>
        <p:spPr>
          <a:xfrm>
            <a:off x="4755710" y="2952277"/>
            <a:ext cx="979300" cy="195860"/>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12" name="!!P_paprika" descr="Paprika"/>
          <p:cNvPicPr>
            <a:picLocks noChangeAspect="1"/>
          </p:cNvPicPr>
          <p:nvPr/>
        </p:nvPicPr>
        <p:blipFill>
          <a:blip r:embed="rId5"/>
          <a:stretch>
            <a:fillRect/>
          </a:stretch>
        </p:blipFill>
        <p:spPr>
          <a:xfrm>
            <a:off x="4829676" y="1877646"/>
            <a:ext cx="831367" cy="1253163"/>
          </a:xfrm>
          <a:prstGeom prst="rect">
            <a:avLst/>
          </a:prstGeom>
        </p:spPr>
      </p:pic>
      <p:sp>
        <p:nvSpPr>
          <p:cNvPr id="13" name="!!S_epice_poulet"/>
          <p:cNvSpPr/>
          <p:nvPr/>
        </p:nvSpPr>
        <p:spPr>
          <a:xfrm>
            <a:off x="5606350" y="2952277"/>
            <a:ext cx="979300" cy="195860"/>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14" name="!!P_epice_poulet" descr="Épice spéciale poulet"/>
          <p:cNvPicPr>
            <a:picLocks noChangeAspect="1"/>
          </p:cNvPicPr>
          <p:nvPr/>
        </p:nvPicPr>
        <p:blipFill>
          <a:blip r:embed="rId6"/>
          <a:stretch>
            <a:fillRect/>
          </a:stretch>
        </p:blipFill>
        <p:spPr>
          <a:xfrm>
            <a:off x="5685432" y="1879184"/>
            <a:ext cx="821135" cy="1250086"/>
          </a:xfrm>
          <a:prstGeom prst="rect">
            <a:avLst/>
          </a:prstGeom>
        </p:spPr>
      </p:pic>
      <p:sp>
        <p:nvSpPr>
          <p:cNvPr id="15" name="!!S_piment"/>
          <p:cNvSpPr/>
          <p:nvPr/>
        </p:nvSpPr>
        <p:spPr>
          <a:xfrm>
            <a:off x="6456990" y="2952277"/>
            <a:ext cx="979300" cy="195860"/>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16" name="!!P_piment" descr="Piment en poudre"/>
          <p:cNvPicPr>
            <a:picLocks noChangeAspect="1"/>
          </p:cNvPicPr>
          <p:nvPr/>
        </p:nvPicPr>
        <p:blipFill>
          <a:blip r:embed="rId7"/>
          <a:stretch>
            <a:fillRect/>
          </a:stretch>
        </p:blipFill>
        <p:spPr>
          <a:xfrm>
            <a:off x="6529677" y="1878784"/>
            <a:ext cx="833925" cy="1250887"/>
          </a:xfrm>
          <a:prstGeom prst="rect">
            <a:avLst/>
          </a:prstGeom>
        </p:spPr>
      </p:pic>
      <p:sp>
        <p:nvSpPr>
          <p:cNvPr id="17" name="!!Tier1"/>
          <p:cNvSpPr/>
          <p:nvPr/>
        </p:nvSpPr>
        <p:spPr>
          <a:xfrm>
            <a:off x="3309210" y="4334280"/>
            <a:ext cx="5573580" cy="2523720"/>
          </a:xfrm>
          <a:prstGeom prst="rect">
            <a:avLst/>
          </a:prstGeom>
          <a:gradFill rotWithShape="1">
            <a:gsLst>
              <a:gs pos="0">
                <a:srgbClr val="5C0F19"/>
              </a:gs>
              <a:gs pos="18000">
                <a:srgbClr val="3A0A11"/>
              </a:gs>
              <a:gs pos="100000">
                <a:srgbClr val="1E0408"/>
              </a:gs>
            </a:gsLst>
            <a:lin ang="5400000" scaled="0"/>
          </a:gradFill>
          <a:ln>
            <a:noFill/>
          </a:ln>
          <a:effectLst>
            <a:outerShdw blurRad="381000" dist="76200" dir="5400000" algn="t" rotWithShape="0">
              <a:srgbClr val="1A0507">
                <a:alpha val="40000"/>
              </a:srgbClr>
            </a:outerShdw>
          </a:effectLst>
        </p:spPr>
        <p:txBody>
          <a:bodyPr rtlCol="0" anchor="ctr"/>
          <a:lstStyle/>
          <a:p/>
        </p:txBody>
      </p:sp>
      <p:sp>
        <p:nvSpPr>
          <p:cNvPr id="18" name="!!TierEdge1"/>
          <p:cNvSpPr/>
          <p:nvPr/>
        </p:nvSpPr>
        <p:spPr>
          <a:xfrm>
            <a:off x="3309210" y="4334280"/>
            <a:ext cx="5573580" cy="22860"/>
          </a:xfrm>
          <a:prstGeom prst="rect">
            <a:avLst/>
          </a:prstGeom>
          <a:gradFill rotWithShape="1">
            <a:gsLst>
              <a:gs pos="0">
                <a:srgbClr val="F9A825">
                  <a:alpha val="0"/>
                </a:srgbClr>
              </a:gs>
              <a:gs pos="30000">
                <a:srgbClr val="FBD021">
                  <a:alpha val="85000"/>
                </a:srgbClr>
              </a:gs>
              <a:gs pos="70000">
                <a:srgbClr val="F9A825">
                  <a:alpha val="85000"/>
                </a:srgbClr>
              </a:gs>
              <a:gs pos="100000">
                <a:srgbClr val="F9A825">
                  <a:alpha val="0"/>
                </a:srgbClr>
              </a:gs>
            </a:gsLst>
            <a:lin ang="0" scaled="0"/>
          </a:gradFill>
          <a:ln>
            <a:noFill/>
          </a:ln>
        </p:spPr>
        <p:txBody>
          <a:bodyPr rtlCol="0" anchor="ctr"/>
          <a:lstStyle/>
          <a:p/>
        </p:txBody>
      </p:sp>
      <p:sp>
        <p:nvSpPr>
          <p:cNvPr id="19" name="!!S_akpi"/>
          <p:cNvSpPr/>
          <p:nvPr/>
        </p:nvSpPr>
        <p:spPr>
          <a:xfrm>
            <a:off x="3513832" y="4253040"/>
            <a:ext cx="1154175" cy="230835"/>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20" name="!!P_akpi" descr="Graines d'akpi"/>
          <p:cNvPicPr>
            <a:picLocks noChangeAspect="1"/>
          </p:cNvPicPr>
          <p:nvPr/>
        </p:nvPicPr>
        <p:blipFill>
          <a:blip r:embed="rId8"/>
          <a:stretch>
            <a:fillRect/>
          </a:stretch>
        </p:blipFill>
        <p:spPr>
          <a:xfrm>
            <a:off x="3599499" y="2986326"/>
            <a:ext cx="982841" cy="1477313"/>
          </a:xfrm>
          <a:prstGeom prst="rect">
            <a:avLst/>
          </a:prstGeom>
        </p:spPr>
      </p:pic>
      <p:sp>
        <p:nvSpPr>
          <p:cNvPr id="21" name="!!S_djoumble"/>
          <p:cNvSpPr/>
          <p:nvPr/>
        </p:nvSpPr>
        <p:spPr>
          <a:xfrm>
            <a:off x="4516372" y="4253040"/>
            <a:ext cx="1154175" cy="230835"/>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22" name="!!P_djoumble" descr="Poudre de djoumblé"/>
          <p:cNvPicPr>
            <a:picLocks noChangeAspect="1"/>
          </p:cNvPicPr>
          <p:nvPr/>
        </p:nvPicPr>
        <p:blipFill>
          <a:blip r:embed="rId9"/>
          <a:stretch>
            <a:fillRect/>
          </a:stretch>
        </p:blipFill>
        <p:spPr>
          <a:xfrm>
            <a:off x="4603546" y="2987051"/>
            <a:ext cx="979826" cy="1475862"/>
          </a:xfrm>
          <a:prstGeom prst="rect">
            <a:avLst/>
          </a:prstGeom>
        </p:spPr>
      </p:pic>
      <p:sp>
        <p:nvSpPr>
          <p:cNvPr id="23" name="!!S_epice_poisson"/>
          <p:cNvSpPr/>
          <p:nvPr/>
        </p:nvSpPr>
        <p:spPr>
          <a:xfrm>
            <a:off x="5518912" y="4253040"/>
            <a:ext cx="1154175" cy="230835"/>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24" name="!!P_epice_poisson" descr="Épice spéciale poisson"/>
          <p:cNvPicPr>
            <a:picLocks noChangeAspect="1"/>
          </p:cNvPicPr>
          <p:nvPr/>
        </p:nvPicPr>
        <p:blipFill>
          <a:blip r:embed="rId10"/>
          <a:stretch>
            <a:fillRect/>
          </a:stretch>
        </p:blipFill>
        <p:spPr>
          <a:xfrm>
            <a:off x="5612116" y="2986908"/>
            <a:ext cx="967766" cy="1476149"/>
          </a:xfrm>
          <a:prstGeom prst="rect">
            <a:avLst/>
          </a:prstGeom>
        </p:spPr>
      </p:pic>
      <p:sp>
        <p:nvSpPr>
          <p:cNvPr id="25" name="!!S_crevette"/>
          <p:cNvSpPr/>
          <p:nvPr/>
        </p:nvSpPr>
        <p:spPr>
          <a:xfrm>
            <a:off x="6521452" y="4253040"/>
            <a:ext cx="1154175" cy="230835"/>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26" name="!!P_crevette" descr="Poudre de crevettes séchées"/>
          <p:cNvPicPr>
            <a:picLocks noChangeAspect="1"/>
          </p:cNvPicPr>
          <p:nvPr/>
        </p:nvPicPr>
        <p:blipFill>
          <a:blip r:embed="rId11"/>
          <a:stretch>
            <a:fillRect/>
          </a:stretch>
        </p:blipFill>
        <p:spPr>
          <a:xfrm>
            <a:off x="6607119" y="2989378"/>
            <a:ext cx="982841" cy="1471209"/>
          </a:xfrm>
          <a:prstGeom prst="rect">
            <a:avLst/>
          </a:prstGeom>
        </p:spPr>
      </p:pic>
      <p:sp>
        <p:nvSpPr>
          <p:cNvPr id="27" name="!!S_poudre_poisson"/>
          <p:cNvSpPr/>
          <p:nvPr/>
        </p:nvSpPr>
        <p:spPr>
          <a:xfrm>
            <a:off x="7523992" y="4253040"/>
            <a:ext cx="1154175" cy="230835"/>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28" name="!!P_poudre_poisson" descr="Poudre de poisson sec"/>
          <p:cNvPicPr>
            <a:picLocks noChangeAspect="1"/>
          </p:cNvPicPr>
          <p:nvPr/>
        </p:nvPicPr>
        <p:blipFill>
          <a:blip r:embed="rId12"/>
          <a:stretch>
            <a:fillRect/>
          </a:stretch>
        </p:blipFill>
        <p:spPr>
          <a:xfrm>
            <a:off x="7608152" y="2984060"/>
            <a:ext cx="985855" cy="1481844"/>
          </a:xfrm>
          <a:prstGeom prst="rect">
            <a:avLst/>
          </a:prstGeom>
        </p:spPr>
      </p:pic>
      <p:sp>
        <p:nvSpPr>
          <p:cNvPr id="29" name="!!Tier2"/>
          <p:cNvSpPr/>
          <p:nvPr/>
        </p:nvSpPr>
        <p:spPr>
          <a:xfrm>
            <a:off x="2174040" y="6174280"/>
            <a:ext cx="7843920" cy="683720"/>
          </a:xfrm>
          <a:prstGeom prst="rect">
            <a:avLst/>
          </a:prstGeom>
          <a:gradFill rotWithShape="1">
            <a:gsLst>
              <a:gs pos="0">
                <a:srgbClr val="5C0F19"/>
              </a:gs>
              <a:gs pos="18000">
                <a:srgbClr val="3A0A11"/>
              </a:gs>
              <a:gs pos="100000">
                <a:srgbClr val="1E0408"/>
              </a:gs>
            </a:gsLst>
            <a:lin ang="5400000" scaled="0"/>
          </a:gradFill>
          <a:ln>
            <a:noFill/>
          </a:ln>
          <a:effectLst>
            <a:outerShdw blurRad="381000" dist="76200" dir="5400000" algn="t" rotWithShape="0">
              <a:srgbClr val="1A0507">
                <a:alpha val="40000"/>
              </a:srgbClr>
            </a:outerShdw>
          </a:effectLst>
        </p:spPr>
        <p:txBody>
          <a:bodyPr rtlCol="0" anchor="ctr"/>
          <a:lstStyle/>
          <a:p/>
        </p:txBody>
      </p:sp>
      <p:sp>
        <p:nvSpPr>
          <p:cNvPr id="30" name="!!TierEdge2"/>
          <p:cNvSpPr/>
          <p:nvPr/>
        </p:nvSpPr>
        <p:spPr>
          <a:xfrm>
            <a:off x="2174040" y="6174280"/>
            <a:ext cx="7843920" cy="22860"/>
          </a:xfrm>
          <a:prstGeom prst="rect">
            <a:avLst/>
          </a:prstGeom>
          <a:gradFill rotWithShape="1">
            <a:gsLst>
              <a:gs pos="0">
                <a:srgbClr val="F9A825">
                  <a:alpha val="0"/>
                </a:srgbClr>
              </a:gs>
              <a:gs pos="30000">
                <a:srgbClr val="FBD021">
                  <a:alpha val="85000"/>
                </a:srgbClr>
              </a:gs>
              <a:gs pos="70000">
                <a:srgbClr val="F9A825">
                  <a:alpha val="85000"/>
                </a:srgbClr>
              </a:gs>
              <a:gs pos="100000">
                <a:srgbClr val="F9A825">
                  <a:alpha val="0"/>
                </a:srgbClr>
              </a:gs>
            </a:gsLst>
            <a:lin ang="0" scaled="0"/>
          </a:gradFill>
          <a:ln>
            <a:noFill/>
          </a:ln>
        </p:spPr>
        <p:txBody>
          <a:bodyPr rtlCol="0" anchor="ctr"/>
          <a:lstStyle/>
          <a:p/>
        </p:txBody>
      </p:sp>
      <p:sp>
        <p:nvSpPr>
          <p:cNvPr id="31" name="!!S_bouillon"/>
          <p:cNvSpPr/>
          <p:nvPr/>
        </p:nvSpPr>
        <p:spPr>
          <a:xfrm>
            <a:off x="2347185" y="6058415"/>
            <a:ext cx="1468950" cy="293790"/>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32" name="!!P_bouillon" descr="Bouillon bio de poulet"/>
          <p:cNvPicPr>
            <a:picLocks noChangeAspect="1"/>
          </p:cNvPicPr>
          <p:nvPr/>
        </p:nvPicPr>
        <p:blipFill>
          <a:blip r:embed="rId13"/>
          <a:stretch>
            <a:fillRect/>
          </a:stretch>
        </p:blipFill>
        <p:spPr>
          <a:xfrm>
            <a:off x="2454297" y="4452197"/>
            <a:ext cx="1254725" cy="1879027"/>
          </a:xfrm>
          <a:prstGeom prst="rect">
            <a:avLst/>
          </a:prstGeom>
        </p:spPr>
      </p:pic>
      <p:sp>
        <p:nvSpPr>
          <p:cNvPr id="33" name="!!S_huile"/>
          <p:cNvSpPr/>
          <p:nvPr/>
        </p:nvSpPr>
        <p:spPr>
          <a:xfrm>
            <a:off x="3784740" y="6143770"/>
            <a:ext cx="693000" cy="138600"/>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34" name="!!P_huile" descr="Huile rouge"/>
          <p:cNvPicPr>
            <a:picLocks noChangeAspect="1"/>
          </p:cNvPicPr>
          <p:nvPr/>
        </p:nvPicPr>
        <p:blipFill>
          <a:blip r:embed="rId14"/>
          <a:stretch>
            <a:fillRect/>
          </a:stretch>
        </p:blipFill>
        <p:spPr>
          <a:xfrm>
            <a:off x="3842031" y="4638176"/>
            <a:ext cx="578416" cy="1686021"/>
          </a:xfrm>
          <a:prstGeom prst="rect">
            <a:avLst/>
          </a:prstGeom>
        </p:spPr>
      </p:pic>
      <p:sp>
        <p:nvSpPr>
          <p:cNvPr id="35" name="!!S_marinade_poulet"/>
          <p:cNvSpPr/>
          <p:nvPr/>
        </p:nvSpPr>
        <p:spPr>
          <a:xfrm>
            <a:off x="4502310" y="6119977"/>
            <a:ext cx="909300" cy="181860"/>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36" name="!!P_marinade_poulet" descr="Marinade poulet"/>
          <p:cNvPicPr>
            <a:picLocks noChangeAspect="1"/>
          </p:cNvPicPr>
          <p:nvPr/>
        </p:nvPicPr>
        <p:blipFill>
          <a:blip r:embed="rId15"/>
          <a:stretch>
            <a:fillRect/>
          </a:stretch>
        </p:blipFill>
        <p:spPr>
          <a:xfrm>
            <a:off x="4576611" y="4842408"/>
            <a:ext cx="760696" cy="1472314"/>
          </a:xfrm>
          <a:prstGeom prst="rect">
            <a:avLst/>
          </a:prstGeom>
        </p:spPr>
      </p:pic>
      <p:sp>
        <p:nvSpPr>
          <p:cNvPr id="37" name="!!S_marinade_poisson"/>
          <p:cNvSpPr/>
          <p:nvPr/>
        </p:nvSpPr>
        <p:spPr>
          <a:xfrm>
            <a:off x="5414550" y="6119977"/>
            <a:ext cx="909300" cy="181860"/>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38" name="!!P_marinade_poisson" descr="Marinade poisson"/>
          <p:cNvPicPr>
            <a:picLocks noChangeAspect="1"/>
          </p:cNvPicPr>
          <p:nvPr/>
        </p:nvPicPr>
        <p:blipFill>
          <a:blip r:embed="rId16"/>
          <a:stretch>
            <a:fillRect/>
          </a:stretch>
        </p:blipFill>
        <p:spPr>
          <a:xfrm>
            <a:off x="5488851" y="4842408"/>
            <a:ext cx="760696" cy="1472314"/>
          </a:xfrm>
          <a:prstGeom prst="rect">
            <a:avLst/>
          </a:prstGeom>
        </p:spPr>
      </p:pic>
      <p:sp>
        <p:nvSpPr>
          <p:cNvPr id="39" name="!!S_marinade_mixte"/>
          <p:cNvSpPr/>
          <p:nvPr/>
        </p:nvSpPr>
        <p:spPr>
          <a:xfrm>
            <a:off x="6326790" y="6119977"/>
            <a:ext cx="909300" cy="181860"/>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40" name="!!P_marinade_mixte" descr="Marinade mixte"/>
          <p:cNvPicPr>
            <a:picLocks noChangeAspect="1"/>
          </p:cNvPicPr>
          <p:nvPr/>
        </p:nvPicPr>
        <p:blipFill>
          <a:blip r:embed="rId17"/>
          <a:stretch>
            <a:fillRect/>
          </a:stretch>
        </p:blipFill>
        <p:spPr>
          <a:xfrm>
            <a:off x="6401091" y="4842408"/>
            <a:ext cx="760696" cy="1472314"/>
          </a:xfrm>
          <a:prstGeom prst="rect">
            <a:avLst/>
          </a:prstGeom>
        </p:spPr>
      </p:pic>
      <p:sp>
        <p:nvSpPr>
          <p:cNvPr id="41" name="!!S_arachide"/>
          <p:cNvSpPr/>
          <p:nvPr/>
        </p:nvSpPr>
        <p:spPr>
          <a:xfrm>
            <a:off x="7203960" y="6081400"/>
            <a:ext cx="1260000" cy="252000"/>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42" name="!!P_arachide" descr="Pâte d'arachide"/>
          <p:cNvPicPr>
            <a:picLocks noChangeAspect="1"/>
          </p:cNvPicPr>
          <p:nvPr/>
        </p:nvPicPr>
        <p:blipFill>
          <a:blip r:embed="rId18"/>
          <a:stretch>
            <a:fillRect/>
          </a:stretch>
        </p:blipFill>
        <p:spPr>
          <a:xfrm>
            <a:off x="7107860" y="4994734"/>
            <a:ext cx="1452199" cy="1501012"/>
          </a:xfrm>
          <a:prstGeom prst="rect">
            <a:avLst/>
          </a:prstGeom>
        </p:spPr>
      </p:pic>
      <p:sp>
        <p:nvSpPr>
          <p:cNvPr id="43" name="!!S_ail"/>
          <p:cNvSpPr/>
          <p:nvPr/>
        </p:nvSpPr>
        <p:spPr>
          <a:xfrm>
            <a:off x="8375865" y="6058415"/>
            <a:ext cx="1468950" cy="293790"/>
          </a:xfrm>
          <a:prstGeom prst="ellipse">
            <a:avLst/>
          </a:prstGeom>
          <a:gradFill rotWithShape="1">
            <a:gsLst>
              <a:gs pos="0">
                <a:srgbClr val="1A0507">
                  <a:alpha val="42000"/>
                </a:srgbClr>
              </a:gs>
              <a:gs pos="100000">
                <a:srgbClr val="1A0507">
                  <a:alpha val="0"/>
                </a:srgbClr>
              </a:gs>
            </a:gsLst>
            <a:path path="circle">
              <a:fillToRect l="50000" t="50000" r="50000" b="50000"/>
            </a:path>
          </a:gradFill>
          <a:ln>
            <a:noFill/>
          </a:ln>
        </p:spPr>
        <p:txBody>
          <a:bodyPr rtlCol="0" anchor="ctr"/>
          <a:lstStyle/>
          <a:p/>
        </p:txBody>
      </p:sp>
      <p:pic>
        <p:nvPicPr>
          <p:cNvPr id="44" name="!!P_ail" descr="Purée d'ail"/>
          <p:cNvPicPr>
            <a:picLocks noChangeAspect="1"/>
          </p:cNvPicPr>
          <p:nvPr/>
        </p:nvPicPr>
        <p:blipFill>
          <a:blip r:embed="rId19"/>
          <a:stretch>
            <a:fillRect/>
          </a:stretch>
        </p:blipFill>
        <p:spPr>
          <a:xfrm>
            <a:off x="8481058" y="4450844"/>
            <a:ext cx="1258562" cy="1881733"/>
          </a:xfrm>
          <a:prstGeom prst="rect">
            <a:avLst/>
          </a:prstGeom>
        </p:spPr>
      </p:pic>
      <p:pic>
        <p:nvPicPr>
          <p:cNvPr id="45" name="!!Grain" descr="grain.png"/>
          <p:cNvPicPr>
            <a:picLocks noChangeAspect="1"/>
          </p:cNvPicPr>
          <p:nvPr/>
        </p:nvPicPr>
        <p:blipFill>
          <a:blip r:embed="rId20"/>
          <a:srcRect/>
          <a:stretch>
            <a:fillRect/>
          </a:stretch>
        </p:blipFill>
        <p:spPr>
          <a:xfrm>
            <a:off x="0" y="0"/>
            <a:ext cx="12192000" cy="6858000"/>
          </a:xfrm>
          <a:prstGeom prst="rect">
            <a:avLst/>
          </a:prstGeom>
        </p:spPr>
      </p:pic>
      <p:sp>
        <p:nvSpPr>
          <p:cNvPr id="46" name="!!TitleCA1"/>
          <p:cNvSpPr txBox="1"/>
          <p:nvPr/>
        </p:nvSpPr>
        <p:spPr>
          <a:xfrm>
            <a:off x="-20116" y="384048"/>
            <a:ext cx="12192000" cy="731520"/>
          </a:xfrm>
          <a:prstGeom prst="rect">
            <a:avLst/>
          </a:prstGeom>
          <a:noFill/>
        </p:spPr>
        <p:txBody>
          <a:bodyPr wrap="square" lIns="0" rIns="0" tIns="0" bIns="0" anchor="t">
            <a:noAutofit/>
          </a:bodyPr>
          <a:lstStyle/>
          <a:p>
            <a:pPr algn="ctr">
              <a:lnSpc>
                <a:spcPct val="95000"/>
              </a:lnSpc>
            </a:pPr>
            <a:r>
              <a:rPr sz="4000">
                <a:solidFill>
                  <a:srgbClr val="A40C21">
                    <a:alpha val="40000"/>
                  </a:srgbClr>
                </a:solidFill>
                <a:latin typeface="Cream Heavy"/>
              </a:rPr>
              <a:t>Le vrai goût de chez nous</a:t>
            </a:r>
          </a:p>
        </p:txBody>
      </p:sp>
      <p:sp>
        <p:nvSpPr>
          <p:cNvPr id="47" name="!!TitleCA2"/>
          <p:cNvSpPr txBox="1"/>
          <p:nvPr/>
        </p:nvSpPr>
        <p:spPr>
          <a:xfrm>
            <a:off x="20116" y="384048"/>
            <a:ext cx="12192000" cy="731520"/>
          </a:xfrm>
          <a:prstGeom prst="rect">
            <a:avLst/>
          </a:prstGeom>
          <a:noFill/>
        </p:spPr>
        <p:txBody>
          <a:bodyPr wrap="square" lIns="0" rIns="0" tIns="0" bIns="0" anchor="t">
            <a:noAutofit/>
          </a:bodyPr>
          <a:lstStyle/>
          <a:p>
            <a:pPr algn="ctr">
              <a:lnSpc>
                <a:spcPct val="95000"/>
              </a:lnSpc>
            </a:pPr>
            <a:r>
              <a:rPr sz="4000">
                <a:solidFill>
                  <a:srgbClr val="FBD021">
                    <a:alpha val="30000"/>
                  </a:srgbClr>
                </a:solidFill>
                <a:latin typeface="Cream Heavy"/>
              </a:rPr>
              <a:t>Le vrai goût de chez nous</a:t>
            </a:r>
          </a:p>
        </p:txBody>
      </p:sp>
      <p:sp>
        <p:nvSpPr>
          <p:cNvPr id="48" name="!!Title"/>
          <p:cNvSpPr txBox="1"/>
          <p:nvPr/>
        </p:nvSpPr>
        <p:spPr>
          <a:xfrm>
            <a:off x="0" y="384048"/>
            <a:ext cx="12192000" cy="731520"/>
          </a:xfrm>
          <a:prstGeom prst="rect">
            <a:avLst/>
          </a:prstGeom>
          <a:noFill/>
        </p:spPr>
        <p:txBody>
          <a:bodyPr wrap="square" lIns="0" rIns="0" tIns="0" bIns="0" anchor="t">
            <a:noAutofit/>
          </a:bodyPr>
          <a:lstStyle/>
          <a:p>
            <a:pPr algn="ctr">
              <a:lnSpc>
                <a:spcPct val="95000"/>
              </a:lnSpc>
            </a:pPr>
            <a:r>
              <a:rPr sz="4000">
                <a:gradFill rotWithShape="1">
                  <a:gsLst>
                    <a:gs pos="0">
                      <a:srgbClr val="FFF8EE"/>
                    </a:gs>
                    <a:gs pos="55000">
                      <a:srgbClr val="FFECD1"/>
                    </a:gs>
                    <a:gs pos="100000">
                      <a:srgbClr val="F6C77A"/>
                    </a:gs>
                  </a:gsLst>
                  <a:lin ang="5400000" scaled="0"/>
                </a:gradFill>
                <a:latin typeface="Cream Heavy"/>
              </a:rPr>
              <a:t>Le vrai goût de chez nous</a:t>
            </a:r>
          </a:p>
        </p:txBody>
      </p:sp>
      <p:sp>
        <p:nvSpPr>
          <p:cNvPr id="49" name="!!Sub"/>
          <p:cNvSpPr txBox="1"/>
          <p:nvPr/>
        </p:nvSpPr>
        <p:spPr>
          <a:xfrm>
            <a:off x="0" y="1115568"/>
            <a:ext cx="12192000" cy="365760"/>
          </a:xfrm>
          <a:prstGeom prst="rect">
            <a:avLst/>
          </a:prstGeom>
          <a:noFill/>
        </p:spPr>
        <p:txBody>
          <a:bodyPr wrap="square" lIns="0" rIns="0" tIns="0" bIns="0" anchor="t">
            <a:noAutofit/>
          </a:bodyPr>
          <a:lstStyle/>
          <a:p>
            <a:pPr algn="ctr">
              <a:lnSpc>
                <a:spcPct val="112000"/>
              </a:lnSpc>
              <a:spcAft>
                <a:spcPts val="800"/>
              </a:spcAft>
            </a:pPr>
            <a:r>
              <a:rPr sz="1600">
                <a:solidFill>
                  <a:srgbClr val="F3D9C4"/>
                </a:solidFill>
                <a:latin typeface="Montserrat Medium"/>
              </a:rPr>
              <a:t>Marinades et épices à base d'ingrédients 100 % naturels</a:t>
            </a:r>
          </a:p>
        </p:txBody>
      </p:sp>
      <p:sp>
        <p:nvSpPr>
          <p:cNvPr id="50"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F9A825"/>
                </a:solidFill>
                <a:latin typeface="Montserrat SemiBold"/>
              </a:rPr>
              <a:t>18</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2A070D"/>
          </a:solidFill>
          <a:ln>
            <a:noFill/>
          </a:ln>
        </p:spPr>
        <p:txBody>
          <a:bodyPr rtlCol="0" anchor="ctr"/>
          <a:lstStyle/>
          <a:p/>
        </p:txBody>
      </p:sp>
      <p:pic>
        <p:nvPicPr>
          <p:cNvPr id="3" name="!!PlateD" descr="motif_creme.png"/>
          <p:cNvPicPr>
            <a:picLocks noChangeAspect="1"/>
          </p:cNvPicPr>
          <p:nvPr/>
        </p:nvPicPr>
        <p:blipFill>
          <a:blip r:embed="rId2"/>
          <a:srcRect t="0" b="0"/>
          <a:stretch>
            <a:fillRect/>
          </a:stretch>
        </p:blipFill>
        <p:spPr>
          <a:xfrm>
            <a:off x="-5196880" y="-3524623"/>
            <a:ext cx="24749760" cy="13921739"/>
          </a:xfrm>
          <a:prstGeom prst="rect">
            <a:avLst/>
          </a:prstGeom>
        </p:spPr>
      </p:pic>
      <p:sp>
        <p:nvSpPr>
          <p:cNvPr id="4" name="!!Glow"/>
          <p:cNvSpPr/>
          <p:nvPr/>
        </p:nvSpPr>
        <p:spPr>
          <a:xfrm>
            <a:off x="-2559669" y="-3305838"/>
            <a:ext cx="9601200" cy="9601200"/>
          </a:xfrm>
          <a:prstGeom prst="ellipse">
            <a:avLst/>
          </a:prstGeom>
          <a:gradFill rotWithShape="1">
            <a:gsLst>
              <a:gs pos="0">
                <a:srgbClr val="B3222F">
                  <a:alpha val="55000"/>
                </a:srgbClr>
              </a:gs>
              <a:gs pos="45000">
                <a:srgbClr val="7B1421">
                  <a:alpha val="22000"/>
                </a:srgbClr>
              </a:gs>
              <a:gs pos="100000">
                <a:srgbClr val="7B1421">
                  <a:alpha val="0"/>
                </a:srgbClr>
              </a:gs>
            </a:gsLst>
            <a:path path="circle">
              <a:fillToRect l="50000" t="50000" r="50000" b="50000"/>
            </a:path>
          </a:gradFill>
          <a:ln>
            <a:noFill/>
          </a:ln>
        </p:spPr>
        <p:txBody>
          <a:bodyPr rtlCol="0" anchor="ctr"/>
          <a:lstStyle/>
          <a:p/>
        </p:txBody>
      </p:sp>
      <p:sp>
        <p:nvSpPr>
          <p:cNvPr id="5" name="!!Glow2"/>
          <p:cNvSpPr/>
          <p:nvPr/>
        </p:nvSpPr>
        <p:spPr>
          <a:xfrm>
            <a:off x="6590649" y="2002818"/>
            <a:ext cx="6720840" cy="6720840"/>
          </a:xfrm>
          <a:prstGeom prst="ellipse">
            <a:avLst/>
          </a:prstGeom>
          <a:gradFill rotWithShape="1">
            <a:gsLst>
              <a:gs pos="0">
                <a:srgbClr val="F9A825">
                  <a:alpha val="16000"/>
                </a:srgbClr>
              </a:gs>
              <a:gs pos="100000">
                <a:srgbClr val="F9A825">
                  <a:alpha val="0"/>
                </a:srgbClr>
              </a:gs>
            </a:gsLst>
            <a:path path="circle">
              <a:fillToRect l="50000" t="50000" r="50000" b="50000"/>
            </a:path>
          </a:gradFill>
          <a:ln>
            <a:noFill/>
          </a:ln>
        </p:spPr>
        <p:txBody>
          <a:bodyPr rtlCol="0" anchor="ctr"/>
          <a:lstStyle/>
          <a:p/>
        </p:txBody>
      </p:sp>
      <p:pic>
        <p:nvPicPr>
          <p:cNvPr id="6" name="!!Vignette" descr="vignette.png"/>
          <p:cNvPicPr>
            <a:picLocks noChangeAspect="1"/>
          </p:cNvPicPr>
          <p:nvPr/>
        </p:nvPicPr>
        <p:blipFill>
          <a:blip r:embed="rId3"/>
          <a:srcRect/>
          <a:stretch>
            <a:fillRect/>
          </a:stretch>
        </p:blipFill>
        <p:spPr>
          <a:xfrm>
            <a:off x="0" y="0"/>
            <a:ext cx="12192000" cy="6858000"/>
          </a:xfrm>
          <a:prstGeom prst="rect">
            <a:avLst/>
          </a:prstGeom>
        </p:spPr>
      </p:pic>
      <p:sp>
        <p:nvSpPr>
          <p:cNvPr id="7" name="!!Ring"/>
          <p:cNvSpPr/>
          <p:nvPr/>
        </p:nvSpPr>
        <p:spPr>
          <a:xfrm>
            <a:off x="3535680" y="777240"/>
            <a:ext cx="5120640" cy="5120640"/>
          </a:xfrm>
          <a:prstGeom prst="ellipse">
            <a:avLst/>
          </a:prstGeom>
          <a:noFill/>
          <a:ln w="12700">
            <a:solidFill>
              <a:srgbClr val="F9A825">
                <a:alpha val="70000"/>
              </a:srgbClr>
            </a:solidFill>
          </a:ln>
        </p:spPr>
        <p:txBody>
          <a:bodyPr rtlCol="0" anchor="ctr"/>
          <a:lstStyle/>
          <a:p/>
        </p:txBody>
      </p:sp>
      <p:sp>
        <p:nvSpPr>
          <p:cNvPr id="8" name="!!SecNum"/>
          <p:cNvSpPr txBox="1"/>
          <p:nvPr/>
        </p:nvSpPr>
        <p:spPr>
          <a:xfrm>
            <a:off x="3352800" y="868680"/>
            <a:ext cx="5486400" cy="1737360"/>
          </a:xfrm>
          <a:prstGeom prst="rect">
            <a:avLst/>
          </a:prstGeom>
          <a:noFill/>
        </p:spPr>
        <p:txBody>
          <a:bodyPr wrap="square" lIns="0" rIns="0" tIns="0" bIns="0" anchor="ctr">
            <a:noAutofit/>
          </a:bodyPr>
          <a:lstStyle/>
          <a:p>
            <a:pPr algn="ctr"/>
            <a:r>
              <a:rPr sz="12000">
                <a:ln w="15875">
                  <a:solidFill>
                    <a:srgbClr val="F9A825">
                      <a:alpha val="30000"/>
                    </a:srgbClr>
                  </a:solidFill>
                </a:ln>
                <a:noFill/>
                <a:latin typeface="Cream Heavy"/>
              </a:rPr>
              <a:t>03</a:t>
            </a:r>
          </a:p>
        </p:txBody>
      </p:sp>
      <p:pic>
        <p:nvPicPr>
          <p:cNvPr id="9" name="!!Grain" descr="grain.png"/>
          <p:cNvPicPr>
            <a:picLocks noChangeAspect="1"/>
          </p:cNvPicPr>
          <p:nvPr/>
        </p:nvPicPr>
        <p:blipFill>
          <a:blip r:embed="rId4"/>
          <a:srcRect/>
          <a:stretch>
            <a:fillRect/>
          </a:stretch>
        </p:blipFill>
        <p:spPr>
          <a:xfrm>
            <a:off x="0" y="0"/>
            <a:ext cx="12192000" cy="6858000"/>
          </a:xfrm>
          <a:prstGeom prst="rect">
            <a:avLst/>
          </a:prstGeom>
        </p:spPr>
      </p:pic>
      <p:sp>
        <p:nvSpPr>
          <p:cNvPr id="10" name="!!TitleCA1"/>
          <p:cNvSpPr txBox="1"/>
          <p:nvPr/>
        </p:nvSpPr>
        <p:spPr>
          <a:xfrm>
            <a:off x="894284" y="3017520"/>
            <a:ext cx="10363200" cy="822960"/>
          </a:xfrm>
          <a:prstGeom prst="rect">
            <a:avLst/>
          </a:prstGeom>
          <a:noFill/>
        </p:spPr>
        <p:txBody>
          <a:bodyPr wrap="square" lIns="0" rIns="0" tIns="0" bIns="0" anchor="ctr">
            <a:noAutofit/>
          </a:bodyPr>
          <a:lstStyle/>
          <a:p>
            <a:pPr algn="ctr">
              <a:lnSpc>
                <a:spcPct val="95000"/>
              </a:lnSpc>
            </a:pPr>
            <a:r>
              <a:rPr sz="4000">
                <a:solidFill>
                  <a:srgbClr val="A40C21">
                    <a:alpha val="40000"/>
                  </a:srgbClr>
                </a:solidFill>
                <a:latin typeface="Cream Heavy"/>
              </a:rPr>
              <a:t>Identité visuelle et charte graphique</a:t>
            </a:r>
          </a:p>
        </p:txBody>
      </p:sp>
      <p:sp>
        <p:nvSpPr>
          <p:cNvPr id="11" name="!!TitleCA2"/>
          <p:cNvSpPr txBox="1"/>
          <p:nvPr/>
        </p:nvSpPr>
        <p:spPr>
          <a:xfrm>
            <a:off x="934516" y="3017520"/>
            <a:ext cx="10363200" cy="822960"/>
          </a:xfrm>
          <a:prstGeom prst="rect">
            <a:avLst/>
          </a:prstGeom>
          <a:noFill/>
        </p:spPr>
        <p:txBody>
          <a:bodyPr wrap="square" lIns="0" rIns="0" tIns="0" bIns="0" anchor="ctr">
            <a:noAutofit/>
          </a:bodyPr>
          <a:lstStyle/>
          <a:p>
            <a:pPr algn="ctr">
              <a:lnSpc>
                <a:spcPct val="95000"/>
              </a:lnSpc>
            </a:pPr>
            <a:r>
              <a:rPr sz="4000">
                <a:solidFill>
                  <a:srgbClr val="FBD021">
                    <a:alpha val="30000"/>
                  </a:srgbClr>
                </a:solidFill>
                <a:latin typeface="Cream Heavy"/>
              </a:rPr>
              <a:t>Identité visuelle et charte graphique</a:t>
            </a:r>
          </a:p>
        </p:txBody>
      </p:sp>
      <p:sp>
        <p:nvSpPr>
          <p:cNvPr id="12" name="!!Title"/>
          <p:cNvSpPr txBox="1"/>
          <p:nvPr/>
        </p:nvSpPr>
        <p:spPr>
          <a:xfrm>
            <a:off x="914400" y="3017520"/>
            <a:ext cx="10363200" cy="822960"/>
          </a:xfrm>
          <a:prstGeom prst="rect">
            <a:avLst/>
          </a:prstGeom>
          <a:noFill/>
        </p:spPr>
        <p:txBody>
          <a:bodyPr wrap="square" lIns="0" rIns="0" tIns="0" bIns="0" anchor="ctr">
            <a:noAutofit/>
          </a:bodyPr>
          <a:lstStyle/>
          <a:p>
            <a:pPr algn="ctr">
              <a:lnSpc>
                <a:spcPct val="95000"/>
              </a:lnSpc>
            </a:pPr>
            <a:r>
              <a:rPr sz="4000">
                <a:gradFill rotWithShape="1">
                  <a:gsLst>
                    <a:gs pos="0">
                      <a:srgbClr val="FFF8EE"/>
                    </a:gs>
                    <a:gs pos="55000">
                      <a:srgbClr val="FFECD1"/>
                    </a:gs>
                    <a:gs pos="100000">
                      <a:srgbClr val="F6C77A"/>
                    </a:gs>
                  </a:gsLst>
                  <a:lin ang="5400000" scaled="0"/>
                </a:gradFill>
                <a:latin typeface="Cream Heavy"/>
              </a:rPr>
              <a:t>Identité visuelle et charte graphique</a:t>
            </a:r>
          </a:p>
        </p:txBody>
      </p:sp>
      <p:sp>
        <p:nvSpPr>
          <p:cNvPr id="13"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F9A825"/>
                </a:solidFill>
                <a:latin typeface="Montserrat SemiBold"/>
              </a:rPr>
              <a:t>03 · Identité visuelle</a:t>
            </a:r>
          </a:p>
        </p:txBody>
      </p:sp>
      <p:sp>
        <p:nvSpPr>
          <p:cNvPr id="14"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F9A825"/>
                </a:solidFill>
                <a:latin typeface="Montserrat SemiBold"/>
              </a:rPr>
              <a:t>19</a:t>
            </a:r>
          </a:p>
        </p:txBody>
      </p:sp>
      <p:pic>
        <p:nvPicPr>
          <p:cNvPr id="15" name="!!Logo" descr="Logo Marin'Or Ivoire"/>
          <p:cNvPicPr>
            <a:picLocks noChangeAspect="1"/>
          </p:cNvPicPr>
          <p:nvPr/>
        </p:nvPicPr>
        <p:blipFill>
          <a:blip r:embed="rId5"/>
          <a:stretch>
            <a:fillRect/>
          </a:stretch>
        </p:blipFill>
        <p:spPr>
          <a:xfrm>
            <a:off x="10546080" y="310896"/>
            <a:ext cx="960120" cy="504176"/>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FF6EA"/>
          </a:solidFill>
          <a:ln>
            <a:noFill/>
          </a:ln>
        </p:spPr>
        <p:txBody>
          <a:bodyPr rtlCol="0" anchor="ctr"/>
          <a:lstStyle/>
          <a:p/>
        </p:txBody>
      </p:sp>
      <p:pic>
        <p:nvPicPr>
          <p:cNvPr id="3" name="!!PlateL" descr="motif_bord.png"/>
          <p:cNvPicPr>
            <a:picLocks noChangeAspect="1"/>
          </p:cNvPicPr>
          <p:nvPr/>
        </p:nvPicPr>
        <p:blipFill>
          <a:blip r:embed="rId2"/>
          <a:srcRect/>
          <a:stretch>
            <a:fillRect/>
          </a:stretch>
        </p:blipFill>
        <p:spPr>
          <a:xfrm>
            <a:off x="-3670000" y="-2207304"/>
            <a:ext cx="21336000" cy="12001500"/>
          </a:xfrm>
          <a:prstGeom prst="rect">
            <a:avLst/>
          </a:prstGeom>
        </p:spPr>
      </p:pic>
      <p:sp>
        <p:nvSpPr>
          <p:cNvPr id="4" name="!!Glow"/>
          <p:cNvSpPr/>
          <p:nvPr/>
        </p:nvSpPr>
        <p:spPr>
          <a:xfrm>
            <a:off x="-884997" y="-3494547"/>
            <a:ext cx="9601200" cy="9601200"/>
          </a:xfrm>
          <a:prstGeom prst="ellipse">
            <a:avLst/>
          </a:prstGeom>
          <a:gradFill rotWithShape="1">
            <a:gsLst>
              <a:gs pos="0">
                <a:srgbClr val="FFFFFF">
                  <a:alpha val="85000"/>
                </a:srgbClr>
              </a:gs>
              <a:gs pos="100000">
                <a:srgbClr val="FFFFFF">
                  <a:alpha val="0"/>
                </a:srgbClr>
              </a:gs>
            </a:gsLst>
            <a:path path="circle">
              <a:fillToRect l="50000" t="50000" r="50000" b="50000"/>
            </a:path>
          </a:gradFill>
          <a:ln>
            <a:noFill/>
          </a:ln>
        </p:spPr>
        <p:txBody>
          <a:bodyPr rtlCol="0" anchor="ctr"/>
          <a:lstStyle/>
          <a:p/>
        </p:txBody>
      </p:sp>
      <p:sp>
        <p:nvSpPr>
          <p:cNvPr id="5" name="!!Glow2"/>
          <p:cNvSpPr/>
          <p:nvPr/>
        </p:nvSpPr>
        <p:spPr>
          <a:xfrm>
            <a:off x="4915977" y="2191527"/>
            <a:ext cx="6720840" cy="6720840"/>
          </a:xfrm>
          <a:prstGeom prst="ellipse">
            <a:avLst/>
          </a:prstGeom>
          <a:gradFill rotWithShape="1">
            <a:gsLst>
              <a:gs pos="0">
                <a:srgbClr val="F9A825">
                  <a:alpha val="14000"/>
                </a:srgbClr>
              </a:gs>
              <a:gs pos="100000">
                <a:srgbClr val="F9A825">
                  <a:alpha val="0"/>
                </a:srgbClr>
              </a:gs>
            </a:gsLst>
            <a:path path="circle">
              <a:fillToRect l="50000" t="50000" r="50000" b="50000"/>
            </a:path>
          </a:gradFill>
          <a:ln>
            <a:noFill/>
          </a:ln>
        </p:spPr>
        <p:txBody>
          <a:bodyPr rtlCol="0" anchor="ctr"/>
          <a:lstStyle/>
          <a:p/>
        </p:txBody>
      </p:sp>
      <p:sp>
        <p:nvSpPr>
          <p:cNvPr id="6" name="!!Ring"/>
          <p:cNvSpPr/>
          <p:nvPr/>
        </p:nvSpPr>
        <p:spPr>
          <a:xfrm>
            <a:off x="9448099" y="-3894410"/>
            <a:ext cx="7132320" cy="7132320"/>
          </a:xfrm>
          <a:prstGeom prst="ellipse">
            <a:avLst/>
          </a:prstGeom>
          <a:noFill/>
          <a:ln w="12700">
            <a:solidFill>
              <a:srgbClr val="F9A825">
                <a:alpha val="85000"/>
              </a:srgbClr>
            </a:solidFill>
          </a:ln>
        </p:spPr>
        <p:txBody>
          <a:bodyPr rtlCol="0" anchor="ctr"/>
          <a:lstStyle/>
          <a:p/>
        </p:txBody>
      </p:sp>
      <p:sp>
        <p:nvSpPr>
          <p:cNvPr id="7" name="!!Card0"/>
          <p:cNvSpPr/>
          <p:nvPr/>
        </p:nvSpPr>
        <p:spPr>
          <a:xfrm>
            <a:off x="685800" y="2011680"/>
            <a:ext cx="3383280" cy="2514600"/>
          </a:xfrm>
          <a:prstGeom prst="roundRect">
            <a:avLst>
              <a:gd name="adj" fmla="val 8000"/>
            </a:avLst>
          </a:prstGeom>
          <a:solidFill>
            <a:srgbClr val="FFFFFF"/>
          </a:solidFill>
          <a:ln w="9525">
            <a:solidFill>
              <a:srgbClr val="F9A825">
                <a:alpha val="55000"/>
              </a:srgbClr>
            </a:solidFill>
          </a:ln>
          <a:effectLst>
            <a:outerShdw blurRad="228600" dist="50800" dir="5400000" algn="t" rotWithShape="0">
              <a:srgbClr val="1A0507">
                <a:alpha val="18000"/>
              </a:srgbClr>
            </a:outerShdw>
          </a:effectLst>
        </p:spPr>
        <p:txBody>
          <a:bodyPr rtlCol="0" anchor="ctr"/>
          <a:lstStyle/>
          <a:p/>
        </p:txBody>
      </p:sp>
      <p:pic>
        <p:nvPicPr>
          <p:cNvPr id="8" name="!!Img0" descr="Piste 1 · Emblème"/>
          <p:cNvPicPr>
            <a:picLocks noChangeAspect="1"/>
          </p:cNvPicPr>
          <p:nvPr/>
        </p:nvPicPr>
        <p:blipFill>
          <a:blip r:embed="rId3"/>
          <a:stretch>
            <a:fillRect/>
          </a:stretch>
        </p:blipFill>
        <p:spPr>
          <a:xfrm>
            <a:off x="1110622" y="2194560"/>
            <a:ext cx="2533635" cy="2148840"/>
          </a:xfrm>
          <a:prstGeom prst="rect">
            <a:avLst/>
          </a:prstGeom>
        </p:spPr>
      </p:pic>
      <p:sp>
        <p:nvSpPr>
          <p:cNvPr id="9" name="!!Card1"/>
          <p:cNvSpPr/>
          <p:nvPr/>
        </p:nvSpPr>
        <p:spPr>
          <a:xfrm>
            <a:off x="4297680" y="2011680"/>
            <a:ext cx="3383280" cy="2514600"/>
          </a:xfrm>
          <a:prstGeom prst="roundRect">
            <a:avLst>
              <a:gd name="adj" fmla="val 8000"/>
            </a:avLst>
          </a:prstGeom>
          <a:solidFill>
            <a:srgbClr val="FFFFFF"/>
          </a:solidFill>
          <a:ln w="9525">
            <a:solidFill>
              <a:srgbClr val="F9A825">
                <a:alpha val="55000"/>
              </a:srgbClr>
            </a:solidFill>
          </a:ln>
          <a:effectLst>
            <a:outerShdw blurRad="228600" dist="50800" dir="5400000" algn="t" rotWithShape="0">
              <a:srgbClr val="1A0507">
                <a:alpha val="18000"/>
              </a:srgbClr>
            </a:outerShdw>
          </a:effectLst>
        </p:spPr>
        <p:txBody>
          <a:bodyPr rtlCol="0" anchor="ctr"/>
          <a:lstStyle/>
          <a:p/>
        </p:txBody>
      </p:sp>
      <p:pic>
        <p:nvPicPr>
          <p:cNvPr id="10" name="!!Img1" descr="Piste 2 · Symbole"/>
          <p:cNvPicPr>
            <a:picLocks noChangeAspect="1"/>
          </p:cNvPicPr>
          <p:nvPr/>
        </p:nvPicPr>
        <p:blipFill>
          <a:blip r:embed="rId4"/>
          <a:stretch>
            <a:fillRect/>
          </a:stretch>
        </p:blipFill>
        <p:spPr>
          <a:xfrm>
            <a:off x="4480560" y="2532516"/>
            <a:ext cx="3017520" cy="1472926"/>
          </a:xfrm>
          <a:prstGeom prst="rect">
            <a:avLst/>
          </a:prstGeom>
        </p:spPr>
      </p:pic>
      <p:sp>
        <p:nvSpPr>
          <p:cNvPr id="11" name="!!Card2"/>
          <p:cNvSpPr/>
          <p:nvPr/>
        </p:nvSpPr>
        <p:spPr>
          <a:xfrm>
            <a:off x="7909560" y="2011680"/>
            <a:ext cx="3383280" cy="2514600"/>
          </a:xfrm>
          <a:prstGeom prst="roundRect">
            <a:avLst>
              <a:gd name="adj" fmla="val 8000"/>
            </a:avLst>
          </a:prstGeom>
          <a:solidFill>
            <a:srgbClr val="FFFFFF"/>
          </a:solidFill>
          <a:ln w="9525">
            <a:solidFill>
              <a:srgbClr val="F9A825">
                <a:alpha val="55000"/>
              </a:srgbClr>
            </a:solidFill>
          </a:ln>
          <a:effectLst>
            <a:outerShdw blurRad="228600" dist="50800" dir="5400000" algn="t" rotWithShape="0">
              <a:srgbClr val="1A0507">
                <a:alpha val="18000"/>
              </a:srgbClr>
            </a:outerShdw>
          </a:effectLst>
        </p:spPr>
        <p:txBody>
          <a:bodyPr rtlCol="0" anchor="ctr"/>
          <a:lstStyle/>
          <a:p/>
        </p:txBody>
      </p:sp>
      <p:pic>
        <p:nvPicPr>
          <p:cNvPr id="12" name="!!Img2" descr="Piste 3 · Retenue"/>
          <p:cNvPicPr>
            <a:picLocks noChangeAspect="1"/>
          </p:cNvPicPr>
          <p:nvPr/>
        </p:nvPicPr>
        <p:blipFill>
          <a:blip r:embed="rId5"/>
          <a:stretch>
            <a:fillRect/>
          </a:stretch>
        </p:blipFill>
        <p:spPr>
          <a:xfrm>
            <a:off x="8092440" y="2717339"/>
            <a:ext cx="3017520" cy="1103280"/>
          </a:xfrm>
          <a:prstGeom prst="rect">
            <a:avLst/>
          </a:prstGeom>
        </p:spPr>
      </p:pic>
      <p:pic>
        <p:nvPicPr>
          <p:cNvPr id="13" name="!!Grain" descr="grain.png"/>
          <p:cNvPicPr>
            <a:picLocks noChangeAspect="1"/>
          </p:cNvPicPr>
          <p:nvPr/>
        </p:nvPicPr>
        <p:blipFill>
          <a:blip r:embed="rId6"/>
          <a:srcRect/>
          <a:stretch>
            <a:fillRect/>
          </a:stretch>
        </p:blipFill>
        <p:spPr>
          <a:xfrm>
            <a:off x="0" y="0"/>
            <a:ext cx="12192000" cy="6858000"/>
          </a:xfrm>
          <a:prstGeom prst="rect">
            <a:avLst/>
          </a:prstGeom>
        </p:spPr>
      </p:pic>
      <p:sp>
        <p:nvSpPr>
          <p:cNvPr id="14" name="!!Title"/>
          <p:cNvSpPr txBox="1"/>
          <p:nvPr/>
        </p:nvSpPr>
        <p:spPr>
          <a:xfrm>
            <a:off x="685800" y="914400"/>
            <a:ext cx="8229600" cy="731520"/>
          </a:xfrm>
          <a:prstGeom prst="rect">
            <a:avLst/>
          </a:prstGeom>
          <a:noFill/>
        </p:spPr>
        <p:txBody>
          <a:bodyPr wrap="square" lIns="0" rIns="0" tIns="0" bIns="0" anchor="t">
            <a:noAutofit/>
          </a:bodyPr>
          <a:lstStyle/>
          <a:p>
            <a:pPr algn="l">
              <a:lnSpc>
                <a:spcPct val="95000"/>
              </a:lnSpc>
            </a:pPr>
            <a:r>
              <a:rPr sz="4000">
                <a:solidFill>
                  <a:srgbClr val="7B1421"/>
                </a:solidFill>
                <a:latin typeface="Cream Heavy"/>
              </a:rPr>
              <a:t>Trois pistes explorées</a:t>
            </a:r>
          </a:p>
        </p:txBody>
      </p:sp>
      <p:sp>
        <p:nvSpPr>
          <p:cNvPr id="15" name="!!CardT0"/>
          <p:cNvSpPr txBox="1"/>
          <p:nvPr/>
        </p:nvSpPr>
        <p:spPr>
          <a:xfrm>
            <a:off x="685800" y="4709160"/>
            <a:ext cx="3383280" cy="320040"/>
          </a:xfrm>
          <a:prstGeom prst="rect">
            <a:avLst/>
          </a:prstGeom>
          <a:noFill/>
        </p:spPr>
        <p:txBody>
          <a:bodyPr wrap="square" lIns="0" rIns="0" tIns="0" bIns="0" anchor="t">
            <a:noAutofit/>
          </a:bodyPr>
          <a:lstStyle/>
          <a:p>
            <a:pPr algn="l"/>
            <a:r>
              <a:rPr sz="1500">
                <a:solidFill>
                  <a:srgbClr val="000000"/>
                </a:solidFill>
                <a:latin typeface="Montserrat SemiBold"/>
              </a:rPr>
              <a:t>Piste 1 · Emblème</a:t>
            </a:r>
          </a:p>
        </p:txBody>
      </p:sp>
      <p:sp>
        <p:nvSpPr>
          <p:cNvPr id="16" name="!!CardD0"/>
          <p:cNvSpPr txBox="1"/>
          <p:nvPr/>
        </p:nvSpPr>
        <p:spPr>
          <a:xfrm>
            <a:off x="685800" y="5047488"/>
            <a:ext cx="3383280" cy="320040"/>
          </a:xfrm>
          <a:prstGeom prst="rect">
            <a:avLst/>
          </a:prstGeom>
          <a:noFill/>
        </p:spPr>
        <p:txBody>
          <a:bodyPr wrap="square" lIns="0" rIns="0" tIns="0" bIns="0" anchor="t">
            <a:noAutofit/>
          </a:bodyPr>
          <a:lstStyle/>
          <a:p>
            <a:pPr algn="l"/>
            <a:r>
              <a:rPr sz="1250">
                <a:solidFill>
                  <a:srgbClr val="5A3A3E"/>
                </a:solidFill>
                <a:latin typeface="Montserrat Medium"/>
              </a:rPr>
              <a:t>Couleurs du drapeau : Accord de Bangui</a:t>
            </a:r>
          </a:p>
        </p:txBody>
      </p:sp>
      <p:sp>
        <p:nvSpPr>
          <p:cNvPr id="17" name="!!CardT1"/>
          <p:cNvSpPr txBox="1"/>
          <p:nvPr/>
        </p:nvSpPr>
        <p:spPr>
          <a:xfrm>
            <a:off x="4297680" y="4709160"/>
            <a:ext cx="3383280" cy="320040"/>
          </a:xfrm>
          <a:prstGeom prst="rect">
            <a:avLst/>
          </a:prstGeom>
          <a:noFill/>
        </p:spPr>
        <p:txBody>
          <a:bodyPr wrap="square" lIns="0" rIns="0" tIns="0" bIns="0" anchor="t">
            <a:noAutofit/>
          </a:bodyPr>
          <a:lstStyle/>
          <a:p>
            <a:pPr algn="l"/>
            <a:r>
              <a:rPr sz="1500">
                <a:solidFill>
                  <a:srgbClr val="000000"/>
                </a:solidFill>
                <a:latin typeface="Montserrat SemiBold"/>
              </a:rPr>
              <a:t>Piste 2 · Symbole</a:t>
            </a:r>
          </a:p>
        </p:txBody>
      </p:sp>
      <p:sp>
        <p:nvSpPr>
          <p:cNvPr id="18" name="!!CardD1"/>
          <p:cNvSpPr txBox="1"/>
          <p:nvPr/>
        </p:nvSpPr>
        <p:spPr>
          <a:xfrm>
            <a:off x="4297680" y="5047488"/>
            <a:ext cx="3383280" cy="320040"/>
          </a:xfrm>
          <a:prstGeom prst="rect">
            <a:avLst/>
          </a:prstGeom>
          <a:noFill/>
        </p:spPr>
        <p:txBody>
          <a:bodyPr wrap="square" lIns="0" rIns="0" tIns="0" bIns="0" anchor="t">
            <a:noAutofit/>
          </a:bodyPr>
          <a:lstStyle/>
          <a:p>
            <a:pPr algn="l"/>
            <a:r>
              <a:rPr sz="1250">
                <a:solidFill>
                  <a:srgbClr val="5A3A3E"/>
                </a:solidFill>
                <a:latin typeface="Montserrat Medium"/>
              </a:rPr>
              <a:t>Éléphant et vapeur, peu lisible</a:t>
            </a:r>
          </a:p>
        </p:txBody>
      </p:sp>
      <p:sp>
        <p:nvSpPr>
          <p:cNvPr id="19" name="!!CardT2"/>
          <p:cNvSpPr txBox="1"/>
          <p:nvPr/>
        </p:nvSpPr>
        <p:spPr>
          <a:xfrm>
            <a:off x="7909560" y="4709160"/>
            <a:ext cx="3383280" cy="320040"/>
          </a:xfrm>
          <a:prstGeom prst="rect">
            <a:avLst/>
          </a:prstGeom>
          <a:noFill/>
        </p:spPr>
        <p:txBody>
          <a:bodyPr wrap="square" lIns="0" rIns="0" tIns="0" bIns="0" anchor="t">
            <a:noAutofit/>
          </a:bodyPr>
          <a:lstStyle/>
          <a:p>
            <a:pPr algn="l"/>
            <a:r>
              <a:rPr sz="1500">
                <a:solidFill>
                  <a:srgbClr val="7B1421"/>
                </a:solidFill>
                <a:latin typeface="Montserrat SemiBold"/>
              </a:rPr>
              <a:t>Piste 3 · Retenue</a:t>
            </a:r>
          </a:p>
        </p:txBody>
      </p:sp>
      <p:sp>
        <p:nvSpPr>
          <p:cNvPr id="20" name="!!CardD2"/>
          <p:cNvSpPr txBox="1"/>
          <p:nvPr/>
        </p:nvSpPr>
        <p:spPr>
          <a:xfrm>
            <a:off x="7909560" y="5047488"/>
            <a:ext cx="3383280" cy="320040"/>
          </a:xfrm>
          <a:prstGeom prst="rect">
            <a:avLst/>
          </a:prstGeom>
          <a:noFill/>
        </p:spPr>
        <p:txBody>
          <a:bodyPr wrap="square" lIns="0" rIns="0" tIns="0" bIns="0" anchor="t">
            <a:noAutofit/>
          </a:bodyPr>
          <a:lstStyle/>
          <a:p>
            <a:pPr algn="l"/>
            <a:r>
              <a:rPr sz="1250">
                <a:solidFill>
                  <a:srgbClr val="5A3A3E"/>
                </a:solidFill>
                <a:latin typeface="Montserrat Medium"/>
              </a:rPr>
              <a:t>Éléphant et feuille, la plus symbolique</a:t>
            </a:r>
          </a:p>
        </p:txBody>
      </p:sp>
      <p:sp>
        <p:nvSpPr>
          <p:cNvPr id="21"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A40C21"/>
                </a:solidFill>
                <a:latin typeface="Montserrat SemiBold"/>
              </a:rPr>
              <a:t>03 · Rough</a:t>
            </a:r>
          </a:p>
        </p:txBody>
      </p:sp>
      <p:sp>
        <p:nvSpPr>
          <p:cNvPr id="22"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A40C21"/>
                </a:solidFill>
                <a:latin typeface="Montserrat SemiBold"/>
              </a:rPr>
              <a:t>20</a:t>
            </a:r>
          </a:p>
        </p:txBody>
      </p:sp>
      <p:pic>
        <p:nvPicPr>
          <p:cNvPr id="23" name="!!Logo" descr="Logo Marin'Or Ivoire"/>
          <p:cNvPicPr>
            <a:picLocks noChangeAspect="1"/>
          </p:cNvPicPr>
          <p:nvPr/>
        </p:nvPicPr>
        <p:blipFill>
          <a:blip r:embed="rId7"/>
          <a:stretch>
            <a:fillRect/>
          </a:stretch>
        </p:blipFill>
        <p:spPr>
          <a:xfrm>
            <a:off x="10546080" y="311488"/>
            <a:ext cx="960120" cy="50299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FF6EA"/>
          </a:solidFill>
          <a:ln>
            <a:noFill/>
          </a:ln>
        </p:spPr>
        <p:txBody>
          <a:bodyPr rtlCol="0" anchor="ctr"/>
          <a:lstStyle/>
          <a:p/>
        </p:txBody>
      </p:sp>
      <p:pic>
        <p:nvPicPr>
          <p:cNvPr id="3" name="!!PlateL" descr="motif_bord.png"/>
          <p:cNvPicPr>
            <a:picLocks noChangeAspect="1"/>
          </p:cNvPicPr>
          <p:nvPr/>
        </p:nvPicPr>
        <p:blipFill>
          <a:blip r:embed="rId2"/>
          <a:srcRect/>
          <a:stretch>
            <a:fillRect/>
          </a:stretch>
        </p:blipFill>
        <p:spPr>
          <a:xfrm>
            <a:off x="-3850000" y="-1887087"/>
            <a:ext cx="21336000" cy="12001500"/>
          </a:xfrm>
          <a:prstGeom prst="rect">
            <a:avLst/>
          </a:prstGeom>
        </p:spPr>
      </p:pic>
      <p:sp>
        <p:nvSpPr>
          <p:cNvPr id="4" name="!!Glow"/>
          <p:cNvSpPr/>
          <p:nvPr/>
        </p:nvSpPr>
        <p:spPr>
          <a:xfrm>
            <a:off x="785496" y="-3299823"/>
            <a:ext cx="9601200" cy="9601200"/>
          </a:xfrm>
          <a:prstGeom prst="ellipse">
            <a:avLst/>
          </a:prstGeom>
          <a:gradFill rotWithShape="1">
            <a:gsLst>
              <a:gs pos="0">
                <a:srgbClr val="FFFFFF">
                  <a:alpha val="85000"/>
                </a:srgbClr>
              </a:gs>
              <a:gs pos="100000">
                <a:srgbClr val="FFFFFF">
                  <a:alpha val="0"/>
                </a:srgbClr>
              </a:gs>
            </a:gsLst>
            <a:path path="circle">
              <a:fillToRect l="50000" t="50000" r="50000" b="50000"/>
            </a:path>
          </a:gradFill>
          <a:ln>
            <a:noFill/>
          </a:ln>
        </p:spPr>
        <p:txBody>
          <a:bodyPr rtlCol="0" anchor="ctr"/>
          <a:lstStyle/>
          <a:p/>
        </p:txBody>
      </p:sp>
      <p:sp>
        <p:nvSpPr>
          <p:cNvPr id="5" name="!!Glow2"/>
          <p:cNvSpPr/>
          <p:nvPr/>
        </p:nvSpPr>
        <p:spPr>
          <a:xfrm>
            <a:off x="3245483" y="1996803"/>
            <a:ext cx="6720840" cy="6720840"/>
          </a:xfrm>
          <a:prstGeom prst="ellipse">
            <a:avLst/>
          </a:prstGeom>
          <a:gradFill rotWithShape="1">
            <a:gsLst>
              <a:gs pos="0">
                <a:srgbClr val="F9A825">
                  <a:alpha val="14000"/>
                </a:srgbClr>
              </a:gs>
              <a:gs pos="100000">
                <a:srgbClr val="F9A825">
                  <a:alpha val="0"/>
                </a:srgbClr>
              </a:gs>
            </a:gsLst>
            <a:path path="circle">
              <a:fillToRect l="50000" t="50000" r="50000" b="50000"/>
            </a:path>
          </a:gradFill>
          <a:ln>
            <a:noFill/>
          </a:ln>
        </p:spPr>
        <p:txBody>
          <a:bodyPr rtlCol="0" anchor="ctr"/>
          <a:lstStyle/>
          <a:p/>
        </p:txBody>
      </p:sp>
      <p:sp>
        <p:nvSpPr>
          <p:cNvPr id="6" name="!!Ring"/>
          <p:cNvSpPr/>
          <p:nvPr/>
        </p:nvSpPr>
        <p:spPr>
          <a:xfrm>
            <a:off x="9256183" y="-4078292"/>
            <a:ext cx="7132320" cy="7132320"/>
          </a:xfrm>
          <a:prstGeom prst="ellipse">
            <a:avLst/>
          </a:prstGeom>
          <a:noFill/>
          <a:ln w="12700">
            <a:solidFill>
              <a:srgbClr val="F9A825">
                <a:alpha val="85000"/>
              </a:srgbClr>
            </a:solidFill>
          </a:ln>
        </p:spPr>
        <p:txBody>
          <a:bodyPr rtlCol="0" anchor="ctr"/>
          <a:lstStyle/>
          <a:p/>
        </p:txBody>
      </p:sp>
      <p:sp>
        <p:nvSpPr>
          <p:cNvPr id="7" name="!!Panel"/>
          <p:cNvSpPr/>
          <p:nvPr/>
        </p:nvSpPr>
        <p:spPr>
          <a:xfrm>
            <a:off x="685800" y="1143000"/>
            <a:ext cx="5120640" cy="4480560"/>
          </a:xfrm>
          <a:prstGeom prst="roundRect">
            <a:avLst>
              <a:gd name="adj" fmla="val 6000"/>
            </a:avLst>
          </a:prstGeom>
          <a:solidFill>
            <a:srgbClr val="FFFFFF"/>
          </a:solidFill>
          <a:ln w="9525">
            <a:solidFill>
              <a:srgbClr val="F9A825">
                <a:alpha val="55000"/>
              </a:srgbClr>
            </a:solidFill>
          </a:ln>
          <a:effectLst>
            <a:outerShdw blurRad="330200" dist="76200" dir="5400000" algn="t" rotWithShape="0">
              <a:srgbClr val="1A0507">
                <a:alpha val="18000"/>
              </a:srgbClr>
            </a:outerShdw>
          </a:effectLst>
        </p:spPr>
        <p:txBody>
          <a:bodyPr rtlCol="0" anchor="ctr"/>
          <a:lstStyle/>
          <a:p/>
        </p:txBody>
      </p:sp>
      <p:pic>
        <p:nvPicPr>
          <p:cNvPr id="8" name="!!Logo" descr="Logo Marin'Or Ivoire"/>
          <p:cNvPicPr>
            <a:picLocks noChangeAspect="1"/>
          </p:cNvPicPr>
          <p:nvPr/>
        </p:nvPicPr>
        <p:blipFill>
          <a:blip r:embed="rId3"/>
          <a:stretch>
            <a:fillRect/>
          </a:stretch>
        </p:blipFill>
        <p:spPr>
          <a:xfrm>
            <a:off x="1097280" y="2257536"/>
            <a:ext cx="4297680" cy="2251486"/>
          </a:xfrm>
          <a:prstGeom prst="rect">
            <a:avLst/>
          </a:prstGeom>
        </p:spPr>
      </p:pic>
      <p:pic>
        <p:nvPicPr>
          <p:cNvPr id="9" name="!!Grain" descr="grain.png"/>
          <p:cNvPicPr>
            <a:picLocks noChangeAspect="1"/>
          </p:cNvPicPr>
          <p:nvPr/>
        </p:nvPicPr>
        <p:blipFill>
          <a:blip r:embed="rId4"/>
          <a:srcRect/>
          <a:stretch>
            <a:fillRect/>
          </a:stretch>
        </p:blipFill>
        <p:spPr>
          <a:xfrm>
            <a:off x="0" y="0"/>
            <a:ext cx="12192000" cy="6858000"/>
          </a:xfrm>
          <a:prstGeom prst="rect">
            <a:avLst/>
          </a:prstGeom>
        </p:spPr>
      </p:pic>
      <p:sp>
        <p:nvSpPr>
          <p:cNvPr id="10" name="!!Title"/>
          <p:cNvSpPr txBox="1"/>
          <p:nvPr/>
        </p:nvSpPr>
        <p:spPr>
          <a:xfrm>
            <a:off x="6263640" y="914400"/>
            <a:ext cx="5212080" cy="731520"/>
          </a:xfrm>
          <a:prstGeom prst="rect">
            <a:avLst/>
          </a:prstGeom>
          <a:noFill/>
        </p:spPr>
        <p:txBody>
          <a:bodyPr wrap="square" lIns="0" rIns="0" tIns="0" bIns="0" anchor="t">
            <a:noAutofit/>
          </a:bodyPr>
          <a:lstStyle/>
          <a:p>
            <a:pPr algn="l">
              <a:lnSpc>
                <a:spcPct val="95000"/>
              </a:lnSpc>
            </a:pPr>
            <a:r>
              <a:rPr sz="4000">
                <a:solidFill>
                  <a:srgbClr val="7B1421"/>
                </a:solidFill>
                <a:latin typeface="Cream Heavy"/>
              </a:rPr>
              <a:t>Le logo retenu</a:t>
            </a:r>
          </a:p>
        </p:txBody>
      </p:sp>
      <p:sp>
        <p:nvSpPr>
          <p:cNvPr id="11" name="!!Body"/>
          <p:cNvSpPr txBox="1"/>
          <p:nvPr/>
        </p:nvSpPr>
        <p:spPr>
          <a:xfrm>
            <a:off x="6263640" y="2057400"/>
            <a:ext cx="5120640" cy="3291840"/>
          </a:xfrm>
          <a:prstGeom prst="rect">
            <a:avLst/>
          </a:prstGeom>
          <a:noFill/>
        </p:spPr>
        <p:txBody>
          <a:bodyPr wrap="square" lIns="0" rIns="0" tIns="0" bIns="0" anchor="t">
            <a:noAutofit/>
          </a:bodyPr>
          <a:lstStyle/>
          <a:p>
            <a:pPr algn="l">
              <a:lnSpc>
                <a:spcPct val="112000"/>
              </a:lnSpc>
              <a:spcAft>
                <a:spcPts val="1200"/>
              </a:spcAft>
            </a:pPr>
            <a:r>
              <a:rPr sz="1700">
                <a:solidFill>
                  <a:srgbClr val="7B1421"/>
                </a:solidFill>
                <a:latin typeface="Montserrat SemiBold"/>
              </a:rPr>
              <a:t>Éléphant</a:t>
            </a:r>
            <a:r>
              <a:rPr sz="1700">
                <a:solidFill>
                  <a:srgbClr val="000000"/>
                </a:solidFill>
                <a:latin typeface="Montserrat Medium"/>
              </a:rPr>
              <a:t> : la Côte d'Ivoire, la force, l'ancrage local.</a:t>
            </a:r>
          </a:p>
          <a:p>
            <a:pPr algn="l">
              <a:lnSpc>
                <a:spcPct val="112000"/>
              </a:lnSpc>
              <a:spcAft>
                <a:spcPts val="1200"/>
              </a:spcAft>
            </a:pPr>
            <a:r>
              <a:rPr sz="1700">
                <a:solidFill>
                  <a:srgbClr val="7B1421"/>
                </a:solidFill>
                <a:latin typeface="Montserrat SemiBold"/>
              </a:rPr>
              <a:t>Feuille</a:t>
            </a:r>
            <a:r>
              <a:rPr sz="1700">
                <a:solidFill>
                  <a:srgbClr val="000000"/>
                </a:solidFill>
                <a:latin typeface="Montserrat Medium"/>
              </a:rPr>
              <a:t> : épices, herbes, naturalité, fraîcheur.</a:t>
            </a:r>
          </a:p>
          <a:p>
            <a:pPr algn="l">
              <a:lnSpc>
                <a:spcPct val="112000"/>
              </a:lnSpc>
              <a:spcAft>
                <a:spcPts val="1200"/>
              </a:spcAft>
            </a:pPr>
            <a:r>
              <a:rPr sz="1700">
                <a:solidFill>
                  <a:srgbClr val="7B1421"/>
                </a:solidFill>
                <a:latin typeface="Montserrat SemiBold"/>
              </a:rPr>
              <a:t>Bordeaux</a:t>
            </a:r>
            <a:r>
              <a:rPr sz="1700">
                <a:solidFill>
                  <a:srgbClr val="000000"/>
                </a:solidFill>
                <a:latin typeface="Montserrat Medium"/>
              </a:rPr>
              <a:t> : premium, chaleureux, gourmand.</a:t>
            </a:r>
          </a:p>
        </p:txBody>
      </p:sp>
      <p:sp>
        <p:nvSpPr>
          <p:cNvPr id="12"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A40C21"/>
                </a:solidFill>
                <a:latin typeface="Montserrat SemiBold"/>
              </a:rPr>
              <a:t>03 · Logotype définitif</a:t>
            </a:r>
          </a:p>
        </p:txBody>
      </p:sp>
      <p:sp>
        <p:nvSpPr>
          <p:cNvPr id="13"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A40C21"/>
                </a:solidFill>
                <a:latin typeface="Montserrat SemiBold"/>
              </a:rPr>
              <a:t>21</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FF6EA"/>
          </a:solidFill>
          <a:ln>
            <a:noFill/>
          </a:ln>
        </p:spPr>
        <p:txBody>
          <a:bodyPr rtlCol="0" anchor="ctr"/>
          <a:lstStyle/>
          <a:p/>
        </p:txBody>
      </p:sp>
      <p:pic>
        <p:nvPicPr>
          <p:cNvPr id="3" name="!!PlateL" descr="motif_bord.png"/>
          <p:cNvPicPr>
            <a:picLocks noChangeAspect="1"/>
          </p:cNvPicPr>
          <p:nvPr/>
        </p:nvPicPr>
        <p:blipFill>
          <a:blip r:embed="rId2"/>
          <a:srcRect/>
          <a:stretch>
            <a:fillRect/>
          </a:stretch>
        </p:blipFill>
        <p:spPr>
          <a:xfrm>
            <a:off x="-4030000" y="-1638409"/>
            <a:ext cx="21336000" cy="12001500"/>
          </a:xfrm>
          <a:prstGeom prst="rect">
            <a:avLst/>
          </a:prstGeom>
        </p:spPr>
      </p:pic>
      <p:sp>
        <p:nvSpPr>
          <p:cNvPr id="4" name="!!Glow"/>
          <p:cNvSpPr/>
          <p:nvPr/>
        </p:nvSpPr>
        <p:spPr>
          <a:xfrm>
            <a:off x="1959099" y="-2779101"/>
            <a:ext cx="9601200" cy="9601200"/>
          </a:xfrm>
          <a:prstGeom prst="ellipse">
            <a:avLst/>
          </a:prstGeom>
          <a:gradFill rotWithShape="1">
            <a:gsLst>
              <a:gs pos="0">
                <a:srgbClr val="FFFFFF">
                  <a:alpha val="85000"/>
                </a:srgbClr>
              </a:gs>
              <a:gs pos="100000">
                <a:srgbClr val="FFFFFF">
                  <a:alpha val="0"/>
                </a:srgbClr>
              </a:gs>
            </a:gsLst>
            <a:path path="circle">
              <a:fillToRect l="50000" t="50000" r="50000" b="50000"/>
            </a:path>
          </a:gradFill>
          <a:ln>
            <a:noFill/>
          </a:ln>
        </p:spPr>
        <p:txBody>
          <a:bodyPr rtlCol="0" anchor="ctr"/>
          <a:lstStyle/>
          <a:p/>
        </p:txBody>
      </p:sp>
      <p:sp>
        <p:nvSpPr>
          <p:cNvPr id="5" name="!!Glow2"/>
          <p:cNvSpPr/>
          <p:nvPr/>
        </p:nvSpPr>
        <p:spPr>
          <a:xfrm>
            <a:off x="2071880" y="1476081"/>
            <a:ext cx="6720840" cy="6720840"/>
          </a:xfrm>
          <a:prstGeom prst="ellipse">
            <a:avLst/>
          </a:prstGeom>
          <a:gradFill rotWithShape="1">
            <a:gsLst>
              <a:gs pos="0">
                <a:srgbClr val="F9A825">
                  <a:alpha val="14000"/>
                </a:srgbClr>
              </a:gs>
              <a:gs pos="100000">
                <a:srgbClr val="F9A825">
                  <a:alpha val="0"/>
                </a:srgbClr>
              </a:gs>
            </a:gsLst>
            <a:path path="circle">
              <a:fillToRect l="50000" t="50000" r="50000" b="50000"/>
            </a:path>
          </a:gradFill>
          <a:ln>
            <a:noFill/>
          </a:ln>
        </p:spPr>
        <p:txBody>
          <a:bodyPr rtlCol="0" anchor="ctr"/>
          <a:lstStyle/>
          <a:p/>
        </p:txBody>
      </p:sp>
      <p:sp>
        <p:nvSpPr>
          <p:cNvPr id="6" name="!!Ring"/>
          <p:cNvSpPr/>
          <p:nvPr/>
        </p:nvSpPr>
        <p:spPr>
          <a:xfrm>
            <a:off x="9236571" y="-4193334"/>
            <a:ext cx="7132320" cy="7132320"/>
          </a:xfrm>
          <a:prstGeom prst="ellipse">
            <a:avLst/>
          </a:prstGeom>
          <a:noFill/>
          <a:ln w="12700">
            <a:solidFill>
              <a:srgbClr val="F9A825">
                <a:alpha val="85000"/>
              </a:srgbClr>
            </a:solidFill>
          </a:ln>
        </p:spPr>
        <p:txBody>
          <a:bodyPr rtlCol="0" anchor="ctr"/>
          <a:lstStyle/>
          <a:p/>
        </p:txBody>
      </p:sp>
      <p:pic>
        <p:nvPicPr>
          <p:cNvPr id="7" name="!!Hero" descr="Zone de protection du logo"/>
          <p:cNvPicPr>
            <a:picLocks noChangeAspect="1"/>
          </p:cNvPicPr>
          <p:nvPr/>
        </p:nvPicPr>
        <p:blipFill>
          <a:blip r:embed="rId3"/>
          <a:srcRect l="520" r="520"/>
          <a:stretch>
            <a:fillRect/>
          </a:stretch>
        </p:blipFill>
        <p:spPr>
          <a:xfrm>
            <a:off x="685800" y="1874519"/>
            <a:ext cx="5120640" cy="2926080"/>
          </a:xfrm>
          <a:prstGeom prst="roundRect">
            <a:avLst>
              <a:gd name="adj" fmla="val 4000"/>
            </a:avLst>
          </a:prstGeom>
          <a:effectLst>
            <a:outerShdw blurRad="279400" dist="76200" dir="5400000" algn="t" rotWithShape="0">
              <a:srgbClr val="1A0507">
                <a:alpha val="20000"/>
              </a:srgbClr>
            </a:outerShdw>
          </a:effectLst>
        </p:spPr>
      </p:pic>
      <p:pic>
        <p:nvPicPr>
          <p:cNvPr id="8" name="!!Second" descr="Déclinaisons du logo"/>
          <p:cNvPicPr>
            <a:picLocks noChangeAspect="1"/>
          </p:cNvPicPr>
          <p:nvPr/>
        </p:nvPicPr>
        <p:blipFill>
          <a:blip r:embed="rId4"/>
          <a:stretch>
            <a:fillRect/>
          </a:stretch>
        </p:blipFill>
        <p:spPr>
          <a:xfrm>
            <a:off x="6035040" y="1882930"/>
            <a:ext cx="5468112" cy="3092137"/>
          </a:xfrm>
          <a:prstGeom prst="roundRect">
            <a:avLst>
              <a:gd name="adj" fmla="val 4000"/>
            </a:avLst>
          </a:prstGeom>
          <a:effectLst>
            <a:outerShdw blurRad="279400" dist="76200" dir="5400000" algn="t" rotWithShape="0">
              <a:srgbClr val="1A0507">
                <a:alpha val="20000"/>
              </a:srgbClr>
            </a:outerShdw>
          </a:effectLst>
        </p:spPr>
      </p:pic>
      <p:pic>
        <p:nvPicPr>
          <p:cNvPr id="9" name="!!Grain" descr="grain.png"/>
          <p:cNvPicPr>
            <a:picLocks noChangeAspect="1"/>
          </p:cNvPicPr>
          <p:nvPr/>
        </p:nvPicPr>
        <p:blipFill>
          <a:blip r:embed="rId5"/>
          <a:srcRect/>
          <a:stretch>
            <a:fillRect/>
          </a:stretch>
        </p:blipFill>
        <p:spPr>
          <a:xfrm>
            <a:off x="0" y="0"/>
            <a:ext cx="12192000" cy="6858000"/>
          </a:xfrm>
          <a:prstGeom prst="rect">
            <a:avLst/>
          </a:prstGeom>
        </p:spPr>
      </p:pic>
      <p:sp>
        <p:nvSpPr>
          <p:cNvPr id="10" name="!!Title"/>
          <p:cNvSpPr txBox="1"/>
          <p:nvPr/>
        </p:nvSpPr>
        <p:spPr>
          <a:xfrm>
            <a:off x="685800" y="914400"/>
            <a:ext cx="9144000" cy="731520"/>
          </a:xfrm>
          <a:prstGeom prst="rect">
            <a:avLst/>
          </a:prstGeom>
          <a:noFill/>
        </p:spPr>
        <p:txBody>
          <a:bodyPr wrap="square" lIns="0" rIns="0" tIns="0" bIns="0" anchor="t">
            <a:noAutofit/>
          </a:bodyPr>
          <a:lstStyle/>
          <a:p>
            <a:pPr algn="l">
              <a:lnSpc>
                <a:spcPct val="95000"/>
              </a:lnSpc>
            </a:pPr>
            <a:r>
              <a:rPr sz="3600">
                <a:solidFill>
                  <a:srgbClr val="7B1421"/>
                </a:solidFill>
                <a:latin typeface="Cream Heavy"/>
              </a:rPr>
              <a:t>Zone de protection et déclinaisons</a:t>
            </a:r>
          </a:p>
        </p:txBody>
      </p:sp>
      <p:sp>
        <p:nvSpPr>
          <p:cNvPr id="11" name="!!Body"/>
          <p:cNvSpPr txBox="1"/>
          <p:nvPr/>
        </p:nvSpPr>
        <p:spPr>
          <a:xfrm>
            <a:off x="685800" y="5257800"/>
            <a:ext cx="10820400" cy="411480"/>
          </a:xfrm>
          <a:prstGeom prst="rect">
            <a:avLst/>
          </a:prstGeom>
          <a:noFill/>
        </p:spPr>
        <p:txBody>
          <a:bodyPr wrap="square" lIns="0" rIns="0" tIns="0" bIns="0" anchor="t">
            <a:noAutofit/>
          </a:bodyPr>
          <a:lstStyle/>
          <a:p>
            <a:pPr algn="ctr">
              <a:lnSpc>
                <a:spcPct val="112000"/>
              </a:lnSpc>
              <a:spcAft>
                <a:spcPts val="800"/>
              </a:spcAft>
            </a:pPr>
            <a:r>
              <a:rPr sz="1500">
                <a:solidFill>
                  <a:srgbClr val="000000"/>
                </a:solidFill>
                <a:latin typeface="Montserrat Medium"/>
              </a:rPr>
              <a:t>Couleur pour fonds clairs  ·  Blanc pour fonds sombres  ·  Noir pour une seule couleur</a:t>
            </a:r>
          </a:p>
        </p:txBody>
      </p:sp>
      <p:sp>
        <p:nvSpPr>
          <p:cNvPr id="12"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A40C21"/>
                </a:solidFill>
                <a:latin typeface="Montserrat SemiBold"/>
              </a:rPr>
              <a:t>03 · Charte graphique</a:t>
            </a:r>
          </a:p>
        </p:txBody>
      </p:sp>
      <p:sp>
        <p:nvSpPr>
          <p:cNvPr id="13"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A40C21"/>
                </a:solidFill>
                <a:latin typeface="Montserrat SemiBold"/>
              </a:rPr>
              <a:t>22</a:t>
            </a:r>
          </a:p>
        </p:txBody>
      </p:sp>
      <p:pic>
        <p:nvPicPr>
          <p:cNvPr id="14" name="!!Logo" descr="Logo Marin'Or Ivoire"/>
          <p:cNvPicPr>
            <a:picLocks noChangeAspect="1"/>
          </p:cNvPicPr>
          <p:nvPr/>
        </p:nvPicPr>
        <p:blipFill>
          <a:blip r:embed="rId6"/>
          <a:stretch>
            <a:fillRect/>
          </a:stretch>
        </p:blipFill>
        <p:spPr>
          <a:xfrm>
            <a:off x="10546080" y="311488"/>
            <a:ext cx="960120" cy="50299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FF6EA"/>
          </a:solidFill>
          <a:ln>
            <a:noFill/>
          </a:ln>
        </p:spPr>
        <p:txBody>
          <a:bodyPr rtlCol="0" anchor="ctr"/>
          <a:lstStyle/>
          <a:p/>
        </p:txBody>
      </p:sp>
      <p:pic>
        <p:nvPicPr>
          <p:cNvPr id="3" name="!!PlateL" descr="motif_bord.png"/>
          <p:cNvPicPr>
            <a:picLocks noChangeAspect="1"/>
          </p:cNvPicPr>
          <p:nvPr/>
        </p:nvPicPr>
        <p:blipFill>
          <a:blip r:embed="rId2"/>
          <a:srcRect/>
          <a:stretch>
            <a:fillRect/>
          </a:stretch>
        </p:blipFill>
        <p:spPr>
          <a:xfrm>
            <a:off x="-4210000" y="-1488105"/>
            <a:ext cx="21336000" cy="12001500"/>
          </a:xfrm>
          <a:prstGeom prst="rect">
            <a:avLst/>
          </a:prstGeom>
        </p:spPr>
      </p:pic>
      <p:sp>
        <p:nvSpPr>
          <p:cNvPr id="4" name="!!Glow"/>
          <p:cNvSpPr/>
          <p:nvPr/>
        </p:nvSpPr>
        <p:spPr>
          <a:xfrm>
            <a:off x="2289656" y="-2085968"/>
            <a:ext cx="9601200" cy="9601200"/>
          </a:xfrm>
          <a:prstGeom prst="ellipse">
            <a:avLst/>
          </a:prstGeom>
          <a:gradFill rotWithShape="1">
            <a:gsLst>
              <a:gs pos="0">
                <a:srgbClr val="FFFFFF">
                  <a:alpha val="85000"/>
                </a:srgbClr>
              </a:gs>
              <a:gs pos="100000">
                <a:srgbClr val="FFFFFF">
                  <a:alpha val="0"/>
                </a:srgbClr>
              </a:gs>
            </a:gsLst>
            <a:path path="circle">
              <a:fillToRect l="50000" t="50000" r="50000" b="50000"/>
            </a:path>
          </a:gradFill>
          <a:ln>
            <a:noFill/>
          </a:ln>
        </p:spPr>
        <p:txBody>
          <a:bodyPr rtlCol="0" anchor="ctr"/>
          <a:lstStyle/>
          <a:p/>
        </p:txBody>
      </p:sp>
      <p:sp>
        <p:nvSpPr>
          <p:cNvPr id="5" name="!!Glow2"/>
          <p:cNvSpPr/>
          <p:nvPr/>
        </p:nvSpPr>
        <p:spPr>
          <a:xfrm>
            <a:off x="1741323" y="782948"/>
            <a:ext cx="6720840" cy="6720840"/>
          </a:xfrm>
          <a:prstGeom prst="ellipse">
            <a:avLst/>
          </a:prstGeom>
          <a:gradFill rotWithShape="1">
            <a:gsLst>
              <a:gs pos="0">
                <a:srgbClr val="F9A825">
                  <a:alpha val="14000"/>
                </a:srgbClr>
              </a:gs>
              <a:gs pos="100000">
                <a:srgbClr val="F9A825">
                  <a:alpha val="0"/>
                </a:srgbClr>
              </a:gs>
            </a:gsLst>
            <a:path path="circle">
              <a:fillToRect l="50000" t="50000" r="50000" b="50000"/>
            </a:path>
          </a:gradFill>
          <a:ln>
            <a:noFill/>
          </a:ln>
        </p:spPr>
        <p:txBody>
          <a:bodyPr rtlCol="0" anchor="ctr"/>
          <a:lstStyle/>
          <a:p/>
        </p:txBody>
      </p:sp>
      <p:sp>
        <p:nvSpPr>
          <p:cNvPr id="6" name="!!Ring"/>
          <p:cNvSpPr/>
          <p:nvPr/>
        </p:nvSpPr>
        <p:spPr>
          <a:xfrm>
            <a:off x="9401161" y="-4185428"/>
            <a:ext cx="7132320" cy="7132320"/>
          </a:xfrm>
          <a:prstGeom prst="ellipse">
            <a:avLst/>
          </a:prstGeom>
          <a:noFill/>
          <a:ln w="12700">
            <a:solidFill>
              <a:srgbClr val="F9A825">
                <a:alpha val="85000"/>
              </a:srgbClr>
            </a:solidFill>
          </a:ln>
        </p:spPr>
        <p:txBody>
          <a:bodyPr rtlCol="0" anchor="ctr"/>
          <a:lstStyle/>
          <a:p/>
        </p:txBody>
      </p:sp>
      <p:pic>
        <p:nvPicPr>
          <p:cNvPr id="7" name="!!Hero" descr="Les interdits du logo"/>
          <p:cNvPicPr>
            <a:picLocks noChangeAspect="1"/>
          </p:cNvPicPr>
          <p:nvPr/>
        </p:nvPicPr>
        <p:blipFill>
          <a:blip r:embed="rId3"/>
          <a:stretch>
            <a:fillRect/>
          </a:stretch>
        </p:blipFill>
        <p:spPr>
          <a:xfrm>
            <a:off x="3193911" y="1783080"/>
            <a:ext cx="5773697" cy="3246120"/>
          </a:xfrm>
          <a:prstGeom prst="roundRect">
            <a:avLst>
              <a:gd name="adj" fmla="val 4000"/>
            </a:avLst>
          </a:prstGeom>
          <a:effectLst>
            <a:outerShdw blurRad="279400" dist="76200" dir="5400000" algn="t" rotWithShape="0">
              <a:srgbClr val="1A0507">
                <a:alpha val="20000"/>
              </a:srgbClr>
            </a:outerShdw>
          </a:effectLst>
        </p:spPr>
      </p:pic>
      <p:pic>
        <p:nvPicPr>
          <p:cNvPr id="8" name="!!Grain" descr="grain.png"/>
          <p:cNvPicPr>
            <a:picLocks noChangeAspect="1"/>
          </p:cNvPicPr>
          <p:nvPr/>
        </p:nvPicPr>
        <p:blipFill>
          <a:blip r:embed="rId4"/>
          <a:srcRect/>
          <a:stretch>
            <a:fillRect/>
          </a:stretch>
        </p:blipFill>
        <p:spPr>
          <a:xfrm>
            <a:off x="0" y="0"/>
            <a:ext cx="12192000" cy="6858000"/>
          </a:xfrm>
          <a:prstGeom prst="rect">
            <a:avLst/>
          </a:prstGeom>
        </p:spPr>
      </p:pic>
      <p:sp>
        <p:nvSpPr>
          <p:cNvPr id="9" name="!!Title"/>
          <p:cNvSpPr txBox="1"/>
          <p:nvPr/>
        </p:nvSpPr>
        <p:spPr>
          <a:xfrm>
            <a:off x="685800" y="914400"/>
            <a:ext cx="8229600" cy="731520"/>
          </a:xfrm>
          <a:prstGeom prst="rect">
            <a:avLst/>
          </a:prstGeom>
          <a:noFill/>
        </p:spPr>
        <p:txBody>
          <a:bodyPr wrap="square" lIns="0" rIns="0" tIns="0" bIns="0" anchor="t">
            <a:noAutofit/>
          </a:bodyPr>
          <a:lstStyle/>
          <a:p>
            <a:pPr algn="l">
              <a:lnSpc>
                <a:spcPct val="95000"/>
              </a:lnSpc>
            </a:pPr>
            <a:r>
              <a:rPr sz="4000">
                <a:solidFill>
                  <a:srgbClr val="7B1421"/>
                </a:solidFill>
                <a:latin typeface="Cream Heavy"/>
              </a:rPr>
              <a:t>Les interdits</a:t>
            </a:r>
          </a:p>
        </p:txBody>
      </p:sp>
      <p:sp>
        <p:nvSpPr>
          <p:cNvPr id="10" name="!!Body"/>
          <p:cNvSpPr txBox="1"/>
          <p:nvPr/>
        </p:nvSpPr>
        <p:spPr>
          <a:xfrm>
            <a:off x="685800" y="5349240"/>
            <a:ext cx="10820400" cy="411480"/>
          </a:xfrm>
          <a:prstGeom prst="rect">
            <a:avLst/>
          </a:prstGeom>
          <a:noFill/>
        </p:spPr>
        <p:txBody>
          <a:bodyPr wrap="square" lIns="0" rIns="0" tIns="0" bIns="0" anchor="t">
            <a:noAutofit/>
          </a:bodyPr>
          <a:lstStyle/>
          <a:p>
            <a:pPr algn="ctr">
              <a:lnSpc>
                <a:spcPct val="112000"/>
              </a:lnSpc>
              <a:spcAft>
                <a:spcPts val="800"/>
              </a:spcAft>
            </a:pPr>
            <a:r>
              <a:rPr sz="1500">
                <a:solidFill>
                  <a:srgbClr val="000000"/>
                </a:solidFill>
                <a:latin typeface="Montserrat Medium"/>
              </a:rPr>
              <a:t>Les manipulations à éviter pour préserver l'intégrité du logotype.</a:t>
            </a:r>
          </a:p>
        </p:txBody>
      </p:sp>
      <p:sp>
        <p:nvSpPr>
          <p:cNvPr id="11"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A40C21"/>
                </a:solidFill>
                <a:latin typeface="Montserrat SemiBold"/>
              </a:rPr>
              <a:t>03 · Charte graphique</a:t>
            </a:r>
          </a:p>
        </p:txBody>
      </p:sp>
      <p:sp>
        <p:nvSpPr>
          <p:cNvPr id="12"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A40C21"/>
                </a:solidFill>
                <a:latin typeface="Montserrat SemiBold"/>
              </a:rPr>
              <a:t>23</a:t>
            </a:r>
          </a:p>
        </p:txBody>
      </p:sp>
      <p:pic>
        <p:nvPicPr>
          <p:cNvPr id="13" name="!!Logo" descr="Logo Marin'Or Ivoire"/>
          <p:cNvPicPr>
            <a:picLocks noChangeAspect="1"/>
          </p:cNvPicPr>
          <p:nvPr/>
        </p:nvPicPr>
        <p:blipFill>
          <a:blip r:embed="rId5"/>
          <a:stretch>
            <a:fillRect/>
          </a:stretch>
        </p:blipFill>
        <p:spPr>
          <a:xfrm>
            <a:off x="10546080" y="311488"/>
            <a:ext cx="960120" cy="50299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FF6EA"/>
          </a:solidFill>
          <a:ln>
            <a:noFill/>
          </a:ln>
        </p:spPr>
        <p:txBody>
          <a:bodyPr rtlCol="0" anchor="ctr"/>
          <a:lstStyle/>
          <a:p/>
        </p:txBody>
      </p:sp>
      <p:pic>
        <p:nvPicPr>
          <p:cNvPr id="3" name="!!PlateL" descr="motif_bord.png"/>
          <p:cNvPicPr>
            <a:picLocks noChangeAspect="1"/>
          </p:cNvPicPr>
          <p:nvPr/>
        </p:nvPicPr>
        <p:blipFill>
          <a:blip r:embed="rId2"/>
          <a:srcRect/>
          <a:stretch>
            <a:fillRect/>
          </a:stretch>
        </p:blipFill>
        <p:spPr>
          <a:xfrm>
            <a:off x="-4390000" y="-1452396"/>
            <a:ext cx="21336000" cy="12001500"/>
          </a:xfrm>
          <a:prstGeom prst="rect">
            <a:avLst/>
          </a:prstGeom>
        </p:spPr>
      </p:pic>
      <p:sp>
        <p:nvSpPr>
          <p:cNvPr id="4" name="!!Glow"/>
          <p:cNvSpPr/>
          <p:nvPr/>
        </p:nvSpPr>
        <p:spPr>
          <a:xfrm>
            <a:off x="1679668" y="-1424864"/>
            <a:ext cx="9601200" cy="9601200"/>
          </a:xfrm>
          <a:prstGeom prst="ellipse">
            <a:avLst/>
          </a:prstGeom>
          <a:gradFill rotWithShape="1">
            <a:gsLst>
              <a:gs pos="0">
                <a:srgbClr val="FFFFFF">
                  <a:alpha val="85000"/>
                </a:srgbClr>
              </a:gs>
              <a:gs pos="100000">
                <a:srgbClr val="FFFFFF">
                  <a:alpha val="0"/>
                </a:srgbClr>
              </a:gs>
            </a:gsLst>
            <a:path path="circle">
              <a:fillToRect l="50000" t="50000" r="50000" b="50000"/>
            </a:path>
          </a:gradFill>
          <a:ln>
            <a:noFill/>
          </a:ln>
        </p:spPr>
        <p:txBody>
          <a:bodyPr rtlCol="0" anchor="ctr"/>
          <a:lstStyle/>
          <a:p/>
        </p:txBody>
      </p:sp>
      <p:sp>
        <p:nvSpPr>
          <p:cNvPr id="5" name="!!Glow2"/>
          <p:cNvSpPr/>
          <p:nvPr/>
        </p:nvSpPr>
        <p:spPr>
          <a:xfrm>
            <a:off x="2351311" y="121844"/>
            <a:ext cx="6720840" cy="6720840"/>
          </a:xfrm>
          <a:prstGeom prst="ellipse">
            <a:avLst/>
          </a:prstGeom>
          <a:gradFill rotWithShape="1">
            <a:gsLst>
              <a:gs pos="0">
                <a:srgbClr val="F9A825">
                  <a:alpha val="14000"/>
                </a:srgbClr>
              </a:gs>
              <a:gs pos="100000">
                <a:srgbClr val="F9A825">
                  <a:alpha val="0"/>
                </a:srgbClr>
              </a:gs>
            </a:gsLst>
            <a:path path="circle">
              <a:fillToRect l="50000" t="50000" r="50000" b="50000"/>
            </a:path>
          </a:gradFill>
          <a:ln>
            <a:noFill/>
          </a:ln>
        </p:spPr>
        <p:txBody>
          <a:bodyPr rtlCol="0" anchor="ctr"/>
          <a:lstStyle/>
          <a:p/>
        </p:txBody>
      </p:sp>
      <p:sp>
        <p:nvSpPr>
          <p:cNvPr id="6" name="!!Ring"/>
          <p:cNvSpPr/>
          <p:nvPr/>
        </p:nvSpPr>
        <p:spPr>
          <a:xfrm>
            <a:off x="9650114" y="-4058293"/>
            <a:ext cx="7132320" cy="7132320"/>
          </a:xfrm>
          <a:prstGeom prst="ellipse">
            <a:avLst/>
          </a:prstGeom>
          <a:noFill/>
          <a:ln w="12700">
            <a:solidFill>
              <a:srgbClr val="F9A825">
                <a:alpha val="85000"/>
              </a:srgbClr>
            </a:solidFill>
          </a:ln>
        </p:spPr>
        <p:txBody>
          <a:bodyPr rtlCol="0" anchor="ctr"/>
          <a:lstStyle/>
          <a:p/>
        </p:txBody>
      </p:sp>
      <p:sp>
        <p:nvSpPr>
          <p:cNvPr id="7" name="!!Card0"/>
          <p:cNvSpPr/>
          <p:nvPr/>
        </p:nvSpPr>
        <p:spPr>
          <a:xfrm>
            <a:off x="685800" y="2011680"/>
            <a:ext cx="3383280" cy="3108960"/>
          </a:xfrm>
          <a:prstGeom prst="roundRect">
            <a:avLst>
              <a:gd name="adj" fmla="val 8000"/>
            </a:avLst>
          </a:prstGeom>
          <a:solidFill>
            <a:srgbClr val="FFFFFF"/>
          </a:solidFill>
          <a:ln w="9525">
            <a:solidFill>
              <a:srgbClr val="F9A825">
                <a:alpha val="55000"/>
              </a:srgbClr>
            </a:solidFill>
          </a:ln>
          <a:effectLst>
            <a:outerShdw blurRad="228600" dist="50800" dir="5400000" algn="t" rotWithShape="0">
              <a:srgbClr val="1A0507">
                <a:alpha val="18000"/>
              </a:srgbClr>
            </a:outerShdw>
          </a:effectLst>
        </p:spPr>
        <p:txBody>
          <a:bodyPr rtlCol="0" anchor="ctr"/>
          <a:lstStyle/>
          <a:p/>
        </p:txBody>
      </p:sp>
      <p:sp>
        <p:nvSpPr>
          <p:cNvPr id="8" name="!!Card1"/>
          <p:cNvSpPr/>
          <p:nvPr/>
        </p:nvSpPr>
        <p:spPr>
          <a:xfrm>
            <a:off x="4297680" y="2011680"/>
            <a:ext cx="3383280" cy="3108960"/>
          </a:xfrm>
          <a:prstGeom prst="roundRect">
            <a:avLst>
              <a:gd name="adj" fmla="val 8000"/>
            </a:avLst>
          </a:prstGeom>
          <a:solidFill>
            <a:srgbClr val="FFFFFF"/>
          </a:solidFill>
          <a:ln w="9525">
            <a:solidFill>
              <a:srgbClr val="F9A825">
                <a:alpha val="55000"/>
              </a:srgbClr>
            </a:solidFill>
          </a:ln>
          <a:effectLst>
            <a:outerShdw blurRad="228600" dist="50800" dir="5400000" algn="t" rotWithShape="0">
              <a:srgbClr val="1A0507">
                <a:alpha val="18000"/>
              </a:srgbClr>
            </a:outerShdw>
          </a:effectLst>
        </p:spPr>
        <p:txBody>
          <a:bodyPr rtlCol="0" anchor="ctr"/>
          <a:lstStyle/>
          <a:p/>
        </p:txBody>
      </p:sp>
      <p:sp>
        <p:nvSpPr>
          <p:cNvPr id="9" name="!!Card2"/>
          <p:cNvSpPr/>
          <p:nvPr/>
        </p:nvSpPr>
        <p:spPr>
          <a:xfrm>
            <a:off x="7909560" y="2011680"/>
            <a:ext cx="3383280" cy="3108960"/>
          </a:xfrm>
          <a:prstGeom prst="roundRect">
            <a:avLst>
              <a:gd name="adj" fmla="val 8000"/>
            </a:avLst>
          </a:prstGeom>
          <a:solidFill>
            <a:srgbClr val="FFFFFF"/>
          </a:solidFill>
          <a:ln w="9525">
            <a:solidFill>
              <a:srgbClr val="F9A825">
                <a:alpha val="55000"/>
              </a:srgbClr>
            </a:solidFill>
          </a:ln>
          <a:effectLst>
            <a:outerShdw blurRad="228600" dist="50800" dir="5400000" algn="t" rotWithShape="0">
              <a:srgbClr val="1A0507">
                <a:alpha val="18000"/>
              </a:srgbClr>
            </a:outerShdw>
          </a:effectLst>
        </p:spPr>
        <p:txBody>
          <a:bodyPr rtlCol="0" anchor="ctr"/>
          <a:lstStyle/>
          <a:p/>
        </p:txBody>
      </p:sp>
      <p:pic>
        <p:nvPicPr>
          <p:cNvPr id="10" name="!!Spec" descr="Wordmark en RadioTime Tooled"/>
          <p:cNvPicPr>
            <a:picLocks noChangeAspect="1"/>
          </p:cNvPicPr>
          <p:nvPr/>
        </p:nvPicPr>
        <p:blipFill>
          <a:blip r:embed="rId3"/>
          <a:stretch>
            <a:fillRect/>
          </a:stretch>
        </p:blipFill>
        <p:spPr>
          <a:xfrm>
            <a:off x="8412480" y="2331720"/>
            <a:ext cx="2377440" cy="1248435"/>
          </a:xfrm>
          <a:prstGeom prst="rect">
            <a:avLst/>
          </a:prstGeom>
        </p:spPr>
      </p:pic>
      <p:pic>
        <p:nvPicPr>
          <p:cNvPr id="11" name="!!Grain" descr="grain.png"/>
          <p:cNvPicPr>
            <a:picLocks noChangeAspect="1"/>
          </p:cNvPicPr>
          <p:nvPr/>
        </p:nvPicPr>
        <p:blipFill>
          <a:blip r:embed="rId4"/>
          <a:srcRect/>
          <a:stretch>
            <a:fillRect/>
          </a:stretch>
        </p:blipFill>
        <p:spPr>
          <a:xfrm>
            <a:off x="0" y="0"/>
            <a:ext cx="12192000" cy="6858000"/>
          </a:xfrm>
          <a:prstGeom prst="rect">
            <a:avLst/>
          </a:prstGeom>
        </p:spPr>
      </p:pic>
      <p:sp>
        <p:nvSpPr>
          <p:cNvPr id="12" name="!!Title"/>
          <p:cNvSpPr txBox="1"/>
          <p:nvPr/>
        </p:nvSpPr>
        <p:spPr>
          <a:xfrm>
            <a:off x="685800" y="914400"/>
            <a:ext cx="8229600" cy="731520"/>
          </a:xfrm>
          <a:prstGeom prst="rect">
            <a:avLst/>
          </a:prstGeom>
          <a:noFill/>
        </p:spPr>
        <p:txBody>
          <a:bodyPr wrap="square" lIns="0" rIns="0" tIns="0" bIns="0" anchor="t">
            <a:noAutofit/>
          </a:bodyPr>
          <a:lstStyle/>
          <a:p>
            <a:pPr algn="l">
              <a:lnSpc>
                <a:spcPct val="95000"/>
              </a:lnSpc>
            </a:pPr>
            <a:r>
              <a:rPr sz="4000">
                <a:solidFill>
                  <a:srgbClr val="7B1421"/>
                </a:solidFill>
                <a:latin typeface="Cream Heavy"/>
              </a:rPr>
              <a:t>Typographie</a:t>
            </a:r>
          </a:p>
        </p:txBody>
      </p:sp>
      <p:sp>
        <p:nvSpPr>
          <p:cNvPr id="13" name="!!Aa0"/>
          <p:cNvSpPr txBox="1"/>
          <p:nvPr/>
        </p:nvSpPr>
        <p:spPr>
          <a:xfrm>
            <a:off x="1005840" y="2194560"/>
            <a:ext cx="2743200" cy="1463040"/>
          </a:xfrm>
          <a:prstGeom prst="rect">
            <a:avLst/>
          </a:prstGeom>
          <a:noFill/>
        </p:spPr>
        <p:txBody>
          <a:bodyPr wrap="square" lIns="0" rIns="0" tIns="0" bIns="0" anchor="t">
            <a:noAutofit/>
          </a:bodyPr>
          <a:lstStyle/>
          <a:p>
            <a:pPr algn="l"/>
            <a:r>
              <a:rPr sz="7200">
                <a:solidFill>
                  <a:srgbClr val="7B1421"/>
                </a:solidFill>
                <a:latin typeface="Montserrat SemiBold"/>
              </a:rPr>
              <a:t>Aa</a:t>
            </a:r>
          </a:p>
        </p:txBody>
      </p:sp>
      <p:sp>
        <p:nvSpPr>
          <p:cNvPr id="14" name="!!CardT0"/>
          <p:cNvSpPr txBox="1"/>
          <p:nvPr/>
        </p:nvSpPr>
        <p:spPr>
          <a:xfrm>
            <a:off x="1005840" y="3794760"/>
            <a:ext cx="2834640" cy="365760"/>
          </a:xfrm>
          <a:prstGeom prst="rect">
            <a:avLst/>
          </a:prstGeom>
          <a:noFill/>
        </p:spPr>
        <p:txBody>
          <a:bodyPr wrap="square" lIns="0" rIns="0" tIns="0" bIns="0" anchor="t">
            <a:noAutofit/>
          </a:bodyPr>
          <a:lstStyle/>
          <a:p>
            <a:pPr algn="l"/>
            <a:r>
              <a:rPr sz="1600">
                <a:solidFill>
                  <a:srgbClr val="000000"/>
                </a:solidFill>
                <a:latin typeface="Montserrat SemiBold"/>
              </a:rPr>
              <a:t>Montserrat</a:t>
            </a:r>
          </a:p>
        </p:txBody>
      </p:sp>
      <p:sp>
        <p:nvSpPr>
          <p:cNvPr id="15" name="!!CardD0"/>
          <p:cNvSpPr txBox="1"/>
          <p:nvPr/>
        </p:nvSpPr>
        <p:spPr>
          <a:xfrm>
            <a:off x="1005840" y="4206240"/>
            <a:ext cx="2834640" cy="365760"/>
          </a:xfrm>
          <a:prstGeom prst="rect">
            <a:avLst/>
          </a:prstGeom>
          <a:noFill/>
        </p:spPr>
        <p:txBody>
          <a:bodyPr wrap="square" lIns="0" rIns="0" tIns="0" bIns="0" anchor="t">
            <a:noAutofit/>
          </a:bodyPr>
          <a:lstStyle/>
          <a:p>
            <a:pPr algn="l"/>
            <a:r>
              <a:rPr sz="1300">
                <a:solidFill>
                  <a:srgbClr val="5A3A3E"/>
                </a:solidFill>
                <a:latin typeface="Montserrat Medium"/>
              </a:rPr>
              <a:t>Titres, sous-titres et textes</a:t>
            </a:r>
          </a:p>
        </p:txBody>
      </p:sp>
      <p:sp>
        <p:nvSpPr>
          <p:cNvPr id="16" name="!!Aa1"/>
          <p:cNvSpPr txBox="1"/>
          <p:nvPr/>
        </p:nvSpPr>
        <p:spPr>
          <a:xfrm>
            <a:off x="4617720" y="2194560"/>
            <a:ext cx="2743200" cy="1463040"/>
          </a:xfrm>
          <a:prstGeom prst="rect">
            <a:avLst/>
          </a:prstGeom>
          <a:noFill/>
        </p:spPr>
        <p:txBody>
          <a:bodyPr wrap="square" lIns="0" rIns="0" tIns="0" bIns="0" anchor="t">
            <a:noAutofit/>
          </a:bodyPr>
          <a:lstStyle/>
          <a:p>
            <a:pPr algn="l"/>
            <a:r>
              <a:rPr sz="7200">
                <a:solidFill>
                  <a:srgbClr val="7B1421"/>
                </a:solidFill>
                <a:latin typeface="Cream Heavy"/>
              </a:rPr>
              <a:t>Aa</a:t>
            </a:r>
          </a:p>
        </p:txBody>
      </p:sp>
      <p:sp>
        <p:nvSpPr>
          <p:cNvPr id="17" name="!!CardT1"/>
          <p:cNvSpPr txBox="1"/>
          <p:nvPr/>
        </p:nvSpPr>
        <p:spPr>
          <a:xfrm>
            <a:off x="4617720" y="3794760"/>
            <a:ext cx="2834640" cy="365760"/>
          </a:xfrm>
          <a:prstGeom prst="rect">
            <a:avLst/>
          </a:prstGeom>
          <a:noFill/>
        </p:spPr>
        <p:txBody>
          <a:bodyPr wrap="square" lIns="0" rIns="0" tIns="0" bIns="0" anchor="t">
            <a:noAutofit/>
          </a:bodyPr>
          <a:lstStyle/>
          <a:p>
            <a:pPr algn="l"/>
            <a:r>
              <a:rPr sz="1600">
                <a:solidFill>
                  <a:srgbClr val="000000"/>
                </a:solidFill>
                <a:latin typeface="Montserrat SemiBold"/>
              </a:rPr>
              <a:t>Cream Heavy</a:t>
            </a:r>
          </a:p>
        </p:txBody>
      </p:sp>
      <p:sp>
        <p:nvSpPr>
          <p:cNvPr id="18" name="!!CardD1"/>
          <p:cNvSpPr txBox="1"/>
          <p:nvPr/>
        </p:nvSpPr>
        <p:spPr>
          <a:xfrm>
            <a:off x="4617720" y="4206240"/>
            <a:ext cx="2834640" cy="365760"/>
          </a:xfrm>
          <a:prstGeom prst="rect">
            <a:avLst/>
          </a:prstGeom>
          <a:noFill/>
        </p:spPr>
        <p:txBody>
          <a:bodyPr wrap="square" lIns="0" rIns="0" tIns="0" bIns="0" anchor="t">
            <a:noAutofit/>
          </a:bodyPr>
          <a:lstStyle/>
          <a:p>
            <a:pPr algn="l"/>
            <a:r>
              <a:rPr sz="1300">
                <a:solidFill>
                  <a:srgbClr val="5A3A3E"/>
                </a:solidFill>
                <a:latin typeface="Montserrat Medium"/>
              </a:rPr>
              <a:t>Accroches et titres forts</a:t>
            </a:r>
          </a:p>
        </p:txBody>
      </p:sp>
      <p:sp>
        <p:nvSpPr>
          <p:cNvPr id="19" name="!!CardT2"/>
          <p:cNvSpPr txBox="1"/>
          <p:nvPr/>
        </p:nvSpPr>
        <p:spPr>
          <a:xfrm>
            <a:off x="8229600" y="3794760"/>
            <a:ext cx="2834640" cy="365760"/>
          </a:xfrm>
          <a:prstGeom prst="rect">
            <a:avLst/>
          </a:prstGeom>
          <a:noFill/>
        </p:spPr>
        <p:txBody>
          <a:bodyPr wrap="square" lIns="0" rIns="0" tIns="0" bIns="0" anchor="t">
            <a:noAutofit/>
          </a:bodyPr>
          <a:lstStyle/>
          <a:p>
            <a:pPr algn="l"/>
            <a:r>
              <a:rPr sz="1600">
                <a:solidFill>
                  <a:srgbClr val="000000"/>
                </a:solidFill>
                <a:latin typeface="Montserrat SemiBold"/>
              </a:rPr>
              <a:t>RadioTime Tooled</a:t>
            </a:r>
          </a:p>
        </p:txBody>
      </p:sp>
      <p:sp>
        <p:nvSpPr>
          <p:cNvPr id="20" name="!!CardD2"/>
          <p:cNvSpPr txBox="1"/>
          <p:nvPr/>
        </p:nvSpPr>
        <p:spPr>
          <a:xfrm>
            <a:off x="8229600" y="4206240"/>
            <a:ext cx="2834640" cy="365760"/>
          </a:xfrm>
          <a:prstGeom prst="rect">
            <a:avLst/>
          </a:prstGeom>
          <a:noFill/>
        </p:spPr>
        <p:txBody>
          <a:bodyPr wrap="square" lIns="0" rIns="0" tIns="0" bIns="0" anchor="t">
            <a:noAutofit/>
          </a:bodyPr>
          <a:lstStyle/>
          <a:p>
            <a:pPr algn="l"/>
            <a:r>
              <a:rPr sz="1300">
                <a:solidFill>
                  <a:srgbClr val="5A3A3E"/>
                </a:solidFill>
                <a:latin typeface="Montserrat Medium"/>
              </a:rPr>
              <a:t>Réservée au logotype</a:t>
            </a:r>
          </a:p>
        </p:txBody>
      </p:sp>
      <p:sp>
        <p:nvSpPr>
          <p:cNvPr id="21"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A40C21"/>
                </a:solidFill>
                <a:latin typeface="Montserrat SemiBold"/>
              </a:rPr>
              <a:t>03 · Charte graphique</a:t>
            </a:r>
          </a:p>
        </p:txBody>
      </p:sp>
      <p:sp>
        <p:nvSpPr>
          <p:cNvPr id="22"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A40C21"/>
                </a:solidFill>
                <a:latin typeface="Montserrat SemiBold"/>
              </a:rPr>
              <a:t>24</a:t>
            </a:r>
          </a:p>
        </p:txBody>
      </p:sp>
      <p:pic>
        <p:nvPicPr>
          <p:cNvPr id="23" name="!!Logo" descr="Logo Marin'Or Ivoire"/>
          <p:cNvPicPr>
            <a:picLocks noChangeAspect="1"/>
          </p:cNvPicPr>
          <p:nvPr/>
        </p:nvPicPr>
        <p:blipFill>
          <a:blip r:embed="rId5"/>
          <a:stretch>
            <a:fillRect/>
          </a:stretch>
        </p:blipFill>
        <p:spPr>
          <a:xfrm>
            <a:off x="10546080" y="311488"/>
            <a:ext cx="960120" cy="50299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FF6EA"/>
          </a:solidFill>
          <a:ln>
            <a:noFill/>
          </a:ln>
        </p:spPr>
        <p:txBody>
          <a:bodyPr rtlCol="0" anchor="ctr"/>
          <a:lstStyle/>
          <a:p/>
        </p:txBody>
      </p:sp>
      <p:pic>
        <p:nvPicPr>
          <p:cNvPr id="3" name="!!PlateL" descr="motif_bord.png"/>
          <p:cNvPicPr>
            <a:picLocks noChangeAspect="1"/>
          </p:cNvPicPr>
          <p:nvPr/>
        </p:nvPicPr>
        <p:blipFill>
          <a:blip r:embed="rId2"/>
          <a:srcRect/>
          <a:stretch>
            <a:fillRect/>
          </a:stretch>
        </p:blipFill>
        <p:spPr>
          <a:xfrm>
            <a:off x="-4570000" y="-1535135"/>
            <a:ext cx="21336000" cy="12001500"/>
          </a:xfrm>
          <a:prstGeom prst="rect">
            <a:avLst/>
          </a:prstGeom>
        </p:spPr>
      </p:pic>
      <p:sp>
        <p:nvSpPr>
          <p:cNvPr id="4" name="!!Glow"/>
          <p:cNvSpPr/>
          <p:nvPr/>
        </p:nvSpPr>
        <p:spPr>
          <a:xfrm>
            <a:off x="309053" y="-990782"/>
            <a:ext cx="9601200" cy="9601200"/>
          </a:xfrm>
          <a:prstGeom prst="ellipse">
            <a:avLst/>
          </a:prstGeom>
          <a:gradFill rotWithShape="1">
            <a:gsLst>
              <a:gs pos="0">
                <a:srgbClr val="FFFFFF">
                  <a:alpha val="85000"/>
                </a:srgbClr>
              </a:gs>
              <a:gs pos="100000">
                <a:srgbClr val="FFFFFF">
                  <a:alpha val="0"/>
                </a:srgbClr>
              </a:gs>
            </a:gsLst>
            <a:path path="circle">
              <a:fillToRect l="50000" t="50000" r="50000" b="50000"/>
            </a:path>
          </a:gradFill>
          <a:ln>
            <a:noFill/>
          </a:ln>
        </p:spPr>
        <p:txBody>
          <a:bodyPr rtlCol="0" anchor="ctr"/>
          <a:lstStyle/>
          <a:p/>
        </p:txBody>
      </p:sp>
      <p:sp>
        <p:nvSpPr>
          <p:cNvPr id="5" name="!!Glow2"/>
          <p:cNvSpPr/>
          <p:nvPr/>
        </p:nvSpPr>
        <p:spPr>
          <a:xfrm>
            <a:off x="3721926" y="-312237"/>
            <a:ext cx="6720840" cy="6720840"/>
          </a:xfrm>
          <a:prstGeom prst="ellipse">
            <a:avLst/>
          </a:prstGeom>
          <a:gradFill rotWithShape="1">
            <a:gsLst>
              <a:gs pos="0">
                <a:srgbClr val="F9A825">
                  <a:alpha val="14000"/>
                </a:srgbClr>
              </a:gs>
              <a:gs pos="100000">
                <a:srgbClr val="F9A825">
                  <a:alpha val="0"/>
                </a:srgbClr>
              </a:gs>
            </a:gsLst>
            <a:path path="circle">
              <a:fillToRect l="50000" t="50000" r="50000" b="50000"/>
            </a:path>
          </a:gradFill>
          <a:ln>
            <a:noFill/>
          </a:ln>
        </p:spPr>
        <p:txBody>
          <a:bodyPr rtlCol="0" anchor="ctr"/>
          <a:lstStyle/>
          <a:p/>
        </p:txBody>
      </p:sp>
      <p:sp>
        <p:nvSpPr>
          <p:cNvPr id="6" name="!!Ring"/>
          <p:cNvSpPr/>
          <p:nvPr/>
        </p:nvSpPr>
        <p:spPr>
          <a:xfrm>
            <a:off x="9832418" y="-3871723"/>
            <a:ext cx="7132320" cy="7132320"/>
          </a:xfrm>
          <a:prstGeom prst="ellipse">
            <a:avLst/>
          </a:prstGeom>
          <a:noFill/>
          <a:ln w="12700">
            <a:solidFill>
              <a:srgbClr val="F9A825">
                <a:alpha val="85000"/>
              </a:srgbClr>
            </a:solidFill>
          </a:ln>
        </p:spPr>
        <p:txBody>
          <a:bodyPr rtlCol="0" anchor="ctr"/>
          <a:lstStyle/>
          <a:p/>
        </p:txBody>
      </p:sp>
      <p:pic>
        <p:nvPicPr>
          <p:cNvPr id="7" name="!!Grain" descr="grain.png"/>
          <p:cNvPicPr>
            <a:picLocks noChangeAspect="1"/>
          </p:cNvPicPr>
          <p:nvPr/>
        </p:nvPicPr>
        <p:blipFill>
          <a:blip r:embed="rId3"/>
          <a:srcRect/>
          <a:stretch>
            <a:fillRect/>
          </a:stretch>
        </p:blipFill>
        <p:spPr>
          <a:xfrm>
            <a:off x="0" y="0"/>
            <a:ext cx="12192000" cy="6858000"/>
          </a:xfrm>
          <a:prstGeom prst="rect">
            <a:avLst/>
          </a:prstGeom>
        </p:spPr>
      </p:pic>
      <p:sp>
        <p:nvSpPr>
          <p:cNvPr id="8" name="!!Sw0"/>
          <p:cNvSpPr/>
          <p:nvPr/>
        </p:nvSpPr>
        <p:spPr>
          <a:xfrm>
            <a:off x="685800" y="1965960"/>
            <a:ext cx="1965960" cy="1143000"/>
          </a:xfrm>
          <a:prstGeom prst="roundRect">
            <a:avLst>
              <a:gd name="adj" fmla="val 10000"/>
            </a:avLst>
          </a:prstGeom>
          <a:solidFill>
            <a:srgbClr val="7B1421"/>
          </a:solidFill>
          <a:ln>
            <a:noFill/>
          </a:ln>
          <a:effectLst>
            <a:outerShdw blurRad="177800" dist="38100" dir="5400000" algn="t" rotWithShape="0">
              <a:srgbClr val="1A0507">
                <a:alpha val="16000"/>
              </a:srgbClr>
            </a:outerShdw>
          </a:effectLst>
        </p:spPr>
        <p:txBody>
          <a:bodyPr rtlCol="0" anchor="ctr"/>
          <a:lstStyle/>
          <a:p/>
        </p:txBody>
      </p:sp>
      <p:sp>
        <p:nvSpPr>
          <p:cNvPr id="9" name="!!Sw1"/>
          <p:cNvSpPr/>
          <p:nvPr/>
        </p:nvSpPr>
        <p:spPr>
          <a:xfrm>
            <a:off x="2880360" y="1965960"/>
            <a:ext cx="1965960" cy="1143000"/>
          </a:xfrm>
          <a:prstGeom prst="roundRect">
            <a:avLst>
              <a:gd name="adj" fmla="val 10000"/>
            </a:avLst>
          </a:prstGeom>
          <a:solidFill>
            <a:srgbClr val="A40C21"/>
          </a:solidFill>
          <a:ln>
            <a:noFill/>
          </a:ln>
          <a:effectLst>
            <a:outerShdw blurRad="177800" dist="38100" dir="5400000" algn="t" rotWithShape="0">
              <a:srgbClr val="1A0507">
                <a:alpha val="16000"/>
              </a:srgbClr>
            </a:outerShdw>
          </a:effectLst>
        </p:spPr>
        <p:txBody>
          <a:bodyPr rtlCol="0" anchor="ctr"/>
          <a:lstStyle/>
          <a:p/>
        </p:txBody>
      </p:sp>
      <p:sp>
        <p:nvSpPr>
          <p:cNvPr id="10" name="!!Sw2"/>
          <p:cNvSpPr/>
          <p:nvPr/>
        </p:nvSpPr>
        <p:spPr>
          <a:xfrm>
            <a:off x="5074920" y="1965960"/>
            <a:ext cx="1965960" cy="1143000"/>
          </a:xfrm>
          <a:prstGeom prst="roundRect">
            <a:avLst>
              <a:gd name="adj" fmla="val 10000"/>
            </a:avLst>
          </a:prstGeom>
          <a:solidFill>
            <a:srgbClr val="F9A825"/>
          </a:solidFill>
          <a:ln>
            <a:noFill/>
          </a:ln>
          <a:effectLst>
            <a:outerShdw blurRad="177800" dist="38100" dir="5400000" algn="t" rotWithShape="0">
              <a:srgbClr val="1A0507">
                <a:alpha val="16000"/>
              </a:srgbClr>
            </a:outerShdw>
          </a:effectLst>
        </p:spPr>
        <p:txBody>
          <a:bodyPr rtlCol="0" anchor="ctr"/>
          <a:lstStyle/>
          <a:p/>
        </p:txBody>
      </p:sp>
      <p:sp>
        <p:nvSpPr>
          <p:cNvPr id="11" name="!!Sw3"/>
          <p:cNvSpPr/>
          <p:nvPr/>
        </p:nvSpPr>
        <p:spPr>
          <a:xfrm>
            <a:off x="7269480" y="1965960"/>
            <a:ext cx="1965960" cy="1143000"/>
          </a:xfrm>
          <a:prstGeom prst="roundRect">
            <a:avLst>
              <a:gd name="adj" fmla="val 10000"/>
            </a:avLst>
          </a:prstGeom>
          <a:solidFill>
            <a:srgbClr val="FBD021"/>
          </a:solidFill>
          <a:ln>
            <a:noFill/>
          </a:ln>
          <a:effectLst>
            <a:outerShdw blurRad="177800" dist="38100" dir="5400000" algn="t" rotWithShape="0">
              <a:srgbClr val="1A0507">
                <a:alpha val="16000"/>
              </a:srgbClr>
            </a:outerShdw>
          </a:effectLst>
        </p:spPr>
        <p:txBody>
          <a:bodyPr rtlCol="0" anchor="ctr"/>
          <a:lstStyle/>
          <a:p/>
        </p:txBody>
      </p:sp>
      <p:sp>
        <p:nvSpPr>
          <p:cNvPr id="12" name="!!Sw4"/>
          <p:cNvSpPr/>
          <p:nvPr/>
        </p:nvSpPr>
        <p:spPr>
          <a:xfrm>
            <a:off x="9464040" y="1965960"/>
            <a:ext cx="1965960" cy="1143000"/>
          </a:xfrm>
          <a:prstGeom prst="roundRect">
            <a:avLst>
              <a:gd name="adj" fmla="val 10000"/>
            </a:avLst>
          </a:prstGeom>
          <a:solidFill>
            <a:srgbClr val="2A5519"/>
          </a:solidFill>
          <a:ln>
            <a:noFill/>
          </a:ln>
          <a:effectLst>
            <a:outerShdw blurRad="177800" dist="38100" dir="5400000" algn="t" rotWithShape="0">
              <a:srgbClr val="1A0507">
                <a:alpha val="16000"/>
              </a:srgbClr>
            </a:outerShdw>
          </a:effectLst>
        </p:spPr>
        <p:txBody>
          <a:bodyPr rtlCol="0" anchor="ctr"/>
          <a:lstStyle/>
          <a:p/>
        </p:txBody>
      </p:sp>
      <p:sp>
        <p:nvSpPr>
          <p:cNvPr id="13" name="!!Sw5"/>
          <p:cNvSpPr/>
          <p:nvPr/>
        </p:nvSpPr>
        <p:spPr>
          <a:xfrm>
            <a:off x="685800" y="3931920"/>
            <a:ext cx="1965960" cy="1143000"/>
          </a:xfrm>
          <a:prstGeom prst="roundRect">
            <a:avLst>
              <a:gd name="adj" fmla="val 10000"/>
            </a:avLst>
          </a:prstGeom>
          <a:solidFill>
            <a:srgbClr val="376F23"/>
          </a:solidFill>
          <a:ln>
            <a:noFill/>
          </a:ln>
          <a:effectLst>
            <a:outerShdw blurRad="177800" dist="38100" dir="5400000" algn="t" rotWithShape="0">
              <a:srgbClr val="1A0507">
                <a:alpha val="16000"/>
              </a:srgbClr>
            </a:outerShdw>
          </a:effectLst>
        </p:spPr>
        <p:txBody>
          <a:bodyPr rtlCol="0" anchor="ctr"/>
          <a:lstStyle/>
          <a:p/>
        </p:txBody>
      </p:sp>
      <p:sp>
        <p:nvSpPr>
          <p:cNvPr id="14" name="!!Sw6"/>
          <p:cNvSpPr/>
          <p:nvPr/>
        </p:nvSpPr>
        <p:spPr>
          <a:xfrm>
            <a:off x="2880360" y="3931920"/>
            <a:ext cx="1965960" cy="1143000"/>
          </a:xfrm>
          <a:prstGeom prst="roundRect">
            <a:avLst>
              <a:gd name="adj" fmla="val 10000"/>
            </a:avLst>
          </a:prstGeom>
          <a:solidFill>
            <a:srgbClr val="FFECD1"/>
          </a:solidFill>
          <a:ln w="9525">
            <a:solidFill>
              <a:srgbClr val="D9C2B0"/>
            </a:solidFill>
          </a:ln>
          <a:effectLst>
            <a:outerShdw blurRad="177800" dist="38100" dir="5400000" algn="t" rotWithShape="0">
              <a:srgbClr val="1A0507">
                <a:alpha val="16000"/>
              </a:srgbClr>
            </a:outerShdw>
          </a:effectLst>
        </p:spPr>
        <p:txBody>
          <a:bodyPr rtlCol="0" anchor="ctr"/>
          <a:lstStyle/>
          <a:p/>
        </p:txBody>
      </p:sp>
      <p:sp>
        <p:nvSpPr>
          <p:cNvPr id="15" name="!!Sw7"/>
          <p:cNvSpPr/>
          <p:nvPr/>
        </p:nvSpPr>
        <p:spPr>
          <a:xfrm>
            <a:off x="5074920" y="3931920"/>
            <a:ext cx="1965960" cy="1143000"/>
          </a:xfrm>
          <a:prstGeom prst="roundRect">
            <a:avLst>
              <a:gd name="adj" fmla="val 10000"/>
            </a:avLst>
          </a:prstGeom>
          <a:solidFill>
            <a:srgbClr val="F6E8EA"/>
          </a:solidFill>
          <a:ln w="9525">
            <a:solidFill>
              <a:srgbClr val="D9C2B0"/>
            </a:solidFill>
          </a:ln>
          <a:effectLst>
            <a:outerShdw blurRad="177800" dist="38100" dir="5400000" algn="t" rotWithShape="0">
              <a:srgbClr val="1A0507">
                <a:alpha val="16000"/>
              </a:srgbClr>
            </a:outerShdw>
          </a:effectLst>
        </p:spPr>
        <p:txBody>
          <a:bodyPr rtlCol="0" anchor="ctr"/>
          <a:lstStyle/>
          <a:p/>
        </p:txBody>
      </p:sp>
      <p:sp>
        <p:nvSpPr>
          <p:cNvPr id="16" name="!!Sw8"/>
          <p:cNvSpPr/>
          <p:nvPr/>
        </p:nvSpPr>
        <p:spPr>
          <a:xfrm>
            <a:off x="7269480" y="3931920"/>
            <a:ext cx="1965960" cy="1143000"/>
          </a:xfrm>
          <a:prstGeom prst="roundRect">
            <a:avLst>
              <a:gd name="adj" fmla="val 10000"/>
            </a:avLst>
          </a:prstGeom>
          <a:solidFill>
            <a:srgbClr val="FFFFFF"/>
          </a:solidFill>
          <a:ln w="9525">
            <a:solidFill>
              <a:srgbClr val="D9C2B0"/>
            </a:solidFill>
          </a:ln>
          <a:effectLst>
            <a:outerShdw blurRad="177800" dist="38100" dir="5400000" algn="t" rotWithShape="0">
              <a:srgbClr val="1A0507">
                <a:alpha val="16000"/>
              </a:srgbClr>
            </a:outerShdw>
          </a:effectLst>
        </p:spPr>
        <p:txBody>
          <a:bodyPr rtlCol="0" anchor="ctr"/>
          <a:lstStyle/>
          <a:p/>
        </p:txBody>
      </p:sp>
      <p:sp>
        <p:nvSpPr>
          <p:cNvPr id="17" name="!!Sw9"/>
          <p:cNvSpPr/>
          <p:nvPr/>
        </p:nvSpPr>
        <p:spPr>
          <a:xfrm>
            <a:off x="9464040" y="3931920"/>
            <a:ext cx="1965960" cy="1143000"/>
          </a:xfrm>
          <a:prstGeom prst="roundRect">
            <a:avLst>
              <a:gd name="adj" fmla="val 10000"/>
            </a:avLst>
          </a:prstGeom>
          <a:solidFill>
            <a:srgbClr val="000000"/>
          </a:solidFill>
          <a:ln>
            <a:noFill/>
          </a:ln>
          <a:effectLst>
            <a:outerShdw blurRad="177800" dist="38100" dir="5400000" algn="t" rotWithShape="0">
              <a:srgbClr val="1A0507">
                <a:alpha val="16000"/>
              </a:srgbClr>
            </a:outerShdw>
          </a:effectLst>
        </p:spPr>
        <p:txBody>
          <a:bodyPr rtlCol="0" anchor="ctr"/>
          <a:lstStyle/>
          <a:p/>
        </p:txBody>
      </p:sp>
      <p:sp>
        <p:nvSpPr>
          <p:cNvPr id="18" name="!!Title"/>
          <p:cNvSpPr txBox="1"/>
          <p:nvPr/>
        </p:nvSpPr>
        <p:spPr>
          <a:xfrm>
            <a:off x="685800" y="914400"/>
            <a:ext cx="8229600" cy="731520"/>
          </a:xfrm>
          <a:prstGeom prst="rect">
            <a:avLst/>
          </a:prstGeom>
          <a:noFill/>
        </p:spPr>
        <p:txBody>
          <a:bodyPr wrap="square" lIns="0" rIns="0" tIns="0" bIns="0" anchor="t">
            <a:noAutofit/>
          </a:bodyPr>
          <a:lstStyle/>
          <a:p>
            <a:pPr algn="l">
              <a:lnSpc>
                <a:spcPct val="95000"/>
              </a:lnSpc>
            </a:pPr>
            <a:r>
              <a:rPr sz="4000">
                <a:solidFill>
                  <a:srgbClr val="7B1421"/>
                </a:solidFill>
                <a:latin typeface="Cream Heavy"/>
              </a:rPr>
              <a:t>Colorimétrie</a:t>
            </a:r>
          </a:p>
        </p:txBody>
      </p:sp>
      <p:sp>
        <p:nvSpPr>
          <p:cNvPr id="19" name="!!SwN0"/>
          <p:cNvSpPr txBox="1"/>
          <p:nvPr/>
        </p:nvSpPr>
        <p:spPr>
          <a:xfrm>
            <a:off x="685800" y="3200400"/>
            <a:ext cx="2011680" cy="274320"/>
          </a:xfrm>
          <a:prstGeom prst="rect">
            <a:avLst/>
          </a:prstGeom>
          <a:noFill/>
        </p:spPr>
        <p:txBody>
          <a:bodyPr wrap="square" lIns="0" rIns="0" tIns="0" bIns="0" anchor="t">
            <a:noAutofit/>
          </a:bodyPr>
          <a:lstStyle/>
          <a:p>
            <a:pPr algn="l"/>
            <a:r>
              <a:rPr sz="1250">
                <a:solidFill>
                  <a:srgbClr val="000000"/>
                </a:solidFill>
                <a:latin typeface="Montserrat SemiBold"/>
              </a:rPr>
              <a:t>Bordeaux Profond</a:t>
            </a:r>
          </a:p>
        </p:txBody>
      </p:sp>
      <p:sp>
        <p:nvSpPr>
          <p:cNvPr id="20" name="!!SwH0"/>
          <p:cNvSpPr txBox="1"/>
          <p:nvPr/>
        </p:nvSpPr>
        <p:spPr>
          <a:xfrm>
            <a:off x="685800" y="3465576"/>
            <a:ext cx="2011680" cy="256032"/>
          </a:xfrm>
          <a:prstGeom prst="rect">
            <a:avLst/>
          </a:prstGeom>
          <a:noFill/>
        </p:spPr>
        <p:txBody>
          <a:bodyPr wrap="square" lIns="0" rIns="0" tIns="0" bIns="0" anchor="t">
            <a:noAutofit/>
          </a:bodyPr>
          <a:lstStyle/>
          <a:p>
            <a:pPr algn="l"/>
            <a:r>
              <a:rPr sz="1100" spc="80">
                <a:solidFill>
                  <a:srgbClr val="5A3A3E"/>
                </a:solidFill>
                <a:latin typeface="Montserrat Medium"/>
              </a:rPr>
              <a:t>#7B1421</a:t>
            </a:r>
          </a:p>
        </p:txBody>
      </p:sp>
      <p:sp>
        <p:nvSpPr>
          <p:cNvPr id="21" name="!!SwN1"/>
          <p:cNvSpPr txBox="1"/>
          <p:nvPr/>
        </p:nvSpPr>
        <p:spPr>
          <a:xfrm>
            <a:off x="2880360" y="3200400"/>
            <a:ext cx="2011680" cy="274320"/>
          </a:xfrm>
          <a:prstGeom prst="rect">
            <a:avLst/>
          </a:prstGeom>
          <a:noFill/>
        </p:spPr>
        <p:txBody>
          <a:bodyPr wrap="square" lIns="0" rIns="0" tIns="0" bIns="0" anchor="t">
            <a:noAutofit/>
          </a:bodyPr>
          <a:lstStyle/>
          <a:p>
            <a:pPr algn="l"/>
            <a:r>
              <a:rPr sz="1250">
                <a:solidFill>
                  <a:srgbClr val="000000"/>
                </a:solidFill>
                <a:latin typeface="Montserrat SemiBold"/>
              </a:rPr>
              <a:t>Rouge Passion</a:t>
            </a:r>
          </a:p>
        </p:txBody>
      </p:sp>
      <p:sp>
        <p:nvSpPr>
          <p:cNvPr id="22" name="!!SwH1"/>
          <p:cNvSpPr txBox="1"/>
          <p:nvPr/>
        </p:nvSpPr>
        <p:spPr>
          <a:xfrm>
            <a:off x="2880360" y="3465576"/>
            <a:ext cx="2011680" cy="256032"/>
          </a:xfrm>
          <a:prstGeom prst="rect">
            <a:avLst/>
          </a:prstGeom>
          <a:noFill/>
        </p:spPr>
        <p:txBody>
          <a:bodyPr wrap="square" lIns="0" rIns="0" tIns="0" bIns="0" anchor="t">
            <a:noAutofit/>
          </a:bodyPr>
          <a:lstStyle/>
          <a:p>
            <a:pPr algn="l"/>
            <a:r>
              <a:rPr sz="1100" spc="80">
                <a:solidFill>
                  <a:srgbClr val="5A3A3E"/>
                </a:solidFill>
                <a:latin typeface="Montserrat Medium"/>
              </a:rPr>
              <a:t>#A40C21</a:t>
            </a:r>
          </a:p>
        </p:txBody>
      </p:sp>
      <p:sp>
        <p:nvSpPr>
          <p:cNvPr id="23" name="!!SwN2"/>
          <p:cNvSpPr txBox="1"/>
          <p:nvPr/>
        </p:nvSpPr>
        <p:spPr>
          <a:xfrm>
            <a:off x="5074920" y="3200400"/>
            <a:ext cx="2011680" cy="274320"/>
          </a:xfrm>
          <a:prstGeom prst="rect">
            <a:avLst/>
          </a:prstGeom>
          <a:noFill/>
        </p:spPr>
        <p:txBody>
          <a:bodyPr wrap="square" lIns="0" rIns="0" tIns="0" bIns="0" anchor="t">
            <a:noAutofit/>
          </a:bodyPr>
          <a:lstStyle/>
          <a:p>
            <a:pPr algn="l"/>
            <a:r>
              <a:rPr sz="1250">
                <a:solidFill>
                  <a:srgbClr val="000000"/>
                </a:solidFill>
                <a:latin typeface="Montserrat SemiBold"/>
              </a:rPr>
              <a:t>Or Épicé</a:t>
            </a:r>
          </a:p>
        </p:txBody>
      </p:sp>
      <p:sp>
        <p:nvSpPr>
          <p:cNvPr id="24" name="!!SwH2"/>
          <p:cNvSpPr txBox="1"/>
          <p:nvPr/>
        </p:nvSpPr>
        <p:spPr>
          <a:xfrm>
            <a:off x="5074920" y="3465576"/>
            <a:ext cx="2011680" cy="256032"/>
          </a:xfrm>
          <a:prstGeom prst="rect">
            <a:avLst/>
          </a:prstGeom>
          <a:noFill/>
        </p:spPr>
        <p:txBody>
          <a:bodyPr wrap="square" lIns="0" rIns="0" tIns="0" bIns="0" anchor="t">
            <a:noAutofit/>
          </a:bodyPr>
          <a:lstStyle/>
          <a:p>
            <a:pPr algn="l"/>
            <a:r>
              <a:rPr sz="1100" spc="80">
                <a:solidFill>
                  <a:srgbClr val="5A3A3E"/>
                </a:solidFill>
                <a:latin typeface="Montserrat Medium"/>
              </a:rPr>
              <a:t>#F9A825</a:t>
            </a:r>
          </a:p>
        </p:txBody>
      </p:sp>
      <p:sp>
        <p:nvSpPr>
          <p:cNvPr id="25" name="!!SwN3"/>
          <p:cNvSpPr txBox="1"/>
          <p:nvPr/>
        </p:nvSpPr>
        <p:spPr>
          <a:xfrm>
            <a:off x="7269480" y="3200400"/>
            <a:ext cx="2011680" cy="274320"/>
          </a:xfrm>
          <a:prstGeom prst="rect">
            <a:avLst/>
          </a:prstGeom>
          <a:noFill/>
        </p:spPr>
        <p:txBody>
          <a:bodyPr wrap="square" lIns="0" rIns="0" tIns="0" bIns="0" anchor="t">
            <a:noAutofit/>
          </a:bodyPr>
          <a:lstStyle/>
          <a:p>
            <a:pPr algn="l"/>
            <a:r>
              <a:rPr sz="1250">
                <a:solidFill>
                  <a:srgbClr val="000000"/>
                </a:solidFill>
                <a:latin typeface="Montserrat SemiBold"/>
              </a:rPr>
              <a:t>Jaune Soleil</a:t>
            </a:r>
          </a:p>
        </p:txBody>
      </p:sp>
      <p:sp>
        <p:nvSpPr>
          <p:cNvPr id="26" name="!!SwH3"/>
          <p:cNvSpPr txBox="1"/>
          <p:nvPr/>
        </p:nvSpPr>
        <p:spPr>
          <a:xfrm>
            <a:off x="7269480" y="3465576"/>
            <a:ext cx="2011680" cy="256032"/>
          </a:xfrm>
          <a:prstGeom prst="rect">
            <a:avLst/>
          </a:prstGeom>
          <a:noFill/>
        </p:spPr>
        <p:txBody>
          <a:bodyPr wrap="square" lIns="0" rIns="0" tIns="0" bIns="0" anchor="t">
            <a:noAutofit/>
          </a:bodyPr>
          <a:lstStyle/>
          <a:p>
            <a:pPr algn="l"/>
            <a:r>
              <a:rPr sz="1100" spc="80">
                <a:solidFill>
                  <a:srgbClr val="5A3A3E"/>
                </a:solidFill>
                <a:latin typeface="Montserrat Medium"/>
              </a:rPr>
              <a:t>#FBD021</a:t>
            </a:r>
          </a:p>
        </p:txBody>
      </p:sp>
      <p:sp>
        <p:nvSpPr>
          <p:cNvPr id="27" name="!!SwN4"/>
          <p:cNvSpPr txBox="1"/>
          <p:nvPr/>
        </p:nvSpPr>
        <p:spPr>
          <a:xfrm>
            <a:off x="9464040" y="3200400"/>
            <a:ext cx="2011680" cy="274320"/>
          </a:xfrm>
          <a:prstGeom prst="rect">
            <a:avLst/>
          </a:prstGeom>
          <a:noFill/>
        </p:spPr>
        <p:txBody>
          <a:bodyPr wrap="square" lIns="0" rIns="0" tIns="0" bIns="0" anchor="t">
            <a:noAutofit/>
          </a:bodyPr>
          <a:lstStyle/>
          <a:p>
            <a:pPr algn="l"/>
            <a:r>
              <a:rPr sz="1250">
                <a:solidFill>
                  <a:srgbClr val="000000"/>
                </a:solidFill>
                <a:latin typeface="Montserrat SemiBold"/>
              </a:rPr>
              <a:t>Vert Nature</a:t>
            </a:r>
          </a:p>
        </p:txBody>
      </p:sp>
      <p:sp>
        <p:nvSpPr>
          <p:cNvPr id="28" name="!!SwH4"/>
          <p:cNvSpPr txBox="1"/>
          <p:nvPr/>
        </p:nvSpPr>
        <p:spPr>
          <a:xfrm>
            <a:off x="9464040" y="3465576"/>
            <a:ext cx="2011680" cy="256032"/>
          </a:xfrm>
          <a:prstGeom prst="rect">
            <a:avLst/>
          </a:prstGeom>
          <a:noFill/>
        </p:spPr>
        <p:txBody>
          <a:bodyPr wrap="square" lIns="0" rIns="0" tIns="0" bIns="0" anchor="t">
            <a:noAutofit/>
          </a:bodyPr>
          <a:lstStyle/>
          <a:p>
            <a:pPr algn="l"/>
            <a:r>
              <a:rPr sz="1100" spc="80">
                <a:solidFill>
                  <a:srgbClr val="5A3A3E"/>
                </a:solidFill>
                <a:latin typeface="Montserrat Medium"/>
              </a:rPr>
              <a:t>#2A5519</a:t>
            </a:r>
          </a:p>
        </p:txBody>
      </p:sp>
      <p:sp>
        <p:nvSpPr>
          <p:cNvPr id="29" name="!!SwN5"/>
          <p:cNvSpPr txBox="1"/>
          <p:nvPr/>
        </p:nvSpPr>
        <p:spPr>
          <a:xfrm>
            <a:off x="685800" y="5166360"/>
            <a:ext cx="2011680" cy="274320"/>
          </a:xfrm>
          <a:prstGeom prst="rect">
            <a:avLst/>
          </a:prstGeom>
          <a:noFill/>
        </p:spPr>
        <p:txBody>
          <a:bodyPr wrap="square" lIns="0" rIns="0" tIns="0" bIns="0" anchor="t">
            <a:noAutofit/>
          </a:bodyPr>
          <a:lstStyle/>
          <a:p>
            <a:pPr algn="l"/>
            <a:r>
              <a:rPr sz="1250">
                <a:solidFill>
                  <a:srgbClr val="000000"/>
                </a:solidFill>
                <a:latin typeface="Montserrat SemiBold"/>
              </a:rPr>
              <a:t>Vert Vif</a:t>
            </a:r>
          </a:p>
        </p:txBody>
      </p:sp>
      <p:sp>
        <p:nvSpPr>
          <p:cNvPr id="30" name="!!SwH5"/>
          <p:cNvSpPr txBox="1"/>
          <p:nvPr/>
        </p:nvSpPr>
        <p:spPr>
          <a:xfrm>
            <a:off x="685800" y="5431536"/>
            <a:ext cx="2011680" cy="256032"/>
          </a:xfrm>
          <a:prstGeom prst="rect">
            <a:avLst/>
          </a:prstGeom>
          <a:noFill/>
        </p:spPr>
        <p:txBody>
          <a:bodyPr wrap="square" lIns="0" rIns="0" tIns="0" bIns="0" anchor="t">
            <a:noAutofit/>
          </a:bodyPr>
          <a:lstStyle/>
          <a:p>
            <a:pPr algn="l"/>
            <a:r>
              <a:rPr sz="1100" spc="80">
                <a:solidFill>
                  <a:srgbClr val="5A3A3E"/>
                </a:solidFill>
                <a:latin typeface="Montserrat Medium"/>
              </a:rPr>
              <a:t>#376F23</a:t>
            </a:r>
          </a:p>
        </p:txBody>
      </p:sp>
      <p:sp>
        <p:nvSpPr>
          <p:cNvPr id="31" name="!!SwN6"/>
          <p:cNvSpPr txBox="1"/>
          <p:nvPr/>
        </p:nvSpPr>
        <p:spPr>
          <a:xfrm>
            <a:off x="2880360" y="5166360"/>
            <a:ext cx="2011680" cy="274320"/>
          </a:xfrm>
          <a:prstGeom prst="rect">
            <a:avLst/>
          </a:prstGeom>
          <a:noFill/>
        </p:spPr>
        <p:txBody>
          <a:bodyPr wrap="square" lIns="0" rIns="0" tIns="0" bIns="0" anchor="t">
            <a:noAutofit/>
          </a:bodyPr>
          <a:lstStyle/>
          <a:p>
            <a:pPr algn="l"/>
            <a:r>
              <a:rPr sz="1250">
                <a:solidFill>
                  <a:srgbClr val="000000"/>
                </a:solidFill>
                <a:latin typeface="Montserrat SemiBold"/>
              </a:rPr>
              <a:t>Crème Douce</a:t>
            </a:r>
          </a:p>
        </p:txBody>
      </p:sp>
      <p:sp>
        <p:nvSpPr>
          <p:cNvPr id="32" name="!!SwH6"/>
          <p:cNvSpPr txBox="1"/>
          <p:nvPr/>
        </p:nvSpPr>
        <p:spPr>
          <a:xfrm>
            <a:off x="2880360" y="5431536"/>
            <a:ext cx="2011680" cy="256032"/>
          </a:xfrm>
          <a:prstGeom prst="rect">
            <a:avLst/>
          </a:prstGeom>
          <a:noFill/>
        </p:spPr>
        <p:txBody>
          <a:bodyPr wrap="square" lIns="0" rIns="0" tIns="0" bIns="0" anchor="t">
            <a:noAutofit/>
          </a:bodyPr>
          <a:lstStyle/>
          <a:p>
            <a:pPr algn="l"/>
            <a:r>
              <a:rPr sz="1100" spc="80">
                <a:solidFill>
                  <a:srgbClr val="5A3A3E"/>
                </a:solidFill>
                <a:latin typeface="Montserrat Medium"/>
              </a:rPr>
              <a:t>#FFECD1</a:t>
            </a:r>
          </a:p>
        </p:txBody>
      </p:sp>
      <p:sp>
        <p:nvSpPr>
          <p:cNvPr id="33" name="!!SwN7"/>
          <p:cNvSpPr txBox="1"/>
          <p:nvPr/>
        </p:nvSpPr>
        <p:spPr>
          <a:xfrm>
            <a:off x="5074920" y="5166360"/>
            <a:ext cx="2011680" cy="274320"/>
          </a:xfrm>
          <a:prstGeom prst="rect">
            <a:avLst/>
          </a:prstGeom>
          <a:noFill/>
        </p:spPr>
        <p:txBody>
          <a:bodyPr wrap="square" lIns="0" rIns="0" tIns="0" bIns="0" anchor="t">
            <a:noAutofit/>
          </a:bodyPr>
          <a:lstStyle/>
          <a:p>
            <a:pPr algn="l"/>
            <a:r>
              <a:rPr sz="1250">
                <a:solidFill>
                  <a:srgbClr val="000000"/>
                </a:solidFill>
                <a:latin typeface="Montserrat SemiBold"/>
              </a:rPr>
              <a:t>Rose Poudre</a:t>
            </a:r>
          </a:p>
        </p:txBody>
      </p:sp>
      <p:sp>
        <p:nvSpPr>
          <p:cNvPr id="34" name="!!SwH7"/>
          <p:cNvSpPr txBox="1"/>
          <p:nvPr/>
        </p:nvSpPr>
        <p:spPr>
          <a:xfrm>
            <a:off x="5074920" y="5431536"/>
            <a:ext cx="2011680" cy="256032"/>
          </a:xfrm>
          <a:prstGeom prst="rect">
            <a:avLst/>
          </a:prstGeom>
          <a:noFill/>
        </p:spPr>
        <p:txBody>
          <a:bodyPr wrap="square" lIns="0" rIns="0" tIns="0" bIns="0" anchor="t">
            <a:noAutofit/>
          </a:bodyPr>
          <a:lstStyle/>
          <a:p>
            <a:pPr algn="l"/>
            <a:r>
              <a:rPr sz="1100" spc="80">
                <a:solidFill>
                  <a:srgbClr val="5A3A3E"/>
                </a:solidFill>
                <a:latin typeface="Montserrat Medium"/>
              </a:rPr>
              <a:t>#F6E8EA</a:t>
            </a:r>
          </a:p>
        </p:txBody>
      </p:sp>
      <p:sp>
        <p:nvSpPr>
          <p:cNvPr id="35" name="!!SwN8"/>
          <p:cNvSpPr txBox="1"/>
          <p:nvPr/>
        </p:nvSpPr>
        <p:spPr>
          <a:xfrm>
            <a:off x="7269480" y="5166360"/>
            <a:ext cx="2011680" cy="274320"/>
          </a:xfrm>
          <a:prstGeom prst="rect">
            <a:avLst/>
          </a:prstGeom>
          <a:noFill/>
        </p:spPr>
        <p:txBody>
          <a:bodyPr wrap="square" lIns="0" rIns="0" tIns="0" bIns="0" anchor="t">
            <a:noAutofit/>
          </a:bodyPr>
          <a:lstStyle/>
          <a:p>
            <a:pPr algn="l"/>
            <a:r>
              <a:rPr sz="1250">
                <a:solidFill>
                  <a:srgbClr val="000000"/>
                </a:solidFill>
                <a:latin typeface="Montserrat SemiBold"/>
              </a:rPr>
              <a:t>Blanc Pureté</a:t>
            </a:r>
          </a:p>
        </p:txBody>
      </p:sp>
      <p:sp>
        <p:nvSpPr>
          <p:cNvPr id="36" name="!!SwH8"/>
          <p:cNvSpPr txBox="1"/>
          <p:nvPr/>
        </p:nvSpPr>
        <p:spPr>
          <a:xfrm>
            <a:off x="7269480" y="5431536"/>
            <a:ext cx="2011680" cy="256032"/>
          </a:xfrm>
          <a:prstGeom prst="rect">
            <a:avLst/>
          </a:prstGeom>
          <a:noFill/>
        </p:spPr>
        <p:txBody>
          <a:bodyPr wrap="square" lIns="0" rIns="0" tIns="0" bIns="0" anchor="t">
            <a:noAutofit/>
          </a:bodyPr>
          <a:lstStyle/>
          <a:p>
            <a:pPr algn="l"/>
            <a:r>
              <a:rPr sz="1100" spc="80">
                <a:solidFill>
                  <a:srgbClr val="5A3A3E"/>
                </a:solidFill>
                <a:latin typeface="Montserrat Medium"/>
              </a:rPr>
              <a:t>#FFFFFF</a:t>
            </a:r>
          </a:p>
        </p:txBody>
      </p:sp>
      <p:sp>
        <p:nvSpPr>
          <p:cNvPr id="37" name="!!SwN9"/>
          <p:cNvSpPr txBox="1"/>
          <p:nvPr/>
        </p:nvSpPr>
        <p:spPr>
          <a:xfrm>
            <a:off x="9464040" y="5166360"/>
            <a:ext cx="2011680" cy="274320"/>
          </a:xfrm>
          <a:prstGeom prst="rect">
            <a:avLst/>
          </a:prstGeom>
          <a:noFill/>
        </p:spPr>
        <p:txBody>
          <a:bodyPr wrap="square" lIns="0" rIns="0" tIns="0" bIns="0" anchor="t">
            <a:noAutofit/>
          </a:bodyPr>
          <a:lstStyle/>
          <a:p>
            <a:pPr algn="l"/>
            <a:r>
              <a:rPr sz="1250">
                <a:solidFill>
                  <a:srgbClr val="000000"/>
                </a:solidFill>
                <a:latin typeface="Montserrat SemiBold"/>
              </a:rPr>
              <a:t>Noir Intense</a:t>
            </a:r>
          </a:p>
        </p:txBody>
      </p:sp>
      <p:sp>
        <p:nvSpPr>
          <p:cNvPr id="38" name="!!SwH9"/>
          <p:cNvSpPr txBox="1"/>
          <p:nvPr/>
        </p:nvSpPr>
        <p:spPr>
          <a:xfrm>
            <a:off x="9464040" y="5431536"/>
            <a:ext cx="2011680" cy="256032"/>
          </a:xfrm>
          <a:prstGeom prst="rect">
            <a:avLst/>
          </a:prstGeom>
          <a:noFill/>
        </p:spPr>
        <p:txBody>
          <a:bodyPr wrap="square" lIns="0" rIns="0" tIns="0" bIns="0" anchor="t">
            <a:noAutofit/>
          </a:bodyPr>
          <a:lstStyle/>
          <a:p>
            <a:pPr algn="l"/>
            <a:r>
              <a:rPr sz="1100" spc="80">
                <a:solidFill>
                  <a:srgbClr val="5A3A3E"/>
                </a:solidFill>
                <a:latin typeface="Montserrat Medium"/>
              </a:rPr>
              <a:t>#000000</a:t>
            </a:r>
          </a:p>
        </p:txBody>
      </p:sp>
      <p:sp>
        <p:nvSpPr>
          <p:cNvPr id="39"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A40C21"/>
                </a:solidFill>
                <a:latin typeface="Montserrat SemiBold"/>
              </a:rPr>
              <a:t>03 · Charte graphique</a:t>
            </a:r>
          </a:p>
        </p:txBody>
      </p:sp>
      <p:sp>
        <p:nvSpPr>
          <p:cNvPr id="40"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A40C21"/>
                </a:solidFill>
                <a:latin typeface="Montserrat SemiBold"/>
              </a:rPr>
              <a:t>25</a:t>
            </a:r>
          </a:p>
        </p:txBody>
      </p:sp>
      <p:pic>
        <p:nvPicPr>
          <p:cNvPr id="41" name="!!Logo" descr="Logo Marin'Or Ivoire"/>
          <p:cNvPicPr>
            <a:picLocks noChangeAspect="1"/>
          </p:cNvPicPr>
          <p:nvPr/>
        </p:nvPicPr>
        <p:blipFill>
          <a:blip r:embed="rId4"/>
          <a:stretch>
            <a:fillRect/>
          </a:stretch>
        </p:blipFill>
        <p:spPr>
          <a:xfrm>
            <a:off x="10546080" y="311488"/>
            <a:ext cx="960120" cy="50299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FF6EA"/>
          </a:solidFill>
          <a:ln>
            <a:noFill/>
          </a:ln>
        </p:spPr>
        <p:txBody>
          <a:bodyPr rtlCol="0" anchor="ctr"/>
          <a:lstStyle/>
          <a:p/>
        </p:txBody>
      </p:sp>
      <p:pic>
        <p:nvPicPr>
          <p:cNvPr id="3" name="!!PlateL" descr="motif_bord.png"/>
          <p:cNvPicPr>
            <a:picLocks noChangeAspect="1"/>
          </p:cNvPicPr>
          <p:nvPr/>
        </p:nvPicPr>
        <p:blipFill>
          <a:blip r:embed="rId2"/>
          <a:srcRect/>
          <a:stretch>
            <a:fillRect/>
          </a:stretch>
        </p:blipFill>
        <p:spPr>
          <a:xfrm>
            <a:off x="-4750000" y="-1727393"/>
            <a:ext cx="21336000" cy="12001500"/>
          </a:xfrm>
          <a:prstGeom prst="rect">
            <a:avLst/>
          </a:prstGeom>
        </p:spPr>
      </p:pic>
      <p:sp>
        <p:nvSpPr>
          <p:cNvPr id="4" name="!!Glow"/>
          <p:cNvSpPr/>
          <p:nvPr/>
        </p:nvSpPr>
        <p:spPr>
          <a:xfrm>
            <a:off x="-1417926" y="-911756"/>
            <a:ext cx="9601200" cy="9601200"/>
          </a:xfrm>
          <a:prstGeom prst="ellipse">
            <a:avLst/>
          </a:prstGeom>
          <a:gradFill rotWithShape="1">
            <a:gsLst>
              <a:gs pos="0">
                <a:srgbClr val="FFFFFF">
                  <a:alpha val="85000"/>
                </a:srgbClr>
              </a:gs>
              <a:gs pos="100000">
                <a:srgbClr val="FFFFFF">
                  <a:alpha val="0"/>
                </a:srgbClr>
              </a:gs>
            </a:gsLst>
            <a:path path="circle">
              <a:fillToRect l="50000" t="50000" r="50000" b="50000"/>
            </a:path>
          </a:gradFill>
          <a:ln>
            <a:noFill/>
          </a:ln>
        </p:spPr>
        <p:txBody>
          <a:bodyPr rtlCol="0" anchor="ctr"/>
          <a:lstStyle/>
          <a:p/>
        </p:txBody>
      </p:sp>
      <p:sp>
        <p:nvSpPr>
          <p:cNvPr id="5" name="!!Glow2"/>
          <p:cNvSpPr/>
          <p:nvPr/>
        </p:nvSpPr>
        <p:spPr>
          <a:xfrm>
            <a:off x="5448906" y="-391263"/>
            <a:ext cx="6720840" cy="6720840"/>
          </a:xfrm>
          <a:prstGeom prst="ellipse">
            <a:avLst/>
          </a:prstGeom>
          <a:gradFill rotWithShape="1">
            <a:gsLst>
              <a:gs pos="0">
                <a:srgbClr val="F9A825">
                  <a:alpha val="14000"/>
                </a:srgbClr>
              </a:gs>
              <a:gs pos="100000">
                <a:srgbClr val="F9A825">
                  <a:alpha val="0"/>
                </a:srgbClr>
              </a:gs>
            </a:gsLst>
            <a:path path="circle">
              <a:fillToRect l="50000" t="50000" r="50000" b="50000"/>
            </a:path>
          </a:gradFill>
          <a:ln>
            <a:noFill/>
          </a:ln>
        </p:spPr>
        <p:txBody>
          <a:bodyPr rtlCol="0" anchor="ctr"/>
          <a:lstStyle/>
          <a:p/>
        </p:txBody>
      </p:sp>
      <p:sp>
        <p:nvSpPr>
          <p:cNvPr id="6" name="!!Ring"/>
          <p:cNvSpPr/>
          <p:nvPr/>
        </p:nvSpPr>
        <p:spPr>
          <a:xfrm>
            <a:off x="9837491" y="-3713464"/>
            <a:ext cx="7132320" cy="7132320"/>
          </a:xfrm>
          <a:prstGeom prst="ellipse">
            <a:avLst/>
          </a:prstGeom>
          <a:noFill/>
          <a:ln w="12700">
            <a:solidFill>
              <a:srgbClr val="F9A825">
                <a:alpha val="85000"/>
              </a:srgbClr>
            </a:solidFill>
          </a:ln>
        </p:spPr>
        <p:txBody>
          <a:bodyPr rtlCol="0" anchor="ctr"/>
          <a:lstStyle/>
          <a:p/>
        </p:txBody>
      </p:sp>
      <p:pic>
        <p:nvPicPr>
          <p:cNvPr id="7" name="!!M0" descr="Carte de visite"/>
          <p:cNvPicPr>
            <a:picLocks noChangeAspect="1"/>
          </p:cNvPicPr>
          <p:nvPr/>
        </p:nvPicPr>
        <p:blipFill>
          <a:blip r:embed="rId3"/>
          <a:srcRect t="12963" b="12963"/>
          <a:stretch>
            <a:fillRect/>
          </a:stretch>
        </p:blipFill>
        <p:spPr>
          <a:xfrm>
            <a:off x="685800" y="1828800"/>
            <a:ext cx="3456432" cy="1920240"/>
          </a:xfrm>
          <a:prstGeom prst="roundRect">
            <a:avLst>
              <a:gd name="adj" fmla="val 5000"/>
            </a:avLst>
          </a:prstGeom>
          <a:effectLst>
            <a:outerShdw blurRad="254000" dist="63500" dir="5400000" algn="t" rotWithShape="0">
              <a:srgbClr val="1A0507">
                <a:alpha val="22000"/>
              </a:srgbClr>
            </a:outerShdw>
          </a:effectLst>
        </p:spPr>
      </p:pic>
      <p:pic>
        <p:nvPicPr>
          <p:cNvPr id="8" name="!!M1" descr="Carnet"/>
          <p:cNvPicPr>
            <a:picLocks noChangeAspect="1"/>
          </p:cNvPicPr>
          <p:nvPr/>
        </p:nvPicPr>
        <p:blipFill>
          <a:blip r:embed="rId4"/>
          <a:srcRect t="1160" b="1160"/>
          <a:stretch>
            <a:fillRect/>
          </a:stretch>
        </p:blipFill>
        <p:spPr>
          <a:xfrm>
            <a:off x="4297680" y="1828800"/>
            <a:ext cx="3456432" cy="1920240"/>
          </a:xfrm>
          <a:prstGeom prst="roundRect">
            <a:avLst>
              <a:gd name="adj" fmla="val 5000"/>
            </a:avLst>
          </a:prstGeom>
          <a:effectLst>
            <a:outerShdw blurRad="254000" dist="63500" dir="5400000" algn="t" rotWithShape="0">
              <a:srgbClr val="1A0507">
                <a:alpha val="22000"/>
              </a:srgbClr>
            </a:outerShdw>
          </a:effectLst>
        </p:spPr>
      </p:pic>
      <p:pic>
        <p:nvPicPr>
          <p:cNvPr id="9" name="!!M2" descr="Polos"/>
          <p:cNvPicPr>
            <a:picLocks noChangeAspect="1"/>
          </p:cNvPicPr>
          <p:nvPr/>
        </p:nvPicPr>
        <p:blipFill>
          <a:blip r:embed="rId5"/>
          <a:srcRect t="341" b="341"/>
          <a:stretch>
            <a:fillRect/>
          </a:stretch>
        </p:blipFill>
        <p:spPr>
          <a:xfrm>
            <a:off x="7909560" y="1828800"/>
            <a:ext cx="3456432" cy="1920240"/>
          </a:xfrm>
          <a:prstGeom prst="roundRect">
            <a:avLst>
              <a:gd name="adj" fmla="val 5000"/>
            </a:avLst>
          </a:prstGeom>
          <a:effectLst>
            <a:outerShdw blurRad="254000" dist="63500" dir="5400000" algn="t" rotWithShape="0">
              <a:srgbClr val="1A0507">
                <a:alpha val="22000"/>
              </a:srgbClr>
            </a:outerShdw>
          </a:effectLst>
        </p:spPr>
      </p:pic>
      <p:pic>
        <p:nvPicPr>
          <p:cNvPr id="10" name="!!M3" descr="Tabliers"/>
          <p:cNvPicPr>
            <a:picLocks noChangeAspect="1"/>
          </p:cNvPicPr>
          <p:nvPr/>
        </p:nvPicPr>
        <p:blipFill>
          <a:blip r:embed="rId6"/>
          <a:srcRect t="9924" b="9924"/>
          <a:stretch>
            <a:fillRect/>
          </a:stretch>
        </p:blipFill>
        <p:spPr>
          <a:xfrm>
            <a:off x="685800" y="3931920"/>
            <a:ext cx="3456432" cy="1920240"/>
          </a:xfrm>
          <a:prstGeom prst="roundRect">
            <a:avLst>
              <a:gd name="adj" fmla="val 5000"/>
            </a:avLst>
          </a:prstGeom>
          <a:effectLst>
            <a:outerShdw blurRad="254000" dist="63500" dir="5400000" algn="t" rotWithShape="0">
              <a:srgbClr val="1A0507">
                <a:alpha val="22000"/>
              </a:srgbClr>
            </a:outerShdw>
          </a:effectLst>
        </p:spPr>
      </p:pic>
      <p:pic>
        <p:nvPicPr>
          <p:cNvPr id="11" name="!!M4" descr="Camion de livraison"/>
          <p:cNvPicPr>
            <a:picLocks noChangeAspect="1"/>
          </p:cNvPicPr>
          <p:nvPr/>
        </p:nvPicPr>
        <p:blipFill>
          <a:blip r:embed="rId7"/>
          <a:srcRect t="3019" b="3019"/>
          <a:stretch>
            <a:fillRect/>
          </a:stretch>
        </p:blipFill>
        <p:spPr>
          <a:xfrm>
            <a:off x="4297680" y="3931920"/>
            <a:ext cx="3456432" cy="1920240"/>
          </a:xfrm>
          <a:prstGeom prst="roundRect">
            <a:avLst>
              <a:gd name="adj" fmla="val 5000"/>
            </a:avLst>
          </a:prstGeom>
          <a:effectLst>
            <a:outerShdw blurRad="254000" dist="63500" dir="5400000" algn="t" rotWithShape="0">
              <a:srgbClr val="1A0507">
                <a:alpha val="22000"/>
              </a:srgbClr>
            </a:outerShdw>
          </a:effectLst>
        </p:spPr>
      </p:pic>
      <p:pic>
        <p:nvPicPr>
          <p:cNvPr id="12" name="!!M5" descr="Sac kraft"/>
          <p:cNvPicPr>
            <a:picLocks noChangeAspect="1"/>
          </p:cNvPicPr>
          <p:nvPr/>
        </p:nvPicPr>
        <p:blipFill>
          <a:blip r:embed="rId8"/>
          <a:srcRect l="15575" r="15575"/>
          <a:stretch>
            <a:fillRect/>
          </a:stretch>
        </p:blipFill>
        <p:spPr>
          <a:xfrm>
            <a:off x="7909560" y="3931920"/>
            <a:ext cx="3456432" cy="1920240"/>
          </a:xfrm>
          <a:prstGeom prst="roundRect">
            <a:avLst>
              <a:gd name="adj" fmla="val 5000"/>
            </a:avLst>
          </a:prstGeom>
          <a:effectLst>
            <a:outerShdw blurRad="254000" dist="63500" dir="5400000" algn="t" rotWithShape="0">
              <a:srgbClr val="1A0507">
                <a:alpha val="22000"/>
              </a:srgbClr>
            </a:outerShdw>
          </a:effectLst>
        </p:spPr>
      </p:pic>
      <p:pic>
        <p:nvPicPr>
          <p:cNvPr id="13" name="!!Grain" descr="grain.png"/>
          <p:cNvPicPr>
            <a:picLocks noChangeAspect="1"/>
          </p:cNvPicPr>
          <p:nvPr/>
        </p:nvPicPr>
        <p:blipFill>
          <a:blip r:embed="rId9"/>
          <a:srcRect/>
          <a:stretch>
            <a:fillRect/>
          </a:stretch>
        </p:blipFill>
        <p:spPr>
          <a:xfrm>
            <a:off x="0" y="0"/>
            <a:ext cx="12192000" cy="6858000"/>
          </a:xfrm>
          <a:prstGeom prst="rect">
            <a:avLst/>
          </a:prstGeom>
        </p:spPr>
      </p:pic>
      <p:sp>
        <p:nvSpPr>
          <p:cNvPr id="14" name="!!Title"/>
          <p:cNvSpPr txBox="1"/>
          <p:nvPr/>
        </p:nvSpPr>
        <p:spPr>
          <a:xfrm>
            <a:off x="685800" y="914400"/>
            <a:ext cx="8229600" cy="731520"/>
          </a:xfrm>
          <a:prstGeom prst="rect">
            <a:avLst/>
          </a:prstGeom>
          <a:noFill/>
        </p:spPr>
        <p:txBody>
          <a:bodyPr wrap="square" lIns="0" rIns="0" tIns="0" bIns="0" anchor="t">
            <a:noAutofit/>
          </a:bodyPr>
          <a:lstStyle/>
          <a:p>
            <a:pPr algn="l">
              <a:lnSpc>
                <a:spcPct val="95000"/>
              </a:lnSpc>
            </a:pPr>
            <a:r>
              <a:rPr sz="4000">
                <a:solidFill>
                  <a:srgbClr val="7B1421"/>
                </a:solidFill>
                <a:latin typeface="Cream Heavy"/>
              </a:rPr>
              <a:t>Mise en application</a:t>
            </a:r>
          </a:p>
        </p:txBody>
      </p:sp>
      <p:sp>
        <p:nvSpPr>
          <p:cNvPr id="15"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A40C21"/>
                </a:solidFill>
                <a:latin typeface="Montserrat SemiBold"/>
              </a:rPr>
              <a:t>03 · Identité appliquée</a:t>
            </a:r>
          </a:p>
        </p:txBody>
      </p:sp>
      <p:sp>
        <p:nvSpPr>
          <p:cNvPr id="16"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A40C21"/>
                </a:solidFill>
                <a:latin typeface="Montserrat SemiBold"/>
              </a:rPr>
              <a:t>26</a:t>
            </a:r>
          </a:p>
        </p:txBody>
      </p:sp>
      <p:pic>
        <p:nvPicPr>
          <p:cNvPr id="17" name="!!Logo" descr="Logo Marin'Or Ivoire"/>
          <p:cNvPicPr>
            <a:picLocks noChangeAspect="1"/>
          </p:cNvPicPr>
          <p:nvPr/>
        </p:nvPicPr>
        <p:blipFill>
          <a:blip r:embed="rId10"/>
          <a:stretch>
            <a:fillRect/>
          </a:stretch>
        </p:blipFill>
        <p:spPr>
          <a:xfrm>
            <a:off x="10546080" y="311488"/>
            <a:ext cx="960120" cy="50299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FF6EA"/>
          </a:solidFill>
          <a:ln>
            <a:noFill/>
          </a:ln>
        </p:spPr>
        <p:txBody>
          <a:bodyPr rtlCol="0" anchor="ctr"/>
          <a:lstStyle/>
          <a:p/>
        </p:txBody>
      </p:sp>
      <p:pic>
        <p:nvPicPr>
          <p:cNvPr id="3" name="!!PlateL" descr="motif_bord.png"/>
          <p:cNvPicPr>
            <a:picLocks noChangeAspect="1"/>
          </p:cNvPicPr>
          <p:nvPr/>
        </p:nvPicPr>
        <p:blipFill>
          <a:blip r:embed="rId2"/>
          <a:srcRect/>
          <a:stretch>
            <a:fillRect/>
          </a:stretch>
        </p:blipFill>
        <p:spPr>
          <a:xfrm>
            <a:off x="-4930000" y="-2008424"/>
            <a:ext cx="21336000" cy="12001500"/>
          </a:xfrm>
          <a:prstGeom prst="rect">
            <a:avLst/>
          </a:prstGeom>
        </p:spPr>
      </p:pic>
      <p:sp>
        <p:nvSpPr>
          <p:cNvPr id="4" name="!!Glow"/>
          <p:cNvSpPr/>
          <p:nvPr/>
        </p:nvSpPr>
        <p:spPr>
          <a:xfrm>
            <a:off x="-2991894" y="-1211094"/>
            <a:ext cx="9601200" cy="9601200"/>
          </a:xfrm>
          <a:prstGeom prst="ellipse">
            <a:avLst/>
          </a:prstGeom>
          <a:gradFill rotWithShape="1">
            <a:gsLst>
              <a:gs pos="0">
                <a:srgbClr val="FFFFFF">
                  <a:alpha val="85000"/>
                </a:srgbClr>
              </a:gs>
              <a:gs pos="100000">
                <a:srgbClr val="FFFFFF">
                  <a:alpha val="0"/>
                </a:srgbClr>
              </a:gs>
            </a:gsLst>
            <a:path path="circle">
              <a:fillToRect l="50000" t="50000" r="50000" b="50000"/>
            </a:path>
          </a:gradFill>
          <a:ln>
            <a:noFill/>
          </a:ln>
        </p:spPr>
        <p:txBody>
          <a:bodyPr rtlCol="0" anchor="ctr"/>
          <a:lstStyle/>
          <a:p/>
        </p:txBody>
      </p:sp>
      <p:sp>
        <p:nvSpPr>
          <p:cNvPr id="5" name="!!Glow2"/>
          <p:cNvSpPr/>
          <p:nvPr/>
        </p:nvSpPr>
        <p:spPr>
          <a:xfrm>
            <a:off x="7022874" y="-91925"/>
            <a:ext cx="6720840" cy="6720840"/>
          </a:xfrm>
          <a:prstGeom prst="ellipse">
            <a:avLst/>
          </a:prstGeom>
          <a:gradFill rotWithShape="1">
            <a:gsLst>
              <a:gs pos="0">
                <a:srgbClr val="F9A825">
                  <a:alpha val="14000"/>
                </a:srgbClr>
              </a:gs>
              <a:gs pos="100000">
                <a:srgbClr val="F9A825">
                  <a:alpha val="0"/>
                </a:srgbClr>
              </a:gs>
            </a:gsLst>
            <a:path path="circle">
              <a:fillToRect l="50000" t="50000" r="50000" b="50000"/>
            </a:path>
          </a:gradFill>
          <a:ln>
            <a:noFill/>
          </a:ln>
        </p:spPr>
        <p:txBody>
          <a:bodyPr rtlCol="0" anchor="ctr"/>
          <a:lstStyle/>
          <a:p/>
        </p:txBody>
      </p:sp>
      <p:sp>
        <p:nvSpPr>
          <p:cNvPr id="6" name="!!Ring"/>
          <p:cNvSpPr/>
          <p:nvPr/>
        </p:nvSpPr>
        <p:spPr>
          <a:xfrm>
            <a:off x="9662255" y="-3657948"/>
            <a:ext cx="7132320" cy="7132320"/>
          </a:xfrm>
          <a:prstGeom prst="ellipse">
            <a:avLst/>
          </a:prstGeom>
          <a:noFill/>
          <a:ln w="12700">
            <a:solidFill>
              <a:srgbClr val="F9A825">
                <a:alpha val="85000"/>
              </a:srgbClr>
            </a:solidFill>
          </a:ln>
        </p:spPr>
        <p:txBody>
          <a:bodyPr rtlCol="0" anchor="ctr"/>
          <a:lstStyle/>
          <a:p/>
        </p:txBody>
      </p:sp>
      <p:sp>
        <p:nvSpPr>
          <p:cNvPr id="7" name="!!VidFrame"/>
          <p:cNvSpPr/>
          <p:nvPr/>
        </p:nvSpPr>
        <p:spPr>
          <a:xfrm>
            <a:off x="5047488" y="1435608"/>
            <a:ext cx="6547104" cy="3746754"/>
          </a:xfrm>
          <a:prstGeom prst="roundRect">
            <a:avLst>
              <a:gd name="adj" fmla="val 3000"/>
            </a:avLst>
          </a:prstGeom>
          <a:solidFill>
            <a:srgbClr val="FFFFFF"/>
          </a:solidFill>
          <a:ln>
            <a:noFill/>
          </a:ln>
          <a:effectLst>
            <a:outerShdw blurRad="355600" dist="101600" dir="5400000" algn="t" rotWithShape="0">
              <a:srgbClr val="1A0507">
                <a:alpha val="28000"/>
              </a:srgbClr>
            </a:outerShdw>
          </a:effectLst>
        </p:spPr>
        <p:txBody>
          <a:bodyPr rtlCol="0" anchor="ctr"/>
          <a:lstStyle/>
          <a:p/>
        </p:txBody>
      </p:sp>
      <p:pic>
        <p:nvPicPr>
          <p:cNvPr id="8" name="!!Video">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5120640" y="1508760"/>
            <a:ext cx="6400800" cy="3600450"/>
          </a:xfrm>
          <a:prstGeom prst="rect">
            <a:avLst/>
          </a:prstGeom>
        </p:spPr>
      </p:pic>
      <p:pic>
        <p:nvPicPr>
          <p:cNvPr id="9" name="!!Grain" descr="grain.png"/>
          <p:cNvPicPr>
            <a:picLocks noChangeAspect="1"/>
          </p:cNvPicPr>
          <p:nvPr/>
        </p:nvPicPr>
        <p:blipFill>
          <a:blip r:embed="rId6"/>
          <a:srcRect/>
          <a:stretch>
            <a:fillRect/>
          </a:stretch>
        </p:blipFill>
        <p:spPr>
          <a:xfrm>
            <a:off x="0" y="0"/>
            <a:ext cx="12192000" cy="6858000"/>
          </a:xfrm>
          <a:prstGeom prst="rect">
            <a:avLst/>
          </a:prstGeom>
        </p:spPr>
      </p:pic>
      <p:sp>
        <p:nvSpPr>
          <p:cNvPr id="10" name="!!Title"/>
          <p:cNvSpPr txBox="1"/>
          <p:nvPr/>
        </p:nvSpPr>
        <p:spPr>
          <a:xfrm>
            <a:off x="685800" y="914400"/>
            <a:ext cx="4206240" cy="1463040"/>
          </a:xfrm>
          <a:prstGeom prst="rect">
            <a:avLst/>
          </a:prstGeom>
          <a:noFill/>
        </p:spPr>
        <p:txBody>
          <a:bodyPr wrap="square" lIns="0" rIns="0" tIns="0" bIns="0" anchor="t">
            <a:noAutofit/>
          </a:bodyPr>
          <a:lstStyle/>
          <a:p>
            <a:pPr algn="l">
              <a:lnSpc>
                <a:spcPct val="95000"/>
              </a:lnSpc>
            </a:pPr>
            <a:r>
              <a:rPr sz="3600">
                <a:solidFill>
                  <a:srgbClr val="7B1421"/>
                </a:solidFill>
                <a:latin typeface="Cream Heavy"/>
              </a:rPr>
              <a:t>Animation du logotype</a:t>
            </a:r>
          </a:p>
        </p:txBody>
      </p:sp>
      <p:sp>
        <p:nvSpPr>
          <p:cNvPr id="11" name="!!Body"/>
          <p:cNvSpPr txBox="1"/>
          <p:nvPr/>
        </p:nvSpPr>
        <p:spPr>
          <a:xfrm>
            <a:off x="685800" y="2514600"/>
            <a:ext cx="4114800" cy="2377440"/>
          </a:xfrm>
          <a:prstGeom prst="rect">
            <a:avLst/>
          </a:prstGeom>
          <a:noFill/>
        </p:spPr>
        <p:txBody>
          <a:bodyPr wrap="square" lIns="0" rIns="0" tIns="0" bIns="0" anchor="t">
            <a:noAutofit/>
          </a:bodyPr>
          <a:lstStyle/>
          <a:p>
            <a:pPr algn="l">
              <a:lnSpc>
                <a:spcPct val="112000"/>
              </a:lnSpc>
              <a:spcAft>
                <a:spcPts val="1200"/>
              </a:spcAft>
            </a:pPr>
            <a:r>
              <a:rPr sz="1700">
                <a:solidFill>
                  <a:srgbClr val="000000"/>
                </a:solidFill>
                <a:latin typeface="Montserrat Medium"/>
              </a:rPr>
              <a:t>La signature audiovisuelle qui ouvre et clôt les spots.</a:t>
            </a:r>
          </a:p>
          <a:p>
            <a:pPr algn="l">
              <a:lnSpc>
                <a:spcPct val="112000"/>
              </a:lnSpc>
              <a:spcAft>
                <a:spcPts val="1200"/>
              </a:spcAft>
            </a:pPr>
            <a:r>
              <a:rPr sz="1700">
                <a:solidFill>
                  <a:srgbClr val="000000"/>
                </a:solidFill>
                <a:latin typeface="Montserrat Medium"/>
              </a:rPr>
              <a:t>Illustrator, puis After Effects · Full HD</a:t>
            </a:r>
          </a:p>
        </p:txBody>
      </p:sp>
      <p:sp>
        <p:nvSpPr>
          <p:cNvPr id="12"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A40C21"/>
                </a:solidFill>
                <a:latin typeface="Montserrat SemiBold"/>
              </a:rPr>
              <a:t>03 · Motion design</a:t>
            </a:r>
          </a:p>
        </p:txBody>
      </p:sp>
      <p:sp>
        <p:nvSpPr>
          <p:cNvPr id="13"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A40C21"/>
                </a:solidFill>
                <a:latin typeface="Montserrat SemiBold"/>
              </a:rPr>
              <a:t>27</a:t>
            </a:r>
          </a:p>
        </p:txBody>
      </p:sp>
      <p:pic>
        <p:nvPicPr>
          <p:cNvPr id="14" name="!!Logo" descr="Logo Marin'Or Ivoire"/>
          <p:cNvPicPr>
            <a:picLocks noChangeAspect="1"/>
          </p:cNvPicPr>
          <p:nvPr/>
        </p:nvPicPr>
        <p:blipFill>
          <a:blip r:embed="rId7"/>
          <a:stretch>
            <a:fillRect/>
          </a:stretch>
        </p:blipFill>
        <p:spPr>
          <a:xfrm>
            <a:off x="10546080" y="311488"/>
            <a:ext cx="960120" cy="50299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timing>
    <p:tnLst>
      <p:par>
        <p:cTn id="1" dur="indefinite" restart="never" nodeType="tmRoot">
          <p:childTnLst>
            <p:video>
              <p:cMediaNode vol="80000">
                <p:cTn id="2" fill="hold" display="0">
                  <p:stCondLst>
                    <p:cond delay="indefinite"/>
                  </p:stCondLst>
                </p:cTn>
                <p:tgtEl>
                  <p:spTgt spid="8"/>
                </p:tgtEl>
              </p:cMediaNode>
            </p:video>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2A070D"/>
          </a:solidFill>
          <a:ln>
            <a:noFill/>
          </a:ln>
        </p:spPr>
        <p:txBody>
          <a:bodyPr rtlCol="0" anchor="ctr"/>
          <a:lstStyle/>
          <a:p/>
        </p:txBody>
      </p:sp>
      <p:pic>
        <p:nvPicPr>
          <p:cNvPr id="3" name="!!PlateD" descr="motif_creme.png"/>
          <p:cNvPicPr>
            <a:picLocks noChangeAspect="1"/>
          </p:cNvPicPr>
          <p:nvPr/>
        </p:nvPicPr>
        <p:blipFill>
          <a:blip r:embed="rId2"/>
          <a:srcRect t="0" b="0"/>
          <a:stretch>
            <a:fillRect/>
          </a:stretch>
        </p:blipFill>
        <p:spPr>
          <a:xfrm>
            <a:off x="-6816880" y="-3308018"/>
            <a:ext cx="24749760" cy="13921739"/>
          </a:xfrm>
          <a:prstGeom prst="rect">
            <a:avLst/>
          </a:prstGeom>
        </p:spPr>
      </p:pic>
      <p:sp>
        <p:nvSpPr>
          <p:cNvPr id="4" name="!!Glow"/>
          <p:cNvSpPr/>
          <p:nvPr/>
        </p:nvSpPr>
        <p:spPr>
          <a:xfrm>
            <a:off x="-3948609" y="-1800506"/>
            <a:ext cx="9601200" cy="9601200"/>
          </a:xfrm>
          <a:prstGeom prst="ellipse">
            <a:avLst/>
          </a:prstGeom>
          <a:gradFill rotWithShape="1">
            <a:gsLst>
              <a:gs pos="0">
                <a:srgbClr val="B3222F">
                  <a:alpha val="55000"/>
                </a:srgbClr>
              </a:gs>
              <a:gs pos="45000">
                <a:srgbClr val="7B1421">
                  <a:alpha val="22000"/>
                </a:srgbClr>
              </a:gs>
              <a:gs pos="100000">
                <a:srgbClr val="7B1421">
                  <a:alpha val="0"/>
                </a:srgbClr>
              </a:gs>
            </a:gsLst>
            <a:path path="circle">
              <a:fillToRect l="50000" t="50000" r="50000" b="50000"/>
            </a:path>
          </a:gradFill>
          <a:ln>
            <a:noFill/>
          </a:ln>
        </p:spPr>
        <p:txBody>
          <a:bodyPr rtlCol="0" anchor="ctr"/>
          <a:lstStyle/>
          <a:p/>
        </p:txBody>
      </p:sp>
      <p:sp>
        <p:nvSpPr>
          <p:cNvPr id="5" name="!!Glow2"/>
          <p:cNvSpPr/>
          <p:nvPr/>
        </p:nvSpPr>
        <p:spPr>
          <a:xfrm>
            <a:off x="7979589" y="497486"/>
            <a:ext cx="6720840" cy="6720840"/>
          </a:xfrm>
          <a:prstGeom prst="ellipse">
            <a:avLst/>
          </a:prstGeom>
          <a:gradFill rotWithShape="1">
            <a:gsLst>
              <a:gs pos="0">
                <a:srgbClr val="F9A825">
                  <a:alpha val="16000"/>
                </a:srgbClr>
              </a:gs>
              <a:gs pos="100000">
                <a:srgbClr val="F9A825">
                  <a:alpha val="0"/>
                </a:srgbClr>
              </a:gs>
            </a:gsLst>
            <a:path path="circle">
              <a:fillToRect l="50000" t="50000" r="50000" b="50000"/>
            </a:path>
          </a:gradFill>
          <a:ln>
            <a:noFill/>
          </a:ln>
        </p:spPr>
        <p:txBody>
          <a:bodyPr rtlCol="0" anchor="ctr"/>
          <a:lstStyle/>
          <a:p/>
        </p:txBody>
      </p:sp>
      <p:pic>
        <p:nvPicPr>
          <p:cNvPr id="6" name="!!Vignette" descr="vignette.png"/>
          <p:cNvPicPr>
            <a:picLocks noChangeAspect="1"/>
          </p:cNvPicPr>
          <p:nvPr/>
        </p:nvPicPr>
        <p:blipFill>
          <a:blip r:embed="rId3"/>
          <a:srcRect/>
          <a:stretch>
            <a:fillRect/>
          </a:stretch>
        </p:blipFill>
        <p:spPr>
          <a:xfrm>
            <a:off x="0" y="0"/>
            <a:ext cx="12192000" cy="6858000"/>
          </a:xfrm>
          <a:prstGeom prst="rect">
            <a:avLst/>
          </a:prstGeom>
        </p:spPr>
      </p:pic>
      <p:sp>
        <p:nvSpPr>
          <p:cNvPr id="7" name="!!Ring"/>
          <p:cNvSpPr/>
          <p:nvPr/>
        </p:nvSpPr>
        <p:spPr>
          <a:xfrm>
            <a:off x="3535680" y="777240"/>
            <a:ext cx="5120640" cy="5120640"/>
          </a:xfrm>
          <a:prstGeom prst="ellipse">
            <a:avLst/>
          </a:prstGeom>
          <a:noFill/>
          <a:ln w="12700">
            <a:solidFill>
              <a:srgbClr val="F9A825">
                <a:alpha val="70000"/>
              </a:srgbClr>
            </a:solidFill>
          </a:ln>
        </p:spPr>
        <p:txBody>
          <a:bodyPr rtlCol="0" anchor="ctr"/>
          <a:lstStyle/>
          <a:p/>
        </p:txBody>
      </p:sp>
      <p:sp>
        <p:nvSpPr>
          <p:cNvPr id="8" name="!!SecNum"/>
          <p:cNvSpPr txBox="1"/>
          <p:nvPr/>
        </p:nvSpPr>
        <p:spPr>
          <a:xfrm>
            <a:off x="3352800" y="868680"/>
            <a:ext cx="5486400" cy="1737360"/>
          </a:xfrm>
          <a:prstGeom prst="rect">
            <a:avLst/>
          </a:prstGeom>
          <a:noFill/>
        </p:spPr>
        <p:txBody>
          <a:bodyPr wrap="square" lIns="0" rIns="0" tIns="0" bIns="0" anchor="ctr">
            <a:noAutofit/>
          </a:bodyPr>
          <a:lstStyle/>
          <a:p>
            <a:pPr algn="ctr"/>
            <a:r>
              <a:rPr sz="12000">
                <a:ln w="15875">
                  <a:solidFill>
                    <a:srgbClr val="F9A825">
                      <a:alpha val="30000"/>
                    </a:srgbClr>
                  </a:solidFill>
                </a:ln>
                <a:noFill/>
                <a:latin typeface="Cream Heavy"/>
              </a:rPr>
              <a:t>04</a:t>
            </a:r>
          </a:p>
        </p:txBody>
      </p:sp>
      <p:pic>
        <p:nvPicPr>
          <p:cNvPr id="9" name="!!Grain" descr="grain.png"/>
          <p:cNvPicPr>
            <a:picLocks noChangeAspect="1"/>
          </p:cNvPicPr>
          <p:nvPr/>
        </p:nvPicPr>
        <p:blipFill>
          <a:blip r:embed="rId4"/>
          <a:srcRect/>
          <a:stretch>
            <a:fillRect/>
          </a:stretch>
        </p:blipFill>
        <p:spPr>
          <a:xfrm>
            <a:off x="0" y="0"/>
            <a:ext cx="12192000" cy="6858000"/>
          </a:xfrm>
          <a:prstGeom prst="rect">
            <a:avLst/>
          </a:prstGeom>
        </p:spPr>
      </p:pic>
      <p:sp>
        <p:nvSpPr>
          <p:cNvPr id="10" name="!!TitleCA1"/>
          <p:cNvSpPr txBox="1"/>
          <p:nvPr/>
        </p:nvSpPr>
        <p:spPr>
          <a:xfrm>
            <a:off x="894284" y="3017520"/>
            <a:ext cx="10363200" cy="822960"/>
          </a:xfrm>
          <a:prstGeom prst="rect">
            <a:avLst/>
          </a:prstGeom>
          <a:noFill/>
        </p:spPr>
        <p:txBody>
          <a:bodyPr wrap="square" lIns="0" rIns="0" tIns="0" bIns="0" anchor="ctr">
            <a:noAutofit/>
          </a:bodyPr>
          <a:lstStyle/>
          <a:p>
            <a:pPr algn="ctr">
              <a:lnSpc>
                <a:spcPct val="95000"/>
              </a:lnSpc>
            </a:pPr>
            <a:r>
              <a:rPr sz="4000">
                <a:solidFill>
                  <a:srgbClr val="A40C21">
                    <a:alpha val="40000"/>
                  </a:srgbClr>
                </a:solidFill>
                <a:latin typeface="Cream Heavy"/>
              </a:rPr>
              <a:t>Supports print et audiovisuels</a:t>
            </a:r>
          </a:p>
        </p:txBody>
      </p:sp>
      <p:sp>
        <p:nvSpPr>
          <p:cNvPr id="11" name="!!TitleCA2"/>
          <p:cNvSpPr txBox="1"/>
          <p:nvPr/>
        </p:nvSpPr>
        <p:spPr>
          <a:xfrm>
            <a:off x="934516" y="3017520"/>
            <a:ext cx="10363200" cy="822960"/>
          </a:xfrm>
          <a:prstGeom prst="rect">
            <a:avLst/>
          </a:prstGeom>
          <a:noFill/>
        </p:spPr>
        <p:txBody>
          <a:bodyPr wrap="square" lIns="0" rIns="0" tIns="0" bIns="0" anchor="ctr">
            <a:noAutofit/>
          </a:bodyPr>
          <a:lstStyle/>
          <a:p>
            <a:pPr algn="ctr">
              <a:lnSpc>
                <a:spcPct val="95000"/>
              </a:lnSpc>
            </a:pPr>
            <a:r>
              <a:rPr sz="4000">
                <a:solidFill>
                  <a:srgbClr val="FBD021">
                    <a:alpha val="30000"/>
                  </a:srgbClr>
                </a:solidFill>
                <a:latin typeface="Cream Heavy"/>
              </a:rPr>
              <a:t>Supports print et audiovisuels</a:t>
            </a:r>
          </a:p>
        </p:txBody>
      </p:sp>
      <p:sp>
        <p:nvSpPr>
          <p:cNvPr id="12" name="!!Title"/>
          <p:cNvSpPr txBox="1"/>
          <p:nvPr/>
        </p:nvSpPr>
        <p:spPr>
          <a:xfrm>
            <a:off x="914400" y="3017520"/>
            <a:ext cx="10363200" cy="822960"/>
          </a:xfrm>
          <a:prstGeom prst="rect">
            <a:avLst/>
          </a:prstGeom>
          <a:noFill/>
        </p:spPr>
        <p:txBody>
          <a:bodyPr wrap="square" lIns="0" rIns="0" tIns="0" bIns="0" anchor="ctr">
            <a:noAutofit/>
          </a:bodyPr>
          <a:lstStyle/>
          <a:p>
            <a:pPr algn="ctr">
              <a:lnSpc>
                <a:spcPct val="95000"/>
              </a:lnSpc>
            </a:pPr>
            <a:r>
              <a:rPr sz="4000">
                <a:gradFill rotWithShape="1">
                  <a:gsLst>
                    <a:gs pos="0">
                      <a:srgbClr val="FFF8EE"/>
                    </a:gs>
                    <a:gs pos="55000">
                      <a:srgbClr val="FFECD1"/>
                    </a:gs>
                    <a:gs pos="100000">
                      <a:srgbClr val="F6C77A"/>
                    </a:gs>
                  </a:gsLst>
                  <a:lin ang="5400000" scaled="0"/>
                </a:gradFill>
                <a:latin typeface="Cream Heavy"/>
              </a:rPr>
              <a:t>Supports print et audiovisuels</a:t>
            </a:r>
          </a:p>
        </p:txBody>
      </p:sp>
      <p:sp>
        <p:nvSpPr>
          <p:cNvPr id="13"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F9A825"/>
                </a:solidFill>
                <a:latin typeface="Montserrat SemiBold"/>
              </a:rPr>
              <a:t>04 · Réalisations</a:t>
            </a:r>
          </a:p>
        </p:txBody>
      </p:sp>
      <p:sp>
        <p:nvSpPr>
          <p:cNvPr id="14"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F9A825"/>
                </a:solidFill>
                <a:latin typeface="Montserrat SemiBold"/>
              </a:rPr>
              <a:t>28</a:t>
            </a:r>
          </a:p>
        </p:txBody>
      </p:sp>
      <p:pic>
        <p:nvPicPr>
          <p:cNvPr id="15" name="!!Logo" descr="Logo Marin'Or Ivoire"/>
          <p:cNvPicPr>
            <a:picLocks noChangeAspect="1"/>
          </p:cNvPicPr>
          <p:nvPr/>
        </p:nvPicPr>
        <p:blipFill>
          <a:blip r:embed="rId5"/>
          <a:stretch>
            <a:fillRect/>
          </a:stretch>
        </p:blipFill>
        <p:spPr>
          <a:xfrm>
            <a:off x="10546080" y="310896"/>
            <a:ext cx="960120" cy="504176"/>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FF6EA"/>
          </a:solidFill>
          <a:ln>
            <a:noFill/>
          </a:ln>
        </p:spPr>
        <p:txBody>
          <a:bodyPr rtlCol="0" anchor="ctr"/>
          <a:lstStyle/>
          <a:p/>
        </p:txBody>
      </p:sp>
      <p:pic>
        <p:nvPicPr>
          <p:cNvPr id="3" name="!!PlateL" descr="motif_bord.png"/>
          <p:cNvPicPr>
            <a:picLocks noChangeAspect="1"/>
          </p:cNvPicPr>
          <p:nvPr/>
        </p:nvPicPr>
        <p:blipFill>
          <a:blip r:embed="rId2"/>
          <a:srcRect/>
          <a:stretch>
            <a:fillRect/>
          </a:stretch>
        </p:blipFill>
        <p:spPr>
          <a:xfrm>
            <a:off x="-5290000" y="-2709183"/>
            <a:ext cx="21336000" cy="12001500"/>
          </a:xfrm>
          <a:prstGeom prst="rect">
            <a:avLst/>
          </a:prstGeom>
        </p:spPr>
      </p:pic>
      <p:sp>
        <p:nvSpPr>
          <p:cNvPr id="4" name="!!Glow"/>
          <p:cNvSpPr/>
          <p:nvPr/>
        </p:nvSpPr>
        <p:spPr>
          <a:xfrm>
            <a:off x="-4005885" y="-2506144"/>
            <a:ext cx="9601200" cy="9601200"/>
          </a:xfrm>
          <a:prstGeom prst="ellipse">
            <a:avLst/>
          </a:prstGeom>
          <a:gradFill rotWithShape="1">
            <a:gsLst>
              <a:gs pos="0">
                <a:srgbClr val="FFFFFF">
                  <a:alpha val="85000"/>
                </a:srgbClr>
              </a:gs>
              <a:gs pos="100000">
                <a:srgbClr val="FFFFFF">
                  <a:alpha val="0"/>
                </a:srgbClr>
              </a:gs>
            </a:gsLst>
            <a:path path="circle">
              <a:fillToRect l="50000" t="50000" r="50000" b="50000"/>
            </a:path>
          </a:gradFill>
          <a:ln>
            <a:noFill/>
          </a:ln>
        </p:spPr>
        <p:txBody>
          <a:bodyPr rtlCol="0" anchor="ctr"/>
          <a:lstStyle/>
          <a:p/>
        </p:txBody>
      </p:sp>
      <p:sp>
        <p:nvSpPr>
          <p:cNvPr id="5" name="!!Glow2"/>
          <p:cNvSpPr/>
          <p:nvPr/>
        </p:nvSpPr>
        <p:spPr>
          <a:xfrm>
            <a:off x="8036865" y="1203124"/>
            <a:ext cx="6720840" cy="6720840"/>
          </a:xfrm>
          <a:prstGeom prst="ellipse">
            <a:avLst/>
          </a:prstGeom>
          <a:gradFill rotWithShape="1">
            <a:gsLst>
              <a:gs pos="0">
                <a:srgbClr val="F9A825">
                  <a:alpha val="14000"/>
                </a:srgbClr>
              </a:gs>
              <a:gs pos="100000">
                <a:srgbClr val="F9A825">
                  <a:alpha val="0"/>
                </a:srgbClr>
              </a:gs>
            </a:gsLst>
            <a:path path="circle">
              <a:fillToRect l="50000" t="50000" r="50000" b="50000"/>
            </a:path>
          </a:gradFill>
          <a:ln>
            <a:noFill/>
          </a:ln>
        </p:spPr>
        <p:txBody>
          <a:bodyPr rtlCol="0" anchor="ctr"/>
          <a:lstStyle/>
          <a:p/>
        </p:txBody>
      </p:sp>
      <p:sp>
        <p:nvSpPr>
          <p:cNvPr id="6" name="!!Ring"/>
          <p:cNvSpPr/>
          <p:nvPr/>
        </p:nvSpPr>
        <p:spPr>
          <a:xfrm>
            <a:off x="9240935" y="-3898984"/>
            <a:ext cx="7132320" cy="7132320"/>
          </a:xfrm>
          <a:prstGeom prst="ellipse">
            <a:avLst/>
          </a:prstGeom>
          <a:noFill/>
          <a:ln w="12700">
            <a:solidFill>
              <a:srgbClr val="F9A825">
                <a:alpha val="85000"/>
              </a:srgbClr>
            </a:solidFill>
          </a:ln>
        </p:spPr>
        <p:txBody>
          <a:bodyPr rtlCol="0" anchor="ctr"/>
          <a:lstStyle/>
          <a:p/>
        </p:txBody>
      </p:sp>
      <p:pic>
        <p:nvPicPr>
          <p:cNvPr id="7" name="!!Hero" descr="Affiche 1"/>
          <p:cNvPicPr>
            <a:picLocks noChangeAspect="1"/>
          </p:cNvPicPr>
          <p:nvPr/>
        </p:nvPicPr>
        <p:blipFill>
          <a:blip r:embed="rId3"/>
          <a:srcRect t="14" b="14"/>
          <a:stretch>
            <a:fillRect/>
          </a:stretch>
        </p:blipFill>
        <p:spPr>
          <a:xfrm>
            <a:off x="4434840" y="1325880"/>
            <a:ext cx="7086600" cy="4186348"/>
          </a:xfrm>
          <a:prstGeom prst="roundRect">
            <a:avLst>
              <a:gd name="adj" fmla="val 2500"/>
            </a:avLst>
          </a:prstGeom>
          <a:effectLst>
            <a:outerShdw blurRad="381000" dist="101600" dir="5400000" algn="t" rotWithShape="0">
              <a:srgbClr val="1A0507">
                <a:alpha val="28000"/>
              </a:srgbClr>
            </a:outerShdw>
          </a:effectLst>
        </p:spPr>
      </p:pic>
      <p:pic>
        <p:nvPicPr>
          <p:cNvPr id="8" name="!!Second" descr="Affiche 1 en situation"/>
          <p:cNvPicPr>
            <a:picLocks noChangeAspect="1"/>
          </p:cNvPicPr>
          <p:nvPr/>
        </p:nvPicPr>
        <p:blipFill>
          <a:blip r:embed="rId4"/>
          <a:srcRect t="14898" b="14898"/>
          <a:stretch>
            <a:fillRect/>
          </a:stretch>
        </p:blipFill>
        <p:spPr>
          <a:xfrm>
            <a:off x="685800" y="3520440"/>
            <a:ext cx="3429000" cy="2514600"/>
          </a:xfrm>
          <a:prstGeom prst="roundRect">
            <a:avLst>
              <a:gd name="adj" fmla="val 4000"/>
            </a:avLst>
          </a:prstGeom>
          <a:effectLst>
            <a:outerShdw blurRad="330200" dist="88900" dir="5400000" algn="t" rotWithShape="0">
              <a:srgbClr val="1A0507">
                <a:alpha val="26000"/>
              </a:srgbClr>
            </a:outerShdw>
          </a:effectLst>
        </p:spPr>
      </p:pic>
      <p:pic>
        <p:nvPicPr>
          <p:cNvPr id="9" name="!!Grain" descr="grain.png"/>
          <p:cNvPicPr>
            <a:picLocks noChangeAspect="1"/>
          </p:cNvPicPr>
          <p:nvPr/>
        </p:nvPicPr>
        <p:blipFill>
          <a:blip r:embed="rId5"/>
          <a:srcRect/>
          <a:stretch>
            <a:fillRect/>
          </a:stretch>
        </p:blipFill>
        <p:spPr>
          <a:xfrm>
            <a:off x="0" y="0"/>
            <a:ext cx="12192000" cy="6858000"/>
          </a:xfrm>
          <a:prstGeom prst="rect">
            <a:avLst/>
          </a:prstGeom>
        </p:spPr>
      </p:pic>
      <p:sp>
        <p:nvSpPr>
          <p:cNvPr id="10" name="!!Title"/>
          <p:cNvSpPr txBox="1"/>
          <p:nvPr/>
        </p:nvSpPr>
        <p:spPr>
          <a:xfrm>
            <a:off x="685800" y="914400"/>
            <a:ext cx="3520440" cy="1554480"/>
          </a:xfrm>
          <a:prstGeom prst="rect">
            <a:avLst/>
          </a:prstGeom>
          <a:noFill/>
        </p:spPr>
        <p:txBody>
          <a:bodyPr wrap="square" lIns="0" rIns="0" tIns="0" bIns="0" anchor="t">
            <a:noAutofit/>
          </a:bodyPr>
          <a:lstStyle/>
          <a:p>
            <a:pPr algn="l">
              <a:lnSpc>
                <a:spcPct val="95000"/>
              </a:lnSpc>
            </a:pPr>
            <a:r>
              <a:rPr sz="3000">
                <a:solidFill>
                  <a:srgbClr val="7B1421"/>
                </a:solidFill>
                <a:latin typeface="Cream Heavy"/>
              </a:rPr>
              <a:t>Le vrai goût de chez nous</a:t>
            </a:r>
          </a:p>
        </p:txBody>
      </p:sp>
      <p:sp>
        <p:nvSpPr>
          <p:cNvPr id="11" name="!!Axe"/>
          <p:cNvSpPr txBox="1"/>
          <p:nvPr/>
        </p:nvSpPr>
        <p:spPr>
          <a:xfrm>
            <a:off x="685800" y="2606040"/>
            <a:ext cx="3520440" cy="640080"/>
          </a:xfrm>
          <a:prstGeom prst="rect">
            <a:avLst/>
          </a:prstGeom>
          <a:noFill/>
        </p:spPr>
        <p:txBody>
          <a:bodyPr wrap="square" lIns="0" rIns="0" tIns="0" bIns="0" anchor="t">
            <a:noAutofit/>
          </a:bodyPr>
          <a:lstStyle/>
          <a:p>
            <a:pPr algn="l"/>
            <a:r>
              <a:rPr sz="1400">
                <a:solidFill>
                  <a:srgbClr val="A40C21"/>
                </a:solidFill>
                <a:latin typeface="Montserrat SemiBold"/>
              </a:rPr>
              <a:t>Axe 1 · L'authenticité des saveurs ivoiriennes</a:t>
            </a:r>
          </a:p>
        </p:txBody>
      </p:sp>
      <p:sp>
        <p:nvSpPr>
          <p:cNvPr id="12"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A40C21"/>
                </a:solidFill>
                <a:latin typeface="Montserrat SemiBold"/>
              </a:rPr>
              <a:t>04 · Affiche 1</a:t>
            </a:r>
          </a:p>
        </p:txBody>
      </p:sp>
      <p:sp>
        <p:nvSpPr>
          <p:cNvPr id="13"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A40C21"/>
                </a:solidFill>
                <a:latin typeface="Montserrat SemiBold"/>
              </a:rPr>
              <a:t>29</a:t>
            </a:r>
          </a:p>
        </p:txBody>
      </p:sp>
      <p:pic>
        <p:nvPicPr>
          <p:cNvPr id="14" name="!!Logo" descr="Logo Marin'Or Ivoire"/>
          <p:cNvPicPr>
            <a:picLocks noChangeAspect="1"/>
          </p:cNvPicPr>
          <p:nvPr/>
        </p:nvPicPr>
        <p:blipFill>
          <a:blip r:embed="rId6"/>
          <a:stretch>
            <a:fillRect/>
          </a:stretch>
        </p:blipFill>
        <p:spPr>
          <a:xfrm>
            <a:off x="10546080" y="311488"/>
            <a:ext cx="960120" cy="50299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FF6EA"/>
          </a:solidFill>
          <a:ln>
            <a:noFill/>
          </a:ln>
        </p:spPr>
        <p:txBody>
          <a:bodyPr rtlCol="0" anchor="ctr"/>
          <a:lstStyle/>
          <a:p/>
        </p:txBody>
      </p:sp>
      <p:pic>
        <p:nvPicPr>
          <p:cNvPr id="3" name="!!PlateL" descr="motif_bord.png"/>
          <p:cNvPicPr>
            <a:picLocks noChangeAspect="1"/>
          </p:cNvPicPr>
          <p:nvPr/>
        </p:nvPicPr>
        <p:blipFill>
          <a:blip r:embed="rId2"/>
          <a:srcRect/>
          <a:stretch>
            <a:fillRect/>
          </a:stretch>
        </p:blipFill>
        <p:spPr>
          <a:xfrm>
            <a:off x="-5470000" y="-3053289"/>
            <a:ext cx="21336000" cy="12001500"/>
          </a:xfrm>
          <a:prstGeom prst="rect">
            <a:avLst/>
          </a:prstGeom>
        </p:spPr>
      </p:pic>
      <p:sp>
        <p:nvSpPr>
          <p:cNvPr id="4" name="!!Glow"/>
          <p:cNvSpPr/>
          <p:nvPr/>
        </p:nvSpPr>
        <p:spPr>
          <a:xfrm>
            <a:off x="-3146830" y="-3119880"/>
            <a:ext cx="9601200" cy="9601200"/>
          </a:xfrm>
          <a:prstGeom prst="ellipse">
            <a:avLst/>
          </a:prstGeom>
          <a:gradFill rotWithShape="1">
            <a:gsLst>
              <a:gs pos="0">
                <a:srgbClr val="FFFFFF">
                  <a:alpha val="85000"/>
                </a:srgbClr>
              </a:gs>
              <a:gs pos="100000">
                <a:srgbClr val="FFFFFF">
                  <a:alpha val="0"/>
                </a:srgbClr>
              </a:gs>
            </a:gsLst>
            <a:path path="circle">
              <a:fillToRect l="50000" t="50000" r="50000" b="50000"/>
            </a:path>
          </a:gradFill>
          <a:ln>
            <a:noFill/>
          </a:ln>
        </p:spPr>
        <p:txBody>
          <a:bodyPr rtlCol="0" anchor="ctr"/>
          <a:lstStyle/>
          <a:p/>
        </p:txBody>
      </p:sp>
      <p:sp>
        <p:nvSpPr>
          <p:cNvPr id="5" name="!!Glow2"/>
          <p:cNvSpPr/>
          <p:nvPr/>
        </p:nvSpPr>
        <p:spPr>
          <a:xfrm>
            <a:off x="7177810" y="1816860"/>
            <a:ext cx="6720840" cy="6720840"/>
          </a:xfrm>
          <a:prstGeom prst="ellipse">
            <a:avLst/>
          </a:prstGeom>
          <a:gradFill rotWithShape="1">
            <a:gsLst>
              <a:gs pos="0">
                <a:srgbClr val="F9A825">
                  <a:alpha val="14000"/>
                </a:srgbClr>
              </a:gs>
              <a:gs pos="100000">
                <a:srgbClr val="F9A825">
                  <a:alpha val="0"/>
                </a:srgbClr>
              </a:gs>
            </a:gsLst>
            <a:path path="circle">
              <a:fillToRect l="50000" t="50000" r="50000" b="50000"/>
            </a:path>
          </a:gradFill>
          <a:ln>
            <a:noFill/>
          </a:ln>
        </p:spPr>
        <p:txBody>
          <a:bodyPr rtlCol="0" anchor="ctr"/>
          <a:lstStyle/>
          <a:p/>
        </p:txBody>
      </p:sp>
      <p:sp>
        <p:nvSpPr>
          <p:cNvPr id="6" name="!!Ring"/>
          <p:cNvSpPr/>
          <p:nvPr/>
        </p:nvSpPr>
        <p:spPr>
          <a:xfrm>
            <a:off x="9250418" y="-4082173"/>
            <a:ext cx="7132320" cy="7132320"/>
          </a:xfrm>
          <a:prstGeom prst="ellipse">
            <a:avLst/>
          </a:prstGeom>
          <a:noFill/>
          <a:ln w="12700">
            <a:solidFill>
              <a:srgbClr val="F9A825">
                <a:alpha val="85000"/>
              </a:srgbClr>
            </a:solidFill>
          </a:ln>
        </p:spPr>
        <p:txBody>
          <a:bodyPr rtlCol="0" anchor="ctr"/>
          <a:lstStyle/>
          <a:p/>
        </p:txBody>
      </p:sp>
      <p:pic>
        <p:nvPicPr>
          <p:cNvPr id="7" name="!!Hero" descr="Affiche 2"/>
          <p:cNvPicPr>
            <a:picLocks noChangeAspect="1"/>
          </p:cNvPicPr>
          <p:nvPr/>
        </p:nvPicPr>
        <p:blipFill>
          <a:blip r:embed="rId3"/>
          <a:srcRect t="14" b="14"/>
          <a:stretch>
            <a:fillRect/>
          </a:stretch>
        </p:blipFill>
        <p:spPr>
          <a:xfrm>
            <a:off x="4434840" y="1325880"/>
            <a:ext cx="7086600" cy="4186348"/>
          </a:xfrm>
          <a:prstGeom prst="roundRect">
            <a:avLst>
              <a:gd name="adj" fmla="val 2500"/>
            </a:avLst>
          </a:prstGeom>
          <a:effectLst>
            <a:outerShdw blurRad="381000" dist="101600" dir="5400000" algn="t" rotWithShape="0">
              <a:srgbClr val="1A0507">
                <a:alpha val="28000"/>
              </a:srgbClr>
            </a:outerShdw>
          </a:effectLst>
        </p:spPr>
      </p:pic>
      <p:pic>
        <p:nvPicPr>
          <p:cNvPr id="8" name="!!Second" descr="Affiche 2 en situation"/>
          <p:cNvPicPr>
            <a:picLocks noChangeAspect="1"/>
          </p:cNvPicPr>
          <p:nvPr/>
        </p:nvPicPr>
        <p:blipFill>
          <a:blip r:embed="rId4"/>
          <a:srcRect t="22392" b="22392"/>
          <a:stretch>
            <a:fillRect/>
          </a:stretch>
        </p:blipFill>
        <p:spPr>
          <a:xfrm>
            <a:off x="685800" y="3520440"/>
            <a:ext cx="3429000" cy="2514600"/>
          </a:xfrm>
          <a:prstGeom prst="roundRect">
            <a:avLst>
              <a:gd name="adj" fmla="val 4000"/>
            </a:avLst>
          </a:prstGeom>
          <a:effectLst>
            <a:outerShdw blurRad="330200" dist="88900" dir="5400000" algn="t" rotWithShape="0">
              <a:srgbClr val="1A0507">
                <a:alpha val="26000"/>
              </a:srgbClr>
            </a:outerShdw>
          </a:effectLst>
        </p:spPr>
      </p:pic>
      <p:pic>
        <p:nvPicPr>
          <p:cNvPr id="9" name="!!Grain" descr="grain.png"/>
          <p:cNvPicPr>
            <a:picLocks noChangeAspect="1"/>
          </p:cNvPicPr>
          <p:nvPr/>
        </p:nvPicPr>
        <p:blipFill>
          <a:blip r:embed="rId5"/>
          <a:srcRect/>
          <a:stretch>
            <a:fillRect/>
          </a:stretch>
        </p:blipFill>
        <p:spPr>
          <a:xfrm>
            <a:off x="0" y="0"/>
            <a:ext cx="12192000" cy="6858000"/>
          </a:xfrm>
          <a:prstGeom prst="rect">
            <a:avLst/>
          </a:prstGeom>
        </p:spPr>
      </p:pic>
      <p:sp>
        <p:nvSpPr>
          <p:cNvPr id="10" name="!!Title"/>
          <p:cNvSpPr txBox="1"/>
          <p:nvPr/>
        </p:nvSpPr>
        <p:spPr>
          <a:xfrm>
            <a:off x="685800" y="914400"/>
            <a:ext cx="3520440" cy="1554480"/>
          </a:xfrm>
          <a:prstGeom prst="rect">
            <a:avLst/>
          </a:prstGeom>
          <a:noFill/>
        </p:spPr>
        <p:txBody>
          <a:bodyPr wrap="square" lIns="0" rIns="0" tIns="0" bIns="0" anchor="t">
            <a:noAutofit/>
          </a:bodyPr>
          <a:lstStyle/>
          <a:p>
            <a:pPr algn="l">
              <a:lnSpc>
                <a:spcPct val="95000"/>
              </a:lnSpc>
            </a:pPr>
            <a:r>
              <a:rPr sz="3000">
                <a:solidFill>
                  <a:srgbClr val="7B1421"/>
                </a:solidFill>
                <a:latin typeface="Cream Heavy"/>
              </a:rPr>
              <a:t>Le goût qui rassemble</a:t>
            </a:r>
          </a:p>
        </p:txBody>
      </p:sp>
      <p:sp>
        <p:nvSpPr>
          <p:cNvPr id="11" name="!!Axe"/>
          <p:cNvSpPr txBox="1"/>
          <p:nvPr/>
        </p:nvSpPr>
        <p:spPr>
          <a:xfrm>
            <a:off x="685800" y="2606040"/>
            <a:ext cx="3520440" cy="640080"/>
          </a:xfrm>
          <a:prstGeom prst="rect">
            <a:avLst/>
          </a:prstGeom>
          <a:noFill/>
        </p:spPr>
        <p:txBody>
          <a:bodyPr wrap="square" lIns="0" rIns="0" tIns="0" bIns="0" anchor="t">
            <a:noAutofit/>
          </a:bodyPr>
          <a:lstStyle/>
          <a:p>
            <a:pPr algn="l"/>
            <a:r>
              <a:rPr sz="1400">
                <a:solidFill>
                  <a:srgbClr val="A40C21"/>
                </a:solidFill>
                <a:latin typeface="Montserrat SemiBold"/>
              </a:rPr>
              <a:t>Axe 2 · La convivialité et le partage</a:t>
            </a:r>
          </a:p>
        </p:txBody>
      </p:sp>
      <p:sp>
        <p:nvSpPr>
          <p:cNvPr id="12"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A40C21"/>
                </a:solidFill>
                <a:latin typeface="Montserrat SemiBold"/>
              </a:rPr>
              <a:t>04 · Affiche 2</a:t>
            </a:r>
          </a:p>
        </p:txBody>
      </p:sp>
      <p:sp>
        <p:nvSpPr>
          <p:cNvPr id="13"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A40C21"/>
                </a:solidFill>
                <a:latin typeface="Montserrat SemiBold"/>
              </a:rPr>
              <a:t>30</a:t>
            </a:r>
          </a:p>
        </p:txBody>
      </p:sp>
      <p:pic>
        <p:nvPicPr>
          <p:cNvPr id="14" name="!!Logo" descr="Logo Marin'Or Ivoire"/>
          <p:cNvPicPr>
            <a:picLocks noChangeAspect="1"/>
          </p:cNvPicPr>
          <p:nvPr/>
        </p:nvPicPr>
        <p:blipFill>
          <a:blip r:embed="rId6"/>
          <a:stretch>
            <a:fillRect/>
          </a:stretch>
        </p:blipFill>
        <p:spPr>
          <a:xfrm>
            <a:off x="10546080" y="311488"/>
            <a:ext cx="960120" cy="50299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FF6EA"/>
          </a:solidFill>
          <a:ln>
            <a:noFill/>
          </a:ln>
        </p:spPr>
        <p:txBody>
          <a:bodyPr rtlCol="0" anchor="ctr"/>
          <a:lstStyle/>
          <a:p/>
        </p:txBody>
      </p:sp>
      <p:pic>
        <p:nvPicPr>
          <p:cNvPr id="3" name="!!PlateL" descr="motif_bord.png"/>
          <p:cNvPicPr>
            <a:picLocks noChangeAspect="1"/>
          </p:cNvPicPr>
          <p:nvPr/>
        </p:nvPicPr>
        <p:blipFill>
          <a:blip r:embed="rId2"/>
          <a:srcRect/>
          <a:stretch>
            <a:fillRect/>
          </a:stretch>
        </p:blipFill>
        <p:spPr>
          <a:xfrm>
            <a:off x="-5650000" y="-3343082"/>
            <a:ext cx="21336000" cy="12001500"/>
          </a:xfrm>
          <a:prstGeom prst="rect">
            <a:avLst/>
          </a:prstGeom>
        </p:spPr>
      </p:pic>
      <p:sp>
        <p:nvSpPr>
          <p:cNvPr id="4" name="!!Glow"/>
          <p:cNvSpPr/>
          <p:nvPr/>
        </p:nvSpPr>
        <p:spPr>
          <a:xfrm>
            <a:off x="-1624822" y="-3460692"/>
            <a:ext cx="9601200" cy="9601200"/>
          </a:xfrm>
          <a:prstGeom prst="ellipse">
            <a:avLst/>
          </a:prstGeom>
          <a:gradFill rotWithShape="1">
            <a:gsLst>
              <a:gs pos="0">
                <a:srgbClr val="FFFFFF">
                  <a:alpha val="85000"/>
                </a:srgbClr>
              </a:gs>
              <a:gs pos="100000">
                <a:srgbClr val="FFFFFF">
                  <a:alpha val="0"/>
                </a:srgbClr>
              </a:gs>
            </a:gsLst>
            <a:path path="circle">
              <a:fillToRect l="50000" t="50000" r="50000" b="50000"/>
            </a:path>
          </a:gradFill>
          <a:ln>
            <a:noFill/>
          </a:ln>
        </p:spPr>
        <p:txBody>
          <a:bodyPr rtlCol="0" anchor="ctr"/>
          <a:lstStyle/>
          <a:p/>
        </p:txBody>
      </p:sp>
      <p:sp>
        <p:nvSpPr>
          <p:cNvPr id="5" name="!!Glow2"/>
          <p:cNvSpPr/>
          <p:nvPr/>
        </p:nvSpPr>
        <p:spPr>
          <a:xfrm>
            <a:off x="5655802" y="2157672"/>
            <a:ext cx="6720840" cy="6720840"/>
          </a:xfrm>
          <a:prstGeom prst="ellipse">
            <a:avLst/>
          </a:prstGeom>
          <a:gradFill rotWithShape="1">
            <a:gsLst>
              <a:gs pos="0">
                <a:srgbClr val="F9A825">
                  <a:alpha val="14000"/>
                </a:srgbClr>
              </a:gs>
              <a:gs pos="100000">
                <a:srgbClr val="F9A825">
                  <a:alpha val="0"/>
                </a:srgbClr>
              </a:gs>
            </a:gsLst>
            <a:path path="circle">
              <a:fillToRect l="50000" t="50000" r="50000" b="50000"/>
            </a:path>
          </a:gradFill>
          <a:ln>
            <a:noFill/>
          </a:ln>
        </p:spPr>
        <p:txBody>
          <a:bodyPr rtlCol="0" anchor="ctr"/>
          <a:lstStyle/>
          <a:p/>
        </p:txBody>
      </p:sp>
      <p:sp>
        <p:nvSpPr>
          <p:cNvPr id="6" name="!!Ring"/>
          <p:cNvSpPr/>
          <p:nvPr/>
        </p:nvSpPr>
        <p:spPr>
          <a:xfrm>
            <a:off x="9435703" y="-4194695"/>
            <a:ext cx="7132320" cy="7132320"/>
          </a:xfrm>
          <a:prstGeom prst="ellipse">
            <a:avLst/>
          </a:prstGeom>
          <a:noFill/>
          <a:ln w="12700">
            <a:solidFill>
              <a:srgbClr val="F9A825">
                <a:alpha val="85000"/>
              </a:srgbClr>
            </a:solidFill>
          </a:ln>
        </p:spPr>
        <p:txBody>
          <a:bodyPr rtlCol="0" anchor="ctr"/>
          <a:lstStyle/>
          <a:p/>
        </p:txBody>
      </p:sp>
      <p:pic>
        <p:nvPicPr>
          <p:cNvPr id="7" name="!!Hero" descr="Affiche 3"/>
          <p:cNvPicPr>
            <a:picLocks noChangeAspect="1"/>
          </p:cNvPicPr>
          <p:nvPr/>
        </p:nvPicPr>
        <p:blipFill>
          <a:blip r:embed="rId3"/>
          <a:srcRect t="14" b="14"/>
          <a:stretch>
            <a:fillRect/>
          </a:stretch>
        </p:blipFill>
        <p:spPr>
          <a:xfrm>
            <a:off x="4434840" y="1325880"/>
            <a:ext cx="7086600" cy="4186348"/>
          </a:xfrm>
          <a:prstGeom prst="roundRect">
            <a:avLst>
              <a:gd name="adj" fmla="val 2500"/>
            </a:avLst>
          </a:prstGeom>
          <a:effectLst>
            <a:outerShdw blurRad="381000" dist="101600" dir="5400000" algn="t" rotWithShape="0">
              <a:srgbClr val="1A0507">
                <a:alpha val="28000"/>
              </a:srgbClr>
            </a:outerShdw>
          </a:effectLst>
        </p:spPr>
      </p:pic>
      <p:pic>
        <p:nvPicPr>
          <p:cNvPr id="8" name="!!Second" descr="Affiche 3 en situation"/>
          <p:cNvPicPr>
            <a:picLocks noChangeAspect="1"/>
          </p:cNvPicPr>
          <p:nvPr/>
        </p:nvPicPr>
        <p:blipFill>
          <a:blip r:embed="rId4"/>
          <a:srcRect l="4273" r="4273"/>
          <a:stretch>
            <a:fillRect/>
          </a:stretch>
        </p:blipFill>
        <p:spPr>
          <a:xfrm>
            <a:off x="685800" y="3520440"/>
            <a:ext cx="3429000" cy="2514600"/>
          </a:xfrm>
          <a:prstGeom prst="roundRect">
            <a:avLst>
              <a:gd name="adj" fmla="val 4000"/>
            </a:avLst>
          </a:prstGeom>
          <a:effectLst>
            <a:outerShdw blurRad="330200" dist="88900" dir="5400000" algn="t" rotWithShape="0">
              <a:srgbClr val="1A0507">
                <a:alpha val="26000"/>
              </a:srgbClr>
            </a:outerShdw>
          </a:effectLst>
        </p:spPr>
      </p:pic>
      <p:pic>
        <p:nvPicPr>
          <p:cNvPr id="9" name="!!Grain" descr="grain.png"/>
          <p:cNvPicPr>
            <a:picLocks noChangeAspect="1"/>
          </p:cNvPicPr>
          <p:nvPr/>
        </p:nvPicPr>
        <p:blipFill>
          <a:blip r:embed="rId5"/>
          <a:srcRect/>
          <a:stretch>
            <a:fillRect/>
          </a:stretch>
        </p:blipFill>
        <p:spPr>
          <a:xfrm>
            <a:off x="0" y="0"/>
            <a:ext cx="12192000" cy="6858000"/>
          </a:xfrm>
          <a:prstGeom prst="rect">
            <a:avLst/>
          </a:prstGeom>
        </p:spPr>
      </p:pic>
      <p:sp>
        <p:nvSpPr>
          <p:cNvPr id="10" name="!!Title"/>
          <p:cNvSpPr txBox="1"/>
          <p:nvPr/>
        </p:nvSpPr>
        <p:spPr>
          <a:xfrm>
            <a:off x="685800" y="914400"/>
            <a:ext cx="3520440" cy="1554480"/>
          </a:xfrm>
          <a:prstGeom prst="rect">
            <a:avLst/>
          </a:prstGeom>
          <a:noFill/>
        </p:spPr>
        <p:txBody>
          <a:bodyPr wrap="square" lIns="0" rIns="0" tIns="0" bIns="0" anchor="t">
            <a:noAutofit/>
          </a:bodyPr>
          <a:lstStyle/>
          <a:p>
            <a:pPr algn="l">
              <a:lnSpc>
                <a:spcPct val="95000"/>
              </a:lnSpc>
            </a:pPr>
            <a:r>
              <a:rPr sz="3000">
                <a:solidFill>
                  <a:srgbClr val="7B1421"/>
                </a:solidFill>
                <a:latin typeface="Cream Heavy"/>
              </a:rPr>
              <a:t>Marinez, Cuisez, Régalez-vous</a:t>
            </a:r>
          </a:p>
        </p:txBody>
      </p:sp>
      <p:sp>
        <p:nvSpPr>
          <p:cNvPr id="11" name="!!Axe"/>
          <p:cNvSpPr txBox="1"/>
          <p:nvPr/>
        </p:nvSpPr>
        <p:spPr>
          <a:xfrm>
            <a:off x="685800" y="2606040"/>
            <a:ext cx="3520440" cy="640080"/>
          </a:xfrm>
          <a:prstGeom prst="rect">
            <a:avLst/>
          </a:prstGeom>
          <a:noFill/>
        </p:spPr>
        <p:txBody>
          <a:bodyPr wrap="square" lIns="0" rIns="0" tIns="0" bIns="0" anchor="t">
            <a:noAutofit/>
          </a:bodyPr>
          <a:lstStyle/>
          <a:p>
            <a:pPr algn="l"/>
            <a:r>
              <a:rPr sz="1400">
                <a:solidFill>
                  <a:srgbClr val="A40C21"/>
                </a:solidFill>
                <a:latin typeface="Montserrat SemiBold"/>
              </a:rPr>
              <a:t>Axe 3 · La simplicité accessible au quotidien</a:t>
            </a:r>
          </a:p>
        </p:txBody>
      </p:sp>
      <p:sp>
        <p:nvSpPr>
          <p:cNvPr id="12"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A40C21"/>
                </a:solidFill>
                <a:latin typeface="Montserrat SemiBold"/>
              </a:rPr>
              <a:t>04 · Affiche 3</a:t>
            </a:r>
          </a:p>
        </p:txBody>
      </p:sp>
      <p:sp>
        <p:nvSpPr>
          <p:cNvPr id="13"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A40C21"/>
                </a:solidFill>
                <a:latin typeface="Montserrat SemiBold"/>
              </a:rPr>
              <a:t>31</a:t>
            </a:r>
          </a:p>
        </p:txBody>
      </p:sp>
      <p:pic>
        <p:nvPicPr>
          <p:cNvPr id="14" name="!!Logo" descr="Logo Marin'Or Ivoire"/>
          <p:cNvPicPr>
            <a:picLocks noChangeAspect="1"/>
          </p:cNvPicPr>
          <p:nvPr/>
        </p:nvPicPr>
        <p:blipFill>
          <a:blip r:embed="rId6"/>
          <a:stretch>
            <a:fillRect/>
          </a:stretch>
        </p:blipFill>
        <p:spPr>
          <a:xfrm>
            <a:off x="10546080" y="311488"/>
            <a:ext cx="960120" cy="50299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FF6EA"/>
          </a:solidFill>
          <a:ln>
            <a:noFill/>
          </a:ln>
        </p:spPr>
        <p:txBody>
          <a:bodyPr rtlCol="0" anchor="ctr"/>
          <a:lstStyle/>
          <a:p/>
        </p:txBody>
      </p:sp>
      <p:pic>
        <p:nvPicPr>
          <p:cNvPr id="3" name="!!PlateL" descr="motif_bord.png"/>
          <p:cNvPicPr>
            <a:picLocks noChangeAspect="1"/>
          </p:cNvPicPr>
          <p:nvPr/>
        </p:nvPicPr>
        <p:blipFill>
          <a:blip r:embed="rId2"/>
          <a:srcRect/>
          <a:stretch>
            <a:fillRect/>
          </a:stretch>
        </p:blipFill>
        <p:spPr>
          <a:xfrm>
            <a:off x="-5830000" y="-3547290"/>
            <a:ext cx="21336000" cy="12001500"/>
          </a:xfrm>
          <a:prstGeom prst="rect">
            <a:avLst/>
          </a:prstGeom>
        </p:spPr>
      </p:pic>
      <p:sp>
        <p:nvSpPr>
          <p:cNvPr id="4" name="!!Glow"/>
          <p:cNvSpPr/>
          <p:nvPr/>
        </p:nvSpPr>
        <p:spPr>
          <a:xfrm>
            <a:off x="111220" y="-3428057"/>
            <a:ext cx="9601200" cy="9601200"/>
          </a:xfrm>
          <a:prstGeom prst="ellipse">
            <a:avLst/>
          </a:prstGeom>
          <a:gradFill rotWithShape="1">
            <a:gsLst>
              <a:gs pos="0">
                <a:srgbClr val="FFFFFF">
                  <a:alpha val="85000"/>
                </a:srgbClr>
              </a:gs>
              <a:gs pos="100000">
                <a:srgbClr val="FFFFFF">
                  <a:alpha val="0"/>
                </a:srgbClr>
              </a:gs>
            </a:gsLst>
            <a:path path="circle">
              <a:fillToRect l="50000" t="50000" r="50000" b="50000"/>
            </a:path>
          </a:gradFill>
          <a:ln>
            <a:noFill/>
          </a:ln>
        </p:spPr>
        <p:txBody>
          <a:bodyPr rtlCol="0" anchor="ctr"/>
          <a:lstStyle/>
          <a:p/>
        </p:txBody>
      </p:sp>
      <p:sp>
        <p:nvSpPr>
          <p:cNvPr id="5" name="!!Glow2"/>
          <p:cNvSpPr/>
          <p:nvPr/>
        </p:nvSpPr>
        <p:spPr>
          <a:xfrm>
            <a:off x="3919759" y="2125037"/>
            <a:ext cx="6720840" cy="6720840"/>
          </a:xfrm>
          <a:prstGeom prst="ellipse">
            <a:avLst/>
          </a:prstGeom>
          <a:gradFill rotWithShape="1">
            <a:gsLst>
              <a:gs pos="0">
                <a:srgbClr val="F9A825">
                  <a:alpha val="14000"/>
                </a:srgbClr>
              </a:gs>
              <a:gs pos="100000">
                <a:srgbClr val="F9A825">
                  <a:alpha val="0"/>
                </a:srgbClr>
              </a:gs>
            </a:gsLst>
            <a:path path="circle">
              <a:fillToRect l="50000" t="50000" r="50000" b="50000"/>
            </a:path>
          </a:gradFill>
          <a:ln>
            <a:noFill/>
          </a:ln>
        </p:spPr>
        <p:txBody>
          <a:bodyPr rtlCol="0" anchor="ctr"/>
          <a:lstStyle/>
          <a:p/>
        </p:txBody>
      </p:sp>
      <p:sp>
        <p:nvSpPr>
          <p:cNvPr id="6" name="!!Ring"/>
          <p:cNvSpPr/>
          <p:nvPr/>
        </p:nvSpPr>
        <p:spPr>
          <a:xfrm>
            <a:off x="9684399" y="-4183630"/>
            <a:ext cx="7132320" cy="7132320"/>
          </a:xfrm>
          <a:prstGeom prst="ellipse">
            <a:avLst/>
          </a:prstGeom>
          <a:noFill/>
          <a:ln w="12700">
            <a:solidFill>
              <a:srgbClr val="F9A825">
                <a:alpha val="85000"/>
              </a:srgbClr>
            </a:solidFill>
          </a:ln>
        </p:spPr>
        <p:txBody>
          <a:bodyPr rtlCol="0" anchor="ctr"/>
          <a:lstStyle/>
          <a:p/>
        </p:txBody>
      </p:sp>
      <p:pic>
        <p:nvPicPr>
          <p:cNvPr id="7" name="!!Hero" descr="Dépliant recto (extérieur)"/>
          <p:cNvPicPr>
            <a:picLocks noChangeAspect="1"/>
          </p:cNvPicPr>
          <p:nvPr/>
        </p:nvPicPr>
        <p:blipFill>
          <a:blip r:embed="rId3"/>
          <a:srcRect t="0" b="0"/>
          <a:stretch>
            <a:fillRect/>
          </a:stretch>
        </p:blipFill>
        <p:spPr>
          <a:xfrm>
            <a:off x="4434840" y="1051560"/>
            <a:ext cx="4572000" cy="3270213"/>
          </a:xfrm>
          <a:prstGeom prst="roundRect">
            <a:avLst>
              <a:gd name="adj" fmla="val 2000"/>
            </a:avLst>
          </a:prstGeom>
          <a:effectLst>
            <a:outerShdw blurRad="330200" dist="88900" dir="5400000" algn="t" rotWithShape="0">
              <a:srgbClr val="1A0507">
                <a:alpha val="26000"/>
              </a:srgbClr>
            </a:outerShdw>
          </a:effectLst>
        </p:spPr>
      </p:pic>
      <p:pic>
        <p:nvPicPr>
          <p:cNvPr id="8" name="!!Third" descr="Dépliant verso (intérieur)"/>
          <p:cNvPicPr>
            <a:picLocks noChangeAspect="1"/>
          </p:cNvPicPr>
          <p:nvPr/>
        </p:nvPicPr>
        <p:blipFill>
          <a:blip r:embed="rId4"/>
          <a:srcRect/>
          <a:stretch>
            <a:fillRect/>
          </a:stretch>
        </p:blipFill>
        <p:spPr>
          <a:xfrm>
            <a:off x="6949440" y="3154680"/>
            <a:ext cx="4572000" cy="3276949"/>
          </a:xfrm>
          <a:prstGeom prst="roundRect">
            <a:avLst>
              <a:gd name="adj" fmla="val 2000"/>
            </a:avLst>
          </a:prstGeom>
          <a:effectLst>
            <a:outerShdw blurRad="381000" dist="101600" dir="5400000" algn="t" rotWithShape="0">
              <a:srgbClr val="1A0507">
                <a:alpha val="30000"/>
              </a:srgbClr>
            </a:outerShdw>
          </a:effectLst>
        </p:spPr>
      </p:pic>
      <p:pic>
        <p:nvPicPr>
          <p:cNvPr id="9" name="!!Second" descr="Dépliant en situation"/>
          <p:cNvPicPr>
            <a:picLocks noChangeAspect="1"/>
          </p:cNvPicPr>
          <p:nvPr/>
        </p:nvPicPr>
        <p:blipFill>
          <a:blip r:embed="rId5"/>
          <a:srcRect t="1111" b="1111"/>
          <a:stretch>
            <a:fillRect/>
          </a:stretch>
        </p:blipFill>
        <p:spPr>
          <a:xfrm>
            <a:off x="685800" y="3520440"/>
            <a:ext cx="3429000" cy="2514600"/>
          </a:xfrm>
          <a:prstGeom prst="roundRect">
            <a:avLst>
              <a:gd name="adj" fmla="val 4000"/>
            </a:avLst>
          </a:prstGeom>
          <a:effectLst>
            <a:outerShdw blurRad="330200" dist="88900" dir="5400000" algn="t" rotWithShape="0">
              <a:srgbClr val="1A0507">
                <a:alpha val="26000"/>
              </a:srgbClr>
            </a:outerShdw>
          </a:effectLst>
        </p:spPr>
      </p:pic>
      <p:pic>
        <p:nvPicPr>
          <p:cNvPr id="10" name="!!Grain" descr="grain.png"/>
          <p:cNvPicPr>
            <a:picLocks noChangeAspect="1"/>
          </p:cNvPicPr>
          <p:nvPr/>
        </p:nvPicPr>
        <p:blipFill>
          <a:blip r:embed="rId6"/>
          <a:srcRect/>
          <a:stretch>
            <a:fillRect/>
          </a:stretch>
        </p:blipFill>
        <p:spPr>
          <a:xfrm>
            <a:off x="0" y="0"/>
            <a:ext cx="12192000" cy="6858000"/>
          </a:xfrm>
          <a:prstGeom prst="rect">
            <a:avLst/>
          </a:prstGeom>
        </p:spPr>
      </p:pic>
      <p:sp>
        <p:nvSpPr>
          <p:cNvPr id="11" name="!!Title"/>
          <p:cNvSpPr txBox="1"/>
          <p:nvPr/>
        </p:nvSpPr>
        <p:spPr>
          <a:xfrm>
            <a:off x="685800" y="914400"/>
            <a:ext cx="3520440" cy="1554480"/>
          </a:xfrm>
          <a:prstGeom prst="rect">
            <a:avLst/>
          </a:prstGeom>
          <a:noFill/>
        </p:spPr>
        <p:txBody>
          <a:bodyPr wrap="square" lIns="0" rIns="0" tIns="0" bIns="0" anchor="t">
            <a:noAutofit/>
          </a:bodyPr>
          <a:lstStyle/>
          <a:p>
            <a:pPr algn="l">
              <a:lnSpc>
                <a:spcPct val="95000"/>
              </a:lnSpc>
            </a:pPr>
            <a:r>
              <a:rPr sz="3000">
                <a:solidFill>
                  <a:srgbClr val="7B1421"/>
                </a:solidFill>
                <a:latin typeface="Cream Heavy"/>
              </a:rPr>
              <a:t>Dépliant trois volets</a:t>
            </a:r>
          </a:p>
        </p:txBody>
      </p:sp>
      <p:sp>
        <p:nvSpPr>
          <p:cNvPr id="12" name="!!Axe"/>
          <p:cNvSpPr txBox="1"/>
          <p:nvPr/>
        </p:nvSpPr>
        <p:spPr>
          <a:xfrm>
            <a:off x="685800" y="2606040"/>
            <a:ext cx="3520440" cy="640080"/>
          </a:xfrm>
          <a:prstGeom prst="rect">
            <a:avLst/>
          </a:prstGeom>
          <a:noFill/>
        </p:spPr>
        <p:txBody>
          <a:bodyPr wrap="square" lIns="0" rIns="0" tIns="0" bIns="0" anchor="t">
            <a:noAutofit/>
          </a:bodyPr>
          <a:lstStyle/>
          <a:p>
            <a:pPr algn="l"/>
            <a:r>
              <a:rPr sz="1250">
                <a:solidFill>
                  <a:srgbClr val="A40C21"/>
                </a:solidFill>
                <a:latin typeface="Montserrat SemiBold"/>
              </a:rPr>
              <a:t>Les trois axes · extérieur : la marque, intérieur : la gamme</a:t>
            </a:r>
          </a:p>
        </p:txBody>
      </p:sp>
      <p:sp>
        <p:nvSpPr>
          <p:cNvPr id="13"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A40C21"/>
                </a:solidFill>
                <a:latin typeface="Montserrat SemiBold"/>
              </a:rPr>
              <a:t>04 · Dépliant</a:t>
            </a:r>
          </a:p>
        </p:txBody>
      </p:sp>
      <p:sp>
        <p:nvSpPr>
          <p:cNvPr id="14"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A40C21"/>
                </a:solidFill>
                <a:latin typeface="Montserrat SemiBold"/>
              </a:rPr>
              <a:t>32</a:t>
            </a:r>
          </a:p>
        </p:txBody>
      </p:sp>
      <p:pic>
        <p:nvPicPr>
          <p:cNvPr id="15" name="!!Logo" descr="Logo Marin'Or Ivoire"/>
          <p:cNvPicPr>
            <a:picLocks noChangeAspect="1"/>
          </p:cNvPicPr>
          <p:nvPr/>
        </p:nvPicPr>
        <p:blipFill>
          <a:blip r:embed="rId7"/>
          <a:stretch>
            <a:fillRect/>
          </a:stretch>
        </p:blipFill>
        <p:spPr>
          <a:xfrm>
            <a:off x="10546080" y="311488"/>
            <a:ext cx="960120" cy="50299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FF6EA"/>
          </a:solidFill>
          <a:ln>
            <a:noFill/>
          </a:ln>
        </p:spPr>
        <p:txBody>
          <a:bodyPr rtlCol="0" anchor="ctr"/>
          <a:lstStyle/>
          <a:p/>
        </p:txBody>
      </p:sp>
      <p:pic>
        <p:nvPicPr>
          <p:cNvPr id="3" name="!!PlateL" descr="motif_bord.png"/>
          <p:cNvPicPr>
            <a:picLocks noChangeAspect="1"/>
          </p:cNvPicPr>
          <p:nvPr/>
        </p:nvPicPr>
        <p:blipFill>
          <a:blip r:embed="rId2"/>
          <a:srcRect/>
          <a:stretch>
            <a:fillRect/>
          </a:stretch>
        </p:blipFill>
        <p:spPr>
          <a:xfrm>
            <a:off x="-6010000" y="-3643875"/>
            <a:ext cx="21336000" cy="12001500"/>
          </a:xfrm>
          <a:prstGeom prst="rect">
            <a:avLst/>
          </a:prstGeom>
        </p:spPr>
      </p:pic>
      <p:sp>
        <p:nvSpPr>
          <p:cNvPr id="4" name="!!Glow"/>
          <p:cNvSpPr/>
          <p:nvPr/>
        </p:nvSpPr>
        <p:spPr>
          <a:xfrm>
            <a:off x="1549250" y="-3031601"/>
            <a:ext cx="9601200" cy="9601200"/>
          </a:xfrm>
          <a:prstGeom prst="ellipse">
            <a:avLst/>
          </a:prstGeom>
          <a:gradFill rotWithShape="1">
            <a:gsLst>
              <a:gs pos="0">
                <a:srgbClr val="FFFFFF">
                  <a:alpha val="85000"/>
                </a:srgbClr>
              </a:gs>
              <a:gs pos="100000">
                <a:srgbClr val="FFFFFF">
                  <a:alpha val="0"/>
                </a:srgbClr>
              </a:gs>
            </a:gsLst>
            <a:path path="circle">
              <a:fillToRect l="50000" t="50000" r="50000" b="50000"/>
            </a:path>
          </a:gradFill>
          <a:ln>
            <a:noFill/>
          </a:ln>
        </p:spPr>
        <p:txBody>
          <a:bodyPr rtlCol="0" anchor="ctr"/>
          <a:lstStyle/>
          <a:p/>
        </p:txBody>
      </p:sp>
      <p:sp>
        <p:nvSpPr>
          <p:cNvPr id="5" name="!!Glow2"/>
          <p:cNvSpPr/>
          <p:nvPr/>
        </p:nvSpPr>
        <p:spPr>
          <a:xfrm>
            <a:off x="2481729" y="1728581"/>
            <a:ext cx="6720840" cy="6720840"/>
          </a:xfrm>
          <a:prstGeom prst="ellipse">
            <a:avLst/>
          </a:prstGeom>
          <a:gradFill rotWithShape="1">
            <a:gsLst>
              <a:gs pos="0">
                <a:srgbClr val="F9A825">
                  <a:alpha val="14000"/>
                </a:srgbClr>
              </a:gs>
              <a:gs pos="100000">
                <a:srgbClr val="F9A825">
                  <a:alpha val="0"/>
                </a:srgbClr>
              </a:gs>
            </a:gsLst>
            <a:path path="circle">
              <a:fillToRect l="50000" t="50000" r="50000" b="50000"/>
            </a:path>
          </a:gradFill>
          <a:ln>
            <a:noFill/>
          </a:ln>
        </p:spPr>
        <p:txBody>
          <a:bodyPr rtlCol="0" anchor="ctr"/>
          <a:lstStyle/>
          <a:p/>
        </p:txBody>
      </p:sp>
      <p:sp>
        <p:nvSpPr>
          <p:cNvPr id="6" name="!!Ring"/>
          <p:cNvSpPr/>
          <p:nvPr/>
        </p:nvSpPr>
        <p:spPr>
          <a:xfrm>
            <a:off x="9845649" y="-4054181"/>
            <a:ext cx="7132320" cy="7132320"/>
          </a:xfrm>
          <a:prstGeom prst="ellipse">
            <a:avLst/>
          </a:prstGeom>
          <a:noFill/>
          <a:ln w="12700">
            <a:solidFill>
              <a:srgbClr val="F9A825">
                <a:alpha val="85000"/>
              </a:srgbClr>
            </a:solidFill>
          </a:ln>
        </p:spPr>
        <p:txBody>
          <a:bodyPr rtlCol="0" anchor="ctr"/>
          <a:lstStyle/>
          <a:p/>
        </p:txBody>
      </p:sp>
      <p:pic>
        <p:nvPicPr>
          <p:cNvPr id="7" name="!!Hero" descr="Flyer"/>
          <p:cNvPicPr>
            <a:picLocks noChangeAspect="1"/>
          </p:cNvPicPr>
          <p:nvPr/>
        </p:nvPicPr>
        <p:blipFill>
          <a:blip r:embed="rId3"/>
          <a:srcRect l="7" r="7"/>
          <a:stretch>
            <a:fillRect/>
          </a:stretch>
        </p:blipFill>
        <p:spPr>
          <a:xfrm>
            <a:off x="7726679" y="1051560"/>
            <a:ext cx="3502586" cy="4983480"/>
          </a:xfrm>
          <a:prstGeom prst="roundRect">
            <a:avLst>
              <a:gd name="adj" fmla="val 2000"/>
            </a:avLst>
          </a:prstGeom>
          <a:effectLst>
            <a:outerShdw blurRad="381000" dist="101600" dir="5400000" algn="t" rotWithShape="0">
              <a:srgbClr val="1A0507">
                <a:alpha val="28000"/>
              </a:srgbClr>
            </a:outerShdw>
          </a:effectLst>
        </p:spPr>
      </p:pic>
      <p:pic>
        <p:nvPicPr>
          <p:cNvPr id="8" name="!!Second" descr="Flyer en situation"/>
          <p:cNvPicPr>
            <a:picLocks noChangeAspect="1"/>
          </p:cNvPicPr>
          <p:nvPr/>
        </p:nvPicPr>
        <p:blipFill>
          <a:blip r:embed="rId4"/>
          <a:srcRect/>
          <a:stretch>
            <a:fillRect/>
          </a:stretch>
        </p:blipFill>
        <p:spPr>
          <a:xfrm>
            <a:off x="4434840" y="1463040"/>
            <a:ext cx="3017520" cy="4007643"/>
          </a:xfrm>
          <a:prstGeom prst="roundRect">
            <a:avLst>
              <a:gd name="adj" fmla="val 4000"/>
            </a:avLst>
          </a:prstGeom>
          <a:effectLst>
            <a:outerShdw blurRad="330200" dist="88900" dir="5400000" algn="t" rotWithShape="0">
              <a:srgbClr val="1A0507">
                <a:alpha val="26000"/>
              </a:srgbClr>
            </a:outerShdw>
          </a:effectLst>
        </p:spPr>
      </p:pic>
      <p:pic>
        <p:nvPicPr>
          <p:cNvPr id="9" name="!!Grain" descr="grain.png"/>
          <p:cNvPicPr>
            <a:picLocks noChangeAspect="1"/>
          </p:cNvPicPr>
          <p:nvPr/>
        </p:nvPicPr>
        <p:blipFill>
          <a:blip r:embed="rId5"/>
          <a:srcRect/>
          <a:stretch>
            <a:fillRect/>
          </a:stretch>
        </p:blipFill>
        <p:spPr>
          <a:xfrm>
            <a:off x="0" y="0"/>
            <a:ext cx="12192000" cy="6858000"/>
          </a:xfrm>
          <a:prstGeom prst="rect">
            <a:avLst/>
          </a:prstGeom>
        </p:spPr>
      </p:pic>
      <p:sp>
        <p:nvSpPr>
          <p:cNvPr id="10" name="!!Title"/>
          <p:cNvSpPr txBox="1"/>
          <p:nvPr/>
        </p:nvSpPr>
        <p:spPr>
          <a:xfrm>
            <a:off x="685800" y="914400"/>
            <a:ext cx="3520440" cy="1554480"/>
          </a:xfrm>
          <a:prstGeom prst="rect">
            <a:avLst/>
          </a:prstGeom>
          <a:noFill/>
        </p:spPr>
        <p:txBody>
          <a:bodyPr wrap="square" lIns="0" rIns="0" tIns="0" bIns="0" anchor="t">
            <a:noAutofit/>
          </a:bodyPr>
          <a:lstStyle/>
          <a:p>
            <a:pPr algn="l">
              <a:lnSpc>
                <a:spcPct val="95000"/>
              </a:lnSpc>
            </a:pPr>
            <a:r>
              <a:rPr sz="3000">
                <a:solidFill>
                  <a:srgbClr val="7B1421"/>
                </a:solidFill>
                <a:latin typeface="Cream Heavy"/>
              </a:rPr>
              <a:t>Marinez, Cuisez, Régalez-vous !</a:t>
            </a:r>
          </a:p>
        </p:txBody>
      </p:sp>
      <p:sp>
        <p:nvSpPr>
          <p:cNvPr id="11" name="!!Axe"/>
          <p:cNvSpPr txBox="1"/>
          <p:nvPr/>
        </p:nvSpPr>
        <p:spPr>
          <a:xfrm>
            <a:off x="685800" y="2606040"/>
            <a:ext cx="3520440" cy="640080"/>
          </a:xfrm>
          <a:prstGeom prst="rect">
            <a:avLst/>
          </a:prstGeom>
          <a:noFill/>
        </p:spPr>
        <p:txBody>
          <a:bodyPr wrap="square" lIns="0" rIns="0" tIns="0" bIns="0" anchor="t">
            <a:noAutofit/>
          </a:bodyPr>
          <a:lstStyle/>
          <a:p>
            <a:pPr algn="l"/>
            <a:r>
              <a:rPr sz="1250">
                <a:solidFill>
                  <a:srgbClr val="A40C21"/>
                </a:solidFill>
                <a:latin typeface="Montserrat SemiBold"/>
              </a:rPr>
              <a:t>Flyer · Axe 3 · « Le goût du chef, sans l'effort »</a:t>
            </a:r>
          </a:p>
        </p:txBody>
      </p:sp>
      <p:sp>
        <p:nvSpPr>
          <p:cNvPr id="12"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A40C21"/>
                </a:solidFill>
                <a:latin typeface="Montserrat SemiBold"/>
              </a:rPr>
              <a:t>04 · Flyer</a:t>
            </a:r>
          </a:p>
        </p:txBody>
      </p:sp>
      <p:sp>
        <p:nvSpPr>
          <p:cNvPr id="13"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A40C21"/>
                </a:solidFill>
                <a:latin typeface="Montserrat SemiBold"/>
              </a:rPr>
              <a:t>33</a:t>
            </a:r>
          </a:p>
        </p:txBody>
      </p:sp>
      <p:pic>
        <p:nvPicPr>
          <p:cNvPr id="14" name="!!Logo" descr="Logo Marin'Or Ivoire"/>
          <p:cNvPicPr>
            <a:picLocks noChangeAspect="1"/>
          </p:cNvPicPr>
          <p:nvPr/>
        </p:nvPicPr>
        <p:blipFill>
          <a:blip r:embed="rId6"/>
          <a:stretch>
            <a:fillRect/>
          </a:stretch>
        </p:blipFill>
        <p:spPr>
          <a:xfrm>
            <a:off x="10546080" y="311488"/>
            <a:ext cx="960120" cy="50299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FF6EA"/>
          </a:solidFill>
          <a:ln>
            <a:noFill/>
          </a:ln>
        </p:spPr>
        <p:txBody>
          <a:bodyPr rtlCol="0" anchor="ctr"/>
          <a:lstStyle/>
          <a:p/>
        </p:txBody>
      </p:sp>
      <p:pic>
        <p:nvPicPr>
          <p:cNvPr id="3" name="!!PlateL" descr="motif_bord.png"/>
          <p:cNvPicPr>
            <a:picLocks noChangeAspect="1"/>
          </p:cNvPicPr>
          <p:nvPr/>
        </p:nvPicPr>
        <p:blipFill>
          <a:blip r:embed="rId2"/>
          <a:srcRect/>
          <a:stretch>
            <a:fillRect/>
          </a:stretch>
        </p:blipFill>
        <p:spPr>
          <a:xfrm>
            <a:off x="-6190000" y="-3622414"/>
            <a:ext cx="21336000" cy="12001500"/>
          </a:xfrm>
          <a:prstGeom prst="rect">
            <a:avLst/>
          </a:prstGeom>
        </p:spPr>
      </p:pic>
      <p:sp>
        <p:nvSpPr>
          <p:cNvPr id="4" name="!!Glow"/>
          <p:cNvSpPr/>
          <p:nvPr/>
        </p:nvSpPr>
        <p:spPr>
          <a:xfrm>
            <a:off x="2265119" y="-2388258"/>
            <a:ext cx="9601200" cy="9601200"/>
          </a:xfrm>
          <a:prstGeom prst="ellipse">
            <a:avLst/>
          </a:prstGeom>
          <a:gradFill rotWithShape="1">
            <a:gsLst>
              <a:gs pos="0">
                <a:srgbClr val="FFFFFF">
                  <a:alpha val="85000"/>
                </a:srgbClr>
              </a:gs>
              <a:gs pos="100000">
                <a:srgbClr val="FFFFFF">
                  <a:alpha val="0"/>
                </a:srgbClr>
              </a:gs>
            </a:gsLst>
            <a:path path="circle">
              <a:fillToRect l="50000" t="50000" r="50000" b="50000"/>
            </a:path>
          </a:gradFill>
          <a:ln>
            <a:noFill/>
          </a:ln>
        </p:spPr>
        <p:txBody>
          <a:bodyPr rtlCol="0" anchor="ctr"/>
          <a:lstStyle/>
          <a:p/>
        </p:txBody>
      </p:sp>
      <p:sp>
        <p:nvSpPr>
          <p:cNvPr id="5" name="!!Glow2"/>
          <p:cNvSpPr/>
          <p:nvPr/>
        </p:nvSpPr>
        <p:spPr>
          <a:xfrm>
            <a:off x="1765860" y="1085238"/>
            <a:ext cx="6720840" cy="6720840"/>
          </a:xfrm>
          <a:prstGeom prst="ellipse">
            <a:avLst/>
          </a:prstGeom>
          <a:gradFill rotWithShape="1">
            <a:gsLst>
              <a:gs pos="0">
                <a:srgbClr val="F9A825">
                  <a:alpha val="14000"/>
                </a:srgbClr>
              </a:gs>
              <a:gs pos="100000">
                <a:srgbClr val="F9A825">
                  <a:alpha val="0"/>
                </a:srgbClr>
              </a:gs>
            </a:gsLst>
            <a:path path="circle">
              <a:fillToRect l="50000" t="50000" r="50000" b="50000"/>
            </a:path>
          </a:gradFill>
          <a:ln>
            <a:noFill/>
          </a:ln>
        </p:spPr>
        <p:txBody>
          <a:bodyPr rtlCol="0" anchor="ctr"/>
          <a:lstStyle/>
          <a:p/>
        </p:txBody>
      </p:sp>
      <p:sp>
        <p:nvSpPr>
          <p:cNvPr id="6" name="!!Ring"/>
          <p:cNvSpPr/>
          <p:nvPr/>
        </p:nvSpPr>
        <p:spPr>
          <a:xfrm>
            <a:off x="9821642" y="-3867231"/>
            <a:ext cx="7132320" cy="7132320"/>
          </a:xfrm>
          <a:prstGeom prst="ellipse">
            <a:avLst/>
          </a:prstGeom>
          <a:noFill/>
          <a:ln w="12700">
            <a:solidFill>
              <a:srgbClr val="F9A825">
                <a:alpha val="85000"/>
              </a:srgbClr>
            </a:solidFill>
          </a:ln>
        </p:spPr>
        <p:txBody>
          <a:bodyPr rtlCol="0" anchor="ctr"/>
          <a:lstStyle/>
          <a:p/>
        </p:txBody>
      </p:sp>
      <p:pic>
        <p:nvPicPr>
          <p:cNvPr id="7" name="!!Hero" descr="Kakémono"/>
          <p:cNvPicPr>
            <a:picLocks noChangeAspect="1"/>
          </p:cNvPicPr>
          <p:nvPr/>
        </p:nvPicPr>
        <p:blipFill>
          <a:blip r:embed="rId3"/>
          <a:srcRect/>
          <a:stretch>
            <a:fillRect/>
          </a:stretch>
        </p:blipFill>
        <p:spPr>
          <a:xfrm>
            <a:off x="9418320" y="1005840"/>
            <a:ext cx="2048256" cy="5120640"/>
          </a:xfrm>
          <a:prstGeom prst="roundRect">
            <a:avLst>
              <a:gd name="adj" fmla="val 3000"/>
            </a:avLst>
          </a:prstGeom>
          <a:effectLst>
            <a:outerShdw blurRad="381000" dist="101600" dir="5400000" algn="t" rotWithShape="0">
              <a:srgbClr val="1A0507">
                <a:alpha val="28000"/>
              </a:srgbClr>
            </a:outerShdw>
          </a:effectLst>
        </p:spPr>
      </p:pic>
      <p:pic>
        <p:nvPicPr>
          <p:cNvPr id="8" name="!!Second" descr="Kakémono en situation"/>
          <p:cNvPicPr>
            <a:picLocks noChangeAspect="1"/>
          </p:cNvPicPr>
          <p:nvPr/>
        </p:nvPicPr>
        <p:blipFill>
          <a:blip r:embed="rId4"/>
          <a:srcRect/>
          <a:stretch>
            <a:fillRect/>
          </a:stretch>
        </p:blipFill>
        <p:spPr>
          <a:xfrm>
            <a:off x="4434840" y="1463040"/>
            <a:ext cx="4663440" cy="4273805"/>
          </a:xfrm>
          <a:prstGeom prst="roundRect">
            <a:avLst>
              <a:gd name="adj" fmla="val 4000"/>
            </a:avLst>
          </a:prstGeom>
          <a:effectLst>
            <a:outerShdw blurRad="330200" dist="88900" dir="5400000" algn="t" rotWithShape="0">
              <a:srgbClr val="1A0507">
                <a:alpha val="26000"/>
              </a:srgbClr>
            </a:outerShdw>
          </a:effectLst>
        </p:spPr>
      </p:pic>
      <p:pic>
        <p:nvPicPr>
          <p:cNvPr id="9" name="!!Grain" descr="grain.png"/>
          <p:cNvPicPr>
            <a:picLocks noChangeAspect="1"/>
          </p:cNvPicPr>
          <p:nvPr/>
        </p:nvPicPr>
        <p:blipFill>
          <a:blip r:embed="rId5"/>
          <a:srcRect/>
          <a:stretch>
            <a:fillRect/>
          </a:stretch>
        </p:blipFill>
        <p:spPr>
          <a:xfrm>
            <a:off x="0" y="0"/>
            <a:ext cx="12192000" cy="6858000"/>
          </a:xfrm>
          <a:prstGeom prst="rect">
            <a:avLst/>
          </a:prstGeom>
        </p:spPr>
      </p:pic>
      <p:sp>
        <p:nvSpPr>
          <p:cNvPr id="10" name="!!Title"/>
          <p:cNvSpPr txBox="1"/>
          <p:nvPr/>
        </p:nvSpPr>
        <p:spPr>
          <a:xfrm>
            <a:off x="685800" y="914400"/>
            <a:ext cx="3520440" cy="1554480"/>
          </a:xfrm>
          <a:prstGeom prst="rect">
            <a:avLst/>
          </a:prstGeom>
          <a:noFill/>
        </p:spPr>
        <p:txBody>
          <a:bodyPr wrap="square" lIns="0" rIns="0" tIns="0" bIns="0" anchor="t">
            <a:noAutofit/>
          </a:bodyPr>
          <a:lstStyle/>
          <a:p>
            <a:pPr algn="l">
              <a:lnSpc>
                <a:spcPct val="95000"/>
              </a:lnSpc>
            </a:pPr>
            <a:r>
              <a:rPr sz="3000">
                <a:solidFill>
                  <a:srgbClr val="7B1421"/>
                </a:solidFill>
                <a:latin typeface="Cream Heavy"/>
              </a:rPr>
              <a:t>Le goût qui rassemble !</a:t>
            </a:r>
          </a:p>
        </p:txBody>
      </p:sp>
      <p:sp>
        <p:nvSpPr>
          <p:cNvPr id="11" name="!!Axe"/>
          <p:cNvSpPr txBox="1"/>
          <p:nvPr/>
        </p:nvSpPr>
        <p:spPr>
          <a:xfrm>
            <a:off x="685800" y="2606040"/>
            <a:ext cx="3520440" cy="640080"/>
          </a:xfrm>
          <a:prstGeom prst="rect">
            <a:avLst/>
          </a:prstGeom>
          <a:noFill/>
        </p:spPr>
        <p:txBody>
          <a:bodyPr wrap="square" lIns="0" rIns="0" tIns="0" bIns="0" anchor="t">
            <a:noAutofit/>
          </a:bodyPr>
          <a:lstStyle/>
          <a:p>
            <a:pPr algn="l"/>
            <a:r>
              <a:rPr sz="1250">
                <a:solidFill>
                  <a:srgbClr val="A40C21"/>
                </a:solidFill>
                <a:latin typeface="Montserrat SemiBold"/>
              </a:rPr>
              <a:t>Kakémono · Axe 2 · point de vente et événements</a:t>
            </a:r>
          </a:p>
        </p:txBody>
      </p:sp>
      <p:sp>
        <p:nvSpPr>
          <p:cNvPr id="12"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A40C21"/>
                </a:solidFill>
                <a:latin typeface="Montserrat SemiBold"/>
              </a:rPr>
              <a:t>04 · Kakémono</a:t>
            </a:r>
          </a:p>
        </p:txBody>
      </p:sp>
      <p:sp>
        <p:nvSpPr>
          <p:cNvPr id="13"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A40C21"/>
                </a:solidFill>
                <a:latin typeface="Montserrat SemiBold"/>
              </a:rPr>
              <a:t>34</a:t>
            </a:r>
          </a:p>
        </p:txBody>
      </p:sp>
      <p:pic>
        <p:nvPicPr>
          <p:cNvPr id="14" name="!!Logo" descr="Logo Marin'Or Ivoire"/>
          <p:cNvPicPr>
            <a:picLocks noChangeAspect="1"/>
          </p:cNvPicPr>
          <p:nvPr/>
        </p:nvPicPr>
        <p:blipFill>
          <a:blip r:embed="rId6"/>
          <a:stretch>
            <a:fillRect/>
          </a:stretch>
        </p:blipFill>
        <p:spPr>
          <a:xfrm>
            <a:off x="10546080" y="311488"/>
            <a:ext cx="960120" cy="50299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FF6EA"/>
          </a:solidFill>
          <a:ln>
            <a:noFill/>
          </a:ln>
        </p:spPr>
        <p:txBody>
          <a:bodyPr rtlCol="0" anchor="ctr"/>
          <a:lstStyle/>
          <a:p/>
        </p:txBody>
      </p:sp>
      <p:pic>
        <p:nvPicPr>
          <p:cNvPr id="3" name="!!PlateL" descr="motif_bord.png"/>
          <p:cNvPicPr>
            <a:picLocks noChangeAspect="1"/>
          </p:cNvPicPr>
          <p:nvPr/>
        </p:nvPicPr>
        <p:blipFill>
          <a:blip r:embed="rId2"/>
          <a:srcRect/>
          <a:stretch>
            <a:fillRect/>
          </a:stretch>
        </p:blipFill>
        <p:spPr>
          <a:xfrm>
            <a:off x="-6370000" y="-3485223"/>
            <a:ext cx="21336000" cy="12001500"/>
          </a:xfrm>
          <a:prstGeom prst="rect">
            <a:avLst/>
          </a:prstGeom>
        </p:spPr>
      </p:pic>
      <p:sp>
        <p:nvSpPr>
          <p:cNvPr id="4" name="!!Glow"/>
          <p:cNvSpPr/>
          <p:nvPr/>
        </p:nvSpPr>
        <p:spPr>
          <a:xfrm>
            <a:off x="2047681" y="-1687784"/>
            <a:ext cx="9601200" cy="9601200"/>
          </a:xfrm>
          <a:prstGeom prst="ellipse">
            <a:avLst/>
          </a:prstGeom>
          <a:gradFill rotWithShape="1">
            <a:gsLst>
              <a:gs pos="0">
                <a:srgbClr val="FFFFFF">
                  <a:alpha val="85000"/>
                </a:srgbClr>
              </a:gs>
              <a:gs pos="100000">
                <a:srgbClr val="FFFFFF">
                  <a:alpha val="0"/>
                </a:srgbClr>
              </a:gs>
            </a:gsLst>
            <a:path path="circle">
              <a:fillToRect l="50000" t="50000" r="50000" b="50000"/>
            </a:path>
          </a:gradFill>
          <a:ln>
            <a:noFill/>
          </a:ln>
        </p:spPr>
        <p:txBody>
          <a:bodyPr rtlCol="0" anchor="ctr"/>
          <a:lstStyle/>
          <a:p/>
        </p:txBody>
      </p:sp>
      <p:sp>
        <p:nvSpPr>
          <p:cNvPr id="5" name="!!Glow2"/>
          <p:cNvSpPr/>
          <p:nvPr/>
        </p:nvSpPr>
        <p:spPr>
          <a:xfrm>
            <a:off x="1983298" y="384764"/>
            <a:ext cx="6720840" cy="6720840"/>
          </a:xfrm>
          <a:prstGeom prst="ellipse">
            <a:avLst/>
          </a:prstGeom>
          <a:gradFill rotWithShape="1">
            <a:gsLst>
              <a:gs pos="0">
                <a:srgbClr val="F9A825">
                  <a:alpha val="14000"/>
                </a:srgbClr>
              </a:gs>
              <a:gs pos="100000">
                <a:srgbClr val="F9A825">
                  <a:alpha val="0"/>
                </a:srgbClr>
              </a:gs>
            </a:gsLst>
            <a:path path="circle">
              <a:fillToRect l="50000" t="50000" r="50000" b="50000"/>
            </a:path>
          </a:gradFill>
          <a:ln>
            <a:noFill/>
          </a:ln>
        </p:spPr>
        <p:txBody>
          <a:bodyPr rtlCol="0" anchor="ctr"/>
          <a:lstStyle/>
          <a:p/>
        </p:txBody>
      </p:sp>
      <p:sp>
        <p:nvSpPr>
          <p:cNvPr id="6" name="!!Ring"/>
          <p:cNvSpPr/>
          <p:nvPr/>
        </p:nvSpPr>
        <p:spPr>
          <a:xfrm>
            <a:off x="9626940" y="-3710705"/>
            <a:ext cx="7132320" cy="7132320"/>
          </a:xfrm>
          <a:prstGeom prst="ellipse">
            <a:avLst/>
          </a:prstGeom>
          <a:noFill/>
          <a:ln w="12700">
            <a:solidFill>
              <a:srgbClr val="F9A825">
                <a:alpha val="85000"/>
              </a:srgbClr>
            </a:solidFill>
          </a:ln>
        </p:spPr>
        <p:txBody>
          <a:bodyPr rtlCol="0" anchor="ctr"/>
          <a:lstStyle/>
          <a:p/>
        </p:txBody>
      </p:sp>
      <p:sp>
        <p:nvSpPr>
          <p:cNvPr id="7" name="!!VidFrame"/>
          <p:cNvSpPr/>
          <p:nvPr/>
        </p:nvSpPr>
        <p:spPr>
          <a:xfrm>
            <a:off x="4590288" y="1344168"/>
            <a:ext cx="7004304" cy="4003929"/>
          </a:xfrm>
          <a:prstGeom prst="roundRect">
            <a:avLst>
              <a:gd name="adj" fmla="val 3000"/>
            </a:avLst>
          </a:prstGeom>
          <a:solidFill>
            <a:srgbClr val="FFFFFF"/>
          </a:solidFill>
          <a:ln>
            <a:noFill/>
          </a:ln>
          <a:effectLst>
            <a:outerShdw blurRad="355600" dist="101600" dir="5400000" algn="t" rotWithShape="0">
              <a:srgbClr val="1A0507">
                <a:alpha val="28000"/>
              </a:srgbClr>
            </a:outerShdw>
          </a:effectLst>
        </p:spPr>
        <p:txBody>
          <a:bodyPr rtlCol="0" anchor="ctr"/>
          <a:lstStyle/>
          <a:p/>
        </p:txBody>
      </p:sp>
      <p:pic>
        <p:nvPicPr>
          <p:cNvPr id="8" name="!!Video">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4663440" y="1417320"/>
            <a:ext cx="6858000" cy="3857625"/>
          </a:xfrm>
          <a:prstGeom prst="rect">
            <a:avLst/>
          </a:prstGeom>
        </p:spPr>
      </p:pic>
      <p:pic>
        <p:nvPicPr>
          <p:cNvPr id="9" name="!!Grain" descr="grain.png"/>
          <p:cNvPicPr>
            <a:picLocks noChangeAspect="1"/>
          </p:cNvPicPr>
          <p:nvPr/>
        </p:nvPicPr>
        <p:blipFill>
          <a:blip r:embed="rId6"/>
          <a:srcRect/>
          <a:stretch>
            <a:fillRect/>
          </a:stretch>
        </p:blipFill>
        <p:spPr>
          <a:xfrm>
            <a:off x="0" y="0"/>
            <a:ext cx="12192000" cy="6858000"/>
          </a:xfrm>
          <a:prstGeom prst="rect">
            <a:avLst/>
          </a:prstGeom>
        </p:spPr>
      </p:pic>
      <p:sp>
        <p:nvSpPr>
          <p:cNvPr id="10" name="!!Title"/>
          <p:cNvSpPr txBox="1"/>
          <p:nvPr/>
        </p:nvSpPr>
        <p:spPr>
          <a:xfrm>
            <a:off x="685800" y="914400"/>
            <a:ext cx="3657600" cy="731520"/>
          </a:xfrm>
          <a:prstGeom prst="rect">
            <a:avLst/>
          </a:prstGeom>
          <a:noFill/>
        </p:spPr>
        <p:txBody>
          <a:bodyPr wrap="square" lIns="0" rIns="0" tIns="0" bIns="0" anchor="t">
            <a:noAutofit/>
          </a:bodyPr>
          <a:lstStyle/>
          <a:p>
            <a:pPr algn="l">
              <a:lnSpc>
                <a:spcPct val="95000"/>
              </a:lnSpc>
            </a:pPr>
            <a:r>
              <a:rPr sz="4000">
                <a:solidFill>
                  <a:srgbClr val="7B1421"/>
                </a:solidFill>
                <a:latin typeface="Cream Heavy"/>
              </a:rPr>
              <a:t>Spot 2D</a:t>
            </a:r>
          </a:p>
        </p:txBody>
      </p:sp>
      <p:sp>
        <p:nvSpPr>
          <p:cNvPr id="11" name="!!Body"/>
          <p:cNvSpPr txBox="1"/>
          <p:nvPr/>
        </p:nvSpPr>
        <p:spPr>
          <a:xfrm>
            <a:off x="685800" y="2057400"/>
            <a:ext cx="3657600" cy="3200400"/>
          </a:xfrm>
          <a:prstGeom prst="rect">
            <a:avLst/>
          </a:prstGeom>
          <a:noFill/>
        </p:spPr>
        <p:txBody>
          <a:bodyPr wrap="square" lIns="0" rIns="0" tIns="0" bIns="0" anchor="t">
            <a:noAutofit/>
          </a:bodyPr>
          <a:lstStyle/>
          <a:p>
            <a:pPr algn="l">
              <a:lnSpc>
                <a:spcPct val="112000"/>
              </a:lnSpc>
              <a:spcAft>
                <a:spcPts val="1200"/>
              </a:spcAft>
            </a:pPr>
            <a:r>
              <a:rPr sz="1700">
                <a:solidFill>
                  <a:srgbClr val="000000"/>
                </a:solidFill>
                <a:latin typeface="Montserrat Medium"/>
              </a:rPr>
              <a:t>Une question, des solutions naturelles, la gamme complète, puis le repas en famille.</a:t>
            </a:r>
          </a:p>
          <a:p>
            <a:pPr algn="l">
              <a:lnSpc>
                <a:spcPct val="112000"/>
              </a:lnSpc>
              <a:spcAft>
                <a:spcPts val="1200"/>
              </a:spcAft>
            </a:pPr>
            <a:r>
              <a:rPr sz="1700">
                <a:solidFill>
                  <a:srgbClr val="000000"/>
                </a:solidFill>
                <a:latin typeface="Montserrat Medium"/>
              </a:rPr>
              <a:t>After Effects · 1920 × 1080</a:t>
            </a:r>
          </a:p>
        </p:txBody>
      </p:sp>
      <p:sp>
        <p:nvSpPr>
          <p:cNvPr id="12"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A40C21"/>
                </a:solidFill>
                <a:latin typeface="Montserrat SemiBold"/>
              </a:rPr>
              <a:t>04 · Audiovisuel</a:t>
            </a:r>
          </a:p>
        </p:txBody>
      </p:sp>
      <p:sp>
        <p:nvSpPr>
          <p:cNvPr id="13"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A40C21"/>
                </a:solidFill>
                <a:latin typeface="Montserrat SemiBold"/>
              </a:rPr>
              <a:t>35</a:t>
            </a:r>
          </a:p>
        </p:txBody>
      </p:sp>
      <p:pic>
        <p:nvPicPr>
          <p:cNvPr id="14" name="!!Logo" descr="Logo Marin'Or Ivoire"/>
          <p:cNvPicPr>
            <a:picLocks noChangeAspect="1"/>
          </p:cNvPicPr>
          <p:nvPr/>
        </p:nvPicPr>
        <p:blipFill>
          <a:blip r:embed="rId7"/>
          <a:stretch>
            <a:fillRect/>
          </a:stretch>
        </p:blipFill>
        <p:spPr>
          <a:xfrm>
            <a:off x="10546080" y="311488"/>
            <a:ext cx="960120" cy="50299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timing>
    <p:tnLst>
      <p:par>
        <p:cTn id="1" dur="indefinite" restart="never" nodeType="tmRoot">
          <p:childTnLst>
            <p:video>
              <p:cMediaNode vol="80000">
                <p:cTn id="2" fill="hold" display="0">
                  <p:stCondLst>
                    <p:cond delay="indefinite"/>
                  </p:stCondLst>
                </p:cTn>
                <p:tgtEl>
                  <p:spTgt spid="8"/>
                </p:tgtEl>
              </p:cMediaNode>
            </p:video>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FF6EA"/>
          </a:solidFill>
          <a:ln>
            <a:noFill/>
          </a:ln>
        </p:spPr>
        <p:txBody>
          <a:bodyPr rtlCol="0" anchor="ctr"/>
          <a:lstStyle/>
          <a:p/>
        </p:txBody>
      </p:sp>
      <p:pic>
        <p:nvPicPr>
          <p:cNvPr id="3" name="!!PlateL" descr="motif_bord.png"/>
          <p:cNvPicPr>
            <a:picLocks noChangeAspect="1"/>
          </p:cNvPicPr>
          <p:nvPr/>
        </p:nvPicPr>
        <p:blipFill>
          <a:blip r:embed="rId2"/>
          <a:srcRect/>
          <a:stretch>
            <a:fillRect/>
          </a:stretch>
        </p:blipFill>
        <p:spPr>
          <a:xfrm>
            <a:off x="-6550000" y="-3247107"/>
            <a:ext cx="21336000" cy="12001500"/>
          </a:xfrm>
          <a:prstGeom prst="rect">
            <a:avLst/>
          </a:prstGeom>
        </p:spPr>
      </p:pic>
      <p:sp>
        <p:nvSpPr>
          <p:cNvPr id="4" name="!!Glow"/>
          <p:cNvSpPr/>
          <p:nvPr/>
        </p:nvSpPr>
        <p:spPr>
          <a:xfrm>
            <a:off x="961069" y="-1136784"/>
            <a:ext cx="9601200" cy="9601200"/>
          </a:xfrm>
          <a:prstGeom prst="ellipse">
            <a:avLst/>
          </a:prstGeom>
          <a:gradFill rotWithShape="1">
            <a:gsLst>
              <a:gs pos="0">
                <a:srgbClr val="FFFFFF">
                  <a:alpha val="85000"/>
                </a:srgbClr>
              </a:gs>
              <a:gs pos="100000">
                <a:srgbClr val="FFFFFF">
                  <a:alpha val="0"/>
                </a:srgbClr>
              </a:gs>
            </a:gsLst>
            <a:path path="circle">
              <a:fillToRect l="50000" t="50000" r="50000" b="50000"/>
            </a:path>
          </a:gradFill>
          <a:ln>
            <a:noFill/>
          </a:ln>
        </p:spPr>
        <p:txBody>
          <a:bodyPr rtlCol="0" anchor="ctr"/>
          <a:lstStyle/>
          <a:p/>
        </p:txBody>
      </p:sp>
      <p:sp>
        <p:nvSpPr>
          <p:cNvPr id="5" name="!!Glow2"/>
          <p:cNvSpPr/>
          <p:nvPr/>
        </p:nvSpPr>
        <p:spPr>
          <a:xfrm>
            <a:off x="3069910" y="-166235"/>
            <a:ext cx="6720840" cy="6720840"/>
          </a:xfrm>
          <a:prstGeom prst="ellipse">
            <a:avLst/>
          </a:prstGeom>
          <a:gradFill rotWithShape="1">
            <a:gsLst>
              <a:gs pos="0">
                <a:srgbClr val="F9A825">
                  <a:alpha val="14000"/>
                </a:srgbClr>
              </a:gs>
              <a:gs pos="100000">
                <a:srgbClr val="F9A825">
                  <a:alpha val="0"/>
                </a:srgbClr>
              </a:gs>
            </a:gsLst>
            <a:path path="circle">
              <a:fillToRect l="50000" t="50000" r="50000" b="50000"/>
            </a:path>
          </a:gradFill>
          <a:ln>
            <a:noFill/>
          </a:ln>
        </p:spPr>
        <p:txBody>
          <a:bodyPr rtlCol="0" anchor="ctr"/>
          <a:lstStyle/>
          <a:p/>
        </p:txBody>
      </p:sp>
      <p:sp>
        <p:nvSpPr>
          <p:cNvPr id="6" name="!!Ring"/>
          <p:cNvSpPr/>
          <p:nvPr/>
        </p:nvSpPr>
        <p:spPr>
          <a:xfrm>
            <a:off x="9379647" y="-3658220"/>
            <a:ext cx="7132320" cy="7132320"/>
          </a:xfrm>
          <a:prstGeom prst="ellipse">
            <a:avLst/>
          </a:prstGeom>
          <a:noFill/>
          <a:ln w="12700">
            <a:solidFill>
              <a:srgbClr val="F9A825">
                <a:alpha val="85000"/>
              </a:srgbClr>
            </a:solidFill>
          </a:ln>
        </p:spPr>
        <p:txBody>
          <a:bodyPr rtlCol="0" anchor="ctr"/>
          <a:lstStyle/>
          <a:p/>
        </p:txBody>
      </p:sp>
      <p:sp>
        <p:nvSpPr>
          <p:cNvPr id="7" name="!!VidFrame"/>
          <p:cNvSpPr/>
          <p:nvPr/>
        </p:nvSpPr>
        <p:spPr>
          <a:xfrm>
            <a:off x="4590288" y="1344168"/>
            <a:ext cx="7004304" cy="4003929"/>
          </a:xfrm>
          <a:prstGeom prst="roundRect">
            <a:avLst>
              <a:gd name="adj" fmla="val 3000"/>
            </a:avLst>
          </a:prstGeom>
          <a:solidFill>
            <a:srgbClr val="FFFFFF"/>
          </a:solidFill>
          <a:ln>
            <a:noFill/>
          </a:ln>
          <a:effectLst>
            <a:outerShdw blurRad="355600" dist="101600" dir="5400000" algn="t" rotWithShape="0">
              <a:srgbClr val="1A0507">
                <a:alpha val="28000"/>
              </a:srgbClr>
            </a:outerShdw>
          </a:effectLst>
        </p:spPr>
        <p:txBody>
          <a:bodyPr rtlCol="0" anchor="ctr"/>
          <a:lstStyle/>
          <a:p/>
        </p:txBody>
      </p:sp>
      <p:pic>
        <p:nvPicPr>
          <p:cNvPr id="8" name="!!Video">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4663440" y="1417320"/>
            <a:ext cx="6858000" cy="3857625"/>
          </a:xfrm>
          <a:prstGeom prst="rect">
            <a:avLst/>
          </a:prstGeom>
        </p:spPr>
      </p:pic>
      <p:pic>
        <p:nvPicPr>
          <p:cNvPr id="9" name="!!Grain" descr="grain.png"/>
          <p:cNvPicPr>
            <a:picLocks noChangeAspect="1"/>
          </p:cNvPicPr>
          <p:nvPr/>
        </p:nvPicPr>
        <p:blipFill>
          <a:blip r:embed="rId6"/>
          <a:srcRect/>
          <a:stretch>
            <a:fillRect/>
          </a:stretch>
        </p:blipFill>
        <p:spPr>
          <a:xfrm>
            <a:off x="0" y="0"/>
            <a:ext cx="12192000" cy="6858000"/>
          </a:xfrm>
          <a:prstGeom prst="rect">
            <a:avLst/>
          </a:prstGeom>
        </p:spPr>
      </p:pic>
      <p:sp>
        <p:nvSpPr>
          <p:cNvPr id="10" name="!!Title"/>
          <p:cNvSpPr txBox="1"/>
          <p:nvPr/>
        </p:nvSpPr>
        <p:spPr>
          <a:xfrm>
            <a:off x="685800" y="914400"/>
            <a:ext cx="3657600" cy="731520"/>
          </a:xfrm>
          <a:prstGeom prst="rect">
            <a:avLst/>
          </a:prstGeom>
          <a:noFill/>
        </p:spPr>
        <p:txBody>
          <a:bodyPr wrap="square" lIns="0" rIns="0" tIns="0" bIns="0" anchor="t">
            <a:noAutofit/>
          </a:bodyPr>
          <a:lstStyle/>
          <a:p>
            <a:pPr algn="l">
              <a:lnSpc>
                <a:spcPct val="95000"/>
              </a:lnSpc>
            </a:pPr>
            <a:r>
              <a:rPr sz="4000">
                <a:solidFill>
                  <a:srgbClr val="7B1421"/>
                </a:solidFill>
                <a:latin typeface="Cream Heavy"/>
              </a:rPr>
              <a:t>Spot 3D</a:t>
            </a:r>
          </a:p>
        </p:txBody>
      </p:sp>
      <p:sp>
        <p:nvSpPr>
          <p:cNvPr id="11" name="!!Body"/>
          <p:cNvSpPr txBox="1"/>
          <p:nvPr/>
        </p:nvSpPr>
        <p:spPr>
          <a:xfrm>
            <a:off x="685800" y="2057400"/>
            <a:ext cx="3657600" cy="3200400"/>
          </a:xfrm>
          <a:prstGeom prst="rect">
            <a:avLst/>
          </a:prstGeom>
          <a:noFill/>
        </p:spPr>
        <p:txBody>
          <a:bodyPr wrap="square" lIns="0" rIns="0" tIns="0" bIns="0" anchor="t">
            <a:noAutofit/>
          </a:bodyPr>
          <a:lstStyle/>
          <a:p>
            <a:pPr algn="l">
              <a:lnSpc>
                <a:spcPct val="112000"/>
              </a:lnSpc>
              <a:spcAft>
                <a:spcPts val="1200"/>
              </a:spcAft>
            </a:pPr>
            <a:r>
              <a:rPr sz="1700">
                <a:solidFill>
                  <a:srgbClr val="000000"/>
                </a:solidFill>
                <a:latin typeface="Montserrat Medium"/>
              </a:rPr>
              <a:t>Une visite immersive de la boutique virtuelle Marin'Or Ivoire, modélisée sous Blender.</a:t>
            </a:r>
          </a:p>
        </p:txBody>
      </p:sp>
      <p:sp>
        <p:nvSpPr>
          <p:cNvPr id="12"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A40C21"/>
                </a:solidFill>
                <a:latin typeface="Montserrat SemiBold"/>
              </a:rPr>
              <a:t>04 · Audiovisuel</a:t>
            </a:r>
          </a:p>
        </p:txBody>
      </p:sp>
      <p:sp>
        <p:nvSpPr>
          <p:cNvPr id="13"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A40C21"/>
                </a:solidFill>
                <a:latin typeface="Montserrat SemiBold"/>
              </a:rPr>
              <a:t>36</a:t>
            </a:r>
          </a:p>
        </p:txBody>
      </p:sp>
      <p:pic>
        <p:nvPicPr>
          <p:cNvPr id="14" name="!!Logo" descr="Logo Marin'Or Ivoire"/>
          <p:cNvPicPr>
            <a:picLocks noChangeAspect="1"/>
          </p:cNvPicPr>
          <p:nvPr/>
        </p:nvPicPr>
        <p:blipFill>
          <a:blip r:embed="rId7"/>
          <a:stretch>
            <a:fillRect/>
          </a:stretch>
        </p:blipFill>
        <p:spPr>
          <a:xfrm>
            <a:off x="10546080" y="311488"/>
            <a:ext cx="960120" cy="50299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timing>
    <p:tnLst>
      <p:par>
        <p:cTn id="1" dur="indefinite" restart="never" nodeType="tmRoot">
          <p:childTnLst>
            <p:video>
              <p:cMediaNode vol="80000">
                <p:cTn id="2" fill="hold" display="0">
                  <p:stCondLst>
                    <p:cond delay="indefinite"/>
                  </p:stCondLst>
                </p:cTn>
                <p:tgtEl>
                  <p:spTgt spid="8"/>
                </p:tgtEl>
              </p:cMediaNode>
            </p:video>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2A070D"/>
          </a:solidFill>
          <a:ln>
            <a:noFill/>
          </a:ln>
        </p:spPr>
        <p:txBody>
          <a:bodyPr rtlCol="0" anchor="ctr"/>
          <a:lstStyle/>
          <a:p/>
        </p:txBody>
      </p:sp>
      <p:pic>
        <p:nvPicPr>
          <p:cNvPr id="3" name="!!PlateD" descr="motif_creme.png"/>
          <p:cNvPicPr>
            <a:picLocks noChangeAspect="1"/>
          </p:cNvPicPr>
          <p:nvPr/>
        </p:nvPicPr>
        <p:blipFill>
          <a:blip r:embed="rId2"/>
          <a:srcRect t="0" b="0"/>
          <a:stretch>
            <a:fillRect/>
          </a:stretch>
        </p:blipFill>
        <p:spPr>
          <a:xfrm>
            <a:off x="-8436880" y="-3893882"/>
            <a:ext cx="24749760" cy="13921739"/>
          </a:xfrm>
          <a:prstGeom prst="rect">
            <a:avLst/>
          </a:prstGeom>
        </p:spPr>
      </p:pic>
      <p:sp>
        <p:nvSpPr>
          <p:cNvPr id="4" name="!!Glow"/>
          <p:cNvSpPr/>
          <p:nvPr/>
        </p:nvSpPr>
        <p:spPr>
          <a:xfrm>
            <a:off x="-674218" y="-897775"/>
            <a:ext cx="9601200" cy="9601200"/>
          </a:xfrm>
          <a:prstGeom prst="ellipse">
            <a:avLst/>
          </a:prstGeom>
          <a:gradFill rotWithShape="1">
            <a:gsLst>
              <a:gs pos="0">
                <a:srgbClr val="B3222F">
                  <a:alpha val="55000"/>
                </a:srgbClr>
              </a:gs>
              <a:gs pos="45000">
                <a:srgbClr val="7B1421">
                  <a:alpha val="22000"/>
                </a:srgbClr>
              </a:gs>
              <a:gs pos="100000">
                <a:srgbClr val="7B1421">
                  <a:alpha val="0"/>
                </a:srgbClr>
              </a:gs>
            </a:gsLst>
            <a:path path="circle">
              <a:fillToRect l="50000" t="50000" r="50000" b="50000"/>
            </a:path>
          </a:gradFill>
          <a:ln>
            <a:noFill/>
          </a:ln>
        </p:spPr>
        <p:txBody>
          <a:bodyPr rtlCol="0" anchor="ctr"/>
          <a:lstStyle/>
          <a:p/>
        </p:txBody>
      </p:sp>
      <p:sp>
        <p:nvSpPr>
          <p:cNvPr id="5" name="!!Glow2"/>
          <p:cNvSpPr/>
          <p:nvPr/>
        </p:nvSpPr>
        <p:spPr>
          <a:xfrm>
            <a:off x="4705198" y="-405244"/>
            <a:ext cx="6720840" cy="6720840"/>
          </a:xfrm>
          <a:prstGeom prst="ellipse">
            <a:avLst/>
          </a:prstGeom>
          <a:gradFill rotWithShape="1">
            <a:gsLst>
              <a:gs pos="0">
                <a:srgbClr val="F9A825">
                  <a:alpha val="16000"/>
                </a:srgbClr>
              </a:gs>
              <a:gs pos="100000">
                <a:srgbClr val="F9A825">
                  <a:alpha val="0"/>
                </a:srgbClr>
              </a:gs>
            </a:gsLst>
            <a:path path="circle">
              <a:fillToRect l="50000" t="50000" r="50000" b="50000"/>
            </a:path>
          </a:gradFill>
          <a:ln>
            <a:noFill/>
          </a:ln>
        </p:spPr>
        <p:txBody>
          <a:bodyPr rtlCol="0" anchor="ctr"/>
          <a:lstStyle/>
          <a:p/>
        </p:txBody>
      </p:sp>
      <p:pic>
        <p:nvPicPr>
          <p:cNvPr id="6" name="!!Vignette" descr="vignette.png"/>
          <p:cNvPicPr>
            <a:picLocks noChangeAspect="1"/>
          </p:cNvPicPr>
          <p:nvPr/>
        </p:nvPicPr>
        <p:blipFill>
          <a:blip r:embed="rId3"/>
          <a:srcRect/>
          <a:stretch>
            <a:fillRect/>
          </a:stretch>
        </p:blipFill>
        <p:spPr>
          <a:xfrm>
            <a:off x="0" y="0"/>
            <a:ext cx="12192000" cy="6858000"/>
          </a:xfrm>
          <a:prstGeom prst="rect">
            <a:avLst/>
          </a:prstGeom>
        </p:spPr>
      </p:pic>
      <p:sp>
        <p:nvSpPr>
          <p:cNvPr id="7" name="!!Ring"/>
          <p:cNvSpPr/>
          <p:nvPr/>
        </p:nvSpPr>
        <p:spPr>
          <a:xfrm>
            <a:off x="3535680" y="777240"/>
            <a:ext cx="5120640" cy="5120640"/>
          </a:xfrm>
          <a:prstGeom prst="ellipse">
            <a:avLst/>
          </a:prstGeom>
          <a:noFill/>
          <a:ln w="12700">
            <a:solidFill>
              <a:srgbClr val="F9A825">
                <a:alpha val="70000"/>
              </a:srgbClr>
            </a:solidFill>
          </a:ln>
        </p:spPr>
        <p:txBody>
          <a:bodyPr rtlCol="0" anchor="ctr"/>
          <a:lstStyle/>
          <a:p/>
        </p:txBody>
      </p:sp>
      <p:sp>
        <p:nvSpPr>
          <p:cNvPr id="8" name="!!SecNum"/>
          <p:cNvSpPr txBox="1"/>
          <p:nvPr/>
        </p:nvSpPr>
        <p:spPr>
          <a:xfrm>
            <a:off x="3352800" y="868680"/>
            <a:ext cx="5486400" cy="1737360"/>
          </a:xfrm>
          <a:prstGeom prst="rect">
            <a:avLst/>
          </a:prstGeom>
          <a:noFill/>
        </p:spPr>
        <p:txBody>
          <a:bodyPr wrap="square" lIns="0" rIns="0" tIns="0" bIns="0" anchor="ctr">
            <a:noAutofit/>
          </a:bodyPr>
          <a:lstStyle/>
          <a:p>
            <a:pPr algn="ctr"/>
            <a:r>
              <a:rPr sz="12000">
                <a:ln w="15875">
                  <a:solidFill>
                    <a:srgbClr val="F9A825">
                      <a:alpha val="30000"/>
                    </a:srgbClr>
                  </a:solidFill>
                </a:ln>
                <a:noFill/>
                <a:latin typeface="Cream Heavy"/>
              </a:rPr>
              <a:t>05</a:t>
            </a:r>
          </a:p>
        </p:txBody>
      </p:sp>
      <p:pic>
        <p:nvPicPr>
          <p:cNvPr id="9" name="!!Grain" descr="grain.png"/>
          <p:cNvPicPr>
            <a:picLocks noChangeAspect="1"/>
          </p:cNvPicPr>
          <p:nvPr/>
        </p:nvPicPr>
        <p:blipFill>
          <a:blip r:embed="rId4"/>
          <a:srcRect/>
          <a:stretch>
            <a:fillRect/>
          </a:stretch>
        </p:blipFill>
        <p:spPr>
          <a:xfrm>
            <a:off x="0" y="0"/>
            <a:ext cx="12192000" cy="6858000"/>
          </a:xfrm>
          <a:prstGeom prst="rect">
            <a:avLst/>
          </a:prstGeom>
        </p:spPr>
      </p:pic>
      <p:sp>
        <p:nvSpPr>
          <p:cNvPr id="10" name="!!TitleCA1"/>
          <p:cNvSpPr txBox="1"/>
          <p:nvPr/>
        </p:nvSpPr>
        <p:spPr>
          <a:xfrm>
            <a:off x="894284" y="3017520"/>
            <a:ext cx="10363200" cy="822960"/>
          </a:xfrm>
          <a:prstGeom prst="rect">
            <a:avLst/>
          </a:prstGeom>
          <a:noFill/>
        </p:spPr>
        <p:txBody>
          <a:bodyPr wrap="square" lIns="0" rIns="0" tIns="0" bIns="0" anchor="ctr">
            <a:noAutofit/>
          </a:bodyPr>
          <a:lstStyle/>
          <a:p>
            <a:pPr algn="ctr">
              <a:lnSpc>
                <a:spcPct val="95000"/>
              </a:lnSpc>
            </a:pPr>
            <a:r>
              <a:rPr sz="4000">
                <a:solidFill>
                  <a:srgbClr val="A40C21">
                    <a:alpha val="40000"/>
                  </a:srgbClr>
                </a:solidFill>
                <a:latin typeface="Cream Heavy"/>
              </a:rPr>
              <a:t>Le site web : une boutique en ligne</a:t>
            </a:r>
          </a:p>
        </p:txBody>
      </p:sp>
      <p:sp>
        <p:nvSpPr>
          <p:cNvPr id="11" name="!!TitleCA2"/>
          <p:cNvSpPr txBox="1"/>
          <p:nvPr/>
        </p:nvSpPr>
        <p:spPr>
          <a:xfrm>
            <a:off x="934516" y="3017520"/>
            <a:ext cx="10363200" cy="822960"/>
          </a:xfrm>
          <a:prstGeom prst="rect">
            <a:avLst/>
          </a:prstGeom>
          <a:noFill/>
        </p:spPr>
        <p:txBody>
          <a:bodyPr wrap="square" lIns="0" rIns="0" tIns="0" bIns="0" anchor="ctr">
            <a:noAutofit/>
          </a:bodyPr>
          <a:lstStyle/>
          <a:p>
            <a:pPr algn="ctr">
              <a:lnSpc>
                <a:spcPct val="95000"/>
              </a:lnSpc>
            </a:pPr>
            <a:r>
              <a:rPr sz="4000">
                <a:solidFill>
                  <a:srgbClr val="FBD021">
                    <a:alpha val="30000"/>
                  </a:srgbClr>
                </a:solidFill>
                <a:latin typeface="Cream Heavy"/>
              </a:rPr>
              <a:t>Le site web : une boutique en ligne</a:t>
            </a:r>
          </a:p>
        </p:txBody>
      </p:sp>
      <p:sp>
        <p:nvSpPr>
          <p:cNvPr id="12" name="!!Title"/>
          <p:cNvSpPr txBox="1"/>
          <p:nvPr/>
        </p:nvSpPr>
        <p:spPr>
          <a:xfrm>
            <a:off x="914400" y="3017520"/>
            <a:ext cx="10363200" cy="822960"/>
          </a:xfrm>
          <a:prstGeom prst="rect">
            <a:avLst/>
          </a:prstGeom>
          <a:noFill/>
        </p:spPr>
        <p:txBody>
          <a:bodyPr wrap="square" lIns="0" rIns="0" tIns="0" bIns="0" anchor="ctr">
            <a:noAutofit/>
          </a:bodyPr>
          <a:lstStyle/>
          <a:p>
            <a:pPr algn="ctr">
              <a:lnSpc>
                <a:spcPct val="95000"/>
              </a:lnSpc>
            </a:pPr>
            <a:r>
              <a:rPr sz="4000">
                <a:gradFill rotWithShape="1">
                  <a:gsLst>
                    <a:gs pos="0">
                      <a:srgbClr val="FFF8EE"/>
                    </a:gs>
                    <a:gs pos="55000">
                      <a:srgbClr val="FFECD1"/>
                    </a:gs>
                    <a:gs pos="100000">
                      <a:srgbClr val="F6C77A"/>
                    </a:gs>
                  </a:gsLst>
                  <a:lin ang="5400000" scaled="0"/>
                </a:gradFill>
                <a:latin typeface="Cream Heavy"/>
              </a:rPr>
              <a:t>Le site web : une boutique en ligne</a:t>
            </a:r>
          </a:p>
        </p:txBody>
      </p:sp>
      <p:sp>
        <p:nvSpPr>
          <p:cNvPr id="13"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F9A825"/>
                </a:solidFill>
                <a:latin typeface="Montserrat SemiBold"/>
              </a:rPr>
              <a:t>05 · Site web</a:t>
            </a:r>
          </a:p>
        </p:txBody>
      </p:sp>
      <p:sp>
        <p:nvSpPr>
          <p:cNvPr id="14"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F9A825"/>
                </a:solidFill>
                <a:latin typeface="Montserrat SemiBold"/>
              </a:rPr>
              <a:t>37</a:t>
            </a:r>
          </a:p>
        </p:txBody>
      </p:sp>
      <p:pic>
        <p:nvPicPr>
          <p:cNvPr id="15" name="!!Logo" descr="Logo Marin'Or Ivoire"/>
          <p:cNvPicPr>
            <a:picLocks noChangeAspect="1"/>
          </p:cNvPicPr>
          <p:nvPr/>
        </p:nvPicPr>
        <p:blipFill>
          <a:blip r:embed="rId5"/>
          <a:stretch>
            <a:fillRect/>
          </a:stretch>
        </p:blipFill>
        <p:spPr>
          <a:xfrm>
            <a:off x="10546080" y="310896"/>
            <a:ext cx="960120" cy="504176"/>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6E8EA"/>
          </a:solidFill>
          <a:ln>
            <a:noFill/>
          </a:ln>
        </p:spPr>
        <p:txBody>
          <a:bodyPr rtlCol="0" anchor="ctr"/>
          <a:lstStyle/>
          <a:p/>
        </p:txBody>
      </p:sp>
      <p:pic>
        <p:nvPicPr>
          <p:cNvPr id="3" name="!!PlateL" descr="motif_bord.png"/>
          <p:cNvPicPr>
            <a:picLocks noChangeAspect="1"/>
          </p:cNvPicPr>
          <p:nvPr/>
        </p:nvPicPr>
        <p:blipFill>
          <a:blip r:embed="rId2"/>
          <a:srcRect/>
          <a:stretch>
            <a:fillRect/>
          </a:stretch>
        </p:blipFill>
        <p:spPr>
          <a:xfrm>
            <a:off x="-6910000" y="-2579004"/>
            <a:ext cx="21336000" cy="12001500"/>
          </a:xfrm>
          <a:prstGeom prst="rect">
            <a:avLst/>
          </a:prstGeom>
        </p:spPr>
      </p:pic>
      <p:sp>
        <p:nvSpPr>
          <p:cNvPr id="4" name="!!Glow"/>
          <p:cNvSpPr/>
          <p:nvPr/>
        </p:nvSpPr>
        <p:spPr>
          <a:xfrm>
            <a:off x="-2375853" y="-1041255"/>
            <a:ext cx="9601200" cy="9601200"/>
          </a:xfrm>
          <a:prstGeom prst="ellipse">
            <a:avLst/>
          </a:prstGeom>
          <a:gradFill rotWithShape="1">
            <a:gsLst>
              <a:gs pos="0">
                <a:srgbClr val="FFFFFF">
                  <a:alpha val="85000"/>
                </a:srgbClr>
              </a:gs>
              <a:gs pos="100000">
                <a:srgbClr val="FFFFFF">
                  <a:alpha val="0"/>
                </a:srgbClr>
              </a:gs>
            </a:gsLst>
            <a:path path="circle">
              <a:fillToRect l="50000" t="50000" r="50000" b="50000"/>
            </a:path>
          </a:gradFill>
          <a:ln>
            <a:noFill/>
          </a:ln>
        </p:spPr>
        <p:txBody>
          <a:bodyPr rtlCol="0" anchor="ctr"/>
          <a:lstStyle/>
          <a:p/>
        </p:txBody>
      </p:sp>
      <p:sp>
        <p:nvSpPr>
          <p:cNvPr id="5" name="!!Glow2"/>
          <p:cNvSpPr/>
          <p:nvPr/>
        </p:nvSpPr>
        <p:spPr>
          <a:xfrm>
            <a:off x="6406833" y="-261764"/>
            <a:ext cx="6720840" cy="6720840"/>
          </a:xfrm>
          <a:prstGeom prst="ellipse">
            <a:avLst/>
          </a:prstGeom>
          <a:gradFill rotWithShape="1">
            <a:gsLst>
              <a:gs pos="0">
                <a:srgbClr val="F9A825">
                  <a:alpha val="14000"/>
                </a:srgbClr>
              </a:gs>
              <a:gs pos="100000">
                <a:srgbClr val="F9A825">
                  <a:alpha val="0"/>
                </a:srgbClr>
              </a:gs>
            </a:gsLst>
            <a:path path="circle">
              <a:fillToRect l="50000" t="50000" r="50000" b="50000"/>
            </a:path>
          </a:gradFill>
          <a:ln>
            <a:noFill/>
          </a:ln>
        </p:spPr>
        <p:txBody>
          <a:bodyPr rtlCol="0" anchor="ctr"/>
          <a:lstStyle/>
          <a:p/>
        </p:txBody>
      </p:sp>
      <p:sp>
        <p:nvSpPr>
          <p:cNvPr id="6" name="!!Ring"/>
          <p:cNvSpPr/>
          <p:nvPr/>
        </p:nvSpPr>
        <p:spPr>
          <a:xfrm>
            <a:off x="9268215" y="-3903568"/>
            <a:ext cx="7132320" cy="7132320"/>
          </a:xfrm>
          <a:prstGeom prst="ellipse">
            <a:avLst/>
          </a:prstGeom>
          <a:noFill/>
          <a:ln w="12700">
            <a:solidFill>
              <a:srgbClr val="F9A825">
                <a:alpha val="85000"/>
              </a:srgbClr>
            </a:solidFill>
          </a:ln>
        </p:spPr>
        <p:txBody>
          <a:bodyPr rtlCol="0" anchor="ctr"/>
          <a:lstStyle/>
          <a:p/>
        </p:txBody>
      </p:sp>
      <p:sp>
        <p:nvSpPr>
          <p:cNvPr id="7" name="!!Card0"/>
          <p:cNvSpPr/>
          <p:nvPr/>
        </p:nvSpPr>
        <p:spPr>
          <a:xfrm>
            <a:off x="685800" y="1920240"/>
            <a:ext cx="5257800" cy="3337560"/>
          </a:xfrm>
          <a:prstGeom prst="roundRect">
            <a:avLst>
              <a:gd name="adj" fmla="val 8000"/>
            </a:avLst>
          </a:prstGeom>
          <a:solidFill>
            <a:srgbClr val="FFFFFF"/>
          </a:solidFill>
          <a:ln w="9525">
            <a:solidFill>
              <a:srgbClr val="F9A825">
                <a:alpha val="55000"/>
              </a:srgbClr>
            </a:solidFill>
          </a:ln>
          <a:effectLst>
            <a:outerShdw blurRad="228600" dist="50800" dir="5400000" algn="t" rotWithShape="0">
              <a:srgbClr val="1A0507">
                <a:alpha val="18000"/>
              </a:srgbClr>
            </a:outerShdw>
          </a:effectLst>
        </p:spPr>
        <p:txBody>
          <a:bodyPr rtlCol="0" anchor="ctr"/>
          <a:lstStyle/>
          <a:p/>
        </p:txBody>
      </p:sp>
      <p:sp>
        <p:nvSpPr>
          <p:cNvPr id="8" name="!!Card1"/>
          <p:cNvSpPr/>
          <p:nvPr/>
        </p:nvSpPr>
        <p:spPr>
          <a:xfrm>
            <a:off x="6217920" y="1920240"/>
            <a:ext cx="5257800" cy="3337560"/>
          </a:xfrm>
          <a:prstGeom prst="roundRect">
            <a:avLst>
              <a:gd name="adj" fmla="val 8000"/>
            </a:avLst>
          </a:prstGeom>
          <a:solidFill>
            <a:srgbClr val="FFFFFF"/>
          </a:solidFill>
          <a:ln w="9525">
            <a:solidFill>
              <a:srgbClr val="F9A825">
                <a:alpha val="55000"/>
              </a:srgbClr>
            </a:solidFill>
          </a:ln>
          <a:effectLst>
            <a:outerShdw blurRad="228600" dist="50800" dir="5400000" algn="t" rotWithShape="0">
              <a:srgbClr val="1A0507">
                <a:alpha val="18000"/>
              </a:srgbClr>
            </a:outerShdw>
          </a:effectLst>
        </p:spPr>
        <p:txBody>
          <a:bodyPr rtlCol="0" anchor="ctr"/>
          <a:lstStyle/>
          <a:p/>
        </p:txBody>
      </p:sp>
      <p:pic>
        <p:nvPicPr>
          <p:cNvPr id="9" name="!!Img0" descr="Arborescence clientèle"/>
          <p:cNvPicPr>
            <a:picLocks noChangeAspect="1"/>
          </p:cNvPicPr>
          <p:nvPr/>
        </p:nvPicPr>
        <p:blipFill>
          <a:blip r:embed="rId3"/>
          <a:stretch>
            <a:fillRect/>
          </a:stretch>
        </p:blipFill>
        <p:spPr>
          <a:xfrm>
            <a:off x="868680" y="2770826"/>
            <a:ext cx="4892040" cy="1636387"/>
          </a:xfrm>
          <a:prstGeom prst="rect">
            <a:avLst/>
          </a:prstGeom>
        </p:spPr>
      </p:pic>
      <p:pic>
        <p:nvPicPr>
          <p:cNvPr id="10" name="!!Img1" descr="Arborescence back-office"/>
          <p:cNvPicPr>
            <a:picLocks noChangeAspect="1"/>
          </p:cNvPicPr>
          <p:nvPr/>
        </p:nvPicPr>
        <p:blipFill>
          <a:blip r:embed="rId4"/>
          <a:stretch>
            <a:fillRect/>
          </a:stretch>
        </p:blipFill>
        <p:spPr>
          <a:xfrm>
            <a:off x="6400800" y="2455738"/>
            <a:ext cx="4892040" cy="2266563"/>
          </a:xfrm>
          <a:prstGeom prst="rect">
            <a:avLst/>
          </a:prstGeom>
        </p:spPr>
      </p:pic>
      <p:pic>
        <p:nvPicPr>
          <p:cNvPr id="11" name="!!Grain" descr="grain.png"/>
          <p:cNvPicPr>
            <a:picLocks noChangeAspect="1"/>
          </p:cNvPicPr>
          <p:nvPr/>
        </p:nvPicPr>
        <p:blipFill>
          <a:blip r:embed="rId5"/>
          <a:srcRect/>
          <a:stretch>
            <a:fillRect/>
          </a:stretch>
        </p:blipFill>
        <p:spPr>
          <a:xfrm>
            <a:off x="0" y="0"/>
            <a:ext cx="12192000" cy="6858000"/>
          </a:xfrm>
          <a:prstGeom prst="rect">
            <a:avLst/>
          </a:prstGeom>
        </p:spPr>
      </p:pic>
      <p:sp>
        <p:nvSpPr>
          <p:cNvPr id="12" name="!!Title"/>
          <p:cNvSpPr txBox="1"/>
          <p:nvPr/>
        </p:nvSpPr>
        <p:spPr>
          <a:xfrm>
            <a:off x="685800" y="914400"/>
            <a:ext cx="8229600" cy="731520"/>
          </a:xfrm>
          <a:prstGeom prst="rect">
            <a:avLst/>
          </a:prstGeom>
          <a:noFill/>
        </p:spPr>
        <p:txBody>
          <a:bodyPr wrap="square" lIns="0" rIns="0" tIns="0" bIns="0" anchor="t">
            <a:noAutofit/>
          </a:bodyPr>
          <a:lstStyle/>
          <a:p>
            <a:pPr algn="l">
              <a:lnSpc>
                <a:spcPct val="95000"/>
              </a:lnSpc>
            </a:pPr>
            <a:r>
              <a:rPr sz="4000">
                <a:solidFill>
                  <a:srgbClr val="7B1421"/>
                </a:solidFill>
                <a:latin typeface="Cream Heavy"/>
              </a:rPr>
              <a:t>Structure de navigation</a:t>
            </a:r>
          </a:p>
        </p:txBody>
      </p:sp>
      <p:sp>
        <p:nvSpPr>
          <p:cNvPr id="13" name="!!CardT0"/>
          <p:cNvSpPr txBox="1"/>
          <p:nvPr/>
        </p:nvSpPr>
        <p:spPr>
          <a:xfrm>
            <a:off x="685800" y="5440680"/>
            <a:ext cx="5257800" cy="365760"/>
          </a:xfrm>
          <a:prstGeom prst="rect">
            <a:avLst/>
          </a:prstGeom>
          <a:noFill/>
        </p:spPr>
        <p:txBody>
          <a:bodyPr wrap="square" lIns="0" rIns="0" tIns="0" bIns="0" anchor="t">
            <a:noAutofit/>
          </a:bodyPr>
          <a:lstStyle/>
          <a:p>
            <a:pPr algn="ctr"/>
            <a:r>
              <a:rPr sz="1500">
                <a:solidFill>
                  <a:srgbClr val="7B1421"/>
                </a:solidFill>
                <a:latin typeface="Montserrat SemiBold"/>
              </a:rPr>
              <a:t>Partie clientèle</a:t>
            </a:r>
          </a:p>
        </p:txBody>
      </p:sp>
      <p:sp>
        <p:nvSpPr>
          <p:cNvPr id="14" name="!!CardT1"/>
          <p:cNvSpPr txBox="1"/>
          <p:nvPr/>
        </p:nvSpPr>
        <p:spPr>
          <a:xfrm>
            <a:off x="6217920" y="5440680"/>
            <a:ext cx="5257800" cy="365760"/>
          </a:xfrm>
          <a:prstGeom prst="rect">
            <a:avLst/>
          </a:prstGeom>
          <a:noFill/>
        </p:spPr>
        <p:txBody>
          <a:bodyPr wrap="square" lIns="0" rIns="0" tIns="0" bIns="0" anchor="t">
            <a:noAutofit/>
          </a:bodyPr>
          <a:lstStyle/>
          <a:p>
            <a:pPr algn="ctr"/>
            <a:r>
              <a:rPr sz="1500">
                <a:solidFill>
                  <a:srgbClr val="7B1421"/>
                </a:solidFill>
                <a:latin typeface="Montserrat SemiBold"/>
              </a:rPr>
              <a:t>Back-office</a:t>
            </a:r>
          </a:p>
        </p:txBody>
      </p:sp>
      <p:sp>
        <p:nvSpPr>
          <p:cNvPr id="15"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A40C21"/>
                </a:solidFill>
                <a:latin typeface="Montserrat SemiBold"/>
              </a:rPr>
              <a:t>05 · Conception</a:t>
            </a:r>
          </a:p>
        </p:txBody>
      </p:sp>
      <p:sp>
        <p:nvSpPr>
          <p:cNvPr id="16"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A40C21"/>
                </a:solidFill>
                <a:latin typeface="Montserrat SemiBold"/>
              </a:rPr>
              <a:t>38</a:t>
            </a:r>
          </a:p>
        </p:txBody>
      </p:sp>
      <p:pic>
        <p:nvPicPr>
          <p:cNvPr id="17" name="!!Logo" descr="Logo Marin'Or Ivoire"/>
          <p:cNvPicPr>
            <a:picLocks noChangeAspect="1"/>
          </p:cNvPicPr>
          <p:nvPr/>
        </p:nvPicPr>
        <p:blipFill>
          <a:blip r:embed="rId6"/>
          <a:stretch>
            <a:fillRect/>
          </a:stretch>
        </p:blipFill>
        <p:spPr>
          <a:xfrm>
            <a:off x="10546080" y="311488"/>
            <a:ext cx="960120" cy="50299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6E8EA"/>
          </a:solidFill>
          <a:ln>
            <a:noFill/>
          </a:ln>
        </p:spPr>
        <p:txBody>
          <a:bodyPr rtlCol="0" anchor="ctr"/>
          <a:lstStyle/>
          <a:p/>
        </p:txBody>
      </p:sp>
      <p:pic>
        <p:nvPicPr>
          <p:cNvPr id="3" name="!!PlateL" descr="motif_bord.png"/>
          <p:cNvPicPr>
            <a:picLocks noChangeAspect="1"/>
          </p:cNvPicPr>
          <p:nvPr/>
        </p:nvPicPr>
        <p:blipFill>
          <a:blip r:embed="rId2"/>
          <a:srcRect/>
          <a:stretch>
            <a:fillRect/>
          </a:stretch>
        </p:blipFill>
        <p:spPr>
          <a:xfrm>
            <a:off x="-7090000" y="-2221115"/>
            <a:ext cx="21336000" cy="12001500"/>
          </a:xfrm>
          <a:prstGeom prst="rect">
            <a:avLst/>
          </a:prstGeom>
        </p:spPr>
      </p:pic>
      <p:sp>
        <p:nvSpPr>
          <p:cNvPr id="4" name="!!Glow"/>
          <p:cNvSpPr/>
          <p:nvPr/>
        </p:nvSpPr>
        <p:spPr>
          <a:xfrm>
            <a:off x="-3641936" y="-1524902"/>
            <a:ext cx="9601200" cy="9601200"/>
          </a:xfrm>
          <a:prstGeom prst="ellipse">
            <a:avLst/>
          </a:prstGeom>
          <a:gradFill rotWithShape="1">
            <a:gsLst>
              <a:gs pos="0">
                <a:srgbClr val="FFFFFF">
                  <a:alpha val="85000"/>
                </a:srgbClr>
              </a:gs>
              <a:gs pos="100000">
                <a:srgbClr val="FFFFFF">
                  <a:alpha val="0"/>
                </a:srgbClr>
              </a:gs>
            </a:gsLst>
            <a:path path="circle">
              <a:fillToRect l="50000" t="50000" r="50000" b="50000"/>
            </a:path>
          </a:gradFill>
          <a:ln>
            <a:noFill/>
          </a:ln>
        </p:spPr>
        <p:txBody>
          <a:bodyPr rtlCol="0" anchor="ctr"/>
          <a:lstStyle/>
          <a:p/>
        </p:txBody>
      </p:sp>
      <p:sp>
        <p:nvSpPr>
          <p:cNvPr id="5" name="!!Glow2"/>
          <p:cNvSpPr/>
          <p:nvPr/>
        </p:nvSpPr>
        <p:spPr>
          <a:xfrm>
            <a:off x="7672916" y="221882"/>
            <a:ext cx="6720840" cy="6720840"/>
          </a:xfrm>
          <a:prstGeom prst="ellipse">
            <a:avLst/>
          </a:prstGeom>
          <a:gradFill rotWithShape="1">
            <a:gsLst>
              <a:gs pos="0">
                <a:srgbClr val="F9A825">
                  <a:alpha val="14000"/>
                </a:srgbClr>
              </a:gs>
              <a:gs pos="100000">
                <a:srgbClr val="F9A825">
                  <a:alpha val="0"/>
                </a:srgbClr>
              </a:gs>
            </a:gsLst>
            <a:path path="circle">
              <a:fillToRect l="50000" t="50000" r="50000" b="50000"/>
            </a:path>
          </a:gradFill>
          <a:ln>
            <a:noFill/>
          </a:ln>
        </p:spPr>
        <p:txBody>
          <a:bodyPr rtlCol="0" anchor="ctr"/>
          <a:lstStyle/>
          <a:p/>
        </p:txBody>
      </p:sp>
      <p:sp>
        <p:nvSpPr>
          <p:cNvPr id="6" name="!!Ring"/>
          <p:cNvSpPr/>
          <p:nvPr/>
        </p:nvSpPr>
        <p:spPr>
          <a:xfrm>
            <a:off x="9471670" y="-4086010"/>
            <a:ext cx="7132320" cy="7132320"/>
          </a:xfrm>
          <a:prstGeom prst="ellipse">
            <a:avLst/>
          </a:prstGeom>
          <a:noFill/>
          <a:ln w="12700">
            <a:solidFill>
              <a:srgbClr val="F9A825">
                <a:alpha val="85000"/>
              </a:srgbClr>
            </a:solidFill>
          </a:ln>
        </p:spPr>
        <p:txBody>
          <a:bodyPr rtlCol="0" anchor="ctr"/>
          <a:lstStyle/>
          <a:p/>
        </p:txBody>
      </p:sp>
      <p:pic>
        <p:nvPicPr>
          <p:cNvPr id="7" name="!!Hero" descr="Page d'accueil"/>
          <p:cNvPicPr>
            <a:picLocks noChangeAspect="1"/>
          </p:cNvPicPr>
          <p:nvPr/>
        </p:nvPicPr>
        <p:blipFill>
          <a:blip r:embed="rId3"/>
          <a:srcRect l="1556" r="1556"/>
          <a:stretch>
            <a:fillRect/>
          </a:stretch>
        </p:blipFill>
        <p:spPr>
          <a:xfrm>
            <a:off x="4526280" y="1097280"/>
            <a:ext cx="6995160" cy="3497580"/>
          </a:xfrm>
          <a:prstGeom prst="roundRect">
            <a:avLst>
              <a:gd name="adj" fmla="val 2000"/>
            </a:avLst>
          </a:prstGeom>
          <a:effectLst>
            <a:outerShdw blurRad="355600" dist="101600" dir="5400000" algn="t" rotWithShape="0">
              <a:srgbClr val="1A0507">
                <a:alpha val="26000"/>
              </a:srgbClr>
            </a:outerShdw>
          </a:effectLst>
        </p:spPr>
      </p:pic>
      <p:pic>
        <p:nvPicPr>
          <p:cNvPr id="8" name="!!Th0" descr="Gamme Marinades"/>
          <p:cNvPicPr>
            <a:picLocks noChangeAspect="1"/>
          </p:cNvPicPr>
          <p:nvPr/>
        </p:nvPicPr>
        <p:blipFill>
          <a:blip r:embed="rId4"/>
          <a:srcRect l="4838" r="4838"/>
          <a:stretch>
            <a:fillRect/>
          </a:stretch>
        </p:blipFill>
        <p:spPr>
          <a:xfrm>
            <a:off x="4526280" y="4754880"/>
            <a:ext cx="2203704" cy="1188720"/>
          </a:xfrm>
          <a:prstGeom prst="roundRect">
            <a:avLst>
              <a:gd name="adj" fmla="val 4000"/>
            </a:avLst>
          </a:prstGeom>
          <a:effectLst>
            <a:outerShdw blurRad="228600" dist="63500" dir="5400000" algn="t" rotWithShape="0">
              <a:srgbClr val="1A0507">
                <a:alpha val="22000"/>
              </a:srgbClr>
            </a:outerShdw>
          </a:effectLst>
        </p:spPr>
      </p:pic>
      <p:pic>
        <p:nvPicPr>
          <p:cNvPr id="9" name="!!Th1" descr="Gamme Épices"/>
          <p:cNvPicPr>
            <a:picLocks noChangeAspect="1"/>
          </p:cNvPicPr>
          <p:nvPr/>
        </p:nvPicPr>
        <p:blipFill>
          <a:blip r:embed="rId5"/>
          <a:srcRect l="4941" r="4941"/>
          <a:stretch>
            <a:fillRect/>
          </a:stretch>
        </p:blipFill>
        <p:spPr>
          <a:xfrm>
            <a:off x="6922008" y="4754880"/>
            <a:ext cx="2203704" cy="1188720"/>
          </a:xfrm>
          <a:prstGeom prst="roundRect">
            <a:avLst>
              <a:gd name="adj" fmla="val 4000"/>
            </a:avLst>
          </a:prstGeom>
          <a:effectLst>
            <a:outerShdw blurRad="228600" dist="63500" dir="5400000" algn="t" rotWithShape="0">
              <a:srgbClr val="1A0507">
                <a:alpha val="22000"/>
              </a:srgbClr>
            </a:outerShdw>
          </a:effectLst>
        </p:spPr>
      </p:pic>
      <p:pic>
        <p:nvPicPr>
          <p:cNvPr id="10" name="!!Th2" descr="Gamme Essentiels"/>
          <p:cNvPicPr>
            <a:picLocks noChangeAspect="1"/>
          </p:cNvPicPr>
          <p:nvPr/>
        </p:nvPicPr>
        <p:blipFill>
          <a:blip r:embed="rId6"/>
          <a:srcRect l="5044" r="5044"/>
          <a:stretch>
            <a:fillRect/>
          </a:stretch>
        </p:blipFill>
        <p:spPr>
          <a:xfrm>
            <a:off x="9317736" y="4754880"/>
            <a:ext cx="2203704" cy="1188720"/>
          </a:xfrm>
          <a:prstGeom prst="roundRect">
            <a:avLst>
              <a:gd name="adj" fmla="val 4000"/>
            </a:avLst>
          </a:prstGeom>
          <a:effectLst>
            <a:outerShdw blurRad="228600" dist="63500" dir="5400000" algn="t" rotWithShape="0">
              <a:srgbClr val="1A0507">
                <a:alpha val="22000"/>
              </a:srgbClr>
            </a:outerShdw>
          </a:effectLst>
        </p:spPr>
      </p:pic>
      <p:pic>
        <p:nvPicPr>
          <p:cNvPr id="11" name="!!Grain" descr="grain.png"/>
          <p:cNvPicPr>
            <a:picLocks noChangeAspect="1"/>
          </p:cNvPicPr>
          <p:nvPr/>
        </p:nvPicPr>
        <p:blipFill>
          <a:blip r:embed="rId7"/>
          <a:srcRect/>
          <a:stretch>
            <a:fillRect/>
          </a:stretch>
        </p:blipFill>
        <p:spPr>
          <a:xfrm>
            <a:off x="0" y="0"/>
            <a:ext cx="12192000" cy="6858000"/>
          </a:xfrm>
          <a:prstGeom prst="rect">
            <a:avLst/>
          </a:prstGeom>
        </p:spPr>
      </p:pic>
      <p:sp>
        <p:nvSpPr>
          <p:cNvPr id="12" name="!!Title"/>
          <p:cNvSpPr txBox="1"/>
          <p:nvPr/>
        </p:nvSpPr>
        <p:spPr>
          <a:xfrm>
            <a:off x="685800" y="914400"/>
            <a:ext cx="3749039" cy="731520"/>
          </a:xfrm>
          <a:prstGeom prst="rect">
            <a:avLst/>
          </a:prstGeom>
          <a:noFill/>
        </p:spPr>
        <p:txBody>
          <a:bodyPr wrap="square" lIns="0" rIns="0" tIns="0" bIns="0" anchor="t">
            <a:noAutofit/>
          </a:bodyPr>
          <a:lstStyle/>
          <a:p>
            <a:pPr algn="l">
              <a:lnSpc>
                <a:spcPct val="95000"/>
              </a:lnSpc>
            </a:pPr>
            <a:r>
              <a:rPr sz="2500">
                <a:solidFill>
                  <a:srgbClr val="7B1421"/>
                </a:solidFill>
                <a:latin typeface="Cream Heavy"/>
              </a:rPr>
              <a:t>Accueil et gammes</a:t>
            </a:r>
          </a:p>
        </p:txBody>
      </p:sp>
      <p:sp>
        <p:nvSpPr>
          <p:cNvPr id="13" name="!!Body"/>
          <p:cNvSpPr txBox="1"/>
          <p:nvPr/>
        </p:nvSpPr>
        <p:spPr>
          <a:xfrm>
            <a:off x="685800" y="2057400"/>
            <a:ext cx="3566160" cy="2743200"/>
          </a:xfrm>
          <a:prstGeom prst="rect">
            <a:avLst/>
          </a:prstGeom>
          <a:noFill/>
        </p:spPr>
        <p:txBody>
          <a:bodyPr wrap="square" lIns="0" rIns="0" tIns="0" bIns="0" anchor="t">
            <a:noAutofit/>
          </a:bodyPr>
          <a:lstStyle/>
          <a:p>
            <a:pPr algn="l">
              <a:lnSpc>
                <a:spcPct val="112000"/>
              </a:lnSpc>
              <a:spcAft>
                <a:spcPts val="1200"/>
              </a:spcAft>
            </a:pPr>
            <a:r>
              <a:rPr sz="1650">
                <a:solidFill>
                  <a:srgbClr val="000000"/>
                </a:solidFill>
                <a:latin typeface="Montserrat Medium"/>
              </a:rPr>
              <a:t>Une couleur par gamme : bordeaux, or, vert.</a:t>
            </a:r>
          </a:p>
        </p:txBody>
      </p:sp>
      <p:sp>
        <p:nvSpPr>
          <p:cNvPr id="14"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A40C21"/>
                </a:solidFill>
                <a:latin typeface="Montserrat SemiBold"/>
              </a:rPr>
              <a:t>05 · Interfaces</a:t>
            </a:r>
          </a:p>
        </p:txBody>
      </p:sp>
      <p:sp>
        <p:nvSpPr>
          <p:cNvPr id="15"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A40C21"/>
                </a:solidFill>
                <a:latin typeface="Montserrat SemiBold"/>
              </a:rPr>
              <a:t>39</a:t>
            </a:r>
          </a:p>
        </p:txBody>
      </p:sp>
      <p:pic>
        <p:nvPicPr>
          <p:cNvPr id="16" name="!!Logo" descr="Logo Marin'Or Ivoire"/>
          <p:cNvPicPr>
            <a:picLocks noChangeAspect="1"/>
          </p:cNvPicPr>
          <p:nvPr/>
        </p:nvPicPr>
        <p:blipFill>
          <a:blip r:embed="rId8"/>
          <a:stretch>
            <a:fillRect/>
          </a:stretch>
        </p:blipFill>
        <p:spPr>
          <a:xfrm>
            <a:off x="10546080" y="311488"/>
            <a:ext cx="960120" cy="50299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6E8EA"/>
          </a:solidFill>
          <a:ln>
            <a:noFill/>
          </a:ln>
        </p:spPr>
        <p:txBody>
          <a:bodyPr rtlCol="0" anchor="ctr"/>
          <a:lstStyle/>
          <a:p/>
        </p:txBody>
      </p:sp>
      <p:pic>
        <p:nvPicPr>
          <p:cNvPr id="3" name="!!PlateL" descr="motif_bord.png"/>
          <p:cNvPicPr>
            <a:picLocks noChangeAspect="1"/>
          </p:cNvPicPr>
          <p:nvPr/>
        </p:nvPicPr>
        <p:blipFill>
          <a:blip r:embed="rId2"/>
          <a:srcRect/>
          <a:stretch>
            <a:fillRect/>
          </a:stretch>
        </p:blipFill>
        <p:spPr>
          <a:xfrm>
            <a:off x="-7270000" y="-1898719"/>
            <a:ext cx="21336000" cy="12001500"/>
          </a:xfrm>
          <a:prstGeom prst="rect">
            <a:avLst/>
          </a:prstGeom>
        </p:spPr>
      </p:pic>
      <p:sp>
        <p:nvSpPr>
          <p:cNvPr id="4" name="!!Glow"/>
          <p:cNvSpPr/>
          <p:nvPr/>
        </p:nvSpPr>
        <p:spPr>
          <a:xfrm>
            <a:off x="-4099034" y="-2206066"/>
            <a:ext cx="9601200" cy="9601200"/>
          </a:xfrm>
          <a:prstGeom prst="ellipse">
            <a:avLst/>
          </a:prstGeom>
          <a:gradFill rotWithShape="1">
            <a:gsLst>
              <a:gs pos="0">
                <a:srgbClr val="FFFFFF">
                  <a:alpha val="85000"/>
                </a:srgbClr>
              </a:gs>
              <a:gs pos="100000">
                <a:srgbClr val="FFFFFF">
                  <a:alpha val="0"/>
                </a:srgbClr>
              </a:gs>
            </a:gsLst>
            <a:path path="circle">
              <a:fillToRect l="50000" t="50000" r="50000" b="50000"/>
            </a:path>
          </a:gradFill>
          <a:ln>
            <a:noFill/>
          </a:ln>
        </p:spPr>
        <p:txBody>
          <a:bodyPr rtlCol="0" anchor="ctr"/>
          <a:lstStyle/>
          <a:p/>
        </p:txBody>
      </p:sp>
      <p:sp>
        <p:nvSpPr>
          <p:cNvPr id="5" name="!!Glow2"/>
          <p:cNvSpPr/>
          <p:nvPr/>
        </p:nvSpPr>
        <p:spPr>
          <a:xfrm>
            <a:off x="8130014" y="903046"/>
            <a:ext cx="6720840" cy="6720840"/>
          </a:xfrm>
          <a:prstGeom prst="ellipse">
            <a:avLst/>
          </a:prstGeom>
          <a:gradFill rotWithShape="1">
            <a:gsLst>
              <a:gs pos="0">
                <a:srgbClr val="F9A825">
                  <a:alpha val="14000"/>
                </a:srgbClr>
              </a:gs>
              <a:gs pos="100000">
                <a:srgbClr val="F9A825">
                  <a:alpha val="0"/>
                </a:srgbClr>
              </a:gs>
            </a:gsLst>
            <a:path path="circle">
              <a:fillToRect l="50000" t="50000" r="50000" b="50000"/>
            </a:path>
          </a:gradFill>
          <a:ln>
            <a:noFill/>
          </a:ln>
        </p:spPr>
        <p:txBody>
          <a:bodyPr rtlCol="0" anchor="ctr"/>
          <a:lstStyle/>
          <a:p/>
        </p:txBody>
      </p:sp>
      <p:sp>
        <p:nvSpPr>
          <p:cNvPr id="6" name="!!Ring"/>
          <p:cNvSpPr/>
          <p:nvPr/>
        </p:nvSpPr>
        <p:spPr>
          <a:xfrm>
            <a:off x="9716718" y="-4195982"/>
            <a:ext cx="7132320" cy="7132320"/>
          </a:xfrm>
          <a:prstGeom prst="ellipse">
            <a:avLst/>
          </a:prstGeom>
          <a:noFill/>
          <a:ln w="12700">
            <a:solidFill>
              <a:srgbClr val="F9A825">
                <a:alpha val="85000"/>
              </a:srgbClr>
            </a:solidFill>
          </a:ln>
        </p:spPr>
        <p:txBody>
          <a:bodyPr rtlCol="0" anchor="ctr"/>
          <a:lstStyle/>
          <a:p/>
        </p:txBody>
      </p:sp>
      <p:pic>
        <p:nvPicPr>
          <p:cNvPr id="7" name="!!Hero" descr="Livraison et paiement"/>
          <p:cNvPicPr>
            <a:picLocks noChangeAspect="1"/>
          </p:cNvPicPr>
          <p:nvPr/>
        </p:nvPicPr>
        <p:blipFill>
          <a:blip r:embed="rId3"/>
          <a:srcRect l="889" r="889"/>
          <a:stretch>
            <a:fillRect/>
          </a:stretch>
        </p:blipFill>
        <p:spPr>
          <a:xfrm>
            <a:off x="4526280" y="1097280"/>
            <a:ext cx="6995160" cy="3497580"/>
          </a:xfrm>
          <a:prstGeom prst="roundRect">
            <a:avLst>
              <a:gd name="adj" fmla="val 2000"/>
            </a:avLst>
          </a:prstGeom>
          <a:effectLst>
            <a:outerShdw blurRad="355600" dist="101600" dir="5400000" algn="t" rotWithShape="0">
              <a:srgbClr val="1A0507">
                <a:alpha val="26000"/>
              </a:srgbClr>
            </a:outerShdw>
          </a:effectLst>
        </p:spPr>
      </p:pic>
      <p:pic>
        <p:nvPicPr>
          <p:cNvPr id="8" name="!!Th0" descr="Panier"/>
          <p:cNvPicPr>
            <a:picLocks noChangeAspect="1"/>
          </p:cNvPicPr>
          <p:nvPr/>
        </p:nvPicPr>
        <p:blipFill>
          <a:blip r:embed="rId4"/>
          <a:srcRect t="13943" b="13943"/>
          <a:stretch>
            <a:fillRect/>
          </a:stretch>
        </p:blipFill>
        <p:spPr>
          <a:xfrm>
            <a:off x="4526280" y="4754880"/>
            <a:ext cx="3383280" cy="1188720"/>
          </a:xfrm>
          <a:prstGeom prst="roundRect">
            <a:avLst>
              <a:gd name="adj" fmla="val 4000"/>
            </a:avLst>
          </a:prstGeom>
          <a:effectLst>
            <a:outerShdw blurRad="228600" dist="63500" dir="5400000" algn="t" rotWithShape="0">
              <a:srgbClr val="1A0507">
                <a:alpha val="22000"/>
              </a:srgbClr>
            </a:outerShdw>
          </a:effectLst>
        </p:spPr>
      </p:pic>
      <p:pic>
        <p:nvPicPr>
          <p:cNvPr id="9" name="!!Th1" descr="Paiement et confirmation"/>
          <p:cNvPicPr>
            <a:picLocks noChangeAspect="1"/>
          </p:cNvPicPr>
          <p:nvPr/>
        </p:nvPicPr>
        <p:blipFill>
          <a:blip r:embed="rId5"/>
          <a:srcRect t="13570" b="13570"/>
          <a:stretch>
            <a:fillRect/>
          </a:stretch>
        </p:blipFill>
        <p:spPr>
          <a:xfrm>
            <a:off x="8138160" y="4754880"/>
            <a:ext cx="3383280" cy="1188720"/>
          </a:xfrm>
          <a:prstGeom prst="roundRect">
            <a:avLst>
              <a:gd name="adj" fmla="val 4000"/>
            </a:avLst>
          </a:prstGeom>
          <a:effectLst>
            <a:outerShdw blurRad="228600" dist="63500" dir="5400000" algn="t" rotWithShape="0">
              <a:srgbClr val="1A0507">
                <a:alpha val="22000"/>
              </a:srgbClr>
            </a:outerShdw>
          </a:effectLst>
        </p:spPr>
      </p:pic>
      <p:sp>
        <p:nvSpPr>
          <p:cNvPr id="10" name="!!Pill0"/>
          <p:cNvSpPr/>
          <p:nvPr/>
        </p:nvSpPr>
        <p:spPr>
          <a:xfrm>
            <a:off x="685800" y="3977639"/>
            <a:ext cx="1664208" cy="438912"/>
          </a:xfrm>
          <a:prstGeom prst="roundRect">
            <a:avLst>
              <a:gd name="adj" fmla="val 50000"/>
            </a:avLst>
          </a:prstGeom>
          <a:solidFill>
            <a:srgbClr val="FFFFFF"/>
          </a:solidFill>
          <a:ln w="9525">
            <a:solidFill>
              <a:srgbClr val="7B1421">
                <a:alpha val="50000"/>
              </a:srgbClr>
            </a:solidFill>
          </a:ln>
        </p:spPr>
        <p:txBody>
          <a:bodyPr rtlCol="0" anchor="ctr"/>
          <a:lstStyle/>
          <a:p/>
        </p:txBody>
      </p:sp>
      <p:sp>
        <p:nvSpPr>
          <p:cNvPr id="11" name="!!Pill1"/>
          <p:cNvSpPr/>
          <p:nvPr/>
        </p:nvSpPr>
        <p:spPr>
          <a:xfrm>
            <a:off x="2468880" y="3977639"/>
            <a:ext cx="1664208" cy="438912"/>
          </a:xfrm>
          <a:prstGeom prst="roundRect">
            <a:avLst>
              <a:gd name="adj" fmla="val 50000"/>
            </a:avLst>
          </a:prstGeom>
          <a:solidFill>
            <a:srgbClr val="FFFFFF"/>
          </a:solidFill>
          <a:ln w="9525">
            <a:solidFill>
              <a:srgbClr val="7B1421">
                <a:alpha val="50000"/>
              </a:srgbClr>
            </a:solidFill>
          </a:ln>
        </p:spPr>
        <p:txBody>
          <a:bodyPr rtlCol="0" anchor="ctr"/>
          <a:lstStyle/>
          <a:p/>
        </p:txBody>
      </p:sp>
      <p:sp>
        <p:nvSpPr>
          <p:cNvPr id="12" name="!!Pill2"/>
          <p:cNvSpPr/>
          <p:nvPr/>
        </p:nvSpPr>
        <p:spPr>
          <a:xfrm>
            <a:off x="685800" y="4544567"/>
            <a:ext cx="1664208" cy="438912"/>
          </a:xfrm>
          <a:prstGeom prst="roundRect">
            <a:avLst>
              <a:gd name="adj" fmla="val 50000"/>
            </a:avLst>
          </a:prstGeom>
          <a:solidFill>
            <a:srgbClr val="FFFFFF"/>
          </a:solidFill>
          <a:ln w="9525">
            <a:solidFill>
              <a:srgbClr val="7B1421">
                <a:alpha val="50000"/>
              </a:srgbClr>
            </a:solidFill>
          </a:ln>
        </p:spPr>
        <p:txBody>
          <a:bodyPr rtlCol="0" anchor="ctr"/>
          <a:lstStyle/>
          <a:p/>
        </p:txBody>
      </p:sp>
      <p:sp>
        <p:nvSpPr>
          <p:cNvPr id="13" name="!!Pill3"/>
          <p:cNvSpPr/>
          <p:nvPr/>
        </p:nvSpPr>
        <p:spPr>
          <a:xfrm>
            <a:off x="2468880" y="4544567"/>
            <a:ext cx="1664208" cy="438912"/>
          </a:xfrm>
          <a:prstGeom prst="roundRect">
            <a:avLst>
              <a:gd name="adj" fmla="val 50000"/>
            </a:avLst>
          </a:prstGeom>
          <a:solidFill>
            <a:srgbClr val="FFFFFF"/>
          </a:solidFill>
          <a:ln w="9525">
            <a:solidFill>
              <a:srgbClr val="7B1421">
                <a:alpha val="50000"/>
              </a:srgbClr>
            </a:solidFill>
          </a:ln>
        </p:spPr>
        <p:txBody>
          <a:bodyPr rtlCol="0" anchor="ctr"/>
          <a:lstStyle/>
          <a:p/>
        </p:txBody>
      </p:sp>
      <p:pic>
        <p:nvPicPr>
          <p:cNvPr id="14" name="!!Grain" descr="grain.png"/>
          <p:cNvPicPr>
            <a:picLocks noChangeAspect="1"/>
          </p:cNvPicPr>
          <p:nvPr/>
        </p:nvPicPr>
        <p:blipFill>
          <a:blip r:embed="rId6"/>
          <a:srcRect/>
          <a:stretch>
            <a:fillRect/>
          </a:stretch>
        </p:blipFill>
        <p:spPr>
          <a:xfrm>
            <a:off x="0" y="0"/>
            <a:ext cx="12192000" cy="6858000"/>
          </a:xfrm>
          <a:prstGeom prst="rect">
            <a:avLst/>
          </a:prstGeom>
        </p:spPr>
      </p:pic>
      <p:sp>
        <p:nvSpPr>
          <p:cNvPr id="15" name="!!Title"/>
          <p:cNvSpPr txBox="1"/>
          <p:nvPr/>
        </p:nvSpPr>
        <p:spPr>
          <a:xfrm>
            <a:off x="685800" y="914400"/>
            <a:ext cx="3749039" cy="731520"/>
          </a:xfrm>
          <a:prstGeom prst="rect">
            <a:avLst/>
          </a:prstGeom>
          <a:noFill/>
        </p:spPr>
        <p:txBody>
          <a:bodyPr wrap="square" lIns="0" rIns="0" tIns="0" bIns="0" anchor="t">
            <a:noAutofit/>
          </a:bodyPr>
          <a:lstStyle/>
          <a:p>
            <a:pPr algn="l">
              <a:lnSpc>
                <a:spcPct val="95000"/>
              </a:lnSpc>
            </a:pPr>
            <a:r>
              <a:rPr sz="2500">
                <a:solidFill>
                  <a:srgbClr val="7B1421"/>
                </a:solidFill>
                <a:latin typeface="Cream Heavy"/>
              </a:rPr>
              <a:t>Commander et payer</a:t>
            </a:r>
          </a:p>
        </p:txBody>
      </p:sp>
      <p:sp>
        <p:nvSpPr>
          <p:cNvPr id="16" name="!!Body"/>
          <p:cNvSpPr txBox="1"/>
          <p:nvPr/>
        </p:nvSpPr>
        <p:spPr>
          <a:xfrm>
            <a:off x="685800" y="2057400"/>
            <a:ext cx="3566160" cy="1371600"/>
          </a:xfrm>
          <a:prstGeom prst="rect">
            <a:avLst/>
          </a:prstGeom>
          <a:noFill/>
        </p:spPr>
        <p:txBody>
          <a:bodyPr wrap="square" lIns="0" rIns="0" tIns="0" bIns="0" anchor="t">
            <a:noAutofit/>
          </a:bodyPr>
          <a:lstStyle/>
          <a:p>
            <a:pPr algn="l">
              <a:lnSpc>
                <a:spcPct val="112000"/>
              </a:lnSpc>
              <a:spcAft>
                <a:spcPts val="800"/>
              </a:spcAft>
            </a:pPr>
            <a:r>
              <a:rPr sz="1650">
                <a:solidFill>
                  <a:srgbClr val="000000"/>
                </a:solidFill>
                <a:latin typeface="Montserrat Medium"/>
              </a:rPr>
              <a:t>Paiement mobile money, vérifié par l'administrateur.</a:t>
            </a:r>
          </a:p>
        </p:txBody>
      </p:sp>
      <p:sp>
        <p:nvSpPr>
          <p:cNvPr id="17" name="!!PillT0"/>
          <p:cNvSpPr txBox="1"/>
          <p:nvPr/>
        </p:nvSpPr>
        <p:spPr>
          <a:xfrm>
            <a:off x="685800" y="3977639"/>
            <a:ext cx="1664208" cy="438912"/>
          </a:xfrm>
          <a:prstGeom prst="rect">
            <a:avLst/>
          </a:prstGeom>
          <a:noFill/>
        </p:spPr>
        <p:txBody>
          <a:bodyPr wrap="square" lIns="0" rIns="0" tIns="0" bIns="0" anchor="ctr">
            <a:noAutofit/>
          </a:bodyPr>
          <a:lstStyle/>
          <a:p>
            <a:pPr algn="ctr"/>
            <a:r>
              <a:rPr sz="1200">
                <a:solidFill>
                  <a:srgbClr val="7B1421"/>
                </a:solidFill>
                <a:latin typeface="Montserrat SemiBold"/>
              </a:rPr>
              <a:t>Wave</a:t>
            </a:r>
          </a:p>
        </p:txBody>
      </p:sp>
      <p:sp>
        <p:nvSpPr>
          <p:cNvPr id="18" name="!!PillT1"/>
          <p:cNvSpPr txBox="1"/>
          <p:nvPr/>
        </p:nvSpPr>
        <p:spPr>
          <a:xfrm>
            <a:off x="2468880" y="3977639"/>
            <a:ext cx="1664208" cy="438912"/>
          </a:xfrm>
          <a:prstGeom prst="rect">
            <a:avLst/>
          </a:prstGeom>
          <a:noFill/>
        </p:spPr>
        <p:txBody>
          <a:bodyPr wrap="square" lIns="0" rIns="0" tIns="0" bIns="0" anchor="ctr">
            <a:noAutofit/>
          </a:bodyPr>
          <a:lstStyle/>
          <a:p>
            <a:pPr algn="ctr"/>
            <a:r>
              <a:rPr sz="1200">
                <a:solidFill>
                  <a:srgbClr val="7B1421"/>
                </a:solidFill>
                <a:latin typeface="Montserrat SemiBold"/>
              </a:rPr>
              <a:t>Orange Money</a:t>
            </a:r>
          </a:p>
        </p:txBody>
      </p:sp>
      <p:sp>
        <p:nvSpPr>
          <p:cNvPr id="19" name="!!PillT2"/>
          <p:cNvSpPr txBox="1"/>
          <p:nvPr/>
        </p:nvSpPr>
        <p:spPr>
          <a:xfrm>
            <a:off x="685800" y="4544567"/>
            <a:ext cx="1664208" cy="438912"/>
          </a:xfrm>
          <a:prstGeom prst="rect">
            <a:avLst/>
          </a:prstGeom>
          <a:noFill/>
        </p:spPr>
        <p:txBody>
          <a:bodyPr wrap="square" lIns="0" rIns="0" tIns="0" bIns="0" anchor="ctr">
            <a:noAutofit/>
          </a:bodyPr>
          <a:lstStyle/>
          <a:p>
            <a:pPr algn="ctr"/>
            <a:r>
              <a:rPr sz="1200">
                <a:solidFill>
                  <a:srgbClr val="7B1421"/>
                </a:solidFill>
                <a:latin typeface="Montserrat SemiBold"/>
              </a:rPr>
              <a:t>Moov Money</a:t>
            </a:r>
          </a:p>
        </p:txBody>
      </p:sp>
      <p:sp>
        <p:nvSpPr>
          <p:cNvPr id="20" name="!!PillT3"/>
          <p:cNvSpPr txBox="1"/>
          <p:nvPr/>
        </p:nvSpPr>
        <p:spPr>
          <a:xfrm>
            <a:off x="2468880" y="4544567"/>
            <a:ext cx="1664208" cy="438912"/>
          </a:xfrm>
          <a:prstGeom prst="rect">
            <a:avLst/>
          </a:prstGeom>
          <a:noFill/>
        </p:spPr>
        <p:txBody>
          <a:bodyPr wrap="square" lIns="0" rIns="0" tIns="0" bIns="0" anchor="ctr">
            <a:noAutofit/>
          </a:bodyPr>
          <a:lstStyle/>
          <a:p>
            <a:pPr algn="ctr"/>
            <a:r>
              <a:rPr sz="1200">
                <a:solidFill>
                  <a:srgbClr val="7B1421"/>
                </a:solidFill>
                <a:latin typeface="Montserrat SemiBold"/>
              </a:rPr>
              <a:t>Djamo</a:t>
            </a:r>
          </a:p>
        </p:txBody>
      </p:sp>
      <p:sp>
        <p:nvSpPr>
          <p:cNvPr id="21"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A40C21"/>
                </a:solidFill>
                <a:latin typeface="Montserrat SemiBold"/>
              </a:rPr>
              <a:t>05 · Fonctionnalités</a:t>
            </a:r>
          </a:p>
        </p:txBody>
      </p:sp>
      <p:sp>
        <p:nvSpPr>
          <p:cNvPr id="22"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A40C21"/>
                </a:solidFill>
                <a:latin typeface="Montserrat SemiBold"/>
              </a:rPr>
              <a:t>40</a:t>
            </a:r>
          </a:p>
        </p:txBody>
      </p:sp>
      <p:pic>
        <p:nvPicPr>
          <p:cNvPr id="23" name="!!Logo" descr="Logo Marin'Or Ivoire"/>
          <p:cNvPicPr>
            <a:picLocks noChangeAspect="1"/>
          </p:cNvPicPr>
          <p:nvPr/>
        </p:nvPicPr>
        <p:blipFill>
          <a:blip r:embed="rId7"/>
          <a:stretch>
            <a:fillRect/>
          </a:stretch>
        </p:blipFill>
        <p:spPr>
          <a:xfrm>
            <a:off x="10546080" y="311488"/>
            <a:ext cx="960120" cy="50299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6E8EA"/>
          </a:solidFill>
          <a:ln>
            <a:noFill/>
          </a:ln>
        </p:spPr>
        <p:txBody>
          <a:bodyPr rtlCol="0" anchor="ctr"/>
          <a:lstStyle/>
          <a:p/>
        </p:txBody>
      </p:sp>
      <p:pic>
        <p:nvPicPr>
          <p:cNvPr id="3" name="!!PlateL" descr="motif_bord.png"/>
          <p:cNvPicPr>
            <a:picLocks noChangeAspect="1"/>
          </p:cNvPicPr>
          <p:nvPr/>
        </p:nvPicPr>
        <p:blipFill>
          <a:blip r:embed="rId2"/>
          <a:srcRect/>
          <a:stretch>
            <a:fillRect/>
          </a:stretch>
        </p:blipFill>
        <p:spPr>
          <a:xfrm>
            <a:off x="-7450000" y="-1646605"/>
            <a:ext cx="21336000" cy="12001500"/>
          </a:xfrm>
          <a:prstGeom prst="rect">
            <a:avLst/>
          </a:prstGeom>
        </p:spPr>
      </p:pic>
      <p:sp>
        <p:nvSpPr>
          <p:cNvPr id="4" name="!!Glow"/>
          <p:cNvSpPr/>
          <p:nvPr/>
        </p:nvSpPr>
        <p:spPr>
          <a:xfrm>
            <a:off x="-3612326" y="-2883836"/>
            <a:ext cx="9601200" cy="9601200"/>
          </a:xfrm>
          <a:prstGeom prst="ellipse">
            <a:avLst/>
          </a:prstGeom>
          <a:gradFill rotWithShape="1">
            <a:gsLst>
              <a:gs pos="0">
                <a:srgbClr val="FFFFFF">
                  <a:alpha val="85000"/>
                </a:srgbClr>
              </a:gs>
              <a:gs pos="100000">
                <a:srgbClr val="FFFFFF">
                  <a:alpha val="0"/>
                </a:srgbClr>
              </a:gs>
            </a:gsLst>
            <a:path path="circle">
              <a:fillToRect l="50000" t="50000" r="50000" b="50000"/>
            </a:path>
          </a:gradFill>
          <a:ln>
            <a:noFill/>
          </a:ln>
        </p:spPr>
        <p:txBody>
          <a:bodyPr rtlCol="0" anchor="ctr"/>
          <a:lstStyle/>
          <a:p/>
        </p:txBody>
      </p:sp>
      <p:sp>
        <p:nvSpPr>
          <p:cNvPr id="5" name="!!Glow2"/>
          <p:cNvSpPr/>
          <p:nvPr/>
        </p:nvSpPr>
        <p:spPr>
          <a:xfrm>
            <a:off x="7643306" y="1580816"/>
            <a:ext cx="6720840" cy="6720840"/>
          </a:xfrm>
          <a:prstGeom prst="ellipse">
            <a:avLst/>
          </a:prstGeom>
          <a:gradFill rotWithShape="1">
            <a:gsLst>
              <a:gs pos="0">
                <a:srgbClr val="F9A825">
                  <a:alpha val="14000"/>
                </a:srgbClr>
              </a:gs>
              <a:gs pos="100000">
                <a:srgbClr val="F9A825">
                  <a:alpha val="0"/>
                </a:srgbClr>
              </a:gs>
            </a:gsLst>
            <a:path path="circle">
              <a:fillToRect l="50000" t="50000" r="50000" b="50000"/>
            </a:path>
          </a:gradFill>
          <a:ln>
            <a:noFill/>
          </a:ln>
        </p:spPr>
        <p:txBody>
          <a:bodyPr rtlCol="0" anchor="ctr"/>
          <a:lstStyle/>
          <a:p/>
        </p:txBody>
      </p:sp>
      <p:sp>
        <p:nvSpPr>
          <p:cNvPr id="6" name="!!Ring"/>
          <p:cNvSpPr/>
          <p:nvPr/>
        </p:nvSpPr>
        <p:spPr>
          <a:xfrm>
            <a:off x="9854717" y="-4181760"/>
            <a:ext cx="7132320" cy="7132320"/>
          </a:xfrm>
          <a:prstGeom prst="ellipse">
            <a:avLst/>
          </a:prstGeom>
          <a:noFill/>
          <a:ln w="12700">
            <a:solidFill>
              <a:srgbClr val="F9A825">
                <a:alpha val="85000"/>
              </a:srgbClr>
            </a:solidFill>
          </a:ln>
        </p:spPr>
        <p:txBody>
          <a:bodyPr rtlCol="0" anchor="ctr"/>
          <a:lstStyle/>
          <a:p/>
        </p:txBody>
      </p:sp>
      <p:pic>
        <p:nvPicPr>
          <p:cNvPr id="7" name="!!Hero" descr="Tableau de bord de l'administrateur"/>
          <p:cNvPicPr>
            <a:picLocks noChangeAspect="1"/>
          </p:cNvPicPr>
          <p:nvPr/>
        </p:nvPicPr>
        <p:blipFill>
          <a:blip r:embed="rId3"/>
          <a:srcRect l="1444" r="1444"/>
          <a:stretch>
            <a:fillRect/>
          </a:stretch>
        </p:blipFill>
        <p:spPr>
          <a:xfrm>
            <a:off x="4526280" y="1097280"/>
            <a:ext cx="6995160" cy="3497580"/>
          </a:xfrm>
          <a:prstGeom prst="roundRect">
            <a:avLst>
              <a:gd name="adj" fmla="val 2000"/>
            </a:avLst>
          </a:prstGeom>
          <a:effectLst>
            <a:outerShdw blurRad="355600" dist="101600" dir="5400000" algn="t" rotWithShape="0">
              <a:srgbClr val="1A0507">
                <a:alpha val="26000"/>
              </a:srgbClr>
            </a:outerShdw>
          </a:effectLst>
        </p:spPr>
      </p:pic>
      <p:pic>
        <p:nvPicPr>
          <p:cNvPr id="8" name="!!Th0" descr="Liste des commandes"/>
          <p:cNvPicPr>
            <a:picLocks noChangeAspect="1"/>
          </p:cNvPicPr>
          <p:nvPr/>
        </p:nvPicPr>
        <p:blipFill>
          <a:blip r:embed="rId4"/>
          <a:srcRect t="14148" b="14148"/>
          <a:stretch>
            <a:fillRect/>
          </a:stretch>
        </p:blipFill>
        <p:spPr>
          <a:xfrm>
            <a:off x="4526280" y="4754880"/>
            <a:ext cx="3383280" cy="1188720"/>
          </a:xfrm>
          <a:prstGeom prst="roundRect">
            <a:avLst>
              <a:gd name="adj" fmla="val 4000"/>
            </a:avLst>
          </a:prstGeom>
          <a:effectLst>
            <a:outerShdw blurRad="228600" dist="63500" dir="5400000" algn="t" rotWithShape="0">
              <a:srgbClr val="1A0507">
                <a:alpha val="22000"/>
              </a:srgbClr>
            </a:outerShdw>
          </a:effectLst>
        </p:spPr>
      </p:pic>
      <p:pic>
        <p:nvPicPr>
          <p:cNvPr id="9" name="!!Th1" descr="Liste des produits"/>
          <p:cNvPicPr>
            <a:picLocks noChangeAspect="1"/>
          </p:cNvPicPr>
          <p:nvPr/>
        </p:nvPicPr>
        <p:blipFill>
          <a:blip r:embed="rId5"/>
          <a:srcRect t="13984" b="13984"/>
          <a:stretch>
            <a:fillRect/>
          </a:stretch>
        </p:blipFill>
        <p:spPr>
          <a:xfrm>
            <a:off x="8138160" y="4754880"/>
            <a:ext cx="3383280" cy="1188720"/>
          </a:xfrm>
          <a:prstGeom prst="roundRect">
            <a:avLst>
              <a:gd name="adj" fmla="val 4000"/>
            </a:avLst>
          </a:prstGeom>
          <a:effectLst>
            <a:outerShdw blurRad="228600" dist="63500" dir="5400000" algn="t" rotWithShape="0">
              <a:srgbClr val="1A0507">
                <a:alpha val="22000"/>
              </a:srgbClr>
            </a:outerShdw>
          </a:effectLst>
        </p:spPr>
      </p:pic>
      <p:pic>
        <p:nvPicPr>
          <p:cNvPr id="10" name="!!Grain" descr="grain.png"/>
          <p:cNvPicPr>
            <a:picLocks noChangeAspect="1"/>
          </p:cNvPicPr>
          <p:nvPr/>
        </p:nvPicPr>
        <p:blipFill>
          <a:blip r:embed="rId6"/>
          <a:srcRect/>
          <a:stretch>
            <a:fillRect/>
          </a:stretch>
        </p:blipFill>
        <p:spPr>
          <a:xfrm>
            <a:off x="0" y="0"/>
            <a:ext cx="12192000" cy="6858000"/>
          </a:xfrm>
          <a:prstGeom prst="rect">
            <a:avLst/>
          </a:prstGeom>
        </p:spPr>
      </p:pic>
      <p:sp>
        <p:nvSpPr>
          <p:cNvPr id="11" name="!!Title"/>
          <p:cNvSpPr txBox="1"/>
          <p:nvPr/>
        </p:nvSpPr>
        <p:spPr>
          <a:xfrm>
            <a:off x="685800" y="914400"/>
            <a:ext cx="3749039" cy="731520"/>
          </a:xfrm>
          <a:prstGeom prst="rect">
            <a:avLst/>
          </a:prstGeom>
          <a:noFill/>
        </p:spPr>
        <p:txBody>
          <a:bodyPr wrap="square" lIns="0" rIns="0" tIns="0" bIns="0" anchor="t">
            <a:noAutofit/>
          </a:bodyPr>
          <a:lstStyle/>
          <a:p>
            <a:pPr algn="l">
              <a:lnSpc>
                <a:spcPct val="95000"/>
              </a:lnSpc>
            </a:pPr>
            <a:r>
              <a:rPr sz="2500">
                <a:solidFill>
                  <a:srgbClr val="7B1421"/>
                </a:solidFill>
                <a:latin typeface="Cream Heavy"/>
              </a:rPr>
              <a:t>Le back-office</a:t>
            </a:r>
          </a:p>
        </p:txBody>
      </p:sp>
      <p:sp>
        <p:nvSpPr>
          <p:cNvPr id="12" name="!!Body"/>
          <p:cNvSpPr txBox="1"/>
          <p:nvPr/>
        </p:nvSpPr>
        <p:spPr>
          <a:xfrm>
            <a:off x="685800" y="2057400"/>
            <a:ext cx="3566160" cy="2286000"/>
          </a:xfrm>
          <a:prstGeom prst="rect">
            <a:avLst/>
          </a:prstGeom>
          <a:noFill/>
        </p:spPr>
        <p:txBody>
          <a:bodyPr wrap="square" lIns="0" rIns="0" tIns="0" bIns="0" anchor="t">
            <a:noAutofit/>
          </a:bodyPr>
          <a:lstStyle/>
          <a:p>
            <a:pPr algn="l">
              <a:lnSpc>
                <a:spcPct val="112000"/>
              </a:lnSpc>
              <a:spcAft>
                <a:spcPts val="800"/>
              </a:spcAft>
            </a:pPr>
            <a:r>
              <a:rPr sz="1650">
                <a:solidFill>
                  <a:srgbClr val="000000"/>
                </a:solidFill>
                <a:latin typeface="Montserrat Medium"/>
              </a:rPr>
              <a:t>Paiements à vérifier, commandes à préparer, ventes encaissées, clients inscrits.</a:t>
            </a:r>
          </a:p>
        </p:txBody>
      </p:sp>
      <p:sp>
        <p:nvSpPr>
          <p:cNvPr id="13"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A40C21"/>
                </a:solidFill>
                <a:latin typeface="Montserrat SemiBold"/>
              </a:rPr>
              <a:t>05 · Administration</a:t>
            </a:r>
          </a:p>
        </p:txBody>
      </p:sp>
      <p:sp>
        <p:nvSpPr>
          <p:cNvPr id="14"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A40C21"/>
                </a:solidFill>
                <a:latin typeface="Montserrat SemiBold"/>
              </a:rPr>
              <a:t>41</a:t>
            </a:r>
          </a:p>
        </p:txBody>
      </p:sp>
      <p:pic>
        <p:nvPicPr>
          <p:cNvPr id="15" name="!!Logo" descr="Logo Marin'Or Ivoire"/>
          <p:cNvPicPr>
            <a:picLocks noChangeAspect="1"/>
          </p:cNvPicPr>
          <p:nvPr/>
        </p:nvPicPr>
        <p:blipFill>
          <a:blip r:embed="rId7"/>
          <a:stretch>
            <a:fillRect/>
          </a:stretch>
        </p:blipFill>
        <p:spPr>
          <a:xfrm>
            <a:off x="10546080" y="311488"/>
            <a:ext cx="960120" cy="50299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6E8EA"/>
          </a:solidFill>
          <a:ln>
            <a:noFill/>
          </a:ln>
        </p:spPr>
        <p:txBody>
          <a:bodyPr rtlCol="0" anchor="ctr"/>
          <a:lstStyle/>
          <a:p/>
        </p:txBody>
      </p:sp>
      <p:pic>
        <p:nvPicPr>
          <p:cNvPr id="3" name="!!PlateL" descr="motif_bord.png"/>
          <p:cNvPicPr>
            <a:picLocks noChangeAspect="1"/>
          </p:cNvPicPr>
          <p:nvPr/>
        </p:nvPicPr>
        <p:blipFill>
          <a:blip r:embed="rId2"/>
          <a:srcRect/>
          <a:stretch>
            <a:fillRect/>
          </a:stretch>
        </p:blipFill>
        <p:spPr>
          <a:xfrm>
            <a:off x="-7630000" y="-1491982"/>
            <a:ext cx="21336000" cy="12001500"/>
          </a:xfrm>
          <a:prstGeom prst="rect">
            <a:avLst/>
          </a:prstGeom>
        </p:spPr>
      </p:pic>
      <p:sp>
        <p:nvSpPr>
          <p:cNvPr id="4" name="!!Glow"/>
          <p:cNvSpPr/>
          <p:nvPr/>
        </p:nvSpPr>
        <p:spPr>
          <a:xfrm>
            <a:off x="-2325368" y="-3358303"/>
            <a:ext cx="9601200" cy="9601200"/>
          </a:xfrm>
          <a:prstGeom prst="ellipse">
            <a:avLst/>
          </a:prstGeom>
          <a:gradFill rotWithShape="1">
            <a:gsLst>
              <a:gs pos="0">
                <a:srgbClr val="FFFFFF">
                  <a:alpha val="85000"/>
                </a:srgbClr>
              </a:gs>
              <a:gs pos="100000">
                <a:srgbClr val="FFFFFF">
                  <a:alpha val="0"/>
                </a:srgbClr>
              </a:gs>
            </a:gsLst>
            <a:path path="circle">
              <a:fillToRect l="50000" t="50000" r="50000" b="50000"/>
            </a:path>
          </a:gradFill>
          <a:ln>
            <a:noFill/>
          </a:ln>
        </p:spPr>
        <p:txBody>
          <a:bodyPr rtlCol="0" anchor="ctr"/>
          <a:lstStyle/>
          <a:p/>
        </p:txBody>
      </p:sp>
      <p:sp>
        <p:nvSpPr>
          <p:cNvPr id="5" name="!!Glow2"/>
          <p:cNvSpPr/>
          <p:nvPr/>
        </p:nvSpPr>
        <p:spPr>
          <a:xfrm>
            <a:off x="6356348" y="2055283"/>
            <a:ext cx="6720840" cy="6720840"/>
          </a:xfrm>
          <a:prstGeom prst="ellipse">
            <a:avLst/>
          </a:prstGeom>
          <a:gradFill rotWithShape="1">
            <a:gsLst>
              <a:gs pos="0">
                <a:srgbClr val="F9A825">
                  <a:alpha val="14000"/>
                </a:srgbClr>
              </a:gs>
              <a:gs pos="100000">
                <a:srgbClr val="F9A825">
                  <a:alpha val="0"/>
                </a:srgbClr>
              </a:gs>
            </a:gsLst>
            <a:path path="circle">
              <a:fillToRect l="50000" t="50000" r="50000" b="50000"/>
            </a:path>
          </a:gradFill>
          <a:ln>
            <a:noFill/>
          </a:ln>
        </p:spPr>
        <p:txBody>
          <a:bodyPr rtlCol="0" anchor="ctr"/>
          <a:lstStyle/>
          <a:p/>
        </p:txBody>
      </p:sp>
      <p:sp>
        <p:nvSpPr>
          <p:cNvPr id="6" name="!!Ring"/>
          <p:cNvSpPr/>
          <p:nvPr/>
        </p:nvSpPr>
        <p:spPr>
          <a:xfrm>
            <a:off x="9801957" y="-4050035"/>
            <a:ext cx="7132320" cy="7132320"/>
          </a:xfrm>
          <a:prstGeom prst="ellipse">
            <a:avLst/>
          </a:prstGeom>
          <a:noFill/>
          <a:ln w="12700">
            <a:solidFill>
              <a:srgbClr val="F9A825">
                <a:alpha val="85000"/>
              </a:srgbClr>
            </a:solidFill>
          </a:ln>
        </p:spPr>
        <p:txBody>
          <a:bodyPr rtlCol="0" anchor="ctr"/>
          <a:lstStyle/>
          <a:p/>
        </p:txBody>
      </p:sp>
      <p:sp>
        <p:nvSpPr>
          <p:cNvPr id="7" name="!!Card0"/>
          <p:cNvSpPr/>
          <p:nvPr/>
        </p:nvSpPr>
        <p:spPr>
          <a:xfrm>
            <a:off x="4526280" y="1097280"/>
            <a:ext cx="6995160" cy="4846320"/>
          </a:xfrm>
          <a:prstGeom prst="roundRect">
            <a:avLst>
              <a:gd name="adj" fmla="val 8000"/>
            </a:avLst>
          </a:prstGeom>
          <a:solidFill>
            <a:srgbClr val="FFFFFF"/>
          </a:solidFill>
          <a:ln w="9525">
            <a:solidFill>
              <a:srgbClr val="F9A825">
                <a:alpha val="55000"/>
              </a:srgbClr>
            </a:solidFill>
          </a:ln>
          <a:effectLst>
            <a:outerShdw blurRad="228600" dist="50800" dir="5400000" algn="t" rotWithShape="0">
              <a:srgbClr val="1A0507">
                <a:alpha val="18000"/>
              </a:srgbClr>
            </a:outerShdw>
          </a:effectLst>
        </p:spPr>
        <p:txBody>
          <a:bodyPr rtlCol="0" anchor="ctr"/>
          <a:lstStyle/>
          <a:p/>
        </p:txBody>
      </p:sp>
      <p:pic>
        <p:nvPicPr>
          <p:cNvPr id="8" name="!!Hero" descr="Modèle conceptuel de données"/>
          <p:cNvPicPr>
            <a:picLocks noChangeAspect="1"/>
          </p:cNvPicPr>
          <p:nvPr/>
        </p:nvPicPr>
        <p:blipFill>
          <a:blip r:embed="rId3"/>
          <a:stretch>
            <a:fillRect/>
          </a:stretch>
        </p:blipFill>
        <p:spPr>
          <a:xfrm>
            <a:off x="4663440" y="1524350"/>
            <a:ext cx="6720840" cy="3992178"/>
          </a:xfrm>
          <a:prstGeom prst="rect">
            <a:avLst/>
          </a:prstGeom>
        </p:spPr>
      </p:pic>
      <p:pic>
        <p:nvPicPr>
          <p:cNvPr id="9" name="!!Grain" descr="grain.png"/>
          <p:cNvPicPr>
            <a:picLocks noChangeAspect="1"/>
          </p:cNvPicPr>
          <p:nvPr/>
        </p:nvPicPr>
        <p:blipFill>
          <a:blip r:embed="rId4"/>
          <a:srcRect/>
          <a:stretch>
            <a:fillRect/>
          </a:stretch>
        </p:blipFill>
        <p:spPr>
          <a:xfrm>
            <a:off x="0" y="0"/>
            <a:ext cx="12192000" cy="6858000"/>
          </a:xfrm>
          <a:prstGeom prst="rect">
            <a:avLst/>
          </a:prstGeom>
        </p:spPr>
      </p:pic>
      <p:sp>
        <p:nvSpPr>
          <p:cNvPr id="10" name="!!Title"/>
          <p:cNvSpPr txBox="1"/>
          <p:nvPr/>
        </p:nvSpPr>
        <p:spPr>
          <a:xfrm>
            <a:off x="685800" y="914400"/>
            <a:ext cx="3749039" cy="731520"/>
          </a:xfrm>
          <a:prstGeom prst="rect">
            <a:avLst/>
          </a:prstGeom>
          <a:noFill/>
        </p:spPr>
        <p:txBody>
          <a:bodyPr wrap="square" lIns="0" rIns="0" tIns="0" bIns="0" anchor="t">
            <a:noAutofit/>
          </a:bodyPr>
          <a:lstStyle/>
          <a:p>
            <a:pPr algn="l">
              <a:lnSpc>
                <a:spcPct val="95000"/>
              </a:lnSpc>
            </a:pPr>
            <a:r>
              <a:rPr sz="2500">
                <a:solidFill>
                  <a:srgbClr val="7B1421"/>
                </a:solidFill>
                <a:latin typeface="Cream Heavy"/>
              </a:rPr>
              <a:t>Base de données</a:t>
            </a:r>
          </a:p>
        </p:txBody>
      </p:sp>
      <p:sp>
        <p:nvSpPr>
          <p:cNvPr id="11" name="!!Stat0"/>
          <p:cNvSpPr txBox="1"/>
          <p:nvPr/>
        </p:nvSpPr>
        <p:spPr>
          <a:xfrm>
            <a:off x="685800" y="2011680"/>
            <a:ext cx="3657600" cy="914400"/>
          </a:xfrm>
          <a:prstGeom prst="rect">
            <a:avLst/>
          </a:prstGeom>
          <a:noFill/>
        </p:spPr>
        <p:txBody>
          <a:bodyPr wrap="square" lIns="0" rIns="0" tIns="0" bIns="0" anchor="ctr">
            <a:noAutofit/>
          </a:bodyPr>
          <a:lstStyle/>
          <a:p>
            <a:pPr algn="l"/>
            <a:r>
              <a:rPr sz="4800">
                <a:solidFill>
                  <a:srgbClr val="F9A825"/>
                </a:solidFill>
                <a:latin typeface="Cream Heavy"/>
              </a:rPr>
              <a:t>10 </a:t>
            </a:r>
            <a:r>
              <a:rPr sz="1700">
                <a:solidFill>
                  <a:srgbClr val="000000"/>
                </a:solidFill>
                <a:latin typeface="Montserrat SemiBold"/>
              </a:rPr>
              <a:t>tables</a:t>
            </a:r>
          </a:p>
        </p:txBody>
      </p:sp>
      <p:sp>
        <p:nvSpPr>
          <p:cNvPr id="12" name="!!Stat1"/>
          <p:cNvSpPr txBox="1"/>
          <p:nvPr/>
        </p:nvSpPr>
        <p:spPr>
          <a:xfrm>
            <a:off x="685800" y="3063240"/>
            <a:ext cx="3657600" cy="914400"/>
          </a:xfrm>
          <a:prstGeom prst="rect">
            <a:avLst/>
          </a:prstGeom>
          <a:noFill/>
        </p:spPr>
        <p:txBody>
          <a:bodyPr wrap="square" lIns="0" rIns="0" tIns="0" bIns="0" anchor="ctr">
            <a:noAutofit/>
          </a:bodyPr>
          <a:lstStyle/>
          <a:p>
            <a:pPr algn="l"/>
            <a:r>
              <a:rPr sz="4800">
                <a:solidFill>
                  <a:srgbClr val="F9A825"/>
                </a:solidFill>
                <a:latin typeface="Cream Heavy"/>
              </a:rPr>
              <a:t>11 </a:t>
            </a:r>
            <a:r>
              <a:rPr sz="1700">
                <a:solidFill>
                  <a:srgbClr val="000000"/>
                </a:solidFill>
                <a:latin typeface="Montserrat SemiBold"/>
              </a:rPr>
              <a:t>règles de gestion</a:t>
            </a:r>
          </a:p>
        </p:txBody>
      </p:sp>
      <p:sp>
        <p:nvSpPr>
          <p:cNvPr id="13" name="!!Body"/>
          <p:cNvSpPr txBox="1"/>
          <p:nvPr/>
        </p:nvSpPr>
        <p:spPr>
          <a:xfrm>
            <a:off x="685800" y="4251960"/>
            <a:ext cx="3657600" cy="457200"/>
          </a:xfrm>
          <a:prstGeom prst="rect">
            <a:avLst/>
          </a:prstGeom>
          <a:noFill/>
        </p:spPr>
        <p:txBody>
          <a:bodyPr wrap="square" lIns="0" rIns="0" tIns="0" bIns="0" anchor="t">
            <a:noAutofit/>
          </a:bodyPr>
          <a:lstStyle/>
          <a:p>
            <a:pPr algn="l">
              <a:lnSpc>
                <a:spcPct val="112000"/>
              </a:lnSpc>
              <a:spcAft>
                <a:spcPts val="800"/>
              </a:spcAft>
            </a:pPr>
            <a:r>
              <a:rPr sz="1650">
                <a:solidFill>
                  <a:srgbClr val="000000"/>
                </a:solidFill>
                <a:latin typeface="Montserrat Medium"/>
              </a:rPr>
              <a:t>Méthode MERISE · MySQL</a:t>
            </a:r>
          </a:p>
        </p:txBody>
      </p:sp>
      <p:sp>
        <p:nvSpPr>
          <p:cNvPr id="14"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A40C21"/>
                </a:solidFill>
                <a:latin typeface="Montserrat SemiBold"/>
              </a:rPr>
              <a:t>05 · Base de données</a:t>
            </a:r>
          </a:p>
        </p:txBody>
      </p:sp>
      <p:sp>
        <p:nvSpPr>
          <p:cNvPr id="15"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A40C21"/>
                </a:solidFill>
                <a:latin typeface="Montserrat SemiBold"/>
              </a:rPr>
              <a:t>42</a:t>
            </a:r>
          </a:p>
        </p:txBody>
      </p:sp>
      <p:pic>
        <p:nvPicPr>
          <p:cNvPr id="16" name="!!Logo" descr="Logo Marin'Or Ivoire"/>
          <p:cNvPicPr>
            <a:picLocks noChangeAspect="1"/>
          </p:cNvPicPr>
          <p:nvPr/>
        </p:nvPicPr>
        <p:blipFill>
          <a:blip r:embed="rId5"/>
          <a:stretch>
            <a:fillRect/>
          </a:stretch>
        </p:blipFill>
        <p:spPr>
          <a:xfrm>
            <a:off x="10546080" y="311488"/>
            <a:ext cx="960120" cy="50299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6E8EA"/>
          </a:solidFill>
          <a:ln>
            <a:noFill/>
          </a:ln>
        </p:spPr>
        <p:txBody>
          <a:bodyPr rtlCol="0" anchor="ctr"/>
          <a:lstStyle/>
          <a:p/>
        </p:txBody>
      </p:sp>
      <p:pic>
        <p:nvPicPr>
          <p:cNvPr id="3" name="!!PlateL" descr="motif_bord.png"/>
          <p:cNvPicPr>
            <a:picLocks noChangeAspect="1"/>
          </p:cNvPicPr>
          <p:nvPr/>
        </p:nvPicPr>
        <p:blipFill>
          <a:blip r:embed="rId2"/>
          <a:srcRect/>
          <a:stretch>
            <a:fillRect/>
          </a:stretch>
        </p:blipFill>
        <p:spPr>
          <a:xfrm>
            <a:off x="-7810000" y="-1451534"/>
            <a:ext cx="21336000" cy="12001500"/>
          </a:xfrm>
          <a:prstGeom prst="rect">
            <a:avLst/>
          </a:prstGeom>
        </p:spPr>
      </p:pic>
      <p:sp>
        <p:nvSpPr>
          <p:cNvPr id="4" name="!!Glow"/>
          <p:cNvSpPr/>
          <p:nvPr/>
        </p:nvSpPr>
        <p:spPr>
          <a:xfrm>
            <a:off x="-617747" y="-3489523"/>
            <a:ext cx="9601200" cy="9601200"/>
          </a:xfrm>
          <a:prstGeom prst="ellipse">
            <a:avLst/>
          </a:prstGeom>
          <a:gradFill rotWithShape="1">
            <a:gsLst>
              <a:gs pos="0">
                <a:srgbClr val="FFFFFF">
                  <a:alpha val="85000"/>
                </a:srgbClr>
              </a:gs>
              <a:gs pos="100000">
                <a:srgbClr val="FFFFFF">
                  <a:alpha val="0"/>
                </a:srgbClr>
              </a:gs>
            </a:gsLst>
            <a:path path="circle">
              <a:fillToRect l="50000" t="50000" r="50000" b="50000"/>
            </a:path>
          </a:gradFill>
          <a:ln>
            <a:noFill/>
          </a:ln>
        </p:spPr>
        <p:txBody>
          <a:bodyPr rtlCol="0" anchor="ctr"/>
          <a:lstStyle/>
          <a:p/>
        </p:txBody>
      </p:sp>
      <p:sp>
        <p:nvSpPr>
          <p:cNvPr id="5" name="!!Glow2"/>
          <p:cNvSpPr/>
          <p:nvPr/>
        </p:nvSpPr>
        <p:spPr>
          <a:xfrm>
            <a:off x="4648727" y="2186503"/>
            <a:ext cx="6720840" cy="6720840"/>
          </a:xfrm>
          <a:prstGeom prst="ellipse">
            <a:avLst/>
          </a:prstGeom>
          <a:gradFill rotWithShape="1">
            <a:gsLst>
              <a:gs pos="0">
                <a:srgbClr val="F9A825">
                  <a:alpha val="14000"/>
                </a:srgbClr>
              </a:gs>
              <a:gs pos="100000">
                <a:srgbClr val="F9A825">
                  <a:alpha val="0"/>
                </a:srgbClr>
              </a:gs>
            </a:gsLst>
            <a:path path="circle">
              <a:fillToRect l="50000" t="50000" r="50000" b="50000"/>
            </a:path>
          </a:gradFill>
          <a:ln>
            <a:noFill/>
          </a:ln>
        </p:spPr>
        <p:txBody>
          <a:bodyPr rtlCol="0" anchor="ctr"/>
          <a:lstStyle/>
          <a:p/>
        </p:txBody>
      </p:sp>
      <p:sp>
        <p:nvSpPr>
          <p:cNvPr id="6" name="!!Ring"/>
          <p:cNvSpPr/>
          <p:nvPr/>
        </p:nvSpPr>
        <p:spPr>
          <a:xfrm>
            <a:off x="9590444" y="-3862758"/>
            <a:ext cx="7132320" cy="7132320"/>
          </a:xfrm>
          <a:prstGeom prst="ellipse">
            <a:avLst/>
          </a:prstGeom>
          <a:noFill/>
          <a:ln w="12700">
            <a:solidFill>
              <a:srgbClr val="F9A825">
                <a:alpha val="85000"/>
              </a:srgbClr>
            </a:solidFill>
          </a:ln>
        </p:spPr>
        <p:txBody>
          <a:bodyPr rtlCol="0" anchor="ctr"/>
          <a:lstStyle/>
          <a:p/>
        </p:txBody>
      </p:sp>
      <p:sp>
        <p:nvSpPr>
          <p:cNvPr id="7" name="!!Card0"/>
          <p:cNvSpPr/>
          <p:nvPr/>
        </p:nvSpPr>
        <p:spPr>
          <a:xfrm>
            <a:off x="685800" y="1965960"/>
            <a:ext cx="3383280" cy="2331720"/>
          </a:xfrm>
          <a:prstGeom prst="roundRect">
            <a:avLst>
              <a:gd name="adj" fmla="val 8000"/>
            </a:avLst>
          </a:prstGeom>
          <a:solidFill>
            <a:srgbClr val="FFFFFF"/>
          </a:solidFill>
          <a:ln w="9525">
            <a:solidFill>
              <a:srgbClr val="F9A825">
                <a:alpha val="55000"/>
              </a:srgbClr>
            </a:solidFill>
          </a:ln>
          <a:effectLst>
            <a:outerShdw blurRad="228600" dist="50800" dir="5400000" algn="t" rotWithShape="0">
              <a:srgbClr val="1A0507">
                <a:alpha val="18000"/>
              </a:srgbClr>
            </a:outerShdw>
          </a:effectLst>
        </p:spPr>
        <p:txBody>
          <a:bodyPr rtlCol="0" anchor="ctr"/>
          <a:lstStyle/>
          <a:p/>
        </p:txBody>
      </p:sp>
      <p:sp>
        <p:nvSpPr>
          <p:cNvPr id="8" name="!!Card1"/>
          <p:cNvSpPr/>
          <p:nvPr/>
        </p:nvSpPr>
        <p:spPr>
          <a:xfrm>
            <a:off x="4297680" y="1965960"/>
            <a:ext cx="3383280" cy="2331720"/>
          </a:xfrm>
          <a:prstGeom prst="roundRect">
            <a:avLst>
              <a:gd name="adj" fmla="val 8000"/>
            </a:avLst>
          </a:prstGeom>
          <a:solidFill>
            <a:srgbClr val="FFFFFF"/>
          </a:solidFill>
          <a:ln w="9525">
            <a:solidFill>
              <a:srgbClr val="F9A825">
                <a:alpha val="55000"/>
              </a:srgbClr>
            </a:solidFill>
          </a:ln>
          <a:effectLst>
            <a:outerShdw blurRad="228600" dist="50800" dir="5400000" algn="t" rotWithShape="0">
              <a:srgbClr val="1A0507">
                <a:alpha val="18000"/>
              </a:srgbClr>
            </a:outerShdw>
          </a:effectLst>
        </p:spPr>
        <p:txBody>
          <a:bodyPr rtlCol="0" anchor="ctr"/>
          <a:lstStyle/>
          <a:p/>
        </p:txBody>
      </p:sp>
      <p:sp>
        <p:nvSpPr>
          <p:cNvPr id="9" name="!!Card2"/>
          <p:cNvSpPr/>
          <p:nvPr/>
        </p:nvSpPr>
        <p:spPr>
          <a:xfrm>
            <a:off x="7909560" y="1965960"/>
            <a:ext cx="3383280" cy="2331720"/>
          </a:xfrm>
          <a:prstGeom prst="roundRect">
            <a:avLst>
              <a:gd name="adj" fmla="val 8000"/>
            </a:avLst>
          </a:prstGeom>
          <a:solidFill>
            <a:srgbClr val="FFFFFF"/>
          </a:solidFill>
          <a:ln w="9525">
            <a:solidFill>
              <a:srgbClr val="F9A825">
                <a:alpha val="55000"/>
              </a:srgbClr>
            </a:solidFill>
          </a:ln>
          <a:effectLst>
            <a:outerShdw blurRad="228600" dist="50800" dir="5400000" algn="t" rotWithShape="0">
              <a:srgbClr val="1A0507">
                <a:alpha val="18000"/>
              </a:srgbClr>
            </a:outerShdw>
          </a:effectLst>
        </p:spPr>
        <p:txBody>
          <a:bodyPr rtlCol="0" anchor="ctr"/>
          <a:lstStyle/>
          <a:p/>
        </p:txBody>
      </p:sp>
      <p:pic>
        <p:nvPicPr>
          <p:cNvPr id="10" name="!!Grain" descr="grain.png"/>
          <p:cNvPicPr>
            <a:picLocks noChangeAspect="1"/>
          </p:cNvPicPr>
          <p:nvPr/>
        </p:nvPicPr>
        <p:blipFill>
          <a:blip r:embed="rId3"/>
          <a:srcRect/>
          <a:stretch>
            <a:fillRect/>
          </a:stretch>
        </p:blipFill>
        <p:spPr>
          <a:xfrm>
            <a:off x="0" y="0"/>
            <a:ext cx="12192000" cy="6858000"/>
          </a:xfrm>
          <a:prstGeom prst="rect">
            <a:avLst/>
          </a:prstGeom>
        </p:spPr>
      </p:pic>
      <p:sp>
        <p:nvSpPr>
          <p:cNvPr id="11" name="!!Title"/>
          <p:cNvSpPr txBox="1"/>
          <p:nvPr/>
        </p:nvSpPr>
        <p:spPr>
          <a:xfrm>
            <a:off x="685800" y="914400"/>
            <a:ext cx="8229600" cy="731520"/>
          </a:xfrm>
          <a:prstGeom prst="rect">
            <a:avLst/>
          </a:prstGeom>
          <a:noFill/>
        </p:spPr>
        <p:txBody>
          <a:bodyPr wrap="square" lIns="0" rIns="0" tIns="0" bIns="0" anchor="t">
            <a:noAutofit/>
          </a:bodyPr>
          <a:lstStyle/>
          <a:p>
            <a:pPr algn="l">
              <a:lnSpc>
                <a:spcPct val="95000"/>
              </a:lnSpc>
            </a:pPr>
            <a:r>
              <a:rPr sz="4000">
                <a:solidFill>
                  <a:srgbClr val="7B1421"/>
                </a:solidFill>
                <a:latin typeface="Cream Heavy"/>
              </a:rPr>
              <a:t>Tests fonctionnels</a:t>
            </a:r>
          </a:p>
        </p:txBody>
      </p:sp>
      <p:sp>
        <p:nvSpPr>
          <p:cNvPr id="12" name="!!StatN0"/>
          <p:cNvSpPr txBox="1"/>
          <p:nvPr/>
        </p:nvSpPr>
        <p:spPr>
          <a:xfrm>
            <a:off x="685800" y="2103120"/>
            <a:ext cx="3383280" cy="1188720"/>
          </a:xfrm>
          <a:prstGeom prst="rect">
            <a:avLst/>
          </a:prstGeom>
          <a:noFill/>
        </p:spPr>
        <p:txBody>
          <a:bodyPr wrap="square" lIns="0" rIns="0" tIns="0" bIns="0" anchor="ctr">
            <a:noAutofit/>
          </a:bodyPr>
          <a:lstStyle/>
          <a:p>
            <a:pPr algn="ctr"/>
            <a:r>
              <a:rPr sz="7200">
                <a:solidFill>
                  <a:srgbClr val="2A5519"/>
                </a:solidFill>
                <a:latin typeface="Cream Heavy"/>
              </a:rPr>
              <a:t>14</a:t>
            </a:r>
          </a:p>
        </p:txBody>
      </p:sp>
      <p:sp>
        <p:nvSpPr>
          <p:cNvPr id="13" name="!!StatT0"/>
          <p:cNvSpPr txBox="1"/>
          <p:nvPr/>
        </p:nvSpPr>
        <p:spPr>
          <a:xfrm>
            <a:off x="685800" y="3429000"/>
            <a:ext cx="3383280" cy="411480"/>
          </a:xfrm>
          <a:prstGeom prst="rect">
            <a:avLst/>
          </a:prstGeom>
          <a:noFill/>
        </p:spPr>
        <p:txBody>
          <a:bodyPr wrap="square" lIns="0" rIns="0" tIns="0" bIns="0" anchor="t">
            <a:noAutofit/>
          </a:bodyPr>
          <a:lstStyle/>
          <a:p>
            <a:pPr algn="ctr"/>
            <a:r>
              <a:rPr sz="1700">
                <a:solidFill>
                  <a:srgbClr val="000000"/>
                </a:solidFill>
                <a:latin typeface="Montserrat SemiBold"/>
              </a:rPr>
              <a:t>conformes</a:t>
            </a:r>
          </a:p>
        </p:txBody>
      </p:sp>
      <p:sp>
        <p:nvSpPr>
          <p:cNvPr id="14" name="!!StatN1"/>
          <p:cNvSpPr txBox="1"/>
          <p:nvPr/>
        </p:nvSpPr>
        <p:spPr>
          <a:xfrm>
            <a:off x="4297680" y="2103120"/>
            <a:ext cx="3383280" cy="1188720"/>
          </a:xfrm>
          <a:prstGeom prst="rect">
            <a:avLst/>
          </a:prstGeom>
          <a:noFill/>
        </p:spPr>
        <p:txBody>
          <a:bodyPr wrap="square" lIns="0" rIns="0" tIns="0" bIns="0" anchor="ctr">
            <a:noAutofit/>
          </a:bodyPr>
          <a:lstStyle/>
          <a:p>
            <a:pPr algn="ctr"/>
            <a:r>
              <a:rPr sz="7200">
                <a:solidFill>
                  <a:srgbClr val="F9A825"/>
                </a:solidFill>
                <a:latin typeface="Cream Heavy"/>
              </a:rPr>
              <a:t>2</a:t>
            </a:r>
          </a:p>
        </p:txBody>
      </p:sp>
      <p:sp>
        <p:nvSpPr>
          <p:cNvPr id="15" name="!!StatT1"/>
          <p:cNvSpPr txBox="1"/>
          <p:nvPr/>
        </p:nvSpPr>
        <p:spPr>
          <a:xfrm>
            <a:off x="4297680" y="3429000"/>
            <a:ext cx="3383280" cy="411480"/>
          </a:xfrm>
          <a:prstGeom prst="rect">
            <a:avLst/>
          </a:prstGeom>
          <a:noFill/>
        </p:spPr>
        <p:txBody>
          <a:bodyPr wrap="square" lIns="0" rIns="0" tIns="0" bIns="0" anchor="t">
            <a:noAutofit/>
          </a:bodyPr>
          <a:lstStyle/>
          <a:p>
            <a:pPr algn="ctr"/>
            <a:r>
              <a:rPr sz="1700">
                <a:solidFill>
                  <a:srgbClr val="000000"/>
                </a:solidFill>
                <a:latin typeface="Montserrat SemiBold"/>
              </a:rPr>
              <a:t>à vérifier</a:t>
            </a:r>
          </a:p>
        </p:txBody>
      </p:sp>
      <p:sp>
        <p:nvSpPr>
          <p:cNvPr id="16" name="!!StatN2"/>
          <p:cNvSpPr txBox="1"/>
          <p:nvPr/>
        </p:nvSpPr>
        <p:spPr>
          <a:xfrm>
            <a:off x="7909560" y="2103120"/>
            <a:ext cx="3383280" cy="1188720"/>
          </a:xfrm>
          <a:prstGeom prst="rect">
            <a:avLst/>
          </a:prstGeom>
          <a:noFill/>
        </p:spPr>
        <p:txBody>
          <a:bodyPr wrap="square" lIns="0" rIns="0" tIns="0" bIns="0" anchor="ctr">
            <a:noAutofit/>
          </a:bodyPr>
          <a:lstStyle/>
          <a:p>
            <a:pPr algn="ctr"/>
            <a:r>
              <a:rPr sz="7200">
                <a:solidFill>
                  <a:srgbClr val="A40C21"/>
                </a:solidFill>
                <a:latin typeface="Cream Heavy"/>
              </a:rPr>
              <a:t>1</a:t>
            </a:r>
          </a:p>
        </p:txBody>
      </p:sp>
      <p:sp>
        <p:nvSpPr>
          <p:cNvPr id="17" name="!!StatT2"/>
          <p:cNvSpPr txBox="1"/>
          <p:nvPr/>
        </p:nvSpPr>
        <p:spPr>
          <a:xfrm>
            <a:off x="7909560" y="3429000"/>
            <a:ext cx="3383280" cy="411480"/>
          </a:xfrm>
          <a:prstGeom prst="rect">
            <a:avLst/>
          </a:prstGeom>
          <a:noFill/>
        </p:spPr>
        <p:txBody>
          <a:bodyPr wrap="square" lIns="0" rIns="0" tIns="0" bIns="0" anchor="t">
            <a:noAutofit/>
          </a:bodyPr>
          <a:lstStyle/>
          <a:p>
            <a:pPr algn="ctr"/>
            <a:r>
              <a:rPr sz="1700">
                <a:solidFill>
                  <a:srgbClr val="000000"/>
                </a:solidFill>
                <a:latin typeface="Montserrat SemiBold"/>
              </a:rPr>
              <a:t>non conforme</a:t>
            </a:r>
          </a:p>
        </p:txBody>
      </p:sp>
      <p:sp>
        <p:nvSpPr>
          <p:cNvPr id="18" name="!!Body"/>
          <p:cNvSpPr txBox="1"/>
          <p:nvPr/>
        </p:nvSpPr>
        <p:spPr>
          <a:xfrm>
            <a:off x="685800" y="4663440"/>
            <a:ext cx="10820400" cy="822960"/>
          </a:xfrm>
          <a:prstGeom prst="rect">
            <a:avLst/>
          </a:prstGeom>
          <a:noFill/>
        </p:spPr>
        <p:txBody>
          <a:bodyPr wrap="square" lIns="0" rIns="0" tIns="0" bIns="0" anchor="t">
            <a:noAutofit/>
          </a:bodyPr>
          <a:lstStyle/>
          <a:p>
            <a:pPr algn="ctr">
              <a:lnSpc>
                <a:spcPct val="112000"/>
              </a:lnSpc>
              <a:spcAft>
                <a:spcPts val="800"/>
              </a:spcAft>
            </a:pPr>
            <a:r>
              <a:rPr sz="1550">
                <a:solidFill>
                  <a:srgbClr val="000000"/>
                </a:solidFill>
                <a:latin typeface="Montserrat Medium"/>
              </a:rPr>
              <a:t>17 tests en local, parcours client puis administrateur. Non conforme : affichage sur smartphone.</a:t>
            </a:r>
          </a:p>
        </p:txBody>
      </p:sp>
      <p:sp>
        <p:nvSpPr>
          <p:cNvPr id="19"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A40C21"/>
                </a:solidFill>
                <a:latin typeface="Montserrat SemiBold"/>
              </a:rPr>
              <a:t>05 · Tests</a:t>
            </a:r>
          </a:p>
        </p:txBody>
      </p:sp>
      <p:sp>
        <p:nvSpPr>
          <p:cNvPr id="20"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A40C21"/>
                </a:solidFill>
                <a:latin typeface="Montserrat SemiBold"/>
              </a:rPr>
              <a:t>43</a:t>
            </a:r>
          </a:p>
        </p:txBody>
      </p:sp>
      <p:pic>
        <p:nvPicPr>
          <p:cNvPr id="21" name="!!Logo" descr="Logo Marin'Or Ivoire"/>
          <p:cNvPicPr>
            <a:picLocks noChangeAspect="1"/>
          </p:cNvPicPr>
          <p:nvPr/>
        </p:nvPicPr>
        <p:blipFill>
          <a:blip r:embed="rId4"/>
          <a:stretch>
            <a:fillRect/>
          </a:stretch>
        </p:blipFill>
        <p:spPr>
          <a:xfrm>
            <a:off x="10546080" y="311488"/>
            <a:ext cx="960120" cy="50299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FF6EA"/>
          </a:solidFill>
          <a:ln>
            <a:noFill/>
          </a:ln>
        </p:spPr>
        <p:txBody>
          <a:bodyPr rtlCol="0" anchor="ctr"/>
          <a:lstStyle/>
          <a:p/>
        </p:txBody>
      </p:sp>
      <p:pic>
        <p:nvPicPr>
          <p:cNvPr id="3" name="!!PlateL" descr="motif_bord.png"/>
          <p:cNvPicPr>
            <a:picLocks noChangeAspect="1"/>
          </p:cNvPicPr>
          <p:nvPr/>
        </p:nvPicPr>
        <p:blipFill>
          <a:blip r:embed="rId2"/>
          <a:srcRect/>
          <a:stretch>
            <a:fillRect/>
          </a:stretch>
        </p:blipFill>
        <p:spPr>
          <a:xfrm>
            <a:off x="-7990000" y="-1529628"/>
            <a:ext cx="21336000" cy="12001500"/>
          </a:xfrm>
          <a:prstGeom prst="rect">
            <a:avLst/>
          </a:prstGeom>
        </p:spPr>
      </p:pic>
      <p:sp>
        <p:nvSpPr>
          <p:cNvPr id="4" name="!!Glow"/>
          <p:cNvSpPr/>
          <p:nvPr/>
        </p:nvSpPr>
        <p:spPr>
          <a:xfrm>
            <a:off x="1006869" y="-3238792"/>
            <a:ext cx="9601200" cy="9601200"/>
          </a:xfrm>
          <a:prstGeom prst="ellipse">
            <a:avLst/>
          </a:prstGeom>
          <a:gradFill rotWithShape="1">
            <a:gsLst>
              <a:gs pos="0">
                <a:srgbClr val="FFFFFF">
                  <a:alpha val="85000"/>
                </a:srgbClr>
              </a:gs>
              <a:gs pos="100000">
                <a:srgbClr val="FFFFFF">
                  <a:alpha val="0"/>
                </a:srgbClr>
              </a:gs>
            </a:gsLst>
            <a:path path="circle">
              <a:fillToRect l="50000" t="50000" r="50000" b="50000"/>
            </a:path>
          </a:gradFill>
          <a:ln>
            <a:noFill/>
          </a:ln>
        </p:spPr>
        <p:txBody>
          <a:bodyPr rtlCol="0" anchor="ctr"/>
          <a:lstStyle/>
          <a:p/>
        </p:txBody>
      </p:sp>
      <p:sp>
        <p:nvSpPr>
          <p:cNvPr id="5" name="!!Glow2"/>
          <p:cNvSpPr/>
          <p:nvPr/>
        </p:nvSpPr>
        <p:spPr>
          <a:xfrm>
            <a:off x="3024110" y="1935772"/>
            <a:ext cx="6720840" cy="6720840"/>
          </a:xfrm>
          <a:prstGeom prst="ellipse">
            <a:avLst/>
          </a:prstGeom>
          <a:gradFill rotWithShape="1">
            <a:gsLst>
              <a:gs pos="0">
                <a:srgbClr val="F9A825">
                  <a:alpha val="14000"/>
                </a:srgbClr>
              </a:gs>
              <a:gs pos="100000">
                <a:srgbClr val="F9A825">
                  <a:alpha val="0"/>
                </a:srgbClr>
              </a:gs>
            </a:gsLst>
            <a:path path="circle">
              <a:fillToRect l="50000" t="50000" r="50000" b="50000"/>
            </a:path>
          </a:gradFill>
          <a:ln>
            <a:noFill/>
          </a:ln>
        </p:spPr>
        <p:txBody>
          <a:bodyPr rtlCol="0" anchor="ctr"/>
          <a:lstStyle/>
          <a:p/>
        </p:txBody>
      </p:sp>
      <p:sp>
        <p:nvSpPr>
          <p:cNvPr id="6" name="!!Ring"/>
          <p:cNvSpPr/>
          <p:nvPr/>
        </p:nvSpPr>
        <p:spPr>
          <a:xfrm>
            <a:off x="9348477" y="-3708009"/>
            <a:ext cx="7132320" cy="7132320"/>
          </a:xfrm>
          <a:prstGeom prst="ellipse">
            <a:avLst/>
          </a:prstGeom>
          <a:noFill/>
          <a:ln w="12700">
            <a:solidFill>
              <a:srgbClr val="F9A825">
                <a:alpha val="85000"/>
              </a:srgbClr>
            </a:solidFill>
          </a:ln>
        </p:spPr>
        <p:txBody>
          <a:bodyPr rtlCol="0" anchor="ctr"/>
          <a:lstStyle/>
          <a:p/>
        </p:txBody>
      </p:sp>
      <p:sp>
        <p:nvSpPr>
          <p:cNvPr id="7" name="!!BarBg0"/>
          <p:cNvSpPr/>
          <p:nvPr/>
        </p:nvSpPr>
        <p:spPr>
          <a:xfrm>
            <a:off x="4892040" y="2221992"/>
            <a:ext cx="5760720" cy="329184"/>
          </a:xfrm>
          <a:prstGeom prst="roundRect">
            <a:avLst>
              <a:gd name="adj" fmla="val 50000"/>
            </a:avLst>
          </a:prstGeom>
          <a:solidFill>
            <a:srgbClr val="7B1421">
              <a:alpha val="8000"/>
            </a:srgbClr>
          </a:solidFill>
          <a:ln>
            <a:noFill/>
          </a:ln>
        </p:spPr>
        <p:txBody>
          <a:bodyPr rtlCol="0" anchor="ctr"/>
          <a:lstStyle/>
          <a:p/>
        </p:txBody>
      </p:sp>
      <p:sp>
        <p:nvSpPr>
          <p:cNvPr id="8" name="!!Bar0"/>
          <p:cNvSpPr/>
          <p:nvPr/>
        </p:nvSpPr>
        <p:spPr>
          <a:xfrm>
            <a:off x="4892040" y="2221992"/>
            <a:ext cx="1851660" cy="329184"/>
          </a:xfrm>
          <a:prstGeom prst="roundRect">
            <a:avLst>
              <a:gd name="adj" fmla="val 50000"/>
            </a:avLst>
          </a:prstGeom>
          <a:gradFill rotWithShape="1">
            <a:gsLst>
              <a:gs pos="0">
                <a:srgbClr val="7B1421"/>
              </a:gs>
              <a:gs pos="100000">
                <a:srgbClr val="A40C21"/>
              </a:gs>
            </a:gsLst>
            <a:lin ang="0" scaled="0"/>
          </a:gradFill>
          <a:ln>
            <a:noFill/>
          </a:ln>
        </p:spPr>
        <p:txBody>
          <a:bodyPr rtlCol="0" anchor="ctr"/>
          <a:lstStyle/>
          <a:p/>
        </p:txBody>
      </p:sp>
      <p:sp>
        <p:nvSpPr>
          <p:cNvPr id="9" name="!!BarBg1"/>
          <p:cNvSpPr/>
          <p:nvPr/>
        </p:nvSpPr>
        <p:spPr>
          <a:xfrm>
            <a:off x="4892040" y="3118104"/>
            <a:ext cx="5760720" cy="329184"/>
          </a:xfrm>
          <a:prstGeom prst="roundRect">
            <a:avLst>
              <a:gd name="adj" fmla="val 50000"/>
            </a:avLst>
          </a:prstGeom>
          <a:solidFill>
            <a:srgbClr val="7B1421">
              <a:alpha val="8000"/>
            </a:srgbClr>
          </a:solidFill>
          <a:ln>
            <a:noFill/>
          </a:ln>
        </p:spPr>
        <p:txBody>
          <a:bodyPr rtlCol="0" anchor="ctr"/>
          <a:lstStyle/>
          <a:p/>
        </p:txBody>
      </p:sp>
      <p:sp>
        <p:nvSpPr>
          <p:cNvPr id="10" name="!!Bar1"/>
          <p:cNvSpPr/>
          <p:nvPr/>
        </p:nvSpPr>
        <p:spPr>
          <a:xfrm>
            <a:off x="4892040" y="3118104"/>
            <a:ext cx="1234440" cy="329184"/>
          </a:xfrm>
          <a:prstGeom prst="roundRect">
            <a:avLst>
              <a:gd name="adj" fmla="val 50000"/>
            </a:avLst>
          </a:prstGeom>
          <a:gradFill rotWithShape="1">
            <a:gsLst>
              <a:gs pos="0">
                <a:srgbClr val="7B1421"/>
              </a:gs>
              <a:gs pos="100000">
                <a:srgbClr val="A40C21"/>
              </a:gs>
            </a:gsLst>
            <a:lin ang="0" scaled="0"/>
          </a:gradFill>
          <a:ln>
            <a:noFill/>
          </a:ln>
        </p:spPr>
        <p:txBody>
          <a:bodyPr rtlCol="0" anchor="ctr"/>
          <a:lstStyle/>
          <a:p/>
        </p:txBody>
      </p:sp>
      <p:sp>
        <p:nvSpPr>
          <p:cNvPr id="11" name="!!BarBg2"/>
          <p:cNvSpPr/>
          <p:nvPr/>
        </p:nvSpPr>
        <p:spPr>
          <a:xfrm>
            <a:off x="4892040" y="4014216"/>
            <a:ext cx="5760720" cy="329184"/>
          </a:xfrm>
          <a:prstGeom prst="roundRect">
            <a:avLst>
              <a:gd name="adj" fmla="val 50000"/>
            </a:avLst>
          </a:prstGeom>
          <a:solidFill>
            <a:srgbClr val="7B1421">
              <a:alpha val="8000"/>
            </a:srgbClr>
          </a:solidFill>
          <a:ln>
            <a:noFill/>
          </a:ln>
        </p:spPr>
        <p:txBody>
          <a:bodyPr rtlCol="0" anchor="ctr"/>
          <a:lstStyle/>
          <a:p/>
        </p:txBody>
      </p:sp>
      <p:sp>
        <p:nvSpPr>
          <p:cNvPr id="12" name="!!Bar2"/>
          <p:cNvSpPr/>
          <p:nvPr/>
        </p:nvSpPr>
        <p:spPr>
          <a:xfrm>
            <a:off x="4892040" y="4014216"/>
            <a:ext cx="4114800" cy="329184"/>
          </a:xfrm>
          <a:prstGeom prst="roundRect">
            <a:avLst>
              <a:gd name="adj" fmla="val 50000"/>
            </a:avLst>
          </a:prstGeom>
          <a:gradFill rotWithShape="1">
            <a:gsLst>
              <a:gs pos="0">
                <a:srgbClr val="7B1421"/>
              </a:gs>
              <a:gs pos="100000">
                <a:srgbClr val="A40C21"/>
              </a:gs>
            </a:gsLst>
            <a:lin ang="0" scaled="0"/>
          </a:gradFill>
          <a:ln>
            <a:noFill/>
          </a:ln>
        </p:spPr>
        <p:txBody>
          <a:bodyPr rtlCol="0" anchor="ctr"/>
          <a:lstStyle/>
          <a:p/>
        </p:txBody>
      </p:sp>
      <p:sp>
        <p:nvSpPr>
          <p:cNvPr id="13" name="!!BarBg3"/>
          <p:cNvSpPr/>
          <p:nvPr/>
        </p:nvSpPr>
        <p:spPr>
          <a:xfrm>
            <a:off x="4892040" y="4910328"/>
            <a:ext cx="5760720" cy="329184"/>
          </a:xfrm>
          <a:prstGeom prst="roundRect">
            <a:avLst>
              <a:gd name="adj" fmla="val 50000"/>
            </a:avLst>
          </a:prstGeom>
          <a:solidFill>
            <a:srgbClr val="7B1421">
              <a:alpha val="8000"/>
            </a:srgbClr>
          </a:solidFill>
          <a:ln>
            <a:noFill/>
          </a:ln>
        </p:spPr>
        <p:txBody>
          <a:bodyPr rtlCol="0" anchor="ctr"/>
          <a:lstStyle/>
          <a:p/>
        </p:txBody>
      </p:sp>
      <p:sp>
        <p:nvSpPr>
          <p:cNvPr id="14" name="!!Bar3"/>
          <p:cNvSpPr/>
          <p:nvPr/>
        </p:nvSpPr>
        <p:spPr>
          <a:xfrm>
            <a:off x="4892040" y="4910328"/>
            <a:ext cx="5760720" cy="329184"/>
          </a:xfrm>
          <a:prstGeom prst="roundRect">
            <a:avLst>
              <a:gd name="adj" fmla="val 50000"/>
            </a:avLst>
          </a:prstGeom>
          <a:gradFill rotWithShape="1">
            <a:gsLst>
              <a:gs pos="0">
                <a:srgbClr val="7B1421"/>
              </a:gs>
              <a:gs pos="100000">
                <a:srgbClr val="A40C21"/>
              </a:gs>
            </a:gsLst>
            <a:lin ang="0" scaled="0"/>
          </a:gradFill>
          <a:ln>
            <a:noFill/>
          </a:ln>
        </p:spPr>
        <p:txBody>
          <a:bodyPr rtlCol="0" anchor="ctr"/>
          <a:lstStyle/>
          <a:p/>
        </p:txBody>
      </p:sp>
      <p:pic>
        <p:nvPicPr>
          <p:cNvPr id="15" name="!!Grain" descr="grain.png"/>
          <p:cNvPicPr>
            <a:picLocks noChangeAspect="1"/>
          </p:cNvPicPr>
          <p:nvPr/>
        </p:nvPicPr>
        <p:blipFill>
          <a:blip r:embed="rId3"/>
          <a:srcRect/>
          <a:stretch>
            <a:fillRect/>
          </a:stretch>
        </p:blipFill>
        <p:spPr>
          <a:xfrm>
            <a:off x="0" y="0"/>
            <a:ext cx="12192000" cy="6858000"/>
          </a:xfrm>
          <a:prstGeom prst="rect">
            <a:avLst/>
          </a:prstGeom>
        </p:spPr>
      </p:pic>
      <p:sp>
        <p:nvSpPr>
          <p:cNvPr id="16" name="!!Title"/>
          <p:cNvSpPr txBox="1"/>
          <p:nvPr/>
        </p:nvSpPr>
        <p:spPr>
          <a:xfrm>
            <a:off x="685800" y="914400"/>
            <a:ext cx="9144000" cy="731520"/>
          </a:xfrm>
          <a:prstGeom prst="rect">
            <a:avLst/>
          </a:prstGeom>
          <a:noFill/>
        </p:spPr>
        <p:txBody>
          <a:bodyPr wrap="square" lIns="0" rIns="0" tIns="0" bIns="0" anchor="t">
            <a:noAutofit/>
          </a:bodyPr>
          <a:lstStyle/>
          <a:p>
            <a:pPr algn="l">
              <a:lnSpc>
                <a:spcPct val="95000"/>
              </a:lnSpc>
            </a:pPr>
            <a:r>
              <a:rPr sz="4000">
                <a:solidFill>
                  <a:srgbClr val="7B1421"/>
                </a:solidFill>
                <a:latin typeface="Cream Heavy"/>
              </a:rPr>
              <a:t>63 jours de réalisation</a:t>
            </a:r>
          </a:p>
        </p:txBody>
      </p:sp>
      <p:sp>
        <p:nvSpPr>
          <p:cNvPr id="17" name="!!BarL0"/>
          <p:cNvSpPr txBox="1"/>
          <p:nvPr/>
        </p:nvSpPr>
        <p:spPr>
          <a:xfrm>
            <a:off x="685800" y="2148840"/>
            <a:ext cx="4023360" cy="475488"/>
          </a:xfrm>
          <a:prstGeom prst="rect">
            <a:avLst/>
          </a:prstGeom>
          <a:noFill/>
        </p:spPr>
        <p:txBody>
          <a:bodyPr wrap="square" lIns="0" rIns="0" tIns="0" bIns="0" anchor="ctr">
            <a:noAutofit/>
          </a:bodyPr>
          <a:lstStyle/>
          <a:p>
            <a:pPr algn="l"/>
            <a:r>
              <a:rPr sz="1500">
                <a:solidFill>
                  <a:srgbClr val="000000"/>
                </a:solidFill>
                <a:latin typeface="Montserrat SemiBold"/>
              </a:rPr>
              <a:t>Identité visuelle et direction artistique</a:t>
            </a:r>
          </a:p>
        </p:txBody>
      </p:sp>
      <p:sp>
        <p:nvSpPr>
          <p:cNvPr id="18" name="!!BarV0"/>
          <p:cNvSpPr txBox="1"/>
          <p:nvPr/>
        </p:nvSpPr>
        <p:spPr>
          <a:xfrm>
            <a:off x="10698480" y="2148840"/>
            <a:ext cx="822960" cy="475488"/>
          </a:xfrm>
          <a:prstGeom prst="rect">
            <a:avLst/>
          </a:prstGeom>
          <a:noFill/>
        </p:spPr>
        <p:txBody>
          <a:bodyPr wrap="square" lIns="0" rIns="0" tIns="0" bIns="0" anchor="ctr">
            <a:noAutofit/>
          </a:bodyPr>
          <a:lstStyle/>
          <a:p>
            <a:pPr algn="r"/>
            <a:r>
              <a:rPr sz="2000">
                <a:solidFill>
                  <a:srgbClr val="7B1421"/>
                </a:solidFill>
                <a:latin typeface="Cream Heavy"/>
              </a:rPr>
              <a:t>9 j</a:t>
            </a:r>
          </a:p>
        </p:txBody>
      </p:sp>
      <p:sp>
        <p:nvSpPr>
          <p:cNvPr id="19" name="!!BarL1"/>
          <p:cNvSpPr txBox="1"/>
          <p:nvPr/>
        </p:nvSpPr>
        <p:spPr>
          <a:xfrm>
            <a:off x="685800" y="3044952"/>
            <a:ext cx="4023360" cy="475488"/>
          </a:xfrm>
          <a:prstGeom prst="rect">
            <a:avLst/>
          </a:prstGeom>
          <a:noFill/>
        </p:spPr>
        <p:txBody>
          <a:bodyPr wrap="square" lIns="0" rIns="0" tIns="0" bIns="0" anchor="ctr">
            <a:noAutofit/>
          </a:bodyPr>
          <a:lstStyle/>
          <a:p>
            <a:pPr algn="l"/>
            <a:r>
              <a:rPr sz="1500">
                <a:solidFill>
                  <a:srgbClr val="000000"/>
                </a:solidFill>
                <a:latin typeface="Montserrat SemiBold"/>
              </a:rPr>
              <a:t>Supports imprimés</a:t>
            </a:r>
          </a:p>
        </p:txBody>
      </p:sp>
      <p:sp>
        <p:nvSpPr>
          <p:cNvPr id="20" name="!!BarV1"/>
          <p:cNvSpPr txBox="1"/>
          <p:nvPr/>
        </p:nvSpPr>
        <p:spPr>
          <a:xfrm>
            <a:off x="10698480" y="3044952"/>
            <a:ext cx="822960" cy="475488"/>
          </a:xfrm>
          <a:prstGeom prst="rect">
            <a:avLst/>
          </a:prstGeom>
          <a:noFill/>
        </p:spPr>
        <p:txBody>
          <a:bodyPr wrap="square" lIns="0" rIns="0" tIns="0" bIns="0" anchor="ctr">
            <a:noAutofit/>
          </a:bodyPr>
          <a:lstStyle/>
          <a:p>
            <a:pPr algn="r"/>
            <a:r>
              <a:rPr sz="2000">
                <a:solidFill>
                  <a:srgbClr val="7B1421"/>
                </a:solidFill>
                <a:latin typeface="Cream Heavy"/>
              </a:rPr>
              <a:t>6 j</a:t>
            </a:r>
          </a:p>
        </p:txBody>
      </p:sp>
      <p:sp>
        <p:nvSpPr>
          <p:cNvPr id="21" name="!!BarL2"/>
          <p:cNvSpPr txBox="1"/>
          <p:nvPr/>
        </p:nvSpPr>
        <p:spPr>
          <a:xfrm>
            <a:off x="685800" y="3941064"/>
            <a:ext cx="4023360" cy="475488"/>
          </a:xfrm>
          <a:prstGeom prst="rect">
            <a:avLst/>
          </a:prstGeom>
          <a:noFill/>
        </p:spPr>
        <p:txBody>
          <a:bodyPr wrap="square" lIns="0" rIns="0" tIns="0" bIns="0" anchor="ctr">
            <a:noAutofit/>
          </a:bodyPr>
          <a:lstStyle/>
          <a:p>
            <a:pPr algn="l"/>
            <a:r>
              <a:rPr sz="1500">
                <a:solidFill>
                  <a:srgbClr val="000000"/>
                </a:solidFill>
                <a:latin typeface="Montserrat SemiBold"/>
              </a:rPr>
              <a:t>Spots animatiques</a:t>
            </a:r>
          </a:p>
        </p:txBody>
      </p:sp>
      <p:sp>
        <p:nvSpPr>
          <p:cNvPr id="22" name="!!BarV2"/>
          <p:cNvSpPr txBox="1"/>
          <p:nvPr/>
        </p:nvSpPr>
        <p:spPr>
          <a:xfrm>
            <a:off x="10698480" y="3941064"/>
            <a:ext cx="822960" cy="475488"/>
          </a:xfrm>
          <a:prstGeom prst="rect">
            <a:avLst/>
          </a:prstGeom>
          <a:noFill/>
        </p:spPr>
        <p:txBody>
          <a:bodyPr wrap="square" lIns="0" rIns="0" tIns="0" bIns="0" anchor="ctr">
            <a:noAutofit/>
          </a:bodyPr>
          <a:lstStyle/>
          <a:p>
            <a:pPr algn="r"/>
            <a:r>
              <a:rPr sz="2000">
                <a:solidFill>
                  <a:srgbClr val="7B1421"/>
                </a:solidFill>
                <a:latin typeface="Cream Heavy"/>
              </a:rPr>
              <a:t>20 j</a:t>
            </a:r>
          </a:p>
        </p:txBody>
      </p:sp>
      <p:sp>
        <p:nvSpPr>
          <p:cNvPr id="23" name="!!BarL3"/>
          <p:cNvSpPr txBox="1"/>
          <p:nvPr/>
        </p:nvSpPr>
        <p:spPr>
          <a:xfrm>
            <a:off x="685800" y="4837176"/>
            <a:ext cx="4023360" cy="475488"/>
          </a:xfrm>
          <a:prstGeom prst="rect">
            <a:avLst/>
          </a:prstGeom>
          <a:noFill/>
        </p:spPr>
        <p:txBody>
          <a:bodyPr wrap="square" lIns="0" rIns="0" tIns="0" bIns="0" anchor="ctr">
            <a:noAutofit/>
          </a:bodyPr>
          <a:lstStyle/>
          <a:p>
            <a:pPr algn="l"/>
            <a:r>
              <a:rPr sz="1500">
                <a:solidFill>
                  <a:srgbClr val="000000"/>
                </a:solidFill>
                <a:latin typeface="Montserrat SemiBold"/>
              </a:rPr>
              <a:t>Site web</a:t>
            </a:r>
          </a:p>
        </p:txBody>
      </p:sp>
      <p:sp>
        <p:nvSpPr>
          <p:cNvPr id="24" name="!!BarV3"/>
          <p:cNvSpPr txBox="1"/>
          <p:nvPr/>
        </p:nvSpPr>
        <p:spPr>
          <a:xfrm>
            <a:off x="10698480" y="4837176"/>
            <a:ext cx="822960" cy="475488"/>
          </a:xfrm>
          <a:prstGeom prst="rect">
            <a:avLst/>
          </a:prstGeom>
          <a:noFill/>
        </p:spPr>
        <p:txBody>
          <a:bodyPr wrap="square" lIns="0" rIns="0" tIns="0" bIns="0" anchor="ctr">
            <a:noAutofit/>
          </a:bodyPr>
          <a:lstStyle/>
          <a:p>
            <a:pPr algn="r"/>
            <a:r>
              <a:rPr sz="2000">
                <a:solidFill>
                  <a:srgbClr val="7B1421"/>
                </a:solidFill>
                <a:latin typeface="Cream Heavy"/>
              </a:rPr>
              <a:t>28 j</a:t>
            </a:r>
          </a:p>
        </p:txBody>
      </p:sp>
      <p:sp>
        <p:nvSpPr>
          <p:cNvPr id="25"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A40C21"/>
                </a:solidFill>
                <a:latin typeface="Montserrat SemiBold"/>
              </a:rPr>
              <a:t>06 · Calendrier</a:t>
            </a:r>
          </a:p>
        </p:txBody>
      </p:sp>
      <p:sp>
        <p:nvSpPr>
          <p:cNvPr id="26"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A40C21"/>
                </a:solidFill>
                <a:latin typeface="Montserrat SemiBold"/>
              </a:rPr>
              <a:t>44</a:t>
            </a:r>
          </a:p>
        </p:txBody>
      </p:sp>
      <p:pic>
        <p:nvPicPr>
          <p:cNvPr id="27" name="!!Logo" descr="Logo Marin'Or Ivoire"/>
          <p:cNvPicPr>
            <a:picLocks noChangeAspect="1"/>
          </p:cNvPicPr>
          <p:nvPr/>
        </p:nvPicPr>
        <p:blipFill>
          <a:blip r:embed="rId4"/>
          <a:stretch>
            <a:fillRect/>
          </a:stretch>
        </p:blipFill>
        <p:spPr>
          <a:xfrm>
            <a:off x="10546080" y="311488"/>
            <a:ext cx="960120" cy="50299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FF6EA"/>
          </a:solidFill>
          <a:ln>
            <a:noFill/>
          </a:ln>
        </p:spPr>
        <p:txBody>
          <a:bodyPr rtlCol="0" anchor="ctr"/>
          <a:lstStyle/>
          <a:p/>
        </p:txBody>
      </p:sp>
      <p:pic>
        <p:nvPicPr>
          <p:cNvPr id="3" name="!!PlateL" descr="motif_bord.png"/>
          <p:cNvPicPr>
            <a:picLocks noChangeAspect="1"/>
          </p:cNvPicPr>
          <p:nvPr/>
        </p:nvPicPr>
        <p:blipFill>
          <a:blip r:embed="rId2"/>
          <a:srcRect/>
          <a:stretch>
            <a:fillRect/>
          </a:stretch>
        </p:blipFill>
        <p:spPr>
          <a:xfrm>
            <a:off x="-8170000" y="-1717836"/>
            <a:ext cx="21336000" cy="12001500"/>
          </a:xfrm>
          <a:prstGeom prst="rect">
            <a:avLst/>
          </a:prstGeom>
        </p:spPr>
      </p:pic>
      <p:sp>
        <p:nvSpPr>
          <p:cNvPr id="4" name="!!Glow"/>
          <p:cNvSpPr/>
          <p:nvPr/>
        </p:nvSpPr>
        <p:spPr>
          <a:xfrm>
            <a:off x="2069301" y="-2680064"/>
            <a:ext cx="9601200" cy="9601200"/>
          </a:xfrm>
          <a:prstGeom prst="ellipse">
            <a:avLst/>
          </a:prstGeom>
          <a:gradFill rotWithShape="1">
            <a:gsLst>
              <a:gs pos="0">
                <a:srgbClr val="FFFFFF">
                  <a:alpha val="85000"/>
                </a:srgbClr>
              </a:gs>
              <a:gs pos="100000">
                <a:srgbClr val="FFFFFF">
                  <a:alpha val="0"/>
                </a:srgbClr>
              </a:gs>
            </a:gsLst>
            <a:path path="circle">
              <a:fillToRect l="50000" t="50000" r="50000" b="50000"/>
            </a:path>
          </a:gradFill>
          <a:ln>
            <a:noFill/>
          </a:ln>
        </p:spPr>
        <p:txBody>
          <a:bodyPr rtlCol="0" anchor="ctr"/>
          <a:lstStyle/>
          <a:p/>
        </p:txBody>
      </p:sp>
      <p:sp>
        <p:nvSpPr>
          <p:cNvPr id="5" name="!!Glow2"/>
          <p:cNvSpPr/>
          <p:nvPr/>
        </p:nvSpPr>
        <p:spPr>
          <a:xfrm>
            <a:off x="1961678" y="1377044"/>
            <a:ext cx="6720840" cy="6720840"/>
          </a:xfrm>
          <a:prstGeom prst="ellipse">
            <a:avLst/>
          </a:prstGeom>
          <a:gradFill rotWithShape="1">
            <a:gsLst>
              <a:gs pos="0">
                <a:srgbClr val="F9A825">
                  <a:alpha val="14000"/>
                </a:srgbClr>
              </a:gs>
              <a:gs pos="100000">
                <a:srgbClr val="F9A825">
                  <a:alpha val="0"/>
                </a:srgbClr>
              </a:gs>
            </a:gsLst>
            <a:path path="circle">
              <a:fillToRect l="50000" t="50000" r="50000" b="50000"/>
            </a:path>
          </a:gradFill>
          <a:ln>
            <a:noFill/>
          </a:ln>
        </p:spPr>
        <p:txBody>
          <a:bodyPr rtlCol="0" anchor="ctr"/>
          <a:lstStyle/>
          <a:p/>
        </p:txBody>
      </p:sp>
      <p:sp>
        <p:nvSpPr>
          <p:cNvPr id="6" name="!!Ring"/>
          <p:cNvSpPr/>
          <p:nvPr/>
        </p:nvSpPr>
        <p:spPr>
          <a:xfrm>
            <a:off x="9222831" y="-3658568"/>
            <a:ext cx="7132320" cy="7132320"/>
          </a:xfrm>
          <a:prstGeom prst="ellipse">
            <a:avLst/>
          </a:prstGeom>
          <a:noFill/>
          <a:ln w="12700">
            <a:solidFill>
              <a:srgbClr val="F9A825">
                <a:alpha val="85000"/>
              </a:srgbClr>
            </a:solidFill>
          </a:ln>
        </p:spPr>
        <p:txBody>
          <a:bodyPr rtlCol="0" anchor="ctr"/>
          <a:lstStyle/>
          <a:p/>
        </p:txBody>
      </p:sp>
      <p:sp>
        <p:nvSpPr>
          <p:cNvPr id="7" name="!!BarBg0"/>
          <p:cNvSpPr/>
          <p:nvPr/>
        </p:nvSpPr>
        <p:spPr>
          <a:xfrm>
            <a:off x="4892040" y="2221992"/>
            <a:ext cx="4846320" cy="329184"/>
          </a:xfrm>
          <a:prstGeom prst="roundRect">
            <a:avLst>
              <a:gd name="adj" fmla="val 50000"/>
            </a:avLst>
          </a:prstGeom>
          <a:solidFill>
            <a:srgbClr val="7B1421">
              <a:alpha val="8000"/>
            </a:srgbClr>
          </a:solidFill>
          <a:ln>
            <a:noFill/>
          </a:ln>
        </p:spPr>
        <p:txBody>
          <a:bodyPr rtlCol="0" anchor="ctr"/>
          <a:lstStyle/>
          <a:p/>
        </p:txBody>
      </p:sp>
      <p:sp>
        <p:nvSpPr>
          <p:cNvPr id="8" name="!!Bar0"/>
          <p:cNvSpPr/>
          <p:nvPr/>
        </p:nvSpPr>
        <p:spPr>
          <a:xfrm>
            <a:off x="4892040" y="2221992"/>
            <a:ext cx="4846320" cy="329184"/>
          </a:xfrm>
          <a:prstGeom prst="roundRect">
            <a:avLst>
              <a:gd name="adj" fmla="val 50000"/>
            </a:avLst>
          </a:prstGeom>
          <a:gradFill rotWithShape="1">
            <a:gsLst>
              <a:gs pos="0">
                <a:srgbClr val="F9A825"/>
              </a:gs>
              <a:gs pos="100000">
                <a:srgbClr val="FBD021"/>
              </a:gs>
            </a:gsLst>
            <a:lin ang="0" scaled="0"/>
          </a:gradFill>
          <a:ln>
            <a:noFill/>
          </a:ln>
        </p:spPr>
        <p:txBody>
          <a:bodyPr rtlCol="0" anchor="ctr"/>
          <a:lstStyle/>
          <a:p/>
        </p:txBody>
      </p:sp>
      <p:sp>
        <p:nvSpPr>
          <p:cNvPr id="9" name="!!BarBg1"/>
          <p:cNvSpPr/>
          <p:nvPr/>
        </p:nvSpPr>
        <p:spPr>
          <a:xfrm>
            <a:off x="4892040" y="3118104"/>
            <a:ext cx="4846320" cy="329184"/>
          </a:xfrm>
          <a:prstGeom prst="roundRect">
            <a:avLst>
              <a:gd name="adj" fmla="val 50000"/>
            </a:avLst>
          </a:prstGeom>
          <a:solidFill>
            <a:srgbClr val="7B1421">
              <a:alpha val="8000"/>
            </a:srgbClr>
          </a:solidFill>
          <a:ln>
            <a:noFill/>
          </a:ln>
        </p:spPr>
        <p:txBody>
          <a:bodyPr rtlCol="0" anchor="ctr"/>
          <a:lstStyle/>
          <a:p/>
        </p:txBody>
      </p:sp>
      <p:sp>
        <p:nvSpPr>
          <p:cNvPr id="10" name="!!Bar1"/>
          <p:cNvSpPr/>
          <p:nvPr/>
        </p:nvSpPr>
        <p:spPr>
          <a:xfrm>
            <a:off x="4892040" y="3118104"/>
            <a:ext cx="3323190" cy="329184"/>
          </a:xfrm>
          <a:prstGeom prst="roundRect">
            <a:avLst>
              <a:gd name="adj" fmla="val 50000"/>
            </a:avLst>
          </a:prstGeom>
          <a:gradFill rotWithShape="1">
            <a:gsLst>
              <a:gs pos="0">
                <a:srgbClr val="F9A825"/>
              </a:gs>
              <a:gs pos="100000">
                <a:srgbClr val="FBD021"/>
              </a:gs>
            </a:gsLst>
            <a:lin ang="0" scaled="0"/>
          </a:gradFill>
          <a:ln>
            <a:noFill/>
          </a:ln>
        </p:spPr>
        <p:txBody>
          <a:bodyPr rtlCol="0" anchor="ctr"/>
          <a:lstStyle/>
          <a:p/>
        </p:txBody>
      </p:sp>
      <p:sp>
        <p:nvSpPr>
          <p:cNvPr id="11" name="!!BarBg2"/>
          <p:cNvSpPr/>
          <p:nvPr/>
        </p:nvSpPr>
        <p:spPr>
          <a:xfrm>
            <a:off x="4892040" y="4014216"/>
            <a:ext cx="4846320" cy="329184"/>
          </a:xfrm>
          <a:prstGeom prst="roundRect">
            <a:avLst>
              <a:gd name="adj" fmla="val 50000"/>
            </a:avLst>
          </a:prstGeom>
          <a:solidFill>
            <a:srgbClr val="7B1421">
              <a:alpha val="8000"/>
            </a:srgbClr>
          </a:solidFill>
          <a:ln>
            <a:noFill/>
          </a:ln>
        </p:spPr>
        <p:txBody>
          <a:bodyPr rtlCol="0" anchor="ctr"/>
          <a:lstStyle/>
          <a:p/>
        </p:txBody>
      </p:sp>
      <p:sp>
        <p:nvSpPr>
          <p:cNvPr id="12" name="!!Bar2"/>
          <p:cNvSpPr/>
          <p:nvPr/>
        </p:nvSpPr>
        <p:spPr>
          <a:xfrm>
            <a:off x="4892040" y="4014216"/>
            <a:ext cx="830797" cy="329184"/>
          </a:xfrm>
          <a:prstGeom prst="roundRect">
            <a:avLst>
              <a:gd name="adj" fmla="val 50000"/>
            </a:avLst>
          </a:prstGeom>
          <a:gradFill rotWithShape="1">
            <a:gsLst>
              <a:gs pos="0">
                <a:srgbClr val="F9A825"/>
              </a:gs>
              <a:gs pos="100000">
                <a:srgbClr val="FBD021"/>
              </a:gs>
            </a:gsLst>
            <a:lin ang="0" scaled="0"/>
          </a:gradFill>
          <a:ln>
            <a:noFill/>
          </a:ln>
        </p:spPr>
        <p:txBody>
          <a:bodyPr rtlCol="0" anchor="ctr"/>
          <a:lstStyle/>
          <a:p/>
        </p:txBody>
      </p:sp>
      <p:sp>
        <p:nvSpPr>
          <p:cNvPr id="13" name="!!BarBg3"/>
          <p:cNvSpPr/>
          <p:nvPr/>
        </p:nvSpPr>
        <p:spPr>
          <a:xfrm>
            <a:off x="4892040" y="4910328"/>
            <a:ext cx="4846320" cy="329184"/>
          </a:xfrm>
          <a:prstGeom prst="roundRect">
            <a:avLst>
              <a:gd name="adj" fmla="val 50000"/>
            </a:avLst>
          </a:prstGeom>
          <a:solidFill>
            <a:srgbClr val="7B1421">
              <a:alpha val="8000"/>
            </a:srgbClr>
          </a:solidFill>
          <a:ln>
            <a:noFill/>
          </a:ln>
        </p:spPr>
        <p:txBody>
          <a:bodyPr rtlCol="0" anchor="ctr"/>
          <a:lstStyle/>
          <a:p/>
        </p:txBody>
      </p:sp>
      <p:sp>
        <p:nvSpPr>
          <p:cNvPr id="14" name="!!Bar3"/>
          <p:cNvSpPr/>
          <p:nvPr/>
        </p:nvSpPr>
        <p:spPr>
          <a:xfrm>
            <a:off x="4892040" y="4910328"/>
            <a:ext cx="692331" cy="329184"/>
          </a:xfrm>
          <a:prstGeom prst="roundRect">
            <a:avLst>
              <a:gd name="adj" fmla="val 50000"/>
            </a:avLst>
          </a:prstGeom>
          <a:gradFill rotWithShape="1">
            <a:gsLst>
              <a:gs pos="0">
                <a:srgbClr val="F9A825"/>
              </a:gs>
              <a:gs pos="100000">
                <a:srgbClr val="FBD021"/>
              </a:gs>
            </a:gsLst>
            <a:lin ang="0" scaled="0"/>
          </a:gradFill>
          <a:ln>
            <a:noFill/>
          </a:ln>
        </p:spPr>
        <p:txBody>
          <a:bodyPr rtlCol="0" anchor="ctr"/>
          <a:lstStyle/>
          <a:p/>
        </p:txBody>
      </p:sp>
      <p:pic>
        <p:nvPicPr>
          <p:cNvPr id="15" name="!!Grain" descr="grain.png"/>
          <p:cNvPicPr>
            <a:picLocks noChangeAspect="1"/>
          </p:cNvPicPr>
          <p:nvPr/>
        </p:nvPicPr>
        <p:blipFill>
          <a:blip r:embed="rId3"/>
          <a:srcRect/>
          <a:stretch>
            <a:fillRect/>
          </a:stretch>
        </p:blipFill>
        <p:spPr>
          <a:xfrm>
            <a:off x="0" y="0"/>
            <a:ext cx="12192000" cy="6858000"/>
          </a:xfrm>
          <a:prstGeom prst="rect">
            <a:avLst/>
          </a:prstGeom>
        </p:spPr>
      </p:pic>
      <p:sp>
        <p:nvSpPr>
          <p:cNvPr id="16" name="!!Title"/>
          <p:cNvSpPr txBox="1"/>
          <p:nvPr/>
        </p:nvSpPr>
        <p:spPr>
          <a:xfrm>
            <a:off x="685800" y="914400"/>
            <a:ext cx="10058400" cy="731520"/>
          </a:xfrm>
          <a:prstGeom prst="rect">
            <a:avLst/>
          </a:prstGeom>
          <a:noFill/>
        </p:spPr>
        <p:txBody>
          <a:bodyPr wrap="square" lIns="0" rIns="0" tIns="0" bIns="0" anchor="t">
            <a:noAutofit/>
          </a:bodyPr>
          <a:lstStyle/>
          <a:p>
            <a:pPr algn="l">
              <a:lnSpc>
                <a:spcPct val="95000"/>
              </a:lnSpc>
            </a:pPr>
            <a:r>
              <a:rPr sz="4000">
                <a:solidFill>
                  <a:srgbClr val="7B1421"/>
                </a:solidFill>
                <a:latin typeface="Cream Heavy"/>
              </a:rPr>
              <a:t>Coût estimatif : 7 000 000 FCFA</a:t>
            </a:r>
          </a:p>
        </p:txBody>
      </p:sp>
      <p:sp>
        <p:nvSpPr>
          <p:cNvPr id="17" name="!!BarL0"/>
          <p:cNvSpPr txBox="1"/>
          <p:nvPr/>
        </p:nvSpPr>
        <p:spPr>
          <a:xfrm>
            <a:off x="685800" y="2148840"/>
            <a:ext cx="4023360" cy="475488"/>
          </a:xfrm>
          <a:prstGeom prst="rect">
            <a:avLst/>
          </a:prstGeom>
          <a:noFill/>
        </p:spPr>
        <p:txBody>
          <a:bodyPr wrap="square" lIns="0" rIns="0" tIns="0" bIns="0" anchor="ctr">
            <a:noAutofit/>
          </a:bodyPr>
          <a:lstStyle/>
          <a:p>
            <a:pPr algn="l"/>
            <a:r>
              <a:rPr sz="1500">
                <a:solidFill>
                  <a:srgbClr val="000000"/>
                </a:solidFill>
                <a:latin typeface="Montserrat SemiBold"/>
              </a:rPr>
              <a:t>Site web</a:t>
            </a:r>
          </a:p>
        </p:txBody>
      </p:sp>
      <p:sp>
        <p:nvSpPr>
          <p:cNvPr id="18" name="!!BarV0"/>
          <p:cNvSpPr txBox="1"/>
          <p:nvPr/>
        </p:nvSpPr>
        <p:spPr>
          <a:xfrm>
            <a:off x="9784080" y="2148840"/>
            <a:ext cx="1691640" cy="475488"/>
          </a:xfrm>
          <a:prstGeom prst="rect">
            <a:avLst/>
          </a:prstGeom>
          <a:noFill/>
        </p:spPr>
        <p:txBody>
          <a:bodyPr wrap="square" lIns="0" rIns="0" tIns="0" bIns="0" anchor="ctr">
            <a:noAutofit/>
          </a:bodyPr>
          <a:lstStyle/>
          <a:p>
            <a:pPr algn="r"/>
            <a:r>
              <a:rPr sz="1800">
                <a:solidFill>
                  <a:srgbClr val="7B1421"/>
                </a:solidFill>
                <a:latin typeface="Cream Heavy"/>
              </a:rPr>
              <a:t>3 500 000</a:t>
            </a:r>
          </a:p>
        </p:txBody>
      </p:sp>
      <p:sp>
        <p:nvSpPr>
          <p:cNvPr id="19" name="!!BarL1"/>
          <p:cNvSpPr txBox="1"/>
          <p:nvPr/>
        </p:nvSpPr>
        <p:spPr>
          <a:xfrm>
            <a:off x="685800" y="3044952"/>
            <a:ext cx="4023360" cy="475488"/>
          </a:xfrm>
          <a:prstGeom prst="rect">
            <a:avLst/>
          </a:prstGeom>
          <a:noFill/>
        </p:spPr>
        <p:txBody>
          <a:bodyPr wrap="square" lIns="0" rIns="0" tIns="0" bIns="0" anchor="ctr">
            <a:noAutofit/>
          </a:bodyPr>
          <a:lstStyle/>
          <a:p>
            <a:pPr algn="l"/>
            <a:r>
              <a:rPr sz="1500">
                <a:solidFill>
                  <a:srgbClr val="000000"/>
                </a:solidFill>
                <a:latin typeface="Montserrat SemiBold"/>
              </a:rPr>
              <a:t>Spots 2D et 3D</a:t>
            </a:r>
          </a:p>
        </p:txBody>
      </p:sp>
      <p:sp>
        <p:nvSpPr>
          <p:cNvPr id="20" name="!!BarV1"/>
          <p:cNvSpPr txBox="1"/>
          <p:nvPr/>
        </p:nvSpPr>
        <p:spPr>
          <a:xfrm>
            <a:off x="9784080" y="3044952"/>
            <a:ext cx="1691640" cy="475488"/>
          </a:xfrm>
          <a:prstGeom prst="rect">
            <a:avLst/>
          </a:prstGeom>
          <a:noFill/>
        </p:spPr>
        <p:txBody>
          <a:bodyPr wrap="square" lIns="0" rIns="0" tIns="0" bIns="0" anchor="ctr">
            <a:noAutofit/>
          </a:bodyPr>
          <a:lstStyle/>
          <a:p>
            <a:pPr algn="r"/>
            <a:r>
              <a:rPr sz="1800">
                <a:solidFill>
                  <a:srgbClr val="7B1421"/>
                </a:solidFill>
                <a:latin typeface="Cream Heavy"/>
              </a:rPr>
              <a:t>2 400 000</a:t>
            </a:r>
          </a:p>
        </p:txBody>
      </p:sp>
      <p:sp>
        <p:nvSpPr>
          <p:cNvPr id="21" name="!!BarL2"/>
          <p:cNvSpPr txBox="1"/>
          <p:nvPr/>
        </p:nvSpPr>
        <p:spPr>
          <a:xfrm>
            <a:off x="685800" y="3941064"/>
            <a:ext cx="4023360" cy="475488"/>
          </a:xfrm>
          <a:prstGeom prst="rect">
            <a:avLst/>
          </a:prstGeom>
          <a:noFill/>
        </p:spPr>
        <p:txBody>
          <a:bodyPr wrap="square" lIns="0" rIns="0" tIns="0" bIns="0" anchor="ctr">
            <a:noAutofit/>
          </a:bodyPr>
          <a:lstStyle/>
          <a:p>
            <a:pPr algn="l"/>
            <a:r>
              <a:rPr sz="1500">
                <a:solidFill>
                  <a:srgbClr val="000000"/>
                </a:solidFill>
                <a:latin typeface="Montserrat SemiBold"/>
              </a:rPr>
              <a:t>Supports imprimés</a:t>
            </a:r>
          </a:p>
        </p:txBody>
      </p:sp>
      <p:sp>
        <p:nvSpPr>
          <p:cNvPr id="22" name="!!BarV2"/>
          <p:cNvSpPr txBox="1"/>
          <p:nvPr/>
        </p:nvSpPr>
        <p:spPr>
          <a:xfrm>
            <a:off x="9784080" y="3941064"/>
            <a:ext cx="1691640" cy="475488"/>
          </a:xfrm>
          <a:prstGeom prst="rect">
            <a:avLst/>
          </a:prstGeom>
          <a:noFill/>
        </p:spPr>
        <p:txBody>
          <a:bodyPr wrap="square" lIns="0" rIns="0" tIns="0" bIns="0" anchor="ctr">
            <a:noAutofit/>
          </a:bodyPr>
          <a:lstStyle/>
          <a:p>
            <a:pPr algn="r"/>
            <a:r>
              <a:rPr sz="1800">
                <a:solidFill>
                  <a:srgbClr val="7B1421"/>
                </a:solidFill>
                <a:latin typeface="Cream Heavy"/>
              </a:rPr>
              <a:t>600 000</a:t>
            </a:r>
          </a:p>
        </p:txBody>
      </p:sp>
      <p:sp>
        <p:nvSpPr>
          <p:cNvPr id="23" name="!!BarL3"/>
          <p:cNvSpPr txBox="1"/>
          <p:nvPr/>
        </p:nvSpPr>
        <p:spPr>
          <a:xfrm>
            <a:off x="685800" y="4837176"/>
            <a:ext cx="4023360" cy="475488"/>
          </a:xfrm>
          <a:prstGeom prst="rect">
            <a:avLst/>
          </a:prstGeom>
          <a:noFill/>
        </p:spPr>
        <p:txBody>
          <a:bodyPr wrap="square" lIns="0" rIns="0" tIns="0" bIns="0" anchor="ctr">
            <a:noAutofit/>
          </a:bodyPr>
          <a:lstStyle/>
          <a:p>
            <a:pPr algn="l"/>
            <a:r>
              <a:rPr sz="1500">
                <a:solidFill>
                  <a:srgbClr val="000000"/>
                </a:solidFill>
                <a:latin typeface="Montserrat SemiBold"/>
              </a:rPr>
              <a:t>Logo et identité visuelle</a:t>
            </a:r>
          </a:p>
        </p:txBody>
      </p:sp>
      <p:sp>
        <p:nvSpPr>
          <p:cNvPr id="24" name="!!BarV3"/>
          <p:cNvSpPr txBox="1"/>
          <p:nvPr/>
        </p:nvSpPr>
        <p:spPr>
          <a:xfrm>
            <a:off x="9784080" y="4837176"/>
            <a:ext cx="1691640" cy="475488"/>
          </a:xfrm>
          <a:prstGeom prst="rect">
            <a:avLst/>
          </a:prstGeom>
          <a:noFill/>
        </p:spPr>
        <p:txBody>
          <a:bodyPr wrap="square" lIns="0" rIns="0" tIns="0" bIns="0" anchor="ctr">
            <a:noAutofit/>
          </a:bodyPr>
          <a:lstStyle/>
          <a:p>
            <a:pPr algn="r"/>
            <a:r>
              <a:rPr sz="1800">
                <a:solidFill>
                  <a:srgbClr val="7B1421"/>
                </a:solidFill>
                <a:latin typeface="Cream Heavy"/>
              </a:rPr>
              <a:t>500 000</a:t>
            </a:r>
          </a:p>
        </p:txBody>
      </p:sp>
      <p:sp>
        <p:nvSpPr>
          <p:cNvPr id="25"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A40C21"/>
                </a:solidFill>
                <a:latin typeface="Montserrat SemiBold"/>
              </a:rPr>
              <a:t>06 · Coût du projet</a:t>
            </a:r>
          </a:p>
        </p:txBody>
      </p:sp>
      <p:sp>
        <p:nvSpPr>
          <p:cNvPr id="26"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A40C21"/>
                </a:solidFill>
                <a:latin typeface="Montserrat SemiBold"/>
              </a:rPr>
              <a:t>45</a:t>
            </a:r>
          </a:p>
        </p:txBody>
      </p:sp>
      <p:pic>
        <p:nvPicPr>
          <p:cNvPr id="27" name="!!Logo" descr="Logo Marin'Or Ivoire"/>
          <p:cNvPicPr>
            <a:picLocks noChangeAspect="1"/>
          </p:cNvPicPr>
          <p:nvPr/>
        </p:nvPicPr>
        <p:blipFill>
          <a:blip r:embed="rId4"/>
          <a:stretch>
            <a:fillRect/>
          </a:stretch>
        </p:blipFill>
        <p:spPr>
          <a:xfrm>
            <a:off x="10546080" y="311488"/>
            <a:ext cx="960120" cy="50299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FF6EA"/>
          </a:solidFill>
          <a:ln>
            <a:noFill/>
          </a:ln>
        </p:spPr>
        <p:txBody>
          <a:bodyPr rtlCol="0" anchor="ctr"/>
          <a:lstStyle/>
          <a:p/>
        </p:txBody>
      </p:sp>
      <p:pic>
        <p:nvPicPr>
          <p:cNvPr id="3" name="!!PlateL" descr="motif_bord.png"/>
          <p:cNvPicPr>
            <a:picLocks noChangeAspect="1"/>
          </p:cNvPicPr>
          <p:nvPr/>
        </p:nvPicPr>
        <p:blipFill>
          <a:blip r:embed="rId2"/>
          <a:srcRect/>
          <a:stretch>
            <a:fillRect/>
          </a:stretch>
        </p:blipFill>
        <p:spPr>
          <a:xfrm>
            <a:off x="-8350000" y="-1995847"/>
            <a:ext cx="21336000" cy="12001500"/>
          </a:xfrm>
          <a:prstGeom prst="rect">
            <a:avLst/>
          </a:prstGeom>
        </p:spPr>
      </p:pic>
      <p:sp>
        <p:nvSpPr>
          <p:cNvPr id="4" name="!!Glow"/>
          <p:cNvSpPr/>
          <p:nvPr/>
        </p:nvSpPr>
        <p:spPr>
          <a:xfrm>
            <a:off x="2256183" y="-1978135"/>
            <a:ext cx="9601200" cy="9601200"/>
          </a:xfrm>
          <a:prstGeom prst="ellipse">
            <a:avLst/>
          </a:prstGeom>
          <a:gradFill rotWithShape="1">
            <a:gsLst>
              <a:gs pos="0">
                <a:srgbClr val="FFFFFF">
                  <a:alpha val="85000"/>
                </a:srgbClr>
              </a:gs>
              <a:gs pos="100000">
                <a:srgbClr val="FFFFFF">
                  <a:alpha val="0"/>
                </a:srgbClr>
              </a:gs>
            </a:gsLst>
            <a:path path="circle">
              <a:fillToRect l="50000" t="50000" r="50000" b="50000"/>
            </a:path>
          </a:gradFill>
          <a:ln>
            <a:noFill/>
          </a:ln>
        </p:spPr>
        <p:txBody>
          <a:bodyPr rtlCol="0" anchor="ctr"/>
          <a:lstStyle/>
          <a:p/>
        </p:txBody>
      </p:sp>
      <p:sp>
        <p:nvSpPr>
          <p:cNvPr id="5" name="!!Glow2"/>
          <p:cNvSpPr/>
          <p:nvPr/>
        </p:nvSpPr>
        <p:spPr>
          <a:xfrm>
            <a:off x="1774796" y="675115"/>
            <a:ext cx="6720840" cy="6720840"/>
          </a:xfrm>
          <a:prstGeom prst="ellipse">
            <a:avLst/>
          </a:prstGeom>
          <a:gradFill rotWithShape="1">
            <a:gsLst>
              <a:gs pos="0">
                <a:srgbClr val="F9A825">
                  <a:alpha val="14000"/>
                </a:srgbClr>
              </a:gs>
              <a:gs pos="100000">
                <a:srgbClr val="F9A825">
                  <a:alpha val="0"/>
                </a:srgbClr>
              </a:gs>
            </a:gsLst>
            <a:path path="circle">
              <a:fillToRect l="50000" t="50000" r="50000" b="50000"/>
            </a:path>
          </a:gradFill>
          <a:ln>
            <a:noFill/>
          </a:ln>
        </p:spPr>
        <p:txBody>
          <a:bodyPr rtlCol="0" anchor="ctr"/>
          <a:lstStyle/>
          <a:p/>
        </p:txBody>
      </p:sp>
      <p:sp>
        <p:nvSpPr>
          <p:cNvPr id="6" name="!!Ring"/>
          <p:cNvSpPr/>
          <p:nvPr/>
        </p:nvSpPr>
        <p:spPr>
          <a:xfrm>
            <a:off x="9289720" y="-3737689"/>
            <a:ext cx="7132320" cy="7132320"/>
          </a:xfrm>
          <a:prstGeom prst="ellipse">
            <a:avLst/>
          </a:prstGeom>
          <a:noFill/>
          <a:ln w="12700">
            <a:solidFill>
              <a:srgbClr val="F9A825">
                <a:alpha val="85000"/>
              </a:srgbClr>
            </a:solidFill>
          </a:ln>
        </p:spPr>
        <p:txBody>
          <a:bodyPr rtlCol="0" anchor="ctr"/>
          <a:lstStyle/>
          <a:p/>
        </p:txBody>
      </p:sp>
      <p:pic>
        <p:nvPicPr>
          <p:cNvPr id="7" name="!!Hero" descr="La gamme complète, spot 2D"/>
          <p:cNvPicPr>
            <a:picLocks noChangeAspect="1"/>
          </p:cNvPicPr>
          <p:nvPr/>
        </p:nvPicPr>
        <p:blipFill>
          <a:blip r:embed="rId3"/>
          <a:srcRect l="24662" r="24662"/>
          <a:stretch>
            <a:fillRect/>
          </a:stretch>
        </p:blipFill>
        <p:spPr>
          <a:xfrm>
            <a:off x="6949440" y="914400"/>
            <a:ext cx="4572000" cy="5074920"/>
          </a:xfrm>
          <a:prstGeom prst="roundRect">
            <a:avLst>
              <a:gd name="adj" fmla="val 5000"/>
            </a:avLst>
          </a:prstGeom>
          <a:effectLst>
            <a:outerShdw blurRad="381000" dist="101600" dir="5400000" algn="t" rotWithShape="0">
              <a:srgbClr val="1A0507">
                <a:alpha val="28000"/>
              </a:srgbClr>
            </a:outerShdw>
          </a:effectLst>
        </p:spPr>
      </p:pic>
      <p:pic>
        <p:nvPicPr>
          <p:cNvPr id="8" name="!!Grain" descr="grain.png"/>
          <p:cNvPicPr>
            <a:picLocks noChangeAspect="1"/>
          </p:cNvPicPr>
          <p:nvPr/>
        </p:nvPicPr>
        <p:blipFill>
          <a:blip r:embed="rId4"/>
          <a:srcRect/>
          <a:stretch>
            <a:fillRect/>
          </a:stretch>
        </p:blipFill>
        <p:spPr>
          <a:xfrm>
            <a:off x="0" y="0"/>
            <a:ext cx="12192000" cy="6858000"/>
          </a:xfrm>
          <a:prstGeom prst="rect">
            <a:avLst/>
          </a:prstGeom>
        </p:spPr>
      </p:pic>
      <p:sp>
        <p:nvSpPr>
          <p:cNvPr id="9" name="!!Title"/>
          <p:cNvSpPr txBox="1"/>
          <p:nvPr/>
        </p:nvSpPr>
        <p:spPr>
          <a:xfrm>
            <a:off x="685800" y="914400"/>
            <a:ext cx="5943600" cy="731520"/>
          </a:xfrm>
          <a:prstGeom prst="rect">
            <a:avLst/>
          </a:prstGeom>
          <a:noFill/>
        </p:spPr>
        <p:txBody>
          <a:bodyPr wrap="square" lIns="0" rIns="0" tIns="0" bIns="0" anchor="t">
            <a:noAutofit/>
          </a:bodyPr>
          <a:lstStyle/>
          <a:p>
            <a:pPr algn="l">
              <a:lnSpc>
                <a:spcPct val="95000"/>
              </a:lnSpc>
            </a:pPr>
            <a:r>
              <a:rPr sz="4000">
                <a:solidFill>
                  <a:srgbClr val="7B1421"/>
                </a:solidFill>
                <a:latin typeface="Cream Heavy"/>
              </a:rPr>
              <a:t>Conclusion</a:t>
            </a:r>
          </a:p>
        </p:txBody>
      </p:sp>
      <p:sp>
        <p:nvSpPr>
          <p:cNvPr id="10" name="!!Body"/>
          <p:cNvSpPr txBox="1"/>
          <p:nvPr/>
        </p:nvSpPr>
        <p:spPr>
          <a:xfrm>
            <a:off x="685800" y="2057400"/>
            <a:ext cx="5943600" cy="3291840"/>
          </a:xfrm>
          <a:prstGeom prst="rect">
            <a:avLst/>
          </a:prstGeom>
          <a:noFill/>
        </p:spPr>
        <p:txBody>
          <a:bodyPr wrap="square" lIns="0" rIns="0" tIns="0" bIns="0" anchor="t">
            <a:noAutofit/>
          </a:bodyPr>
          <a:lstStyle/>
          <a:p>
            <a:pPr algn="l">
              <a:lnSpc>
                <a:spcPct val="112000"/>
              </a:lnSpc>
              <a:spcAft>
                <a:spcPts val="1600"/>
              </a:spcAft>
            </a:pPr>
            <a:r>
              <a:rPr sz="1750">
                <a:solidFill>
                  <a:srgbClr val="000000"/>
                </a:solidFill>
                <a:latin typeface="Montserrat Medium"/>
              </a:rPr>
              <a:t>Une identité cohérente, des supports print et audiovisuels adaptés, un site web fonctionnel.</a:t>
            </a:r>
          </a:p>
          <a:p>
            <a:pPr algn="l">
              <a:lnSpc>
                <a:spcPct val="112000"/>
              </a:lnSpc>
              <a:spcAft>
                <a:spcPts val="1600"/>
              </a:spcAft>
            </a:pPr>
            <a:r>
              <a:rPr sz="1750">
                <a:solidFill>
                  <a:srgbClr val="7B1421"/>
                </a:solidFill>
                <a:latin typeface="Montserrat SemiBold"/>
              </a:rPr>
              <a:t>Limites</a:t>
            </a:r>
            <a:r>
              <a:rPr sz="1750">
                <a:solidFill>
                  <a:srgbClr val="000000"/>
                </a:solidFill>
                <a:latin typeface="Montserrat Medium"/>
              </a:rPr>
              <a:t> : pas d'étude de marché à grande échelle ; impact réel à mesurer.</a:t>
            </a:r>
          </a:p>
        </p:txBody>
      </p:sp>
      <p:sp>
        <p:nvSpPr>
          <p:cNvPr id="11"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A40C21"/>
                </a:solidFill>
                <a:latin typeface="Montserrat SemiBold"/>
              </a:rPr>
              <a:t>06 · Bilan</a:t>
            </a:r>
          </a:p>
        </p:txBody>
      </p:sp>
      <p:sp>
        <p:nvSpPr>
          <p:cNvPr id="12"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A40C21"/>
                </a:solidFill>
                <a:latin typeface="Montserrat SemiBold"/>
              </a:rPr>
              <a:t>46</a:t>
            </a:r>
          </a:p>
        </p:txBody>
      </p:sp>
      <p:pic>
        <p:nvPicPr>
          <p:cNvPr id="13" name="!!Logo" descr="Logo Marin'Or Ivoire"/>
          <p:cNvPicPr>
            <a:picLocks noChangeAspect="1"/>
          </p:cNvPicPr>
          <p:nvPr/>
        </p:nvPicPr>
        <p:blipFill>
          <a:blip r:embed="rId5"/>
          <a:stretch>
            <a:fillRect/>
          </a:stretch>
        </p:blipFill>
        <p:spPr>
          <a:xfrm>
            <a:off x="10546080" y="311488"/>
            <a:ext cx="960120" cy="50299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2A070D"/>
          </a:solidFill>
          <a:ln>
            <a:noFill/>
          </a:ln>
        </p:spPr>
        <p:txBody>
          <a:bodyPr rtlCol="0" anchor="ctr"/>
          <a:lstStyle/>
          <a:p/>
        </p:txBody>
      </p:sp>
      <p:pic>
        <p:nvPicPr>
          <p:cNvPr id="3" name="!!PlateD" descr="motif_creme.png"/>
          <p:cNvPicPr>
            <a:picLocks noChangeAspect="1"/>
          </p:cNvPicPr>
          <p:nvPr/>
        </p:nvPicPr>
        <p:blipFill>
          <a:blip r:embed="rId2"/>
          <a:srcRect t="0" b="0"/>
          <a:stretch>
            <a:fillRect/>
          </a:stretch>
        </p:blipFill>
        <p:spPr>
          <a:xfrm>
            <a:off x="-10236880" y="-3293779"/>
            <a:ext cx="24749760" cy="13921739"/>
          </a:xfrm>
          <a:prstGeom prst="rect">
            <a:avLst/>
          </a:prstGeom>
        </p:spPr>
      </p:pic>
      <p:sp>
        <p:nvSpPr>
          <p:cNvPr id="4" name="!!Glow"/>
          <p:cNvSpPr/>
          <p:nvPr/>
        </p:nvSpPr>
        <p:spPr>
          <a:xfrm>
            <a:off x="1512393" y="-1340042"/>
            <a:ext cx="9601200" cy="9601200"/>
          </a:xfrm>
          <a:prstGeom prst="ellipse">
            <a:avLst/>
          </a:prstGeom>
          <a:gradFill rotWithShape="1">
            <a:gsLst>
              <a:gs pos="0">
                <a:srgbClr val="B3222F">
                  <a:alpha val="55000"/>
                </a:srgbClr>
              </a:gs>
              <a:gs pos="45000">
                <a:srgbClr val="7B1421">
                  <a:alpha val="22000"/>
                </a:srgbClr>
              </a:gs>
              <a:gs pos="100000">
                <a:srgbClr val="7B1421">
                  <a:alpha val="0"/>
                </a:srgbClr>
              </a:gs>
            </a:gsLst>
            <a:path path="circle">
              <a:fillToRect l="50000" t="50000" r="50000" b="50000"/>
            </a:path>
          </a:gradFill>
          <a:ln>
            <a:noFill/>
          </a:ln>
        </p:spPr>
        <p:txBody>
          <a:bodyPr rtlCol="0" anchor="ctr"/>
          <a:lstStyle/>
          <a:p/>
        </p:txBody>
      </p:sp>
      <p:sp>
        <p:nvSpPr>
          <p:cNvPr id="5" name="!!Glow2"/>
          <p:cNvSpPr/>
          <p:nvPr/>
        </p:nvSpPr>
        <p:spPr>
          <a:xfrm>
            <a:off x="2518586" y="37022"/>
            <a:ext cx="6720840" cy="6720840"/>
          </a:xfrm>
          <a:prstGeom prst="ellipse">
            <a:avLst/>
          </a:prstGeom>
          <a:gradFill rotWithShape="1">
            <a:gsLst>
              <a:gs pos="0">
                <a:srgbClr val="F9A825">
                  <a:alpha val="16000"/>
                </a:srgbClr>
              </a:gs>
              <a:gs pos="100000">
                <a:srgbClr val="F9A825">
                  <a:alpha val="0"/>
                </a:srgbClr>
              </a:gs>
            </a:gsLst>
            <a:path path="circle">
              <a:fillToRect l="50000" t="50000" r="50000" b="50000"/>
            </a:path>
          </a:gradFill>
          <a:ln>
            <a:noFill/>
          </a:ln>
        </p:spPr>
        <p:txBody>
          <a:bodyPr rtlCol="0" anchor="ctr"/>
          <a:lstStyle/>
          <a:p/>
        </p:txBody>
      </p:sp>
      <p:pic>
        <p:nvPicPr>
          <p:cNvPr id="6" name="!!Vignette" descr="vignette.png"/>
          <p:cNvPicPr>
            <a:picLocks noChangeAspect="1"/>
          </p:cNvPicPr>
          <p:nvPr/>
        </p:nvPicPr>
        <p:blipFill>
          <a:blip r:embed="rId3"/>
          <a:srcRect/>
          <a:stretch>
            <a:fillRect/>
          </a:stretch>
        </p:blipFill>
        <p:spPr>
          <a:xfrm>
            <a:off x="0" y="0"/>
            <a:ext cx="12192000" cy="6858000"/>
          </a:xfrm>
          <a:prstGeom prst="rect">
            <a:avLst/>
          </a:prstGeom>
        </p:spPr>
      </p:pic>
      <p:sp>
        <p:nvSpPr>
          <p:cNvPr id="7" name="!!Ring"/>
          <p:cNvSpPr/>
          <p:nvPr/>
        </p:nvSpPr>
        <p:spPr>
          <a:xfrm>
            <a:off x="3535680" y="777240"/>
            <a:ext cx="5120640" cy="5120640"/>
          </a:xfrm>
          <a:prstGeom prst="ellipse">
            <a:avLst/>
          </a:prstGeom>
          <a:noFill/>
          <a:ln w="12700">
            <a:solidFill>
              <a:srgbClr val="F9A825">
                <a:alpha val="70000"/>
              </a:srgbClr>
            </a:solidFill>
          </a:ln>
        </p:spPr>
        <p:txBody>
          <a:bodyPr rtlCol="0" anchor="ctr"/>
          <a:lstStyle/>
          <a:p/>
        </p:txBody>
      </p:sp>
      <p:pic>
        <p:nvPicPr>
          <p:cNvPr id="8" name="!!Bokeh" descr="bokeh.png"/>
          <p:cNvPicPr>
            <a:picLocks noChangeAspect="1"/>
          </p:cNvPicPr>
          <p:nvPr/>
        </p:nvPicPr>
        <p:blipFill>
          <a:blip r:embed="rId4">
            <a:alphaModFix amt="55000"/>
          </a:blip>
          <a:srcRect/>
          <a:stretch>
            <a:fillRect/>
          </a:stretch>
        </p:blipFill>
        <p:spPr>
          <a:xfrm>
            <a:off x="0" y="0"/>
            <a:ext cx="12192000" cy="6858000"/>
          </a:xfrm>
          <a:prstGeom prst="rect">
            <a:avLst/>
          </a:prstGeom>
        </p:spPr>
      </p:pic>
      <p:pic>
        <p:nvPicPr>
          <p:cNvPr id="9" name="!!Logo" descr="Logo Marin'Or Ivoire"/>
          <p:cNvPicPr>
            <a:picLocks noChangeAspect="1"/>
          </p:cNvPicPr>
          <p:nvPr/>
        </p:nvPicPr>
        <p:blipFill>
          <a:blip r:embed="rId5"/>
          <a:stretch>
            <a:fillRect/>
          </a:stretch>
        </p:blipFill>
        <p:spPr>
          <a:xfrm>
            <a:off x="4450080" y="777240"/>
            <a:ext cx="3291840" cy="1728603"/>
          </a:xfrm>
          <a:prstGeom prst="rect">
            <a:avLst/>
          </a:prstGeom>
        </p:spPr>
      </p:pic>
      <p:pic>
        <p:nvPicPr>
          <p:cNvPr id="10" name="!!Grain" descr="grain.png"/>
          <p:cNvPicPr>
            <a:picLocks noChangeAspect="1"/>
          </p:cNvPicPr>
          <p:nvPr/>
        </p:nvPicPr>
        <p:blipFill>
          <a:blip r:embed="rId6"/>
          <a:srcRect/>
          <a:stretch>
            <a:fillRect/>
          </a:stretch>
        </p:blipFill>
        <p:spPr>
          <a:xfrm>
            <a:off x="0" y="0"/>
            <a:ext cx="12192000" cy="6858000"/>
          </a:xfrm>
          <a:prstGeom prst="rect">
            <a:avLst/>
          </a:prstGeom>
        </p:spPr>
      </p:pic>
      <p:sp>
        <p:nvSpPr>
          <p:cNvPr id="11" name="!!TitleCA1"/>
          <p:cNvSpPr txBox="1"/>
          <p:nvPr/>
        </p:nvSpPr>
        <p:spPr>
          <a:xfrm>
            <a:off x="-20116" y="2788920"/>
            <a:ext cx="12192000" cy="822960"/>
          </a:xfrm>
          <a:prstGeom prst="rect">
            <a:avLst/>
          </a:prstGeom>
          <a:noFill/>
        </p:spPr>
        <p:txBody>
          <a:bodyPr wrap="square" lIns="0" rIns="0" tIns="0" bIns="0" anchor="t">
            <a:noAutofit/>
          </a:bodyPr>
          <a:lstStyle/>
          <a:p>
            <a:pPr algn="ctr">
              <a:lnSpc>
                <a:spcPct val="95000"/>
              </a:lnSpc>
            </a:pPr>
            <a:r>
              <a:rPr sz="4800">
                <a:solidFill>
                  <a:srgbClr val="A40C21">
                    <a:alpha val="40000"/>
                  </a:srgbClr>
                </a:solidFill>
                <a:latin typeface="Cream Heavy"/>
              </a:rPr>
              <a:t>Merci de votre attention</a:t>
            </a:r>
          </a:p>
        </p:txBody>
      </p:sp>
      <p:sp>
        <p:nvSpPr>
          <p:cNvPr id="12" name="!!TitleCA2"/>
          <p:cNvSpPr txBox="1"/>
          <p:nvPr/>
        </p:nvSpPr>
        <p:spPr>
          <a:xfrm>
            <a:off x="20116" y="2788920"/>
            <a:ext cx="12192000" cy="822960"/>
          </a:xfrm>
          <a:prstGeom prst="rect">
            <a:avLst/>
          </a:prstGeom>
          <a:noFill/>
        </p:spPr>
        <p:txBody>
          <a:bodyPr wrap="square" lIns="0" rIns="0" tIns="0" bIns="0" anchor="t">
            <a:noAutofit/>
          </a:bodyPr>
          <a:lstStyle/>
          <a:p>
            <a:pPr algn="ctr">
              <a:lnSpc>
                <a:spcPct val="95000"/>
              </a:lnSpc>
            </a:pPr>
            <a:r>
              <a:rPr sz="4800">
                <a:solidFill>
                  <a:srgbClr val="FBD021">
                    <a:alpha val="30000"/>
                  </a:srgbClr>
                </a:solidFill>
                <a:latin typeface="Cream Heavy"/>
              </a:rPr>
              <a:t>Merci de votre attention</a:t>
            </a:r>
          </a:p>
        </p:txBody>
      </p:sp>
      <p:sp>
        <p:nvSpPr>
          <p:cNvPr id="13" name="!!Title"/>
          <p:cNvSpPr txBox="1"/>
          <p:nvPr/>
        </p:nvSpPr>
        <p:spPr>
          <a:xfrm>
            <a:off x="0" y="2788920"/>
            <a:ext cx="12192000" cy="822960"/>
          </a:xfrm>
          <a:prstGeom prst="rect">
            <a:avLst/>
          </a:prstGeom>
          <a:noFill/>
        </p:spPr>
        <p:txBody>
          <a:bodyPr wrap="square" lIns="0" rIns="0" tIns="0" bIns="0" anchor="t">
            <a:noAutofit/>
          </a:bodyPr>
          <a:lstStyle/>
          <a:p>
            <a:pPr algn="ctr">
              <a:lnSpc>
                <a:spcPct val="95000"/>
              </a:lnSpc>
            </a:pPr>
            <a:r>
              <a:rPr sz="4800">
                <a:gradFill rotWithShape="1">
                  <a:gsLst>
                    <a:gs pos="0">
                      <a:srgbClr val="FFF8EE"/>
                    </a:gs>
                    <a:gs pos="55000">
                      <a:srgbClr val="FFECD1"/>
                    </a:gs>
                    <a:gs pos="100000">
                      <a:srgbClr val="F6C77A"/>
                    </a:gs>
                  </a:gsLst>
                  <a:lin ang="5400000" scaled="0"/>
                </a:gradFill>
                <a:latin typeface="Cream Heavy"/>
              </a:rPr>
              <a:t>Merci de votre attention</a:t>
            </a:r>
          </a:p>
        </p:txBody>
      </p:sp>
      <p:sp>
        <p:nvSpPr>
          <p:cNvPr id="14" name="!!Sub"/>
          <p:cNvSpPr txBox="1"/>
          <p:nvPr/>
        </p:nvSpPr>
        <p:spPr>
          <a:xfrm>
            <a:off x="2011680" y="3886200"/>
            <a:ext cx="8168640" cy="914400"/>
          </a:xfrm>
          <a:prstGeom prst="rect">
            <a:avLst/>
          </a:prstGeom>
          <a:noFill/>
        </p:spPr>
        <p:txBody>
          <a:bodyPr wrap="square" lIns="0" rIns="0" tIns="0" bIns="0" anchor="t">
            <a:noAutofit/>
          </a:bodyPr>
          <a:lstStyle/>
          <a:p>
            <a:pPr algn="ctr">
              <a:lnSpc>
                <a:spcPct val="112000"/>
              </a:lnSpc>
              <a:spcAft>
                <a:spcPts val="800"/>
              </a:spcAft>
            </a:pPr>
            <a:r>
              <a:rPr sz="1600">
                <a:solidFill>
                  <a:srgbClr val="F3D9C4"/>
                </a:solidFill>
                <a:latin typeface="Montserrat Medium"/>
              </a:rPr>
              <a:t>Perspectives : une stratégie digitale (réseaux sociaux, campagnes ciblées) et l'export vers la sous-région ouest-africaine.</a:t>
            </a:r>
          </a:p>
        </p:txBody>
      </p:sp>
      <p:sp>
        <p:nvSpPr>
          <p:cNvPr id="15"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F9A825"/>
                </a:solidFill>
                <a:latin typeface="Montserrat SemiBold"/>
              </a:rPr>
              <a:t>47</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Marin'Or Ivoire">
      <a:dk1>
        <a:srgbClr val="000000"/>
      </a:dk1>
      <a:lt1>
        <a:srgbClr val="FFFFFF"/>
      </a:lt1>
      <a:dk2>
        <a:srgbClr val="7B1421"/>
      </a:dk2>
      <a:lt2>
        <a:srgbClr val="FFECD1"/>
      </a:lt2>
      <a:accent1>
        <a:srgbClr val="7B1421"/>
      </a:accent1>
      <a:accent2>
        <a:srgbClr val="F9A825"/>
      </a:accent2>
      <a:accent3>
        <a:srgbClr val="2A5519"/>
      </a:accent3>
      <a:accent4>
        <a:srgbClr val="A40C21"/>
      </a:accent4>
      <a:accent5>
        <a:srgbClr val="FBD021"/>
      </a:accent5>
      <a:accent6>
        <a:srgbClr val="376F23"/>
      </a:accent6>
      <a:hlink>
        <a:srgbClr val="0000FF"/>
      </a:hlink>
      <a:folHlink>
        <a:srgbClr val="800080"/>
      </a:folHlink>
    </a:clrScheme>
    <a:fontScheme name="Office">
      <a:majorFont>
        <a:latin typeface="Cream Heavy"/>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Montserrat Medium"/>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Conception et réalisation de supports de communication pour la promotion de Marin'Or Ivoire</dc:title>
  <dc:subject>Soutenance de mémoire — Licence professionnelle Arts et Images Numériques</dc:subject>
  <dc:creator>Ekien Kouadio Constant Ephrem</dc:creator>
  <cp:keywords>Marin'Or Ivoire; soutenance; ISTC Polytechnique</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